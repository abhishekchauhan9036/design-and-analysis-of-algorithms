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fntdata" ContentType="application/x-fontdata"/>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theme/themeOverride1.xml" ContentType="application/vnd.openxmlformats-officedocument.themeOverr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723" r:id="rId2"/>
    <p:sldMasterId id="2147483729" r:id="rId3"/>
    <p:sldMasterId id="2147483741" r:id="rId4"/>
  </p:sldMasterIdLst>
  <p:notesMasterIdLst>
    <p:notesMasterId r:id="rId118"/>
  </p:notesMasterIdLst>
  <p:sldIdLst>
    <p:sldId id="265" r:id="rId5"/>
    <p:sldId id="296" r:id="rId6"/>
    <p:sldId id="302" r:id="rId7"/>
    <p:sldId id="428" r:id="rId8"/>
    <p:sldId id="345" r:id="rId9"/>
    <p:sldId id="347" r:id="rId10"/>
    <p:sldId id="389" r:id="rId11"/>
    <p:sldId id="435" r:id="rId12"/>
    <p:sldId id="436" r:id="rId13"/>
    <p:sldId id="348" r:id="rId14"/>
    <p:sldId id="440" r:id="rId15"/>
    <p:sldId id="441" r:id="rId16"/>
    <p:sldId id="442" r:id="rId17"/>
    <p:sldId id="443" r:id="rId18"/>
    <p:sldId id="463" r:id="rId19"/>
    <p:sldId id="444" r:id="rId20"/>
    <p:sldId id="369" r:id="rId21"/>
    <p:sldId id="445" r:id="rId22"/>
    <p:sldId id="446" r:id="rId23"/>
    <p:sldId id="447" r:id="rId24"/>
    <p:sldId id="448" r:id="rId25"/>
    <p:sldId id="449" r:id="rId26"/>
    <p:sldId id="450" r:id="rId27"/>
    <p:sldId id="451" r:id="rId28"/>
    <p:sldId id="452" r:id="rId29"/>
    <p:sldId id="453" r:id="rId30"/>
    <p:sldId id="454" r:id="rId31"/>
    <p:sldId id="455" r:id="rId32"/>
    <p:sldId id="456" r:id="rId33"/>
    <p:sldId id="366" r:id="rId34"/>
    <p:sldId id="438" r:id="rId35"/>
    <p:sldId id="439" r:id="rId36"/>
    <p:sldId id="459" r:id="rId37"/>
    <p:sldId id="531" r:id="rId38"/>
    <p:sldId id="530" r:id="rId39"/>
    <p:sldId id="460" r:id="rId40"/>
    <p:sldId id="461" r:id="rId41"/>
    <p:sldId id="390" r:id="rId42"/>
    <p:sldId id="391" r:id="rId43"/>
    <p:sldId id="462" r:id="rId44"/>
    <p:sldId id="392" r:id="rId45"/>
    <p:sldId id="393" r:id="rId46"/>
    <p:sldId id="394" r:id="rId47"/>
    <p:sldId id="395" r:id="rId48"/>
    <p:sldId id="396" r:id="rId49"/>
    <p:sldId id="398" r:id="rId50"/>
    <p:sldId id="399" r:id="rId51"/>
    <p:sldId id="400" r:id="rId52"/>
    <p:sldId id="401" r:id="rId53"/>
    <p:sldId id="465" r:id="rId54"/>
    <p:sldId id="469" r:id="rId55"/>
    <p:sldId id="466" r:id="rId56"/>
    <p:sldId id="532" r:id="rId57"/>
    <p:sldId id="533" r:id="rId58"/>
    <p:sldId id="534" r:id="rId59"/>
    <p:sldId id="535" r:id="rId60"/>
    <p:sldId id="536" r:id="rId61"/>
    <p:sldId id="537" r:id="rId62"/>
    <p:sldId id="538" r:id="rId63"/>
    <p:sldId id="539" r:id="rId64"/>
    <p:sldId id="540" r:id="rId65"/>
    <p:sldId id="541" r:id="rId66"/>
    <p:sldId id="542" r:id="rId67"/>
    <p:sldId id="543" r:id="rId68"/>
    <p:sldId id="544" r:id="rId69"/>
    <p:sldId id="545" r:id="rId70"/>
    <p:sldId id="546" r:id="rId71"/>
    <p:sldId id="548" r:id="rId72"/>
    <p:sldId id="547" r:id="rId73"/>
    <p:sldId id="549" r:id="rId74"/>
    <p:sldId id="550" r:id="rId75"/>
    <p:sldId id="551" r:id="rId76"/>
    <p:sldId id="552" r:id="rId77"/>
    <p:sldId id="553" r:id="rId78"/>
    <p:sldId id="579" r:id="rId79"/>
    <p:sldId id="555" r:id="rId80"/>
    <p:sldId id="556" r:id="rId81"/>
    <p:sldId id="557" r:id="rId82"/>
    <p:sldId id="590" r:id="rId83"/>
    <p:sldId id="591" r:id="rId84"/>
    <p:sldId id="592" r:id="rId85"/>
    <p:sldId id="593" r:id="rId86"/>
    <p:sldId id="594" r:id="rId87"/>
    <p:sldId id="558" r:id="rId88"/>
    <p:sldId id="567" r:id="rId89"/>
    <p:sldId id="581" r:id="rId90"/>
    <p:sldId id="580" r:id="rId91"/>
    <p:sldId id="582" r:id="rId92"/>
    <p:sldId id="583" r:id="rId93"/>
    <p:sldId id="584" r:id="rId94"/>
    <p:sldId id="585" r:id="rId95"/>
    <p:sldId id="586" r:id="rId96"/>
    <p:sldId id="587" r:id="rId97"/>
    <p:sldId id="568" r:id="rId98"/>
    <p:sldId id="588" r:id="rId99"/>
    <p:sldId id="589" r:id="rId100"/>
    <p:sldId id="570" r:id="rId101"/>
    <p:sldId id="595" r:id="rId102"/>
    <p:sldId id="571" r:id="rId103"/>
    <p:sldId id="572" r:id="rId104"/>
    <p:sldId id="573" r:id="rId105"/>
    <p:sldId id="574" r:id="rId106"/>
    <p:sldId id="520" r:id="rId107"/>
    <p:sldId id="468" r:id="rId108"/>
    <p:sldId id="521" r:id="rId109"/>
    <p:sldId id="522" r:id="rId110"/>
    <p:sldId id="524" r:id="rId111"/>
    <p:sldId id="525" r:id="rId112"/>
    <p:sldId id="526" r:id="rId113"/>
    <p:sldId id="527" r:id="rId114"/>
    <p:sldId id="523" r:id="rId115"/>
    <p:sldId id="529" r:id="rId116"/>
    <p:sldId id="528" r:id="rId117"/>
  </p:sldIdLst>
  <p:sldSz cx="9144000" cy="5143500" type="screen16x9"/>
  <p:notesSz cx="6858000" cy="9144000"/>
  <p:embeddedFontLst>
    <p:embeddedFont>
      <p:font typeface="Roboto Condensed Light" panose="020B0604020202020204" charset="0"/>
      <p:regular r:id="rId119"/>
      <p:italic r:id="rId120"/>
    </p:embeddedFont>
    <p:embeddedFont>
      <p:font typeface="Calibri" panose="020F0502020204030204" pitchFamily="34" charset="0"/>
      <p:regular r:id="rId121"/>
      <p:bold r:id="rId122"/>
      <p:italic r:id="rId123"/>
      <p:boldItalic r:id="rId124"/>
    </p:embeddedFont>
    <p:embeddedFont>
      <p:font typeface="Proxima Nova" panose="020B0604020202020204" charset="0"/>
      <p:regular r:id="rId125"/>
      <p:bold r:id="rId126"/>
      <p:italic r:id="rId127"/>
      <p:boldItalic r:id="rId128"/>
    </p:embeddedFont>
    <p:embeddedFont>
      <p:font typeface="Corbel" panose="020B0503020204020204" pitchFamily="34" charset="0"/>
      <p:regular r:id="rId129"/>
      <p:bold r:id="rId130"/>
      <p:italic r:id="rId131"/>
      <p:boldItalic r:id="rId132"/>
    </p:embeddedFont>
    <p:embeddedFont>
      <p:font typeface="Segoe UI Black" panose="020B0A02040204020203" pitchFamily="34" charset="0"/>
      <p:bold r:id="rId133"/>
      <p:boldItalic r:id="rId134"/>
    </p:embeddedFont>
    <p:embeddedFont>
      <p:font typeface="Cambria Math" panose="02040503050406030204" pitchFamily="18" charset="0"/>
      <p:regular r:id="rId135"/>
    </p:embeddedFont>
    <p:embeddedFont>
      <p:font typeface="Calibri Light" panose="020F0302020204030204" pitchFamily="34" charset="0"/>
      <p:regular r:id="rId136"/>
      <p:italic r:id="rId137"/>
    </p:embeddedFont>
    <p:embeddedFont>
      <p:font typeface="Wingdings 3" panose="05040102010807070707" pitchFamily="18" charset="2"/>
      <p:regular r:id="rId138"/>
    </p:embeddedFont>
    <p:embeddedFont>
      <p:font typeface="Trebuchet MS" panose="020B0603020202020204" pitchFamily="34" charset="0"/>
      <p:regular r:id="rId139"/>
      <p:bold r:id="rId140"/>
      <p:italic r:id="rId141"/>
      <p:boldItalic r:id="rId1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a:srgbClr val="FF0000"/>
    <a:srgbClr val="0033CC"/>
    <a:srgbClr val="0075CC"/>
    <a:srgbClr val="D60093"/>
    <a:srgbClr val="FFFF00"/>
    <a:srgbClr val="EB2546"/>
    <a:srgbClr val="000000"/>
    <a:srgbClr val="9999FF"/>
    <a:srgbClr val="66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0792" autoAdjust="0"/>
  </p:normalViewPr>
  <p:slideViewPr>
    <p:cSldViewPr snapToGrid="0">
      <p:cViewPr varScale="1">
        <p:scale>
          <a:sx n="89" d="100"/>
          <a:sy n="89" d="100"/>
        </p:scale>
        <p:origin x="644" y="64"/>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font" Target="fonts/font20.fntdata"/><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font" Target="fonts/font10.fntdata"/><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notesMaster" Target="notesMasters/notesMaster1.xml"/><Relationship Id="rId134" Type="http://schemas.openxmlformats.org/officeDocument/2006/relationships/font" Target="fonts/font16.fntdata"/><Relationship Id="rId139" Type="http://schemas.openxmlformats.org/officeDocument/2006/relationships/font" Target="fonts/font21.fntdata"/><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font" Target="fonts/font6.fntdata"/><Relationship Id="rId129" Type="http://schemas.openxmlformats.org/officeDocument/2006/relationships/font" Target="fonts/font11.fntdata"/><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font" Target="fonts/font22.fntdata"/><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font" Target="fonts/font1.fntdata"/><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font" Target="fonts/font12.fntdata"/><Relationship Id="rId135" Type="http://schemas.openxmlformats.org/officeDocument/2006/relationships/font" Target="fonts/font17.fntdata"/><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font" Target="fonts/font2.fntdata"/><Relationship Id="rId125" Type="http://schemas.openxmlformats.org/officeDocument/2006/relationships/font" Target="fonts/font7.fntdata"/><Relationship Id="rId141" Type="http://schemas.openxmlformats.org/officeDocument/2006/relationships/font" Target="fonts/font23.fntdata"/><Relationship Id="rId14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font" Target="fonts/font13.fntdata"/><Relationship Id="rId136" Type="http://schemas.openxmlformats.org/officeDocument/2006/relationships/font" Target="fonts/font18.fntdata"/><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font" Target="fonts/font8.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font" Target="fonts/font3.fntdata"/><Relationship Id="rId142" Type="http://schemas.openxmlformats.org/officeDocument/2006/relationships/font" Target="fonts/font24.fntdata"/><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font" Target="fonts/font19.fntdata"/><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font" Target="fonts/font14.fntdata"/><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font" Target="fonts/font9.fntdata"/><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font" Target="fonts/font4.fntdata"/><Relationship Id="rId14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font" Target="fonts/font15.fntdata"/><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font" Target="fonts/font5.fntdata"/><Relationship Id="rId14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68737034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b6c834fc22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b6c834fc22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9103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3724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4857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7764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0335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360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2093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848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8072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2758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32870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5146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365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5034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8262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40847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86304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63544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64732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55257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639573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511568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7374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68261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05221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97049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564842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702368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623322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11272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32149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634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214463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436148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583574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89733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21509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40631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31259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848599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34751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51807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99832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996146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360308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56108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83261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8674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648620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9649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76010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94567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452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2772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95994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87129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43692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296511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65628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31575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52990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18506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256947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69637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178745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738206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880105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504674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8370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79290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581934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532160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133945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775545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02691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644021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588895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929623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501001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09415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348998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895137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999174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593661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881647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961464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827478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892077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56305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225086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653890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848836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514495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022497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010220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268342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653443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580849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129857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766680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680948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795224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715801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150531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7266984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102779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892850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814770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060848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215809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402377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613583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8080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4.xml"/><Relationship Id="rId5" Type="http://schemas.openxmlformats.org/officeDocument/2006/relationships/image" Target="../media/image9.png"/><Relationship Id="rId4" Type="http://schemas.microsoft.com/office/2007/relationships/hdphoto" Target="../media/hdphoto2.wdp"/></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8.png"/><Relationship Id="rId11" Type="http://schemas.openxmlformats.org/officeDocument/2006/relationships/image" Target="../media/image11.jpeg"/><Relationship Id="rId5" Type="http://schemas.openxmlformats.org/officeDocument/2006/relationships/image" Target="../media/image7.png"/><Relationship Id="rId10" Type="http://schemas.openxmlformats.org/officeDocument/2006/relationships/image" Target="../media/image16.png"/><Relationship Id="rId4" Type="http://schemas.openxmlformats.org/officeDocument/2006/relationships/image" Target="../media/image15.png"/><Relationship Id="rId9" Type="http://schemas.microsoft.com/office/2007/relationships/hdphoto" Target="../media/hdphoto1.wdp"/></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jpeg"/><Relationship Id="rId4" Type="http://schemas.openxmlformats.org/officeDocument/2006/relationships/image" Target="../media/image15.png"/><Relationship Id="rId9" Type="http://schemas.microsoft.com/office/2007/relationships/hdphoto" Target="../media/hdphoto1.wdp"/></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jpeg"/><Relationship Id="rId4" Type="http://schemas.openxmlformats.org/officeDocument/2006/relationships/image" Target="../media/image15.png"/><Relationship Id="rId9" Type="http://schemas.microsoft.com/office/2007/relationships/hdphoto" Target="../media/hdphoto1.wdp"/></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jpeg"/><Relationship Id="rId4" Type="http://schemas.openxmlformats.org/officeDocument/2006/relationships/image" Target="../media/image15.png"/><Relationship Id="rId9" Type="http://schemas.microsoft.com/office/2007/relationships/hdphoto" Target="../media/hdphoto1.wdp"/></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jpeg"/><Relationship Id="rId4" Type="http://schemas.openxmlformats.org/officeDocument/2006/relationships/image" Target="../media/image15.png"/><Relationship Id="rId9" Type="http://schemas.microsoft.com/office/2007/relationships/hdphoto" Target="../media/hdphoto1.wdp"/></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jpeg"/><Relationship Id="rId4" Type="http://schemas.openxmlformats.org/officeDocument/2006/relationships/image" Target="../media/image15.png"/><Relationship Id="rId9" Type="http://schemas.microsoft.com/office/2007/relationships/hdphoto" Target="../media/hdphoto1.wdp"/></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jpeg"/><Relationship Id="rId4" Type="http://schemas.openxmlformats.org/officeDocument/2006/relationships/image" Target="../media/image15.png"/><Relationship Id="rId9" Type="http://schemas.microsoft.com/office/2007/relationships/hdphoto" Target="../media/hdphoto1.wdp"/></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jpeg"/><Relationship Id="rId4" Type="http://schemas.openxmlformats.org/officeDocument/2006/relationships/image" Target="../media/image15.png"/><Relationship Id="rId9" Type="http://schemas.microsoft.com/office/2007/relationships/hdphoto" Target="../media/hdphoto1.wdp"/></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jpeg"/><Relationship Id="rId4" Type="http://schemas.openxmlformats.org/officeDocument/2006/relationships/image" Target="../media/image15.png"/><Relationship Id="rId9" Type="http://schemas.microsoft.com/office/2007/relationships/hdphoto" Target="../media/hdphoto1.wdp"/></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jpeg"/><Relationship Id="rId4" Type="http://schemas.openxmlformats.org/officeDocument/2006/relationships/image" Target="../media/image15.png"/><Relationship Id="rId9" Type="http://schemas.microsoft.com/office/2007/relationships/hdphoto" Target="../media/hdphoto1.wdp"/></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8.png"/><Relationship Id="rId11" Type="http://schemas.openxmlformats.org/officeDocument/2006/relationships/image" Target="../media/image11.jpeg"/><Relationship Id="rId5" Type="http://schemas.openxmlformats.org/officeDocument/2006/relationships/image" Target="../media/image7.png"/><Relationship Id="rId10" Type="http://schemas.openxmlformats.org/officeDocument/2006/relationships/image" Target="../media/image17.jpeg"/><Relationship Id="rId4" Type="http://schemas.openxmlformats.org/officeDocument/2006/relationships/image" Target="../media/image15.png"/><Relationship Id="rId9" Type="http://schemas.microsoft.com/office/2007/relationships/hdphoto" Target="../media/hdphoto1.wdp"/></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4.xml"/><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1886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7191251"/>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16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7886700" cy="993775"/>
          </a:xfrm>
          <a:prstGeom prst="rect">
            <a:avLst/>
          </a:prstGeom>
        </p:spPr>
        <p:txBody>
          <a:bodyPr/>
          <a:lstStyle/>
          <a:p>
            <a:r>
              <a:rPr lang="en-US" smtClean="0"/>
              <a:t>Click to edit Master title style</a:t>
            </a:r>
            <a:endParaRPr lang="en-IN"/>
          </a:p>
        </p:txBody>
      </p:sp>
    </p:spTree>
    <p:extLst>
      <p:ext uri="{BB962C8B-B14F-4D97-AF65-F5344CB8AC3E}">
        <p14:creationId xmlns:p14="http://schemas.microsoft.com/office/powerpoint/2010/main" val="361549398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97135" y="151348"/>
            <a:ext cx="5731054" cy="465101"/>
          </a:xfrm>
          <a:prstGeom prst="rect">
            <a:avLst/>
          </a:prstGeom>
        </p:spPr>
        <p:txBody>
          <a:bodyPr/>
          <a:lstStyle/>
          <a:p>
            <a:r>
              <a:rPr lang="en-US" smtClean="0"/>
              <a:t>Click to edit Master title style</a:t>
            </a:r>
            <a:endParaRPr lang="en-IN"/>
          </a:p>
        </p:txBody>
      </p:sp>
    </p:spTree>
    <p:extLst>
      <p:ext uri="{BB962C8B-B14F-4D97-AF65-F5344CB8AC3E}">
        <p14:creationId xmlns:p14="http://schemas.microsoft.com/office/powerpoint/2010/main" val="367781890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7886700" cy="993775"/>
          </a:xfrm>
          <a:prstGeom prst="rect">
            <a:avLst/>
          </a:prstGeom>
        </p:spPr>
        <p:txBody>
          <a:bodyPr/>
          <a:lstStyle/>
          <a:p>
            <a:r>
              <a:rPr lang="en-US" smtClean="0"/>
              <a:t>Click to edit Master title style</a:t>
            </a:r>
            <a:endParaRPr lang="en-IN"/>
          </a:p>
        </p:txBody>
      </p:sp>
    </p:spTree>
    <p:extLst>
      <p:ext uri="{BB962C8B-B14F-4D97-AF65-F5344CB8AC3E}">
        <p14:creationId xmlns:p14="http://schemas.microsoft.com/office/powerpoint/2010/main" val="22441149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7886700" cy="993775"/>
          </a:xfrm>
          <a:prstGeom prst="rect">
            <a:avLst/>
          </a:prstGeom>
        </p:spPr>
        <p:txBody>
          <a:bodyPr/>
          <a:lstStyle/>
          <a:p>
            <a:r>
              <a:rPr lang="en-US" smtClean="0"/>
              <a:t>Click to edit Master title style</a:t>
            </a:r>
            <a:endParaRPr lang="en-IN"/>
          </a:p>
        </p:txBody>
      </p:sp>
    </p:spTree>
    <p:extLst>
      <p:ext uri="{BB962C8B-B14F-4D97-AF65-F5344CB8AC3E}">
        <p14:creationId xmlns:p14="http://schemas.microsoft.com/office/powerpoint/2010/main" val="1242386081"/>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4CA1B8D-EDB9-4898-937B-96C57FC0A299}" type="datetimeFigureOut">
              <a:rPr lang="en-IN" smtClean="0"/>
              <a:t>27-06-2026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87E223-1C0C-42D9-A946-5342528827C9}" type="slidenum">
              <a:rPr lang="en-IN" smtClean="0"/>
              <a:t>‹#›</a:t>
            </a:fld>
            <a:endParaRPr lang="en-IN"/>
          </a:p>
        </p:txBody>
      </p:sp>
    </p:spTree>
    <p:extLst>
      <p:ext uri="{BB962C8B-B14F-4D97-AF65-F5344CB8AC3E}">
        <p14:creationId xmlns:p14="http://schemas.microsoft.com/office/powerpoint/2010/main" val="242466477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CA1B8D-EDB9-4898-937B-96C57FC0A299}" type="datetimeFigureOut">
              <a:rPr lang="en-IN" smtClean="0"/>
              <a:t>27-06-2026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87E223-1C0C-42D9-A946-5342528827C9}" type="slidenum">
              <a:rPr lang="en-IN" smtClean="0"/>
              <a:t>‹#›</a:t>
            </a:fld>
            <a:endParaRPr lang="en-IN"/>
          </a:p>
        </p:txBody>
      </p:sp>
    </p:spTree>
    <p:extLst>
      <p:ext uri="{BB962C8B-B14F-4D97-AF65-F5344CB8AC3E}">
        <p14:creationId xmlns:p14="http://schemas.microsoft.com/office/powerpoint/2010/main" val="75015160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4CA1B8D-EDB9-4898-937B-96C57FC0A299}" type="datetimeFigureOut">
              <a:rPr lang="en-IN" smtClean="0"/>
              <a:t>27-06-2026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87E223-1C0C-42D9-A946-5342528827C9}" type="slidenum">
              <a:rPr lang="en-IN" smtClean="0"/>
              <a:t>‹#›</a:t>
            </a:fld>
            <a:endParaRPr lang="en-IN"/>
          </a:p>
        </p:txBody>
      </p:sp>
    </p:spTree>
    <p:extLst>
      <p:ext uri="{BB962C8B-B14F-4D97-AF65-F5344CB8AC3E}">
        <p14:creationId xmlns:p14="http://schemas.microsoft.com/office/powerpoint/2010/main" val="382422388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28650" y="1370013"/>
            <a:ext cx="3867150" cy="32623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370013"/>
            <a:ext cx="3867150" cy="32623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4CA1B8D-EDB9-4898-937B-96C57FC0A299}" type="datetimeFigureOut">
              <a:rPr lang="en-IN" smtClean="0"/>
              <a:t>27-06-2026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87E223-1C0C-42D9-A946-5342528827C9}" type="slidenum">
              <a:rPr lang="en-IN" smtClean="0"/>
              <a:t>‹#›</a:t>
            </a:fld>
            <a:endParaRPr lang="en-IN"/>
          </a:p>
        </p:txBody>
      </p:sp>
    </p:spTree>
    <p:extLst>
      <p:ext uri="{BB962C8B-B14F-4D97-AF65-F5344CB8AC3E}">
        <p14:creationId xmlns:p14="http://schemas.microsoft.com/office/powerpoint/2010/main" val="247505164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4CA1B8D-EDB9-4898-937B-96C57FC0A299}" type="datetimeFigureOut">
              <a:rPr lang="en-IN" smtClean="0"/>
              <a:t>27-06-2026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C87E223-1C0C-42D9-A946-5342528827C9}" type="slidenum">
              <a:rPr lang="en-IN" smtClean="0"/>
              <a:t>‹#›</a:t>
            </a:fld>
            <a:endParaRPr lang="en-IN"/>
          </a:p>
        </p:txBody>
      </p:sp>
    </p:spTree>
    <p:extLst>
      <p:ext uri="{BB962C8B-B14F-4D97-AF65-F5344CB8AC3E}">
        <p14:creationId xmlns:p14="http://schemas.microsoft.com/office/powerpoint/2010/main" val="84691534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4CA1B8D-EDB9-4898-937B-96C57FC0A299}" type="datetimeFigureOut">
              <a:rPr lang="en-IN" smtClean="0"/>
              <a:t>27-06-2026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C87E223-1C0C-42D9-A946-5342528827C9}" type="slidenum">
              <a:rPr lang="en-IN" smtClean="0"/>
              <a:t>‹#›</a:t>
            </a:fld>
            <a:endParaRPr lang="en-IN"/>
          </a:p>
        </p:txBody>
      </p:sp>
    </p:spTree>
    <p:extLst>
      <p:ext uri="{BB962C8B-B14F-4D97-AF65-F5344CB8AC3E}">
        <p14:creationId xmlns:p14="http://schemas.microsoft.com/office/powerpoint/2010/main" val="2648496793"/>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CA1B8D-EDB9-4898-937B-96C57FC0A299}" type="datetimeFigureOut">
              <a:rPr lang="en-IN" smtClean="0"/>
              <a:t>27-06-2026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C87E223-1C0C-42D9-A946-5342528827C9}" type="slidenum">
              <a:rPr lang="en-IN" smtClean="0"/>
              <a:t>‹#›</a:t>
            </a:fld>
            <a:endParaRPr lang="en-IN"/>
          </a:p>
        </p:txBody>
      </p:sp>
    </p:spTree>
    <p:extLst>
      <p:ext uri="{BB962C8B-B14F-4D97-AF65-F5344CB8AC3E}">
        <p14:creationId xmlns:p14="http://schemas.microsoft.com/office/powerpoint/2010/main" val="354183503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CA1B8D-EDB9-4898-937B-96C57FC0A299}" type="datetimeFigureOut">
              <a:rPr lang="en-IN" smtClean="0"/>
              <a:t>27-06-2026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87E223-1C0C-42D9-A946-5342528827C9}" type="slidenum">
              <a:rPr lang="en-IN" smtClean="0"/>
              <a:t>‹#›</a:t>
            </a:fld>
            <a:endParaRPr lang="en-IN"/>
          </a:p>
        </p:txBody>
      </p:sp>
    </p:spTree>
    <p:extLst>
      <p:ext uri="{BB962C8B-B14F-4D97-AF65-F5344CB8AC3E}">
        <p14:creationId xmlns:p14="http://schemas.microsoft.com/office/powerpoint/2010/main" val="286010238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CA1B8D-EDB9-4898-937B-96C57FC0A299}" type="datetimeFigureOut">
              <a:rPr lang="en-IN" smtClean="0"/>
              <a:t>27-06-2026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87E223-1C0C-42D9-A946-5342528827C9}" type="slidenum">
              <a:rPr lang="en-IN" smtClean="0"/>
              <a:t>‹#›</a:t>
            </a:fld>
            <a:endParaRPr lang="en-IN"/>
          </a:p>
        </p:txBody>
      </p:sp>
    </p:spTree>
    <p:extLst>
      <p:ext uri="{BB962C8B-B14F-4D97-AF65-F5344CB8AC3E}">
        <p14:creationId xmlns:p14="http://schemas.microsoft.com/office/powerpoint/2010/main" val="254691665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CA1B8D-EDB9-4898-937B-96C57FC0A299}" type="datetimeFigureOut">
              <a:rPr lang="en-IN" smtClean="0"/>
              <a:t>27-06-2026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87E223-1C0C-42D9-A946-5342528827C9}" type="slidenum">
              <a:rPr lang="en-IN" smtClean="0"/>
              <a:t>‹#›</a:t>
            </a:fld>
            <a:endParaRPr lang="en-IN"/>
          </a:p>
        </p:txBody>
      </p:sp>
    </p:spTree>
    <p:extLst>
      <p:ext uri="{BB962C8B-B14F-4D97-AF65-F5344CB8AC3E}">
        <p14:creationId xmlns:p14="http://schemas.microsoft.com/office/powerpoint/2010/main" val="3213808009"/>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CA1B8D-EDB9-4898-937B-96C57FC0A299}" type="datetimeFigureOut">
              <a:rPr lang="en-IN" smtClean="0"/>
              <a:t>27-06-2026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87E223-1C0C-42D9-A946-5342528827C9}" type="slidenum">
              <a:rPr lang="en-IN" smtClean="0"/>
              <a:t>‹#›</a:t>
            </a:fld>
            <a:endParaRPr lang="en-IN"/>
          </a:p>
        </p:txBody>
      </p:sp>
    </p:spTree>
    <p:extLst>
      <p:ext uri="{BB962C8B-B14F-4D97-AF65-F5344CB8AC3E}">
        <p14:creationId xmlns:p14="http://schemas.microsoft.com/office/powerpoint/2010/main" val="118433046"/>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8397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311760" y="73800"/>
            <a:ext cx="8520120" cy="572400"/>
          </a:xfrm>
          <a:prstGeom prst="rect">
            <a:avLst/>
          </a:prstGeom>
        </p:spPr>
        <p:txBody>
          <a:bodyPr lIns="0" tIns="0" rIns="0" bIns="0" anchor="ctr">
            <a:noAutofit/>
          </a:bodyPr>
          <a:lstStyle/>
          <a:p>
            <a:r>
              <a:rPr lang="en-US" sz="1400" b="0" strike="noStrike" spc="-1">
                <a:solidFill>
                  <a:srgbClr val="000000"/>
                </a:solidFill>
                <a:latin typeface="Arial"/>
              </a:rPr>
              <a:t>Click to edit Master title style</a:t>
            </a:r>
          </a:p>
        </p:txBody>
      </p:sp>
      <p:sp>
        <p:nvSpPr>
          <p:cNvPr id="6" name="PlaceHolder 2"/>
          <p:cNvSpPr>
            <a:spLocks noGrp="1"/>
          </p:cNvSpPr>
          <p:nvPr>
            <p:ph type="subTitle"/>
          </p:nvPr>
        </p:nvSpPr>
        <p:spPr>
          <a:xfrm>
            <a:off x="311760" y="863640"/>
            <a:ext cx="8520120" cy="3416040"/>
          </a:xfrm>
          <a:prstGeom prst="rect">
            <a:avLst/>
          </a:prstGeom>
        </p:spPr>
        <p:txBody>
          <a:bodyPr lIns="0" tIns="0" rIns="0" bIns="0" anchor="ctr">
            <a:noAutofit/>
          </a:bodyPr>
          <a:lstStyle/>
          <a:p>
            <a:pPr algn="ctr"/>
            <a:r>
              <a:rPr lang="en-US" sz="3200" b="0" strike="noStrike" spc="-1">
                <a:latin typeface="Arial"/>
              </a:rPr>
              <a:t>Click to edit Master subtitle style</a:t>
            </a:r>
          </a:p>
        </p:txBody>
      </p:sp>
    </p:spTree>
    <p:extLst>
      <p:ext uri="{BB962C8B-B14F-4D97-AF65-F5344CB8AC3E}">
        <p14:creationId xmlns:p14="http://schemas.microsoft.com/office/powerpoint/2010/main" val="19961088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311760" y="73800"/>
            <a:ext cx="8520120" cy="572400"/>
          </a:xfrm>
          <a:prstGeom prst="rect">
            <a:avLst/>
          </a:prstGeom>
        </p:spPr>
        <p:txBody>
          <a:bodyPr lIns="0" tIns="0" rIns="0" bIns="0" anchor="ctr">
            <a:noAutofit/>
          </a:bodyPr>
          <a:lstStyle/>
          <a:p>
            <a:r>
              <a:rPr lang="en-US" sz="1400" b="0" strike="noStrike" spc="-1">
                <a:solidFill>
                  <a:srgbClr val="000000"/>
                </a:solidFill>
                <a:latin typeface="Arial"/>
              </a:rPr>
              <a:t>Click to edit Master title style</a:t>
            </a:r>
          </a:p>
        </p:txBody>
      </p:sp>
      <p:sp>
        <p:nvSpPr>
          <p:cNvPr id="8" name="PlaceHolder 2"/>
          <p:cNvSpPr>
            <a:spLocks noGrp="1"/>
          </p:cNvSpPr>
          <p:nvPr>
            <p:ph type="body"/>
          </p:nvPr>
        </p:nvSpPr>
        <p:spPr>
          <a:xfrm>
            <a:off x="311760" y="863640"/>
            <a:ext cx="8520120" cy="341604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Tree>
    <p:extLst>
      <p:ext uri="{BB962C8B-B14F-4D97-AF65-F5344CB8AC3E}">
        <p14:creationId xmlns:p14="http://schemas.microsoft.com/office/powerpoint/2010/main" val="31718680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311760" y="73800"/>
            <a:ext cx="8520120" cy="572400"/>
          </a:xfrm>
          <a:prstGeom prst="rect">
            <a:avLst/>
          </a:prstGeom>
        </p:spPr>
        <p:txBody>
          <a:bodyPr lIns="0" tIns="0" rIns="0" bIns="0" anchor="ctr">
            <a:noAutofit/>
          </a:bodyPr>
          <a:lstStyle/>
          <a:p>
            <a:r>
              <a:rPr lang="en-US" sz="1400" b="0" strike="noStrike" spc="-1">
                <a:solidFill>
                  <a:srgbClr val="000000"/>
                </a:solidFill>
                <a:latin typeface="Arial"/>
              </a:rPr>
              <a:t>Click to edit Master title style</a:t>
            </a:r>
          </a:p>
        </p:txBody>
      </p:sp>
      <p:sp>
        <p:nvSpPr>
          <p:cNvPr id="10" name="PlaceHolder 2"/>
          <p:cNvSpPr>
            <a:spLocks noGrp="1"/>
          </p:cNvSpPr>
          <p:nvPr>
            <p:ph type="body"/>
          </p:nvPr>
        </p:nvSpPr>
        <p:spPr>
          <a:xfrm>
            <a:off x="311760" y="863640"/>
            <a:ext cx="4157640" cy="341604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11" name="PlaceHolder 3"/>
          <p:cNvSpPr>
            <a:spLocks noGrp="1"/>
          </p:cNvSpPr>
          <p:nvPr>
            <p:ph type="body"/>
          </p:nvPr>
        </p:nvSpPr>
        <p:spPr>
          <a:xfrm>
            <a:off x="4677840" y="863640"/>
            <a:ext cx="4157640" cy="341604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Tree>
    <p:extLst>
      <p:ext uri="{BB962C8B-B14F-4D97-AF65-F5344CB8AC3E}">
        <p14:creationId xmlns:p14="http://schemas.microsoft.com/office/powerpoint/2010/main" val="40807122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311760" y="73800"/>
            <a:ext cx="8520120" cy="572400"/>
          </a:xfrm>
          <a:prstGeom prst="rect">
            <a:avLst/>
          </a:prstGeom>
        </p:spPr>
        <p:txBody>
          <a:bodyPr lIns="0" tIns="0" rIns="0" bIns="0" anchor="ctr">
            <a:noAutofit/>
          </a:bodyPr>
          <a:lstStyle/>
          <a:p>
            <a:r>
              <a:rPr lang="en-US" sz="1400" b="0" strike="noStrike" spc="-1">
                <a:solidFill>
                  <a:srgbClr val="000000"/>
                </a:solidFill>
                <a:latin typeface="Arial"/>
              </a:rPr>
              <a:t>Click to edit Master title style</a:t>
            </a:r>
          </a:p>
        </p:txBody>
      </p:sp>
    </p:spTree>
    <p:extLst>
      <p:ext uri="{BB962C8B-B14F-4D97-AF65-F5344CB8AC3E}">
        <p14:creationId xmlns:p14="http://schemas.microsoft.com/office/powerpoint/2010/main" val="4071914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311760" y="73800"/>
            <a:ext cx="8520120" cy="2654640"/>
          </a:xfrm>
          <a:prstGeom prst="rect">
            <a:avLst/>
          </a:prstGeom>
        </p:spPr>
        <p:txBody>
          <a:bodyPr lIns="0" tIns="0" rIns="0" bIns="0" anchor="ctr">
            <a:noAutofit/>
          </a:bodyPr>
          <a:lstStyle/>
          <a:p>
            <a:pPr algn="ctr"/>
            <a:r>
              <a:rPr lang="en-US" sz="3200" b="0" strike="noStrike" spc="-1">
                <a:latin typeface="Arial"/>
              </a:rPr>
              <a:t>Click to edit Master subtitle style</a:t>
            </a:r>
          </a:p>
        </p:txBody>
      </p:sp>
    </p:spTree>
    <p:extLst>
      <p:ext uri="{BB962C8B-B14F-4D97-AF65-F5344CB8AC3E}">
        <p14:creationId xmlns:p14="http://schemas.microsoft.com/office/powerpoint/2010/main" val="29441232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11760" y="73800"/>
            <a:ext cx="8520120" cy="572400"/>
          </a:xfrm>
          <a:prstGeom prst="rect">
            <a:avLst/>
          </a:prstGeom>
        </p:spPr>
        <p:txBody>
          <a:bodyPr lIns="0" tIns="0" rIns="0" bIns="0" anchor="ctr">
            <a:noAutofit/>
          </a:bodyPr>
          <a:lstStyle/>
          <a:p>
            <a:r>
              <a:rPr lang="en-US" sz="1400" b="0" strike="noStrike" spc="-1">
                <a:solidFill>
                  <a:srgbClr val="000000"/>
                </a:solidFill>
                <a:latin typeface="Arial"/>
              </a:rPr>
              <a:t>Click to edit Master title style</a:t>
            </a:r>
          </a:p>
        </p:txBody>
      </p:sp>
      <p:sp>
        <p:nvSpPr>
          <p:cNvPr id="15" name="PlaceHolder 2"/>
          <p:cNvSpPr>
            <a:spLocks noGrp="1"/>
          </p:cNvSpPr>
          <p:nvPr>
            <p:ph type="body"/>
          </p:nvPr>
        </p:nvSpPr>
        <p:spPr>
          <a:xfrm>
            <a:off x="311760" y="863640"/>
            <a:ext cx="415764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16" name="PlaceHolder 3"/>
          <p:cNvSpPr>
            <a:spLocks noGrp="1"/>
          </p:cNvSpPr>
          <p:nvPr>
            <p:ph type="body"/>
          </p:nvPr>
        </p:nvSpPr>
        <p:spPr>
          <a:xfrm>
            <a:off x="4677840" y="863640"/>
            <a:ext cx="4157640" cy="341604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17" name="PlaceHolder 4"/>
          <p:cNvSpPr>
            <a:spLocks noGrp="1"/>
          </p:cNvSpPr>
          <p:nvPr>
            <p:ph type="body"/>
          </p:nvPr>
        </p:nvSpPr>
        <p:spPr>
          <a:xfrm>
            <a:off x="311760" y="2648160"/>
            <a:ext cx="415764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Tree>
    <p:extLst>
      <p:ext uri="{BB962C8B-B14F-4D97-AF65-F5344CB8AC3E}">
        <p14:creationId xmlns:p14="http://schemas.microsoft.com/office/powerpoint/2010/main" val="12645905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311760" y="73800"/>
            <a:ext cx="8520120" cy="572400"/>
          </a:xfrm>
          <a:prstGeom prst="rect">
            <a:avLst/>
          </a:prstGeom>
        </p:spPr>
        <p:txBody>
          <a:bodyPr lIns="0" tIns="0" rIns="0" bIns="0" anchor="ctr">
            <a:noAutofit/>
          </a:bodyPr>
          <a:lstStyle/>
          <a:p>
            <a:r>
              <a:rPr lang="en-US" sz="1400" b="0" strike="noStrike" spc="-1">
                <a:solidFill>
                  <a:srgbClr val="000000"/>
                </a:solidFill>
                <a:latin typeface="Arial"/>
              </a:rPr>
              <a:t>Click to edit Master title style</a:t>
            </a:r>
          </a:p>
        </p:txBody>
      </p:sp>
      <p:sp>
        <p:nvSpPr>
          <p:cNvPr id="19" name="PlaceHolder 2"/>
          <p:cNvSpPr>
            <a:spLocks noGrp="1"/>
          </p:cNvSpPr>
          <p:nvPr>
            <p:ph type="body"/>
          </p:nvPr>
        </p:nvSpPr>
        <p:spPr>
          <a:xfrm>
            <a:off x="311760" y="863640"/>
            <a:ext cx="4157640" cy="341604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20" name="PlaceHolder 3"/>
          <p:cNvSpPr>
            <a:spLocks noGrp="1"/>
          </p:cNvSpPr>
          <p:nvPr>
            <p:ph type="body"/>
          </p:nvPr>
        </p:nvSpPr>
        <p:spPr>
          <a:xfrm>
            <a:off x="4677840" y="863640"/>
            <a:ext cx="415764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21" name="PlaceHolder 4"/>
          <p:cNvSpPr>
            <a:spLocks noGrp="1"/>
          </p:cNvSpPr>
          <p:nvPr>
            <p:ph type="body"/>
          </p:nvPr>
        </p:nvSpPr>
        <p:spPr>
          <a:xfrm>
            <a:off x="4677840" y="2648160"/>
            <a:ext cx="415764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Tree>
    <p:extLst>
      <p:ext uri="{BB962C8B-B14F-4D97-AF65-F5344CB8AC3E}">
        <p14:creationId xmlns:p14="http://schemas.microsoft.com/office/powerpoint/2010/main" val="34256578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311760" y="73800"/>
            <a:ext cx="8520120" cy="572400"/>
          </a:xfrm>
          <a:prstGeom prst="rect">
            <a:avLst/>
          </a:prstGeom>
        </p:spPr>
        <p:txBody>
          <a:bodyPr lIns="0" tIns="0" rIns="0" bIns="0" anchor="ctr">
            <a:noAutofit/>
          </a:bodyPr>
          <a:lstStyle/>
          <a:p>
            <a:r>
              <a:rPr lang="en-US" sz="1400" b="0" strike="noStrike" spc="-1">
                <a:solidFill>
                  <a:srgbClr val="000000"/>
                </a:solidFill>
                <a:latin typeface="Arial"/>
              </a:rPr>
              <a:t>Click to edit Master title style</a:t>
            </a:r>
          </a:p>
        </p:txBody>
      </p:sp>
      <p:sp>
        <p:nvSpPr>
          <p:cNvPr id="23" name="PlaceHolder 2"/>
          <p:cNvSpPr>
            <a:spLocks noGrp="1"/>
          </p:cNvSpPr>
          <p:nvPr>
            <p:ph type="body"/>
          </p:nvPr>
        </p:nvSpPr>
        <p:spPr>
          <a:xfrm>
            <a:off x="311760" y="863640"/>
            <a:ext cx="415764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24" name="PlaceHolder 3"/>
          <p:cNvSpPr>
            <a:spLocks noGrp="1"/>
          </p:cNvSpPr>
          <p:nvPr>
            <p:ph type="body"/>
          </p:nvPr>
        </p:nvSpPr>
        <p:spPr>
          <a:xfrm>
            <a:off x="4677840" y="863640"/>
            <a:ext cx="415764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25" name="PlaceHolder 4"/>
          <p:cNvSpPr>
            <a:spLocks noGrp="1"/>
          </p:cNvSpPr>
          <p:nvPr>
            <p:ph type="body"/>
          </p:nvPr>
        </p:nvSpPr>
        <p:spPr>
          <a:xfrm>
            <a:off x="311760" y="2648160"/>
            <a:ext cx="852012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Tree>
    <p:extLst>
      <p:ext uri="{BB962C8B-B14F-4D97-AF65-F5344CB8AC3E}">
        <p14:creationId xmlns:p14="http://schemas.microsoft.com/office/powerpoint/2010/main" val="20827605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311760" y="73800"/>
            <a:ext cx="8520120" cy="572400"/>
          </a:xfrm>
          <a:prstGeom prst="rect">
            <a:avLst/>
          </a:prstGeom>
        </p:spPr>
        <p:txBody>
          <a:bodyPr lIns="0" tIns="0" rIns="0" bIns="0" anchor="ctr">
            <a:noAutofit/>
          </a:bodyPr>
          <a:lstStyle/>
          <a:p>
            <a:r>
              <a:rPr lang="en-US" sz="1400" b="0" strike="noStrike" spc="-1">
                <a:solidFill>
                  <a:srgbClr val="000000"/>
                </a:solidFill>
                <a:latin typeface="Arial"/>
              </a:rPr>
              <a:t>Click to edit Master title style</a:t>
            </a:r>
          </a:p>
        </p:txBody>
      </p:sp>
      <p:sp>
        <p:nvSpPr>
          <p:cNvPr id="27" name="PlaceHolder 2"/>
          <p:cNvSpPr>
            <a:spLocks noGrp="1"/>
          </p:cNvSpPr>
          <p:nvPr>
            <p:ph type="body"/>
          </p:nvPr>
        </p:nvSpPr>
        <p:spPr>
          <a:xfrm>
            <a:off x="311760" y="863640"/>
            <a:ext cx="852012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28" name="PlaceHolder 3"/>
          <p:cNvSpPr>
            <a:spLocks noGrp="1"/>
          </p:cNvSpPr>
          <p:nvPr>
            <p:ph type="body"/>
          </p:nvPr>
        </p:nvSpPr>
        <p:spPr>
          <a:xfrm>
            <a:off x="311760" y="2648160"/>
            <a:ext cx="852012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Tree>
    <p:extLst>
      <p:ext uri="{BB962C8B-B14F-4D97-AF65-F5344CB8AC3E}">
        <p14:creationId xmlns:p14="http://schemas.microsoft.com/office/powerpoint/2010/main" val="14518644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311760" y="73800"/>
            <a:ext cx="8520120" cy="572400"/>
          </a:xfrm>
          <a:prstGeom prst="rect">
            <a:avLst/>
          </a:prstGeom>
        </p:spPr>
        <p:txBody>
          <a:bodyPr lIns="0" tIns="0" rIns="0" bIns="0" anchor="ctr">
            <a:noAutofit/>
          </a:bodyPr>
          <a:lstStyle/>
          <a:p>
            <a:r>
              <a:rPr lang="en-US" sz="1400" b="0" strike="noStrike" spc="-1">
                <a:solidFill>
                  <a:srgbClr val="000000"/>
                </a:solidFill>
                <a:latin typeface="Arial"/>
              </a:rPr>
              <a:t>Click to edit Master title style</a:t>
            </a:r>
          </a:p>
        </p:txBody>
      </p:sp>
      <p:sp>
        <p:nvSpPr>
          <p:cNvPr id="30" name="PlaceHolder 2"/>
          <p:cNvSpPr>
            <a:spLocks noGrp="1"/>
          </p:cNvSpPr>
          <p:nvPr>
            <p:ph type="body"/>
          </p:nvPr>
        </p:nvSpPr>
        <p:spPr>
          <a:xfrm>
            <a:off x="311760" y="863640"/>
            <a:ext cx="415764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31" name="PlaceHolder 3"/>
          <p:cNvSpPr>
            <a:spLocks noGrp="1"/>
          </p:cNvSpPr>
          <p:nvPr>
            <p:ph type="body"/>
          </p:nvPr>
        </p:nvSpPr>
        <p:spPr>
          <a:xfrm>
            <a:off x="4677840" y="863640"/>
            <a:ext cx="415764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32" name="PlaceHolder 4"/>
          <p:cNvSpPr>
            <a:spLocks noGrp="1"/>
          </p:cNvSpPr>
          <p:nvPr>
            <p:ph type="body"/>
          </p:nvPr>
        </p:nvSpPr>
        <p:spPr>
          <a:xfrm>
            <a:off x="311760" y="2648160"/>
            <a:ext cx="415764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33" name="PlaceHolder 5"/>
          <p:cNvSpPr>
            <a:spLocks noGrp="1"/>
          </p:cNvSpPr>
          <p:nvPr>
            <p:ph type="body"/>
          </p:nvPr>
        </p:nvSpPr>
        <p:spPr>
          <a:xfrm>
            <a:off x="4677840" y="2648160"/>
            <a:ext cx="415764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Tree>
    <p:extLst>
      <p:ext uri="{BB962C8B-B14F-4D97-AF65-F5344CB8AC3E}">
        <p14:creationId xmlns:p14="http://schemas.microsoft.com/office/powerpoint/2010/main" val="32478928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311760" y="73800"/>
            <a:ext cx="8520120" cy="572400"/>
          </a:xfrm>
          <a:prstGeom prst="rect">
            <a:avLst/>
          </a:prstGeom>
        </p:spPr>
        <p:txBody>
          <a:bodyPr lIns="0" tIns="0" rIns="0" bIns="0" anchor="ctr">
            <a:noAutofit/>
          </a:bodyPr>
          <a:lstStyle/>
          <a:p>
            <a:r>
              <a:rPr lang="en-US" sz="1400" b="0" strike="noStrike" spc="-1">
                <a:solidFill>
                  <a:srgbClr val="000000"/>
                </a:solidFill>
                <a:latin typeface="Arial"/>
              </a:rPr>
              <a:t>Click to edit Master title style</a:t>
            </a:r>
          </a:p>
        </p:txBody>
      </p:sp>
      <p:sp>
        <p:nvSpPr>
          <p:cNvPr id="35" name="PlaceHolder 2"/>
          <p:cNvSpPr>
            <a:spLocks noGrp="1"/>
          </p:cNvSpPr>
          <p:nvPr>
            <p:ph type="body"/>
          </p:nvPr>
        </p:nvSpPr>
        <p:spPr>
          <a:xfrm>
            <a:off x="311760" y="863640"/>
            <a:ext cx="274320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36" name="PlaceHolder 3"/>
          <p:cNvSpPr>
            <a:spLocks noGrp="1"/>
          </p:cNvSpPr>
          <p:nvPr>
            <p:ph type="body"/>
          </p:nvPr>
        </p:nvSpPr>
        <p:spPr>
          <a:xfrm>
            <a:off x="3192480" y="863640"/>
            <a:ext cx="274320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37" name="PlaceHolder 4"/>
          <p:cNvSpPr>
            <a:spLocks noGrp="1"/>
          </p:cNvSpPr>
          <p:nvPr>
            <p:ph type="body"/>
          </p:nvPr>
        </p:nvSpPr>
        <p:spPr>
          <a:xfrm>
            <a:off x="6073200" y="863640"/>
            <a:ext cx="274320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38" name="PlaceHolder 5"/>
          <p:cNvSpPr>
            <a:spLocks noGrp="1"/>
          </p:cNvSpPr>
          <p:nvPr>
            <p:ph type="body"/>
          </p:nvPr>
        </p:nvSpPr>
        <p:spPr>
          <a:xfrm>
            <a:off x="311760" y="2648160"/>
            <a:ext cx="274320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39" name="PlaceHolder 6"/>
          <p:cNvSpPr>
            <a:spLocks noGrp="1"/>
          </p:cNvSpPr>
          <p:nvPr>
            <p:ph type="body"/>
          </p:nvPr>
        </p:nvSpPr>
        <p:spPr>
          <a:xfrm>
            <a:off x="3192480" y="2648160"/>
            <a:ext cx="274320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
        <p:nvSpPr>
          <p:cNvPr id="40" name="PlaceHolder 7"/>
          <p:cNvSpPr>
            <a:spLocks noGrp="1"/>
          </p:cNvSpPr>
          <p:nvPr>
            <p:ph type="body"/>
          </p:nvPr>
        </p:nvSpPr>
        <p:spPr>
          <a:xfrm>
            <a:off x="6073200" y="2648160"/>
            <a:ext cx="2743200" cy="1629360"/>
          </a:xfrm>
          <a:prstGeom prst="rect">
            <a:avLst/>
          </a:prstGeom>
        </p:spPr>
        <p:txBody>
          <a:bodyPr lIns="0" tIns="0" rIns="0" bIns="0">
            <a:normAutofit/>
          </a:bodyPr>
          <a:lstStyle/>
          <a:p>
            <a:pPr lvl="0"/>
            <a:r>
              <a:rPr lang="en-US" sz="1400" b="0" strike="noStrike" spc="-1">
                <a:solidFill>
                  <a:srgbClr val="000000"/>
                </a:solidFill>
                <a:latin typeface="Arial"/>
              </a:rPr>
              <a:t>Click to edit Master text styles</a:t>
            </a:r>
          </a:p>
        </p:txBody>
      </p:sp>
    </p:spTree>
    <p:extLst>
      <p:ext uri="{BB962C8B-B14F-4D97-AF65-F5344CB8AC3E}">
        <p14:creationId xmlns:p14="http://schemas.microsoft.com/office/powerpoint/2010/main" val="19940599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1915885" y="1"/>
            <a:ext cx="3941777" cy="1001253"/>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606250" y="3451667"/>
            <a:ext cx="2537750" cy="1691833"/>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445021" y="4593073"/>
            <a:ext cx="3267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419618" y="841773"/>
            <a:ext cx="5276475" cy="1934085"/>
          </a:xfrm>
        </p:spPr>
        <p:txBody>
          <a:bodyPr wrap="square" anchor="t">
            <a:noAutofit/>
          </a:bodyPr>
          <a:lstStyle>
            <a:lvl1pPr algn="l">
              <a:defRPr lang="en-US" sz="495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10000">
                      <a:srgbClr val="890E4F"/>
                    </a:gs>
                    <a:gs pos="100000">
                      <a:srgbClr val="D81A60"/>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221882" y="230668"/>
            <a:ext cx="2680417" cy="616496"/>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7">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47436" y="628288"/>
            <a:ext cx="815920" cy="57911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144389" y="15288"/>
            <a:ext cx="3484769" cy="550990"/>
          </a:xfrm>
        </p:spPr>
        <p:txBody>
          <a:bodyPr anchor="ctr">
            <a:noAutofit/>
          </a:bodyPr>
          <a:lstStyle>
            <a:lvl1pPr marL="0" indent="0" algn="ctr" defTabSz="685800" rtl="0" eaLnBrk="1" latinLnBrk="0" hangingPunct="1">
              <a:lnSpc>
                <a:spcPct val="90000"/>
              </a:lnSpc>
              <a:spcBef>
                <a:spcPct val="0"/>
              </a:spcBef>
              <a:buNone/>
              <a:defRPr lang="en-US" sz="1350" b="0" kern="1200">
                <a:solidFill>
                  <a:schemeClr val="lt1"/>
                </a:solidFill>
                <a:latin typeface="+mn-lt"/>
                <a:ea typeface="+mn-ea"/>
                <a:cs typeface="+mn-cs"/>
              </a:defRPr>
            </a:lvl1pPr>
          </a:lstStyle>
          <a:p>
            <a:r>
              <a:rPr lang="en-US" sz="1350" b="1"/>
              <a:t>Analysis and Design of Algorithms </a:t>
            </a:r>
            <a:r>
              <a:rPr lang="en-US" sz="1350">
                <a:latin typeface="Roboto Condensed Light" panose="02000000000000000000" pitchFamily="2" charset="0"/>
                <a:ea typeface="Roboto Condensed Light" panose="02000000000000000000" pitchFamily="2" charset="0"/>
              </a:rPr>
              <a:t>(ADA</a:t>
            </a:r>
            <a:r>
              <a:rPr lang="en-US">
                <a:latin typeface="Roboto Condensed Light" panose="02000000000000000000" pitchFamily="2" charset="0"/>
                <a:ea typeface="Roboto Condensed Light" panose="02000000000000000000" pitchFamily="2" charset="0"/>
              </a:rPr>
              <a:t>)</a:t>
            </a:r>
          </a:p>
          <a:p>
            <a:r>
              <a:rPr lang="en-US">
                <a:latin typeface="Roboto Condensed Light" panose="02000000000000000000" pitchFamily="2" charset="0"/>
                <a:ea typeface="Roboto Condensed Light" panose="02000000000000000000" pitchFamily="2" charset="0"/>
              </a:rPr>
              <a:t>GTU # 3150703</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l="26030" t="21389" r="26030" b="34222"/>
          <a:stretch>
            <a:fillRect/>
          </a:stretch>
        </p:blipFill>
        <p:spPr bwMode="auto">
          <a:xfrm>
            <a:off x="265176" y="3908438"/>
            <a:ext cx="1015200" cy="10152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pic>
        <p:nvPicPr>
          <p:cNvPr id="5" name="Picture 4"/>
          <p:cNvPicPr>
            <a:picLocks noChangeAspect="1"/>
          </p:cNvPicPr>
          <p:nvPr userDrawn="1"/>
        </p:nvPicPr>
        <p:blipFill>
          <a:blip r:embed="rId10"/>
          <a:stretch>
            <a:fillRect/>
          </a:stretch>
        </p:blipFill>
        <p:spPr>
          <a:xfrm>
            <a:off x="6423903" y="1993350"/>
            <a:ext cx="1577340" cy="1565017"/>
          </a:xfrm>
          <a:prstGeom prst="rect">
            <a:avLst/>
          </a:prstGeom>
        </p:spPr>
      </p:pic>
    </p:spTree>
    <p:extLst>
      <p:ext uri="{BB962C8B-B14F-4D97-AF65-F5344CB8AC3E}">
        <p14:creationId xmlns:p14="http://schemas.microsoft.com/office/powerpoint/2010/main" val="3576415778"/>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11581" b="21180"/>
          <a:stretch>
            <a:fillRect/>
          </a:stretch>
        </p:blipFill>
        <p:spPr>
          <a:xfrm rot="16200000">
            <a:off x="7355324" y="455176"/>
            <a:ext cx="2243856" cy="13335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a:fillRect/>
          </a:stretch>
        </p:blipFill>
        <p:spPr>
          <a:xfrm>
            <a:off x="0" y="301177"/>
            <a:ext cx="407960" cy="579113"/>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623888" y="1282304"/>
            <a:ext cx="7886700" cy="2139553"/>
          </a:xfrm>
        </p:spPr>
        <p:txBody>
          <a:bodyPr anchor="b">
            <a:normAutofit/>
          </a:bodyPr>
          <a:lstStyle>
            <a:lvl1pPr>
              <a:defRPr lang="en-US" sz="4500" b="1" kern="1200">
                <a:gradFill flip="none" rotWithShape="1">
                  <a:gsLst>
                    <a:gs pos="10000">
                      <a:srgbClr val="890E4F"/>
                    </a:gs>
                    <a:gs pos="100000">
                      <a:srgbClr val="D81A60"/>
                    </a:gs>
                  </a:gsLst>
                  <a:lin ang="0" scaled="1"/>
                </a:gradFill>
                <a:effectLst/>
                <a:latin typeface="+mn-lt"/>
                <a:ea typeface="+mn-ea"/>
                <a:cs typeface="+mn-cs"/>
              </a:defRPr>
            </a:lvl1pPr>
          </a:lstStyle>
          <a:p>
            <a:r>
              <a:rPr lang="en-US"/>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623888" y="3442098"/>
            <a:ext cx="7886700" cy="1125140"/>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Write here Section Subtitle</a:t>
            </a:r>
          </a:p>
        </p:txBody>
      </p:sp>
      <p:grpSp>
        <p:nvGrpSpPr>
          <p:cNvPr id="9" name="Group 8">
            <a:extLst>
              <a:ext uri="{FF2B5EF4-FFF2-40B4-BE49-F238E27FC236}">
                <a16:creationId xmlns:a16="http://schemas.microsoft.com/office/drawing/2014/main" id="{2802A992-B18A-47D4-8497-02E7586DF58D}"/>
              </a:ext>
            </a:extLst>
          </p:cNvPr>
          <p:cNvGrpSpPr/>
          <p:nvPr userDrawn="1"/>
        </p:nvGrpSpPr>
        <p:grpSpPr>
          <a:xfrm>
            <a:off x="7077918" y="4565954"/>
            <a:ext cx="1915607" cy="440591"/>
            <a:chOff x="131177" y="5775962"/>
            <a:chExt cx="2530239" cy="581956"/>
          </a:xfrm>
        </p:grpSpPr>
        <p:pic>
          <p:nvPicPr>
            <p:cNvPr id="13" name="Picture 12">
              <a:extLst>
                <a:ext uri="{FF2B5EF4-FFF2-40B4-BE49-F238E27FC236}">
                  <a16:creationId xmlns:a16="http://schemas.microsoft.com/office/drawing/2014/main" id="{8DD61FEC-075B-4EDD-97CA-36E6F72630F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4" name="Rectangle 13">
              <a:extLst>
                <a:ext uri="{FF2B5EF4-FFF2-40B4-BE49-F238E27FC236}">
                  <a16:creationId xmlns:a16="http://schemas.microsoft.com/office/drawing/2014/main" id="{CB550E12-AA95-4B1B-A8D2-ED01E515FC43}"/>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grpSp>
      <p:sp>
        <p:nvSpPr>
          <p:cNvPr id="10"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109562563"/>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4953000"/>
            <a:ext cx="9143999" cy="1905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628650" y="4953000"/>
            <a:ext cx="2057400" cy="191345"/>
          </a:xfrm>
          <a:prstGeom prst="rect">
            <a:avLst/>
          </a:prstGeom>
        </p:spPr>
        <p:txBody>
          <a:bodyPr vert="horz" lIns="68580" tIns="34290" rIns="68580" bIns="3429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3028950" y="4953000"/>
            <a:ext cx="3287629" cy="191345"/>
          </a:xfrm>
          <a:prstGeom prst="rect">
            <a:avLst/>
          </a:prstGeom>
        </p:spPr>
        <p:txBody>
          <a:bodyPr vert="horz" lIns="68580" tIns="34290" rIns="68580" bIns="3429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#3150703 (ADA)   </a:t>
            </a:r>
            <a:r>
              <a:rPr kumimoji="0" lang="en-US" sz="900" b="0" i="0" u="none" strike="noStrike" kern="1200" cap="none" spc="0" normalizeH="0" baseline="0" noProof="0">
                <a:ln>
                  <a:noFill/>
                </a:ln>
                <a:solidFill>
                  <a:prstClr val="black">
                    <a:lumMod val="90000"/>
                    <a:lumOff val="10000"/>
                  </a:prstClr>
                </a:solidFill>
                <a:effectLst/>
                <a:uLnTx/>
                <a:uFillTx/>
                <a:latin typeface="Wingdings" panose="05000000000000000000" pitchFamily="2" charset="2"/>
                <a:ea typeface="Roboto Condensed Light" panose="02000000000000000000" pitchFamily="2" charset="0"/>
                <a:sym typeface="Arial"/>
              </a:rPr>
              <a:t></a:t>
            </a: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 Unit 4  – Dynamic Programming</a:t>
            </a: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6457950" y="4953000"/>
            <a:ext cx="2057400" cy="191345"/>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ADF2434F-F1F1-4B15-80AA-A2C3BF057F48}" type="slidenum">
              <a:rPr kumimoji="0" lang="en-US" sz="900" b="1" i="0" u="none" strike="noStrike" kern="1200" cap="none" spc="0" normalizeH="0" baseline="0" noProof="0" smtClean="0">
                <a:ln>
                  <a:noFill/>
                </a:ln>
                <a:solidFill>
                  <a:prstClr val="black">
                    <a:lumMod val="90000"/>
                    <a:lumOff val="10000"/>
                  </a:prstClr>
                </a:solidFill>
                <a:effectLst/>
                <a:uLnTx/>
                <a:uFillTx/>
                <a:latin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US" sz="900" b="1" i="0" u="none" strike="noStrike" kern="1200" cap="none" spc="0" normalizeH="0" baseline="0" noProof="0">
              <a:ln>
                <a:noFill/>
              </a:ln>
              <a:solidFill>
                <a:prstClr val="black">
                  <a:lumMod val="90000"/>
                  <a:lumOff val="10000"/>
                </a:prstClr>
              </a:solidFill>
              <a:effectLst/>
              <a:uLnTx/>
              <a:uFillTx/>
              <a:latin typeface="Arial"/>
              <a:sym typeface="Aria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4954688"/>
            <a:ext cx="9144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7182672" y="74394"/>
            <a:ext cx="1915607" cy="440591"/>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grpSp>
    </p:spTree>
    <p:extLst>
      <p:ext uri="{BB962C8B-B14F-4D97-AF65-F5344CB8AC3E}">
        <p14:creationId xmlns:p14="http://schemas.microsoft.com/office/powerpoint/2010/main" val="199344511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7182672" y="4417794"/>
            <a:ext cx="1915607" cy="440591"/>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4953000"/>
            <a:ext cx="9143999" cy="1905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sp>
        <p:nvSpPr>
          <p:cNvPr id="19" name="Date Placeholder 1">
            <a:extLst>
              <a:ext uri="{FF2B5EF4-FFF2-40B4-BE49-F238E27FC236}">
                <a16:creationId xmlns:a16="http://schemas.microsoft.com/office/drawing/2014/main" id="{CA463A36-7025-4394-9467-8A3EC3425B00}"/>
              </a:ext>
            </a:extLst>
          </p:cNvPr>
          <p:cNvSpPr txBox="1"/>
          <p:nvPr userDrawn="1"/>
        </p:nvSpPr>
        <p:spPr>
          <a:xfrm>
            <a:off x="628650" y="4953000"/>
            <a:ext cx="2057400" cy="191345"/>
          </a:xfrm>
          <a:prstGeom prst="rect">
            <a:avLst/>
          </a:prstGeom>
        </p:spPr>
        <p:txBody>
          <a:bodyPr vert="horz" lIns="68580" tIns="34290" rIns="68580" bIns="3429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Dr. Gopi Sanghani</a:t>
            </a:r>
          </a:p>
        </p:txBody>
      </p:sp>
      <p:sp>
        <p:nvSpPr>
          <p:cNvPr id="22" name="Footer Placeholder 2">
            <a:extLst>
              <a:ext uri="{FF2B5EF4-FFF2-40B4-BE49-F238E27FC236}">
                <a16:creationId xmlns:a16="http://schemas.microsoft.com/office/drawing/2014/main" id="{BF2BE79E-EA17-4AB9-8CB5-714A52A6B2F5}"/>
              </a:ext>
            </a:extLst>
          </p:cNvPr>
          <p:cNvSpPr txBox="1"/>
          <p:nvPr userDrawn="1"/>
        </p:nvSpPr>
        <p:spPr>
          <a:xfrm>
            <a:off x="3028950" y="4953000"/>
            <a:ext cx="3212824" cy="190500"/>
          </a:xfrm>
          <a:prstGeom prst="rect">
            <a:avLst/>
          </a:prstGeom>
        </p:spPr>
        <p:txBody>
          <a:bodyPr vert="horz" lIns="68580" tIns="34290" rIns="68580" bIns="3429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#3150703 (ADA)   </a:t>
            </a:r>
            <a:r>
              <a:rPr kumimoji="0" lang="en-US" sz="900" b="0" i="0" u="none" strike="noStrike" kern="1200" cap="none" spc="0" normalizeH="0" baseline="0" noProof="0">
                <a:ln>
                  <a:noFill/>
                </a:ln>
                <a:solidFill>
                  <a:prstClr val="black">
                    <a:lumMod val="90000"/>
                    <a:lumOff val="10000"/>
                  </a:prstClr>
                </a:solidFill>
                <a:effectLst/>
                <a:uLnTx/>
                <a:uFillTx/>
                <a:latin typeface="Wingdings" panose="05000000000000000000" pitchFamily="2" charset="2"/>
                <a:ea typeface="Roboto Condensed Light" panose="02000000000000000000" pitchFamily="2" charset="0"/>
                <a:sym typeface="Arial"/>
              </a:rPr>
              <a:t></a:t>
            </a: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   Unit 4  – Dynamic Programming</a:t>
            </a:r>
          </a:p>
        </p:txBody>
      </p:sp>
      <p:sp>
        <p:nvSpPr>
          <p:cNvPr id="23" name="Slide Number Placeholder 3">
            <a:extLst>
              <a:ext uri="{FF2B5EF4-FFF2-40B4-BE49-F238E27FC236}">
                <a16:creationId xmlns:a16="http://schemas.microsoft.com/office/drawing/2014/main" id="{FE084249-8DB7-4B0A-AA7A-A1A407FC0773}"/>
              </a:ext>
            </a:extLst>
          </p:cNvPr>
          <p:cNvSpPr txBox="1"/>
          <p:nvPr userDrawn="1"/>
        </p:nvSpPr>
        <p:spPr>
          <a:xfrm>
            <a:off x="6457950" y="4953000"/>
            <a:ext cx="2057400" cy="191345"/>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ADF2434F-F1F1-4B15-80AA-A2C3BF057F48}" type="slidenum">
              <a:rPr kumimoji="0" lang="en-US" sz="900" b="1" i="0" u="none" strike="noStrike" kern="1200" cap="none" spc="0" normalizeH="0" baseline="0" noProof="0" smtClean="0">
                <a:ln>
                  <a:noFill/>
                </a:ln>
                <a:solidFill>
                  <a:prstClr val="black">
                    <a:lumMod val="90000"/>
                    <a:lumOff val="10000"/>
                  </a:prstClr>
                </a:solidFill>
                <a:effectLst/>
                <a:uLnTx/>
                <a:uFillTx/>
                <a:latin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US" sz="900" b="1" i="0" u="none" strike="noStrike" kern="1200" cap="none" spc="0" normalizeH="0" baseline="0" noProof="0">
              <a:ln>
                <a:noFill/>
              </a:ln>
              <a:solidFill>
                <a:prstClr val="black">
                  <a:lumMod val="90000"/>
                  <a:lumOff val="10000"/>
                </a:prstClr>
              </a:solidFill>
              <a:effectLst/>
              <a:uLnTx/>
              <a:uFillTx/>
              <a:latin typeface="Arial"/>
              <a:sym typeface="Aria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3">
            <a:alphaModFix/>
          </a:blip>
          <a:srcRect t="86739" r="1768" b="3535"/>
          <a:stretch>
            <a:fillRect/>
          </a:stretch>
        </p:blipFill>
        <p:spPr>
          <a:xfrm>
            <a:off x="0" y="0"/>
            <a:ext cx="9144000" cy="533401"/>
          </a:xfrm>
          <a:prstGeom prst="rect">
            <a:avLst/>
          </a:prstGeom>
          <a:solidFill>
            <a:srgbClr val="F48CAF"/>
          </a:solid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9144000" cy="533400"/>
          </a:xfrm>
          <a:solidFill>
            <a:srgbClr val="DFDFDF">
              <a:alpha val="49804"/>
            </a:srgbClr>
          </a:solidFill>
          <a:ln>
            <a:noFill/>
          </a:ln>
        </p:spPr>
        <p:txBody>
          <a:bodyPr vert="horz" lIns="216000" tIns="108000" rIns="216000" bIns="108000" rtlCol="0" anchor="ctr">
            <a:normAutofit/>
          </a:bodyPr>
          <a:lstStyle>
            <a:lvl1pPr>
              <a:defRPr lang="en-US" sz="2550" b="1">
                <a:solidFill>
                  <a:schemeClr val="tx1">
                    <a:lumMod val="90000"/>
                    <a:lumOff val="10000"/>
                  </a:schemeClr>
                </a:solidFill>
                <a:effectLst/>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98385" y="647583"/>
            <a:ext cx="8947231" cy="4192924"/>
          </a:xfrm>
        </p:spPr>
        <p:txBody>
          <a:bodyPr>
            <a:noAutofit/>
          </a:bodyPr>
          <a:lstStyle>
            <a:lvl1pPr marL="198835" indent="-198835" algn="just">
              <a:buClr>
                <a:schemeClr val="accent6"/>
              </a:buClr>
              <a:buFont typeface="Wingdings 3" panose="05040102010807070707" pitchFamily="18" charset="2"/>
              <a:buChar char=""/>
              <a:defRPr sz="1800">
                <a:solidFill>
                  <a:schemeClr val="tx1"/>
                </a:solidFill>
              </a:defRPr>
            </a:lvl1pPr>
            <a:lvl2pPr marL="607219" indent="-264319" algn="just">
              <a:buClr>
                <a:schemeClr val="accent6"/>
              </a:buClr>
              <a:buFont typeface="Wingdings 3" panose="05040102010807070707" pitchFamily="18" charset="2"/>
              <a:buChar char=""/>
              <a:defRPr sz="1500">
                <a:solidFill>
                  <a:schemeClr val="tx1"/>
                </a:solidFill>
              </a:defRPr>
            </a:lvl2pPr>
            <a:lvl3pPr marL="857250" indent="-171450" algn="just">
              <a:buClr>
                <a:schemeClr val="accent6"/>
              </a:buClr>
              <a:buFont typeface="Wingdings" panose="05000000000000000000" pitchFamily="2" charset="2"/>
              <a:buChar char="§"/>
              <a:defRPr sz="1350">
                <a:solidFill>
                  <a:schemeClr val="tx1"/>
                </a:solidFill>
              </a:defRPr>
            </a:lvl3pPr>
            <a:lvl4pPr algn="just">
              <a:buClr>
                <a:schemeClr val="accent6"/>
              </a:buClr>
              <a:defRPr sz="1200">
                <a:solidFill>
                  <a:schemeClr val="tx1"/>
                </a:solidFill>
              </a:defRPr>
            </a:lvl4pPr>
            <a:lvl5pPr algn="just">
              <a:buClr>
                <a:schemeClr val="accent6"/>
              </a:buCl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533401"/>
            <a:ext cx="9144000" cy="0"/>
          </a:xfrm>
          <a:prstGeom prst="line">
            <a:avLst/>
          </a:prstGeom>
          <a:solidFill>
            <a:srgbClr val="DFDFDF">
              <a:alpha val="49804"/>
            </a:srgbClr>
          </a:solidFill>
          <a:ln>
            <a:noFill/>
          </a:ln>
        </p:spPr>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4954688"/>
            <a:ext cx="9144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207670"/>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6072" y="4417794"/>
            <a:ext cx="1915607" cy="440591"/>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4953000"/>
            <a:ext cx="9143999" cy="1905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sp>
        <p:nvSpPr>
          <p:cNvPr id="19" name="Date Placeholder 1">
            <a:extLst>
              <a:ext uri="{FF2B5EF4-FFF2-40B4-BE49-F238E27FC236}">
                <a16:creationId xmlns:a16="http://schemas.microsoft.com/office/drawing/2014/main" id="{CA463A36-7025-4394-9467-8A3EC3425B00}"/>
              </a:ext>
            </a:extLst>
          </p:cNvPr>
          <p:cNvSpPr txBox="1"/>
          <p:nvPr userDrawn="1"/>
        </p:nvSpPr>
        <p:spPr>
          <a:xfrm>
            <a:off x="628650" y="4953000"/>
            <a:ext cx="2057400" cy="191345"/>
          </a:xfrm>
          <a:prstGeom prst="rect">
            <a:avLst/>
          </a:prstGeom>
        </p:spPr>
        <p:txBody>
          <a:bodyPr vert="horz" lIns="68580" tIns="34290" rIns="68580" bIns="3429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Dr. Gopi Sanghani</a:t>
            </a:r>
          </a:p>
        </p:txBody>
      </p:sp>
      <p:sp>
        <p:nvSpPr>
          <p:cNvPr id="22" name="Footer Placeholder 2">
            <a:extLst>
              <a:ext uri="{FF2B5EF4-FFF2-40B4-BE49-F238E27FC236}">
                <a16:creationId xmlns:a16="http://schemas.microsoft.com/office/drawing/2014/main" id="{BF2BE79E-EA17-4AB9-8CB5-714A52A6B2F5}"/>
              </a:ext>
            </a:extLst>
          </p:cNvPr>
          <p:cNvSpPr txBox="1"/>
          <p:nvPr userDrawn="1"/>
        </p:nvSpPr>
        <p:spPr>
          <a:xfrm>
            <a:off x="3028950" y="4953000"/>
            <a:ext cx="3222764" cy="191345"/>
          </a:xfrm>
          <a:prstGeom prst="rect">
            <a:avLst/>
          </a:prstGeom>
        </p:spPr>
        <p:txBody>
          <a:bodyPr vert="horz" lIns="68580" tIns="34290" rIns="68580" bIns="3429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#3150703 (ADA)   </a:t>
            </a:r>
            <a:r>
              <a:rPr kumimoji="0" lang="en-US" sz="900" b="0" i="0" u="none" strike="noStrike" kern="1200" cap="none" spc="0" normalizeH="0" baseline="0" noProof="0">
                <a:ln>
                  <a:noFill/>
                </a:ln>
                <a:solidFill>
                  <a:prstClr val="black">
                    <a:lumMod val="90000"/>
                    <a:lumOff val="10000"/>
                  </a:prstClr>
                </a:solidFill>
                <a:effectLst/>
                <a:uLnTx/>
                <a:uFillTx/>
                <a:latin typeface="Wingdings" panose="05000000000000000000" pitchFamily="2" charset="2"/>
                <a:ea typeface="Roboto Condensed Light" panose="02000000000000000000" pitchFamily="2" charset="0"/>
                <a:sym typeface="Arial"/>
              </a:rPr>
              <a:t></a:t>
            </a: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 Unit 4  – Dynamic Programming</a:t>
            </a:r>
          </a:p>
        </p:txBody>
      </p:sp>
      <p:sp>
        <p:nvSpPr>
          <p:cNvPr id="23" name="Slide Number Placeholder 3">
            <a:extLst>
              <a:ext uri="{FF2B5EF4-FFF2-40B4-BE49-F238E27FC236}">
                <a16:creationId xmlns:a16="http://schemas.microsoft.com/office/drawing/2014/main" id="{FE084249-8DB7-4B0A-AA7A-A1A407FC0773}"/>
              </a:ext>
            </a:extLst>
          </p:cNvPr>
          <p:cNvSpPr txBox="1"/>
          <p:nvPr userDrawn="1"/>
        </p:nvSpPr>
        <p:spPr>
          <a:xfrm>
            <a:off x="6457950" y="4953000"/>
            <a:ext cx="2057400" cy="191345"/>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ADF2434F-F1F1-4B15-80AA-A2C3BF057F48}" type="slidenum">
              <a:rPr kumimoji="0" lang="en-US" sz="900" b="1" i="0" u="none" strike="noStrike" kern="1200" cap="none" spc="0" normalizeH="0" baseline="0" noProof="0" smtClean="0">
                <a:ln>
                  <a:noFill/>
                </a:ln>
                <a:solidFill>
                  <a:prstClr val="black">
                    <a:lumMod val="90000"/>
                    <a:lumOff val="10000"/>
                  </a:prstClr>
                </a:solidFill>
                <a:effectLst/>
                <a:uLnTx/>
                <a:uFillTx/>
                <a:latin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US" sz="900" b="1" i="0" u="none" strike="noStrike" kern="1200" cap="none" spc="0" normalizeH="0" baseline="0" noProof="0">
              <a:ln>
                <a:noFill/>
              </a:ln>
              <a:solidFill>
                <a:prstClr val="black">
                  <a:lumMod val="90000"/>
                  <a:lumOff val="10000"/>
                </a:prstClr>
              </a:solidFill>
              <a:effectLst/>
              <a:uLnTx/>
              <a:uFillTx/>
              <a:latin typeface="Arial"/>
              <a:sym typeface="Aria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3">
            <a:alphaModFix/>
          </a:blip>
          <a:srcRect t="86739" r="1768" b="3535"/>
          <a:stretch>
            <a:fillRect/>
          </a:stretch>
        </p:blipFill>
        <p:spPr>
          <a:xfrm>
            <a:off x="0" y="0"/>
            <a:ext cx="9144000" cy="5334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9144000" cy="533400"/>
          </a:xfrm>
          <a:solidFill>
            <a:srgbClr val="DFDFDF">
              <a:alpha val="49804"/>
            </a:srgbClr>
          </a:solidFill>
          <a:ln>
            <a:noFill/>
          </a:ln>
        </p:spPr>
        <p:txBody>
          <a:bodyPr lIns="216000" tIns="108000" rIns="216000" bIns="108000">
            <a:normAutofit/>
          </a:bodyPr>
          <a:lstStyle>
            <a:lvl1pPr>
              <a:defRPr lang="en-US" sz="255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98385" y="647583"/>
            <a:ext cx="8947231" cy="4192924"/>
          </a:xfrm>
        </p:spPr>
        <p:txBody>
          <a:bodyPr>
            <a:noAutofit/>
          </a:bodyPr>
          <a:lstStyle>
            <a:lvl1pPr marL="198835" indent="-198835" algn="just">
              <a:buClr>
                <a:schemeClr val="accent6"/>
              </a:buClr>
              <a:buFont typeface="Wingdings 3" panose="05040102010807070707" pitchFamily="18" charset="2"/>
              <a:buChar char=""/>
              <a:defRPr sz="1800">
                <a:solidFill>
                  <a:schemeClr val="tx1"/>
                </a:solidFill>
              </a:defRPr>
            </a:lvl1pPr>
            <a:lvl2pPr marL="607219" indent="-264319" algn="just">
              <a:buClr>
                <a:schemeClr val="accent6"/>
              </a:buClr>
              <a:buFont typeface="Wingdings 3" panose="05040102010807070707" pitchFamily="18" charset="2"/>
              <a:buChar char=""/>
              <a:defRPr sz="1500">
                <a:solidFill>
                  <a:schemeClr val="tx1"/>
                </a:solidFill>
              </a:defRPr>
            </a:lvl2pPr>
            <a:lvl3pPr marL="857250" indent="-171450" algn="just">
              <a:buClr>
                <a:schemeClr val="accent6"/>
              </a:buClr>
              <a:buFont typeface="Wingdings" panose="05000000000000000000" pitchFamily="2" charset="2"/>
              <a:buChar char="§"/>
              <a:defRPr sz="1350">
                <a:solidFill>
                  <a:schemeClr val="tx1"/>
                </a:solidFill>
              </a:defRPr>
            </a:lvl3pPr>
            <a:lvl4pPr algn="just">
              <a:buClr>
                <a:schemeClr val="accent6"/>
              </a:buClr>
              <a:defRPr sz="1200">
                <a:solidFill>
                  <a:schemeClr val="tx1"/>
                </a:solidFill>
              </a:defRPr>
            </a:lvl4pPr>
            <a:lvl5pPr algn="just">
              <a:buClr>
                <a:schemeClr val="accent6"/>
              </a:buCl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533401"/>
            <a:ext cx="9144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4954688"/>
            <a:ext cx="9144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4459860"/>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1915885" y="1"/>
            <a:ext cx="3941777" cy="1001253"/>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606250" y="3451667"/>
            <a:ext cx="2537750" cy="1691833"/>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30646" y="1572706"/>
            <a:ext cx="2110414" cy="1589405"/>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445021" y="4593073"/>
            <a:ext cx="3267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419618" y="841773"/>
            <a:ext cx="5276475" cy="1934085"/>
          </a:xfrm>
        </p:spPr>
        <p:txBody>
          <a:bodyPr wrap="square" anchor="t">
            <a:noAutofit/>
          </a:bodyPr>
          <a:lstStyle>
            <a:lvl1pPr algn="l">
              <a:defRPr lang="en-US" sz="495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0">
                      <a:srgbClr val="1D3064"/>
                    </a:gs>
                    <a:gs pos="100000">
                      <a:schemeClr val="tx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221882" y="230668"/>
            <a:ext cx="2680417" cy="616496"/>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47436" y="628288"/>
            <a:ext cx="815920" cy="57911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1936317" y="15288"/>
            <a:ext cx="3484769" cy="550990"/>
          </a:xfrm>
        </p:spPr>
        <p:txBody>
          <a:bodyPr anchor="ctr">
            <a:noAutofit/>
          </a:bodyPr>
          <a:lstStyle>
            <a:lvl1pPr marL="0" indent="0" algn="ctr" defTabSz="685800" rtl="0" eaLnBrk="1" latinLnBrk="0" hangingPunct="1">
              <a:lnSpc>
                <a:spcPct val="90000"/>
              </a:lnSpc>
              <a:spcBef>
                <a:spcPct val="0"/>
              </a:spcBef>
              <a:buNone/>
              <a:defRPr lang="en-US" sz="135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a:blip r:embed="rId10">
            <a:extLst>
              <a:ext uri="{28A0092B-C50C-407E-A947-70E740481C1C}">
                <a14:useLocalDpi xmlns:a14="http://schemas.microsoft.com/office/drawing/2010/main" val="0"/>
              </a:ext>
            </a:extLst>
          </a:blip>
          <a:srcRect l="144383" t="-16142" r="-144383" b="22103"/>
          <a:stretch>
            <a:fillRect/>
          </a:stretch>
        </p:blipFill>
        <p:spPr>
          <a:xfrm>
            <a:off x="1376060" y="2989343"/>
            <a:ext cx="2306955" cy="2169444"/>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265176" y="3908438"/>
            <a:ext cx="1015200" cy="10152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spTree>
    <p:extLst>
      <p:ext uri="{BB962C8B-B14F-4D97-AF65-F5344CB8AC3E}">
        <p14:creationId xmlns:p14="http://schemas.microsoft.com/office/powerpoint/2010/main" val="14951685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7182672" y="645894"/>
            <a:ext cx="1915607" cy="440591"/>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4953000"/>
            <a:ext cx="9143999" cy="1905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sp>
        <p:nvSpPr>
          <p:cNvPr id="19" name="Date Placeholder 1">
            <a:extLst>
              <a:ext uri="{FF2B5EF4-FFF2-40B4-BE49-F238E27FC236}">
                <a16:creationId xmlns:a16="http://schemas.microsoft.com/office/drawing/2014/main" id="{CA463A36-7025-4394-9467-8A3EC3425B00}"/>
              </a:ext>
            </a:extLst>
          </p:cNvPr>
          <p:cNvSpPr txBox="1"/>
          <p:nvPr userDrawn="1"/>
        </p:nvSpPr>
        <p:spPr>
          <a:xfrm>
            <a:off x="628650" y="4953000"/>
            <a:ext cx="2057400" cy="191345"/>
          </a:xfrm>
          <a:prstGeom prst="rect">
            <a:avLst/>
          </a:prstGeom>
        </p:spPr>
        <p:txBody>
          <a:bodyPr vert="horz" lIns="68580" tIns="34290" rIns="68580" bIns="3429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Dr. Gopi Sanghani</a:t>
            </a:r>
          </a:p>
        </p:txBody>
      </p:sp>
      <p:sp>
        <p:nvSpPr>
          <p:cNvPr id="22" name="Footer Placeholder 2">
            <a:extLst>
              <a:ext uri="{FF2B5EF4-FFF2-40B4-BE49-F238E27FC236}">
                <a16:creationId xmlns:a16="http://schemas.microsoft.com/office/drawing/2014/main" id="{BF2BE79E-EA17-4AB9-8CB5-714A52A6B2F5}"/>
              </a:ext>
            </a:extLst>
          </p:cNvPr>
          <p:cNvSpPr txBox="1"/>
          <p:nvPr userDrawn="1"/>
        </p:nvSpPr>
        <p:spPr>
          <a:xfrm>
            <a:off x="3028950" y="4953000"/>
            <a:ext cx="3202885" cy="191345"/>
          </a:xfrm>
          <a:prstGeom prst="rect">
            <a:avLst/>
          </a:prstGeom>
        </p:spPr>
        <p:txBody>
          <a:bodyPr vert="horz" lIns="68580" tIns="34290" rIns="68580" bIns="3429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#3150703 (ADA)   </a:t>
            </a:r>
            <a:r>
              <a:rPr kumimoji="0" lang="en-US" sz="900" b="0" i="0" u="none" strike="noStrike" kern="1200" cap="none" spc="0" normalizeH="0" baseline="0" noProof="0">
                <a:ln>
                  <a:noFill/>
                </a:ln>
                <a:solidFill>
                  <a:prstClr val="black">
                    <a:lumMod val="90000"/>
                    <a:lumOff val="10000"/>
                  </a:prstClr>
                </a:solidFill>
                <a:effectLst/>
                <a:uLnTx/>
                <a:uFillTx/>
                <a:latin typeface="Wingdings" panose="05000000000000000000" pitchFamily="2" charset="2"/>
                <a:ea typeface="Roboto Condensed Light" panose="02000000000000000000" pitchFamily="2" charset="0"/>
                <a:sym typeface="Arial"/>
              </a:rPr>
              <a:t></a:t>
            </a: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 Unit 4  – Dynamic Programming</a:t>
            </a:r>
          </a:p>
        </p:txBody>
      </p:sp>
      <p:sp>
        <p:nvSpPr>
          <p:cNvPr id="23" name="Slide Number Placeholder 3">
            <a:extLst>
              <a:ext uri="{FF2B5EF4-FFF2-40B4-BE49-F238E27FC236}">
                <a16:creationId xmlns:a16="http://schemas.microsoft.com/office/drawing/2014/main" id="{FE084249-8DB7-4B0A-AA7A-A1A407FC0773}"/>
              </a:ext>
            </a:extLst>
          </p:cNvPr>
          <p:cNvSpPr txBox="1"/>
          <p:nvPr userDrawn="1"/>
        </p:nvSpPr>
        <p:spPr>
          <a:xfrm>
            <a:off x="6457950" y="4953000"/>
            <a:ext cx="2057400" cy="191345"/>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ADF2434F-F1F1-4B15-80AA-A2C3BF057F48}" type="slidenum">
              <a:rPr kumimoji="0" lang="en-US" sz="900" b="1" i="0" u="none" strike="noStrike" kern="1200" cap="none" spc="0" normalizeH="0" baseline="0" noProof="0" smtClean="0">
                <a:ln>
                  <a:noFill/>
                </a:ln>
                <a:solidFill>
                  <a:prstClr val="black">
                    <a:lumMod val="90000"/>
                    <a:lumOff val="10000"/>
                  </a:prstClr>
                </a:solidFill>
                <a:effectLst/>
                <a:uLnTx/>
                <a:uFillTx/>
                <a:latin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US" sz="900" b="1" i="0" u="none" strike="noStrike" kern="1200" cap="none" spc="0" normalizeH="0" baseline="0" noProof="0">
              <a:ln>
                <a:noFill/>
              </a:ln>
              <a:solidFill>
                <a:prstClr val="black">
                  <a:lumMod val="90000"/>
                  <a:lumOff val="10000"/>
                </a:prstClr>
              </a:solidFill>
              <a:effectLst/>
              <a:uLnTx/>
              <a:uFillTx/>
              <a:latin typeface="Arial"/>
              <a:sym typeface="Arial"/>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3"/>
          <a:srcRect t="86739" r="1768" b="3535"/>
          <a:stretch>
            <a:fillRect/>
          </a:stretch>
        </p:blipFill>
        <p:spPr>
          <a:xfrm>
            <a:off x="0" y="0"/>
            <a:ext cx="9144000" cy="533401"/>
          </a:xfrm>
          <a:prstGeom prst="rect">
            <a:avLst/>
          </a:prstGeom>
          <a:solidFill>
            <a:srgbClr val="DFDFDF">
              <a:alpha val="49804"/>
            </a:srgbClr>
          </a:solidFill>
          <a:ln>
            <a:noFill/>
          </a:ln>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9144000" cy="533400"/>
          </a:xfrm>
          <a:solidFill>
            <a:srgbClr val="DFDFDF">
              <a:alpha val="49804"/>
            </a:srgbClr>
          </a:solidFill>
          <a:ln>
            <a:noFill/>
          </a:ln>
        </p:spPr>
        <p:txBody>
          <a:bodyPr vert="horz" lIns="216000" tIns="108000" rIns="216000" bIns="108000" rtlCol="0" anchor="ctr">
            <a:normAutofit/>
          </a:bodyPr>
          <a:lstStyle>
            <a:lvl1pPr>
              <a:defRPr lang="en-US" sz="2550" b="1">
                <a:solidFill>
                  <a:schemeClr val="tx1">
                    <a:lumMod val="90000"/>
                    <a:lumOff val="10000"/>
                  </a:schemeClr>
                </a:solidFill>
                <a:effectLst/>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98385" y="647583"/>
            <a:ext cx="8947231" cy="4192924"/>
          </a:xfrm>
        </p:spPr>
        <p:txBody>
          <a:bodyPr>
            <a:noAutofit/>
          </a:bodyPr>
          <a:lstStyle>
            <a:lvl1pPr marL="198835" indent="-198835" algn="just">
              <a:buClr>
                <a:schemeClr val="accent6"/>
              </a:buClr>
              <a:buFont typeface="Wingdings 3" panose="05040102010807070707" pitchFamily="18" charset="2"/>
              <a:buChar char=""/>
              <a:defRPr sz="1800">
                <a:solidFill>
                  <a:schemeClr val="tx1"/>
                </a:solidFill>
              </a:defRPr>
            </a:lvl1pPr>
            <a:lvl2pPr marL="607219" indent="-264319" algn="just">
              <a:buClr>
                <a:schemeClr val="accent6"/>
              </a:buClr>
              <a:buFont typeface="Wingdings 3" panose="05040102010807070707" pitchFamily="18" charset="2"/>
              <a:buChar char=""/>
              <a:defRPr sz="1500">
                <a:solidFill>
                  <a:schemeClr val="tx1"/>
                </a:solidFill>
              </a:defRPr>
            </a:lvl2pPr>
            <a:lvl3pPr marL="857250" indent="-171450" algn="just">
              <a:buClr>
                <a:schemeClr val="accent6"/>
              </a:buClr>
              <a:buFont typeface="Wingdings" panose="05000000000000000000" pitchFamily="2" charset="2"/>
              <a:buChar char="§"/>
              <a:defRPr sz="1350">
                <a:solidFill>
                  <a:schemeClr val="tx1"/>
                </a:solidFill>
              </a:defRPr>
            </a:lvl3pPr>
            <a:lvl4pPr algn="just">
              <a:buClr>
                <a:schemeClr val="accent6"/>
              </a:buClr>
              <a:defRPr sz="1200">
                <a:solidFill>
                  <a:schemeClr val="tx1"/>
                </a:solidFill>
              </a:defRPr>
            </a:lvl4pPr>
            <a:lvl5pPr algn="just">
              <a:buClr>
                <a:schemeClr val="accent6"/>
              </a:buCl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533401"/>
            <a:ext cx="9144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4954688"/>
            <a:ext cx="9144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37969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4953000"/>
            <a:ext cx="9143999" cy="1905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628650" y="4953000"/>
            <a:ext cx="2057400" cy="191345"/>
          </a:xfrm>
          <a:prstGeom prst="rect">
            <a:avLst/>
          </a:prstGeom>
        </p:spPr>
        <p:txBody>
          <a:bodyPr vert="horz" lIns="68580" tIns="34290" rIns="68580" bIns="3429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3028950" y="4953000"/>
            <a:ext cx="3299660" cy="191345"/>
          </a:xfrm>
          <a:prstGeom prst="rect">
            <a:avLst/>
          </a:prstGeom>
        </p:spPr>
        <p:txBody>
          <a:bodyPr vert="horz" lIns="68580" tIns="34290" rIns="68580" bIns="3429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#3150703 (ADA)   </a:t>
            </a:r>
            <a:r>
              <a:rPr kumimoji="0" lang="en-US" sz="900" b="0" i="0" u="none" strike="noStrike" kern="1200" cap="none" spc="0" normalizeH="0" baseline="0" noProof="0">
                <a:ln>
                  <a:noFill/>
                </a:ln>
                <a:solidFill>
                  <a:prstClr val="black">
                    <a:lumMod val="90000"/>
                    <a:lumOff val="10000"/>
                  </a:prstClr>
                </a:solidFill>
                <a:effectLst/>
                <a:uLnTx/>
                <a:uFillTx/>
                <a:latin typeface="Wingdings" panose="05000000000000000000" pitchFamily="2" charset="2"/>
                <a:ea typeface="Roboto Condensed Light" panose="02000000000000000000" pitchFamily="2" charset="0"/>
                <a:sym typeface="Arial"/>
              </a:rPr>
              <a:t></a:t>
            </a: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 Unit 4  – Dynamic Programming</a:t>
            </a: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6457950" y="4953000"/>
            <a:ext cx="2057400" cy="191345"/>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ADF2434F-F1F1-4B15-80AA-A2C3BF057F48}" type="slidenum">
              <a:rPr kumimoji="0" lang="en-US" sz="900" b="1" i="0" u="none" strike="noStrike" kern="1200" cap="none" spc="0" normalizeH="0" baseline="0" noProof="0" smtClean="0">
                <a:ln>
                  <a:noFill/>
                </a:ln>
                <a:solidFill>
                  <a:prstClr val="black">
                    <a:lumMod val="90000"/>
                    <a:lumOff val="10000"/>
                  </a:prstClr>
                </a:solidFill>
                <a:effectLst/>
                <a:uLnTx/>
                <a:uFillTx/>
                <a:latin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US" sz="900" b="1" i="0" u="none" strike="noStrike" kern="1200" cap="none" spc="0" normalizeH="0" baseline="0" noProof="0">
              <a:ln>
                <a:noFill/>
              </a:ln>
              <a:solidFill>
                <a:prstClr val="black">
                  <a:lumMod val="90000"/>
                  <a:lumOff val="10000"/>
                </a:prstClr>
              </a:solidFill>
              <a:effectLst/>
              <a:uLnTx/>
              <a:uFillTx/>
              <a:latin typeface="Arial"/>
              <a:sym typeface="Aria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4954688"/>
            <a:ext cx="9144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userDrawn="1"/>
        </p:nvGrpSpPr>
        <p:grpSpPr>
          <a:xfrm>
            <a:off x="7182672" y="4417794"/>
            <a:ext cx="1915607" cy="440591"/>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grpSp>
    </p:spTree>
    <p:extLst>
      <p:ext uri="{BB962C8B-B14F-4D97-AF65-F5344CB8AC3E}">
        <p14:creationId xmlns:p14="http://schemas.microsoft.com/office/powerpoint/2010/main" val="11045925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4953000"/>
            <a:ext cx="9143999" cy="1905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628650" y="4953000"/>
            <a:ext cx="2057400" cy="191345"/>
          </a:xfrm>
          <a:prstGeom prst="rect">
            <a:avLst/>
          </a:prstGeom>
        </p:spPr>
        <p:txBody>
          <a:bodyPr vert="horz" lIns="68580" tIns="34290" rIns="68580" bIns="3429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3028950" y="4953000"/>
            <a:ext cx="3251534" cy="191345"/>
          </a:xfrm>
          <a:prstGeom prst="rect">
            <a:avLst/>
          </a:prstGeom>
        </p:spPr>
        <p:txBody>
          <a:bodyPr vert="horz" lIns="68580" tIns="34290" rIns="68580" bIns="3429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#3150703 (ADA)   </a:t>
            </a:r>
            <a:r>
              <a:rPr kumimoji="0" lang="en-US" sz="900" b="0" i="0" u="none" strike="noStrike" kern="1200" cap="none" spc="0" normalizeH="0" baseline="0" noProof="0">
                <a:ln>
                  <a:noFill/>
                </a:ln>
                <a:solidFill>
                  <a:prstClr val="black">
                    <a:lumMod val="90000"/>
                    <a:lumOff val="10000"/>
                  </a:prstClr>
                </a:solidFill>
                <a:effectLst/>
                <a:uLnTx/>
                <a:uFillTx/>
                <a:latin typeface="Wingdings" panose="05000000000000000000" pitchFamily="2" charset="2"/>
                <a:ea typeface="Roboto Condensed Light" panose="02000000000000000000" pitchFamily="2" charset="0"/>
                <a:sym typeface="Arial"/>
              </a:rPr>
              <a:t></a:t>
            </a:r>
            <a:r>
              <a:rPr kumimoji="0" lang="en-US" sz="900" b="0" i="0" u="none" strike="noStrike" kern="1200" cap="none" spc="0" normalizeH="0" baseline="0" noProof="0">
                <a:ln>
                  <a:noFill/>
                </a:ln>
                <a:solidFill>
                  <a:prstClr val="black">
                    <a:lumMod val="90000"/>
                    <a:lumOff val="10000"/>
                  </a:prstClr>
                </a:solidFill>
                <a:effectLst/>
                <a:uLnTx/>
                <a:uFillTx/>
                <a:latin typeface="Roboto Condensed Light" panose="02000000000000000000" pitchFamily="2" charset="0"/>
                <a:ea typeface="Roboto Condensed Light" panose="02000000000000000000" pitchFamily="2" charset="0"/>
                <a:sym typeface="Arial"/>
              </a:rPr>
              <a:t> Unit 4  – Dynamic Programming</a:t>
            </a: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6457950" y="4953000"/>
            <a:ext cx="2057400" cy="191345"/>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ADF2434F-F1F1-4B15-80AA-A2C3BF057F48}" type="slidenum">
              <a:rPr kumimoji="0" lang="en-US" sz="900" b="1" i="0" u="none" strike="noStrike" kern="1200" cap="none" spc="0" normalizeH="0" baseline="0" noProof="0" smtClean="0">
                <a:ln>
                  <a:noFill/>
                </a:ln>
                <a:solidFill>
                  <a:prstClr val="black">
                    <a:lumMod val="90000"/>
                    <a:lumOff val="10000"/>
                  </a:prstClr>
                </a:solidFill>
                <a:effectLst/>
                <a:uLnTx/>
                <a:uFillTx/>
                <a:latin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US" sz="900" b="1" i="0" u="none" strike="noStrike" kern="1200" cap="none" spc="0" normalizeH="0" baseline="0" noProof="0">
              <a:ln>
                <a:noFill/>
              </a:ln>
              <a:solidFill>
                <a:prstClr val="black">
                  <a:lumMod val="90000"/>
                  <a:lumOff val="10000"/>
                </a:prstClr>
              </a:solidFill>
              <a:effectLst/>
              <a:uLnTx/>
              <a:uFillTx/>
              <a:latin typeface="Arial"/>
              <a:sym typeface="Aria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4954688"/>
            <a:ext cx="9144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96072" y="4417794"/>
            <a:ext cx="1915607" cy="440591"/>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prstClr val="white"/>
                </a:solidFill>
                <a:effectLst/>
                <a:uLnTx/>
                <a:uFillTx/>
                <a:latin typeface="Arial"/>
                <a:sym typeface="Arial"/>
              </a:endParaRPr>
            </a:p>
          </p:txBody>
        </p:sp>
      </p:grpSp>
    </p:spTree>
    <p:extLst>
      <p:ext uri="{BB962C8B-B14F-4D97-AF65-F5344CB8AC3E}">
        <p14:creationId xmlns:p14="http://schemas.microsoft.com/office/powerpoint/2010/main" val="2240608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01585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281940" y="342900"/>
            <a:ext cx="3605474" cy="4154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100" b="0" i="0" u="none" strike="noStrike" kern="0" cap="none" spc="0" normalizeH="0" baseline="0" noProof="0">
                <a:ln>
                  <a:noFill/>
                </a:ln>
                <a:solidFill>
                  <a:srgbClr val="FF0000"/>
                </a:solidFill>
                <a:effectLst/>
                <a:uLnTx/>
                <a:uFillTx/>
                <a:latin typeface="Arial"/>
                <a:cs typeface="Arial"/>
                <a:sym typeface="Aria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3009900" y="1356122"/>
            <a:ext cx="2918222" cy="291822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394639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1915885" y="1"/>
            <a:ext cx="3941777" cy="1001253"/>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606250" y="3451667"/>
            <a:ext cx="2537750" cy="1691833"/>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30646" y="1572706"/>
            <a:ext cx="2110414" cy="1589405"/>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445021" y="4593073"/>
            <a:ext cx="3267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419618" y="841773"/>
            <a:ext cx="5276475" cy="1934085"/>
          </a:xfrm>
        </p:spPr>
        <p:txBody>
          <a:bodyPr wrap="square" anchor="t">
            <a:noAutofit/>
          </a:bodyPr>
          <a:lstStyle>
            <a:lvl1pPr algn="l">
              <a:defRPr lang="en-US" sz="495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10000">
                      <a:schemeClr val="accent4">
                        <a:lumMod val="50000"/>
                      </a:schemeClr>
                    </a:gs>
                    <a:gs pos="100000">
                      <a:srgbClr val="009788"/>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221882" y="230668"/>
            <a:ext cx="2680417" cy="616496"/>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47436" y="628288"/>
            <a:ext cx="815920" cy="57911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1936317" y="15288"/>
            <a:ext cx="3484769" cy="550990"/>
          </a:xfrm>
        </p:spPr>
        <p:txBody>
          <a:bodyPr anchor="ctr">
            <a:noAutofit/>
          </a:bodyPr>
          <a:lstStyle>
            <a:lvl1pPr marL="0" indent="0" algn="ctr" defTabSz="685800" rtl="0" eaLnBrk="1" latinLnBrk="0" hangingPunct="1">
              <a:lnSpc>
                <a:spcPct val="90000"/>
              </a:lnSpc>
              <a:spcBef>
                <a:spcPct val="0"/>
              </a:spcBef>
              <a:buNone/>
              <a:defRPr lang="en-US" sz="135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265176" y="3908438"/>
            <a:ext cx="1015200" cy="10152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spTree>
    <p:extLst>
      <p:ext uri="{BB962C8B-B14F-4D97-AF65-F5344CB8AC3E}">
        <p14:creationId xmlns:p14="http://schemas.microsoft.com/office/powerpoint/2010/main" val="42150717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1915885" y="1"/>
            <a:ext cx="3941777" cy="1001253"/>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606250" y="3451667"/>
            <a:ext cx="2537750" cy="1691833"/>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30646" y="1572706"/>
            <a:ext cx="2110414" cy="1589405"/>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445021" y="4593073"/>
            <a:ext cx="3267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419618" y="841773"/>
            <a:ext cx="5276475" cy="1934085"/>
          </a:xfrm>
        </p:spPr>
        <p:txBody>
          <a:bodyPr wrap="square" anchor="t">
            <a:noAutofit/>
          </a:bodyPr>
          <a:lstStyle>
            <a:lvl1pPr algn="l">
              <a:defRPr lang="en-US" sz="495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10000">
                      <a:schemeClr val="accent2">
                        <a:lumMod val="50000"/>
                      </a:schemeClr>
                    </a:gs>
                    <a:gs pos="100000">
                      <a:schemeClr val="accent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221882" y="230668"/>
            <a:ext cx="2680417" cy="616496"/>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47436" y="628288"/>
            <a:ext cx="815920" cy="57911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1936317" y="15288"/>
            <a:ext cx="3484769" cy="550990"/>
          </a:xfrm>
        </p:spPr>
        <p:txBody>
          <a:bodyPr anchor="ctr">
            <a:noAutofit/>
          </a:bodyPr>
          <a:lstStyle>
            <a:lvl1pPr marL="0" indent="0" algn="ctr" defTabSz="685800" rtl="0" eaLnBrk="1" latinLnBrk="0" hangingPunct="1">
              <a:lnSpc>
                <a:spcPct val="90000"/>
              </a:lnSpc>
              <a:spcBef>
                <a:spcPct val="0"/>
              </a:spcBef>
              <a:buNone/>
              <a:defRPr lang="en-US" sz="135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265176" y="3908438"/>
            <a:ext cx="1015200" cy="10152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spTree>
    <p:extLst>
      <p:ext uri="{BB962C8B-B14F-4D97-AF65-F5344CB8AC3E}">
        <p14:creationId xmlns:p14="http://schemas.microsoft.com/office/powerpoint/2010/main" val="10458453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1915885" y="1"/>
            <a:ext cx="3941777" cy="1001253"/>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606250" y="3451667"/>
            <a:ext cx="2537750" cy="1691833"/>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30646" y="1572706"/>
            <a:ext cx="2110414" cy="1589405"/>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445021" y="4593073"/>
            <a:ext cx="3267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419618" y="841773"/>
            <a:ext cx="5276475" cy="1934085"/>
          </a:xfrm>
        </p:spPr>
        <p:txBody>
          <a:bodyPr wrap="square" anchor="t">
            <a:noAutofit/>
          </a:bodyPr>
          <a:lstStyle>
            <a:lvl1pPr algn="l">
              <a:defRPr lang="en-US" sz="495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10000">
                      <a:schemeClr val="accent3">
                        <a:lumMod val="50000"/>
                      </a:schemeClr>
                    </a:gs>
                    <a:gs pos="100000">
                      <a:schemeClr val="accent3"/>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221882" y="230668"/>
            <a:ext cx="2680417" cy="616496"/>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47436" y="628288"/>
            <a:ext cx="815920" cy="57911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1936317" y="15288"/>
            <a:ext cx="3484769" cy="550990"/>
          </a:xfrm>
        </p:spPr>
        <p:txBody>
          <a:bodyPr anchor="ctr">
            <a:noAutofit/>
          </a:bodyPr>
          <a:lstStyle>
            <a:lvl1pPr marL="0" indent="0" algn="ctr" defTabSz="685800" rtl="0" eaLnBrk="1" latinLnBrk="0" hangingPunct="1">
              <a:lnSpc>
                <a:spcPct val="90000"/>
              </a:lnSpc>
              <a:spcBef>
                <a:spcPct val="0"/>
              </a:spcBef>
              <a:buNone/>
              <a:defRPr lang="en-US" sz="135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265176" y="3908438"/>
            <a:ext cx="1015200" cy="10152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spTree>
    <p:extLst>
      <p:ext uri="{BB962C8B-B14F-4D97-AF65-F5344CB8AC3E}">
        <p14:creationId xmlns:p14="http://schemas.microsoft.com/office/powerpoint/2010/main" val="5503682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28650" y="4767263"/>
            <a:ext cx="2057400" cy="273844"/>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9CD21B45-1703-4330-B544-825BD8F37AF2}" type="datetimeFigureOut">
              <a:rPr kumimoji="0" 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6/27/2026</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Footer Placeholder 3"/>
          <p:cNvSpPr>
            <a:spLocks noGrp="1"/>
          </p:cNvSpPr>
          <p:nvPr>
            <p:ph type="ftr" sz="quarter" idx="11"/>
          </p:nvPr>
        </p:nvSpPr>
        <p:spPr>
          <a:xfrm>
            <a:off x="3028950" y="4767263"/>
            <a:ext cx="3086100" cy="273844"/>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Slide Number Placeholder 4"/>
          <p:cNvSpPr>
            <a:spLocks noGrp="1"/>
          </p:cNvSpPr>
          <p:nvPr>
            <p:ph type="sldNum" sz="quarter" idx="12"/>
          </p:nvPr>
        </p:nvSpPr>
        <p:spPr>
          <a:xfrm>
            <a:off x="6457950" y="4767263"/>
            <a:ext cx="2057400" cy="273844"/>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9641F3C7-36DD-4595-AA08-2525D86280BD}" type="slidenum">
              <a:rPr kumimoji="0" 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3411444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1915885" y="1"/>
            <a:ext cx="3941777" cy="1001253"/>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606250" y="3451667"/>
            <a:ext cx="2537750" cy="1691833"/>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30646" y="1572706"/>
            <a:ext cx="2110414" cy="1589405"/>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445021" y="4593073"/>
            <a:ext cx="3267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419618" y="841773"/>
            <a:ext cx="5276475" cy="1934085"/>
          </a:xfrm>
        </p:spPr>
        <p:txBody>
          <a:bodyPr wrap="square" anchor="t">
            <a:noAutofit/>
          </a:bodyPr>
          <a:lstStyle>
            <a:lvl1pPr algn="l">
              <a:defRPr lang="en-US" sz="495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10000">
                      <a:schemeClr val="accent5">
                        <a:lumMod val="75000"/>
                      </a:schemeClr>
                    </a:gs>
                    <a:gs pos="100000">
                      <a:schemeClr val="accent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221882" y="230668"/>
            <a:ext cx="2680417" cy="616496"/>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47436" y="628288"/>
            <a:ext cx="815920" cy="57911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1936317" y="15288"/>
            <a:ext cx="3484769" cy="550990"/>
          </a:xfrm>
        </p:spPr>
        <p:txBody>
          <a:bodyPr anchor="ctr">
            <a:noAutofit/>
          </a:bodyPr>
          <a:lstStyle>
            <a:lvl1pPr marL="0" indent="0" algn="ctr" defTabSz="685800" rtl="0" eaLnBrk="1" latinLnBrk="0" hangingPunct="1">
              <a:lnSpc>
                <a:spcPct val="90000"/>
              </a:lnSpc>
              <a:spcBef>
                <a:spcPct val="0"/>
              </a:spcBef>
              <a:buNone/>
              <a:defRPr lang="en-US" sz="135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265176" y="3908438"/>
            <a:ext cx="1015200" cy="10152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spTree>
    <p:extLst>
      <p:ext uri="{BB962C8B-B14F-4D97-AF65-F5344CB8AC3E}">
        <p14:creationId xmlns:p14="http://schemas.microsoft.com/office/powerpoint/2010/main" val="6041327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1915885" y="1"/>
            <a:ext cx="3941777" cy="1001253"/>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606250" y="3451667"/>
            <a:ext cx="2537750" cy="1691833"/>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30646" y="1572706"/>
            <a:ext cx="2110414" cy="1589405"/>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445021" y="4593073"/>
            <a:ext cx="3267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419618" y="841773"/>
            <a:ext cx="5276475" cy="1934085"/>
          </a:xfrm>
        </p:spPr>
        <p:txBody>
          <a:bodyPr wrap="square" anchor="t">
            <a:noAutofit/>
          </a:bodyPr>
          <a:lstStyle>
            <a:lvl1pPr algn="l">
              <a:defRPr lang="en-US" sz="495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10000">
                      <a:schemeClr val="accent6">
                        <a:lumMod val="50000"/>
                      </a:schemeClr>
                    </a:gs>
                    <a:gs pos="100000">
                      <a:schemeClr val="accent6"/>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221882" y="230668"/>
            <a:ext cx="2680417" cy="616496"/>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47436" y="628288"/>
            <a:ext cx="815920" cy="57911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1936317" y="15288"/>
            <a:ext cx="3484769" cy="550990"/>
          </a:xfrm>
        </p:spPr>
        <p:txBody>
          <a:bodyPr anchor="ctr">
            <a:noAutofit/>
          </a:bodyPr>
          <a:lstStyle>
            <a:lvl1pPr marL="0" indent="0" algn="ctr" defTabSz="685800" rtl="0" eaLnBrk="1" latinLnBrk="0" hangingPunct="1">
              <a:lnSpc>
                <a:spcPct val="90000"/>
              </a:lnSpc>
              <a:spcBef>
                <a:spcPct val="0"/>
              </a:spcBef>
              <a:buNone/>
              <a:defRPr lang="en-US" sz="135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265176" y="3908438"/>
            <a:ext cx="1015200" cy="10152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spTree>
    <p:extLst>
      <p:ext uri="{BB962C8B-B14F-4D97-AF65-F5344CB8AC3E}">
        <p14:creationId xmlns:p14="http://schemas.microsoft.com/office/powerpoint/2010/main" val="13656917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1915885" y="1"/>
            <a:ext cx="3941777" cy="1001253"/>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606250" y="3451667"/>
            <a:ext cx="2537750" cy="1691833"/>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30646" y="1572706"/>
            <a:ext cx="2110414" cy="1589405"/>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445021" y="4593073"/>
            <a:ext cx="3267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419618" y="841773"/>
            <a:ext cx="5276475" cy="1934085"/>
          </a:xfrm>
        </p:spPr>
        <p:txBody>
          <a:bodyPr wrap="square" anchor="t">
            <a:noAutofit/>
          </a:bodyPr>
          <a:lstStyle>
            <a:lvl1pPr algn="l">
              <a:defRPr lang="en-US" sz="495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10000">
                      <a:srgbClr val="273238"/>
                    </a:gs>
                    <a:gs pos="100000">
                      <a:srgbClr val="607D8B"/>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221882" y="230668"/>
            <a:ext cx="2680417" cy="616496"/>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47436" y="628288"/>
            <a:ext cx="815920" cy="57911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1936317" y="15288"/>
            <a:ext cx="3484769" cy="550990"/>
          </a:xfrm>
        </p:spPr>
        <p:txBody>
          <a:bodyPr anchor="ctr">
            <a:noAutofit/>
          </a:bodyPr>
          <a:lstStyle>
            <a:lvl1pPr marL="0" indent="0" algn="ctr" defTabSz="685800" rtl="0" eaLnBrk="1" latinLnBrk="0" hangingPunct="1">
              <a:lnSpc>
                <a:spcPct val="90000"/>
              </a:lnSpc>
              <a:spcBef>
                <a:spcPct val="0"/>
              </a:spcBef>
              <a:buNone/>
              <a:defRPr lang="en-US" sz="135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265176" y="3908438"/>
            <a:ext cx="1015200" cy="10152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spTree>
    <p:extLst>
      <p:ext uri="{BB962C8B-B14F-4D97-AF65-F5344CB8AC3E}">
        <p14:creationId xmlns:p14="http://schemas.microsoft.com/office/powerpoint/2010/main" val="30927429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1915885" y="1"/>
            <a:ext cx="3941777" cy="1001253"/>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606250" y="3451667"/>
            <a:ext cx="2537750" cy="1691833"/>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30646" y="1572706"/>
            <a:ext cx="2110414" cy="1589405"/>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445021" y="4593073"/>
            <a:ext cx="3267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419618" y="841773"/>
            <a:ext cx="5276475" cy="1934085"/>
          </a:xfrm>
        </p:spPr>
        <p:txBody>
          <a:bodyPr wrap="square" anchor="t">
            <a:noAutofit/>
          </a:bodyPr>
          <a:lstStyle>
            <a:lvl1pPr algn="l">
              <a:defRPr lang="en-US" sz="495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10000">
                      <a:srgbClr val="3E2622"/>
                    </a:gs>
                    <a:gs pos="100000">
                      <a:srgbClr val="79554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221882" y="230668"/>
            <a:ext cx="2680417" cy="616496"/>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47436" y="628288"/>
            <a:ext cx="815920" cy="57911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1936317" y="15288"/>
            <a:ext cx="3484769" cy="550990"/>
          </a:xfrm>
        </p:spPr>
        <p:txBody>
          <a:bodyPr anchor="ctr">
            <a:noAutofit/>
          </a:bodyPr>
          <a:lstStyle>
            <a:lvl1pPr marL="0" indent="0" algn="ctr" defTabSz="685800" rtl="0" eaLnBrk="1" latinLnBrk="0" hangingPunct="1">
              <a:lnSpc>
                <a:spcPct val="90000"/>
              </a:lnSpc>
              <a:spcBef>
                <a:spcPct val="0"/>
              </a:spcBef>
              <a:buNone/>
              <a:defRPr lang="en-US" sz="135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265176" y="3908438"/>
            <a:ext cx="1015200" cy="10152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spTree>
    <p:extLst>
      <p:ext uri="{BB962C8B-B14F-4D97-AF65-F5344CB8AC3E}">
        <p14:creationId xmlns:p14="http://schemas.microsoft.com/office/powerpoint/2010/main" val="27869737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1915885" y="1"/>
            <a:ext cx="3941777" cy="1001253"/>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606250" y="3451667"/>
            <a:ext cx="2537750" cy="1691833"/>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30646" y="1572706"/>
            <a:ext cx="2110414" cy="1589405"/>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445021" y="4593073"/>
            <a:ext cx="3267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419618" y="841773"/>
            <a:ext cx="5276475" cy="1934085"/>
          </a:xfrm>
        </p:spPr>
        <p:txBody>
          <a:bodyPr wrap="square" anchor="t">
            <a:noAutofit/>
          </a:bodyPr>
          <a:lstStyle>
            <a:lvl1pPr algn="l">
              <a:defRPr lang="en-US" sz="495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10000">
                      <a:srgbClr val="301B92"/>
                    </a:gs>
                    <a:gs pos="100000">
                      <a:srgbClr val="673BB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221882" y="230668"/>
            <a:ext cx="2680417" cy="616496"/>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47436" y="628288"/>
            <a:ext cx="815920" cy="57911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1936317" y="15288"/>
            <a:ext cx="3484769" cy="550990"/>
          </a:xfrm>
        </p:spPr>
        <p:txBody>
          <a:bodyPr anchor="ctr">
            <a:noAutofit/>
          </a:bodyPr>
          <a:lstStyle>
            <a:lvl1pPr marL="0" indent="0" algn="ctr" defTabSz="685800" rtl="0" eaLnBrk="1" latinLnBrk="0" hangingPunct="1">
              <a:lnSpc>
                <a:spcPct val="90000"/>
              </a:lnSpc>
              <a:spcBef>
                <a:spcPct val="0"/>
              </a:spcBef>
              <a:buNone/>
              <a:defRPr lang="en-US" sz="135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265176" y="3908438"/>
            <a:ext cx="1015200" cy="10152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spTree>
    <p:extLst>
      <p:ext uri="{BB962C8B-B14F-4D97-AF65-F5344CB8AC3E}">
        <p14:creationId xmlns:p14="http://schemas.microsoft.com/office/powerpoint/2010/main" val="11868998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1915885" y="1"/>
            <a:ext cx="3941777" cy="1001253"/>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606250" y="3451667"/>
            <a:ext cx="2537750" cy="1691833"/>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30646" y="1572706"/>
            <a:ext cx="2110414" cy="1589405"/>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445021" y="4593073"/>
            <a:ext cx="3267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419618" y="841773"/>
            <a:ext cx="5276475" cy="1934085"/>
          </a:xfrm>
        </p:spPr>
        <p:txBody>
          <a:bodyPr wrap="square" anchor="t">
            <a:noAutofit/>
          </a:bodyPr>
          <a:lstStyle>
            <a:lvl1pPr algn="l">
              <a:defRPr lang="en-US" sz="495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10000">
                      <a:srgbClr val="0E47A1"/>
                    </a:gs>
                    <a:gs pos="100000">
                      <a:srgbClr val="03A9F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221882" y="230668"/>
            <a:ext cx="2680417" cy="616496"/>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47436" y="628288"/>
            <a:ext cx="815920" cy="57911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1936317" y="15288"/>
            <a:ext cx="3484769" cy="550990"/>
          </a:xfrm>
        </p:spPr>
        <p:txBody>
          <a:bodyPr anchor="ctr">
            <a:noAutofit/>
          </a:bodyPr>
          <a:lstStyle>
            <a:lvl1pPr marL="0" indent="0" algn="ctr" defTabSz="685800" rtl="0" eaLnBrk="1" latinLnBrk="0" hangingPunct="1">
              <a:lnSpc>
                <a:spcPct val="90000"/>
              </a:lnSpc>
              <a:spcBef>
                <a:spcPct val="0"/>
              </a:spcBef>
              <a:buNone/>
              <a:defRPr lang="en-US" sz="135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265176" y="3908438"/>
            <a:ext cx="1015200" cy="10152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spTree>
    <p:extLst>
      <p:ext uri="{BB962C8B-B14F-4D97-AF65-F5344CB8AC3E}">
        <p14:creationId xmlns:p14="http://schemas.microsoft.com/office/powerpoint/2010/main" val="22107227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1915885" y="1"/>
            <a:ext cx="3941777" cy="1001253"/>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606250" y="3451667"/>
            <a:ext cx="2537750" cy="1691833"/>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30646" y="1572706"/>
            <a:ext cx="2110414" cy="1589405"/>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445021" y="4593073"/>
            <a:ext cx="3267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419618" y="841773"/>
            <a:ext cx="5276475" cy="1934085"/>
          </a:xfrm>
        </p:spPr>
        <p:txBody>
          <a:bodyPr wrap="square" anchor="t">
            <a:noAutofit/>
          </a:bodyPr>
          <a:lstStyle>
            <a:lvl1pPr algn="l">
              <a:defRPr lang="en-US" sz="495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10000">
                      <a:srgbClr val="B71B1C"/>
                    </a:gs>
                    <a:gs pos="100000">
                      <a:srgbClr val="ED524F"/>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221882" y="230668"/>
            <a:ext cx="2680417" cy="616496"/>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47436" y="628288"/>
            <a:ext cx="815920" cy="57911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1936317" y="15288"/>
            <a:ext cx="3484769" cy="550990"/>
          </a:xfrm>
        </p:spPr>
        <p:txBody>
          <a:bodyPr anchor="ctr">
            <a:noAutofit/>
          </a:bodyPr>
          <a:lstStyle>
            <a:lvl1pPr marL="0" indent="0" algn="ctr" defTabSz="685800" rtl="0" eaLnBrk="1" latinLnBrk="0" hangingPunct="1">
              <a:lnSpc>
                <a:spcPct val="90000"/>
              </a:lnSpc>
              <a:spcBef>
                <a:spcPct val="0"/>
              </a:spcBef>
              <a:buNone/>
              <a:defRPr lang="en-US" sz="135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a:extLst>
              <a:ext uri="{28A0092B-C50C-407E-A947-70E740481C1C}">
                <a14:useLocalDpi xmlns:a14="http://schemas.microsoft.com/office/drawing/2010/main" val="0"/>
              </a:ext>
            </a:extLst>
          </a:blip>
          <a:srcRect l="24746" t="7575" r="25761" b="18186"/>
          <a:stretch>
            <a:fillRect/>
          </a:stretch>
        </p:blipFill>
        <p:spPr>
          <a:xfrm>
            <a:off x="267374" y="3910765"/>
            <a:ext cx="1015676" cy="1015676"/>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265176" y="3908438"/>
            <a:ext cx="1015200" cy="10152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spTree>
    <p:extLst>
      <p:ext uri="{BB962C8B-B14F-4D97-AF65-F5344CB8AC3E}">
        <p14:creationId xmlns:p14="http://schemas.microsoft.com/office/powerpoint/2010/main" val="136816022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9144000" cy="5143500"/>
          </a:xfrm>
          <a:prstGeom prst="rect">
            <a:avLst/>
          </a:prstGeom>
        </p:spPr>
      </p:pic>
      <p:sp>
        <p:nvSpPr>
          <p:cNvPr id="7" name="TextBox 6">
            <a:extLst>
              <a:ext uri="{FF2B5EF4-FFF2-40B4-BE49-F238E27FC236}">
                <a16:creationId xmlns:a16="http://schemas.microsoft.com/office/drawing/2014/main" id="{66A9211E-289E-4822-AE7F-7B95A873EBBD}"/>
              </a:ext>
            </a:extLst>
          </p:cNvPr>
          <p:cNvSpPr txBox="1"/>
          <p:nvPr userDrawn="1"/>
        </p:nvSpPr>
        <p:spPr>
          <a:xfrm>
            <a:off x="1378258" y="4351654"/>
            <a:ext cx="38779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cs typeface="Arial"/>
                <a:sym typeface="Arial"/>
              </a:rPr>
              <a:t>Darshan Institute of Engineering &amp; Technology, Rajkot</a:t>
            </a:r>
          </a:p>
        </p:txBody>
      </p:sp>
      <p:sp>
        <p:nvSpPr>
          <p:cNvPr id="9" name="Freeform 17">
            <a:extLst>
              <a:ext uri="{FF2B5EF4-FFF2-40B4-BE49-F238E27FC236}">
                <a16:creationId xmlns:a16="http://schemas.microsoft.com/office/drawing/2014/main" id="{5E9DA42E-B221-4BBE-B651-F7171591BCD7}"/>
              </a:ext>
            </a:extLst>
          </p:cNvPr>
          <p:cNvSpPr/>
          <p:nvPr userDrawn="1"/>
        </p:nvSpPr>
        <p:spPr bwMode="auto">
          <a:xfrm>
            <a:off x="0" y="4428998"/>
            <a:ext cx="1426069" cy="714501"/>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11"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1635707" y="4631952"/>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12"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1637905" y="4845164"/>
            <a:ext cx="2801999" cy="217561"/>
          </a:xfrm>
        </p:spPr>
        <p:txBody>
          <a:bodyPr anchor="ctr">
            <a:noAutofit/>
          </a:bodyPr>
          <a:lstStyle>
            <a:lvl1pPr marL="0" indent="0" algn="l" defTabSz="685800" rtl="0" eaLnBrk="1" latinLnBrk="0" hangingPunct="1">
              <a:lnSpc>
                <a:spcPct val="90000"/>
              </a:lnSpc>
              <a:spcBef>
                <a:spcPct val="0"/>
              </a:spcBef>
              <a:buNone/>
              <a:defRPr lang="en-US" sz="12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13"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378258" y="4153326"/>
            <a:ext cx="2801999" cy="217561"/>
          </a:xfrm>
        </p:spPr>
        <p:txBody>
          <a:bodyPr anchor="ctr">
            <a:noAutofit/>
          </a:bodyPr>
          <a:lstStyle>
            <a:lvl1pPr marL="0" indent="0" algn="l" defTabSz="685800" rtl="0" eaLnBrk="1" latinLnBrk="0" hangingPunct="1">
              <a:lnSpc>
                <a:spcPct val="90000"/>
              </a:lnSpc>
              <a:spcBef>
                <a:spcPct val="0"/>
              </a:spcBef>
              <a:buNone/>
              <a:defRPr lang="en-US" sz="1200" kern="1200">
                <a:solidFill>
                  <a:schemeClr val="tx1"/>
                </a:solidFill>
                <a:latin typeface="+mn-lt"/>
                <a:ea typeface="+mn-ea"/>
                <a:cs typeface="+mn-cs"/>
              </a:defRPr>
            </a:lvl1pPr>
          </a:lstStyle>
          <a:p>
            <a:pPr lvl="0"/>
            <a:r>
              <a:rPr lang="en-US"/>
              <a:t>Write here Department Name</a:t>
            </a:r>
          </a:p>
        </p:txBody>
      </p:sp>
      <p:sp>
        <p:nvSpPr>
          <p:cNvPr id="14"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378258" y="3954999"/>
            <a:ext cx="4185779" cy="217561"/>
          </a:xfrm>
        </p:spPr>
        <p:txBody>
          <a:bodyPr anchor="ctr">
            <a:noAutofit/>
          </a:bodyPr>
          <a:lstStyle>
            <a:lvl1pPr marL="0" indent="0" algn="l" defTabSz="685800" rtl="0" eaLnBrk="1" latinLnBrk="0" hangingPunct="1">
              <a:lnSpc>
                <a:spcPct val="90000"/>
              </a:lnSpc>
              <a:spcBef>
                <a:spcPct val="0"/>
              </a:spcBef>
              <a:buNone/>
              <a:defRPr lang="en-US" sz="1350" b="1" kern="1200">
                <a:gradFill flip="none" rotWithShape="1">
                  <a:gsLst>
                    <a:gs pos="10000">
                      <a:srgbClr val="890E4F"/>
                    </a:gs>
                    <a:gs pos="100000">
                      <a:srgbClr val="D81A60"/>
                    </a:gs>
                  </a:gsLst>
                  <a:lin ang="0" scaled="1"/>
                </a:gradFill>
                <a:effectLst/>
                <a:latin typeface="+mn-lt"/>
                <a:ea typeface="+mn-ea"/>
                <a:cs typeface="+mn-cs"/>
              </a:defRPr>
            </a:lvl1pPr>
          </a:lstStyle>
          <a:p>
            <a:pPr lvl="0"/>
            <a:r>
              <a:rPr lang="en-US"/>
              <a:t>Write here your Author Name (i.e. Prof. Jay R Dhamsaniya)</a:t>
            </a:r>
          </a:p>
        </p:txBody>
      </p:sp>
      <p:pic>
        <p:nvPicPr>
          <p:cNvPr id="15" name="Picture 14">
            <a:extLst>
              <a:ext uri="{FF2B5EF4-FFF2-40B4-BE49-F238E27FC236}">
                <a16:creationId xmlns:a16="http://schemas.microsoft.com/office/drawing/2014/main" id="{1917B14A-5130-41DB-8F00-6C6611C994D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47451" y="4393763"/>
            <a:ext cx="2680417" cy="616496"/>
          </a:xfrm>
          <a:prstGeom prst="rect">
            <a:avLst/>
          </a:prstGeom>
        </p:spPr>
      </p:pic>
      <p:sp>
        <p:nvSpPr>
          <p:cNvPr id="18"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265177" y="3908439"/>
            <a:ext cx="1015199" cy="10151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350"/>
            </a:lvl1pPr>
          </a:lstStyle>
          <a:p>
            <a:endParaRPr lang="en-US"/>
          </a:p>
        </p:txBody>
      </p:sp>
      <p:pic>
        <p:nvPicPr>
          <p:cNvPr id="20" name="Picture 19">
            <a:extLst>
              <a:ext uri="{FF2B5EF4-FFF2-40B4-BE49-F238E27FC236}">
                <a16:creationId xmlns:a16="http://schemas.microsoft.com/office/drawing/2014/main" id="{9812EDA6-C656-492A-A9CA-44B03C63913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98547" y="4674223"/>
            <a:ext cx="137160" cy="137160"/>
          </a:xfrm>
          <a:prstGeom prst="rect">
            <a:avLst/>
          </a:prstGeom>
        </p:spPr>
      </p:pic>
      <p:pic>
        <p:nvPicPr>
          <p:cNvPr id="21" name="Picture 20">
            <a:extLst>
              <a:ext uri="{FF2B5EF4-FFF2-40B4-BE49-F238E27FC236}">
                <a16:creationId xmlns:a16="http://schemas.microsoft.com/office/drawing/2014/main" id="{627AEF91-6492-4B0C-A844-2296473B58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8547" y="4878990"/>
            <a:ext cx="137160" cy="137160"/>
          </a:xfrm>
          <a:prstGeom prst="rect">
            <a:avLst/>
          </a:prstGeom>
        </p:spPr>
      </p:pic>
    </p:spTree>
    <p:extLst>
      <p:ext uri="{BB962C8B-B14F-4D97-AF65-F5344CB8AC3E}">
        <p14:creationId xmlns:p14="http://schemas.microsoft.com/office/powerpoint/2010/main" val="30979676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6.xml"/><Relationship Id="rId7" Type="http://schemas.openxmlformats.org/officeDocument/2006/relationships/image" Target="../media/image1.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2.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32.xml"/><Relationship Id="rId18" Type="http://schemas.openxmlformats.org/officeDocument/2006/relationships/slideLayout" Target="../slideLayouts/slideLayout37.xml"/><Relationship Id="rId26" Type="http://schemas.openxmlformats.org/officeDocument/2006/relationships/slideLayout" Target="../slideLayouts/slideLayout45.xml"/><Relationship Id="rId39" Type="http://schemas.openxmlformats.org/officeDocument/2006/relationships/image" Target="../media/image4.png"/><Relationship Id="rId21" Type="http://schemas.openxmlformats.org/officeDocument/2006/relationships/slideLayout" Target="../slideLayouts/slideLayout40.xml"/><Relationship Id="rId34" Type="http://schemas.openxmlformats.org/officeDocument/2006/relationships/slideLayout" Target="../slideLayouts/slideLayout53.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5" Type="http://schemas.openxmlformats.org/officeDocument/2006/relationships/slideLayout" Target="../slideLayouts/slideLayout44.xml"/><Relationship Id="rId33" Type="http://schemas.openxmlformats.org/officeDocument/2006/relationships/slideLayout" Target="../slideLayouts/slideLayout52.xml"/><Relationship Id="rId38" Type="http://schemas.openxmlformats.org/officeDocument/2006/relationships/image" Target="../media/image3.png"/><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slideLayout" Target="../slideLayouts/slideLayout39.xml"/><Relationship Id="rId29" Type="http://schemas.openxmlformats.org/officeDocument/2006/relationships/slideLayout" Target="../slideLayouts/slideLayout48.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24" Type="http://schemas.openxmlformats.org/officeDocument/2006/relationships/slideLayout" Target="../slideLayouts/slideLayout43.xml"/><Relationship Id="rId32" Type="http://schemas.openxmlformats.org/officeDocument/2006/relationships/slideLayout" Target="../slideLayouts/slideLayout51.xml"/><Relationship Id="rId37" Type="http://schemas.openxmlformats.org/officeDocument/2006/relationships/image" Target="../media/image1.png"/><Relationship Id="rId5" Type="http://schemas.openxmlformats.org/officeDocument/2006/relationships/slideLayout" Target="../slideLayouts/slideLayout24.xml"/><Relationship Id="rId15" Type="http://schemas.openxmlformats.org/officeDocument/2006/relationships/slideLayout" Target="../slideLayouts/slideLayout34.xml"/><Relationship Id="rId23" Type="http://schemas.openxmlformats.org/officeDocument/2006/relationships/slideLayout" Target="../slideLayouts/slideLayout42.xml"/><Relationship Id="rId28" Type="http://schemas.openxmlformats.org/officeDocument/2006/relationships/slideLayout" Target="../slideLayouts/slideLayout47.xml"/><Relationship Id="rId36" Type="http://schemas.openxmlformats.org/officeDocument/2006/relationships/theme" Target="../theme/theme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31" Type="http://schemas.openxmlformats.org/officeDocument/2006/relationships/slideLayout" Target="../slideLayouts/slideLayout50.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slideLayout" Target="../slideLayouts/slideLayout41.xml"/><Relationship Id="rId27" Type="http://schemas.openxmlformats.org/officeDocument/2006/relationships/slideLayout" Target="../slideLayouts/slideLayout46.xml"/><Relationship Id="rId30" Type="http://schemas.openxmlformats.org/officeDocument/2006/relationships/slideLayout" Target="../slideLayouts/slideLayout49.xml"/><Relationship Id="rId35" Type="http://schemas.openxmlformats.org/officeDocument/2006/relationships/slideLayout" Target="../slideLayouts/slideLayout54.xml"/><Relationship Id="rId8" Type="http://schemas.openxmlformats.org/officeDocument/2006/relationships/slideLayout" Target="../slideLayouts/slideLayout27.xml"/><Relationship Id="rId3"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6" r:id="rId2"/>
    <p:sldLayoutId id="2147483669"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Google Shape;6;p1"/>
          <p:cNvPicPr/>
          <p:nvPr userDrawn="1"/>
        </p:nvPicPr>
        <p:blipFill>
          <a:blip r:embed="rId7"/>
          <a:stretch/>
        </p:blipFill>
        <p:spPr>
          <a:xfrm>
            <a:off x="5760" y="2160"/>
            <a:ext cx="9132120" cy="5139000"/>
          </a:xfrm>
          <a:prstGeom prst="rect">
            <a:avLst/>
          </a:prstGeom>
          <a:ln>
            <a:noFill/>
          </a:ln>
        </p:spPr>
      </p:pic>
      <p:pic>
        <p:nvPicPr>
          <p:cNvPr id="7" name="Picture 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18269" y="2160"/>
            <a:ext cx="2017914" cy="646232"/>
          </a:xfrm>
          <a:prstGeom prst="rect">
            <a:avLst/>
          </a:prstGeom>
        </p:spPr>
      </p:pic>
    </p:spTree>
    <p:extLst>
      <p:ext uri="{BB962C8B-B14F-4D97-AF65-F5344CB8AC3E}">
        <p14:creationId xmlns:p14="http://schemas.microsoft.com/office/powerpoint/2010/main" val="1821789587"/>
      </p:ext>
    </p:extLst>
  </p:cSld>
  <p:clrMap bg1="lt1" tx1="dk1" bg2="lt2" tx2="dk2" accent1="accent1" accent2="accent2" accent3="accent3" accent4="accent4" accent5="accent5" accent6="accent6" hlink="hlink" folHlink="folHlink"/>
  <p:sldLayoutIdLst>
    <p:sldLayoutId id="2147483724" r:id="rId1"/>
    <p:sldLayoutId id="2147483726" r:id="rId2"/>
    <p:sldLayoutId id="2147483725" r:id="rId3"/>
    <p:sldLayoutId id="2147483727" r:id="rId4"/>
    <p:sldLayoutId id="2147483728" r:id="rId5"/>
  </p:sldLayoutIdLst>
  <p:timing>
    <p:tnLst>
      <p:par>
        <p:cTn id="1" dur="indefinite" restart="never" nodeType="tmRoot"/>
      </p:par>
    </p:tnLst>
  </p:timing>
  <p:txStyles>
    <p:titleStyle>
      <a:lvl1pPr algn="l" defTabSz="91435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1990" indent="-323992" algn="l" defTabSz="914355" rtl="0" eaLnBrk="1" latinLnBrk="0" hangingPunct="1">
        <a:lnSpc>
          <a:spcPct val="90000"/>
        </a:lnSpc>
        <a:spcBef>
          <a:spcPts val="1417"/>
        </a:spcBef>
        <a:buClr>
          <a:srgbClr val="000000"/>
        </a:buClr>
        <a:buSzPct val="45000"/>
        <a:buFont typeface="Wingdings" charset="2"/>
        <a:buChar char=""/>
        <a:defRPr sz="2800" kern="1200">
          <a:solidFill>
            <a:schemeClr val="tx1"/>
          </a:solidFill>
          <a:latin typeface="+mn-lt"/>
          <a:ea typeface="+mn-ea"/>
          <a:cs typeface="+mn-cs"/>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34CA1B8D-EDB9-4898-937B-96C57FC0A299}" type="datetimeFigureOut">
              <a:rPr lang="en-IN" smtClean="0"/>
              <a:t>27-06-2026</a:t>
            </a:fld>
            <a:endParaRPr lang="en-IN"/>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3C87E223-1C0C-42D9-A946-5342528827C9}" type="slidenum">
              <a:rPr lang="en-IN" smtClean="0"/>
              <a:t>‹#›</a:t>
            </a:fld>
            <a:endParaRPr lang="en-IN"/>
          </a:p>
        </p:txBody>
      </p:sp>
    </p:spTree>
    <p:extLst>
      <p:ext uri="{BB962C8B-B14F-4D97-AF65-F5344CB8AC3E}">
        <p14:creationId xmlns:p14="http://schemas.microsoft.com/office/powerpoint/2010/main" val="4122317436"/>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Google Shape;6;p1"/>
          <p:cNvPicPr/>
          <p:nvPr/>
        </p:nvPicPr>
        <p:blipFill>
          <a:blip r:embed="rId37"/>
          <a:stretch/>
        </p:blipFill>
        <p:spPr>
          <a:xfrm>
            <a:off x="5760" y="2160"/>
            <a:ext cx="9132120" cy="5139000"/>
          </a:xfrm>
          <a:prstGeom prst="rect">
            <a:avLst/>
          </a:prstGeom>
          <a:ln>
            <a:noFill/>
          </a:ln>
        </p:spPr>
      </p:pic>
      <p:pic>
        <p:nvPicPr>
          <p:cNvPr id="6" name="Google Shape;7;p1"/>
          <p:cNvPicPr/>
          <p:nvPr/>
        </p:nvPicPr>
        <p:blipFill>
          <a:blip r:embed="rId38"/>
          <a:stretch/>
        </p:blipFill>
        <p:spPr>
          <a:xfrm>
            <a:off x="-12960" y="-2160"/>
            <a:ext cx="9151200" cy="5143320"/>
          </a:xfrm>
          <a:prstGeom prst="rect">
            <a:avLst/>
          </a:prstGeom>
          <a:ln>
            <a:noFill/>
          </a:ln>
        </p:spPr>
      </p:pic>
      <p:pic>
        <p:nvPicPr>
          <p:cNvPr id="2" name="Google Shape;10;p1"/>
          <p:cNvPicPr/>
          <p:nvPr/>
        </p:nvPicPr>
        <p:blipFill>
          <a:blip r:embed="rId39"/>
          <a:stretch/>
        </p:blipFill>
        <p:spPr>
          <a:xfrm>
            <a:off x="7363440" y="148680"/>
            <a:ext cx="1495080" cy="371160"/>
          </a:xfrm>
          <a:prstGeom prst="rect">
            <a:avLst/>
          </a:prstGeom>
          <a:ln>
            <a:noFill/>
          </a:ln>
        </p:spPr>
      </p:pic>
      <p:sp>
        <p:nvSpPr>
          <p:cNvPr id="3" name="PlaceHolder 1"/>
          <p:cNvSpPr>
            <a:spLocks noGrp="1"/>
          </p:cNvSpPr>
          <p:nvPr>
            <p:ph type="title"/>
          </p:nvPr>
        </p:nvSpPr>
        <p:spPr>
          <a:xfrm>
            <a:off x="311760" y="744480"/>
            <a:ext cx="8520120" cy="2052360"/>
          </a:xfrm>
          <a:prstGeom prst="rect">
            <a:avLst/>
          </a:prstGeom>
        </p:spPr>
        <p:txBody>
          <a:bodyPr tIns="91440" bIns="91440" anchor="b">
            <a:normAutofit/>
          </a:bodyPr>
          <a:lstStyle/>
          <a:p>
            <a:pPr algn="ctr"/>
            <a:r>
              <a:rPr lang="en-US" sz="5200" b="0" strike="noStrike" spc="-1">
                <a:solidFill>
                  <a:srgbClr val="000000"/>
                </a:solidFill>
                <a:latin typeface="Arial"/>
              </a:rPr>
              <a:t>Click to edit the title text format</a:t>
            </a:r>
          </a:p>
        </p:txBody>
      </p:sp>
      <p:sp>
        <p:nvSpPr>
          <p:cNvPr id="4" name="PlaceHolder 2"/>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3978" lvl="1" indent="-323992">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5968" lvl="2" indent="-287993">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7957" lvl="3" indent="-215995">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59946" lvl="4" indent="-215995">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1936" lvl="5" indent="-215995">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3924" lvl="6" indent="-215995">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extLst>
      <p:ext uri="{BB962C8B-B14F-4D97-AF65-F5344CB8AC3E}">
        <p14:creationId xmlns:p14="http://schemas.microsoft.com/office/powerpoint/2010/main" val="1259602176"/>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67" r:id="rId26"/>
    <p:sldLayoutId id="2147483768" r:id="rId27"/>
    <p:sldLayoutId id="2147483769" r:id="rId28"/>
    <p:sldLayoutId id="2147483770" r:id="rId29"/>
    <p:sldLayoutId id="2147483771" r:id="rId30"/>
    <p:sldLayoutId id="2147483772" r:id="rId31"/>
    <p:sldLayoutId id="2147483773" r:id="rId32"/>
    <p:sldLayoutId id="2147483774" r:id="rId33"/>
    <p:sldLayoutId id="2147483775" r:id="rId34"/>
    <p:sldLayoutId id="2147483776" r:id="rId35"/>
  </p:sldLayoutIdLst>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324000" indent="-243000" algn="l" defTabSz="914378" rtl="0" eaLnBrk="1" latinLnBrk="0" hangingPunct="1">
        <a:lnSpc>
          <a:spcPct val="90000"/>
        </a:lnSpc>
        <a:spcBef>
          <a:spcPts val="1063"/>
        </a:spcBef>
        <a:buClr>
          <a:srgbClr val="000000"/>
        </a:buClr>
        <a:buSzPct val="45000"/>
        <a:buFont typeface="Wingdings" charset="2"/>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2.pn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emf"/><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3.png"/><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3.png"/><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23.png"/><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23.png"/><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3.png"/><Relationship Id="rId4" Type="http://schemas.openxmlformats.org/officeDocument/2006/relationships/image" Target="../media/image22.png"/></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23.png"/><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3.png"/><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23.png"/><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23.png"/><Relationship Id="rId4" Type="http://schemas.openxmlformats.org/officeDocument/2006/relationships/image" Target="../media/image22.png"/></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3.png"/><Relationship Id="rId4" Type="http://schemas.openxmlformats.org/officeDocument/2006/relationships/image" Target="../media/image22.png"/></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40.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3.png"/><Relationship Id="rId4" Type="http://schemas.openxmlformats.org/officeDocument/2006/relationships/image" Target="../media/image22.png"/></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41.jpeg"/><Relationship Id="rId5" Type="http://schemas.openxmlformats.org/officeDocument/2006/relationships/image" Target="../media/image23.png"/><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61.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image" Target="../media/image21.png"/><Relationship Id="rId7" Type="http://schemas.openxmlformats.org/officeDocument/2006/relationships/image" Target="../media/image280.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23.png"/><Relationship Id="rId10" Type="http://schemas.openxmlformats.org/officeDocument/2006/relationships/image" Target="../media/image44.png"/><Relationship Id="rId4" Type="http://schemas.openxmlformats.org/officeDocument/2006/relationships/image" Target="../media/image22.png"/><Relationship Id="rId9" Type="http://schemas.openxmlformats.org/officeDocument/2006/relationships/image" Target="../media/image43.png"/></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notesSlide" Target="../notesSlides/notesSlide62.xml"/><Relationship Id="rId7" Type="http://schemas.openxmlformats.org/officeDocument/2006/relationships/image" Target="../media/image46.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47.png"/><Relationship Id="rId4" Type="http://schemas.openxmlformats.org/officeDocument/2006/relationships/image" Target="../media/image21.png"/><Relationship Id="rId9" Type="http://schemas.openxmlformats.org/officeDocument/2006/relationships/image" Target="../media/image45.wmf"/></Relationships>
</file>

<file path=ppt/slides/_rels/slide6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23.png"/><Relationship Id="rId4" Type="http://schemas.openxmlformats.org/officeDocument/2006/relationships/image" Target="../media/image22.png"/></Relationships>
</file>

<file path=ppt/slides/_rels/slide6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23.png"/><Relationship Id="rId4" Type="http://schemas.openxmlformats.org/officeDocument/2006/relationships/image" Target="../media/image22.png"/></Relationships>
</file>

<file path=ppt/slides/_rels/slide6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6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6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7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23.png"/><Relationship Id="rId4" Type="http://schemas.openxmlformats.org/officeDocument/2006/relationships/image" Target="../media/image22.png"/></Relationships>
</file>

<file path=ppt/slides/_rels/slide7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7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2.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23.png"/><Relationship Id="rId4" Type="http://schemas.openxmlformats.org/officeDocument/2006/relationships/image" Target="../media/image22.png"/></Relationships>
</file>

<file path=ppt/slides/_rels/slide7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3.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23.png"/><Relationship Id="rId4" Type="http://schemas.openxmlformats.org/officeDocument/2006/relationships/image" Target="../media/image22.png"/></Relationships>
</file>

<file path=ppt/slides/_rels/slide7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7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7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1.png"/><Relationship Id="rId7" Type="http://schemas.openxmlformats.org/officeDocument/2006/relationships/image" Target="../media/image53.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23.png"/><Relationship Id="rId4" Type="http://schemas.openxmlformats.org/officeDocument/2006/relationships/image" Target="../media/image22.png"/></Relationships>
</file>

<file path=ppt/slides/_rels/slide7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7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7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4.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7.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s>
</file>

<file path=ppt/slides/_rels/slide8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9.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23.png"/><Relationship Id="rId4" Type="http://schemas.openxmlformats.org/officeDocument/2006/relationships/image" Target="../media/image22.png"/></Relationships>
</file>

<file path=ppt/slides/_rels/slide9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1.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23.png"/><Relationship Id="rId4" Type="http://schemas.openxmlformats.org/officeDocument/2006/relationships/image" Target="../media/image22.png"/></Relationships>
</file>

<file path=ppt/slides/_rels/slide9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2.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23.png"/><Relationship Id="rId4" Type="http://schemas.openxmlformats.org/officeDocument/2006/relationships/image" Target="../media/image22.png"/></Relationships>
</file>

<file path=ppt/slides/_rels/slide9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4.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5.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23.png"/><Relationship Id="rId4" Type="http://schemas.openxmlformats.org/officeDocument/2006/relationships/image" Target="../media/image22.png"/></Relationships>
</file>

<file path=ppt/slides/_rels/slide9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61.png"/><Relationship Id="rId2" Type="http://schemas.openxmlformats.org/officeDocument/2006/relationships/notesSlide" Target="../notesSlides/notesSlide102.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23.png"/><Relationship Id="rId4" Type="http://schemas.openxmlformats.org/officeDocument/2006/relationships/image" Target="../media/image22.png"/></Relationships>
</file>

<file path=ppt/slides/_rels/slide10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3.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23.png"/><Relationship Id="rId4" Type="http://schemas.openxmlformats.org/officeDocument/2006/relationships/image" Target="../media/image22.png"/></Relationships>
</file>

<file path=ppt/slides/_rels/slide10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4.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23.png"/><Relationship Id="rId4" Type="http://schemas.openxmlformats.org/officeDocument/2006/relationships/image" Target="../media/image22.png"/></Relationships>
</file>

<file path=ppt/slides/_rels/slide10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22"/>
          <p:cNvPicPr preferRelativeResize="0"/>
          <p:nvPr/>
        </p:nvPicPr>
        <p:blipFill>
          <a:blip r:embed="rId3">
            <a:alphaModFix/>
          </a:blip>
          <a:stretch>
            <a:fillRect/>
          </a:stretch>
        </p:blipFill>
        <p:spPr>
          <a:xfrm>
            <a:off x="4750" y="4750"/>
            <a:ext cx="9134475" cy="5133975"/>
          </a:xfrm>
          <a:prstGeom prst="rect">
            <a:avLst/>
          </a:prstGeom>
          <a:noFill/>
          <a:ln>
            <a:noFill/>
          </a:ln>
        </p:spPr>
      </p:pic>
      <p:pic>
        <p:nvPicPr>
          <p:cNvPr id="166" name="Google Shape;166;p22"/>
          <p:cNvPicPr preferRelativeResize="0"/>
          <p:nvPr/>
        </p:nvPicPr>
        <p:blipFill>
          <a:blip r:embed="rId4">
            <a:alphaModFix/>
          </a:blip>
          <a:stretch>
            <a:fillRect/>
          </a:stretch>
        </p:blipFill>
        <p:spPr>
          <a:xfrm>
            <a:off x="9525" y="-61912"/>
            <a:ext cx="9134475" cy="5133975"/>
          </a:xfrm>
          <a:prstGeom prst="rect">
            <a:avLst/>
          </a:prstGeom>
          <a:noFill/>
          <a:ln>
            <a:noFill/>
          </a:ln>
        </p:spPr>
      </p:pic>
      <p:sp>
        <p:nvSpPr>
          <p:cNvPr id="11" name="Google Shape;71;p15"/>
          <p:cNvSpPr txBox="1"/>
          <p:nvPr/>
        </p:nvSpPr>
        <p:spPr>
          <a:xfrm>
            <a:off x="333812" y="2095794"/>
            <a:ext cx="4830903" cy="923299"/>
          </a:xfrm>
          <a:prstGeom prst="rect">
            <a:avLst/>
          </a:prstGeom>
          <a:noFill/>
          <a:ln>
            <a:noFill/>
          </a:ln>
        </p:spPr>
        <p:txBody>
          <a:bodyPr spcFirstLastPara="1" wrap="square" lIns="91425" tIns="91425" rIns="91425" bIns="91425" anchor="t" anchorCtr="0">
            <a:spAutoFit/>
          </a:bodyPr>
          <a:lstStyle/>
          <a:p>
            <a:pPr lvl="0"/>
            <a:r>
              <a:rPr lang="en-US" sz="2400" b="1" dirty="0">
                <a:solidFill>
                  <a:schemeClr val="tx1"/>
                </a:solidFill>
                <a:latin typeface="Trebuchet MS" panose="020B0603020202020204" pitchFamily="34" charset="0"/>
                <a:ea typeface="Proxima Nova"/>
                <a:cs typeface="Proxima Nova"/>
                <a:sym typeface="Proxima Nova"/>
              </a:rPr>
              <a:t>Unit – </a:t>
            </a:r>
            <a:r>
              <a:rPr lang="en-US" sz="2400" b="1" dirty="0" smtClean="0">
                <a:solidFill>
                  <a:schemeClr val="tx1"/>
                </a:solidFill>
                <a:latin typeface="Trebuchet MS" panose="020B0603020202020204" pitchFamily="34" charset="0"/>
                <a:ea typeface="Proxima Nova"/>
                <a:cs typeface="Proxima Nova"/>
                <a:sym typeface="Proxima Nova"/>
              </a:rPr>
              <a:t>3 </a:t>
            </a:r>
            <a:endParaRPr lang="en-US" sz="2400" b="1" dirty="0">
              <a:solidFill>
                <a:schemeClr val="tx1"/>
              </a:solidFill>
              <a:latin typeface="Trebuchet MS" panose="020B0603020202020204" pitchFamily="34" charset="0"/>
              <a:ea typeface="Proxima Nova"/>
              <a:cs typeface="Proxima Nova"/>
              <a:sym typeface="Proxima Nova"/>
            </a:endParaRPr>
          </a:p>
          <a:p>
            <a:pPr lvl="0"/>
            <a:r>
              <a:rPr lang="en-US" sz="2400" b="1" dirty="0">
                <a:solidFill>
                  <a:schemeClr val="tx1"/>
                </a:solidFill>
                <a:latin typeface="Trebuchet MS" panose="020B0603020202020204" pitchFamily="34" charset="0"/>
                <a:ea typeface="Proxima Nova"/>
                <a:cs typeface="Proxima Nova"/>
                <a:sym typeface="Proxima Nova"/>
              </a:rPr>
              <a:t>Dynamic Programming</a:t>
            </a:r>
            <a:endParaRPr lang="en-IN" sz="2400" b="1" dirty="0">
              <a:solidFill>
                <a:schemeClr val="tx1"/>
              </a:solidFill>
              <a:latin typeface="Trebuchet MS" panose="020B0603020202020204" pitchFamily="34" charset="0"/>
              <a:ea typeface="Proxima Nova"/>
              <a:cs typeface="Proxima Nova"/>
              <a:sym typeface="Proxima Nova"/>
            </a:endParaRPr>
          </a:p>
        </p:txBody>
      </p:sp>
      <p:sp>
        <p:nvSpPr>
          <p:cNvPr id="13" name="Google Shape;71;p15"/>
          <p:cNvSpPr txBox="1"/>
          <p:nvPr/>
        </p:nvSpPr>
        <p:spPr>
          <a:xfrm>
            <a:off x="333812" y="784473"/>
            <a:ext cx="5645882" cy="492412"/>
          </a:xfrm>
          <a:prstGeom prst="rect">
            <a:avLst/>
          </a:prstGeom>
          <a:noFill/>
          <a:ln>
            <a:noFill/>
          </a:ln>
        </p:spPr>
        <p:txBody>
          <a:bodyPr spcFirstLastPara="1" wrap="square" lIns="91425" tIns="91425" rIns="91425" bIns="91425" anchor="t" anchorCtr="0">
            <a:spAutoFit/>
          </a:bodyPr>
          <a:lstStyle/>
          <a:p>
            <a:pPr lvl="0"/>
            <a:r>
              <a:rPr lang="en-IN" sz="2000" b="1" dirty="0" smtClean="0">
                <a:solidFill>
                  <a:schemeClr val="tx1"/>
                </a:solidFill>
                <a:latin typeface="Trebuchet MS" panose="020B0603020202020204" pitchFamily="34" charset="0"/>
                <a:ea typeface="Proxima Nova"/>
                <a:cs typeface="Proxima Nova"/>
                <a:sym typeface="Proxima Nova"/>
              </a:rPr>
              <a:t>01AI0506 </a:t>
            </a:r>
            <a:r>
              <a:rPr lang="en-IN" sz="2000" b="1" dirty="0">
                <a:solidFill>
                  <a:schemeClr val="tx1"/>
                </a:solidFill>
                <a:latin typeface="Trebuchet MS" panose="020B0603020202020204" pitchFamily="34" charset="0"/>
                <a:ea typeface="Proxima Nova"/>
                <a:cs typeface="Proxima Nova"/>
                <a:sym typeface="Proxima Nova"/>
              </a:rPr>
              <a:t>- </a:t>
            </a:r>
            <a:r>
              <a:rPr lang="en-IN" sz="2000" b="1" dirty="0">
                <a:solidFill>
                  <a:schemeClr val="tx1"/>
                </a:solidFill>
                <a:latin typeface="Trebuchet MS" panose="020B0603020202020204" pitchFamily="34" charset="0"/>
                <a:ea typeface="Proxima Nova"/>
                <a:cs typeface="Proxima Nova"/>
              </a:rPr>
              <a:t>Design and Analysis of </a:t>
            </a:r>
            <a:r>
              <a:rPr lang="en-IN" sz="2000" b="1" dirty="0" smtClean="0">
                <a:solidFill>
                  <a:schemeClr val="tx1"/>
                </a:solidFill>
                <a:latin typeface="Trebuchet MS" panose="020B0603020202020204" pitchFamily="34" charset="0"/>
                <a:ea typeface="Proxima Nova"/>
                <a:cs typeface="Proxima Nova"/>
              </a:rPr>
              <a:t>Algorithms</a:t>
            </a:r>
            <a:endParaRPr lang="en-IN" sz="2000" b="1" dirty="0">
              <a:solidFill>
                <a:schemeClr val="tx1"/>
              </a:solidFill>
              <a:latin typeface="Trebuchet MS" panose="020B0603020202020204" pitchFamily="34" charset="0"/>
              <a:ea typeface="Proxima Nova"/>
              <a:cs typeface="Proxima Nova"/>
              <a:sym typeface="Proxima Nova"/>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43868" y="9525"/>
            <a:ext cx="2343775" cy="640135"/>
          </a:xfrm>
          <a:prstGeom prst="rect">
            <a:avLst/>
          </a:prstGeom>
        </p:spPr>
      </p:pic>
      <p:sp>
        <p:nvSpPr>
          <p:cNvPr id="8" name="Google Shape;73;p15"/>
          <p:cNvSpPr txBox="1"/>
          <p:nvPr/>
        </p:nvSpPr>
        <p:spPr>
          <a:xfrm>
            <a:off x="329037" y="3019093"/>
            <a:ext cx="3825165" cy="1477287"/>
          </a:xfrm>
          <a:prstGeom prst="rect">
            <a:avLst/>
          </a:prstGeom>
          <a:noFill/>
          <a:ln>
            <a:noFill/>
          </a:ln>
        </p:spPr>
        <p:txBody>
          <a:bodyPr spcFirstLastPara="1" wrap="square" lIns="121900" tIns="121900" rIns="121900" bIns="1219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spcBef>
                <a:spcPts val="600"/>
              </a:spcBef>
              <a:spcAft>
                <a:spcPts val="600"/>
              </a:spcAft>
              <a:buClr>
                <a:srgbClr val="000000"/>
              </a:buClr>
              <a:defRPr/>
            </a:pPr>
            <a:r>
              <a:rPr lang="en-US" sz="1600" b="1" dirty="0">
                <a:latin typeface="Trebuchet MS" panose="020B0603020202020204" pitchFamily="34" charset="0"/>
              </a:rPr>
              <a:t>Prepared by</a:t>
            </a:r>
          </a:p>
          <a:p>
            <a:pPr marL="0" marR="0" lvl="0" indent="0" algn="l" defTabSz="1219170" rtl="0" eaLnBrk="1" fontAlgn="auto" latinLnBrk="0" hangingPunct="1">
              <a:lnSpc>
                <a:spcPct val="100000"/>
              </a:lnSpc>
              <a:spcBef>
                <a:spcPts val="600"/>
              </a:spcBef>
              <a:spcAft>
                <a:spcPts val="600"/>
              </a:spcAft>
              <a:buClr>
                <a:srgbClr val="000000"/>
              </a:buClr>
              <a:buSzTx/>
              <a:buFontTx/>
              <a:buNone/>
              <a:tabLst/>
              <a:defRPr/>
            </a:pPr>
            <a:r>
              <a:rPr kumimoji="0" lang="en-US" sz="16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Prof</a:t>
            </a:r>
            <a:r>
              <a:rPr kumimoji="0" lang="en-US" sz="16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lang="en-US" sz="1600" b="1" kern="0" dirty="0" smtClean="0">
                <a:solidFill>
                  <a:srgbClr val="000000"/>
                </a:solidFill>
                <a:latin typeface="Trebuchet MS" panose="020B0603020202020204" pitchFamily="34" charset="0"/>
                <a:cs typeface="Arial"/>
                <a:sym typeface="Arial"/>
              </a:rPr>
              <a:t>Abhishek Chauhan</a:t>
            </a:r>
            <a:r>
              <a:rPr kumimoji="0" lang="en-US" sz="16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 </a:t>
            </a:r>
            <a:endParaRPr kumimoji="0" lang="en-US" sz="16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a:p>
            <a:pPr marL="0" marR="0" lvl="0" indent="0" algn="l" defTabSz="1219170" rtl="0" eaLnBrk="1" fontAlgn="auto" latinLnBrk="0" hangingPunct="1">
              <a:lnSpc>
                <a:spcPct val="100000"/>
              </a:lnSpc>
              <a:spcBef>
                <a:spcPts val="600"/>
              </a:spcBef>
              <a:spcAft>
                <a:spcPts val="600"/>
              </a:spcAft>
              <a:buClr>
                <a:srgbClr val="000000"/>
              </a:buClr>
              <a:buSzTx/>
              <a:buFontTx/>
              <a:buNone/>
              <a:tabLst/>
              <a:defRPr/>
            </a:pPr>
            <a:r>
              <a:rPr kumimoji="0" lang="en-US" sz="16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CSE- AI, ML &amp; DS </a:t>
            </a:r>
            <a:r>
              <a:rPr kumimoji="0" lang="en-US" sz="16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Department</a:t>
            </a:r>
            <a:endParaRPr kumimoji="0" sz="16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4750"/>
            <a:ext cx="9134475" cy="5133975"/>
          </a:xfrm>
          <a:prstGeom prst="rect">
            <a:avLst/>
          </a:prstGeom>
          <a:noFill/>
          <a:ln>
            <a:noFill/>
          </a:ln>
        </p:spPr>
      </p:pic>
      <p:pic>
        <p:nvPicPr>
          <p:cNvPr id="96" name="Google Shape;96;p17"/>
          <p:cNvPicPr preferRelativeResize="0"/>
          <p:nvPr/>
        </p:nvPicPr>
        <p:blipFill>
          <a:blip r:embed="rId5">
            <a:extLst>
              <a:ext uri="{28A0092B-C50C-407E-A947-70E740481C1C}">
                <a14:useLocalDpi xmlns:a14="http://schemas.microsoft.com/office/drawing/2010/main" val="0"/>
              </a:ext>
            </a:extLst>
          </a:blip>
          <a:stretch>
            <a:fillRect/>
          </a:stretch>
        </p:blipFill>
        <p:spPr>
          <a:xfrm>
            <a:off x="6667018" y="69501"/>
            <a:ext cx="2278075" cy="603328"/>
          </a:xfrm>
          <a:prstGeom prst="rect">
            <a:avLst/>
          </a:prstGeom>
          <a:noFill/>
          <a:ln>
            <a:noFill/>
          </a:ln>
        </p:spPr>
      </p:pic>
      <p:sp>
        <p:nvSpPr>
          <p:cNvPr id="97" name="Google Shape;97;p17"/>
          <p:cNvSpPr txBox="1"/>
          <p:nvPr/>
        </p:nvSpPr>
        <p:spPr>
          <a:xfrm>
            <a:off x="285125" y="134250"/>
            <a:ext cx="2104400" cy="5385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b="1" dirty="0">
                <a:solidFill>
                  <a:schemeClr val="lt1"/>
                </a:solidFill>
                <a:latin typeface="Proxima Nova" panose="020B0604020202020204" charset="0"/>
                <a:ea typeface="Proxima Nova"/>
                <a:cs typeface="Proxima Nova"/>
                <a:sym typeface="Proxima Nova"/>
              </a:rPr>
              <a:t>OUTLINE</a:t>
            </a:r>
            <a:endParaRPr sz="2300" b="1" dirty="0">
              <a:solidFill>
                <a:schemeClr val="lt1"/>
              </a:solidFill>
              <a:latin typeface="Proxima Nova"/>
              <a:ea typeface="Proxima Nova"/>
              <a:cs typeface="Proxima Nova"/>
              <a:sym typeface="Proxima Nova"/>
            </a:endParaRPr>
          </a:p>
        </p:txBody>
      </p:sp>
      <p:sp>
        <p:nvSpPr>
          <p:cNvPr id="99" name="Google Shape;99;p17"/>
          <p:cNvSpPr txBox="1"/>
          <p:nvPr/>
        </p:nvSpPr>
        <p:spPr>
          <a:xfrm>
            <a:off x="436122" y="851944"/>
            <a:ext cx="7515942" cy="3954899"/>
          </a:xfrm>
          <a:prstGeom prst="rect">
            <a:avLst/>
          </a:prstGeom>
          <a:noFill/>
          <a:ln>
            <a:noFill/>
          </a:ln>
        </p:spPr>
        <p:txBody>
          <a:bodyPr spcFirstLastPara="1" wrap="square" lIns="91425" tIns="91425" rIns="91425" bIns="91425" anchor="t" anchorCtr="0">
            <a:spAutoFit/>
          </a:bodyPr>
          <a:lstStyle/>
          <a:p>
            <a:pPr marL="361950" lvl="2" indent="-361950">
              <a:lnSpc>
                <a:spcPct val="150000"/>
              </a:lnSpc>
              <a:spcBef>
                <a:spcPts val="600"/>
              </a:spcBef>
              <a:buFont typeface="Wingdings" panose="05000000000000000000" pitchFamily="2" charset="2"/>
              <a:buChar char="q"/>
            </a:pPr>
            <a:r>
              <a:rPr lang="en-IN" sz="2000" dirty="0">
                <a:solidFill>
                  <a:schemeClr val="tx1"/>
                </a:solidFill>
                <a:latin typeface="Trebuchet MS" panose="020B0603020202020204" pitchFamily="34" charset="0"/>
                <a:ea typeface="Proxima Nova"/>
                <a:cs typeface="Proxima Nova"/>
                <a:sym typeface="Proxima Nova"/>
              </a:rPr>
              <a:t>Introduction</a:t>
            </a:r>
          </a:p>
          <a:p>
            <a:pPr marL="361950" lvl="2" indent="-361950">
              <a:lnSpc>
                <a:spcPct val="150000"/>
              </a:lnSpc>
              <a:spcBef>
                <a:spcPts val="600"/>
              </a:spcBef>
              <a:buFont typeface="Wingdings" panose="05000000000000000000" pitchFamily="2" charset="2"/>
              <a:buChar char="q"/>
            </a:pPr>
            <a:r>
              <a:rPr lang="en-IN" sz="2000" dirty="0">
                <a:solidFill>
                  <a:schemeClr val="tx1"/>
                </a:solidFill>
                <a:latin typeface="Trebuchet MS" panose="020B0603020202020204" pitchFamily="34" charset="0"/>
                <a:ea typeface="Proxima Nova"/>
                <a:cs typeface="Proxima Nova"/>
                <a:sym typeface="Proxima Nova"/>
              </a:rPr>
              <a:t>Elements of Dynamic Programming</a:t>
            </a:r>
          </a:p>
          <a:p>
            <a:pPr marL="361950" lvl="2" indent="-361950">
              <a:lnSpc>
                <a:spcPct val="150000"/>
              </a:lnSpc>
              <a:spcBef>
                <a:spcPts val="600"/>
              </a:spcBef>
              <a:buFont typeface="Wingdings" panose="05000000000000000000" pitchFamily="2" charset="2"/>
              <a:buChar char="q"/>
            </a:pPr>
            <a:r>
              <a:rPr lang="en-IN" sz="2000" dirty="0" smtClean="0">
                <a:solidFill>
                  <a:schemeClr val="tx1"/>
                </a:solidFill>
                <a:latin typeface="Trebuchet MS" panose="020B0603020202020204" pitchFamily="34" charset="0"/>
                <a:ea typeface="Proxima Nova"/>
                <a:cs typeface="Proxima Nova"/>
                <a:sym typeface="Proxima Nova"/>
              </a:rPr>
              <a:t>Problem </a:t>
            </a:r>
            <a:r>
              <a:rPr lang="en-IN" sz="2000" dirty="0">
                <a:solidFill>
                  <a:schemeClr val="tx1"/>
                </a:solidFill>
                <a:latin typeface="Trebuchet MS" panose="020B0603020202020204" pitchFamily="34" charset="0"/>
                <a:ea typeface="Proxima Nova"/>
                <a:cs typeface="Proxima Nova"/>
                <a:sym typeface="Proxima Nova"/>
              </a:rPr>
              <a:t>Solving using Dynamic Programming  </a:t>
            </a:r>
          </a:p>
          <a:p>
            <a:pPr marL="722313" lvl="4" indent="-360363">
              <a:lnSpc>
                <a:spcPct val="150000"/>
              </a:lnSpc>
              <a:spcBef>
                <a:spcPts val="600"/>
              </a:spcBef>
              <a:buFont typeface="Wingdings" panose="05000000000000000000" pitchFamily="2" charset="2"/>
              <a:buChar char="ü"/>
            </a:pPr>
            <a:r>
              <a:rPr lang="en-IN" sz="2000" dirty="0" smtClean="0">
                <a:solidFill>
                  <a:schemeClr val="tx1"/>
                </a:solidFill>
                <a:latin typeface="Trebuchet MS" panose="020B0603020202020204" pitchFamily="34" charset="0"/>
                <a:ea typeface="Proxima Nova"/>
                <a:cs typeface="Proxima Nova"/>
                <a:sym typeface="Proxima Nova"/>
              </a:rPr>
              <a:t>Making </a:t>
            </a:r>
            <a:r>
              <a:rPr lang="en-IN" sz="2000" dirty="0">
                <a:solidFill>
                  <a:schemeClr val="tx1"/>
                </a:solidFill>
                <a:latin typeface="Trebuchet MS" panose="020B0603020202020204" pitchFamily="34" charset="0"/>
                <a:ea typeface="Proxima Nova"/>
                <a:cs typeface="Proxima Nova"/>
                <a:sym typeface="Proxima Nova"/>
              </a:rPr>
              <a:t>Change Problem</a:t>
            </a:r>
          </a:p>
          <a:p>
            <a:pPr marL="722313" lvl="4" indent="-360363">
              <a:lnSpc>
                <a:spcPct val="150000"/>
              </a:lnSpc>
              <a:spcBef>
                <a:spcPts val="600"/>
              </a:spcBef>
              <a:buFont typeface="Wingdings" panose="05000000000000000000" pitchFamily="2" charset="2"/>
              <a:buChar char="ü"/>
            </a:pPr>
            <a:r>
              <a:rPr lang="en-IN" sz="2000" dirty="0" smtClean="0">
                <a:solidFill>
                  <a:schemeClr val="tx1"/>
                </a:solidFill>
                <a:latin typeface="Trebuchet MS" panose="020B0603020202020204" pitchFamily="34" charset="0"/>
                <a:ea typeface="Proxima Nova"/>
                <a:cs typeface="Proxima Nova"/>
                <a:sym typeface="Proxima Nova"/>
              </a:rPr>
              <a:t>Assembly </a:t>
            </a:r>
            <a:r>
              <a:rPr lang="en-IN" sz="2000" dirty="0">
                <a:solidFill>
                  <a:schemeClr val="tx1"/>
                </a:solidFill>
                <a:latin typeface="Trebuchet MS" panose="020B0603020202020204" pitchFamily="34" charset="0"/>
                <a:ea typeface="Proxima Nova"/>
                <a:cs typeface="Proxima Nova"/>
                <a:sym typeface="Proxima Nova"/>
              </a:rPr>
              <a:t>Line-Scheduling</a:t>
            </a:r>
          </a:p>
          <a:p>
            <a:pPr marL="722313" lvl="4" indent="-360363">
              <a:lnSpc>
                <a:spcPct val="150000"/>
              </a:lnSpc>
              <a:spcBef>
                <a:spcPts val="600"/>
              </a:spcBef>
              <a:buFont typeface="Wingdings" panose="05000000000000000000" pitchFamily="2" charset="2"/>
              <a:buChar char="ü"/>
            </a:pPr>
            <a:r>
              <a:rPr lang="en-IN" sz="2000" dirty="0">
                <a:solidFill>
                  <a:schemeClr val="tx1"/>
                </a:solidFill>
                <a:latin typeface="Trebuchet MS" panose="020B0603020202020204" pitchFamily="34" charset="0"/>
                <a:ea typeface="Proxima Nova"/>
                <a:cs typeface="Proxima Nova"/>
                <a:sym typeface="Proxima Nova"/>
              </a:rPr>
              <a:t>Matrix chain multiplication</a:t>
            </a:r>
          </a:p>
          <a:p>
            <a:pPr marL="722313" lvl="4" indent="-360363">
              <a:lnSpc>
                <a:spcPct val="150000"/>
              </a:lnSpc>
              <a:spcBef>
                <a:spcPts val="600"/>
              </a:spcBef>
              <a:buFont typeface="Wingdings" panose="05000000000000000000" pitchFamily="2" charset="2"/>
              <a:buChar char="ü"/>
            </a:pPr>
            <a:r>
              <a:rPr lang="en-IN" sz="2000" dirty="0" smtClean="0">
                <a:solidFill>
                  <a:schemeClr val="tx1"/>
                </a:solidFill>
                <a:latin typeface="Trebuchet MS" panose="020B0603020202020204" pitchFamily="34" charset="0"/>
                <a:ea typeface="Proxima Nova"/>
                <a:cs typeface="Proxima Nova"/>
                <a:sym typeface="Proxima Nova"/>
              </a:rPr>
              <a:t>Longest </a:t>
            </a:r>
            <a:r>
              <a:rPr lang="en-IN" sz="2000" dirty="0">
                <a:solidFill>
                  <a:schemeClr val="tx1"/>
                </a:solidFill>
                <a:latin typeface="Trebuchet MS" panose="020B0603020202020204" pitchFamily="34" charset="0"/>
                <a:ea typeface="Proxima Nova"/>
                <a:cs typeface="Proxima Nova"/>
                <a:sym typeface="Proxima Nova"/>
              </a:rPr>
              <a:t>Common </a:t>
            </a:r>
            <a:r>
              <a:rPr lang="en-IN" sz="2000" dirty="0" smtClean="0">
                <a:solidFill>
                  <a:schemeClr val="tx1"/>
                </a:solidFill>
                <a:latin typeface="Trebuchet MS" panose="020B0603020202020204" pitchFamily="34" charset="0"/>
                <a:ea typeface="Proxima Nova"/>
                <a:cs typeface="Proxima Nova"/>
                <a:sym typeface="Proxima Nova"/>
              </a:rPr>
              <a:t>Subsequence</a:t>
            </a:r>
          </a:p>
        </p:txBody>
      </p:sp>
    </p:spTree>
    <p:extLst>
      <p:ext uri="{BB962C8B-B14F-4D97-AF65-F5344CB8AC3E}">
        <p14:creationId xmlns:p14="http://schemas.microsoft.com/office/powerpoint/2010/main" val="10894024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4750"/>
            <a:ext cx="9134475" cy="5133975"/>
          </a:xfrm>
          <a:prstGeom prst="rect">
            <a:avLst/>
          </a:prstGeom>
          <a:noFill/>
          <a:ln>
            <a:noFill/>
          </a:ln>
        </p:spPr>
      </p:pic>
      <p:pic>
        <p:nvPicPr>
          <p:cNvPr id="96" name="Google Shape;96;p17"/>
          <p:cNvPicPr preferRelativeResize="0"/>
          <p:nvPr/>
        </p:nvPicPr>
        <p:blipFill>
          <a:blip r:embed="rId5">
            <a:extLst>
              <a:ext uri="{28A0092B-C50C-407E-A947-70E740481C1C}">
                <a14:useLocalDpi xmlns:a14="http://schemas.microsoft.com/office/drawing/2010/main" val="0"/>
              </a:ext>
            </a:extLst>
          </a:blip>
          <a:stretch>
            <a:fillRect/>
          </a:stretch>
        </p:blipFill>
        <p:spPr>
          <a:xfrm>
            <a:off x="6632295" y="4750"/>
            <a:ext cx="2314936" cy="621903"/>
          </a:xfrm>
          <a:prstGeom prst="rect">
            <a:avLst/>
          </a:prstGeom>
          <a:noFill/>
          <a:ln>
            <a:noFill/>
          </a:ln>
        </p:spPr>
      </p:pic>
      <p:sp>
        <p:nvSpPr>
          <p:cNvPr id="5" name="TextBox 4">
            <a:extLst>
              <a:ext uri="{FF2B5EF4-FFF2-40B4-BE49-F238E27FC236}">
                <a16:creationId xmlns:a16="http://schemas.microsoft.com/office/drawing/2014/main" id="{C324AB15-914D-6E52-679B-6B344AE6796B}"/>
              </a:ext>
            </a:extLst>
          </p:cNvPr>
          <p:cNvSpPr txBox="1"/>
          <p:nvPr/>
        </p:nvSpPr>
        <p:spPr>
          <a:xfrm>
            <a:off x="285125" y="103433"/>
            <a:ext cx="4651022" cy="523220"/>
          </a:xfrm>
          <a:prstGeom prst="rect">
            <a:avLst/>
          </a:prstGeom>
          <a:noFill/>
        </p:spPr>
        <p:txBody>
          <a:bodyPr wrap="square">
            <a:spAutoFit/>
          </a:bodyPr>
          <a:lstStyle/>
          <a:p>
            <a:r>
              <a:rPr lang="en-IN" sz="2800" b="1" dirty="0">
                <a:solidFill>
                  <a:schemeClr val="bg1"/>
                </a:solidFill>
                <a:latin typeface="Proxima Nova"/>
              </a:rPr>
              <a:t>Introduction</a:t>
            </a:r>
          </a:p>
        </p:txBody>
      </p:sp>
      <p:sp>
        <p:nvSpPr>
          <p:cNvPr id="4" name="TextBox 3">
            <a:extLst>
              <a:ext uri="{FF2B5EF4-FFF2-40B4-BE49-F238E27FC236}">
                <a16:creationId xmlns:a16="http://schemas.microsoft.com/office/drawing/2014/main" id="{484248F1-4FBF-C2BA-6FEA-986E0781598F}"/>
              </a:ext>
            </a:extLst>
          </p:cNvPr>
          <p:cNvSpPr txBox="1"/>
          <p:nvPr/>
        </p:nvSpPr>
        <p:spPr>
          <a:xfrm>
            <a:off x="240922" y="626653"/>
            <a:ext cx="8590562" cy="415498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200" dirty="0">
                <a:latin typeface="Trebuchet MS" panose="020B0603020202020204" pitchFamily="34" charset="0"/>
              </a:rPr>
              <a:t>Dynamic programming is used to solve the optimization problems.</a:t>
            </a:r>
          </a:p>
          <a:p>
            <a:pPr marL="285750" indent="-285750">
              <a:lnSpc>
                <a:spcPct val="150000"/>
              </a:lnSpc>
              <a:buFont typeface="Arial" panose="020B0604020202020204" pitchFamily="34" charset="0"/>
              <a:buChar char="•"/>
            </a:pPr>
            <a:r>
              <a:rPr lang="en-IN" sz="2200" dirty="0">
                <a:latin typeface="Trebuchet MS" panose="020B0603020202020204" pitchFamily="34" charset="0"/>
              </a:rPr>
              <a:t>Dynamic programming, like the divide-and-conquer method, solves problems by </a:t>
            </a:r>
            <a:r>
              <a:rPr lang="en-IN" sz="2200" dirty="0">
                <a:solidFill>
                  <a:schemeClr val="tx1"/>
                </a:solidFill>
                <a:latin typeface="Trebuchet MS" panose="020B0603020202020204" pitchFamily="34" charset="0"/>
              </a:rPr>
              <a:t>combining the solutions to sub problems.</a:t>
            </a:r>
            <a:r>
              <a:rPr lang="en-IN" sz="2200" b="0" i="0" dirty="0">
                <a:solidFill>
                  <a:srgbClr val="292929"/>
                </a:solidFill>
                <a:effectLst/>
                <a:latin typeface="Trebuchet MS" panose="020B0603020202020204" pitchFamily="34" charset="0"/>
              </a:rPr>
              <a:t> </a:t>
            </a:r>
            <a:r>
              <a:rPr lang="en-IN" sz="2200" dirty="0">
                <a:latin typeface="Trebuchet MS" panose="020B0603020202020204" pitchFamily="34" charset="0"/>
              </a:rPr>
              <a:t>But we will </a:t>
            </a:r>
            <a:r>
              <a:rPr lang="en-IN" sz="2200" dirty="0">
                <a:solidFill>
                  <a:srgbClr val="FF0000"/>
                </a:solidFill>
                <a:latin typeface="Trebuchet MS" panose="020B0603020202020204" pitchFamily="34" charset="0"/>
              </a:rPr>
              <a:t>never solve the same subproblem twice</a:t>
            </a:r>
            <a:r>
              <a:rPr lang="en-IN" sz="2200" dirty="0">
                <a:latin typeface="Trebuchet MS" panose="020B0603020202020204" pitchFamily="34" charset="0"/>
              </a:rPr>
              <a:t>.</a:t>
            </a:r>
          </a:p>
          <a:p>
            <a:pPr marL="285750" indent="-285750">
              <a:lnSpc>
                <a:spcPct val="150000"/>
              </a:lnSpc>
              <a:buFont typeface="Arial" panose="020B0604020202020204" pitchFamily="34" charset="0"/>
              <a:buChar char="•"/>
            </a:pPr>
            <a:r>
              <a:rPr lang="en-IN" sz="2200" dirty="0">
                <a:latin typeface="Trebuchet MS" panose="020B0603020202020204" pitchFamily="34" charset="0"/>
              </a:rPr>
              <a:t>Divide-and-conquer algorithms partition the problem into independent sub problems, solve the sub problems recursively, and then combine their solutions to solve the original problem.</a:t>
            </a:r>
          </a:p>
        </p:txBody>
      </p:sp>
    </p:spTree>
    <p:extLst>
      <p:ext uri="{BB962C8B-B14F-4D97-AF65-F5344CB8AC3E}">
        <p14:creationId xmlns:p14="http://schemas.microsoft.com/office/powerpoint/2010/main" val="29018631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4750"/>
            <a:ext cx="9134475" cy="5133975"/>
          </a:xfrm>
          <a:prstGeom prst="rect">
            <a:avLst/>
          </a:prstGeom>
          <a:noFill/>
          <a:ln>
            <a:noFill/>
          </a:ln>
        </p:spPr>
      </p:pic>
      <p:pic>
        <p:nvPicPr>
          <p:cNvPr id="96" name="Google Shape;96;p17"/>
          <p:cNvPicPr preferRelativeResize="0"/>
          <p:nvPr/>
        </p:nvPicPr>
        <p:blipFill>
          <a:blip r:embed="rId5">
            <a:extLst>
              <a:ext uri="{28A0092B-C50C-407E-A947-70E740481C1C}">
                <a14:useLocalDpi xmlns:a14="http://schemas.microsoft.com/office/drawing/2010/main" val="0"/>
              </a:ext>
            </a:extLst>
          </a:blip>
          <a:stretch>
            <a:fillRect/>
          </a:stretch>
        </p:blipFill>
        <p:spPr>
          <a:xfrm>
            <a:off x="6481823" y="4750"/>
            <a:ext cx="2500131" cy="621903"/>
          </a:xfrm>
          <a:prstGeom prst="rect">
            <a:avLst/>
          </a:prstGeom>
          <a:noFill/>
          <a:ln>
            <a:noFill/>
          </a:ln>
        </p:spPr>
      </p:pic>
      <p:sp>
        <p:nvSpPr>
          <p:cNvPr id="5" name="TextBox 4">
            <a:extLst>
              <a:ext uri="{FF2B5EF4-FFF2-40B4-BE49-F238E27FC236}">
                <a16:creationId xmlns:a16="http://schemas.microsoft.com/office/drawing/2014/main" id="{C324AB15-914D-6E52-679B-6B344AE6796B}"/>
              </a:ext>
            </a:extLst>
          </p:cNvPr>
          <p:cNvSpPr txBox="1"/>
          <p:nvPr/>
        </p:nvSpPr>
        <p:spPr>
          <a:xfrm>
            <a:off x="285125" y="103433"/>
            <a:ext cx="4651022" cy="523220"/>
          </a:xfrm>
          <a:prstGeom prst="rect">
            <a:avLst/>
          </a:prstGeom>
          <a:noFill/>
        </p:spPr>
        <p:txBody>
          <a:bodyPr wrap="square">
            <a:spAutoFit/>
          </a:bodyPr>
          <a:lstStyle/>
          <a:p>
            <a:r>
              <a:rPr lang="en-IN" sz="2800" b="1" dirty="0">
                <a:solidFill>
                  <a:schemeClr val="bg1"/>
                </a:solidFill>
                <a:latin typeface="Proxima Nova"/>
              </a:rPr>
              <a:t>Introduction</a:t>
            </a:r>
          </a:p>
        </p:txBody>
      </p:sp>
      <p:sp>
        <p:nvSpPr>
          <p:cNvPr id="4" name="TextBox 3">
            <a:extLst>
              <a:ext uri="{FF2B5EF4-FFF2-40B4-BE49-F238E27FC236}">
                <a16:creationId xmlns:a16="http://schemas.microsoft.com/office/drawing/2014/main" id="{484248F1-4FBF-C2BA-6FEA-986E0781598F}"/>
              </a:ext>
            </a:extLst>
          </p:cNvPr>
          <p:cNvSpPr txBox="1"/>
          <p:nvPr/>
        </p:nvSpPr>
        <p:spPr>
          <a:xfrm>
            <a:off x="383524" y="859454"/>
            <a:ext cx="8043333" cy="386259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200" dirty="0">
                <a:latin typeface="Trebuchet MS" panose="020B0603020202020204" pitchFamily="34" charset="0"/>
              </a:rPr>
              <a:t>In this context, a </a:t>
            </a:r>
            <a:r>
              <a:rPr lang="en-IN" sz="2200" dirty="0">
                <a:solidFill>
                  <a:srgbClr val="FF0000"/>
                </a:solidFill>
                <a:latin typeface="Trebuchet MS" panose="020B0603020202020204" pitchFamily="34" charset="0"/>
              </a:rPr>
              <a:t>divide-and-conquer</a:t>
            </a:r>
            <a:r>
              <a:rPr lang="en-IN" sz="2200" dirty="0">
                <a:latin typeface="Trebuchet MS" panose="020B0603020202020204" pitchFamily="34" charset="0"/>
              </a:rPr>
              <a:t> algorithm does more work than necessary, </a:t>
            </a:r>
            <a:r>
              <a:rPr lang="en-IN" sz="2200" dirty="0">
                <a:solidFill>
                  <a:srgbClr val="0070C0"/>
                </a:solidFill>
                <a:latin typeface="Trebuchet MS" panose="020B0603020202020204" pitchFamily="34" charset="0"/>
              </a:rPr>
              <a:t>repeatedly solving the common sub </a:t>
            </a:r>
            <a:r>
              <a:rPr lang="en-IN" sz="2200" dirty="0">
                <a:latin typeface="Trebuchet MS" panose="020B0603020202020204" pitchFamily="34" charset="0"/>
              </a:rPr>
              <a:t>problems.</a:t>
            </a:r>
          </a:p>
          <a:p>
            <a:pPr marL="342900" indent="-342900">
              <a:lnSpc>
                <a:spcPct val="150000"/>
              </a:lnSpc>
              <a:buFont typeface="Arial" panose="020B0604020202020204" pitchFamily="34" charset="0"/>
              <a:buChar char="•"/>
            </a:pPr>
            <a:r>
              <a:rPr lang="en-IN" sz="2200" dirty="0">
                <a:solidFill>
                  <a:srgbClr val="FF0000"/>
                </a:solidFill>
                <a:latin typeface="Trebuchet MS" panose="020B0603020202020204" pitchFamily="34" charset="0"/>
              </a:rPr>
              <a:t>Dynamic Programming </a:t>
            </a:r>
            <a:r>
              <a:rPr lang="en-IN" sz="2200" dirty="0">
                <a:latin typeface="Trebuchet MS" panose="020B0603020202020204" pitchFamily="34" charset="0"/>
              </a:rPr>
              <a:t>is an algorithmic paradigm that solves a given complex problem by </a:t>
            </a:r>
            <a:r>
              <a:rPr lang="en-IN" sz="2200" dirty="0">
                <a:solidFill>
                  <a:srgbClr val="0070C0"/>
                </a:solidFill>
                <a:latin typeface="Trebuchet MS" panose="020B0603020202020204" pitchFamily="34" charset="0"/>
              </a:rPr>
              <a:t>breaking it into subproblems </a:t>
            </a:r>
            <a:r>
              <a:rPr lang="en-IN" sz="2200" dirty="0">
                <a:latin typeface="Trebuchet MS" panose="020B0603020202020204" pitchFamily="34" charset="0"/>
              </a:rPr>
              <a:t>and </a:t>
            </a:r>
            <a:r>
              <a:rPr lang="en-IN" sz="2200" dirty="0">
                <a:solidFill>
                  <a:srgbClr val="0070C0"/>
                </a:solidFill>
                <a:latin typeface="Trebuchet MS" panose="020B0603020202020204" pitchFamily="34" charset="0"/>
              </a:rPr>
              <a:t>stores the results of subproblems </a:t>
            </a:r>
            <a:r>
              <a:rPr lang="en-IN" sz="2200" dirty="0">
                <a:latin typeface="Trebuchet MS" panose="020B0603020202020204" pitchFamily="34" charset="0"/>
              </a:rPr>
              <a:t>to avoid computing the same results again. </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3920972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extLst>
              <a:ext uri="{28A0092B-C50C-407E-A947-70E740481C1C}">
                <a14:useLocalDpi xmlns:a14="http://schemas.microsoft.com/office/drawing/2010/main" val="0"/>
              </a:ext>
            </a:extLst>
          </a:blip>
          <a:stretch>
            <a:fillRect/>
          </a:stretch>
        </p:blipFill>
        <p:spPr>
          <a:xfrm>
            <a:off x="6805913" y="92598"/>
            <a:ext cx="2152891" cy="562812"/>
          </a:xfrm>
          <a:prstGeom prst="rect">
            <a:avLst/>
          </a:prstGeom>
          <a:noFill/>
          <a:ln>
            <a:noFill/>
          </a:ln>
        </p:spPr>
      </p:pic>
      <p:sp>
        <p:nvSpPr>
          <p:cNvPr id="3" name="TextBox 2">
            <a:extLst>
              <a:ext uri="{FF2B5EF4-FFF2-40B4-BE49-F238E27FC236}">
                <a16:creationId xmlns:a16="http://schemas.microsoft.com/office/drawing/2014/main" id="{B9D6EE25-61CE-8ABB-1936-ED0FF2420F52}"/>
              </a:ext>
            </a:extLst>
          </p:cNvPr>
          <p:cNvSpPr txBox="1"/>
          <p:nvPr/>
        </p:nvSpPr>
        <p:spPr>
          <a:xfrm>
            <a:off x="150471" y="193744"/>
            <a:ext cx="6898510" cy="523220"/>
          </a:xfrm>
          <a:prstGeom prst="rect">
            <a:avLst/>
          </a:prstGeom>
          <a:noFill/>
        </p:spPr>
        <p:txBody>
          <a:bodyPr wrap="square">
            <a:spAutoFit/>
          </a:bodyPr>
          <a:lstStyle/>
          <a:p>
            <a:r>
              <a:rPr lang="en-IN" sz="2700" b="1" dirty="0">
                <a:solidFill>
                  <a:schemeClr val="bg1"/>
                </a:solidFill>
                <a:latin typeface="Proxima Nova"/>
              </a:rPr>
              <a:t>Steps of Dynamic Programming Approach</a:t>
            </a:r>
          </a:p>
        </p:txBody>
      </p:sp>
      <p:sp>
        <p:nvSpPr>
          <p:cNvPr id="7" name="TextBox 6">
            <a:extLst>
              <a:ext uri="{FF2B5EF4-FFF2-40B4-BE49-F238E27FC236}">
                <a16:creationId xmlns:a16="http://schemas.microsoft.com/office/drawing/2014/main" id="{30DBD04E-CD35-56E3-0732-7A0B7CF3B092}"/>
              </a:ext>
            </a:extLst>
          </p:cNvPr>
          <p:cNvSpPr txBox="1"/>
          <p:nvPr/>
        </p:nvSpPr>
        <p:spPr>
          <a:xfrm>
            <a:off x="347241" y="844403"/>
            <a:ext cx="7824486" cy="3785652"/>
          </a:xfrm>
          <a:prstGeom prst="rect">
            <a:avLst/>
          </a:prstGeom>
          <a:noFill/>
        </p:spPr>
        <p:txBody>
          <a:bodyPr wrap="square">
            <a:spAutoFit/>
          </a:bodyPr>
          <a:lstStyle/>
          <a:p>
            <a:pPr>
              <a:lnSpc>
                <a:spcPct val="150000"/>
              </a:lnSpc>
            </a:pPr>
            <a:r>
              <a:rPr lang="en-IN" sz="2000" dirty="0">
                <a:latin typeface="Trebuchet MS" panose="020B0603020202020204" pitchFamily="34" charset="0"/>
              </a:rPr>
              <a:t>Dynamic Programming algorithm is designed using the following steps, </a:t>
            </a:r>
          </a:p>
          <a:p>
            <a:pPr marL="722313" indent="-360363">
              <a:lnSpc>
                <a:spcPct val="150000"/>
              </a:lnSpc>
              <a:buFont typeface="Arial" panose="020B0604020202020204" pitchFamily="34" charset="0"/>
              <a:buChar char="•"/>
            </a:pPr>
            <a:r>
              <a:rPr lang="en-US" sz="2000" dirty="0">
                <a:solidFill>
                  <a:srgbClr val="0070C0"/>
                </a:solidFill>
                <a:latin typeface="Trebuchet MS" panose="020B0603020202020204" pitchFamily="34" charset="0"/>
              </a:rPr>
              <a:t>Breaks down </a:t>
            </a:r>
            <a:r>
              <a:rPr lang="en-US" sz="2000" dirty="0">
                <a:latin typeface="Trebuchet MS" panose="020B0603020202020204" pitchFamily="34" charset="0"/>
              </a:rPr>
              <a:t>the complex problem into </a:t>
            </a:r>
            <a:r>
              <a:rPr lang="en-US" sz="2000" dirty="0">
                <a:solidFill>
                  <a:srgbClr val="0070C0"/>
                </a:solidFill>
                <a:latin typeface="Trebuchet MS" panose="020B0603020202020204" pitchFamily="34" charset="0"/>
              </a:rPr>
              <a:t>simpler subproblems</a:t>
            </a:r>
          </a:p>
          <a:p>
            <a:pPr marL="722313" indent="-360363">
              <a:lnSpc>
                <a:spcPct val="150000"/>
              </a:lnSpc>
              <a:buFont typeface="Arial" panose="020B0604020202020204" pitchFamily="34" charset="0"/>
              <a:buChar char="•"/>
            </a:pPr>
            <a:r>
              <a:rPr lang="en-US" sz="2000" dirty="0">
                <a:latin typeface="Trebuchet MS" panose="020B0603020202020204" pitchFamily="34" charset="0"/>
              </a:rPr>
              <a:t>Find  </a:t>
            </a:r>
            <a:r>
              <a:rPr lang="en-US" sz="2000" dirty="0">
                <a:solidFill>
                  <a:srgbClr val="0070C0"/>
                </a:solidFill>
                <a:latin typeface="Trebuchet MS" panose="020B0603020202020204" pitchFamily="34" charset="0"/>
              </a:rPr>
              <a:t>optimal solution</a:t>
            </a:r>
            <a:r>
              <a:rPr lang="en-US" sz="2000" dirty="0">
                <a:latin typeface="Trebuchet MS" panose="020B0603020202020204" pitchFamily="34" charset="0"/>
              </a:rPr>
              <a:t> to those subproblems</a:t>
            </a:r>
          </a:p>
          <a:p>
            <a:pPr marL="722313" indent="-360363">
              <a:lnSpc>
                <a:spcPct val="150000"/>
              </a:lnSpc>
              <a:buFont typeface="Arial" panose="020B0604020202020204" pitchFamily="34" charset="0"/>
              <a:buChar char="•"/>
            </a:pPr>
            <a:r>
              <a:rPr lang="en-US" sz="2000" dirty="0">
                <a:solidFill>
                  <a:srgbClr val="0070C0"/>
                </a:solidFill>
                <a:latin typeface="Trebuchet MS" panose="020B0603020202020204" pitchFamily="34" charset="0"/>
              </a:rPr>
              <a:t>Store the results </a:t>
            </a:r>
            <a:r>
              <a:rPr lang="en-US" sz="2000" dirty="0">
                <a:latin typeface="Trebuchet MS" panose="020B0603020202020204" pitchFamily="34" charset="0"/>
              </a:rPr>
              <a:t>of subproblems</a:t>
            </a:r>
          </a:p>
          <a:p>
            <a:pPr marL="722313" indent="-360363">
              <a:lnSpc>
                <a:spcPct val="150000"/>
              </a:lnSpc>
              <a:buFont typeface="Arial" panose="020B0604020202020204" pitchFamily="34" charset="0"/>
              <a:buChar char="•"/>
            </a:pPr>
            <a:r>
              <a:rPr lang="en-US" sz="2000" dirty="0">
                <a:solidFill>
                  <a:srgbClr val="0070C0"/>
                </a:solidFill>
                <a:latin typeface="Trebuchet MS" panose="020B0603020202020204" pitchFamily="34" charset="0"/>
              </a:rPr>
              <a:t>Reuse</a:t>
            </a:r>
            <a:r>
              <a:rPr lang="en-US" sz="2000" dirty="0">
                <a:latin typeface="Trebuchet MS" panose="020B0603020202020204" pitchFamily="34" charset="0"/>
              </a:rPr>
              <a:t> the results .so that same subproblem is not calculated more than once.</a:t>
            </a:r>
          </a:p>
          <a:p>
            <a:pPr marL="722313" indent="-360363">
              <a:lnSpc>
                <a:spcPct val="150000"/>
              </a:lnSpc>
              <a:buFont typeface="Arial" panose="020B0604020202020204" pitchFamily="34" charset="0"/>
              <a:buChar char="•"/>
            </a:pPr>
            <a:r>
              <a:rPr lang="en-US" sz="2000" dirty="0">
                <a:latin typeface="Trebuchet MS" panose="020B0603020202020204" pitchFamily="34" charset="0"/>
              </a:rPr>
              <a:t>Finally calculates the </a:t>
            </a:r>
            <a:r>
              <a:rPr lang="en-US" sz="2000" dirty="0">
                <a:solidFill>
                  <a:srgbClr val="0070C0"/>
                </a:solidFill>
                <a:latin typeface="Trebuchet MS" panose="020B0603020202020204" pitchFamily="34" charset="0"/>
              </a:rPr>
              <a:t>results of complex </a:t>
            </a:r>
            <a:r>
              <a:rPr lang="en-US" sz="2000" dirty="0">
                <a:latin typeface="Trebuchet MS" panose="020B0603020202020204" pitchFamily="34" charset="0"/>
              </a:rPr>
              <a:t>problem</a:t>
            </a:r>
            <a:r>
              <a:rPr lang="en-IN" sz="2000" dirty="0">
                <a:latin typeface="Trebuchet MS" panose="020B0603020202020204" pitchFamily="34" charset="0"/>
              </a:rPr>
              <a:t>. </a:t>
            </a:r>
            <a:endParaRPr lang="en-IN" sz="1800" dirty="0">
              <a:latin typeface="Trebuchet MS" panose="020B0603020202020204" pitchFamily="34" charset="0"/>
            </a:endParaRPr>
          </a:p>
        </p:txBody>
      </p:sp>
    </p:spTree>
    <p:extLst>
      <p:ext uri="{BB962C8B-B14F-4D97-AF65-F5344CB8AC3E}">
        <p14:creationId xmlns:p14="http://schemas.microsoft.com/office/powerpoint/2010/main" val="2454692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extLst>
              <a:ext uri="{28A0092B-C50C-407E-A947-70E740481C1C}">
                <a14:useLocalDpi xmlns:a14="http://schemas.microsoft.com/office/drawing/2010/main" val="0"/>
              </a:ext>
            </a:extLst>
          </a:blip>
          <a:stretch>
            <a:fillRect/>
          </a:stretch>
        </p:blipFill>
        <p:spPr>
          <a:xfrm>
            <a:off x="6933235" y="4750"/>
            <a:ext cx="2060294" cy="667058"/>
          </a:xfrm>
          <a:prstGeom prst="rect">
            <a:avLst/>
          </a:prstGeom>
          <a:noFill/>
          <a:ln>
            <a:noFill/>
          </a:ln>
        </p:spPr>
      </p:pic>
      <p:sp>
        <p:nvSpPr>
          <p:cNvPr id="3" name="TextBox 2">
            <a:extLst>
              <a:ext uri="{FF2B5EF4-FFF2-40B4-BE49-F238E27FC236}">
                <a16:creationId xmlns:a16="http://schemas.microsoft.com/office/drawing/2014/main" id="{A2D37F3A-E4DA-E560-306B-C7C7BAF76DBF}"/>
              </a:ext>
            </a:extLst>
          </p:cNvPr>
          <p:cNvSpPr txBox="1"/>
          <p:nvPr/>
        </p:nvSpPr>
        <p:spPr>
          <a:xfrm>
            <a:off x="529721" y="950648"/>
            <a:ext cx="7755466" cy="2862322"/>
          </a:xfrm>
          <a:prstGeom prst="rect">
            <a:avLst/>
          </a:prstGeom>
          <a:noFill/>
        </p:spPr>
        <p:txBody>
          <a:bodyPr wrap="square">
            <a:spAutoFit/>
          </a:bodyPr>
          <a:lstStyle/>
          <a:p>
            <a:pPr>
              <a:lnSpc>
                <a:spcPct val="150000"/>
              </a:lnSpc>
            </a:pPr>
            <a:r>
              <a:rPr lang="en-IN" sz="2400" dirty="0">
                <a:latin typeface="Trebuchet MS" panose="020B0603020202020204" pitchFamily="34" charset="0"/>
              </a:rPr>
              <a:t>There are basically </a:t>
            </a:r>
            <a:r>
              <a:rPr lang="en-IN" sz="2400" dirty="0">
                <a:solidFill>
                  <a:srgbClr val="FF0000"/>
                </a:solidFill>
                <a:latin typeface="Trebuchet MS" panose="020B0603020202020204" pitchFamily="34" charset="0"/>
              </a:rPr>
              <a:t>three elements </a:t>
            </a:r>
            <a:r>
              <a:rPr lang="en-IN" sz="2400" dirty="0">
                <a:latin typeface="Trebuchet MS" panose="020B0603020202020204" pitchFamily="34" charset="0"/>
              </a:rPr>
              <a:t>that characterize a dynamic programming </a:t>
            </a:r>
            <a:r>
              <a:rPr lang="en-IN" sz="2400" dirty="0" smtClean="0">
                <a:latin typeface="Trebuchet MS" panose="020B0603020202020204" pitchFamily="34" charset="0"/>
              </a:rPr>
              <a:t>algorithm </a:t>
            </a:r>
          </a:p>
          <a:p>
            <a:pPr marL="722313" indent="-360363">
              <a:lnSpc>
                <a:spcPct val="150000"/>
              </a:lnSpc>
              <a:buAutoNum type="arabicPeriod"/>
            </a:pPr>
            <a:r>
              <a:rPr lang="en-IN" sz="2400" dirty="0" smtClean="0">
                <a:solidFill>
                  <a:srgbClr val="0070C0"/>
                </a:solidFill>
                <a:latin typeface="Trebuchet MS" panose="020B0603020202020204" pitchFamily="34" charset="0"/>
              </a:rPr>
              <a:t>Substructure</a:t>
            </a:r>
          </a:p>
          <a:p>
            <a:pPr marL="722313" indent="-360363">
              <a:lnSpc>
                <a:spcPct val="150000"/>
              </a:lnSpc>
              <a:buAutoNum type="arabicPeriod"/>
            </a:pPr>
            <a:r>
              <a:rPr lang="en-IN" sz="2400" dirty="0" smtClean="0">
                <a:solidFill>
                  <a:srgbClr val="0070C0"/>
                </a:solidFill>
                <a:latin typeface="Trebuchet MS" panose="020B0603020202020204" pitchFamily="34" charset="0"/>
              </a:rPr>
              <a:t>Table </a:t>
            </a:r>
            <a:r>
              <a:rPr lang="en-IN" sz="2400" dirty="0">
                <a:solidFill>
                  <a:srgbClr val="0070C0"/>
                </a:solidFill>
                <a:latin typeface="Trebuchet MS" panose="020B0603020202020204" pitchFamily="34" charset="0"/>
              </a:rPr>
              <a:t>Structure </a:t>
            </a:r>
          </a:p>
          <a:p>
            <a:pPr marL="722313" indent="-360363">
              <a:lnSpc>
                <a:spcPct val="150000"/>
              </a:lnSpc>
              <a:buAutoNum type="arabicPeriod"/>
            </a:pPr>
            <a:r>
              <a:rPr lang="en-IN" sz="2400" dirty="0">
                <a:solidFill>
                  <a:srgbClr val="0070C0"/>
                </a:solidFill>
                <a:latin typeface="Trebuchet MS" panose="020B0603020202020204" pitchFamily="34" charset="0"/>
              </a:rPr>
              <a:t>Bottom-up Computation</a:t>
            </a:r>
          </a:p>
        </p:txBody>
      </p:sp>
      <p:sp>
        <p:nvSpPr>
          <p:cNvPr id="5" name="TextBox 4">
            <a:extLst>
              <a:ext uri="{FF2B5EF4-FFF2-40B4-BE49-F238E27FC236}">
                <a16:creationId xmlns:a16="http://schemas.microsoft.com/office/drawing/2014/main" id="{3692A89C-4C79-8B5C-47C4-878EDE3445EA}"/>
              </a:ext>
            </a:extLst>
          </p:cNvPr>
          <p:cNvSpPr txBox="1"/>
          <p:nvPr/>
        </p:nvSpPr>
        <p:spPr>
          <a:xfrm>
            <a:off x="164551" y="148588"/>
            <a:ext cx="5983112" cy="523220"/>
          </a:xfrm>
          <a:prstGeom prst="rect">
            <a:avLst/>
          </a:prstGeom>
          <a:noFill/>
        </p:spPr>
        <p:txBody>
          <a:bodyPr wrap="square">
            <a:spAutoFit/>
          </a:bodyPr>
          <a:lstStyle/>
          <a:p>
            <a:r>
              <a:rPr lang="en-IN" sz="2700" b="1" dirty="0">
                <a:solidFill>
                  <a:schemeClr val="bg1"/>
                </a:solidFill>
                <a:latin typeface="Proxima Nova"/>
              </a:rPr>
              <a:t>Elements of Dynamic Programming </a:t>
            </a:r>
          </a:p>
        </p:txBody>
      </p:sp>
    </p:spTree>
    <p:extLst>
      <p:ext uri="{BB962C8B-B14F-4D97-AF65-F5344CB8AC3E}">
        <p14:creationId xmlns:p14="http://schemas.microsoft.com/office/powerpoint/2010/main" val="24238994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extLst>
              <a:ext uri="{28A0092B-C50C-407E-A947-70E740481C1C}">
                <a14:useLocalDpi xmlns:a14="http://schemas.microsoft.com/office/drawing/2010/main" val="0"/>
              </a:ext>
            </a:extLst>
          </a:blip>
          <a:stretch>
            <a:fillRect/>
          </a:stretch>
        </p:blipFill>
        <p:spPr>
          <a:xfrm>
            <a:off x="7234177" y="91964"/>
            <a:ext cx="1643605" cy="523220"/>
          </a:xfrm>
          <a:prstGeom prst="rect">
            <a:avLst/>
          </a:prstGeom>
          <a:noFill/>
          <a:ln>
            <a:noFill/>
          </a:ln>
        </p:spPr>
      </p:pic>
      <p:sp>
        <p:nvSpPr>
          <p:cNvPr id="3" name="TextBox 2">
            <a:extLst>
              <a:ext uri="{FF2B5EF4-FFF2-40B4-BE49-F238E27FC236}">
                <a16:creationId xmlns:a16="http://schemas.microsoft.com/office/drawing/2014/main" id="{A2D37F3A-E4DA-E560-306B-C7C7BAF76DBF}"/>
              </a:ext>
            </a:extLst>
          </p:cNvPr>
          <p:cNvSpPr txBox="1"/>
          <p:nvPr/>
        </p:nvSpPr>
        <p:spPr>
          <a:xfrm>
            <a:off x="173992" y="615184"/>
            <a:ext cx="8703790" cy="4478149"/>
          </a:xfrm>
          <a:prstGeom prst="rect">
            <a:avLst/>
          </a:prstGeom>
          <a:noFill/>
        </p:spPr>
        <p:txBody>
          <a:bodyPr wrap="square">
            <a:spAutoFit/>
          </a:bodyPr>
          <a:lstStyle/>
          <a:p>
            <a:pPr marL="266700" indent="-266700" algn="just">
              <a:lnSpc>
                <a:spcPct val="150000"/>
              </a:lnSpc>
              <a:buFont typeface="Arial" panose="020B0604020202020204" pitchFamily="34" charset="0"/>
              <a:buChar char="•"/>
            </a:pPr>
            <a:r>
              <a:rPr lang="en-IN" sz="1900" b="1" dirty="0">
                <a:solidFill>
                  <a:srgbClr val="FF0000"/>
                </a:solidFill>
                <a:latin typeface="Trebuchet MS" panose="020B0603020202020204" pitchFamily="34" charset="0"/>
              </a:rPr>
              <a:t>Substructure:</a:t>
            </a:r>
            <a:r>
              <a:rPr lang="en-IN" sz="1900" dirty="0">
                <a:latin typeface="Trebuchet MS" panose="020B0603020202020204" pitchFamily="34" charset="0"/>
              </a:rPr>
              <a:t> Decompose the given problem into smaller sub problems. Express the solution of the original problem in terms of the solution for smaller problems.</a:t>
            </a:r>
          </a:p>
          <a:p>
            <a:pPr marL="266700" indent="-266700" algn="just">
              <a:lnSpc>
                <a:spcPct val="150000"/>
              </a:lnSpc>
              <a:buFont typeface="Arial" panose="020B0604020202020204" pitchFamily="34" charset="0"/>
              <a:buChar char="•"/>
            </a:pPr>
            <a:r>
              <a:rPr lang="en-IN" sz="1900" b="1" dirty="0">
                <a:solidFill>
                  <a:srgbClr val="FF0000"/>
                </a:solidFill>
                <a:latin typeface="Trebuchet MS" panose="020B0603020202020204" pitchFamily="34" charset="0"/>
              </a:rPr>
              <a:t>Table Structure: </a:t>
            </a:r>
            <a:r>
              <a:rPr lang="en-IN" sz="1900" dirty="0">
                <a:latin typeface="Trebuchet MS" panose="020B0603020202020204" pitchFamily="34" charset="0"/>
              </a:rPr>
              <a:t>After solving the sub-problems, store the results to the sub problems in a table. This is done because sub problem solutions are reused many times, and we do not want to repeatedly solve the same problem over and over again. </a:t>
            </a:r>
          </a:p>
          <a:p>
            <a:pPr marL="266700" indent="-266700" algn="just">
              <a:lnSpc>
                <a:spcPct val="150000"/>
              </a:lnSpc>
              <a:buFont typeface="Arial" panose="020B0604020202020204" pitchFamily="34" charset="0"/>
              <a:buChar char="•"/>
            </a:pPr>
            <a:r>
              <a:rPr lang="en-IN" sz="1900" b="1" dirty="0">
                <a:solidFill>
                  <a:srgbClr val="FF0000"/>
                </a:solidFill>
                <a:latin typeface="Trebuchet MS" panose="020B0603020202020204" pitchFamily="34" charset="0"/>
              </a:rPr>
              <a:t>Bottom-up Computation: </a:t>
            </a:r>
            <a:r>
              <a:rPr lang="en-IN" sz="1900" dirty="0">
                <a:latin typeface="Trebuchet MS" panose="020B0603020202020204" pitchFamily="34" charset="0"/>
              </a:rPr>
              <a:t>Using table, combine the solution of smaller sub problems to solve larger sub problems and eventually arrives at a solution to complete problem.</a:t>
            </a:r>
          </a:p>
        </p:txBody>
      </p:sp>
      <p:sp>
        <p:nvSpPr>
          <p:cNvPr id="5" name="TextBox 4">
            <a:extLst>
              <a:ext uri="{FF2B5EF4-FFF2-40B4-BE49-F238E27FC236}">
                <a16:creationId xmlns:a16="http://schemas.microsoft.com/office/drawing/2014/main" id="{3692A89C-4C79-8B5C-47C4-878EDE3445EA}"/>
              </a:ext>
            </a:extLst>
          </p:cNvPr>
          <p:cNvSpPr txBox="1"/>
          <p:nvPr/>
        </p:nvSpPr>
        <p:spPr>
          <a:xfrm>
            <a:off x="232287" y="91964"/>
            <a:ext cx="5937955" cy="523220"/>
          </a:xfrm>
          <a:prstGeom prst="rect">
            <a:avLst/>
          </a:prstGeom>
          <a:noFill/>
        </p:spPr>
        <p:txBody>
          <a:bodyPr wrap="square">
            <a:spAutoFit/>
          </a:bodyPr>
          <a:lstStyle/>
          <a:p>
            <a:r>
              <a:rPr lang="en-IN" sz="2700" b="1" dirty="0">
                <a:solidFill>
                  <a:schemeClr val="bg1"/>
                </a:solidFill>
                <a:latin typeface="Proxima Nova"/>
              </a:rPr>
              <a:t>Elements of Dynamic Programming </a:t>
            </a:r>
          </a:p>
        </p:txBody>
      </p:sp>
    </p:spTree>
    <p:extLst>
      <p:ext uri="{BB962C8B-B14F-4D97-AF65-F5344CB8AC3E}">
        <p14:creationId xmlns:p14="http://schemas.microsoft.com/office/powerpoint/2010/main" val="42549934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A2D37F3A-E4DA-E560-306B-C7C7BAF76DBF}"/>
              </a:ext>
            </a:extLst>
          </p:cNvPr>
          <p:cNvSpPr txBox="1"/>
          <p:nvPr/>
        </p:nvSpPr>
        <p:spPr>
          <a:xfrm>
            <a:off x="313999" y="1054772"/>
            <a:ext cx="8515952" cy="3323987"/>
          </a:xfrm>
          <a:prstGeom prst="rect">
            <a:avLst/>
          </a:prstGeom>
          <a:noFill/>
        </p:spPr>
        <p:txBody>
          <a:bodyPr wrap="square">
            <a:spAutoFit/>
          </a:bodyPr>
          <a:lstStyle/>
          <a:p>
            <a:pPr marL="342900" indent="-342900">
              <a:lnSpc>
                <a:spcPct val="150000"/>
              </a:lnSpc>
              <a:buClrTx/>
              <a:buFont typeface="Arial" panose="020B0604020202020204" pitchFamily="34" charset="0"/>
              <a:buChar char="•"/>
            </a:pPr>
            <a:r>
              <a:rPr lang="en-IN" sz="2000" dirty="0">
                <a:latin typeface="Trebuchet MS" panose="020B0603020202020204" pitchFamily="34" charset="0"/>
              </a:rPr>
              <a:t>A problem is said to satisfy the </a:t>
            </a:r>
            <a:r>
              <a:rPr lang="en-IN" sz="2000" dirty="0">
                <a:solidFill>
                  <a:srgbClr val="FF0000"/>
                </a:solidFill>
                <a:latin typeface="Trebuchet MS" panose="020B0603020202020204" pitchFamily="34" charset="0"/>
              </a:rPr>
              <a:t>Principle of Optimality </a:t>
            </a:r>
            <a:r>
              <a:rPr lang="en-IN" sz="2000" dirty="0">
                <a:latin typeface="Trebuchet MS" panose="020B0603020202020204" pitchFamily="34" charset="0"/>
              </a:rPr>
              <a:t>if the sub-solutions of an optimal solution of the problem are themselves optimal solutions for their subproblems.</a:t>
            </a:r>
          </a:p>
          <a:p>
            <a:pPr marL="342900" indent="-342900">
              <a:lnSpc>
                <a:spcPct val="150000"/>
              </a:lnSpc>
              <a:buClrTx/>
              <a:buFont typeface="Arial" panose="020B0604020202020204" pitchFamily="34" charset="0"/>
              <a:buChar char="•"/>
            </a:pPr>
            <a:r>
              <a:rPr lang="en-IN" sz="2000" dirty="0">
                <a:latin typeface="Trebuchet MS" panose="020B0603020202020204" pitchFamily="34" charset="0"/>
              </a:rPr>
              <a:t>Dynamic programming is a technique for </a:t>
            </a:r>
            <a:r>
              <a:rPr lang="en-IN" sz="2000" dirty="0">
                <a:solidFill>
                  <a:srgbClr val="FF0000"/>
                </a:solidFill>
                <a:latin typeface="Trebuchet MS" panose="020B0603020202020204" pitchFamily="34" charset="0"/>
              </a:rPr>
              <a:t>finding an optimal solution</a:t>
            </a:r>
            <a:r>
              <a:rPr lang="en-IN" sz="2000" dirty="0">
                <a:latin typeface="Trebuchet MS" panose="020B0603020202020204" pitchFamily="34" charset="0"/>
              </a:rPr>
              <a:t>.</a:t>
            </a:r>
          </a:p>
          <a:p>
            <a:pPr marL="342900" indent="-342900">
              <a:lnSpc>
                <a:spcPct val="150000"/>
              </a:lnSpc>
              <a:buClrTx/>
              <a:buFont typeface="Arial" panose="020B0604020202020204" pitchFamily="34" charset="0"/>
              <a:buChar char="•"/>
            </a:pPr>
            <a:r>
              <a:rPr lang="en-IN" sz="2000" dirty="0">
                <a:latin typeface="Trebuchet MS" panose="020B0603020202020204" pitchFamily="34" charset="0"/>
              </a:rPr>
              <a:t>The principle of optimality applies if </a:t>
            </a:r>
            <a:r>
              <a:rPr lang="en-IN" sz="2000" dirty="0" smtClean="0">
                <a:latin typeface="Trebuchet MS" panose="020B0603020202020204" pitchFamily="34" charset="0"/>
              </a:rPr>
              <a:t>the </a:t>
            </a:r>
            <a:r>
              <a:rPr lang="en-IN" sz="2000" dirty="0">
                <a:latin typeface="Trebuchet MS" panose="020B0603020202020204" pitchFamily="34" charset="0"/>
              </a:rPr>
              <a:t>optimal solution to a problem </a:t>
            </a:r>
            <a:r>
              <a:rPr lang="en-IN" sz="2000" dirty="0" smtClean="0">
                <a:latin typeface="Trebuchet MS" panose="020B0603020202020204" pitchFamily="34" charset="0"/>
              </a:rPr>
              <a:t>always </a:t>
            </a:r>
            <a:r>
              <a:rPr lang="en-IN" sz="2000" dirty="0">
                <a:latin typeface="Trebuchet MS" panose="020B0603020202020204" pitchFamily="34" charset="0"/>
              </a:rPr>
              <a:t>contains </a:t>
            </a:r>
            <a:r>
              <a:rPr lang="en-IN" sz="2000" dirty="0">
                <a:solidFill>
                  <a:srgbClr val="FF0000"/>
                </a:solidFill>
                <a:latin typeface="Trebuchet MS" panose="020B0603020202020204" pitchFamily="34" charset="0"/>
              </a:rPr>
              <a:t>optimal solutions to </a:t>
            </a:r>
            <a:r>
              <a:rPr lang="en-IN" sz="2000" dirty="0" smtClean="0">
                <a:solidFill>
                  <a:srgbClr val="FF0000"/>
                </a:solidFill>
                <a:latin typeface="Trebuchet MS" panose="020B0603020202020204" pitchFamily="34" charset="0"/>
              </a:rPr>
              <a:t>all </a:t>
            </a:r>
            <a:r>
              <a:rPr lang="en-IN" sz="2000" dirty="0">
                <a:solidFill>
                  <a:srgbClr val="FF0000"/>
                </a:solidFill>
                <a:latin typeface="Trebuchet MS" panose="020B0603020202020204" pitchFamily="34" charset="0"/>
              </a:rPr>
              <a:t>subproblems</a:t>
            </a:r>
            <a:r>
              <a:rPr lang="en-IN" sz="2000" dirty="0">
                <a:latin typeface="Trebuchet MS" panose="020B0603020202020204" pitchFamily="34" charset="0"/>
              </a:rPr>
              <a:t>.</a:t>
            </a:r>
          </a:p>
          <a:p>
            <a:pPr marL="342900" indent="-342900">
              <a:lnSpc>
                <a:spcPct val="150000"/>
              </a:lnSpc>
              <a:buClrTx/>
              <a:buFont typeface="Arial" panose="020B0604020202020204" pitchFamily="34" charset="0"/>
              <a:buChar char="•"/>
            </a:pPr>
            <a:endParaRPr lang="en-IN" sz="2000" dirty="0">
              <a:latin typeface="Trebuchet MS" panose="020B0603020202020204" pitchFamily="34" charset="0"/>
            </a:endParaRPr>
          </a:p>
        </p:txBody>
      </p:sp>
      <p:sp>
        <p:nvSpPr>
          <p:cNvPr id="5" name="TextBox 4">
            <a:extLst>
              <a:ext uri="{FF2B5EF4-FFF2-40B4-BE49-F238E27FC236}">
                <a16:creationId xmlns:a16="http://schemas.microsoft.com/office/drawing/2014/main" id="{3692A89C-4C79-8B5C-47C4-878EDE3445EA}"/>
              </a:ext>
            </a:extLst>
          </p:cNvPr>
          <p:cNvSpPr txBox="1"/>
          <p:nvPr/>
        </p:nvSpPr>
        <p:spPr>
          <a:xfrm>
            <a:off x="232287" y="91964"/>
            <a:ext cx="5937955" cy="523220"/>
          </a:xfrm>
          <a:prstGeom prst="rect">
            <a:avLst/>
          </a:prstGeom>
          <a:noFill/>
        </p:spPr>
        <p:txBody>
          <a:bodyPr wrap="square">
            <a:spAutoFit/>
          </a:bodyPr>
          <a:lstStyle/>
          <a:p>
            <a:r>
              <a:rPr lang="en-IN" sz="2700" b="1" dirty="0">
                <a:solidFill>
                  <a:schemeClr val="bg1"/>
                </a:solidFill>
                <a:latin typeface="Proxima Nova"/>
              </a:rPr>
              <a:t>Principle of optimality</a:t>
            </a:r>
          </a:p>
        </p:txBody>
      </p:sp>
    </p:spTree>
    <p:extLst>
      <p:ext uri="{BB962C8B-B14F-4D97-AF65-F5344CB8AC3E}">
        <p14:creationId xmlns:p14="http://schemas.microsoft.com/office/powerpoint/2010/main" val="5649341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A2D37F3A-E4DA-E560-306B-C7C7BAF76DBF}"/>
              </a:ext>
            </a:extLst>
          </p:cNvPr>
          <p:cNvSpPr txBox="1"/>
          <p:nvPr/>
        </p:nvSpPr>
        <p:spPr>
          <a:xfrm>
            <a:off x="342923" y="1075793"/>
            <a:ext cx="8515952" cy="1061829"/>
          </a:xfrm>
          <a:prstGeom prst="rect">
            <a:avLst/>
          </a:prstGeom>
          <a:noFill/>
        </p:spPr>
        <p:txBody>
          <a:bodyPr wrap="square">
            <a:spAutoFit/>
          </a:bodyPr>
          <a:lstStyle/>
          <a:p>
            <a:pPr>
              <a:spcBef>
                <a:spcPts val="1200"/>
              </a:spcBef>
              <a:spcAft>
                <a:spcPts val="600"/>
              </a:spcAft>
              <a:buClrTx/>
            </a:pPr>
            <a:endParaRPr lang="en-IN" sz="2400" dirty="0">
              <a:latin typeface="Corbel" panose="020B0503020204020204" pitchFamily="34" charset="0"/>
            </a:endParaRPr>
          </a:p>
          <a:p>
            <a:pPr marL="342900" indent="-342900">
              <a:spcBef>
                <a:spcPts val="1200"/>
              </a:spcBef>
              <a:spcAft>
                <a:spcPts val="600"/>
              </a:spcAft>
              <a:buClrTx/>
              <a:buFont typeface="Arial" panose="020B0604020202020204" pitchFamily="34" charset="0"/>
              <a:buChar char="•"/>
            </a:pPr>
            <a:endParaRPr lang="en-IN" sz="2400" dirty="0">
              <a:latin typeface="Corbel" panose="020B0503020204020204" pitchFamily="34" charset="0"/>
            </a:endParaRPr>
          </a:p>
        </p:txBody>
      </p:sp>
      <p:sp>
        <p:nvSpPr>
          <p:cNvPr id="5" name="TextBox 4">
            <a:extLst>
              <a:ext uri="{FF2B5EF4-FFF2-40B4-BE49-F238E27FC236}">
                <a16:creationId xmlns:a16="http://schemas.microsoft.com/office/drawing/2014/main" id="{3692A89C-4C79-8B5C-47C4-878EDE3445EA}"/>
              </a:ext>
            </a:extLst>
          </p:cNvPr>
          <p:cNvSpPr txBox="1"/>
          <p:nvPr/>
        </p:nvSpPr>
        <p:spPr>
          <a:xfrm>
            <a:off x="185195" y="153573"/>
            <a:ext cx="7178243" cy="507831"/>
          </a:xfrm>
          <a:prstGeom prst="rect">
            <a:avLst/>
          </a:prstGeom>
          <a:noFill/>
        </p:spPr>
        <p:txBody>
          <a:bodyPr wrap="square">
            <a:spAutoFit/>
          </a:bodyPr>
          <a:lstStyle/>
          <a:p>
            <a:r>
              <a:rPr lang="en-IN" sz="2700" b="1" dirty="0">
                <a:solidFill>
                  <a:schemeClr val="bg1"/>
                </a:solidFill>
                <a:latin typeface="Proxima Nova"/>
              </a:rPr>
              <a:t>Divide </a:t>
            </a:r>
            <a:r>
              <a:rPr lang="en-IN" sz="2700" b="1" dirty="0" smtClean="0">
                <a:solidFill>
                  <a:schemeClr val="bg1"/>
                </a:solidFill>
                <a:latin typeface="Proxima Nova"/>
              </a:rPr>
              <a:t>&amp; </a:t>
            </a:r>
            <a:r>
              <a:rPr lang="en-IN" sz="2700" b="1" dirty="0">
                <a:solidFill>
                  <a:schemeClr val="bg1"/>
                </a:solidFill>
                <a:latin typeface="Proxima Nova"/>
              </a:rPr>
              <a:t>C</a:t>
            </a:r>
            <a:r>
              <a:rPr lang="en-IN" sz="2700" b="1" dirty="0" smtClean="0">
                <a:solidFill>
                  <a:schemeClr val="bg1"/>
                </a:solidFill>
                <a:latin typeface="Proxima Nova"/>
              </a:rPr>
              <a:t>onquer </a:t>
            </a:r>
            <a:r>
              <a:rPr lang="en-IN" sz="2700" b="1" dirty="0">
                <a:solidFill>
                  <a:schemeClr val="bg1"/>
                </a:solidFill>
                <a:latin typeface="Proxima Nova"/>
              </a:rPr>
              <a:t>Vs</a:t>
            </a:r>
            <a:r>
              <a:rPr lang="en-IN" sz="2700" b="1" dirty="0" smtClean="0">
                <a:solidFill>
                  <a:schemeClr val="bg1"/>
                </a:solidFill>
                <a:latin typeface="Proxima Nova"/>
              </a:rPr>
              <a:t>. Dynamic </a:t>
            </a:r>
            <a:r>
              <a:rPr lang="en-IN" sz="2700" b="1" dirty="0">
                <a:solidFill>
                  <a:schemeClr val="bg1"/>
                </a:solidFill>
                <a:latin typeface="Proxima Nova"/>
              </a:rPr>
              <a:t>Programming</a:t>
            </a:r>
          </a:p>
        </p:txBody>
      </p:sp>
      <p:graphicFrame>
        <p:nvGraphicFramePr>
          <p:cNvPr id="6" name="object 18">
            <a:extLst>
              <a:ext uri="{FF2B5EF4-FFF2-40B4-BE49-F238E27FC236}">
                <a16:creationId xmlns:a16="http://schemas.microsoft.com/office/drawing/2014/main" id="{D6057DA0-3777-D195-8B54-24280227E398}"/>
              </a:ext>
            </a:extLst>
          </p:cNvPr>
          <p:cNvGraphicFramePr>
            <a:graphicFrameLocks noGrp="1"/>
          </p:cNvGraphicFramePr>
          <p:nvPr>
            <p:extLst>
              <p:ext uri="{D42A27DB-BD31-4B8C-83A1-F6EECF244321}">
                <p14:modId xmlns:p14="http://schemas.microsoft.com/office/powerpoint/2010/main" val="3991247955"/>
              </p:ext>
            </p:extLst>
          </p:nvPr>
        </p:nvGraphicFramePr>
        <p:xfrm>
          <a:off x="342911" y="811874"/>
          <a:ext cx="8206382" cy="4000890"/>
        </p:xfrm>
        <a:graphic>
          <a:graphicData uri="http://schemas.openxmlformats.org/drawingml/2006/table">
            <a:tbl>
              <a:tblPr firstRow="1" bandRow="1">
                <a:tableStyleId>{C083E6E3-FA7D-4D7B-A595-EF9225AFEA82}</a:tableStyleId>
              </a:tblPr>
              <a:tblGrid>
                <a:gridCol w="3951221">
                  <a:extLst>
                    <a:ext uri="{9D8B030D-6E8A-4147-A177-3AD203B41FA5}">
                      <a16:colId xmlns:a16="http://schemas.microsoft.com/office/drawing/2014/main" val="20000"/>
                    </a:ext>
                  </a:extLst>
                </a:gridCol>
                <a:gridCol w="4255161">
                  <a:extLst>
                    <a:ext uri="{9D8B030D-6E8A-4147-A177-3AD203B41FA5}">
                      <a16:colId xmlns:a16="http://schemas.microsoft.com/office/drawing/2014/main" val="20001"/>
                    </a:ext>
                  </a:extLst>
                </a:gridCol>
              </a:tblGrid>
              <a:tr h="53789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635" algn="l">
                        <a:lnSpc>
                          <a:spcPct val="100000"/>
                        </a:lnSpc>
                        <a:spcBef>
                          <a:spcPts val="0"/>
                        </a:spcBef>
                      </a:pPr>
                      <a:r>
                        <a:rPr sz="2400" b="1" dirty="0"/>
                        <a:t>Divide</a:t>
                      </a:r>
                      <a:r>
                        <a:rPr sz="2400" b="1" spc="-55" dirty="0"/>
                        <a:t> </a:t>
                      </a:r>
                      <a:r>
                        <a:rPr sz="2400" b="1" dirty="0"/>
                        <a:t>and</a:t>
                      </a:r>
                      <a:r>
                        <a:rPr sz="2400" b="1" spc="-30" dirty="0"/>
                        <a:t> </a:t>
                      </a:r>
                      <a:r>
                        <a:rPr sz="2400" b="1" spc="-5" dirty="0"/>
                        <a:t>Conquer</a:t>
                      </a:r>
                      <a:endParaRPr sz="2400" b="1" dirty="0">
                        <a:solidFill>
                          <a:schemeClr val="bg1"/>
                        </a:solidFill>
                        <a:latin typeface="Trebuchet MS" panose="020B0603020202020204" pitchFamily="34" charset="0"/>
                        <a:cs typeface="Times New Roman"/>
                      </a:endParaRPr>
                    </a:p>
                  </a:txBody>
                  <a:tcPr marL="0" marR="0" marT="3746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2540" algn="l">
                        <a:lnSpc>
                          <a:spcPct val="100000"/>
                        </a:lnSpc>
                        <a:spcBef>
                          <a:spcPts val="0"/>
                        </a:spcBef>
                      </a:pPr>
                      <a:r>
                        <a:rPr sz="2400" b="1" spc="-10" dirty="0"/>
                        <a:t>Dynamic</a:t>
                      </a:r>
                      <a:r>
                        <a:rPr sz="2400" b="1" spc="-20" dirty="0"/>
                        <a:t> </a:t>
                      </a:r>
                      <a:r>
                        <a:rPr sz="2400" b="1" spc="-15" dirty="0"/>
                        <a:t>Programming</a:t>
                      </a:r>
                      <a:endParaRPr sz="2400" b="1" dirty="0">
                        <a:solidFill>
                          <a:schemeClr val="bg1"/>
                        </a:solidFill>
                        <a:latin typeface="Trebuchet MS" panose="020B0603020202020204" pitchFamily="34" charset="0"/>
                        <a:cs typeface="Times New Roman"/>
                      </a:endParaRPr>
                    </a:p>
                  </a:txBody>
                  <a:tcPr marL="0" marR="0" marT="3746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10532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91440" marR="590550">
                        <a:lnSpc>
                          <a:spcPct val="100000"/>
                        </a:lnSpc>
                        <a:spcBef>
                          <a:spcPts val="0"/>
                        </a:spcBef>
                      </a:pPr>
                      <a:r>
                        <a:rPr sz="1800" spc="5" dirty="0">
                          <a:latin typeface="Trebuchet MS" panose="020B0603020202020204" pitchFamily="34" charset="0"/>
                        </a:rPr>
                        <a:t>1) </a:t>
                      </a:r>
                      <a:r>
                        <a:rPr sz="1800" spc="-10" dirty="0">
                          <a:latin typeface="Trebuchet MS" panose="020B0603020202020204" pitchFamily="34" charset="0"/>
                        </a:rPr>
                        <a:t>Divide-and-conquer </a:t>
                      </a:r>
                      <a:r>
                        <a:rPr sz="1800" spc="-5" dirty="0">
                          <a:latin typeface="Trebuchet MS" panose="020B0603020202020204" pitchFamily="34" charset="0"/>
                        </a:rPr>
                        <a:t>is </a:t>
                      </a:r>
                      <a:r>
                        <a:rPr sz="1800" dirty="0">
                          <a:latin typeface="Trebuchet MS" panose="020B0603020202020204" pitchFamily="34" charset="0"/>
                        </a:rPr>
                        <a:t>a </a:t>
                      </a:r>
                      <a:r>
                        <a:rPr sz="1800" spc="-10" dirty="0">
                          <a:latin typeface="Trebuchet MS" panose="020B0603020202020204" pitchFamily="34" charset="0"/>
                        </a:rPr>
                        <a:t>top- </a:t>
                      </a:r>
                      <a:r>
                        <a:rPr sz="1800" spc="-434" dirty="0">
                          <a:latin typeface="Trebuchet MS" panose="020B0603020202020204" pitchFamily="34" charset="0"/>
                        </a:rPr>
                        <a:t> </a:t>
                      </a:r>
                      <a:r>
                        <a:rPr sz="1800" dirty="0">
                          <a:latin typeface="Trebuchet MS" panose="020B0603020202020204" pitchFamily="34" charset="0"/>
                        </a:rPr>
                        <a:t>down</a:t>
                      </a:r>
                      <a:r>
                        <a:rPr sz="1800" spc="-40" dirty="0">
                          <a:latin typeface="Trebuchet MS" panose="020B0603020202020204" pitchFamily="34" charset="0"/>
                        </a:rPr>
                        <a:t> </a:t>
                      </a:r>
                      <a:r>
                        <a:rPr sz="1800" spc="-20" dirty="0">
                          <a:latin typeface="Trebuchet MS" panose="020B0603020202020204" pitchFamily="34" charset="0"/>
                        </a:rPr>
                        <a:t>method</a:t>
                      </a:r>
                      <a:endParaRPr sz="1800" b="0" dirty="0">
                        <a:solidFill>
                          <a:schemeClr val="tx1"/>
                        </a:solidFill>
                        <a:latin typeface="Trebuchet MS" panose="020B0603020202020204" pitchFamily="34" charset="0"/>
                        <a:cs typeface="Times New Roman"/>
                      </a:endParaRPr>
                    </a:p>
                  </a:txBody>
                  <a:tcPr marL="0" marR="0" marT="3746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92710" marR="152400">
                        <a:lnSpc>
                          <a:spcPct val="100000"/>
                        </a:lnSpc>
                        <a:spcBef>
                          <a:spcPts val="0"/>
                        </a:spcBef>
                      </a:pPr>
                      <a:r>
                        <a:rPr sz="1800" spc="5" dirty="0">
                          <a:latin typeface="Trebuchet MS" panose="020B0603020202020204" pitchFamily="34" charset="0"/>
                        </a:rPr>
                        <a:t>1)</a:t>
                      </a:r>
                      <a:r>
                        <a:rPr sz="1800" spc="-55" dirty="0">
                          <a:latin typeface="Trebuchet MS" panose="020B0603020202020204" pitchFamily="34" charset="0"/>
                        </a:rPr>
                        <a:t> </a:t>
                      </a:r>
                      <a:r>
                        <a:rPr sz="1800" spc="-15" dirty="0">
                          <a:latin typeface="Trebuchet MS" panose="020B0603020202020204" pitchFamily="34" charset="0"/>
                        </a:rPr>
                        <a:t>Dynamic</a:t>
                      </a:r>
                      <a:r>
                        <a:rPr sz="1800" spc="85" dirty="0">
                          <a:latin typeface="Trebuchet MS" panose="020B0603020202020204" pitchFamily="34" charset="0"/>
                        </a:rPr>
                        <a:t> </a:t>
                      </a:r>
                      <a:r>
                        <a:rPr sz="1800" spc="-15" dirty="0">
                          <a:latin typeface="Trebuchet MS" panose="020B0603020202020204" pitchFamily="34" charset="0"/>
                        </a:rPr>
                        <a:t>Programming</a:t>
                      </a:r>
                      <a:r>
                        <a:rPr sz="1800" spc="75" dirty="0">
                          <a:latin typeface="Trebuchet MS" panose="020B0603020202020204" pitchFamily="34" charset="0"/>
                        </a:rPr>
                        <a:t> </a:t>
                      </a:r>
                      <a:r>
                        <a:rPr sz="1800" spc="-5" dirty="0">
                          <a:latin typeface="Trebuchet MS" panose="020B0603020202020204" pitchFamily="34" charset="0"/>
                        </a:rPr>
                        <a:t>is</a:t>
                      </a:r>
                      <a:r>
                        <a:rPr sz="1800" spc="-10" dirty="0">
                          <a:latin typeface="Trebuchet MS" panose="020B0603020202020204" pitchFamily="34" charset="0"/>
                        </a:rPr>
                        <a:t> </a:t>
                      </a:r>
                      <a:r>
                        <a:rPr sz="1800" dirty="0">
                          <a:latin typeface="Trebuchet MS" panose="020B0603020202020204" pitchFamily="34" charset="0"/>
                        </a:rPr>
                        <a:t>a</a:t>
                      </a:r>
                      <a:r>
                        <a:rPr sz="1800" spc="-20" dirty="0">
                          <a:latin typeface="Trebuchet MS" panose="020B0603020202020204" pitchFamily="34" charset="0"/>
                        </a:rPr>
                        <a:t> </a:t>
                      </a:r>
                      <a:r>
                        <a:rPr sz="1800" spc="-15" dirty="0">
                          <a:latin typeface="Trebuchet MS" panose="020B0603020202020204" pitchFamily="34" charset="0"/>
                        </a:rPr>
                        <a:t>bottom- </a:t>
                      </a:r>
                      <a:r>
                        <a:rPr sz="1800" spc="-434" dirty="0">
                          <a:latin typeface="Trebuchet MS" panose="020B0603020202020204" pitchFamily="34" charset="0"/>
                        </a:rPr>
                        <a:t> </a:t>
                      </a:r>
                      <a:r>
                        <a:rPr sz="1800" spc="-15" dirty="0">
                          <a:latin typeface="Trebuchet MS" panose="020B0603020202020204" pitchFamily="34" charset="0"/>
                        </a:rPr>
                        <a:t>up </a:t>
                      </a:r>
                      <a:r>
                        <a:rPr sz="1800" spc="-20" dirty="0">
                          <a:latin typeface="Trebuchet MS" panose="020B0603020202020204" pitchFamily="34" charset="0"/>
                        </a:rPr>
                        <a:t>technique.(We</a:t>
                      </a:r>
                      <a:r>
                        <a:rPr sz="1800" spc="65" dirty="0">
                          <a:latin typeface="Trebuchet MS" panose="020B0603020202020204" pitchFamily="34" charset="0"/>
                        </a:rPr>
                        <a:t> </a:t>
                      </a:r>
                      <a:r>
                        <a:rPr sz="1800" spc="-10" dirty="0">
                          <a:latin typeface="Trebuchet MS" panose="020B0603020202020204" pitchFamily="34" charset="0"/>
                        </a:rPr>
                        <a:t>usually</a:t>
                      </a:r>
                      <a:r>
                        <a:rPr sz="1800" spc="40" dirty="0">
                          <a:latin typeface="Trebuchet MS" panose="020B0603020202020204" pitchFamily="34" charset="0"/>
                        </a:rPr>
                        <a:t> </a:t>
                      </a:r>
                      <a:r>
                        <a:rPr sz="1800" spc="-10" dirty="0">
                          <a:latin typeface="Trebuchet MS" panose="020B0603020202020204" pitchFamily="34" charset="0"/>
                        </a:rPr>
                        <a:t>start</a:t>
                      </a:r>
                      <a:r>
                        <a:rPr sz="1800" spc="25" dirty="0">
                          <a:latin typeface="Trebuchet MS" panose="020B0603020202020204" pitchFamily="34" charset="0"/>
                        </a:rPr>
                        <a:t> </a:t>
                      </a:r>
                      <a:r>
                        <a:rPr sz="1800" spc="5" dirty="0">
                          <a:latin typeface="Trebuchet MS" panose="020B0603020202020204" pitchFamily="34" charset="0"/>
                        </a:rPr>
                        <a:t>with </a:t>
                      </a:r>
                      <a:r>
                        <a:rPr sz="1800" spc="10" dirty="0">
                          <a:latin typeface="Trebuchet MS" panose="020B0603020202020204" pitchFamily="34" charset="0"/>
                        </a:rPr>
                        <a:t> </a:t>
                      </a:r>
                      <a:r>
                        <a:rPr sz="1800" spc="-10" dirty="0">
                          <a:latin typeface="Trebuchet MS" panose="020B0603020202020204" pitchFamily="34" charset="0"/>
                        </a:rPr>
                        <a:t>the smallest,</a:t>
                      </a:r>
                      <a:r>
                        <a:rPr sz="1800" spc="75" dirty="0">
                          <a:latin typeface="Trebuchet MS" panose="020B0603020202020204" pitchFamily="34" charset="0"/>
                        </a:rPr>
                        <a:t> </a:t>
                      </a:r>
                      <a:r>
                        <a:rPr sz="1800" spc="-15" dirty="0">
                          <a:latin typeface="Trebuchet MS" panose="020B0603020202020204" pitchFamily="34" charset="0"/>
                        </a:rPr>
                        <a:t>and</a:t>
                      </a:r>
                      <a:r>
                        <a:rPr sz="1800" spc="10" dirty="0">
                          <a:latin typeface="Trebuchet MS" panose="020B0603020202020204" pitchFamily="34" charset="0"/>
                        </a:rPr>
                        <a:t> </a:t>
                      </a:r>
                      <a:r>
                        <a:rPr sz="1800" spc="-15" dirty="0">
                          <a:latin typeface="Trebuchet MS" panose="020B0603020202020204" pitchFamily="34" charset="0"/>
                        </a:rPr>
                        <a:t>hence</a:t>
                      </a:r>
                      <a:r>
                        <a:rPr sz="1800" spc="45" dirty="0">
                          <a:latin typeface="Trebuchet MS" panose="020B0603020202020204" pitchFamily="34" charset="0"/>
                        </a:rPr>
                        <a:t> </a:t>
                      </a:r>
                      <a:r>
                        <a:rPr sz="1800" spc="-10" dirty="0">
                          <a:latin typeface="Trebuchet MS" panose="020B0603020202020204" pitchFamily="34" charset="0"/>
                        </a:rPr>
                        <a:t>the</a:t>
                      </a:r>
                      <a:r>
                        <a:rPr sz="1800" spc="20" dirty="0">
                          <a:latin typeface="Trebuchet MS" panose="020B0603020202020204" pitchFamily="34" charset="0"/>
                        </a:rPr>
                        <a:t> </a:t>
                      </a:r>
                      <a:r>
                        <a:rPr sz="1800" spc="-15" dirty="0">
                          <a:latin typeface="Trebuchet MS" panose="020B0603020202020204" pitchFamily="34" charset="0"/>
                        </a:rPr>
                        <a:t>simplest, </a:t>
                      </a:r>
                      <a:r>
                        <a:rPr sz="1800" spc="-10" dirty="0">
                          <a:latin typeface="Trebuchet MS" panose="020B0603020202020204" pitchFamily="34" charset="0"/>
                        </a:rPr>
                        <a:t> sub</a:t>
                      </a:r>
                      <a:r>
                        <a:rPr sz="1800" spc="-25" dirty="0">
                          <a:latin typeface="Trebuchet MS" panose="020B0603020202020204" pitchFamily="34" charset="0"/>
                        </a:rPr>
                        <a:t> </a:t>
                      </a:r>
                      <a:r>
                        <a:rPr sz="1800" spc="-10" dirty="0">
                          <a:latin typeface="Trebuchet MS" panose="020B0603020202020204" pitchFamily="34" charset="0"/>
                        </a:rPr>
                        <a:t>instances.</a:t>
                      </a:r>
                      <a:r>
                        <a:rPr sz="1800" spc="50" dirty="0">
                          <a:latin typeface="Trebuchet MS" panose="020B0603020202020204" pitchFamily="34" charset="0"/>
                        </a:rPr>
                        <a:t> </a:t>
                      </a:r>
                      <a:r>
                        <a:rPr sz="1800" dirty="0">
                          <a:latin typeface="Trebuchet MS" panose="020B0603020202020204" pitchFamily="34" charset="0"/>
                        </a:rPr>
                        <a:t>)</a:t>
                      </a:r>
                      <a:endParaRPr sz="1800" b="0" dirty="0">
                        <a:solidFill>
                          <a:schemeClr val="tx1"/>
                        </a:solidFill>
                        <a:latin typeface="Trebuchet MS" panose="020B0603020202020204" pitchFamily="34" charset="0"/>
                        <a:cs typeface="Times New Roman"/>
                      </a:endParaRPr>
                    </a:p>
                  </a:txBody>
                  <a:tcPr marL="0" marR="0" marT="3746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2860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91440" marR="328295" algn="just">
                        <a:lnSpc>
                          <a:spcPct val="100000"/>
                        </a:lnSpc>
                        <a:spcBef>
                          <a:spcPts val="0"/>
                        </a:spcBef>
                      </a:pPr>
                      <a:r>
                        <a:rPr sz="1800" spc="5" dirty="0">
                          <a:latin typeface="Trebuchet MS" panose="020B0603020202020204" pitchFamily="34" charset="0"/>
                        </a:rPr>
                        <a:t>2) </a:t>
                      </a:r>
                      <a:r>
                        <a:rPr lang="en-US" sz="1800" spc="-5" dirty="0">
                          <a:latin typeface="Trebuchet MS" panose="020B0603020202020204" pitchFamily="34" charset="0"/>
                        </a:rPr>
                        <a:t>I</a:t>
                      </a:r>
                      <a:r>
                        <a:rPr sz="1800" spc="-5" dirty="0">
                          <a:latin typeface="Trebuchet MS" panose="020B0603020202020204" pitchFamily="34" charset="0"/>
                        </a:rPr>
                        <a:t>n </a:t>
                      </a:r>
                      <a:r>
                        <a:rPr sz="1800" spc="-10" dirty="0">
                          <a:latin typeface="Trebuchet MS" panose="020B0603020202020204" pitchFamily="34" charset="0"/>
                        </a:rPr>
                        <a:t>Divide </a:t>
                      </a:r>
                      <a:r>
                        <a:rPr sz="1800" spc="-15" dirty="0">
                          <a:latin typeface="Trebuchet MS" panose="020B0603020202020204" pitchFamily="34" charset="0"/>
                        </a:rPr>
                        <a:t>and Conquer </a:t>
                      </a:r>
                      <a:r>
                        <a:rPr sz="1800" spc="-10" dirty="0">
                          <a:latin typeface="Trebuchet MS" panose="020B0603020202020204" pitchFamily="34" charset="0"/>
                        </a:rPr>
                        <a:t>the sub </a:t>
                      </a:r>
                      <a:r>
                        <a:rPr sz="1800" spc="-5" dirty="0">
                          <a:latin typeface="Trebuchet MS" panose="020B0603020202020204" pitchFamily="34" charset="0"/>
                        </a:rPr>
                        <a:t> </a:t>
                      </a:r>
                      <a:r>
                        <a:rPr sz="1800" spc="-20" dirty="0">
                          <a:latin typeface="Trebuchet MS" panose="020B0603020202020204" pitchFamily="34" charset="0"/>
                        </a:rPr>
                        <a:t>problems are </a:t>
                      </a:r>
                      <a:r>
                        <a:rPr sz="1800" spc="-15" dirty="0">
                          <a:latin typeface="Trebuchet MS" panose="020B0603020202020204" pitchFamily="34" charset="0"/>
                        </a:rPr>
                        <a:t>independent </a:t>
                      </a:r>
                      <a:r>
                        <a:rPr sz="1800" spc="-10" dirty="0">
                          <a:latin typeface="Trebuchet MS" panose="020B0603020202020204" pitchFamily="34" charset="0"/>
                        </a:rPr>
                        <a:t>of each </a:t>
                      </a:r>
                      <a:r>
                        <a:rPr sz="1800" spc="-434" dirty="0">
                          <a:latin typeface="Trebuchet MS" panose="020B0603020202020204" pitchFamily="34" charset="0"/>
                        </a:rPr>
                        <a:t> </a:t>
                      </a:r>
                      <a:r>
                        <a:rPr sz="1800" spc="-40" dirty="0">
                          <a:latin typeface="Trebuchet MS" panose="020B0603020202020204" pitchFamily="34" charset="0"/>
                        </a:rPr>
                        <a:t>other.</a:t>
                      </a:r>
                      <a:endParaRPr sz="1800" b="0" dirty="0">
                        <a:solidFill>
                          <a:schemeClr val="tx1"/>
                        </a:solidFill>
                        <a:latin typeface="Trebuchet MS" panose="020B0603020202020204" pitchFamily="34" charset="0"/>
                        <a:cs typeface="Times New Roman"/>
                      </a:endParaRPr>
                    </a:p>
                  </a:txBody>
                  <a:tcPr marL="0" marR="0" marT="381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92710">
                        <a:lnSpc>
                          <a:spcPct val="100000"/>
                        </a:lnSpc>
                        <a:spcBef>
                          <a:spcPts val="0"/>
                        </a:spcBef>
                      </a:pPr>
                      <a:r>
                        <a:rPr sz="1800" spc="5" dirty="0">
                          <a:latin typeface="Trebuchet MS" panose="020B0603020202020204" pitchFamily="34" charset="0"/>
                        </a:rPr>
                        <a:t>2)</a:t>
                      </a:r>
                      <a:r>
                        <a:rPr sz="1800" spc="-55" dirty="0">
                          <a:latin typeface="Trebuchet MS" panose="020B0603020202020204" pitchFamily="34" charset="0"/>
                        </a:rPr>
                        <a:t> </a:t>
                      </a:r>
                      <a:r>
                        <a:rPr lang="en-US" sz="1800" spc="-5" dirty="0">
                          <a:latin typeface="Trebuchet MS" panose="020B0603020202020204" pitchFamily="34" charset="0"/>
                        </a:rPr>
                        <a:t>I</a:t>
                      </a:r>
                      <a:r>
                        <a:rPr sz="1800" spc="-5" dirty="0">
                          <a:latin typeface="Trebuchet MS" panose="020B0603020202020204" pitchFamily="34" charset="0"/>
                        </a:rPr>
                        <a:t>n</a:t>
                      </a:r>
                      <a:r>
                        <a:rPr sz="1800" spc="5" dirty="0">
                          <a:latin typeface="Trebuchet MS" panose="020B0603020202020204" pitchFamily="34" charset="0"/>
                        </a:rPr>
                        <a:t> </a:t>
                      </a:r>
                      <a:r>
                        <a:rPr sz="1800" spc="-15" dirty="0">
                          <a:latin typeface="Trebuchet MS" panose="020B0603020202020204" pitchFamily="34" charset="0"/>
                        </a:rPr>
                        <a:t>Dynamic</a:t>
                      </a:r>
                      <a:r>
                        <a:rPr sz="1800" spc="65" dirty="0">
                          <a:latin typeface="Trebuchet MS" panose="020B0603020202020204" pitchFamily="34" charset="0"/>
                        </a:rPr>
                        <a:t> </a:t>
                      </a:r>
                      <a:r>
                        <a:rPr sz="1800" spc="-15" dirty="0">
                          <a:latin typeface="Trebuchet MS" panose="020B0603020202020204" pitchFamily="34" charset="0"/>
                        </a:rPr>
                        <a:t>Programming</a:t>
                      </a:r>
                      <a:r>
                        <a:rPr sz="1800" spc="75" dirty="0">
                          <a:latin typeface="Trebuchet MS" panose="020B0603020202020204" pitchFamily="34" charset="0"/>
                        </a:rPr>
                        <a:t> </a:t>
                      </a:r>
                      <a:r>
                        <a:rPr sz="1800" spc="-10" dirty="0">
                          <a:latin typeface="Trebuchet MS" panose="020B0603020202020204" pitchFamily="34" charset="0"/>
                        </a:rPr>
                        <a:t>the</a:t>
                      </a:r>
                      <a:r>
                        <a:rPr sz="1800" spc="10" dirty="0">
                          <a:latin typeface="Trebuchet MS" panose="020B0603020202020204" pitchFamily="34" charset="0"/>
                        </a:rPr>
                        <a:t> </a:t>
                      </a:r>
                      <a:r>
                        <a:rPr sz="1800" spc="-10" dirty="0">
                          <a:latin typeface="Trebuchet MS" panose="020B0603020202020204" pitchFamily="34" charset="0"/>
                        </a:rPr>
                        <a:t>sub</a:t>
                      </a:r>
                      <a:endParaRPr sz="1800" dirty="0">
                        <a:latin typeface="Trebuchet MS" panose="020B0603020202020204" pitchFamily="34" charset="0"/>
                      </a:endParaRPr>
                    </a:p>
                    <a:p>
                      <a:pPr marL="92710">
                        <a:lnSpc>
                          <a:spcPct val="100000"/>
                        </a:lnSpc>
                        <a:spcBef>
                          <a:spcPts val="0"/>
                        </a:spcBef>
                      </a:pPr>
                      <a:r>
                        <a:rPr sz="1800" spc="-20" dirty="0">
                          <a:latin typeface="Trebuchet MS" panose="020B0603020202020204" pitchFamily="34" charset="0"/>
                        </a:rPr>
                        <a:t>problems</a:t>
                      </a:r>
                      <a:r>
                        <a:rPr sz="1800" spc="55" dirty="0">
                          <a:latin typeface="Trebuchet MS" panose="020B0603020202020204" pitchFamily="34" charset="0"/>
                        </a:rPr>
                        <a:t> </a:t>
                      </a:r>
                      <a:r>
                        <a:rPr sz="1800" spc="-20" dirty="0">
                          <a:latin typeface="Trebuchet MS" panose="020B0603020202020204" pitchFamily="34" charset="0"/>
                        </a:rPr>
                        <a:t>are</a:t>
                      </a:r>
                      <a:r>
                        <a:rPr sz="1800" dirty="0">
                          <a:latin typeface="Trebuchet MS" panose="020B0603020202020204" pitchFamily="34" charset="0"/>
                        </a:rPr>
                        <a:t> </a:t>
                      </a:r>
                      <a:r>
                        <a:rPr sz="1800" spc="-15" dirty="0">
                          <a:latin typeface="Trebuchet MS" panose="020B0603020202020204" pitchFamily="34" charset="0"/>
                        </a:rPr>
                        <a:t>not</a:t>
                      </a:r>
                      <a:r>
                        <a:rPr sz="1800" spc="10" dirty="0">
                          <a:latin typeface="Trebuchet MS" panose="020B0603020202020204" pitchFamily="34" charset="0"/>
                        </a:rPr>
                        <a:t> </a:t>
                      </a:r>
                      <a:r>
                        <a:rPr sz="1800" spc="-10" dirty="0">
                          <a:latin typeface="Trebuchet MS" panose="020B0603020202020204" pitchFamily="34" charset="0"/>
                        </a:rPr>
                        <a:t>independent.</a:t>
                      </a:r>
                      <a:endParaRPr sz="1800" b="0" dirty="0">
                        <a:solidFill>
                          <a:schemeClr val="tx1"/>
                        </a:solidFill>
                        <a:latin typeface="Trebuchet MS" panose="020B0603020202020204" pitchFamily="34" charset="0"/>
                        <a:cs typeface="Times New Roman"/>
                      </a:endParaRPr>
                    </a:p>
                  </a:txBody>
                  <a:tcPr marL="0" marR="0" marT="381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39356">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91440" marR="352425">
                        <a:lnSpc>
                          <a:spcPct val="100000"/>
                        </a:lnSpc>
                        <a:spcBef>
                          <a:spcPts val="0"/>
                        </a:spcBef>
                      </a:pPr>
                      <a:r>
                        <a:rPr sz="1800" spc="5" dirty="0">
                          <a:latin typeface="Trebuchet MS" panose="020B0603020202020204" pitchFamily="34" charset="0"/>
                        </a:rPr>
                        <a:t>3)</a:t>
                      </a:r>
                      <a:r>
                        <a:rPr sz="1800" spc="-50" dirty="0">
                          <a:latin typeface="Trebuchet MS" panose="020B0603020202020204" pitchFamily="34" charset="0"/>
                        </a:rPr>
                        <a:t> </a:t>
                      </a:r>
                      <a:r>
                        <a:rPr sz="1800" spc="-10" dirty="0">
                          <a:latin typeface="Trebuchet MS" panose="020B0603020202020204" pitchFamily="34" charset="0"/>
                        </a:rPr>
                        <a:t>Divide</a:t>
                      </a:r>
                      <a:r>
                        <a:rPr sz="1800" spc="20" dirty="0">
                          <a:latin typeface="Trebuchet MS" panose="020B0603020202020204" pitchFamily="34" charset="0"/>
                        </a:rPr>
                        <a:t> </a:t>
                      </a:r>
                      <a:r>
                        <a:rPr sz="1800" spc="-15" dirty="0">
                          <a:latin typeface="Trebuchet MS" panose="020B0603020202020204" pitchFamily="34" charset="0"/>
                        </a:rPr>
                        <a:t>and</a:t>
                      </a:r>
                      <a:r>
                        <a:rPr sz="1800" spc="30" dirty="0">
                          <a:latin typeface="Trebuchet MS" panose="020B0603020202020204" pitchFamily="34" charset="0"/>
                        </a:rPr>
                        <a:t> </a:t>
                      </a:r>
                      <a:r>
                        <a:rPr sz="1800" spc="-15" dirty="0">
                          <a:latin typeface="Trebuchet MS" panose="020B0603020202020204" pitchFamily="34" charset="0"/>
                        </a:rPr>
                        <a:t>Conquer</a:t>
                      </a:r>
                      <a:r>
                        <a:rPr sz="1800" spc="40" dirty="0">
                          <a:latin typeface="Trebuchet MS" panose="020B0603020202020204" pitchFamily="34" charset="0"/>
                        </a:rPr>
                        <a:t> </a:t>
                      </a:r>
                      <a:r>
                        <a:rPr sz="1800" spc="-15" dirty="0">
                          <a:latin typeface="Trebuchet MS" panose="020B0603020202020204" pitchFamily="34" charset="0"/>
                        </a:rPr>
                        <a:t>does</a:t>
                      </a:r>
                      <a:r>
                        <a:rPr sz="1800" spc="15" dirty="0">
                          <a:latin typeface="Trebuchet MS" panose="020B0603020202020204" pitchFamily="34" charset="0"/>
                        </a:rPr>
                        <a:t> </a:t>
                      </a:r>
                      <a:r>
                        <a:rPr sz="1800" spc="-30" dirty="0">
                          <a:latin typeface="Trebuchet MS" panose="020B0603020202020204" pitchFamily="34" charset="0"/>
                        </a:rPr>
                        <a:t>more </a:t>
                      </a:r>
                      <a:r>
                        <a:rPr sz="1800" spc="-434" dirty="0">
                          <a:latin typeface="Trebuchet MS" panose="020B0603020202020204" pitchFamily="34" charset="0"/>
                        </a:rPr>
                        <a:t> </a:t>
                      </a:r>
                      <a:r>
                        <a:rPr sz="1800" dirty="0">
                          <a:latin typeface="Trebuchet MS" panose="020B0603020202020204" pitchFamily="34" charset="0"/>
                        </a:rPr>
                        <a:t>work</a:t>
                      </a:r>
                      <a:r>
                        <a:rPr sz="1800" spc="-65" dirty="0">
                          <a:latin typeface="Trebuchet MS" panose="020B0603020202020204" pitchFamily="34" charset="0"/>
                        </a:rPr>
                        <a:t> </a:t>
                      </a:r>
                      <a:r>
                        <a:rPr sz="1800" spc="-10" dirty="0">
                          <a:latin typeface="Trebuchet MS" panose="020B0603020202020204" pitchFamily="34" charset="0"/>
                        </a:rPr>
                        <a:t>on</a:t>
                      </a:r>
                      <a:r>
                        <a:rPr sz="1800" spc="10" dirty="0">
                          <a:latin typeface="Trebuchet MS" panose="020B0603020202020204" pitchFamily="34" charset="0"/>
                        </a:rPr>
                        <a:t> </a:t>
                      </a:r>
                      <a:r>
                        <a:rPr sz="1800" spc="-10" dirty="0">
                          <a:latin typeface="Trebuchet MS" panose="020B0603020202020204" pitchFamily="34" charset="0"/>
                        </a:rPr>
                        <a:t>the</a:t>
                      </a:r>
                      <a:r>
                        <a:rPr sz="1800" spc="20" dirty="0">
                          <a:latin typeface="Trebuchet MS" panose="020B0603020202020204" pitchFamily="34" charset="0"/>
                        </a:rPr>
                        <a:t> </a:t>
                      </a:r>
                      <a:r>
                        <a:rPr sz="1800" spc="-10" dirty="0">
                          <a:latin typeface="Trebuchet MS" panose="020B0603020202020204" pitchFamily="34" charset="0"/>
                        </a:rPr>
                        <a:t>sub</a:t>
                      </a:r>
                      <a:r>
                        <a:rPr sz="1800" spc="5" dirty="0">
                          <a:latin typeface="Trebuchet MS" panose="020B0603020202020204" pitchFamily="34" charset="0"/>
                        </a:rPr>
                        <a:t> </a:t>
                      </a:r>
                      <a:r>
                        <a:rPr sz="1800" spc="-20" dirty="0">
                          <a:latin typeface="Trebuchet MS" panose="020B0603020202020204" pitchFamily="34" charset="0"/>
                        </a:rPr>
                        <a:t>problems.</a:t>
                      </a:r>
                      <a:endParaRPr sz="1800" b="0" dirty="0">
                        <a:solidFill>
                          <a:schemeClr val="tx1"/>
                        </a:solidFill>
                        <a:latin typeface="Trebuchet MS" panose="020B0603020202020204" pitchFamily="34" charset="0"/>
                        <a:cs typeface="Times New Roman"/>
                      </a:endParaRPr>
                    </a:p>
                  </a:txBody>
                  <a:tcPr marL="0" marR="0" marT="387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92710" marR="169545">
                        <a:lnSpc>
                          <a:spcPct val="100000"/>
                        </a:lnSpc>
                        <a:spcBef>
                          <a:spcPts val="0"/>
                        </a:spcBef>
                      </a:pPr>
                      <a:r>
                        <a:rPr sz="1800" spc="5" dirty="0">
                          <a:latin typeface="Trebuchet MS" panose="020B0603020202020204" pitchFamily="34" charset="0"/>
                        </a:rPr>
                        <a:t>3)</a:t>
                      </a:r>
                      <a:r>
                        <a:rPr sz="1800" spc="-55" dirty="0">
                          <a:latin typeface="Trebuchet MS" panose="020B0603020202020204" pitchFamily="34" charset="0"/>
                        </a:rPr>
                        <a:t> </a:t>
                      </a:r>
                      <a:r>
                        <a:rPr sz="1800" spc="-15" dirty="0">
                          <a:latin typeface="Trebuchet MS" panose="020B0603020202020204" pitchFamily="34" charset="0"/>
                        </a:rPr>
                        <a:t>Dynamic</a:t>
                      </a:r>
                      <a:r>
                        <a:rPr sz="1800" spc="90" dirty="0">
                          <a:latin typeface="Trebuchet MS" panose="020B0603020202020204" pitchFamily="34" charset="0"/>
                        </a:rPr>
                        <a:t> </a:t>
                      </a:r>
                      <a:r>
                        <a:rPr sz="1800" spc="-15" dirty="0">
                          <a:latin typeface="Trebuchet MS" panose="020B0603020202020204" pitchFamily="34" charset="0"/>
                        </a:rPr>
                        <a:t>Programming</a:t>
                      </a:r>
                      <a:r>
                        <a:rPr sz="1800" spc="80" dirty="0">
                          <a:latin typeface="Trebuchet MS" panose="020B0603020202020204" pitchFamily="34" charset="0"/>
                        </a:rPr>
                        <a:t> </a:t>
                      </a:r>
                      <a:r>
                        <a:rPr sz="1800" spc="-10" dirty="0">
                          <a:latin typeface="Trebuchet MS" panose="020B0603020202020204" pitchFamily="34" charset="0"/>
                        </a:rPr>
                        <a:t>solves</a:t>
                      </a:r>
                      <a:r>
                        <a:rPr sz="1800" spc="10" dirty="0">
                          <a:latin typeface="Trebuchet MS" panose="020B0603020202020204" pitchFamily="34" charset="0"/>
                        </a:rPr>
                        <a:t> </a:t>
                      </a:r>
                      <a:r>
                        <a:rPr sz="1800" spc="-10" dirty="0">
                          <a:latin typeface="Trebuchet MS" panose="020B0603020202020204" pitchFamily="34" charset="0"/>
                        </a:rPr>
                        <a:t>the </a:t>
                      </a:r>
                      <a:r>
                        <a:rPr sz="1800" spc="-5" dirty="0">
                          <a:latin typeface="Trebuchet MS" panose="020B0603020202020204" pitchFamily="34" charset="0"/>
                        </a:rPr>
                        <a:t> </a:t>
                      </a:r>
                      <a:r>
                        <a:rPr sz="1800" spc="-10" dirty="0">
                          <a:latin typeface="Trebuchet MS" panose="020B0603020202020204" pitchFamily="34" charset="0"/>
                        </a:rPr>
                        <a:t>sub</a:t>
                      </a:r>
                      <a:r>
                        <a:rPr sz="1800" spc="-20" dirty="0">
                          <a:latin typeface="Trebuchet MS" panose="020B0603020202020204" pitchFamily="34" charset="0"/>
                        </a:rPr>
                        <a:t> </a:t>
                      </a:r>
                      <a:r>
                        <a:rPr sz="1800" spc="-15" dirty="0">
                          <a:latin typeface="Trebuchet MS" panose="020B0603020202020204" pitchFamily="34" charset="0"/>
                        </a:rPr>
                        <a:t>problem</a:t>
                      </a:r>
                      <a:r>
                        <a:rPr sz="1800" spc="15" dirty="0">
                          <a:latin typeface="Trebuchet MS" panose="020B0603020202020204" pitchFamily="34" charset="0"/>
                        </a:rPr>
                        <a:t> </a:t>
                      </a:r>
                      <a:r>
                        <a:rPr sz="1800" spc="-10" dirty="0">
                          <a:latin typeface="Trebuchet MS" panose="020B0603020202020204" pitchFamily="34" charset="0"/>
                        </a:rPr>
                        <a:t>only</a:t>
                      </a:r>
                      <a:r>
                        <a:rPr sz="1800" spc="40" dirty="0">
                          <a:latin typeface="Trebuchet MS" panose="020B0603020202020204" pitchFamily="34" charset="0"/>
                        </a:rPr>
                        <a:t> </a:t>
                      </a:r>
                      <a:r>
                        <a:rPr sz="1800" spc="-15" dirty="0">
                          <a:latin typeface="Trebuchet MS" panose="020B0603020202020204" pitchFamily="34" charset="0"/>
                        </a:rPr>
                        <a:t>once</a:t>
                      </a:r>
                      <a:r>
                        <a:rPr sz="1800" spc="20" dirty="0">
                          <a:latin typeface="Trebuchet MS" panose="020B0603020202020204" pitchFamily="34" charset="0"/>
                        </a:rPr>
                        <a:t> </a:t>
                      </a:r>
                      <a:r>
                        <a:rPr sz="1800" spc="-15" dirty="0">
                          <a:latin typeface="Trebuchet MS" panose="020B0603020202020204" pitchFamily="34" charset="0"/>
                        </a:rPr>
                        <a:t>and</a:t>
                      </a:r>
                      <a:r>
                        <a:rPr sz="1800" spc="35" dirty="0">
                          <a:latin typeface="Trebuchet MS" panose="020B0603020202020204" pitchFamily="34" charset="0"/>
                        </a:rPr>
                        <a:t> </a:t>
                      </a:r>
                      <a:r>
                        <a:rPr sz="1800" spc="-10" dirty="0">
                          <a:latin typeface="Trebuchet MS" panose="020B0603020202020204" pitchFamily="34" charset="0"/>
                        </a:rPr>
                        <a:t>then</a:t>
                      </a:r>
                      <a:r>
                        <a:rPr sz="1800" spc="10" dirty="0">
                          <a:latin typeface="Trebuchet MS" panose="020B0603020202020204" pitchFamily="34" charset="0"/>
                        </a:rPr>
                        <a:t> </a:t>
                      </a:r>
                      <a:r>
                        <a:rPr sz="1800" spc="-15" dirty="0">
                          <a:latin typeface="Trebuchet MS" panose="020B0603020202020204" pitchFamily="34" charset="0"/>
                        </a:rPr>
                        <a:t>stores </a:t>
                      </a:r>
                      <a:r>
                        <a:rPr sz="1800" spc="-434" dirty="0">
                          <a:latin typeface="Trebuchet MS" panose="020B0603020202020204" pitchFamily="34" charset="0"/>
                        </a:rPr>
                        <a:t> </a:t>
                      </a:r>
                      <a:r>
                        <a:rPr sz="1800" dirty="0">
                          <a:latin typeface="Trebuchet MS" panose="020B0603020202020204" pitchFamily="34" charset="0"/>
                        </a:rPr>
                        <a:t>it</a:t>
                      </a:r>
                      <a:r>
                        <a:rPr sz="1800" spc="-20" dirty="0">
                          <a:latin typeface="Trebuchet MS" panose="020B0603020202020204" pitchFamily="34" charset="0"/>
                        </a:rPr>
                        <a:t> </a:t>
                      </a:r>
                      <a:r>
                        <a:rPr sz="1800" spc="-5" dirty="0">
                          <a:latin typeface="Trebuchet MS" panose="020B0603020202020204" pitchFamily="34" charset="0"/>
                        </a:rPr>
                        <a:t>in</a:t>
                      </a:r>
                      <a:r>
                        <a:rPr sz="1800" spc="-10" dirty="0">
                          <a:latin typeface="Trebuchet MS" panose="020B0603020202020204" pitchFamily="34" charset="0"/>
                        </a:rPr>
                        <a:t> table.</a:t>
                      </a:r>
                      <a:endParaRPr sz="1800" b="0" dirty="0">
                        <a:solidFill>
                          <a:schemeClr val="tx1"/>
                        </a:solidFill>
                        <a:latin typeface="Trebuchet MS" panose="020B0603020202020204" pitchFamily="34" charset="0"/>
                        <a:cs typeface="Times New Roman"/>
                      </a:endParaRPr>
                    </a:p>
                  </a:txBody>
                  <a:tcPr marL="0" marR="0" marT="387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37952">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91440">
                        <a:lnSpc>
                          <a:spcPct val="100000"/>
                        </a:lnSpc>
                        <a:spcBef>
                          <a:spcPts val="0"/>
                        </a:spcBef>
                      </a:pPr>
                      <a:r>
                        <a:rPr sz="1800" spc="5" dirty="0">
                          <a:latin typeface="Trebuchet MS" panose="020B0603020202020204" pitchFamily="34" charset="0"/>
                        </a:rPr>
                        <a:t>4)</a:t>
                      </a:r>
                      <a:r>
                        <a:rPr sz="1800" spc="-60" dirty="0">
                          <a:latin typeface="Trebuchet MS" panose="020B0603020202020204" pitchFamily="34" charset="0"/>
                        </a:rPr>
                        <a:t> </a:t>
                      </a:r>
                      <a:r>
                        <a:rPr sz="1800" spc="-10" dirty="0">
                          <a:latin typeface="Trebuchet MS" panose="020B0603020202020204" pitchFamily="34" charset="0"/>
                        </a:rPr>
                        <a:t>Has</a:t>
                      </a:r>
                      <a:r>
                        <a:rPr sz="1800" spc="10" dirty="0">
                          <a:latin typeface="Trebuchet MS" panose="020B0603020202020204" pitchFamily="34" charset="0"/>
                        </a:rPr>
                        <a:t> </a:t>
                      </a:r>
                      <a:r>
                        <a:rPr sz="1800" spc="-30" dirty="0">
                          <a:latin typeface="Trebuchet MS" panose="020B0603020202020204" pitchFamily="34" charset="0"/>
                        </a:rPr>
                        <a:t>more</a:t>
                      </a:r>
                      <a:r>
                        <a:rPr sz="1800" spc="50" dirty="0">
                          <a:latin typeface="Trebuchet MS" panose="020B0603020202020204" pitchFamily="34" charset="0"/>
                        </a:rPr>
                        <a:t> </a:t>
                      </a:r>
                      <a:r>
                        <a:rPr sz="1800" spc="-15" dirty="0">
                          <a:latin typeface="Trebuchet MS" panose="020B0603020202020204" pitchFamily="34" charset="0"/>
                        </a:rPr>
                        <a:t>time</a:t>
                      </a:r>
                      <a:r>
                        <a:rPr sz="1800" spc="30" dirty="0">
                          <a:latin typeface="Trebuchet MS" panose="020B0603020202020204" pitchFamily="34" charset="0"/>
                        </a:rPr>
                        <a:t> </a:t>
                      </a:r>
                      <a:r>
                        <a:rPr sz="1800" spc="-10" dirty="0">
                          <a:latin typeface="Trebuchet MS" panose="020B0603020202020204" pitchFamily="34" charset="0"/>
                        </a:rPr>
                        <a:t>consumption</a:t>
                      </a:r>
                      <a:endParaRPr sz="1800" b="0" dirty="0">
                        <a:solidFill>
                          <a:schemeClr val="tx1"/>
                        </a:solidFill>
                        <a:latin typeface="Trebuchet MS" panose="020B0603020202020204" pitchFamily="34" charset="0"/>
                        <a:cs typeface="Times New Roman"/>
                      </a:endParaRPr>
                    </a:p>
                  </a:txBody>
                  <a:tcPr marL="0" marR="0" marT="3936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92710">
                        <a:lnSpc>
                          <a:spcPct val="100000"/>
                        </a:lnSpc>
                        <a:spcBef>
                          <a:spcPts val="0"/>
                        </a:spcBef>
                      </a:pPr>
                      <a:r>
                        <a:rPr sz="1800" spc="5" dirty="0">
                          <a:latin typeface="Trebuchet MS" panose="020B0603020202020204" pitchFamily="34" charset="0"/>
                        </a:rPr>
                        <a:t>4)</a:t>
                      </a:r>
                      <a:r>
                        <a:rPr sz="1800" spc="-55" dirty="0">
                          <a:latin typeface="Trebuchet MS" panose="020B0603020202020204" pitchFamily="34" charset="0"/>
                        </a:rPr>
                        <a:t> </a:t>
                      </a:r>
                      <a:r>
                        <a:rPr sz="1800" spc="-10" dirty="0">
                          <a:latin typeface="Trebuchet MS" panose="020B0603020202020204" pitchFamily="34" charset="0"/>
                        </a:rPr>
                        <a:t>Has</a:t>
                      </a:r>
                      <a:r>
                        <a:rPr sz="1800" spc="15" dirty="0">
                          <a:latin typeface="Trebuchet MS" panose="020B0603020202020204" pitchFamily="34" charset="0"/>
                        </a:rPr>
                        <a:t> </a:t>
                      </a:r>
                      <a:r>
                        <a:rPr sz="1800" spc="-5" dirty="0">
                          <a:latin typeface="Trebuchet MS" panose="020B0603020202020204" pitchFamily="34" charset="0"/>
                        </a:rPr>
                        <a:t>less</a:t>
                      </a:r>
                      <a:r>
                        <a:rPr sz="1800" spc="-10" dirty="0">
                          <a:latin typeface="Trebuchet MS" panose="020B0603020202020204" pitchFamily="34" charset="0"/>
                        </a:rPr>
                        <a:t> </a:t>
                      </a:r>
                      <a:r>
                        <a:rPr sz="1800" spc="-15" dirty="0">
                          <a:latin typeface="Trebuchet MS" panose="020B0603020202020204" pitchFamily="34" charset="0"/>
                        </a:rPr>
                        <a:t>time</a:t>
                      </a:r>
                      <a:r>
                        <a:rPr sz="1800" spc="60" dirty="0">
                          <a:latin typeface="Trebuchet MS" panose="020B0603020202020204" pitchFamily="34" charset="0"/>
                        </a:rPr>
                        <a:t> </a:t>
                      </a:r>
                      <a:r>
                        <a:rPr sz="1800" spc="-15" dirty="0">
                          <a:latin typeface="Trebuchet MS" panose="020B0603020202020204" pitchFamily="34" charset="0"/>
                        </a:rPr>
                        <a:t>consumption</a:t>
                      </a:r>
                      <a:endParaRPr sz="1800" b="0" dirty="0">
                        <a:solidFill>
                          <a:schemeClr val="tx1"/>
                        </a:solidFill>
                        <a:latin typeface="Trebuchet MS" panose="020B0603020202020204" pitchFamily="34" charset="0"/>
                        <a:cs typeface="Times New Roman"/>
                      </a:endParaRPr>
                    </a:p>
                  </a:txBody>
                  <a:tcPr marL="0" marR="0" marT="3936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703759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E7473D1A-1EC2-A4E0-46CC-AE2E68FFFD39}"/>
              </a:ext>
            </a:extLst>
          </p:cNvPr>
          <p:cNvSpPr txBox="1"/>
          <p:nvPr/>
        </p:nvSpPr>
        <p:spPr>
          <a:xfrm>
            <a:off x="394969" y="1058607"/>
            <a:ext cx="5588000" cy="3631763"/>
          </a:xfrm>
          <a:prstGeom prst="rect">
            <a:avLst/>
          </a:prstGeom>
          <a:noFill/>
        </p:spPr>
        <p:txBody>
          <a:bodyPr wrap="square">
            <a:spAutoFit/>
          </a:bodyPr>
          <a:lstStyle/>
          <a:p>
            <a:pPr marL="722313" lvl="4" indent="-360363">
              <a:spcBef>
                <a:spcPts val="1200"/>
              </a:spcBef>
              <a:spcAft>
                <a:spcPts val="600"/>
              </a:spcAft>
              <a:buFont typeface="Wingdings" panose="05000000000000000000" pitchFamily="2" charset="2"/>
              <a:buChar char="ü"/>
            </a:pPr>
            <a:r>
              <a:rPr lang="en-IN" sz="2000" dirty="0" smtClean="0">
                <a:solidFill>
                  <a:schemeClr val="tx1"/>
                </a:solidFill>
                <a:latin typeface="Trebuchet MS" panose="020B0603020202020204" pitchFamily="34" charset="0"/>
                <a:ea typeface="Proxima Nova"/>
                <a:cs typeface="Proxima Nova"/>
                <a:sym typeface="Proxima Nova"/>
              </a:rPr>
              <a:t>Making </a:t>
            </a:r>
            <a:r>
              <a:rPr lang="en-IN" sz="2000" dirty="0">
                <a:solidFill>
                  <a:schemeClr val="tx1"/>
                </a:solidFill>
                <a:latin typeface="Trebuchet MS" panose="020B0603020202020204" pitchFamily="34" charset="0"/>
                <a:ea typeface="Proxima Nova"/>
                <a:cs typeface="Proxima Nova"/>
                <a:sym typeface="Proxima Nova"/>
              </a:rPr>
              <a:t>Change </a:t>
            </a:r>
            <a:r>
              <a:rPr lang="en-IN" sz="2000" dirty="0" smtClean="0">
                <a:solidFill>
                  <a:schemeClr val="tx1"/>
                </a:solidFill>
                <a:latin typeface="Trebuchet MS" panose="020B0603020202020204" pitchFamily="34" charset="0"/>
                <a:ea typeface="Proxima Nova"/>
                <a:cs typeface="Proxima Nova"/>
                <a:sym typeface="Proxima Nova"/>
              </a:rPr>
              <a:t>Problem</a:t>
            </a:r>
          </a:p>
          <a:p>
            <a:pPr marL="722313" lvl="4" indent="-360363">
              <a:spcBef>
                <a:spcPts val="1200"/>
              </a:spcBef>
              <a:spcAft>
                <a:spcPts val="600"/>
              </a:spcAft>
              <a:buFont typeface="Wingdings" panose="05000000000000000000" pitchFamily="2" charset="2"/>
              <a:buChar char="ü"/>
            </a:pPr>
            <a:r>
              <a:rPr lang="en-IN" sz="2000" dirty="0">
                <a:solidFill>
                  <a:schemeClr val="tx1"/>
                </a:solidFill>
                <a:latin typeface="Trebuchet MS" panose="020B0603020202020204" pitchFamily="34" charset="0"/>
                <a:ea typeface="Proxima Nova"/>
                <a:cs typeface="Proxima Nova"/>
                <a:sym typeface="Proxima Nova"/>
              </a:rPr>
              <a:t>Knapsack problem </a:t>
            </a:r>
          </a:p>
          <a:p>
            <a:pPr marL="722313" lvl="4" indent="-360363">
              <a:spcBef>
                <a:spcPts val="1200"/>
              </a:spcBef>
              <a:spcAft>
                <a:spcPts val="600"/>
              </a:spcAft>
              <a:buFont typeface="Wingdings" panose="05000000000000000000" pitchFamily="2" charset="2"/>
              <a:buChar char="ü"/>
            </a:pPr>
            <a:r>
              <a:rPr lang="en-IN" sz="2000" dirty="0" smtClean="0">
                <a:solidFill>
                  <a:schemeClr val="tx1"/>
                </a:solidFill>
                <a:latin typeface="Trebuchet MS" panose="020B0603020202020204" pitchFamily="34" charset="0"/>
                <a:ea typeface="Proxima Nova"/>
                <a:cs typeface="Proxima Nova"/>
                <a:sym typeface="Proxima Nova"/>
              </a:rPr>
              <a:t>Assembly Line-Scheduling</a:t>
            </a:r>
          </a:p>
          <a:p>
            <a:pPr marL="722313" lvl="4" indent="-360363">
              <a:spcBef>
                <a:spcPts val="1200"/>
              </a:spcBef>
              <a:spcAft>
                <a:spcPts val="600"/>
              </a:spcAft>
              <a:buFont typeface="Wingdings" panose="05000000000000000000" pitchFamily="2" charset="2"/>
              <a:buChar char="ü"/>
            </a:pPr>
            <a:r>
              <a:rPr lang="en-IN" sz="2000" dirty="0">
                <a:solidFill>
                  <a:schemeClr val="tx1"/>
                </a:solidFill>
                <a:latin typeface="Trebuchet MS" panose="020B0603020202020204" pitchFamily="34" charset="0"/>
                <a:ea typeface="Proxima Nova"/>
                <a:cs typeface="Proxima Nova"/>
                <a:sym typeface="Proxima Nova"/>
              </a:rPr>
              <a:t>Matrix chain multiplication</a:t>
            </a:r>
          </a:p>
          <a:p>
            <a:pPr marL="722313" lvl="4" indent="-360363">
              <a:spcBef>
                <a:spcPts val="1200"/>
              </a:spcBef>
              <a:spcAft>
                <a:spcPts val="600"/>
              </a:spcAft>
              <a:buFont typeface="Wingdings" panose="05000000000000000000" pitchFamily="2" charset="2"/>
              <a:buChar char="ü"/>
            </a:pPr>
            <a:r>
              <a:rPr lang="en-IN" sz="2000" dirty="0" smtClean="0">
                <a:solidFill>
                  <a:schemeClr val="tx1"/>
                </a:solidFill>
                <a:latin typeface="Trebuchet MS" panose="020B0603020202020204" pitchFamily="34" charset="0"/>
                <a:ea typeface="Proxima Nova"/>
                <a:cs typeface="Proxima Nova"/>
                <a:sym typeface="Proxima Nova"/>
              </a:rPr>
              <a:t>Longest </a:t>
            </a:r>
            <a:r>
              <a:rPr lang="en-IN" sz="2000" dirty="0">
                <a:solidFill>
                  <a:schemeClr val="tx1"/>
                </a:solidFill>
                <a:latin typeface="Trebuchet MS" panose="020B0603020202020204" pitchFamily="34" charset="0"/>
                <a:ea typeface="Proxima Nova"/>
                <a:cs typeface="Proxima Nova"/>
                <a:sym typeface="Proxima Nova"/>
              </a:rPr>
              <a:t>Common </a:t>
            </a:r>
            <a:r>
              <a:rPr lang="en-IN" sz="2000" dirty="0" smtClean="0">
                <a:solidFill>
                  <a:schemeClr val="tx1"/>
                </a:solidFill>
                <a:latin typeface="Trebuchet MS" panose="020B0603020202020204" pitchFamily="34" charset="0"/>
                <a:ea typeface="Proxima Nova"/>
                <a:cs typeface="Proxima Nova"/>
                <a:sym typeface="Proxima Nova"/>
              </a:rPr>
              <a:t>Subsequence</a:t>
            </a:r>
          </a:p>
          <a:p>
            <a:pPr marL="722313" lvl="4" indent="-360363">
              <a:spcBef>
                <a:spcPts val="1200"/>
              </a:spcBef>
              <a:spcAft>
                <a:spcPts val="600"/>
              </a:spcAft>
              <a:buFont typeface="Wingdings" panose="05000000000000000000" pitchFamily="2" charset="2"/>
              <a:buChar char="ü"/>
            </a:pPr>
            <a:r>
              <a:rPr lang="en-IN" sz="2000" dirty="0">
                <a:solidFill>
                  <a:schemeClr val="tx1"/>
                </a:solidFill>
                <a:latin typeface="Trebuchet MS" panose="020B0603020202020204" pitchFamily="34" charset="0"/>
                <a:ea typeface="Proxima Nova"/>
                <a:cs typeface="Proxima Nova"/>
                <a:sym typeface="Proxima Nova"/>
              </a:rPr>
              <a:t>Calculating the Binomial Coefficient</a:t>
            </a:r>
          </a:p>
          <a:p>
            <a:pPr marL="722313" lvl="4" indent="-360363">
              <a:spcBef>
                <a:spcPts val="1200"/>
              </a:spcBef>
              <a:spcAft>
                <a:spcPts val="600"/>
              </a:spcAft>
              <a:buFont typeface="Wingdings" panose="05000000000000000000" pitchFamily="2" charset="2"/>
              <a:buChar char="ü"/>
            </a:pPr>
            <a:r>
              <a:rPr lang="en-IN" sz="2000" dirty="0" smtClean="0">
                <a:solidFill>
                  <a:schemeClr val="tx1"/>
                </a:solidFill>
                <a:latin typeface="Trebuchet MS" panose="020B0603020202020204" pitchFamily="34" charset="0"/>
                <a:ea typeface="Proxima Nova"/>
                <a:cs typeface="Proxima Nova"/>
              </a:rPr>
              <a:t>Travelling </a:t>
            </a:r>
            <a:r>
              <a:rPr lang="en-IN" sz="2000" dirty="0">
                <a:solidFill>
                  <a:schemeClr val="tx1"/>
                </a:solidFill>
                <a:latin typeface="Trebuchet MS" panose="020B0603020202020204" pitchFamily="34" charset="0"/>
                <a:ea typeface="Proxima Nova"/>
                <a:cs typeface="Proxima Nova"/>
              </a:rPr>
              <a:t>Salesman Problem</a:t>
            </a:r>
          </a:p>
        </p:txBody>
      </p:sp>
      <p:sp>
        <p:nvSpPr>
          <p:cNvPr id="5" name="TextBox 4">
            <a:extLst>
              <a:ext uri="{FF2B5EF4-FFF2-40B4-BE49-F238E27FC236}">
                <a16:creationId xmlns:a16="http://schemas.microsoft.com/office/drawing/2014/main" id="{8D01F55C-CEE4-8E76-D2F2-5EE2D3BA8544}"/>
              </a:ext>
            </a:extLst>
          </p:cNvPr>
          <p:cNvSpPr txBox="1"/>
          <p:nvPr/>
        </p:nvSpPr>
        <p:spPr>
          <a:xfrm>
            <a:off x="238825" y="102421"/>
            <a:ext cx="7365741"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700" b="1" dirty="0">
                <a:solidFill>
                  <a:schemeClr val="bg1"/>
                </a:solidFill>
                <a:latin typeface="Proxima Nova"/>
              </a:rPr>
              <a:t>Applications of Dynamic </a:t>
            </a:r>
            <a:r>
              <a:rPr lang="en-IN" sz="2700" b="1" dirty="0" smtClean="0">
                <a:solidFill>
                  <a:schemeClr val="bg1"/>
                </a:solidFill>
                <a:latin typeface="Proxima Nova"/>
              </a:rPr>
              <a:t>Programming</a:t>
            </a:r>
            <a:endParaRPr lang="en-IN" sz="2700" b="1" dirty="0">
              <a:solidFill>
                <a:schemeClr val="bg1"/>
              </a:solidFill>
              <a:latin typeface="Proxima Nova"/>
            </a:endParaRPr>
          </a:p>
        </p:txBody>
      </p:sp>
    </p:spTree>
    <p:extLst>
      <p:ext uri="{BB962C8B-B14F-4D97-AF65-F5344CB8AC3E}">
        <p14:creationId xmlns:p14="http://schemas.microsoft.com/office/powerpoint/2010/main" val="14212106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85126" y="663901"/>
            <a:ext cx="8573749" cy="4131870"/>
          </a:xfrm>
          <a:prstGeom prst="rect">
            <a:avLst/>
          </a:prstGeom>
          <a:noFill/>
          <a:ln>
            <a:noFill/>
          </a:ln>
        </p:spPr>
        <p:txBody>
          <a:bodyPr spcFirstLastPara="1" wrap="square" lIns="91425" tIns="91425" rIns="91425" bIns="91425" anchor="t" anchorCtr="0">
            <a:spAutoFit/>
          </a:bodyPr>
          <a:lstStyle/>
          <a:p>
            <a:pPr marR="0" lvl="0" algn="just" defTabSz="914400" rtl="0" eaLnBrk="1" fontAlgn="auto" latinLnBrk="0" hangingPunct="1">
              <a:lnSpc>
                <a:spcPct val="150000"/>
              </a:lnSpc>
              <a:spcBef>
                <a:spcPts val="0"/>
              </a:spcBef>
              <a:spcAft>
                <a:spcPts val="0"/>
              </a:spcAft>
              <a:buClr>
                <a:srgbClr val="000000"/>
              </a:buClr>
              <a:buSzTx/>
              <a:tabLst/>
              <a:defRPr/>
            </a:pPr>
            <a:r>
              <a:rPr kumimoji="0" lang="en-IN" sz="1900" b="1" i="0" u="none" strike="noStrike" kern="0" cap="none" spc="0" normalizeH="0" baseline="0" noProof="0" dirty="0">
                <a:ln>
                  <a:noFill/>
                </a:ln>
                <a:solidFill>
                  <a:srgbClr val="0070C0"/>
                </a:solidFill>
                <a:effectLst/>
                <a:uLnTx/>
                <a:uFillTx/>
                <a:latin typeface="Trebuchet MS" panose="020B0603020202020204" pitchFamily="34" charset="0"/>
                <a:sym typeface="Arial"/>
              </a:rPr>
              <a:t>How to Solve Making Change using Dynamic Programming?</a:t>
            </a:r>
          </a:p>
          <a:p>
            <a:pPr marL="285750" marR="0" lvl="0" indent="-2857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9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Making </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Change problem is to </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find change for a given amount </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using a minimum number of coins from a set of denominations.</a:t>
            </a:r>
          </a:p>
          <a:p>
            <a:pPr marR="0" lvl="0" algn="just" defTabSz="914400" rtl="0" eaLnBrk="1" fontAlgn="auto" latinLnBrk="0" hangingPunct="1">
              <a:lnSpc>
                <a:spcPct val="150000"/>
              </a:lnSpc>
              <a:spcBef>
                <a:spcPts val="0"/>
              </a:spcBef>
              <a:spcAft>
                <a:spcPts val="0"/>
              </a:spcAft>
              <a:buClr>
                <a:srgbClr val="000000"/>
              </a:buClr>
              <a:buSzTx/>
              <a:tabLst/>
              <a:defRPr/>
            </a:pPr>
            <a:r>
              <a:rPr kumimoji="0" lang="en-IN" sz="1900" b="1" i="0" u="none" strike="noStrike" kern="0" cap="none" spc="0" normalizeH="0" baseline="0" noProof="0" dirty="0" smtClean="0">
                <a:ln>
                  <a:noFill/>
                </a:ln>
                <a:solidFill>
                  <a:srgbClr val="0070C0"/>
                </a:solidFill>
                <a:effectLst/>
                <a:uLnTx/>
                <a:uFillTx/>
                <a:latin typeface="Trebuchet MS" panose="020B0603020202020204" pitchFamily="34" charset="0"/>
                <a:sym typeface="Arial"/>
              </a:rPr>
              <a:t>Explanation </a:t>
            </a:r>
            <a:r>
              <a:rPr kumimoji="0" lang="en-IN" sz="1900" b="1" i="0" u="none" strike="noStrike" kern="0" cap="none" spc="0" normalizeH="0" baseline="0" noProof="0" dirty="0">
                <a:ln>
                  <a:noFill/>
                </a:ln>
                <a:solidFill>
                  <a:srgbClr val="0070C0"/>
                </a:solidFill>
                <a:effectLst/>
                <a:uLnTx/>
                <a:uFillTx/>
                <a:latin typeface="Trebuchet MS" panose="020B0603020202020204" pitchFamily="34" charset="0"/>
                <a:sym typeface="Arial"/>
              </a:rPr>
              <a:t>:</a:t>
            </a:r>
            <a:r>
              <a:rPr kumimoji="0" lang="en-IN" sz="19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endParaRPr kumimoji="0" lang="en-IN" sz="1900" b="1" i="0" u="none" strike="noStrike" kern="0" cap="none" spc="0" normalizeH="0" baseline="0" noProof="0" dirty="0" smtClean="0">
              <a:ln>
                <a:noFill/>
              </a:ln>
              <a:solidFill>
                <a:srgbClr val="000000"/>
              </a:solidFill>
              <a:effectLst/>
              <a:uLnTx/>
              <a:uFillTx/>
              <a:latin typeface="Trebuchet MS" panose="020B0603020202020204" pitchFamily="34" charset="0"/>
              <a:sym typeface="Arial"/>
            </a:endParaRPr>
          </a:p>
          <a:p>
            <a:pPr marL="342900" marR="0" lvl="0" indent="-34290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9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If </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we are given a set of denominations </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D =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0</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1</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2</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 </a:t>
            </a:r>
            <a:r>
              <a:rPr kumimoji="0" lang="en-IN" sz="1900" b="0" i="0" u="none" strike="noStrike" kern="0" cap="none" spc="0" normalizeH="0" baseline="0" noProof="0" dirty="0" err="1">
                <a:ln>
                  <a:noFill/>
                </a:ln>
                <a:solidFill>
                  <a:srgbClr val="0070C0"/>
                </a:solidFill>
                <a:effectLst/>
                <a:uLnTx/>
                <a:uFillTx/>
                <a:latin typeface="Trebuchet MS" panose="020B0603020202020204" pitchFamily="34" charset="0"/>
                <a:sym typeface="Arial"/>
              </a:rPr>
              <a:t>d</a:t>
            </a:r>
            <a:r>
              <a:rPr kumimoji="0" lang="en-IN" sz="1900" b="0" i="0" u="none" strike="noStrike" kern="0" cap="none" spc="0" normalizeH="0" baseline="-25000" noProof="0" dirty="0" err="1">
                <a:ln>
                  <a:noFill/>
                </a:ln>
                <a:solidFill>
                  <a:srgbClr val="0070C0"/>
                </a:solidFill>
                <a:effectLst/>
                <a:uLnTx/>
                <a:uFillTx/>
                <a:latin typeface="Trebuchet MS" panose="020B0603020202020204" pitchFamily="34" charset="0"/>
                <a:sym typeface="Arial"/>
              </a:rPr>
              <a:t>n</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and if we want to change for some amount N, many combinations are possible. Suppose </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1</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2</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5</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8</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0</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2</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4</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0</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5</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7</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all feasible solutions.</a:t>
            </a:r>
          </a:p>
          <a:p>
            <a:pPr marL="285750" marR="0" lvl="0" indent="-2857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9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The </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aim of making a change is to find a solution with a minimum number of coins / denominations. Clearly, this is an optimization problem</a:t>
            </a:r>
            <a:r>
              <a:rPr kumimoji="0" lang="en-IN" sz="1900" b="0" i="0" u="none" strike="noStrike" kern="0" cap="none" spc="0" normalizeH="0" baseline="0" noProof="0" dirty="0" smtClean="0">
                <a:ln>
                  <a:noFill/>
                </a:ln>
                <a:solidFill>
                  <a:srgbClr val="000000"/>
                </a:solidFill>
                <a:effectLst/>
                <a:uLnTx/>
                <a:uFillTx/>
                <a:latin typeface="Corbel" panose="020B0503020204020204" pitchFamily="34" charset="0"/>
                <a:sym typeface="Arial"/>
              </a:rPr>
              <a:t>.</a:t>
            </a:r>
            <a:endParaRPr kumimoji="0" lang="en-IN" sz="1900" b="0" i="0" u="none" strike="noStrike" kern="0" cap="none" spc="0" normalizeH="0" baseline="0" noProof="0" dirty="0">
              <a:ln>
                <a:noFill/>
              </a:ln>
              <a:solidFill>
                <a:srgbClr val="666666"/>
              </a:solidFill>
              <a:effectLst/>
              <a:uLnTx/>
              <a:uFillTx/>
              <a:latin typeface="Proxima Nova" panose="020B0604020202020204" charset="0"/>
              <a:ea typeface="Proxima Nova"/>
              <a:cs typeface="Proxima Nova"/>
              <a:sym typeface="Arial"/>
            </a:endParaRPr>
          </a:p>
        </p:txBody>
      </p:sp>
    </p:spTree>
    <p:extLst>
      <p:ext uri="{BB962C8B-B14F-4D97-AF65-F5344CB8AC3E}">
        <p14:creationId xmlns:p14="http://schemas.microsoft.com/office/powerpoint/2010/main" val="39608272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pic>
        <p:nvPicPr>
          <p:cNvPr id="2" name="Picture 1"/>
          <p:cNvPicPr>
            <a:picLocks noChangeAspect="1"/>
          </p:cNvPicPr>
          <p:nvPr/>
        </p:nvPicPr>
        <p:blipFill rotWithShape="1">
          <a:blip r:embed="rId6"/>
          <a:srcRect l="10248" r="5002"/>
          <a:stretch/>
        </p:blipFill>
        <p:spPr>
          <a:xfrm>
            <a:off x="555586" y="1525336"/>
            <a:ext cx="4629873" cy="3076494"/>
          </a:xfrm>
          <a:prstGeom prst="rect">
            <a:avLst/>
          </a:prstGeom>
        </p:spPr>
      </p:pic>
      <p:sp>
        <p:nvSpPr>
          <p:cNvPr id="4" name="TextBox 3">
            <a:extLst>
              <a:ext uri="{FF2B5EF4-FFF2-40B4-BE49-F238E27FC236}">
                <a16:creationId xmlns:a16="http://schemas.microsoft.com/office/drawing/2014/main" id="{F8DBAD16-9314-B6F0-B451-6FE3CF8ECBC8}"/>
              </a:ext>
            </a:extLst>
          </p:cNvPr>
          <p:cNvSpPr txBox="1"/>
          <p:nvPr/>
        </p:nvSpPr>
        <p:spPr>
          <a:xfrm>
            <a:off x="392723" y="868539"/>
            <a:ext cx="4654062" cy="369332"/>
          </a:xfrm>
          <a:prstGeom prst="rect">
            <a:avLst/>
          </a:prstGeom>
          <a:noFill/>
        </p:spPr>
        <p:txBody>
          <a:bodyPr wrap="square">
            <a:spAutoFit/>
          </a:bodyPr>
          <a:lstStyle/>
          <a:p>
            <a:r>
              <a:rPr lang="en-IN" sz="1800" b="1" dirty="0">
                <a:solidFill>
                  <a:srgbClr val="0070C0"/>
                </a:solidFill>
                <a:latin typeface="Trebuchet MS" panose="020B0603020202020204" pitchFamily="34" charset="0"/>
              </a:rPr>
              <a:t>Way of making a change for Rs.10</a:t>
            </a:r>
          </a:p>
        </p:txBody>
      </p:sp>
    </p:spTree>
    <p:extLst>
      <p:ext uri="{BB962C8B-B14F-4D97-AF65-F5344CB8AC3E}">
        <p14:creationId xmlns:p14="http://schemas.microsoft.com/office/powerpoint/2010/main" val="30644355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85127" y="818450"/>
            <a:ext cx="8338012" cy="3877954"/>
          </a:xfrm>
          <a:prstGeom prst="rect">
            <a:avLst/>
          </a:prstGeom>
          <a:noFill/>
          <a:ln>
            <a:noFill/>
          </a:ln>
        </p:spPr>
        <p:txBody>
          <a:bodyPr spcFirstLastPara="1" wrap="square" lIns="91425" tIns="91425" rIns="91425" bIns="91425" anchor="t" anchorCtr="0">
            <a:spAutoFit/>
          </a:bodyPr>
          <a:lstStyle/>
          <a:p>
            <a:pPr marL="342900" marR="0" lvl="0" indent="-34290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lang="en-IN" sz="2000" dirty="0">
                <a:latin typeface="Trebuchet MS" panose="020B0603020202020204" pitchFamily="34" charset="0"/>
              </a:rPr>
              <a:t>If current denomination is larger than current problem size, then we have to skip the denomination and stick with previously calculated solution. Hence,</a:t>
            </a:r>
          </a:p>
          <a:p>
            <a:pPr marR="0" lvl="0" algn="just" defTabSz="914400" rtl="0" eaLnBrk="1" fontAlgn="auto" latinLnBrk="0" hangingPunct="1">
              <a:lnSpc>
                <a:spcPct val="150000"/>
              </a:lnSpc>
              <a:spcBef>
                <a:spcPts val="0"/>
              </a:spcBef>
              <a:spcAft>
                <a:spcPts val="0"/>
              </a:spcAft>
              <a:buClr>
                <a:srgbClr val="000000"/>
              </a:buClr>
              <a:buSzTx/>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2000" b="1" i="0" u="none" strike="noStrike" kern="0" cap="none" spc="0" normalizeH="0" baseline="0" noProof="0" dirty="0">
                <a:ln>
                  <a:noFill/>
                </a:ln>
                <a:solidFill>
                  <a:srgbClr val="0070C0"/>
                </a:solidFill>
                <a:effectLst/>
                <a:uLnTx/>
                <a:uFillTx/>
                <a:latin typeface="Trebuchet MS" panose="020B0603020202020204" pitchFamily="34" charset="0"/>
                <a:sym typeface="Arial"/>
              </a:rPr>
              <a:t>C[</a:t>
            </a:r>
            <a:r>
              <a:rPr kumimoji="0" lang="en-IN" sz="2000" b="1" i="0" u="none" strike="noStrike" kern="0" cap="none" spc="0" normalizeH="0" baseline="0" noProof="0" dirty="0" err="1">
                <a:ln>
                  <a:noFill/>
                </a:ln>
                <a:solidFill>
                  <a:srgbClr val="0070C0"/>
                </a:solidFill>
                <a:effectLst/>
                <a:uLnTx/>
                <a:uFillTx/>
                <a:latin typeface="Trebuchet MS" panose="020B0603020202020204" pitchFamily="34" charset="0"/>
                <a:sym typeface="Arial"/>
              </a:rPr>
              <a:t>i</a:t>
            </a:r>
            <a:r>
              <a:rPr kumimoji="0" lang="en-IN" sz="2000" b="1" i="0" u="none" strike="noStrike" kern="0" cap="none" spc="0" normalizeH="0" baseline="0" noProof="0" dirty="0">
                <a:ln>
                  <a:noFill/>
                </a:ln>
                <a:solidFill>
                  <a:srgbClr val="0070C0"/>
                </a:solidFill>
                <a:effectLst/>
                <a:uLnTx/>
                <a:uFillTx/>
                <a:latin typeface="Trebuchet MS" panose="020B0603020202020204" pitchFamily="34" charset="0"/>
                <a:sym typeface="Arial"/>
              </a:rPr>
              <a:t>, j]    =   C[</a:t>
            </a:r>
            <a:r>
              <a:rPr kumimoji="0" lang="en-IN" sz="2000" b="1" i="0" u="none" strike="noStrike" kern="0" cap="none" spc="0" normalizeH="0" baseline="0" noProof="0" dirty="0" err="1">
                <a:ln>
                  <a:noFill/>
                </a:ln>
                <a:solidFill>
                  <a:srgbClr val="0070C0"/>
                </a:solidFill>
                <a:effectLst/>
                <a:uLnTx/>
                <a:uFillTx/>
                <a:latin typeface="Trebuchet MS" panose="020B0603020202020204" pitchFamily="34" charset="0"/>
                <a:sym typeface="Arial"/>
              </a:rPr>
              <a:t>i</a:t>
            </a:r>
            <a:r>
              <a:rPr kumimoji="0" lang="en-IN" sz="2000" b="1" i="0" u="none" strike="noStrike" kern="0" cap="none" spc="0" normalizeH="0" baseline="0" noProof="0" dirty="0">
                <a:ln>
                  <a:noFill/>
                </a:ln>
                <a:solidFill>
                  <a:srgbClr val="0070C0"/>
                </a:solidFill>
                <a:effectLst/>
                <a:uLnTx/>
                <a:uFillTx/>
                <a:latin typeface="Trebuchet MS" panose="020B0603020202020204" pitchFamily="34" charset="0"/>
                <a:sym typeface="Arial"/>
              </a:rPr>
              <a:t> – 1, j]</a:t>
            </a:r>
          </a:p>
          <a:p>
            <a:pPr marL="342900" marR="0" lvl="0" indent="-34290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lang="en-IN" sz="2000" dirty="0">
                <a:latin typeface="Trebuchet MS" panose="020B0603020202020204" pitchFamily="34" charset="0"/>
              </a:rPr>
              <a:t>Our objective is to find minimum number of coins, so at each step, we have to stick with choice which returns minimum number of coin. Mathematically, we formulate the problem as,</a:t>
            </a:r>
          </a:p>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2000" b="1" i="0" u="none" strike="noStrike" kern="0" cap="none" spc="0" normalizeH="0" baseline="0" noProof="0" dirty="0">
                <a:ln>
                  <a:noFill/>
                </a:ln>
                <a:solidFill>
                  <a:srgbClr val="0070C0"/>
                </a:solidFill>
                <a:effectLst/>
                <a:uLnTx/>
                <a:uFillTx/>
                <a:latin typeface="Trebuchet MS" panose="020B0603020202020204" pitchFamily="34" charset="0"/>
                <a:sym typeface="Arial"/>
              </a:rPr>
              <a:t>C[</a:t>
            </a:r>
            <a:r>
              <a:rPr kumimoji="0" lang="en-IN" sz="2000" b="1" i="0" u="none" strike="noStrike" kern="0" cap="none" spc="0" normalizeH="0" baseline="0" noProof="0" dirty="0" err="1">
                <a:ln>
                  <a:noFill/>
                </a:ln>
                <a:solidFill>
                  <a:srgbClr val="0070C0"/>
                </a:solidFill>
                <a:effectLst/>
                <a:uLnTx/>
                <a:uFillTx/>
                <a:latin typeface="Trebuchet MS" panose="020B0603020202020204" pitchFamily="34" charset="0"/>
                <a:sym typeface="Arial"/>
              </a:rPr>
              <a:t>i</a:t>
            </a:r>
            <a:r>
              <a:rPr kumimoji="0" lang="en-IN" sz="2000" b="1" i="0" u="none" strike="noStrike" kern="0" cap="none" spc="0" normalizeH="0" baseline="0" noProof="0" dirty="0">
                <a:ln>
                  <a:noFill/>
                </a:ln>
                <a:solidFill>
                  <a:srgbClr val="0070C0"/>
                </a:solidFill>
                <a:effectLst/>
                <a:uLnTx/>
                <a:uFillTx/>
                <a:latin typeface="Trebuchet MS" panose="020B0603020202020204" pitchFamily="34" charset="0"/>
                <a:sym typeface="Arial"/>
              </a:rPr>
              <a:t>, j]    =   min {C[</a:t>
            </a:r>
            <a:r>
              <a:rPr kumimoji="0" lang="en-IN" sz="2000" b="1" i="0" u="none" strike="noStrike" kern="0" cap="none" spc="0" normalizeH="0" baseline="0" noProof="0" dirty="0" err="1">
                <a:ln>
                  <a:noFill/>
                </a:ln>
                <a:solidFill>
                  <a:srgbClr val="0070C0"/>
                </a:solidFill>
                <a:effectLst/>
                <a:uLnTx/>
                <a:uFillTx/>
                <a:latin typeface="Trebuchet MS" panose="020B0603020202020204" pitchFamily="34" charset="0"/>
                <a:sym typeface="Arial"/>
              </a:rPr>
              <a:t>i</a:t>
            </a:r>
            <a:r>
              <a:rPr kumimoji="0" lang="en-IN" sz="2000" b="1" i="0" u="none" strike="noStrike" kern="0" cap="none" spc="0" normalizeH="0" baseline="0" noProof="0" dirty="0">
                <a:ln>
                  <a:noFill/>
                </a:ln>
                <a:solidFill>
                  <a:srgbClr val="0070C0"/>
                </a:solidFill>
                <a:effectLst/>
                <a:uLnTx/>
                <a:uFillTx/>
                <a:latin typeface="Trebuchet MS" panose="020B0603020202020204" pitchFamily="34" charset="0"/>
                <a:sym typeface="Arial"/>
              </a:rPr>
              <a:t> – 1, j] , 1 + C[</a:t>
            </a:r>
            <a:r>
              <a:rPr kumimoji="0" lang="en-IN" sz="2000" b="1" i="0" u="none" strike="noStrike" kern="0" cap="none" spc="0" normalizeH="0" baseline="0" noProof="0" dirty="0" err="1">
                <a:ln>
                  <a:noFill/>
                </a:ln>
                <a:solidFill>
                  <a:srgbClr val="0070C0"/>
                </a:solidFill>
                <a:effectLst/>
                <a:uLnTx/>
                <a:uFillTx/>
                <a:latin typeface="Trebuchet MS" panose="020B0603020202020204" pitchFamily="34" charset="0"/>
                <a:sym typeface="Arial"/>
              </a:rPr>
              <a:t>i</a:t>
            </a:r>
            <a:r>
              <a:rPr kumimoji="0" lang="en-IN" sz="2000" b="1" i="0" u="none" strike="noStrike" kern="0" cap="none" spc="0" normalizeH="0" baseline="0" noProof="0" dirty="0">
                <a:ln>
                  <a:noFill/>
                </a:ln>
                <a:solidFill>
                  <a:srgbClr val="0070C0"/>
                </a:solidFill>
                <a:effectLst/>
                <a:uLnTx/>
                <a:uFillTx/>
                <a:latin typeface="Trebuchet MS" panose="020B0603020202020204" pitchFamily="34" charset="0"/>
                <a:sym typeface="Arial"/>
              </a:rPr>
              <a:t>, j – di]}</a:t>
            </a:r>
          </a:p>
        </p:txBody>
      </p:sp>
    </p:spTree>
    <p:extLst>
      <p:ext uri="{BB962C8B-B14F-4D97-AF65-F5344CB8AC3E}">
        <p14:creationId xmlns:p14="http://schemas.microsoft.com/office/powerpoint/2010/main" val="3409816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85126" y="694278"/>
            <a:ext cx="2006661" cy="553968"/>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0070C0"/>
                </a:solidFill>
                <a:effectLst/>
                <a:uLnTx/>
                <a:uFillTx/>
                <a:latin typeface="Trebuchet MS" panose="020B0603020202020204" pitchFamily="34" charset="0"/>
                <a:sym typeface="Arial"/>
              </a:rPr>
              <a:t>Algorithm :</a:t>
            </a:r>
            <a:endParaRPr kumimoji="0" lang="en-IN" sz="2400" b="1" i="0" u="none" strike="noStrike" kern="0" cap="none" spc="0" normalizeH="0" baseline="0" noProof="0" dirty="0">
              <a:ln>
                <a:noFill/>
              </a:ln>
              <a:solidFill>
                <a:srgbClr val="0070C0"/>
              </a:solidFill>
              <a:effectLst/>
              <a:uLnTx/>
              <a:uFillTx/>
              <a:latin typeface="Trebuchet MS" panose="020B0603020202020204" pitchFamily="34" charset="0"/>
              <a:sym typeface="Arial"/>
            </a:endParaRPr>
          </a:p>
        </p:txBody>
      </p:sp>
      <p:pic>
        <p:nvPicPr>
          <p:cNvPr id="8" name="Picture 7">
            <a:extLst>
              <a:ext uri="{FF2B5EF4-FFF2-40B4-BE49-F238E27FC236}">
                <a16:creationId xmlns:a16="http://schemas.microsoft.com/office/drawing/2014/main" id="{501B9D9C-5616-E3FB-DE71-23306A88D102}"/>
              </a:ext>
            </a:extLst>
          </p:cNvPr>
          <p:cNvPicPr>
            <a:picLocks noChangeAspect="1"/>
          </p:cNvPicPr>
          <p:nvPr/>
        </p:nvPicPr>
        <p:blipFill rotWithShape="1">
          <a:blip r:embed="rId6"/>
          <a:srcRect l="7896" r="2372"/>
          <a:stretch/>
        </p:blipFill>
        <p:spPr>
          <a:xfrm>
            <a:off x="2265946" y="769943"/>
            <a:ext cx="5845216" cy="4133616"/>
          </a:xfrm>
          <a:prstGeom prst="rect">
            <a:avLst/>
          </a:prstGeom>
        </p:spPr>
      </p:pic>
    </p:spTree>
    <p:extLst>
      <p:ext uri="{BB962C8B-B14F-4D97-AF65-F5344CB8AC3E}">
        <p14:creationId xmlns:p14="http://schemas.microsoft.com/office/powerpoint/2010/main" val="36712788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6" name="Rectangle 5"/>
          <p:cNvSpPr/>
          <p:nvPr/>
        </p:nvSpPr>
        <p:spPr>
          <a:xfrm>
            <a:off x="1354238" y="3217762"/>
            <a:ext cx="5034987" cy="949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Google Shape;99;p17"/>
          <p:cNvSpPr txBox="1"/>
          <p:nvPr/>
        </p:nvSpPr>
        <p:spPr>
          <a:xfrm>
            <a:off x="370210" y="774287"/>
            <a:ext cx="7740952" cy="3985676"/>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Where,</a:t>
            </a:r>
          </a:p>
          <a:p>
            <a:pPr marL="363538" lvl="2" algn="just">
              <a:defRPr/>
            </a:pP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di </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 = </a:t>
            </a:r>
            <a:r>
              <a:rPr lang="en-US" sz="1900" dirty="0" smtClean="0">
                <a:latin typeface="Trebuchet MS" panose="020B0603020202020204" pitchFamily="34" charset="0"/>
              </a:rPr>
              <a:t>i</a:t>
            </a:r>
            <a:r>
              <a:rPr lang="en-US" sz="1900" baseline="30000" dirty="0" smtClean="0">
                <a:latin typeface="Trebuchet MS" panose="020B0603020202020204" pitchFamily="34" charset="0"/>
              </a:rPr>
              <a:t>th</a:t>
            </a:r>
            <a:r>
              <a:rPr kumimoji="0" lang="en-IN" sz="19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 </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denomination ,1 ≤ i ≤ n</a:t>
            </a:r>
          </a:p>
          <a:p>
            <a:pPr marL="363538" lvl="2" algn="just">
              <a:defRPr/>
            </a:pP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j</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 = Size of sub problem </a:t>
            </a:r>
          </a:p>
          <a:p>
            <a:pPr marL="363538" lvl="2" algn="just">
              <a:defRPr/>
            </a:pP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C[1…..n, 0…..N] </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 Size of the problem</a:t>
            </a:r>
          </a:p>
          <a:p>
            <a:pPr marL="363538" lvl="2" algn="just">
              <a:defRPr/>
            </a:pP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C[n, N] </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 Solution of the problem</a:t>
            </a:r>
          </a:p>
          <a:p>
            <a:pPr marL="363538" lvl="2" algn="just">
              <a:defRPr/>
            </a:pP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n</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 = Number of denomination</a:t>
            </a:r>
          </a:p>
          <a:p>
            <a:pPr marL="363538" lvl="2" algn="just">
              <a:defRPr/>
            </a:pP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N</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 = Amount for which change is required By combining all three cases, we </a:t>
            </a:r>
            <a:r>
              <a:rPr kumimoji="0" lang="en-IN" sz="19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have</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900" i="0" u="none" strike="noStrike" kern="0" cap="none" spc="0" normalizeH="0" baseline="0" noProof="0" dirty="0">
                <a:ln>
                  <a:noFill/>
                </a:ln>
                <a:solidFill>
                  <a:srgbClr val="0070C0"/>
                </a:solidFill>
                <a:effectLst/>
                <a:uLnTx/>
                <a:uFillTx/>
                <a:latin typeface="Trebuchet MS" panose="020B0603020202020204" pitchFamily="34" charset="0"/>
                <a:sym typeface="Arial"/>
              </a:rPr>
              <a:t>	</a:t>
            </a:r>
            <a:r>
              <a:rPr kumimoji="0" lang="en-IN" sz="1900" i="0" u="none" strike="noStrike" kern="0" cap="none" spc="0" normalizeH="0" baseline="0" noProof="0" dirty="0">
                <a:ln>
                  <a:noFill/>
                </a:ln>
                <a:solidFill>
                  <a:schemeClr val="tx1"/>
                </a:solidFill>
                <a:effectLst/>
                <a:uLnTx/>
                <a:uFillTx/>
                <a:latin typeface="Trebuchet MS" panose="020B0603020202020204" pitchFamily="34" charset="0"/>
                <a:sym typeface="Arial"/>
              </a:rPr>
              <a:t>1. if </a:t>
            </a:r>
            <a:r>
              <a:rPr kumimoji="0" lang="en-IN" sz="1900" i="0" u="none" strike="noStrike" kern="0" cap="none" spc="0" normalizeH="0" baseline="0" noProof="0" dirty="0" err="1">
                <a:ln>
                  <a:noFill/>
                </a:ln>
                <a:solidFill>
                  <a:schemeClr val="tx1"/>
                </a:solidFill>
                <a:effectLst/>
                <a:uLnTx/>
                <a:uFillTx/>
                <a:latin typeface="Trebuchet MS" panose="020B0603020202020204" pitchFamily="34" charset="0"/>
                <a:sym typeface="Arial"/>
              </a:rPr>
              <a:t>i</a:t>
            </a:r>
            <a:r>
              <a:rPr kumimoji="0" lang="en-IN" sz="1900" i="0" u="none" strike="noStrike" kern="0" cap="none" spc="0" normalizeH="0" baseline="0" noProof="0" dirty="0">
                <a:ln>
                  <a:noFill/>
                </a:ln>
                <a:solidFill>
                  <a:schemeClr val="tx1"/>
                </a:solidFill>
                <a:effectLst/>
                <a:uLnTx/>
                <a:uFillTx/>
                <a:latin typeface="Trebuchet MS" panose="020B0603020202020204" pitchFamily="34" charset="0"/>
                <a:sym typeface="Arial"/>
              </a:rPr>
              <a:t>=1 then C[</a:t>
            </a:r>
            <a:r>
              <a:rPr kumimoji="0" lang="en-IN" sz="1900" i="0" u="none" strike="noStrike" kern="0" cap="none" spc="0" normalizeH="0" baseline="0" noProof="0" dirty="0" err="1">
                <a:ln>
                  <a:noFill/>
                </a:ln>
                <a:solidFill>
                  <a:schemeClr val="tx1"/>
                </a:solidFill>
                <a:effectLst/>
                <a:uLnTx/>
                <a:uFillTx/>
                <a:latin typeface="Trebuchet MS" panose="020B0603020202020204" pitchFamily="34" charset="0"/>
                <a:sym typeface="Arial"/>
              </a:rPr>
              <a:t>i,j</a:t>
            </a:r>
            <a:r>
              <a:rPr kumimoji="0" lang="en-IN" sz="1900" i="0" u="none" strike="noStrike" kern="0" cap="none" spc="0" normalizeH="0" baseline="0" noProof="0" dirty="0">
                <a:ln>
                  <a:noFill/>
                </a:ln>
                <a:solidFill>
                  <a:schemeClr val="tx1"/>
                </a:solidFill>
                <a:effectLst/>
                <a:uLnTx/>
                <a:uFillTx/>
                <a:latin typeface="Trebuchet MS" panose="020B0603020202020204" pitchFamily="34" charset="0"/>
                <a:sym typeface="Arial"/>
              </a:rPr>
              <a:t>] = 1 + C[1, j-d1]</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900" i="0" u="none" strike="noStrike" kern="0" cap="none" spc="0" normalizeH="0" baseline="0" noProof="0" dirty="0">
                <a:ln>
                  <a:noFill/>
                </a:ln>
                <a:solidFill>
                  <a:schemeClr val="tx1"/>
                </a:solidFill>
                <a:effectLst/>
                <a:uLnTx/>
                <a:uFillTx/>
                <a:latin typeface="Trebuchet MS" panose="020B0603020202020204" pitchFamily="34" charset="0"/>
                <a:sym typeface="Arial"/>
              </a:rPr>
              <a:t>	2. if j&lt;di then C[</a:t>
            </a:r>
            <a:r>
              <a:rPr kumimoji="0" lang="en-IN" sz="1900" i="0" u="none" strike="noStrike" kern="0" cap="none" spc="0" normalizeH="0" baseline="0" noProof="0" dirty="0" err="1">
                <a:ln>
                  <a:noFill/>
                </a:ln>
                <a:solidFill>
                  <a:schemeClr val="tx1"/>
                </a:solidFill>
                <a:effectLst/>
                <a:uLnTx/>
                <a:uFillTx/>
                <a:latin typeface="Trebuchet MS" panose="020B0603020202020204" pitchFamily="34" charset="0"/>
                <a:sym typeface="Arial"/>
              </a:rPr>
              <a:t>i,j</a:t>
            </a:r>
            <a:r>
              <a:rPr kumimoji="0" lang="en-IN" sz="1900" i="0" u="none" strike="noStrike" kern="0" cap="none" spc="0" normalizeH="0" baseline="0" noProof="0" dirty="0">
                <a:ln>
                  <a:noFill/>
                </a:ln>
                <a:solidFill>
                  <a:schemeClr val="tx1"/>
                </a:solidFill>
                <a:effectLst/>
                <a:uLnTx/>
                <a:uFillTx/>
                <a:latin typeface="Trebuchet MS" panose="020B0603020202020204" pitchFamily="34" charset="0"/>
                <a:sym typeface="Arial"/>
              </a:rPr>
              <a:t>] = C[i-1, j]</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900" i="0" u="none" strike="noStrike" kern="0" cap="none" spc="0" normalizeH="0" baseline="0" noProof="0" dirty="0">
                <a:ln>
                  <a:noFill/>
                </a:ln>
                <a:solidFill>
                  <a:schemeClr val="tx1"/>
                </a:solidFill>
                <a:effectLst/>
                <a:uLnTx/>
                <a:uFillTx/>
                <a:latin typeface="Trebuchet MS" panose="020B0603020202020204" pitchFamily="34" charset="0"/>
                <a:sym typeface="Arial"/>
              </a:rPr>
              <a:t>	3. Otherwise c[</a:t>
            </a:r>
            <a:r>
              <a:rPr kumimoji="0" lang="en-IN" sz="1900" i="0" u="none" strike="noStrike" kern="0" cap="none" spc="0" normalizeH="0" baseline="0" noProof="0" dirty="0" err="1">
                <a:ln>
                  <a:noFill/>
                </a:ln>
                <a:solidFill>
                  <a:schemeClr val="tx1"/>
                </a:solidFill>
                <a:effectLst/>
                <a:uLnTx/>
                <a:uFillTx/>
                <a:latin typeface="Trebuchet MS" panose="020B0603020202020204" pitchFamily="34" charset="0"/>
                <a:sym typeface="Arial"/>
              </a:rPr>
              <a:t>i,j</a:t>
            </a:r>
            <a:r>
              <a:rPr kumimoji="0" lang="en-IN" sz="1900" i="0" u="none" strike="noStrike" kern="0" cap="none" spc="0" normalizeH="0" baseline="0" noProof="0" dirty="0">
                <a:ln>
                  <a:noFill/>
                </a:ln>
                <a:solidFill>
                  <a:schemeClr val="tx1"/>
                </a:solidFill>
                <a:effectLst/>
                <a:uLnTx/>
                <a:uFillTx/>
                <a:latin typeface="Trebuchet MS" panose="020B0603020202020204" pitchFamily="34" charset="0"/>
                <a:sym typeface="Arial"/>
              </a:rPr>
              <a:t>] = min{c[i-1,j], 1+c[</a:t>
            </a:r>
            <a:r>
              <a:rPr kumimoji="0" lang="en-IN" sz="1900" i="0" u="none" strike="noStrike" kern="0" cap="none" spc="0" normalizeH="0" baseline="0" noProof="0" dirty="0" err="1">
                <a:ln>
                  <a:noFill/>
                </a:ln>
                <a:solidFill>
                  <a:schemeClr val="tx1"/>
                </a:solidFill>
                <a:effectLst/>
                <a:uLnTx/>
                <a:uFillTx/>
                <a:latin typeface="Trebuchet MS" panose="020B0603020202020204" pitchFamily="34" charset="0"/>
                <a:sym typeface="Arial"/>
              </a:rPr>
              <a:t>i,j</a:t>
            </a:r>
            <a:r>
              <a:rPr kumimoji="0" lang="en-IN" sz="1900" i="0" u="none" strike="noStrike" kern="0" cap="none" spc="0" normalizeH="0" baseline="0" noProof="0" dirty="0">
                <a:ln>
                  <a:noFill/>
                </a:ln>
                <a:solidFill>
                  <a:schemeClr val="tx1"/>
                </a:solidFill>
                <a:effectLst/>
                <a:uLnTx/>
                <a:uFillTx/>
                <a:latin typeface="Trebuchet MS" panose="020B0603020202020204" pitchFamily="34" charset="0"/>
                <a:sym typeface="Arial"/>
              </a:rPr>
              <a:t>-di]}</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900" b="0" i="0" u="none" strike="noStrike" kern="0" cap="none" spc="0" normalizeH="0" baseline="0" noProof="0" dirty="0" smtClean="0">
              <a:ln>
                <a:noFill/>
              </a:ln>
              <a:solidFill>
                <a:srgbClr val="000000"/>
              </a:solidFill>
              <a:effectLst/>
              <a:uLnTx/>
              <a:uFillTx/>
              <a:latin typeface="Trebuchet MS" panose="020B0603020202020204" pitchFamily="34" charset="0"/>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900" b="1" i="0" u="none" strike="noStrike" kern="0" cap="none" spc="0" normalizeH="0" baseline="0" noProof="0" dirty="0" smtClean="0">
                <a:ln>
                  <a:noFill/>
                </a:ln>
                <a:solidFill>
                  <a:srgbClr val="FF0000"/>
                </a:solidFill>
                <a:effectLst/>
                <a:uLnTx/>
                <a:uFillTx/>
                <a:latin typeface="Trebuchet MS" panose="020B0603020202020204" pitchFamily="34" charset="0"/>
                <a:sym typeface="Arial"/>
              </a:rPr>
              <a:t>Note</a:t>
            </a:r>
            <a:r>
              <a:rPr kumimoji="0" lang="en-IN" sz="1900" b="1" i="0" u="none" strike="noStrike" kern="0" cap="none" spc="0" normalizeH="0" baseline="0" noProof="0" dirty="0">
                <a:ln>
                  <a:noFill/>
                </a:ln>
                <a:solidFill>
                  <a:srgbClr val="FF0000"/>
                </a:solidFill>
                <a:effectLst/>
                <a:uLnTx/>
                <a:uFillTx/>
                <a:latin typeface="Trebuchet MS" panose="020B0603020202020204" pitchFamily="34" charset="0"/>
                <a:sym typeface="Arial"/>
              </a:rPr>
              <a:t>: If no combination of coins sums to amount j, then C[</a:t>
            </a:r>
            <a:r>
              <a:rPr kumimoji="0" lang="en-IN" sz="1900" b="1" i="0" u="none" strike="noStrike" kern="0" cap="none" spc="0" normalizeH="0" baseline="0" noProof="0" dirty="0" err="1">
                <a:ln>
                  <a:noFill/>
                </a:ln>
                <a:solidFill>
                  <a:srgbClr val="FF0000"/>
                </a:solidFill>
                <a:effectLst/>
                <a:uLnTx/>
                <a:uFillTx/>
                <a:latin typeface="Trebuchet MS" panose="020B0603020202020204" pitchFamily="34" charset="0"/>
                <a:sym typeface="Arial"/>
              </a:rPr>
              <a:t>i</a:t>
            </a:r>
            <a:r>
              <a:rPr kumimoji="0" lang="en-IN" sz="1900" b="1" i="0" u="none" strike="noStrike" kern="0" cap="none" spc="0" normalizeH="0" baseline="0" noProof="0" dirty="0">
                <a:ln>
                  <a:noFill/>
                </a:ln>
                <a:solidFill>
                  <a:srgbClr val="FF0000"/>
                </a:solidFill>
                <a:effectLst/>
                <a:uLnTx/>
                <a:uFillTx/>
                <a:latin typeface="Trebuchet MS" panose="020B0603020202020204" pitchFamily="34" charset="0"/>
                <a:sym typeface="Arial"/>
              </a:rPr>
              <a:t>, j] = </a:t>
            </a:r>
            <a:r>
              <a:rPr kumimoji="0" lang="en-IN" sz="1900" b="1" i="0" u="none" strike="noStrike" kern="0" cap="none" spc="0" normalizeH="0" baseline="0" noProof="0" dirty="0" smtClean="0">
                <a:ln>
                  <a:noFill/>
                </a:ln>
                <a:solidFill>
                  <a:srgbClr val="FF0000"/>
                </a:solidFill>
                <a:effectLst/>
                <a:uLnTx/>
                <a:uFillTx/>
                <a:latin typeface="Trebuchet MS" panose="020B0603020202020204" pitchFamily="34" charset="0"/>
                <a:sym typeface="Arial"/>
              </a:rPr>
              <a:t>∞</a:t>
            </a:r>
            <a:endParaRPr kumimoji="0" lang="en-IN" sz="1900" b="1" i="0" u="none" strike="noStrike" kern="0" cap="none" spc="0" normalizeH="0" baseline="0" noProof="0" dirty="0">
              <a:ln>
                <a:noFill/>
              </a:ln>
              <a:solidFill>
                <a:srgbClr val="FF0000"/>
              </a:solidFill>
              <a:effectLst/>
              <a:uLnTx/>
              <a:uFillTx/>
              <a:latin typeface="Trebuchet MS" panose="020B0603020202020204" pitchFamily="34" charset="0"/>
              <a:sym typeface="Arial"/>
            </a:endParaRPr>
          </a:p>
        </p:txBody>
      </p:sp>
    </p:spTree>
    <p:extLst>
      <p:ext uri="{BB962C8B-B14F-4D97-AF65-F5344CB8AC3E}">
        <p14:creationId xmlns:p14="http://schemas.microsoft.com/office/powerpoint/2010/main" val="4993934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199292" y="134250"/>
            <a:ext cx="6992617"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2" name="Rectangle 1"/>
          <p:cNvSpPr/>
          <p:nvPr/>
        </p:nvSpPr>
        <p:spPr>
          <a:xfrm>
            <a:off x="2025570" y="4294208"/>
            <a:ext cx="3460830" cy="3819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Google Shape;99;p17"/>
          <p:cNvSpPr txBox="1"/>
          <p:nvPr/>
        </p:nvSpPr>
        <p:spPr>
          <a:xfrm>
            <a:off x="242183" y="663901"/>
            <a:ext cx="8531427" cy="4131870"/>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900" b="1" i="0" u="none" strike="noStrike" kern="0" cap="none" spc="0" normalizeH="0" baseline="0" noProof="0" dirty="0">
                <a:ln>
                  <a:noFill/>
                </a:ln>
                <a:solidFill>
                  <a:srgbClr val="0070C0"/>
                </a:solidFill>
                <a:effectLst/>
                <a:uLnTx/>
                <a:uFillTx/>
                <a:latin typeface="Trebuchet MS" panose="020B0603020202020204" pitchFamily="34" charset="0"/>
                <a:sym typeface="Arial"/>
              </a:rPr>
              <a:t>Example: </a:t>
            </a:r>
            <a:endParaRPr kumimoji="0" lang="en-IN" sz="1900" b="1" i="0" u="none" strike="noStrike" kern="0" cap="none" spc="0" normalizeH="0" baseline="0" noProof="0" dirty="0" smtClean="0">
              <a:ln>
                <a:noFill/>
              </a:ln>
              <a:solidFill>
                <a:srgbClr val="0070C0"/>
              </a:solidFill>
              <a:effectLst/>
              <a:uLnTx/>
              <a:uFillTx/>
              <a:latin typeface="Trebuchet MS" panose="020B0603020202020204" pitchFamily="34" charset="0"/>
              <a:sym typeface="Arial"/>
            </a:endParaRPr>
          </a:p>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90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Consider </a:t>
            </a:r>
            <a:r>
              <a:rPr kumimoji="0" lang="en-IN" sz="1900" i="0" u="none" strike="noStrike" kern="0" cap="none" spc="0" normalizeH="0" baseline="0" noProof="0" dirty="0">
                <a:ln>
                  <a:noFill/>
                </a:ln>
                <a:solidFill>
                  <a:srgbClr val="000000"/>
                </a:solidFill>
                <a:effectLst/>
                <a:uLnTx/>
                <a:uFillTx/>
                <a:latin typeface="Trebuchet MS" panose="020B0603020202020204" pitchFamily="34" charset="0"/>
                <a:sym typeface="Arial"/>
              </a:rPr>
              <a:t>an instance of a problem with coins 1, 4 and 6 units. Illustrate its solutions using dynamic programming approach involving a payment of 8 units.</a:t>
            </a:r>
          </a:p>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900" b="1" i="0" u="none" strike="noStrike" kern="0" cap="none" spc="0" normalizeH="0" baseline="0" noProof="0" dirty="0" smtClean="0">
                <a:ln>
                  <a:noFill/>
                </a:ln>
                <a:solidFill>
                  <a:srgbClr val="0070C0"/>
                </a:solidFill>
                <a:effectLst/>
                <a:uLnTx/>
                <a:uFillTx/>
                <a:latin typeface="Trebuchet MS" panose="020B0603020202020204" pitchFamily="34" charset="0"/>
                <a:sym typeface="Arial"/>
              </a:rPr>
              <a:t>Mathematical </a:t>
            </a:r>
            <a:r>
              <a:rPr kumimoji="0" lang="en-IN" sz="1900" b="1" i="0" u="none" strike="noStrike" kern="0" cap="none" spc="0" normalizeH="0" baseline="0" noProof="0" dirty="0">
                <a:ln>
                  <a:noFill/>
                </a:ln>
                <a:solidFill>
                  <a:srgbClr val="0070C0"/>
                </a:solidFill>
                <a:effectLst/>
                <a:uLnTx/>
                <a:uFillTx/>
                <a:latin typeface="Trebuchet MS" panose="020B0603020202020204" pitchFamily="34" charset="0"/>
                <a:sym typeface="Arial"/>
              </a:rPr>
              <a:t>Formulation</a:t>
            </a:r>
          </a:p>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9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Sort </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all the denomination and start scanning from largest to smallest denomination. In every iteration i, if current denomination di is acceptable, then 1 coin is added in solution and total amount is reduced by amount di. Hence</a:t>
            </a:r>
            <a:r>
              <a:rPr kumimoji="0" lang="en-IN" sz="19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1900" b="1" i="0" u="none" strike="noStrike" kern="0" cap="none" spc="0" normalizeH="0" baseline="0" noProof="0" dirty="0">
                <a:ln>
                  <a:noFill/>
                </a:ln>
                <a:solidFill>
                  <a:schemeClr val="bg1"/>
                </a:solidFill>
                <a:effectLst/>
                <a:uLnTx/>
                <a:uFillTx/>
                <a:latin typeface="Trebuchet MS" panose="020B0603020202020204" pitchFamily="34" charset="0"/>
                <a:sym typeface="Arial"/>
              </a:rPr>
              <a:t>C[</a:t>
            </a:r>
            <a:r>
              <a:rPr kumimoji="0" lang="en-IN" sz="1900" b="1" i="0" u="none" strike="noStrike" kern="0" cap="none" spc="0" normalizeH="0" baseline="0" noProof="0" dirty="0" err="1">
                <a:ln>
                  <a:noFill/>
                </a:ln>
                <a:solidFill>
                  <a:schemeClr val="bg1"/>
                </a:solidFill>
                <a:effectLst/>
                <a:uLnTx/>
                <a:uFillTx/>
                <a:latin typeface="Trebuchet MS" panose="020B0603020202020204" pitchFamily="34" charset="0"/>
                <a:sym typeface="Arial"/>
              </a:rPr>
              <a:t>i</a:t>
            </a:r>
            <a:r>
              <a:rPr kumimoji="0" lang="en-IN" sz="1900" b="1" i="0" u="none" strike="noStrike" kern="0" cap="none" spc="0" normalizeH="0" baseline="0" noProof="0" dirty="0">
                <a:ln>
                  <a:noFill/>
                </a:ln>
                <a:solidFill>
                  <a:schemeClr val="bg1"/>
                </a:solidFill>
                <a:effectLst/>
                <a:uLnTx/>
                <a:uFillTx/>
                <a:latin typeface="Trebuchet MS" panose="020B0603020202020204" pitchFamily="34" charset="0"/>
                <a:sym typeface="Arial"/>
              </a:rPr>
              <a:t>, j]    =   1 + (c [1, j – d1</a:t>
            </a:r>
            <a:r>
              <a:rPr kumimoji="0" lang="en-IN" sz="1900" b="1" i="0" u="none" strike="noStrike" kern="0" cap="none" spc="0" normalizeH="0" baseline="0" noProof="0" dirty="0" smtClean="0">
                <a:ln>
                  <a:noFill/>
                </a:ln>
                <a:solidFill>
                  <a:schemeClr val="bg1"/>
                </a:solidFill>
                <a:effectLst/>
                <a:uLnTx/>
                <a:uFillTx/>
                <a:latin typeface="Trebuchet MS" panose="020B0603020202020204" pitchFamily="34" charset="0"/>
                <a:sym typeface="Arial"/>
              </a:rPr>
              <a:t>])</a:t>
            </a:r>
            <a:endParaRPr kumimoji="0" lang="en-IN" sz="1900" b="0" i="0" u="none" strike="noStrike" kern="0" cap="none" spc="0" normalizeH="0" baseline="0" noProof="0" dirty="0">
              <a:ln>
                <a:noFill/>
              </a:ln>
              <a:solidFill>
                <a:schemeClr val="bg1"/>
              </a:solidFill>
              <a:effectLst/>
              <a:uLnTx/>
              <a:uFillTx/>
              <a:latin typeface="Proxima Nova" panose="020B0604020202020204" charset="0"/>
              <a:sym typeface="Arial"/>
            </a:endParaRPr>
          </a:p>
        </p:txBody>
      </p:sp>
    </p:spTree>
    <p:extLst>
      <p:ext uri="{BB962C8B-B14F-4D97-AF65-F5344CB8AC3E}">
        <p14:creationId xmlns:p14="http://schemas.microsoft.com/office/powerpoint/2010/main" val="209450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85125" y="679390"/>
            <a:ext cx="8573749" cy="1938962"/>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Let us find the optimal solution </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for D =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1</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2</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d</a:t>
            </a:r>
            <a:r>
              <a:rPr kumimoji="0" lang="en-IN" sz="1900" b="0" i="0" u="none" strike="noStrike" kern="0" cap="none" spc="0" normalizeH="0" baseline="-25000" noProof="0" dirty="0">
                <a:ln>
                  <a:noFill/>
                </a:ln>
                <a:solidFill>
                  <a:srgbClr val="0070C0"/>
                </a:solidFill>
                <a:effectLst/>
                <a:uLnTx/>
                <a:uFillTx/>
                <a:latin typeface="Trebuchet MS" panose="020B0603020202020204" pitchFamily="34" charset="0"/>
                <a:sym typeface="Arial"/>
              </a:rPr>
              <a:t>3</a:t>
            </a:r>
            <a:r>
              <a:rPr kumimoji="0" lang="en-IN" sz="1900" b="0" i="0" u="none" strike="noStrike" kern="0" cap="none" spc="0" normalizeH="0" baseline="0" noProof="0" dirty="0">
                <a:ln>
                  <a:noFill/>
                </a:ln>
                <a:solidFill>
                  <a:srgbClr val="0070C0"/>
                </a:solidFill>
                <a:effectLst/>
                <a:uLnTx/>
                <a:uFillTx/>
                <a:latin typeface="Trebuchet MS" panose="020B0603020202020204" pitchFamily="34" charset="0"/>
                <a:sym typeface="Arial"/>
              </a:rPr>
              <a:t>} = {1, 4, 6} and N = 8. </a:t>
            </a:r>
          </a:p>
          <a:p>
            <a:pPr marL="342900" marR="0" lvl="0" indent="-34290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Initialize the table </a:t>
            </a:r>
            <a:r>
              <a:rPr kumimoji="0" lang="en-IN" sz="1900" b="0" i="0" u="none" strike="noStrike" kern="0" cap="none" spc="0" normalizeH="0" baseline="0" noProof="0" dirty="0">
                <a:ln>
                  <a:noFill/>
                </a:ln>
                <a:solidFill>
                  <a:srgbClr val="FF0000"/>
                </a:solidFill>
                <a:effectLst/>
                <a:uLnTx/>
                <a:uFillTx/>
                <a:latin typeface="Trebuchet MS" panose="020B0603020202020204" pitchFamily="34" charset="0"/>
                <a:sym typeface="Arial"/>
              </a:rPr>
              <a:t>C [i, 0] = 0 </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and </a:t>
            </a:r>
            <a:r>
              <a:rPr kumimoji="0" lang="en-IN" sz="1900" b="0" i="0" u="none" strike="noStrike" kern="0" cap="none" spc="0" normalizeH="0" baseline="0" noProof="0" dirty="0">
                <a:ln>
                  <a:noFill/>
                </a:ln>
                <a:solidFill>
                  <a:srgbClr val="FF0000"/>
                </a:solidFill>
                <a:effectLst/>
                <a:uLnTx/>
                <a:uFillTx/>
                <a:latin typeface="Trebuchet MS" panose="020B0603020202020204" pitchFamily="34" charset="0"/>
                <a:sym typeface="Arial"/>
              </a:rPr>
              <a:t>C [0, j] = 0</a:t>
            </a: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342900" marR="0" lvl="0" indent="-34290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rPr>
              <a:t>These indicate we don’t have any denomination and size of problem is zero respectively</a:t>
            </a:r>
            <a:r>
              <a:rPr kumimoji="0" lang="en-IN" sz="19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a:t>
            </a:r>
          </a:p>
          <a:p>
            <a:pPr marL="342900" marR="0" lvl="0" indent="-34290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900" dirty="0" smtClean="0">
                <a:latin typeface="Trebuchet MS" panose="020B0603020202020204" pitchFamily="34" charset="0"/>
              </a:rPr>
              <a:t>You can fill up the values in the table either way – by row wise or column wise. </a:t>
            </a:r>
            <a:endParaRPr kumimoji="0" lang="en-IN" sz="19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p:txBody>
      </p:sp>
      <p:grpSp>
        <p:nvGrpSpPr>
          <p:cNvPr id="53" name="Group 52"/>
          <p:cNvGrpSpPr/>
          <p:nvPr/>
        </p:nvGrpSpPr>
        <p:grpSpPr>
          <a:xfrm>
            <a:off x="642370" y="2553600"/>
            <a:ext cx="7789762" cy="2350804"/>
            <a:chOff x="677094" y="2453833"/>
            <a:chExt cx="7789762" cy="2350804"/>
          </a:xfrm>
        </p:grpSpPr>
        <p:grpSp>
          <p:nvGrpSpPr>
            <p:cNvPr id="43" name="Group 42"/>
            <p:cNvGrpSpPr/>
            <p:nvPr/>
          </p:nvGrpSpPr>
          <p:grpSpPr>
            <a:xfrm>
              <a:off x="677094" y="2453833"/>
              <a:ext cx="7789762" cy="2350804"/>
              <a:chOff x="717630" y="2494292"/>
              <a:chExt cx="7789762" cy="2443604"/>
            </a:xfrm>
          </p:grpSpPr>
          <p:pic>
            <p:nvPicPr>
              <p:cNvPr id="2" name="Picture 1"/>
              <p:cNvPicPr>
                <a:picLocks noChangeAspect="1"/>
              </p:cNvPicPr>
              <p:nvPr/>
            </p:nvPicPr>
            <p:blipFill rotWithShape="1">
              <a:blip r:embed="rId6"/>
              <a:srcRect r="1492"/>
              <a:stretch/>
            </p:blipFill>
            <p:spPr>
              <a:xfrm>
                <a:off x="717630" y="2520047"/>
                <a:ext cx="7789762" cy="2359991"/>
              </a:xfrm>
              <a:prstGeom prst="rect">
                <a:avLst/>
              </a:prstGeom>
              <a:ln w="28575">
                <a:solidFill>
                  <a:srgbClr val="FFFF00"/>
                </a:solidFill>
              </a:ln>
            </p:spPr>
          </p:pic>
          <p:cxnSp>
            <p:nvCxnSpPr>
              <p:cNvPr id="5" name="Straight Connector 4"/>
              <p:cNvCxnSpPr/>
              <p:nvPr/>
            </p:nvCxnSpPr>
            <p:spPr>
              <a:xfrm flipH="1">
                <a:off x="1689904" y="2520047"/>
                <a:ext cx="23149" cy="2359991"/>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2743200" y="2520047"/>
                <a:ext cx="23149" cy="238066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3596334" y="2520047"/>
                <a:ext cx="26543" cy="2326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4199490" y="2517416"/>
                <a:ext cx="424" cy="2382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4853187" y="2499371"/>
                <a:ext cx="11574" cy="23806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492171" y="2499371"/>
                <a:ext cx="6313" cy="24006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054559" y="2517416"/>
                <a:ext cx="21195" cy="24204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6680714" y="2494292"/>
                <a:ext cx="5638" cy="24431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253932" y="2499371"/>
                <a:ext cx="29193" cy="24380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943627" y="2499371"/>
                <a:ext cx="0" cy="2401343"/>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47" name="Straight Arrow Connector 46"/>
            <p:cNvCxnSpPr/>
            <p:nvPr/>
          </p:nvCxnSpPr>
          <p:spPr>
            <a:xfrm>
              <a:off x="3412357" y="2719805"/>
              <a:ext cx="14002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1483443" y="3435104"/>
              <a:ext cx="9154" cy="12019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436305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70266" y="1307487"/>
            <a:ext cx="4301709" cy="3631733"/>
          </a:xfrm>
          <a:prstGeom prst="rect">
            <a:avLst/>
          </a:prstGeom>
          <a:noFill/>
          <a:ln>
            <a:solidFill>
              <a:schemeClr val="accent1"/>
            </a:solidFill>
          </a:ln>
        </p:spPr>
        <p:txBody>
          <a:bodyPr spcFirstLastPara="1" wrap="square" lIns="91425" tIns="91425" rIns="91425" bIns="91425"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Filling first column, </a:t>
            </a:r>
            <a:r>
              <a:rPr kumimoji="0" lang="en-IN" sz="1600" b="1" i="0" u="none" strike="noStrike" kern="0" cap="none" spc="0" normalizeH="0" baseline="0" noProof="0" dirty="0">
                <a:ln>
                  <a:noFill/>
                </a:ln>
                <a:solidFill>
                  <a:srgbClr val="0070C0"/>
                </a:solidFill>
                <a:effectLst/>
                <a:uLnTx/>
                <a:uFillTx/>
                <a:latin typeface="Trebuchet MS" panose="020B0603020202020204" pitchFamily="34" charset="0"/>
                <a:sym typeface="Arial"/>
              </a:rPr>
              <a:t>j = 1 </a:t>
            </a: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[1, 1]</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1,   j = 1,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As,   i = 1,  formula 1 is used</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C [1, 1] = 1 + C [1, j –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1 </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C [1, 1 – 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C [1, 0]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[2, 1]</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2,   j = 1,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i.e. 1&lt;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C [2, 1] = C [i – 1, j] = C [1, 1] = 1</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p:txBody>
      </p:sp>
      <p:sp>
        <p:nvSpPr>
          <p:cNvPr id="8" name="Google Shape;99;p17"/>
          <p:cNvSpPr txBox="1"/>
          <p:nvPr/>
        </p:nvSpPr>
        <p:spPr>
          <a:xfrm>
            <a:off x="4699322" y="1833074"/>
            <a:ext cx="4159553" cy="1661963"/>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[3, 1] </a:t>
            </a:r>
            <a:r>
              <a:rPr kumimoji="0" lang="it-IT"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i = 3,   j = 1,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3</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3</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[3, 1]  = C [i – 1, j]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C[3-1,1]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C [2, 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p:txBody>
      </p:sp>
      <p:sp>
        <p:nvSpPr>
          <p:cNvPr id="9" name="Google Shape;99;p17"/>
          <p:cNvSpPr txBox="1"/>
          <p:nvPr/>
        </p:nvSpPr>
        <p:spPr>
          <a:xfrm>
            <a:off x="4699323" y="3716594"/>
            <a:ext cx="4317356" cy="923299"/>
          </a:xfrm>
          <a:prstGeom prst="rect">
            <a:avLst/>
          </a:prstGeom>
          <a:noFill/>
          <a:ln>
            <a:solidFill>
              <a:schemeClr val="accent1"/>
            </a:solidFill>
          </a:ln>
        </p:spPr>
        <p:txBody>
          <a:bodyPr spcFirstLastPara="1" wrap="square" lIns="91425" tIns="91425" rIns="91425" bIns="91425" anchor="t" anchorCtr="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a:t>
            </a:r>
            <a:r>
              <a:rPr kumimoji="0" lang="en-IN" sz="1600" b="1"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a:t>
            </a:r>
            <a:r>
              <a:rPr kumimoji="0" lang="en-IN" sz="1600" b="1"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=1 then C[</a:t>
            </a:r>
            <a:r>
              <a:rPr kumimoji="0" lang="en-IN" sz="1600" b="1"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1"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1 + C[1, j-d1]</a:t>
            </a: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j&lt;di then C[</a:t>
            </a:r>
            <a:r>
              <a:rPr kumimoji="0" lang="en-IN" sz="1600" b="1"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1"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C[i-1, j]</a:t>
            </a: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Otherwise c[</a:t>
            </a:r>
            <a:r>
              <a:rPr kumimoji="0" lang="en-IN" sz="1600" b="1"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1"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min{c[i-1,j], 1+c[</a:t>
            </a:r>
            <a:r>
              <a:rPr kumimoji="0" lang="en-IN" sz="1600" b="1"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1"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-di]}</a:t>
            </a:r>
          </a:p>
        </p:txBody>
      </p:sp>
      <p:sp>
        <p:nvSpPr>
          <p:cNvPr id="2" name="Rectangle 1"/>
          <p:cNvSpPr/>
          <p:nvPr/>
        </p:nvSpPr>
        <p:spPr>
          <a:xfrm>
            <a:off x="305937" y="817718"/>
            <a:ext cx="6840334" cy="369332"/>
          </a:xfrm>
          <a:prstGeom prst="rect">
            <a:avLst/>
          </a:prstGeom>
        </p:spPr>
        <p:txBody>
          <a:bodyPr wrap="none">
            <a:spAutoFit/>
          </a:bodyPr>
          <a:lstStyle/>
          <a:p>
            <a:r>
              <a:rPr lang="en-IN" sz="1800" b="1" dirty="0" smtClean="0">
                <a:solidFill>
                  <a:srgbClr val="FF0000"/>
                </a:solidFill>
                <a:latin typeface="Trebuchet MS" panose="020B0603020202020204" pitchFamily="34" charset="0"/>
              </a:rPr>
              <a:t>Note:  </a:t>
            </a:r>
            <a:r>
              <a:rPr lang="en-IN" sz="1800" b="1" dirty="0" smtClean="0">
                <a:solidFill>
                  <a:schemeClr val="tx1"/>
                </a:solidFill>
                <a:latin typeface="Trebuchet MS" panose="020B0603020202020204" pitchFamily="34" charset="0"/>
              </a:rPr>
              <a:t>We may fill the values either </a:t>
            </a:r>
            <a:r>
              <a:rPr lang="en-IN" sz="1800" b="1" dirty="0" smtClean="0">
                <a:solidFill>
                  <a:srgbClr val="FF0000"/>
                </a:solidFill>
                <a:latin typeface="Trebuchet MS" panose="020B0603020202020204" pitchFamily="34" charset="0"/>
              </a:rPr>
              <a:t>row wise </a:t>
            </a:r>
            <a:r>
              <a:rPr lang="en-IN" sz="1800" b="1" dirty="0" smtClean="0">
                <a:solidFill>
                  <a:schemeClr val="tx1"/>
                </a:solidFill>
                <a:latin typeface="Trebuchet MS" panose="020B0603020202020204" pitchFamily="34" charset="0"/>
              </a:rPr>
              <a:t>or </a:t>
            </a:r>
            <a:r>
              <a:rPr lang="en-IN" sz="1800" b="1" dirty="0" smtClean="0">
                <a:solidFill>
                  <a:srgbClr val="FF0000"/>
                </a:solidFill>
                <a:latin typeface="Trebuchet MS" panose="020B0603020202020204" pitchFamily="34" charset="0"/>
              </a:rPr>
              <a:t>column wise </a:t>
            </a:r>
            <a:endParaRPr lang="en-IN" sz="1800" b="1" dirty="0">
              <a:solidFill>
                <a:srgbClr val="FF0000"/>
              </a:solidFill>
              <a:latin typeface="Trebuchet MS" panose="020B0603020202020204" pitchFamily="34" charset="0"/>
            </a:endParaRPr>
          </a:p>
        </p:txBody>
      </p:sp>
    </p:spTree>
    <p:extLst>
      <p:ext uri="{BB962C8B-B14F-4D97-AF65-F5344CB8AC3E}">
        <p14:creationId xmlns:p14="http://schemas.microsoft.com/office/powerpoint/2010/main" val="34430426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90604" y="817718"/>
            <a:ext cx="4186253" cy="4124176"/>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Filling second column, </a:t>
            </a:r>
            <a:r>
              <a:rPr kumimoji="0" lang="it-IT" sz="1600" b="1" i="0" u="none" strike="noStrike" kern="0" cap="none" spc="0" normalizeH="0" baseline="0" noProof="0" dirty="0">
                <a:ln>
                  <a:noFill/>
                </a:ln>
                <a:solidFill>
                  <a:srgbClr val="0070C0"/>
                </a:solidFill>
                <a:effectLst/>
                <a:uLnTx/>
                <a:uFillTx/>
                <a:latin typeface="Trebuchet MS" panose="020B0603020202020204" pitchFamily="34" charset="0"/>
                <a:sym typeface="Arial"/>
              </a:rPr>
              <a:t>j = 2 </a:t>
            </a:r>
            <a:r>
              <a:rPr kumimoji="0" lang="it-IT"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t>
            </a:r>
            <a:endPar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it-IT" sz="1600" b="1"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[1, 2]</a:t>
            </a:r>
            <a:r>
              <a:rPr kumimoji="0" lang="it-IT"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i = 1,   j = 2,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As,   i = 1,  formula 1 is used</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C [1, 2] = 1 + C [1, j –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C [1, 2 – 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C [1, 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2</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[2, 2] </a:t>
            </a: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i = 2,   j = 2,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C [2, 2] = C [i – 1, j]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C [1, 2]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2</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it-IT" sz="1600" b="0" i="0" u="none" strike="noStrike" kern="0" cap="none" spc="0" normalizeH="0" baseline="0" noProof="0" dirty="0">
              <a:ln>
                <a:noFill/>
              </a:ln>
              <a:solidFill>
                <a:srgbClr val="000000"/>
              </a:solidFill>
              <a:effectLst/>
              <a:uLnTx/>
              <a:uFillTx/>
              <a:latin typeface="Arial"/>
              <a:cs typeface="Arial"/>
              <a:sym typeface="Arial"/>
            </a:endParaRPr>
          </a:p>
        </p:txBody>
      </p:sp>
      <p:sp>
        <p:nvSpPr>
          <p:cNvPr id="8" name="Google Shape;99;p17"/>
          <p:cNvSpPr txBox="1"/>
          <p:nvPr/>
        </p:nvSpPr>
        <p:spPr>
          <a:xfrm>
            <a:off x="4757195" y="1405543"/>
            <a:ext cx="4101680" cy="1415742"/>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[3, 2]</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3,   j = 2,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3</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3</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C [3, 2] = C [i – 1, j]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C [2, 2]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2</a:t>
            </a:r>
          </a:p>
        </p:txBody>
      </p:sp>
      <p:sp>
        <p:nvSpPr>
          <p:cNvPr id="9" name="Google Shape;99;p17"/>
          <p:cNvSpPr txBox="1"/>
          <p:nvPr/>
        </p:nvSpPr>
        <p:spPr>
          <a:xfrm>
            <a:off x="4757195" y="3405085"/>
            <a:ext cx="4101680" cy="923299"/>
          </a:xfrm>
          <a:prstGeom prst="rect">
            <a:avLst/>
          </a:prstGeom>
          <a:noFill/>
          <a:ln>
            <a:solidFill>
              <a:schemeClr val="accent1"/>
            </a:solidFill>
          </a:ln>
        </p:spPr>
        <p:txBody>
          <a:bodyPr spcFirstLastPara="1" wrap="square" lIns="91425" tIns="91425" rIns="91425" bIns="91425"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=1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1 + C[1, j-d1]</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j&lt;di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C[i-1, j]</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Otherwise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min{c[i-1,j], 1+c[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-di]}</a:t>
            </a:r>
          </a:p>
        </p:txBody>
      </p:sp>
    </p:spTree>
    <p:extLst>
      <p:ext uri="{BB962C8B-B14F-4D97-AF65-F5344CB8AC3E}">
        <p14:creationId xmlns:p14="http://schemas.microsoft.com/office/powerpoint/2010/main" val="11424739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90604" y="134250"/>
            <a:ext cx="6901305"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90604" y="817718"/>
            <a:ext cx="4301709" cy="4124176"/>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Filling third column, </a:t>
            </a:r>
            <a:r>
              <a:rPr kumimoji="0" lang="en-IN" sz="1600" b="1" i="0" u="none" strike="noStrike" kern="0" cap="none" spc="0" normalizeH="0" baseline="0" noProof="0" dirty="0">
                <a:ln>
                  <a:noFill/>
                </a:ln>
                <a:solidFill>
                  <a:srgbClr val="0070C0"/>
                </a:solidFill>
                <a:effectLst/>
                <a:uLnTx/>
                <a:uFillTx/>
                <a:latin typeface="Trebuchet MS" panose="020B0603020202020204" pitchFamily="34" charset="0"/>
                <a:sym typeface="Arial"/>
              </a:rPr>
              <a:t>j = 3 </a:t>
            </a: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t>
            </a: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[1, 3]</a:t>
            </a: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1,   j = 3,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As,   i = 1,  formula 1 is used</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1 + C [1,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C [1, 3 – 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C [1, 2]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+ 2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[2, 3]</a:t>
            </a:r>
            <a:r>
              <a:rPr kumimoji="0" lang="it-IT"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2,   j = 3,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C [2, 3] = C [i – 1, j]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C [1, 3]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3</a:t>
            </a:r>
          </a:p>
        </p:txBody>
      </p:sp>
      <p:sp>
        <p:nvSpPr>
          <p:cNvPr id="8" name="Google Shape;99;p17"/>
          <p:cNvSpPr txBox="1"/>
          <p:nvPr/>
        </p:nvSpPr>
        <p:spPr>
          <a:xfrm>
            <a:off x="4791773" y="1427995"/>
            <a:ext cx="4147979" cy="1415742"/>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[3, 3]</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3,   j = 3,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3</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d</a:t>
            </a:r>
            <a:r>
              <a:rPr kumimoji="0" lang="it-IT"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C[3,3] = C [i – 1, j]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C [2, 3]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it-IT"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3</a:t>
            </a:r>
          </a:p>
        </p:txBody>
      </p:sp>
      <p:sp>
        <p:nvSpPr>
          <p:cNvPr id="9" name="Google Shape;99;p17"/>
          <p:cNvSpPr txBox="1"/>
          <p:nvPr/>
        </p:nvSpPr>
        <p:spPr>
          <a:xfrm>
            <a:off x="4710896" y="3415359"/>
            <a:ext cx="4147979" cy="923299"/>
          </a:xfrm>
          <a:prstGeom prst="rect">
            <a:avLst/>
          </a:prstGeom>
          <a:noFill/>
          <a:ln>
            <a:solidFill>
              <a:schemeClr val="accent1"/>
            </a:solidFill>
          </a:ln>
        </p:spPr>
        <p:txBody>
          <a:bodyPr spcFirstLastPara="1" wrap="square" lIns="91425" tIns="91425" rIns="91425" bIns="91425"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=1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1 + C[1, j-d1]</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j&lt;di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C[i-1, j]</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Otherwise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min{c[i-1,j], 1+c[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-di]}</a:t>
            </a:r>
          </a:p>
        </p:txBody>
      </p:sp>
    </p:spTree>
    <p:extLst>
      <p:ext uri="{BB962C8B-B14F-4D97-AF65-F5344CB8AC3E}">
        <p14:creationId xmlns:p14="http://schemas.microsoft.com/office/powerpoint/2010/main" val="41649889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90604" y="729947"/>
            <a:ext cx="4301709" cy="4370397"/>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Filling fourth column, </a:t>
            </a:r>
            <a:r>
              <a:rPr kumimoji="0" lang="en-IN" sz="1600" b="1" i="0" u="none" strike="noStrike" kern="0" cap="none" spc="0" normalizeH="0" baseline="0" noProof="0" dirty="0">
                <a:ln>
                  <a:noFill/>
                </a:ln>
                <a:solidFill>
                  <a:srgbClr val="0070C0"/>
                </a:solidFill>
                <a:effectLst/>
                <a:uLnTx/>
                <a:uFillTx/>
                <a:latin typeface="Trebuchet MS" panose="020B0603020202020204" pitchFamily="34" charset="0"/>
                <a:sym typeface="Arial"/>
              </a:rPr>
              <a:t>j = 4 </a:t>
            </a: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t>
            </a: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[1, 4]</a:t>
            </a: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1,   j = 4,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As,   i = 1 formula 1 is used</a:t>
            </a: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1 + C [1,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[1, 4]  = 1 + C [1, 4 – 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C [1, 3]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+ 3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[2, 4]</a:t>
            </a: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i = 2,   j = 4,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i ≠ 1 and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min { C [i – 1, j], 1 + C [i,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[2, 4] = min { C [1, 4], 1 + C [2, 4 – 4]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 C [1, 4], 1 + C [2, 0] }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{4, 1 + 0}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p:txBody>
      </p:sp>
      <p:sp>
        <p:nvSpPr>
          <p:cNvPr id="8" name="Google Shape;99;p17"/>
          <p:cNvSpPr txBox="1"/>
          <p:nvPr/>
        </p:nvSpPr>
        <p:spPr>
          <a:xfrm>
            <a:off x="4710896" y="1497729"/>
            <a:ext cx="4147979" cy="1415742"/>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[3, 4]</a:t>
            </a: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3,    j = 4,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3</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C [i – 1, j]</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[3, 4] = C [2, 4]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p:txBody>
      </p:sp>
      <p:sp>
        <p:nvSpPr>
          <p:cNvPr id="9" name="Google Shape;99;p17"/>
          <p:cNvSpPr txBox="1"/>
          <p:nvPr/>
        </p:nvSpPr>
        <p:spPr>
          <a:xfrm>
            <a:off x="4710896" y="3405085"/>
            <a:ext cx="4147979" cy="923299"/>
          </a:xfrm>
          <a:prstGeom prst="rect">
            <a:avLst/>
          </a:prstGeom>
          <a:noFill/>
          <a:ln>
            <a:solidFill>
              <a:schemeClr val="accent1"/>
            </a:solidFill>
          </a:ln>
        </p:spPr>
        <p:txBody>
          <a:bodyPr spcFirstLastPara="1" wrap="square" lIns="91425" tIns="91425" rIns="91425" bIns="91425"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=1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1 + C[1, j-d1]</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j&lt;di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C[i-1, j]</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Otherwise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min{c[i-1,j], 1+c[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-di]}</a:t>
            </a:r>
          </a:p>
        </p:txBody>
      </p:sp>
    </p:spTree>
    <p:extLst>
      <p:ext uri="{BB962C8B-B14F-4D97-AF65-F5344CB8AC3E}">
        <p14:creationId xmlns:p14="http://schemas.microsoft.com/office/powerpoint/2010/main" val="9750750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90604" y="817718"/>
            <a:ext cx="4301709" cy="4124176"/>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Filling fifth colum</a:t>
            </a:r>
            <a:r>
              <a:rPr kumimoji="0" lang="en-IN" sz="1600" b="1" i="0" u="none" strike="noStrike" kern="0" cap="none" spc="0" normalizeH="0" baseline="0" noProof="0" dirty="0">
                <a:ln>
                  <a:noFill/>
                </a:ln>
                <a:solidFill>
                  <a:schemeClr val="tx1"/>
                </a:solidFill>
                <a:effectLst/>
                <a:uLnTx/>
                <a:uFillTx/>
                <a:latin typeface="Trebuchet MS" panose="020B0603020202020204" pitchFamily="34" charset="0"/>
                <a:sym typeface="Arial"/>
              </a:rPr>
              <a:t>n, </a:t>
            </a:r>
            <a:r>
              <a:rPr kumimoji="0" lang="en-IN" sz="1600" b="1" i="0" u="none" strike="noStrike" kern="0" cap="none" spc="0" normalizeH="0" baseline="0" noProof="0" dirty="0">
                <a:ln>
                  <a:noFill/>
                </a:ln>
                <a:solidFill>
                  <a:srgbClr val="0070C0"/>
                </a:solidFill>
                <a:effectLst/>
                <a:uLnTx/>
                <a:uFillTx/>
                <a:latin typeface="Trebuchet MS" panose="020B0603020202020204" pitchFamily="34" charset="0"/>
                <a:sym typeface="Arial"/>
              </a:rPr>
              <a:t>j = 5 </a:t>
            </a: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t>
            </a: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[1, 5]</a:t>
            </a: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1,   j = 5,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As,   i = 1 formula 1 is used</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1 + C [1,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1 + C [1, 5 – 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1 + C [1, 4]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1 + 4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5</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[2, 5]</a:t>
            </a: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2,   j = 5,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i ≠ 1 and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So,</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min { C [i – 1, j], 1 + C [i,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 C [1, 5], 1 + C [2, 1] }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{5, 1 + 1}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2</a:t>
            </a:r>
          </a:p>
        </p:txBody>
      </p:sp>
      <p:sp>
        <p:nvSpPr>
          <p:cNvPr id="8" name="Google Shape;99;p17"/>
          <p:cNvSpPr txBox="1"/>
          <p:nvPr/>
        </p:nvSpPr>
        <p:spPr>
          <a:xfrm>
            <a:off x="4722471" y="1464064"/>
            <a:ext cx="3986224" cy="1415742"/>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[3, 5]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3,    j = 5,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3</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C [i – 1, j]</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[3, 5]  = C [2, 5]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2</a:t>
            </a:r>
          </a:p>
        </p:txBody>
      </p:sp>
      <p:sp>
        <p:nvSpPr>
          <p:cNvPr id="9" name="Google Shape;99;p17"/>
          <p:cNvSpPr txBox="1"/>
          <p:nvPr/>
        </p:nvSpPr>
        <p:spPr>
          <a:xfrm>
            <a:off x="4722471" y="3405085"/>
            <a:ext cx="4136404" cy="1292631"/>
          </a:xfrm>
          <a:prstGeom prst="rect">
            <a:avLst/>
          </a:prstGeom>
          <a:noFill/>
          <a:ln>
            <a:solidFill>
              <a:schemeClr val="accent1"/>
            </a:solidFill>
          </a:ln>
        </p:spPr>
        <p:txBody>
          <a:bodyPr spcFirstLastPara="1" wrap="square" lIns="91425" tIns="91425" rIns="91425" bIns="91425" anchor="t" anchorCtr="0">
            <a:spAutoFit/>
          </a:bodyPr>
          <a:lstStyle/>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=1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1 + C[1, j-d1]</a:t>
            </a:r>
          </a:p>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j&lt;di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C[i-1, j]</a:t>
            </a:r>
          </a:p>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Otherwise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min{c[i-1,j], 1+c[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-di]}</a:t>
            </a:r>
          </a:p>
        </p:txBody>
      </p:sp>
    </p:spTree>
    <p:extLst>
      <p:ext uri="{BB962C8B-B14F-4D97-AF65-F5344CB8AC3E}">
        <p14:creationId xmlns:p14="http://schemas.microsoft.com/office/powerpoint/2010/main" val="141461040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90604" y="817718"/>
            <a:ext cx="4301709" cy="3877954"/>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Filling sixth column, </a:t>
            </a:r>
            <a:r>
              <a:rPr kumimoji="0" lang="en-IN" sz="1600" b="1" i="0" u="none" strike="noStrike" kern="0" cap="none" spc="0" normalizeH="0" baseline="0" noProof="0" dirty="0">
                <a:ln>
                  <a:noFill/>
                </a:ln>
                <a:solidFill>
                  <a:srgbClr val="0070C0"/>
                </a:solidFill>
                <a:effectLst/>
                <a:uLnTx/>
                <a:uFillTx/>
                <a:latin typeface="Trebuchet MS" panose="020B0603020202020204" pitchFamily="34" charset="0"/>
                <a:sym typeface="Arial"/>
              </a:rPr>
              <a:t>j = 6 </a:t>
            </a: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t>
            </a: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[1, 6]</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1,   j = 6,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As,   i = 1formula 1 is used</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1 + C [1,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C [1, 5]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+ 5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[2, 6]</a:t>
            </a: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2,   j = 6,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i ≠ 1 and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min { C [i – 1, j], 1 + C [i,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 C [1, 6], 1 + C [2, 2] }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{6, 1 + 2}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3</a:t>
            </a:r>
          </a:p>
        </p:txBody>
      </p:sp>
      <p:sp>
        <p:nvSpPr>
          <p:cNvPr id="8" name="Google Shape;99;p17"/>
          <p:cNvSpPr txBox="1"/>
          <p:nvPr/>
        </p:nvSpPr>
        <p:spPr>
          <a:xfrm>
            <a:off x="4872651" y="1288282"/>
            <a:ext cx="3986224" cy="1908184"/>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[3, 6]</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3,    j = 6,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3</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i ≠ 1 and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min { C [i – 1, j], 1 + C [i,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 C [2, 6], 1 + C [3, 0] }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{6, 1 + 0}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p:txBody>
      </p:sp>
      <p:sp>
        <p:nvSpPr>
          <p:cNvPr id="9" name="Google Shape;99;p17"/>
          <p:cNvSpPr txBox="1"/>
          <p:nvPr/>
        </p:nvSpPr>
        <p:spPr>
          <a:xfrm>
            <a:off x="4872651" y="3405085"/>
            <a:ext cx="4086154" cy="1292631"/>
          </a:xfrm>
          <a:prstGeom prst="rect">
            <a:avLst/>
          </a:prstGeom>
          <a:noFill/>
          <a:ln>
            <a:solidFill>
              <a:schemeClr val="accent1"/>
            </a:solidFill>
          </a:ln>
        </p:spPr>
        <p:txBody>
          <a:bodyPr spcFirstLastPara="1" wrap="square" lIns="91425" tIns="91425" rIns="91425" bIns="91425" anchor="t" anchorCtr="0">
            <a:spAutoFit/>
          </a:bodyPr>
          <a:lstStyle/>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=1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1 + C[1, j-d1]</a:t>
            </a:r>
          </a:p>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j&lt;di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C[i-1, j]</a:t>
            </a:r>
          </a:p>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Otherwise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min{c[i-1,j], 1+c[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-di]}</a:t>
            </a:r>
          </a:p>
        </p:txBody>
      </p:sp>
    </p:spTree>
    <p:extLst>
      <p:ext uri="{BB962C8B-B14F-4D97-AF65-F5344CB8AC3E}">
        <p14:creationId xmlns:p14="http://schemas.microsoft.com/office/powerpoint/2010/main" val="269551380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90604" y="843143"/>
            <a:ext cx="4301709" cy="3877954"/>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Filling seventh column, </a:t>
            </a:r>
            <a:r>
              <a:rPr kumimoji="0" lang="en-IN" sz="1600" b="1" i="0" u="none" strike="noStrike" kern="0" cap="none" spc="0" normalizeH="0" baseline="0" noProof="0" dirty="0">
                <a:ln>
                  <a:noFill/>
                </a:ln>
                <a:solidFill>
                  <a:srgbClr val="0070C0"/>
                </a:solidFill>
                <a:effectLst/>
                <a:uLnTx/>
                <a:uFillTx/>
                <a:latin typeface="Trebuchet MS" panose="020B0603020202020204" pitchFamily="34" charset="0"/>
                <a:sym typeface="Arial"/>
              </a:rPr>
              <a:t>j = 7 </a:t>
            </a: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t>
            </a: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[1, 7]</a:t>
            </a: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1,   j = 7,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As,   i = 1 formula 1 is used</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1 + C [i,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C [1, 6]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+ 6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7</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[2, 7]</a:t>
            </a: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i = 2,   j = 7,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i ≠ 1 and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min { C [i – 1, j], 1 + C [i,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 C [1, 7], 1 + C [2, 3] }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{7, 1 + 3}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4</a:t>
            </a:r>
          </a:p>
        </p:txBody>
      </p:sp>
      <p:sp>
        <p:nvSpPr>
          <p:cNvPr id="8" name="Google Shape;99;p17"/>
          <p:cNvSpPr txBox="1"/>
          <p:nvPr/>
        </p:nvSpPr>
        <p:spPr>
          <a:xfrm>
            <a:off x="4710895" y="1464245"/>
            <a:ext cx="4147979" cy="1661963"/>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[3, 7]</a:t>
            </a: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i = 3,    j = 7,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3</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i ≠ 1 and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min { C [i – 1, j], 1 + C [i,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 C [2, 7], 1 + C [3, 17] }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{4, 2}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2</a:t>
            </a:r>
          </a:p>
        </p:txBody>
      </p:sp>
      <p:sp>
        <p:nvSpPr>
          <p:cNvPr id="9" name="Google Shape;99;p17"/>
          <p:cNvSpPr txBox="1"/>
          <p:nvPr/>
        </p:nvSpPr>
        <p:spPr>
          <a:xfrm>
            <a:off x="4710896" y="3405085"/>
            <a:ext cx="4147979" cy="1292631"/>
          </a:xfrm>
          <a:prstGeom prst="rect">
            <a:avLst/>
          </a:prstGeom>
          <a:noFill/>
          <a:ln>
            <a:solidFill>
              <a:schemeClr val="accent1"/>
            </a:solidFill>
          </a:ln>
        </p:spPr>
        <p:txBody>
          <a:bodyPr spcFirstLastPara="1" wrap="square" lIns="91425" tIns="91425" rIns="91425" bIns="91425" anchor="t" anchorCtr="0">
            <a:spAutoFit/>
          </a:bodyPr>
          <a:lstStyle/>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=1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1 + C[1, j-d1]</a:t>
            </a:r>
          </a:p>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j&lt;di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C[i-1, j]</a:t>
            </a:r>
          </a:p>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Otherwise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min{c[i-1,j], 1+c[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-di]}</a:t>
            </a:r>
          </a:p>
        </p:txBody>
      </p:sp>
    </p:spTree>
    <p:extLst>
      <p:ext uri="{BB962C8B-B14F-4D97-AF65-F5344CB8AC3E}">
        <p14:creationId xmlns:p14="http://schemas.microsoft.com/office/powerpoint/2010/main" val="353728419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90604" y="817718"/>
            <a:ext cx="4301709" cy="4124176"/>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Filling eighth column, </a:t>
            </a:r>
            <a:r>
              <a:rPr kumimoji="0" lang="en-IN" sz="1600" b="1" i="0" u="none" strike="noStrike" kern="0" cap="none" spc="0" normalizeH="0" baseline="0" noProof="0" dirty="0">
                <a:ln>
                  <a:noFill/>
                </a:ln>
                <a:solidFill>
                  <a:srgbClr val="0070C0"/>
                </a:solidFill>
                <a:effectLst/>
                <a:uLnTx/>
                <a:uFillTx/>
                <a:latin typeface="Trebuchet MS" panose="020B0603020202020204" pitchFamily="34" charset="0"/>
                <a:sym typeface="Arial"/>
              </a:rPr>
              <a:t>j = 8 </a:t>
            </a: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t>
            </a: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[1, 8]</a:t>
            </a: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1,   j = 8,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As,   i = 1 formula 1 is used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1 + C [i,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C [1, 7]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+ 7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8</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[2, 8]</a:t>
            </a: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2,   j = 8,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i ≠ 1 and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min { C [i – 1, j], 1 + C [i,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 C [1, 8], 1 + C [2, 4] }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{8, 1 + 1}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2</a:t>
            </a:r>
          </a:p>
        </p:txBody>
      </p:sp>
      <p:sp>
        <p:nvSpPr>
          <p:cNvPr id="8" name="Google Shape;99;p17"/>
          <p:cNvSpPr txBox="1"/>
          <p:nvPr/>
        </p:nvSpPr>
        <p:spPr>
          <a:xfrm>
            <a:off x="4745619" y="1394797"/>
            <a:ext cx="4113255" cy="1661963"/>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C [3, 8]</a:t>
            </a: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3,    j = 8,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3</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i ≠ 1 and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C [i, j] = min { C [i – 1, j], 1 + C [i, j – d</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 C [2, 8], 1 + C [3, 2] }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min {2, 1 + 2}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2</a:t>
            </a:r>
          </a:p>
        </p:txBody>
      </p:sp>
      <p:sp>
        <p:nvSpPr>
          <p:cNvPr id="9" name="Google Shape;99;p17"/>
          <p:cNvSpPr txBox="1"/>
          <p:nvPr/>
        </p:nvSpPr>
        <p:spPr>
          <a:xfrm>
            <a:off x="4745620" y="3375662"/>
            <a:ext cx="4113255" cy="1292631"/>
          </a:xfrm>
          <a:prstGeom prst="rect">
            <a:avLst/>
          </a:prstGeom>
          <a:noFill/>
          <a:ln>
            <a:solidFill>
              <a:schemeClr val="accent1"/>
            </a:solidFill>
          </a:ln>
        </p:spPr>
        <p:txBody>
          <a:bodyPr spcFirstLastPara="1" wrap="square" lIns="91425" tIns="91425" rIns="91425" bIns="91425" anchor="t" anchorCtr="0">
            <a:spAutoFit/>
          </a:bodyPr>
          <a:lstStyle/>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=1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1 + C[1, j-d1]</a:t>
            </a:r>
          </a:p>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if j&lt;di then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C[i-1, j]</a:t>
            </a:r>
          </a:p>
          <a:p>
            <a:pPr marL="0"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Otherwise 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 = min{c[i-1,j], 1+c[</a:t>
            </a:r>
            <a:r>
              <a:rPr kumimoji="0" lang="en-IN" sz="1600" b="0" i="0" u="none" strike="noStrike" kern="0" cap="none" spc="0" normalizeH="0" baseline="0" noProof="0" dirty="0" err="1">
                <a:ln>
                  <a:noFill/>
                </a:ln>
                <a:solidFill>
                  <a:srgbClr val="4285F4">
                    <a:lumMod val="75000"/>
                  </a:srgbClr>
                </a:solidFill>
                <a:effectLst/>
                <a:uLnTx/>
                <a:uFillTx/>
                <a:latin typeface="Trebuchet MS" panose="020B0603020202020204" pitchFamily="34" charset="0"/>
                <a:sym typeface="Arial"/>
              </a:rPr>
              <a:t>i,j</a:t>
            </a:r>
            <a:r>
              <a:rPr kumimoji="0" lang="en-IN" sz="1600" b="0" i="0" u="none" strike="noStrike" kern="0" cap="none" spc="0" normalizeH="0" baseline="0" noProof="0" dirty="0">
                <a:ln>
                  <a:noFill/>
                </a:ln>
                <a:solidFill>
                  <a:srgbClr val="4285F4">
                    <a:lumMod val="75000"/>
                  </a:srgbClr>
                </a:solidFill>
                <a:effectLst/>
                <a:uLnTx/>
                <a:uFillTx/>
                <a:latin typeface="Trebuchet MS" panose="020B0603020202020204" pitchFamily="34" charset="0"/>
                <a:sym typeface="Arial"/>
              </a:rPr>
              <a:t>-di]}</a:t>
            </a:r>
          </a:p>
        </p:txBody>
      </p:sp>
    </p:spTree>
    <p:extLst>
      <p:ext uri="{BB962C8B-B14F-4D97-AF65-F5344CB8AC3E}">
        <p14:creationId xmlns:p14="http://schemas.microsoft.com/office/powerpoint/2010/main" val="264853297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pic>
        <p:nvPicPr>
          <p:cNvPr id="3" name="Picture 2"/>
          <p:cNvPicPr>
            <a:picLocks noChangeAspect="1"/>
          </p:cNvPicPr>
          <p:nvPr/>
        </p:nvPicPr>
        <p:blipFill rotWithShape="1">
          <a:blip r:embed="rId6"/>
          <a:srcRect l="1412" t="8575" r="1554" b="19191"/>
          <a:stretch/>
        </p:blipFill>
        <p:spPr>
          <a:xfrm>
            <a:off x="520860" y="1180617"/>
            <a:ext cx="7951807" cy="2847373"/>
          </a:xfrm>
          <a:prstGeom prst="rect">
            <a:avLst/>
          </a:prstGeom>
        </p:spPr>
      </p:pic>
      <p:cxnSp>
        <p:nvCxnSpPr>
          <p:cNvPr id="7" name="Straight Connector 6">
            <a:extLst>
              <a:ext uri="{FF2B5EF4-FFF2-40B4-BE49-F238E27FC236}">
                <a16:creationId xmlns:a16="http://schemas.microsoft.com/office/drawing/2014/main" id="{33223428-5340-CF93-8455-CB3E3A8F9C02}"/>
              </a:ext>
            </a:extLst>
          </p:cNvPr>
          <p:cNvCxnSpPr>
            <a:cxnSpLocks/>
          </p:cNvCxnSpPr>
          <p:nvPr/>
        </p:nvCxnSpPr>
        <p:spPr>
          <a:xfrm>
            <a:off x="848365" y="2074985"/>
            <a:ext cx="73700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2E109ED-919F-1B91-D628-D082C03794A2}"/>
              </a:ext>
            </a:extLst>
          </p:cNvPr>
          <p:cNvCxnSpPr/>
          <p:nvPr/>
        </p:nvCxnSpPr>
        <p:spPr>
          <a:xfrm>
            <a:off x="868102" y="2426677"/>
            <a:ext cx="7362490" cy="11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7BBB160-442E-C7D7-3158-484205529C18}"/>
              </a:ext>
            </a:extLst>
          </p:cNvPr>
          <p:cNvCxnSpPr/>
          <p:nvPr/>
        </p:nvCxnSpPr>
        <p:spPr>
          <a:xfrm>
            <a:off x="848365" y="2813537"/>
            <a:ext cx="7382227"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EFAC7B6-F095-57A2-5FFF-7380FDC7466A}"/>
              </a:ext>
            </a:extLst>
          </p:cNvPr>
          <p:cNvCxnSpPr/>
          <p:nvPr/>
        </p:nvCxnSpPr>
        <p:spPr>
          <a:xfrm flipV="1">
            <a:off x="868102" y="3200400"/>
            <a:ext cx="7362490" cy="520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C4A30C-F727-76C6-B77C-4224D10FE7C3}"/>
              </a:ext>
            </a:extLst>
          </p:cNvPr>
          <p:cNvCxnSpPr>
            <a:cxnSpLocks/>
          </p:cNvCxnSpPr>
          <p:nvPr/>
        </p:nvCxnSpPr>
        <p:spPr>
          <a:xfrm>
            <a:off x="828629" y="3657600"/>
            <a:ext cx="73775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E7260A-FBD2-B3F6-C3A0-3FFB01D0609D}"/>
              </a:ext>
            </a:extLst>
          </p:cNvPr>
          <p:cNvCxnSpPr/>
          <p:nvPr/>
        </p:nvCxnSpPr>
        <p:spPr>
          <a:xfrm>
            <a:off x="828629" y="1735015"/>
            <a:ext cx="73775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4ECB490-5628-9FB9-F677-CB27E00F38FF}"/>
              </a:ext>
            </a:extLst>
          </p:cNvPr>
          <p:cNvCxnSpPr/>
          <p:nvPr/>
        </p:nvCxnSpPr>
        <p:spPr>
          <a:xfrm>
            <a:off x="2945311" y="1371686"/>
            <a:ext cx="0" cy="228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E459A0C-D456-1E13-78D1-765546FDDA06}"/>
              </a:ext>
            </a:extLst>
          </p:cNvPr>
          <p:cNvCxnSpPr/>
          <p:nvPr/>
        </p:nvCxnSpPr>
        <p:spPr>
          <a:xfrm>
            <a:off x="1894316" y="1344230"/>
            <a:ext cx="24782" cy="228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B9B5F02-21E5-71F1-125B-981392F74BF0}"/>
              </a:ext>
            </a:extLst>
          </p:cNvPr>
          <p:cNvCxnSpPr/>
          <p:nvPr/>
        </p:nvCxnSpPr>
        <p:spPr>
          <a:xfrm>
            <a:off x="868102" y="1371686"/>
            <a:ext cx="0" cy="228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FACBD5E-A5DB-1F13-BC67-5205931B6F46}"/>
              </a:ext>
            </a:extLst>
          </p:cNvPr>
          <p:cNvCxnSpPr>
            <a:cxnSpLocks/>
          </p:cNvCxnSpPr>
          <p:nvPr/>
        </p:nvCxnSpPr>
        <p:spPr>
          <a:xfrm flipH="1">
            <a:off x="3482346" y="1371686"/>
            <a:ext cx="22259" cy="228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FF7DE1F-8B3E-71FC-5EE6-0F063CD5414B}"/>
              </a:ext>
            </a:extLst>
          </p:cNvPr>
          <p:cNvCxnSpPr>
            <a:cxnSpLocks/>
          </p:cNvCxnSpPr>
          <p:nvPr/>
        </p:nvCxnSpPr>
        <p:spPr>
          <a:xfrm>
            <a:off x="4125927" y="1371686"/>
            <a:ext cx="2229" cy="228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8F90550-57AB-5175-EC6C-7C0445A0DD43}"/>
              </a:ext>
            </a:extLst>
          </p:cNvPr>
          <p:cNvCxnSpPr/>
          <p:nvPr/>
        </p:nvCxnSpPr>
        <p:spPr>
          <a:xfrm>
            <a:off x="4719530" y="1371686"/>
            <a:ext cx="4871" cy="228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7714D9A-40EE-9420-CE90-24763FDFC0E1}"/>
              </a:ext>
            </a:extLst>
          </p:cNvPr>
          <p:cNvCxnSpPr/>
          <p:nvPr/>
        </p:nvCxnSpPr>
        <p:spPr>
          <a:xfrm>
            <a:off x="5312780" y="1371686"/>
            <a:ext cx="9497" cy="228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D6D0A8E-81C5-D132-8FEF-2897AE1D3069}"/>
              </a:ext>
            </a:extLst>
          </p:cNvPr>
          <p:cNvCxnSpPr/>
          <p:nvPr/>
        </p:nvCxnSpPr>
        <p:spPr>
          <a:xfrm>
            <a:off x="5926238" y="1371686"/>
            <a:ext cx="17362" cy="228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E5F14EB-05EE-7C91-EB5F-C81A7D8A36F1}"/>
              </a:ext>
            </a:extLst>
          </p:cNvPr>
          <p:cNvCxnSpPr/>
          <p:nvPr/>
        </p:nvCxnSpPr>
        <p:spPr>
          <a:xfrm>
            <a:off x="6504972" y="1371686"/>
            <a:ext cx="1336" cy="228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6507949-0382-B1D3-22F1-E628916EB8CB}"/>
              </a:ext>
            </a:extLst>
          </p:cNvPr>
          <p:cNvCxnSpPr/>
          <p:nvPr/>
        </p:nvCxnSpPr>
        <p:spPr>
          <a:xfrm>
            <a:off x="7088083" y="1371686"/>
            <a:ext cx="16102" cy="228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547D00F-4F9B-FA4D-3EF0-09E73D4FFF5C}"/>
              </a:ext>
            </a:extLst>
          </p:cNvPr>
          <p:cNvCxnSpPr/>
          <p:nvPr/>
        </p:nvCxnSpPr>
        <p:spPr>
          <a:xfrm>
            <a:off x="7685590" y="1371686"/>
            <a:ext cx="4748" cy="228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AAE32EF-F53F-509D-BA33-944FDB4ABB03}"/>
              </a:ext>
            </a:extLst>
          </p:cNvPr>
          <p:cNvCxnSpPr/>
          <p:nvPr/>
        </p:nvCxnSpPr>
        <p:spPr>
          <a:xfrm>
            <a:off x="817698" y="1354410"/>
            <a:ext cx="7388456" cy="17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36EF1E1-68C1-2E16-EBE6-1237E9DEE7D8}"/>
              </a:ext>
            </a:extLst>
          </p:cNvPr>
          <p:cNvCxnSpPr/>
          <p:nvPr/>
        </p:nvCxnSpPr>
        <p:spPr>
          <a:xfrm flipH="1">
            <a:off x="8206154" y="1371686"/>
            <a:ext cx="24438" cy="228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367D9A2-B264-D9F8-D3D4-2438B85DFEB7}"/>
              </a:ext>
            </a:extLst>
          </p:cNvPr>
          <p:cNvCxnSpPr/>
          <p:nvPr/>
        </p:nvCxnSpPr>
        <p:spPr>
          <a:xfrm>
            <a:off x="1933857" y="1746218"/>
            <a:ext cx="999235" cy="311347"/>
          </a:xfrm>
          <a:prstGeom prst="line">
            <a:avLst/>
          </a:prstGeom>
        </p:spPr>
        <p:style>
          <a:lnRef idx="1">
            <a:schemeClr val="accent1"/>
          </a:lnRef>
          <a:fillRef idx="0">
            <a:schemeClr val="accent1"/>
          </a:fillRef>
          <a:effectRef idx="0">
            <a:schemeClr val="accent1"/>
          </a:effectRef>
          <a:fontRef idx="minor">
            <a:schemeClr val="tx1"/>
          </a:fontRef>
        </p:style>
      </p:cxnSp>
      <p:sp>
        <p:nvSpPr>
          <p:cNvPr id="57" name="Freeform: Shape 56">
            <a:extLst>
              <a:ext uri="{FF2B5EF4-FFF2-40B4-BE49-F238E27FC236}">
                <a16:creationId xmlns:a16="http://schemas.microsoft.com/office/drawing/2014/main" id="{503B6166-FAF4-FB4B-C330-2AB6CBA8C5CE}"/>
              </a:ext>
            </a:extLst>
          </p:cNvPr>
          <p:cNvSpPr/>
          <p:nvPr/>
        </p:nvSpPr>
        <p:spPr>
          <a:xfrm>
            <a:off x="7787391" y="3352235"/>
            <a:ext cx="477378" cy="399150"/>
          </a:xfrm>
          <a:custGeom>
            <a:avLst/>
            <a:gdLst>
              <a:gd name="connsiteX0" fmla="*/ 324978 w 477378"/>
              <a:gd name="connsiteY0" fmla="*/ 35734 h 399150"/>
              <a:gd name="connsiteX1" fmla="*/ 266363 w 477378"/>
              <a:gd name="connsiteY1" fmla="*/ 24011 h 399150"/>
              <a:gd name="connsiteX2" fmla="*/ 219471 w 477378"/>
              <a:gd name="connsiteY2" fmla="*/ 565 h 399150"/>
              <a:gd name="connsiteX3" fmla="*/ 20178 w 477378"/>
              <a:gd name="connsiteY3" fmla="*/ 12288 h 399150"/>
              <a:gd name="connsiteX4" fmla="*/ 20178 w 477378"/>
              <a:gd name="connsiteY4" fmla="*/ 235027 h 399150"/>
              <a:gd name="connsiteX5" fmla="*/ 43624 w 477378"/>
              <a:gd name="connsiteY5" fmla="*/ 281919 h 399150"/>
              <a:gd name="connsiteX6" fmla="*/ 78794 w 477378"/>
              <a:gd name="connsiteY6" fmla="*/ 305365 h 399150"/>
              <a:gd name="connsiteX7" fmla="*/ 113963 w 477378"/>
              <a:gd name="connsiteY7" fmla="*/ 340534 h 399150"/>
              <a:gd name="connsiteX8" fmla="*/ 137409 w 477378"/>
              <a:gd name="connsiteY8" fmla="*/ 375703 h 399150"/>
              <a:gd name="connsiteX9" fmla="*/ 242917 w 477378"/>
              <a:gd name="connsiteY9" fmla="*/ 399150 h 399150"/>
              <a:gd name="connsiteX10" fmla="*/ 371871 w 477378"/>
              <a:gd name="connsiteY10" fmla="*/ 375703 h 399150"/>
              <a:gd name="connsiteX11" fmla="*/ 477378 w 477378"/>
              <a:gd name="connsiteY11" fmla="*/ 258473 h 399150"/>
              <a:gd name="connsiteX12" fmla="*/ 442209 w 477378"/>
              <a:gd name="connsiteY12" fmla="*/ 117796 h 399150"/>
              <a:gd name="connsiteX13" fmla="*/ 407040 w 477378"/>
              <a:gd name="connsiteY13" fmla="*/ 106073 h 399150"/>
              <a:gd name="connsiteX14" fmla="*/ 336701 w 477378"/>
              <a:gd name="connsiteY14" fmla="*/ 59180 h 399150"/>
              <a:gd name="connsiteX15" fmla="*/ 301532 w 477378"/>
              <a:gd name="connsiteY15" fmla="*/ 35734 h 399150"/>
              <a:gd name="connsiteX16" fmla="*/ 242917 w 477378"/>
              <a:gd name="connsiteY16" fmla="*/ 24011 h 39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7378" h="399150">
                <a:moveTo>
                  <a:pt x="324978" y="35734"/>
                </a:moveTo>
                <a:cubicBezTo>
                  <a:pt x="305440" y="31826"/>
                  <a:pt x="285266" y="30312"/>
                  <a:pt x="266363" y="24011"/>
                </a:cubicBezTo>
                <a:cubicBezTo>
                  <a:pt x="249784" y="18485"/>
                  <a:pt x="236927" y="1396"/>
                  <a:pt x="219471" y="565"/>
                </a:cubicBezTo>
                <a:cubicBezTo>
                  <a:pt x="153000" y="-2600"/>
                  <a:pt x="86609" y="8380"/>
                  <a:pt x="20178" y="12288"/>
                </a:cubicBezTo>
                <a:cubicBezTo>
                  <a:pt x="-8976" y="99749"/>
                  <a:pt x="-4379" y="71313"/>
                  <a:pt x="20178" y="235027"/>
                </a:cubicBezTo>
                <a:cubicBezTo>
                  <a:pt x="22770" y="252309"/>
                  <a:pt x="32436" y="268494"/>
                  <a:pt x="43624" y="281919"/>
                </a:cubicBezTo>
                <a:cubicBezTo>
                  <a:pt x="52644" y="292743"/>
                  <a:pt x="67970" y="296345"/>
                  <a:pt x="78794" y="305365"/>
                </a:cubicBezTo>
                <a:cubicBezTo>
                  <a:pt x="91530" y="315978"/>
                  <a:pt x="103349" y="327798"/>
                  <a:pt x="113963" y="340534"/>
                </a:cubicBezTo>
                <a:cubicBezTo>
                  <a:pt x="122983" y="351358"/>
                  <a:pt x="125686" y="367888"/>
                  <a:pt x="137409" y="375703"/>
                </a:cubicBezTo>
                <a:cubicBezTo>
                  <a:pt x="144508" y="380435"/>
                  <a:pt x="241621" y="398891"/>
                  <a:pt x="242917" y="399150"/>
                </a:cubicBezTo>
                <a:cubicBezTo>
                  <a:pt x="285902" y="391334"/>
                  <a:pt x="332340" y="394306"/>
                  <a:pt x="371871" y="375703"/>
                </a:cubicBezTo>
                <a:cubicBezTo>
                  <a:pt x="404385" y="360402"/>
                  <a:pt x="452743" y="291319"/>
                  <a:pt x="477378" y="258473"/>
                </a:cubicBezTo>
                <a:cubicBezTo>
                  <a:pt x="473334" y="222078"/>
                  <a:pt x="481606" y="149314"/>
                  <a:pt x="442209" y="117796"/>
                </a:cubicBezTo>
                <a:cubicBezTo>
                  <a:pt x="432560" y="110077"/>
                  <a:pt x="418763" y="109981"/>
                  <a:pt x="407040" y="106073"/>
                </a:cubicBezTo>
                <a:cubicBezTo>
                  <a:pt x="340372" y="39403"/>
                  <a:pt x="404564" y="93111"/>
                  <a:pt x="336701" y="59180"/>
                </a:cubicBezTo>
                <a:cubicBezTo>
                  <a:pt x="324099" y="52879"/>
                  <a:pt x="314482" y="41284"/>
                  <a:pt x="301532" y="35734"/>
                </a:cubicBezTo>
                <a:cubicBezTo>
                  <a:pt x="271967" y="23063"/>
                  <a:pt x="265630" y="24011"/>
                  <a:pt x="242917" y="24011"/>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p:cNvSpPr/>
          <p:nvPr/>
        </p:nvSpPr>
        <p:spPr>
          <a:xfrm>
            <a:off x="381966" y="4067697"/>
            <a:ext cx="7824188" cy="646331"/>
          </a:xfrm>
          <a:prstGeom prst="rect">
            <a:avLst/>
          </a:prstGeom>
        </p:spPr>
        <p:txBody>
          <a:bodyPr wrap="square">
            <a:spAutoFit/>
          </a:bodyPr>
          <a:lstStyle/>
          <a:p>
            <a:pPr marL="285750" indent="-285750">
              <a:buFont typeface="Arial" panose="020B0604020202020204" pitchFamily="34" charset="0"/>
              <a:buChar char="•"/>
            </a:pPr>
            <a:r>
              <a:rPr lang="en-US" sz="1800" dirty="0">
                <a:latin typeface="Trebuchet MS" panose="020B0603020202020204" pitchFamily="34" charset="0"/>
              </a:rPr>
              <a:t>Minimum number of coins required for change of amount 8 is 2. </a:t>
            </a:r>
            <a:endParaRPr lang="en-US" sz="1800" dirty="0" smtClean="0">
              <a:latin typeface="Trebuchet MS" panose="020B0603020202020204" pitchFamily="34" charset="0"/>
            </a:endParaRPr>
          </a:p>
          <a:p>
            <a:pPr marL="285750" indent="-285750">
              <a:buFont typeface="Arial" panose="020B0604020202020204" pitchFamily="34" charset="0"/>
              <a:buChar char="•"/>
            </a:pPr>
            <a:r>
              <a:rPr lang="en-US" sz="1800" dirty="0" smtClean="0">
                <a:latin typeface="Trebuchet MS" panose="020B0603020202020204" pitchFamily="34" charset="0"/>
              </a:rPr>
              <a:t>Let </a:t>
            </a:r>
            <a:r>
              <a:rPr lang="en-US" sz="1800" dirty="0">
                <a:latin typeface="Trebuchet MS" panose="020B0603020202020204" pitchFamily="34" charset="0"/>
              </a:rPr>
              <a:t>us trace the solution and find the denominations required for that.</a:t>
            </a:r>
            <a:endParaRPr lang="en-IN" sz="1800" dirty="0">
              <a:latin typeface="Trebuchet MS" panose="020B0603020202020204" pitchFamily="34" charset="0"/>
            </a:endParaRPr>
          </a:p>
        </p:txBody>
      </p:sp>
      <p:sp>
        <p:nvSpPr>
          <p:cNvPr id="48" name="Rectangle 47"/>
          <p:cNvSpPr/>
          <p:nvPr/>
        </p:nvSpPr>
        <p:spPr>
          <a:xfrm>
            <a:off x="520859" y="855420"/>
            <a:ext cx="3831221" cy="369332"/>
          </a:xfrm>
          <a:prstGeom prst="rect">
            <a:avLst/>
          </a:prstGeom>
        </p:spPr>
        <p:txBody>
          <a:bodyPr wrap="square">
            <a:spAutoFit/>
          </a:bodyPr>
          <a:lstStyle/>
          <a:p>
            <a:r>
              <a:rPr lang="en-US" sz="1800" dirty="0">
                <a:latin typeface="Trebuchet MS" panose="020B0603020202020204" pitchFamily="34" charset="0"/>
              </a:rPr>
              <a:t>Finally, table would look like,</a:t>
            </a:r>
            <a:endParaRPr lang="en-IN" sz="1800" dirty="0">
              <a:latin typeface="Trebuchet MS" panose="020B0603020202020204" pitchFamily="34" charset="0"/>
            </a:endParaRPr>
          </a:p>
        </p:txBody>
      </p:sp>
    </p:spTree>
    <p:extLst>
      <p:ext uri="{BB962C8B-B14F-4D97-AF65-F5344CB8AC3E}">
        <p14:creationId xmlns:p14="http://schemas.microsoft.com/office/powerpoint/2010/main" val="42310178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9" name="Google Shape;99;p17"/>
          <p:cNvSpPr txBox="1"/>
          <p:nvPr/>
        </p:nvSpPr>
        <p:spPr>
          <a:xfrm>
            <a:off x="330212" y="692968"/>
            <a:ext cx="8483526" cy="4001065"/>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1" i="0" u="none" strike="noStrike" kern="0" cap="none" spc="0" normalizeH="0" baseline="0" noProof="0" dirty="0">
                <a:ln>
                  <a:noFill/>
                </a:ln>
                <a:solidFill>
                  <a:srgbClr val="0070C0"/>
                </a:solidFill>
                <a:effectLst/>
                <a:uLnTx/>
                <a:uFillTx/>
                <a:latin typeface="Trebuchet MS" panose="020B0603020202020204" pitchFamily="34" charset="0"/>
                <a:sym typeface="Arial"/>
              </a:rPr>
              <a:t>TRACING SOLUTION:</a:t>
            </a:r>
          </a:p>
          <a:p>
            <a:pPr marL="0" marR="0" lvl="0" indent="0" algn="l" defTabSz="914400" rtl="0" eaLnBrk="1" fontAlgn="base" latinLnBrk="0" hangingPunct="1">
              <a:lnSpc>
                <a:spcPct val="15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For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last cell in table, i and j would be 3 and 8 respectively.</a:t>
            </a:r>
          </a:p>
          <a:p>
            <a:pPr marL="0" marR="0" lvl="0" indent="0" algn="l" defTabSz="914400" rtl="0" eaLnBrk="1" fontAlgn="base" latinLnBrk="0" hangingPunct="1">
              <a:lnSpc>
                <a:spcPct val="15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C[n</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N] = C[</a:t>
            </a:r>
            <a:r>
              <a:rPr kumimoji="0" lang="en-IN" sz="20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j] = C[3, 8] = 2</a:t>
            </a:r>
          </a:p>
          <a:p>
            <a:pPr marL="0" marR="0" lvl="0" indent="0" algn="l" defTabSz="914400" rtl="0" eaLnBrk="1" fontAlgn="base" latinLnBrk="0" hangingPunct="1">
              <a:lnSpc>
                <a:spcPct val="150000"/>
              </a:lnSpc>
              <a:spcBef>
                <a:spcPts val="0"/>
              </a:spcBef>
              <a:spcAft>
                <a:spcPts val="0"/>
              </a:spcAft>
              <a:buClr>
                <a:srgbClr val="000000"/>
              </a:buClr>
              <a:buSzTx/>
              <a:buFont typeface="Arial"/>
              <a:buNone/>
              <a:tabLst/>
              <a:defRPr/>
            </a:pPr>
            <a:endParaRPr kumimoji="0" lang="en-IN" sz="2000" b="1"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70C0"/>
                </a:solidFill>
                <a:effectLst/>
                <a:uLnTx/>
                <a:uFillTx/>
                <a:latin typeface="Trebuchet MS" panose="020B0603020202020204" pitchFamily="34" charset="0"/>
                <a:sym typeface="Arial"/>
              </a:rPr>
              <a:t>Step 1 :</a:t>
            </a:r>
            <a:r>
              <a:rPr kumimoji="0" lang="en-IN" sz="20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2000" b="1" i="0" u="none" strike="noStrike" kern="0" cap="none" spc="0" normalizeH="0" baseline="0" noProof="0" dirty="0">
                <a:ln>
                  <a:noFill/>
                </a:ln>
                <a:solidFill>
                  <a:srgbClr val="FF0000"/>
                </a:solidFill>
                <a:effectLst/>
                <a:uLnTx/>
                <a:uFillTx/>
                <a:latin typeface="Trebuchet MS" panose="020B0603020202020204" pitchFamily="34" charset="0"/>
                <a:sym typeface="Arial"/>
              </a:rPr>
              <a:t>(i = 3, j = 8) </a:t>
            </a:r>
            <a:r>
              <a:rPr kumimoji="0" lang="en-IN" sz="20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C[3, 8] = 2 and C[2, 8] = 2</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342900" marR="0" lvl="0" indent="-342900" algn="l" defTabSz="914400" rtl="0" eaLnBrk="1" fontAlgn="base"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Here, C[</a:t>
            </a:r>
            <a:r>
              <a:rPr kumimoji="0" lang="en-IN" sz="20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j] = C[</a:t>
            </a:r>
            <a:r>
              <a:rPr kumimoji="0" lang="en-IN" sz="20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 1, j], implies nothing was added in previous solution. </a:t>
            </a:r>
          </a:p>
          <a:p>
            <a:pPr marL="342900" marR="0" lvl="0" indent="-342900" algn="l" defTabSz="914400" rtl="0" eaLnBrk="1" fontAlgn="base"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Algorithm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has propagated the solution of previous iteration in current iteration. </a:t>
            </a:r>
          </a:p>
          <a:p>
            <a:pPr marL="342900" marR="0" lvl="0" indent="-342900" algn="l" defTabSz="914400" rtl="0" eaLnBrk="1" fontAlgn="base"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So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go to previous step by reducing i. So, i = i – 1 = 3 – 1 = 2</a:t>
            </a:r>
          </a:p>
        </p:txBody>
      </p:sp>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34871"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08344" y="134250"/>
            <a:ext cx="6983566"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Tree>
    <p:extLst>
      <p:ext uri="{BB962C8B-B14F-4D97-AF65-F5344CB8AC3E}">
        <p14:creationId xmlns:p14="http://schemas.microsoft.com/office/powerpoint/2010/main" val="5578796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290604" y="817718"/>
            <a:ext cx="8228363" cy="2954625"/>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base" latinLnBrk="0" hangingPunct="1">
              <a:lnSpc>
                <a:spcPct val="15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70C0"/>
                </a:solidFill>
                <a:effectLst/>
                <a:uLnTx/>
                <a:uFillTx/>
                <a:latin typeface="Trebuchet MS" panose="020B0603020202020204" pitchFamily="34" charset="0"/>
                <a:sym typeface="Arial"/>
              </a:rPr>
              <a:t>Step 2 :</a:t>
            </a:r>
            <a:r>
              <a:rPr kumimoji="0" lang="en-IN" sz="20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2000" b="1" i="0" u="none" strike="noStrike" kern="0" cap="none" spc="0" normalizeH="0" baseline="0" noProof="0" dirty="0">
                <a:ln>
                  <a:noFill/>
                </a:ln>
                <a:solidFill>
                  <a:srgbClr val="FF0000"/>
                </a:solidFill>
                <a:effectLst/>
                <a:uLnTx/>
                <a:uFillTx/>
                <a:latin typeface="Trebuchet MS" panose="020B0603020202020204" pitchFamily="34" charset="0"/>
                <a:sym typeface="Arial"/>
              </a:rPr>
              <a:t>(i = 2, j = 8) </a:t>
            </a:r>
            <a:r>
              <a:rPr kumimoji="0" lang="en-IN" sz="20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C[2, 8] = 2 and C[1, 8] = 8</a:t>
            </a:r>
          </a:p>
          <a:p>
            <a:pPr marL="342900" marR="0" lvl="0" indent="-342900" algn="l" defTabSz="914400" rtl="0" eaLnBrk="1" fontAlgn="base"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Here</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C[i, j] ≠ C[i – 1, j], implies denomination d</a:t>
            </a:r>
            <a:r>
              <a:rPr kumimoji="0" lang="en-IN" sz="20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20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 4 was added in previous solution. </a:t>
            </a:r>
          </a:p>
          <a:p>
            <a:pPr marL="342900" marR="0" lvl="0" indent="-342900" algn="l" defTabSz="914400" rtl="0" eaLnBrk="1" fontAlgn="base"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So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add d</a:t>
            </a:r>
            <a:r>
              <a:rPr kumimoji="0" lang="en-IN" sz="20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in solution set and reduce problem size j by d</a:t>
            </a:r>
            <a:r>
              <a:rPr kumimoji="0" lang="en-IN" sz="20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342900" marR="0" lvl="0" indent="-342900" algn="l" defTabSz="914400" rtl="0" eaLnBrk="1" fontAlgn="base"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Solution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set S = {4}, j = j – d</a:t>
            </a:r>
            <a:r>
              <a:rPr kumimoji="0" lang="en-IN" sz="20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 8 – 4 = 4.</a:t>
            </a:r>
          </a:p>
          <a:p>
            <a:pPr marL="342900" marR="0" lvl="0" indent="-342900" algn="l" defTabSz="914400" rtl="0" eaLnBrk="1" fontAlgn="base"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Now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we have, i = 2 and j = 4.</a:t>
            </a:r>
          </a:p>
        </p:txBody>
      </p:sp>
    </p:spTree>
    <p:extLst>
      <p:ext uri="{BB962C8B-B14F-4D97-AF65-F5344CB8AC3E}">
        <p14:creationId xmlns:p14="http://schemas.microsoft.com/office/powerpoint/2010/main" val="26409004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r>
              <a:rPr lang="en-IN" sz="2700" b="1" dirty="0">
                <a:solidFill>
                  <a:schemeClr val="bg1"/>
                </a:solidFill>
                <a:latin typeface="Proxima Nova"/>
              </a:rPr>
              <a:t>Making a Change Problem</a:t>
            </a:r>
          </a:p>
        </p:txBody>
      </p:sp>
      <p:sp>
        <p:nvSpPr>
          <p:cNvPr id="99" name="Google Shape;99;p17"/>
          <p:cNvSpPr txBox="1"/>
          <p:nvPr/>
        </p:nvSpPr>
        <p:spPr>
          <a:xfrm>
            <a:off x="451412" y="817718"/>
            <a:ext cx="8322717" cy="3416290"/>
          </a:xfrm>
          <a:prstGeom prst="rect">
            <a:avLst/>
          </a:prstGeom>
          <a:noFill/>
          <a:ln>
            <a:noFill/>
          </a:ln>
        </p:spPr>
        <p:txBody>
          <a:bodyPr spcFirstLastPara="1" wrap="square" lIns="91425" tIns="91425" rIns="91425" bIns="91425" anchor="t" anchorCtr="0">
            <a:spAutoFit/>
          </a:bodyPr>
          <a:lstStyle/>
          <a:p>
            <a:pPr marL="342900" marR="0" lvl="0" indent="-342900" algn="l" defTabSz="914400" rtl="0" eaLnBrk="1" fontAlgn="base"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1" i="0" u="none" strike="noStrike" kern="0" cap="none" spc="0" normalizeH="0" baseline="0" noProof="0" dirty="0">
                <a:ln>
                  <a:noFill/>
                </a:ln>
                <a:solidFill>
                  <a:srgbClr val="0070C0"/>
                </a:solidFill>
                <a:effectLst/>
                <a:uLnTx/>
                <a:uFillTx/>
                <a:latin typeface="Trebuchet MS" panose="020B0603020202020204" pitchFamily="34" charset="0"/>
                <a:sym typeface="Arial"/>
              </a:rPr>
              <a:t>Step 3 : </a:t>
            </a:r>
            <a:r>
              <a:rPr kumimoji="0" lang="en-IN" sz="2000" b="1" i="0" u="none" strike="noStrike" kern="0" cap="none" spc="0" normalizeH="0" baseline="0" noProof="0" dirty="0">
                <a:ln>
                  <a:noFill/>
                </a:ln>
                <a:solidFill>
                  <a:srgbClr val="FF0000"/>
                </a:solidFill>
                <a:effectLst/>
                <a:uLnTx/>
                <a:uFillTx/>
                <a:latin typeface="Trebuchet MS" panose="020B0603020202020204" pitchFamily="34" charset="0"/>
                <a:sym typeface="Arial"/>
              </a:rPr>
              <a:t>(i = 2, j = 4) </a:t>
            </a:r>
            <a:r>
              <a:rPr kumimoji="0" lang="en-IN" sz="20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C[2, 4] = 1 and C[1, 4] = 4</a:t>
            </a:r>
          </a:p>
          <a:p>
            <a:pPr marL="342900" marR="0" lvl="0" indent="-342900" algn="l" defTabSz="914400" rtl="0" eaLnBrk="1" fontAlgn="base"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Here</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C[</a:t>
            </a:r>
            <a:r>
              <a:rPr kumimoji="0" lang="en-IN" sz="20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j] ≠ C[</a:t>
            </a:r>
            <a:r>
              <a:rPr kumimoji="0" lang="en-IN" sz="20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 1, j], implies denomination d</a:t>
            </a:r>
            <a:r>
              <a:rPr kumimoji="0" lang="en-IN" sz="20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 d</a:t>
            </a:r>
            <a:r>
              <a:rPr kumimoji="0" lang="en-IN" sz="20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 4 was added in previous solution. </a:t>
            </a:r>
          </a:p>
          <a:p>
            <a:pPr marL="342900" marR="0" lvl="0" indent="-342900" algn="l" defTabSz="914400" rtl="0" eaLnBrk="1" fontAlgn="base"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So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add d</a:t>
            </a:r>
            <a:r>
              <a:rPr kumimoji="0" lang="en-IN" sz="20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in solution set and reduce problem size j by d</a:t>
            </a:r>
            <a:r>
              <a:rPr kumimoji="0" lang="en-IN" sz="20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342900" marR="0" lvl="0" indent="-342900" algn="l" defTabSz="914400" rtl="0" eaLnBrk="1" fontAlgn="base"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Solution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set S = {4, 4}, j = j – d</a:t>
            </a:r>
            <a:r>
              <a:rPr kumimoji="0" lang="en-IN" sz="20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 4 – 4 = 0.</a:t>
            </a:r>
          </a:p>
          <a:p>
            <a:pPr marL="342900" marR="0" lvl="0" indent="-342900" algn="l" defTabSz="914400" rtl="0" eaLnBrk="1" fontAlgn="base"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Problem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size </a:t>
            </a:r>
            <a:r>
              <a:rPr kumimoji="0" lang="en-IN" sz="2000" b="0" i="0" u="none" strike="noStrike" kern="0" cap="none" spc="0" normalizeH="0" baseline="0" noProof="0" dirty="0">
                <a:ln>
                  <a:noFill/>
                </a:ln>
                <a:solidFill>
                  <a:srgbClr val="0070C0"/>
                </a:solidFill>
                <a:effectLst/>
                <a:uLnTx/>
                <a:uFillTx/>
                <a:latin typeface="Trebuchet MS" panose="020B0603020202020204" pitchFamily="34" charset="0"/>
                <a:sym typeface="Arial"/>
              </a:rPr>
              <a:t>j is zero</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So stop. </a:t>
            </a:r>
          </a:p>
          <a:p>
            <a:pPr marL="342900" marR="0" lvl="0" indent="-342900" algn="l" defTabSz="914400" rtl="0" eaLnBrk="1" fontAlgn="base"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We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need two coins of amount 4 for optimal change of amount 8.</a:t>
            </a:r>
          </a:p>
        </p:txBody>
      </p:sp>
    </p:spTree>
    <p:extLst>
      <p:ext uri="{BB962C8B-B14F-4D97-AF65-F5344CB8AC3E}">
        <p14:creationId xmlns:p14="http://schemas.microsoft.com/office/powerpoint/2010/main" val="115969510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38" y="9525"/>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6B47A1EB-DAAF-D9EF-454E-088CA6ADE8C1}"/>
              </a:ext>
            </a:extLst>
          </p:cNvPr>
          <p:cNvSpPr txBox="1"/>
          <p:nvPr/>
        </p:nvSpPr>
        <p:spPr>
          <a:xfrm>
            <a:off x="159000" y="148588"/>
            <a:ext cx="4645572" cy="507831"/>
          </a:xfrm>
          <a:prstGeom prst="rect">
            <a:avLst/>
          </a:prstGeom>
          <a:noFill/>
        </p:spPr>
        <p:txBody>
          <a:bodyPr wrap="square">
            <a:spAutoFit/>
          </a:bodyPr>
          <a:lstStyle/>
          <a:p>
            <a:pPr marL="0" lvl="0" indent="0" defTabSz="914400" eaLnBrk="1" fontAlgn="auto" latinLnBrk="0" hangingPunct="1">
              <a:buSzTx/>
              <a:buFont typeface="Arial"/>
              <a:buNone/>
              <a:tabLst/>
              <a:defRPr/>
            </a:pPr>
            <a:r>
              <a:rPr lang="en-IN" sz="2700" b="1" dirty="0">
                <a:solidFill>
                  <a:schemeClr val="bg1"/>
                </a:solidFill>
                <a:latin typeface="Proxima Nova"/>
              </a:rPr>
              <a:t>Knapsack </a:t>
            </a:r>
            <a:r>
              <a:rPr lang="en-IN" sz="2700" b="1" dirty="0" smtClean="0">
                <a:solidFill>
                  <a:schemeClr val="bg1"/>
                </a:solidFill>
                <a:latin typeface="Proxima Nova"/>
              </a:rPr>
              <a:t>Problem</a:t>
            </a:r>
            <a:endParaRPr lang="en-IN" sz="2700" b="1" dirty="0">
              <a:solidFill>
                <a:schemeClr val="bg1"/>
              </a:solidFill>
              <a:latin typeface="Proxima Nova"/>
            </a:endParaRPr>
          </a:p>
        </p:txBody>
      </p:sp>
      <p:sp>
        <p:nvSpPr>
          <p:cNvPr id="6" name="TextBox 5">
            <a:extLst>
              <a:ext uri="{FF2B5EF4-FFF2-40B4-BE49-F238E27FC236}">
                <a16:creationId xmlns:a16="http://schemas.microsoft.com/office/drawing/2014/main" id="{E3EA5BAB-B2EE-7DF6-DFA7-48FDB1015D97}"/>
              </a:ext>
            </a:extLst>
          </p:cNvPr>
          <p:cNvSpPr txBox="1"/>
          <p:nvPr/>
        </p:nvSpPr>
        <p:spPr>
          <a:xfrm>
            <a:off x="254918" y="940656"/>
            <a:ext cx="8165890" cy="3631763"/>
          </a:xfrm>
          <a:prstGeom prst="rect">
            <a:avLst/>
          </a:prstGeom>
          <a:noFill/>
        </p:spPr>
        <p:txBody>
          <a:bodyPr wrap="square">
            <a:spAutoFit/>
          </a:bodyPr>
          <a:lstStyle/>
          <a:p>
            <a:pPr marL="331470" marR="45720" lvl="0" indent="-285750" algn="just" defTabSz="914400" rtl="0" eaLnBrk="1" fontAlgn="auto" latinLnBrk="0" hangingPunct="1">
              <a:spcBef>
                <a:spcPts val="600"/>
              </a:spcBef>
              <a:spcAft>
                <a:spcPts val="60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A dynamic programming is a technique for solving problems with overlapping subproblems. These subproblems are typically based on recurrence relation.</a:t>
            </a:r>
          </a:p>
          <a:p>
            <a:pPr marL="331470" marR="45720" lvl="0" indent="-285750" algn="just" defTabSz="914400" rtl="0" eaLnBrk="1" fontAlgn="auto" latinLnBrk="0" hangingPunct="1">
              <a:spcBef>
                <a:spcPts val="600"/>
              </a:spcBef>
              <a:spcAft>
                <a:spcPts val="60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The method of solving knapsack problem also using dynamic programming approach. </a:t>
            </a:r>
          </a:p>
          <a:p>
            <a:pPr marL="331470" marR="45720" lvl="0" indent="-285750" algn="just" defTabSz="914400" rtl="0" eaLnBrk="1" fontAlgn="auto" latinLnBrk="0" hangingPunct="1">
              <a:spcBef>
                <a:spcPts val="600"/>
              </a:spcBef>
              <a:spcAft>
                <a:spcPts val="600"/>
              </a:spcAft>
              <a:buClr>
                <a:srgbClr val="000000"/>
              </a:buClr>
              <a:buSzTx/>
              <a:buFont typeface="Arial" panose="020B0604020202020204" pitchFamily="34" charset="0"/>
              <a:buChar char="•"/>
              <a:tabLst/>
              <a:defRPr/>
            </a:pPr>
            <a:r>
              <a:rPr kumimoji="0" lang="en-US" sz="2000" b="1" i="0" u="none" strike="noStrike" kern="0" cap="none" spc="0" normalizeH="0" baseline="0" noProof="0" dirty="0">
                <a:ln>
                  <a:noFill/>
                </a:ln>
                <a:solidFill>
                  <a:srgbClr val="D60093"/>
                </a:solidFill>
                <a:effectLst/>
                <a:uLnTx/>
                <a:uFillTx/>
                <a:latin typeface="Trebuchet MS" panose="020B0603020202020204" pitchFamily="34" charset="0"/>
                <a:sym typeface="Arial"/>
              </a:rPr>
              <a:t>The knapsack problem can be defined as follows : </a:t>
            </a:r>
          </a:p>
          <a:p>
            <a:pPr marL="357188" marR="45720" lvl="0" indent="0" algn="just" defTabSz="914400" rtl="0" eaLnBrk="1" fontAlgn="auto" latinLnBrk="0" hangingPunct="1">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If there are n items with the weights </a:t>
            </a:r>
            <a:r>
              <a:rPr kumimoji="0" lang="en-US" sz="2000" b="0" i="0" u="none" strike="noStrike" kern="0" cap="none" spc="50" normalizeH="0" baseline="0" noProof="0" dirty="0">
                <a:ln>
                  <a:noFill/>
                </a:ln>
                <a:solidFill>
                  <a:srgbClr val="0070C0"/>
                </a:solidFill>
                <a:effectLst/>
                <a:uLnTx/>
                <a:uFillTx/>
                <a:latin typeface="Trebuchet MS" panose="020B0603020202020204" pitchFamily="34" charset="0"/>
                <a:ea typeface="Calibri" panose="020F0502020204030204" pitchFamily="34" charset="0"/>
                <a:sym typeface="Arial"/>
              </a:rPr>
              <a:t>w</a:t>
            </a:r>
            <a:r>
              <a:rPr kumimoji="0" lang="en-US" sz="2000" b="0" i="0" u="none" strike="noStrike" kern="0" cap="none" spc="50" normalizeH="0" baseline="-25000" noProof="0" dirty="0">
                <a:ln>
                  <a:noFill/>
                </a:ln>
                <a:solidFill>
                  <a:srgbClr val="0070C0"/>
                </a:solidFill>
                <a:effectLst/>
                <a:uLnTx/>
                <a:uFillTx/>
                <a:latin typeface="Trebuchet MS" panose="020B0603020202020204" pitchFamily="34" charset="0"/>
                <a:ea typeface="Calibri" panose="020F0502020204030204" pitchFamily="34" charset="0"/>
                <a:sym typeface="Arial"/>
              </a:rPr>
              <a:t>1</a:t>
            </a:r>
            <a:r>
              <a:rPr kumimoji="0" lang="en-US" sz="2000" b="0" i="0" u="none" strike="noStrike" kern="0" cap="none" spc="50" normalizeH="0" baseline="0" noProof="0" dirty="0">
                <a:ln>
                  <a:noFill/>
                </a:ln>
                <a:solidFill>
                  <a:srgbClr val="0070C0"/>
                </a:solidFill>
                <a:effectLst/>
                <a:uLnTx/>
                <a:uFillTx/>
                <a:latin typeface="Trebuchet MS" panose="020B0603020202020204" pitchFamily="34" charset="0"/>
                <a:ea typeface="Calibri" panose="020F0502020204030204" pitchFamily="34" charset="0"/>
                <a:sym typeface="Arial"/>
              </a:rPr>
              <a:t>, w</a:t>
            </a:r>
            <a:r>
              <a:rPr kumimoji="0" lang="en-US" sz="2000" b="0" i="0" u="none" strike="noStrike" kern="0" cap="none" spc="50" normalizeH="0" baseline="-25000" noProof="0" dirty="0">
                <a:ln>
                  <a:noFill/>
                </a:ln>
                <a:solidFill>
                  <a:srgbClr val="0070C0"/>
                </a:solidFill>
                <a:effectLst/>
                <a:uLnTx/>
                <a:uFillTx/>
                <a:latin typeface="Trebuchet MS" panose="020B0603020202020204" pitchFamily="34" charset="0"/>
                <a:ea typeface="Calibri" panose="020F0502020204030204" pitchFamily="34" charset="0"/>
                <a:sym typeface="Arial"/>
              </a:rPr>
              <a:t>2</a:t>
            </a:r>
            <a:r>
              <a:rPr kumimoji="0" lang="en-US" sz="2000" b="0" i="0" u="none" strike="noStrike" kern="0" cap="none" spc="50" normalizeH="0" baseline="0" noProof="0" dirty="0" smtClean="0">
                <a:ln>
                  <a:noFill/>
                </a:ln>
                <a:solidFill>
                  <a:srgbClr val="0070C0"/>
                </a:solidFill>
                <a:effectLst/>
                <a:uLnTx/>
                <a:uFillTx/>
                <a:latin typeface="Trebuchet MS" panose="020B0603020202020204" pitchFamily="34" charset="0"/>
                <a:ea typeface="Calibri" panose="020F0502020204030204" pitchFamily="34" charset="0"/>
                <a:sym typeface="Arial"/>
              </a:rPr>
              <a:t>,… </a:t>
            </a:r>
            <a:r>
              <a:rPr kumimoji="0" lang="en-US" sz="2000" b="0" i="0" u="none" strike="noStrike" kern="0" cap="none" spc="50" normalizeH="0" baseline="0" noProof="0" dirty="0" err="1">
                <a:ln>
                  <a:noFill/>
                </a:ln>
                <a:solidFill>
                  <a:srgbClr val="0070C0"/>
                </a:solidFill>
                <a:effectLst/>
                <a:uLnTx/>
                <a:uFillTx/>
                <a:latin typeface="Trebuchet MS" panose="020B0603020202020204" pitchFamily="34" charset="0"/>
                <a:ea typeface="Calibri" panose="020F0502020204030204" pitchFamily="34" charset="0"/>
                <a:sym typeface="Arial"/>
              </a:rPr>
              <a:t>w</a:t>
            </a:r>
            <a:r>
              <a:rPr kumimoji="0" lang="en-US" sz="2000" b="0" i="0" u="none" strike="noStrike" kern="0" cap="none" spc="50" normalizeH="0" baseline="-25000" noProof="0" dirty="0" err="1">
                <a:ln>
                  <a:noFill/>
                </a:ln>
                <a:solidFill>
                  <a:srgbClr val="0070C0"/>
                </a:solidFill>
                <a:effectLst/>
                <a:uLnTx/>
                <a:uFillTx/>
                <a:latin typeface="Trebuchet MS" panose="020B0603020202020204" pitchFamily="34" charset="0"/>
                <a:ea typeface="Calibri" panose="020F0502020204030204" pitchFamily="34" charset="0"/>
                <a:sym typeface="Arial"/>
              </a:rPr>
              <a:t>n</a:t>
            </a:r>
            <a:r>
              <a:rPr kumimoji="0" lang="en-US" sz="2000" b="0" i="0" u="none" strike="noStrike" kern="0" cap="none" spc="50" normalizeH="0" baseline="0" noProof="0" dirty="0">
                <a:ln>
                  <a:noFill/>
                </a:ln>
                <a:solidFill>
                  <a:srgbClr val="0070C0"/>
                </a:solidFill>
                <a:effectLst/>
                <a:uLnTx/>
                <a:uFillTx/>
                <a:latin typeface="Trebuchet MS" panose="020B0603020202020204" pitchFamily="34" charset="0"/>
                <a:ea typeface="Calibri" panose="020F0502020204030204" pitchFamily="34" charset="0"/>
                <a:sym typeface="Arial"/>
              </a:rPr>
              <a:t> </a:t>
            </a:r>
            <a:r>
              <a:rPr kumimoji="0" lang="en-US"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and values (profit associated with each item) </a:t>
            </a:r>
            <a:r>
              <a:rPr kumimoji="0" lang="en-US" sz="2000" b="0" i="0" u="none" strike="noStrike" kern="0" cap="none" spc="65" normalizeH="0" baseline="0" noProof="0" dirty="0">
                <a:ln>
                  <a:noFill/>
                </a:ln>
                <a:solidFill>
                  <a:srgbClr val="0070C0"/>
                </a:solidFill>
                <a:effectLst/>
                <a:uLnTx/>
                <a:uFillTx/>
                <a:latin typeface="Trebuchet MS" panose="020B0603020202020204" pitchFamily="34" charset="0"/>
                <a:ea typeface="Calibri" panose="020F0502020204030204" pitchFamily="34" charset="0"/>
                <a:sym typeface="Arial"/>
              </a:rPr>
              <a:t>v</a:t>
            </a:r>
            <a:r>
              <a:rPr kumimoji="0" lang="en-US" sz="2000" b="0" i="0" u="none" strike="noStrike" kern="0" cap="none" spc="65" normalizeH="0" baseline="-25000" noProof="0" dirty="0">
                <a:ln>
                  <a:noFill/>
                </a:ln>
                <a:solidFill>
                  <a:srgbClr val="0070C0"/>
                </a:solidFill>
                <a:effectLst/>
                <a:uLnTx/>
                <a:uFillTx/>
                <a:latin typeface="Trebuchet MS" panose="020B0603020202020204" pitchFamily="34" charset="0"/>
                <a:ea typeface="Calibri" panose="020F0502020204030204" pitchFamily="34" charset="0"/>
                <a:sym typeface="Arial"/>
              </a:rPr>
              <a:t>1</a:t>
            </a:r>
            <a:r>
              <a:rPr kumimoji="0" lang="en-US" sz="2000" b="0" i="0" u="none" strike="noStrike" kern="0" cap="none" spc="65" normalizeH="0" baseline="0" noProof="0" dirty="0">
                <a:ln>
                  <a:noFill/>
                </a:ln>
                <a:solidFill>
                  <a:srgbClr val="0070C0"/>
                </a:solidFill>
                <a:effectLst/>
                <a:uLnTx/>
                <a:uFillTx/>
                <a:latin typeface="Trebuchet MS" panose="020B0603020202020204" pitchFamily="34" charset="0"/>
                <a:ea typeface="Calibri" panose="020F0502020204030204" pitchFamily="34" charset="0"/>
                <a:sym typeface="Arial"/>
              </a:rPr>
              <a:t>,v</a:t>
            </a:r>
            <a:r>
              <a:rPr kumimoji="0" lang="en-US" sz="2000" b="0" i="0" u="none" strike="noStrike" kern="0" cap="none" spc="65" normalizeH="0" baseline="-25000" noProof="0" dirty="0">
                <a:ln>
                  <a:noFill/>
                </a:ln>
                <a:solidFill>
                  <a:srgbClr val="0070C0"/>
                </a:solidFill>
                <a:effectLst/>
                <a:uLnTx/>
                <a:uFillTx/>
                <a:latin typeface="Trebuchet MS" panose="020B0603020202020204" pitchFamily="34" charset="0"/>
                <a:ea typeface="Calibri" panose="020F0502020204030204" pitchFamily="34" charset="0"/>
                <a:sym typeface="Arial"/>
              </a:rPr>
              <a:t>2</a:t>
            </a:r>
            <a:r>
              <a:rPr kumimoji="0" lang="en-US" sz="2000" b="0" i="0" u="none" strike="noStrike" kern="0" cap="none" spc="65" normalizeH="0" baseline="0" noProof="0" dirty="0">
                <a:ln>
                  <a:noFill/>
                </a:ln>
                <a:solidFill>
                  <a:srgbClr val="0070C0"/>
                </a:solidFill>
                <a:effectLst/>
                <a:uLnTx/>
                <a:uFillTx/>
                <a:latin typeface="Trebuchet MS" panose="020B0603020202020204" pitchFamily="34" charset="0"/>
                <a:ea typeface="Calibri" panose="020F0502020204030204" pitchFamily="34" charset="0"/>
                <a:sym typeface="Arial"/>
              </a:rPr>
              <a:t>,...</a:t>
            </a:r>
            <a:r>
              <a:rPr kumimoji="0" lang="en-US" sz="2000" b="0" i="0" u="none" strike="noStrike" kern="0" cap="none" spc="65" normalizeH="0" baseline="0" noProof="0" dirty="0" err="1">
                <a:ln>
                  <a:noFill/>
                </a:ln>
                <a:solidFill>
                  <a:srgbClr val="0070C0"/>
                </a:solidFill>
                <a:effectLst/>
                <a:uLnTx/>
                <a:uFillTx/>
                <a:latin typeface="Trebuchet MS" panose="020B0603020202020204" pitchFamily="34" charset="0"/>
                <a:ea typeface="Calibri" panose="020F0502020204030204" pitchFamily="34" charset="0"/>
                <a:sym typeface="Arial"/>
              </a:rPr>
              <a:t>v</a:t>
            </a:r>
            <a:r>
              <a:rPr kumimoji="0" lang="en-US" sz="2000" b="0" i="0" u="none" strike="noStrike" kern="0" cap="none" spc="65" normalizeH="0" baseline="-25000" noProof="0" dirty="0" err="1">
                <a:ln>
                  <a:noFill/>
                </a:ln>
                <a:solidFill>
                  <a:srgbClr val="0070C0"/>
                </a:solidFill>
                <a:effectLst/>
                <a:uLnTx/>
                <a:uFillTx/>
                <a:latin typeface="Trebuchet MS" panose="020B0603020202020204" pitchFamily="34" charset="0"/>
                <a:ea typeface="Calibri" panose="020F0502020204030204" pitchFamily="34" charset="0"/>
                <a:sym typeface="Arial"/>
              </a:rPr>
              <a:t>n</a:t>
            </a:r>
            <a:r>
              <a:rPr kumimoji="0" lang="en-US" sz="2000" b="0" i="0" u="none" strike="noStrike" kern="0" cap="none" spc="65" normalizeH="0" baseline="0" noProof="0" dirty="0">
                <a:ln>
                  <a:noFill/>
                </a:ln>
                <a:solidFill>
                  <a:srgbClr val="0070C0"/>
                </a:solidFill>
                <a:effectLst/>
                <a:uLnTx/>
                <a:uFillTx/>
                <a:latin typeface="Trebuchet MS" panose="020B0603020202020204" pitchFamily="34" charset="0"/>
                <a:ea typeface="Calibri" panose="020F0502020204030204" pitchFamily="34" charset="0"/>
                <a:sym typeface="Arial"/>
              </a:rPr>
              <a:t> </a:t>
            </a:r>
            <a:r>
              <a:rPr kumimoji="0" lang="en-US"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and </a:t>
            </a:r>
            <a:r>
              <a:rPr kumimoji="0" lang="en-US" sz="2000" b="0" i="0" u="none" strike="noStrike" kern="0" cap="none" spc="0" normalizeH="0" baseline="0" noProof="0" dirty="0">
                <a:ln>
                  <a:noFill/>
                </a:ln>
                <a:solidFill>
                  <a:srgbClr val="0070C0"/>
                </a:solidFill>
                <a:effectLst/>
                <a:uLnTx/>
                <a:uFillTx/>
                <a:latin typeface="Trebuchet MS" panose="020B0603020202020204" pitchFamily="34" charset="0"/>
                <a:sym typeface="Arial"/>
              </a:rPr>
              <a:t>capacity of knapsack to be W</a:t>
            </a:r>
            <a:r>
              <a:rPr kumimoji="0" lang="en-US"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then find the most valuable subset of the items that </a:t>
            </a:r>
            <a:r>
              <a:rPr kumimoji="0" lang="en-US" sz="2000" b="0" i="0" u="none" strike="noStrike" kern="0" cap="none" spc="0" normalizeH="0" baseline="0" noProof="0" dirty="0">
                <a:ln>
                  <a:noFill/>
                </a:ln>
                <a:solidFill>
                  <a:srgbClr val="0070C0"/>
                </a:solidFill>
                <a:effectLst/>
                <a:uLnTx/>
                <a:uFillTx/>
                <a:latin typeface="Trebuchet MS" panose="020B0603020202020204" pitchFamily="34" charset="0"/>
                <a:sym typeface="Arial"/>
              </a:rPr>
              <a:t>fit into the knapsack</a:t>
            </a:r>
            <a:r>
              <a:rPr kumimoji="0" lang="en-US"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endPar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p:txBody>
      </p:sp>
    </p:spTree>
    <p:extLst>
      <p:ext uri="{BB962C8B-B14F-4D97-AF65-F5344CB8AC3E}">
        <p14:creationId xmlns:p14="http://schemas.microsoft.com/office/powerpoint/2010/main" val="24366662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6B47A1EB-DAAF-D9EF-454E-088CA6ADE8C1}"/>
              </a:ext>
            </a:extLst>
          </p:cNvPr>
          <p:cNvSpPr txBox="1"/>
          <p:nvPr/>
        </p:nvSpPr>
        <p:spPr>
          <a:xfrm>
            <a:off x="158999" y="148588"/>
            <a:ext cx="6924113"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700" b="1" dirty="0">
                <a:solidFill>
                  <a:schemeClr val="bg1"/>
                </a:solidFill>
                <a:latin typeface="Proxima Nova"/>
              </a:rPr>
              <a:t>Knapsack </a:t>
            </a:r>
            <a:r>
              <a:rPr lang="en-IN" sz="2700" b="1" dirty="0" smtClean="0">
                <a:solidFill>
                  <a:schemeClr val="bg1"/>
                </a:solidFill>
                <a:latin typeface="Proxima Nova"/>
              </a:rPr>
              <a:t>problem</a:t>
            </a:r>
            <a:endParaRPr lang="en-IN" sz="2700" b="1" dirty="0">
              <a:solidFill>
                <a:schemeClr val="bg1"/>
              </a:solidFill>
              <a:latin typeface="Proxima Nova"/>
            </a:endParaRPr>
          </a:p>
        </p:txBody>
      </p:sp>
      <p:sp>
        <p:nvSpPr>
          <p:cNvPr id="6" name="TextBox 5">
            <a:extLst>
              <a:ext uri="{FF2B5EF4-FFF2-40B4-BE49-F238E27FC236}">
                <a16:creationId xmlns:a16="http://schemas.microsoft.com/office/drawing/2014/main" id="{E3EA5BAB-B2EE-7DF6-DFA7-48FDB1015D97}"/>
              </a:ext>
            </a:extLst>
          </p:cNvPr>
          <p:cNvSpPr txBox="1"/>
          <p:nvPr/>
        </p:nvSpPr>
        <p:spPr>
          <a:xfrm>
            <a:off x="254917" y="859624"/>
            <a:ext cx="8291206" cy="4001095"/>
          </a:xfrm>
          <a:prstGeom prst="rect">
            <a:avLst/>
          </a:prstGeom>
          <a:noFill/>
        </p:spPr>
        <p:txBody>
          <a:bodyPr wrap="square">
            <a:spAutoFit/>
          </a:bodyPr>
          <a:lstStyle/>
          <a:p>
            <a:pPr algn="just">
              <a:spcBef>
                <a:spcPts val="600"/>
              </a:spcBef>
              <a:spcAft>
                <a:spcPts val="600"/>
              </a:spcAft>
              <a:defRPr/>
            </a:pPr>
            <a:r>
              <a:rPr lang="en-IN" sz="2400" b="1" dirty="0" smtClean="0">
                <a:solidFill>
                  <a:srgbClr val="CC0099"/>
                </a:solidFill>
                <a:latin typeface="Trebuchet MS" panose="020B0603020202020204" pitchFamily="34" charset="0"/>
              </a:rPr>
              <a:t>0/1 </a:t>
            </a:r>
            <a:r>
              <a:rPr lang="en-IN" sz="2400" b="1" dirty="0">
                <a:solidFill>
                  <a:srgbClr val="CC0099"/>
                </a:solidFill>
                <a:latin typeface="Trebuchet MS" panose="020B0603020202020204" pitchFamily="34" charset="0"/>
              </a:rPr>
              <a:t>Knapsack </a:t>
            </a:r>
            <a:r>
              <a:rPr lang="en-IN" sz="2400" b="1" dirty="0" smtClean="0">
                <a:solidFill>
                  <a:srgbClr val="CC0099"/>
                </a:solidFill>
                <a:latin typeface="Trebuchet MS" panose="020B0603020202020204" pitchFamily="34" charset="0"/>
              </a:rPr>
              <a:t>Problem:</a:t>
            </a:r>
            <a:endParaRPr lang="en-IN" sz="2400" b="1" dirty="0">
              <a:solidFill>
                <a:srgbClr val="CC0099"/>
              </a:solidFill>
              <a:latin typeface="Trebuchet MS" panose="020B0603020202020204" pitchFamily="34" charset="0"/>
            </a:endParaRPr>
          </a:p>
          <a:p>
            <a:pPr marL="342900" marR="0" lvl="0" indent="-342900" algn="just" defTabSz="914400" rtl="0" eaLnBrk="1" fontAlgn="auto" latinLnBrk="0" hangingPunct="1">
              <a:lnSpc>
                <a:spcPct val="100000"/>
              </a:lnSpc>
              <a:spcBef>
                <a:spcPts val="600"/>
              </a:spcBef>
              <a:spcAft>
                <a:spcPts val="60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The </a:t>
            </a:r>
            <a:r>
              <a:rPr kumimoji="0" lang="en-IN" sz="2000" b="1" i="0" u="none" strike="noStrike" kern="0" cap="none" spc="0" normalizeH="0" baseline="0" noProof="0" dirty="0">
                <a:ln>
                  <a:noFill/>
                </a:ln>
                <a:solidFill>
                  <a:srgbClr val="D60093"/>
                </a:solidFill>
                <a:effectLst/>
                <a:uLnTx/>
                <a:uFillTx/>
                <a:latin typeface="Trebuchet MS" panose="020B0603020202020204" pitchFamily="34" charset="0"/>
                <a:sym typeface="Arial"/>
              </a:rPr>
              <a:t>0/1 knapsack problem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means that the items are either completely or no items are filled in a knapsack. </a:t>
            </a:r>
          </a:p>
          <a:p>
            <a:pPr marL="331470" marR="45720" lvl="0" indent="-285750" algn="just" defTabSz="914400" rtl="0" eaLnBrk="1" fontAlgn="auto" latinLnBrk="0" hangingPunct="1">
              <a:lnSpc>
                <a:spcPct val="100000"/>
              </a:lnSpc>
              <a:spcBef>
                <a:spcPts val="600"/>
              </a:spcBef>
              <a:spcAft>
                <a:spcPts val="60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70C0"/>
                </a:solidFill>
                <a:effectLst/>
                <a:uLnTx/>
                <a:uFillTx/>
                <a:latin typeface="Trebuchet MS" panose="020B0603020202020204" pitchFamily="34" charset="0"/>
                <a:sym typeface="Arial"/>
              </a:rPr>
              <a:t>For example</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we have two items having weights 2kg and 3kg, respectively. If we pick the 2kg item then we cannot pick 1kg item from the 2kg item (</a:t>
            </a:r>
            <a:r>
              <a:rPr kumimoji="0" lang="en-IN" sz="2000" b="0" i="0" u="none" strike="noStrike" kern="0" cap="none" spc="0" normalizeH="0" baseline="0" noProof="0" dirty="0">
                <a:ln>
                  <a:noFill/>
                </a:ln>
                <a:solidFill>
                  <a:srgbClr val="0070C0"/>
                </a:solidFill>
                <a:effectLst/>
                <a:uLnTx/>
                <a:uFillTx/>
                <a:latin typeface="Trebuchet MS" panose="020B0603020202020204" pitchFamily="34" charset="0"/>
                <a:sym typeface="Arial"/>
              </a:rPr>
              <a:t>item is not divisible</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we have to pick the 2kg item completely. </a:t>
            </a:r>
          </a:p>
          <a:p>
            <a:pPr marL="331470" marR="45720" lvl="0" indent="-285750" algn="just" defTabSz="914400" rtl="0" eaLnBrk="1" fontAlgn="auto" latinLnBrk="0" hangingPunct="1">
              <a:lnSpc>
                <a:spcPct val="100000"/>
              </a:lnSpc>
              <a:spcBef>
                <a:spcPts val="600"/>
              </a:spcBef>
              <a:spcAft>
                <a:spcPts val="60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This is a 0/1 knapsack problem in which either we pick the item completely or we will pick that item, it </a:t>
            </a:r>
            <a:r>
              <a:rPr lang="en-IN" sz="2000" dirty="0">
                <a:solidFill>
                  <a:srgbClr val="0070C0"/>
                </a:solidFill>
                <a:latin typeface="Trebuchet MS" panose="020B0603020202020204" pitchFamily="34" charset="0"/>
              </a:rPr>
              <a:t>does not allow breaking </a:t>
            </a:r>
            <a:r>
              <a:rPr lang="en-IN" sz="2000" dirty="0">
                <a:latin typeface="Trebuchet MS" panose="020B0603020202020204" pitchFamily="34" charset="0"/>
              </a:rPr>
              <a:t>of items.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The </a:t>
            </a:r>
            <a:r>
              <a:rPr kumimoji="0" lang="en-IN" sz="2000" b="0" i="0" u="none" strike="noStrike" kern="0" cap="none" spc="0" normalizeH="0" baseline="0" noProof="0" dirty="0">
                <a:ln>
                  <a:noFill/>
                </a:ln>
                <a:solidFill>
                  <a:srgbClr val="0070C0"/>
                </a:solidFill>
                <a:effectLst/>
                <a:uLnTx/>
                <a:uFillTx/>
                <a:latin typeface="Trebuchet MS" panose="020B0603020202020204" pitchFamily="34" charset="0"/>
                <a:sym typeface="Arial"/>
              </a:rPr>
              <a:t>0/1 knapsack problem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is solved by the </a:t>
            </a:r>
            <a:r>
              <a:rPr kumimoji="0" lang="en-IN" sz="2000" b="1" i="0" u="none" strike="noStrike" kern="0" cap="none" spc="0" normalizeH="0" baseline="0" noProof="0" dirty="0">
                <a:ln>
                  <a:noFill/>
                </a:ln>
                <a:solidFill>
                  <a:srgbClr val="D60093"/>
                </a:solidFill>
                <a:effectLst/>
                <a:uLnTx/>
                <a:uFillTx/>
                <a:latin typeface="Trebuchet MS" panose="020B0603020202020204" pitchFamily="34" charset="0"/>
                <a:sym typeface="Arial"/>
              </a:rPr>
              <a:t>dynamic programming.</a:t>
            </a:r>
            <a:endParaRPr kumimoji="0" lang="en-IN" sz="1600" b="1" i="0" u="none" strike="noStrike" kern="0" cap="none" spc="0" normalizeH="0" baseline="0" noProof="0" dirty="0">
              <a:ln>
                <a:noFill/>
              </a:ln>
              <a:solidFill>
                <a:srgbClr val="D60093"/>
              </a:solidFill>
              <a:effectLst/>
              <a:uLnTx/>
              <a:uFillTx/>
              <a:latin typeface="Trebuchet MS" panose="020B0603020202020204" pitchFamily="34" charset="0"/>
              <a:sym typeface="Arial"/>
            </a:endParaRPr>
          </a:p>
        </p:txBody>
      </p:sp>
    </p:spTree>
    <p:extLst>
      <p:ext uri="{BB962C8B-B14F-4D97-AF65-F5344CB8AC3E}">
        <p14:creationId xmlns:p14="http://schemas.microsoft.com/office/powerpoint/2010/main" val="4323420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27714"/>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6B47A1EB-DAAF-D9EF-454E-088CA6ADE8C1}"/>
              </a:ext>
            </a:extLst>
          </p:cNvPr>
          <p:cNvSpPr txBox="1"/>
          <p:nvPr/>
        </p:nvSpPr>
        <p:spPr>
          <a:xfrm>
            <a:off x="127322" y="148588"/>
            <a:ext cx="8193669"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700" b="1" dirty="0">
                <a:solidFill>
                  <a:schemeClr val="bg1"/>
                </a:solidFill>
                <a:latin typeface="Proxima Nova"/>
              </a:rPr>
              <a:t>Knapsack </a:t>
            </a:r>
            <a:r>
              <a:rPr lang="en-IN" sz="2700" b="1" dirty="0" smtClean="0">
                <a:solidFill>
                  <a:schemeClr val="bg1"/>
                </a:solidFill>
                <a:latin typeface="Proxima Nova"/>
              </a:rPr>
              <a:t>problem</a:t>
            </a:r>
            <a:endParaRPr lang="en-IN" sz="2700" b="1" dirty="0">
              <a:solidFill>
                <a:srgbClr val="0070C0"/>
              </a:solidFill>
              <a:latin typeface="Proxima Nova"/>
            </a:endParaRPr>
          </a:p>
        </p:txBody>
      </p:sp>
      <p:sp>
        <p:nvSpPr>
          <p:cNvPr id="6" name="TextBox 5">
            <a:extLst>
              <a:ext uri="{FF2B5EF4-FFF2-40B4-BE49-F238E27FC236}">
                <a16:creationId xmlns:a16="http://schemas.microsoft.com/office/drawing/2014/main" id="{E3EA5BAB-B2EE-7DF6-DFA7-48FDB1015D97}"/>
              </a:ext>
            </a:extLst>
          </p:cNvPr>
          <p:cNvSpPr txBox="1"/>
          <p:nvPr/>
        </p:nvSpPr>
        <p:spPr>
          <a:xfrm>
            <a:off x="301291" y="966823"/>
            <a:ext cx="7845729" cy="2970044"/>
          </a:xfrm>
          <a:prstGeom prst="rect">
            <a:avLst/>
          </a:prstGeom>
          <a:noFill/>
        </p:spPr>
        <p:txBody>
          <a:bodyPr wrap="square">
            <a:spAutoFit/>
          </a:bodyPr>
          <a:lstStyle/>
          <a:p>
            <a:pPr lvl="0">
              <a:defRPr/>
            </a:pPr>
            <a:r>
              <a:rPr lang="en-IN" sz="2400" b="1" dirty="0" smtClean="0">
                <a:solidFill>
                  <a:srgbClr val="CC0099"/>
                </a:solidFill>
                <a:latin typeface="Trebuchet MS" panose="020B0603020202020204" pitchFamily="34" charset="0"/>
              </a:rPr>
              <a:t>Fractional </a:t>
            </a:r>
            <a:r>
              <a:rPr lang="en-IN" sz="2400" b="1" dirty="0">
                <a:solidFill>
                  <a:srgbClr val="CC0099"/>
                </a:solidFill>
                <a:latin typeface="Trebuchet MS" panose="020B0603020202020204" pitchFamily="34" charset="0"/>
              </a:rPr>
              <a:t>knapsack </a:t>
            </a:r>
            <a:r>
              <a:rPr lang="en-IN" sz="2400" b="1" dirty="0" smtClean="0">
                <a:solidFill>
                  <a:srgbClr val="CC0099"/>
                </a:solidFill>
                <a:latin typeface="Trebuchet MS" panose="020B0603020202020204" pitchFamily="34" charset="0"/>
              </a:rPr>
              <a:t>problem:</a:t>
            </a:r>
            <a:endParaRPr lang="en-IN" sz="2400" b="1" dirty="0">
              <a:solidFill>
                <a:srgbClr val="CC0099"/>
              </a:solidFill>
              <a:latin typeface="Trebuchet MS" panose="020B0603020202020204" pitchFamily="34" charset="0"/>
            </a:endParaRPr>
          </a:p>
          <a:p>
            <a:pPr marL="342900" marR="0" lvl="0" indent="-342900" algn="just" defTabSz="914400" rtl="0" eaLnBrk="1" fontAlgn="auto" latinLnBrk="0" hangingPunct="1">
              <a:lnSpc>
                <a:spcPct val="100000"/>
              </a:lnSpc>
              <a:spcBef>
                <a:spcPts val="1200"/>
              </a:spcBef>
              <a:spcAft>
                <a:spcPts val="600"/>
              </a:spcAft>
              <a:buClr>
                <a:srgbClr val="000000"/>
              </a:buClr>
              <a:buSzTx/>
              <a:buFont typeface="Arial" panose="020B0604020202020204" pitchFamily="34" charset="0"/>
              <a:buChar char="•"/>
              <a:tabLst/>
              <a:defRPr/>
            </a:pPr>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The </a:t>
            </a:r>
            <a:r>
              <a:rPr kumimoji="0" lang="en-IN" sz="2000" b="0" i="0" u="none" strike="noStrike" kern="0" cap="none" spc="0" normalizeH="0" baseline="0" noProof="0" dirty="0">
                <a:ln>
                  <a:noFill/>
                </a:ln>
                <a:solidFill>
                  <a:srgbClr val="0070C0"/>
                </a:solidFill>
                <a:effectLst/>
                <a:uLnTx/>
                <a:uFillTx/>
                <a:latin typeface="Trebuchet MS" panose="020B0603020202020204" pitchFamily="34" charset="0"/>
                <a:sym typeface="Arial"/>
              </a:rPr>
              <a:t>fractional knapsack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problem means that we can </a:t>
            </a:r>
            <a:r>
              <a:rPr kumimoji="0" lang="en-IN" sz="2000" b="0" i="0" u="none" strike="noStrike" kern="0" cap="none" spc="0" normalizeH="0" baseline="0" noProof="0" dirty="0">
                <a:ln>
                  <a:noFill/>
                </a:ln>
                <a:solidFill>
                  <a:srgbClr val="0070C0"/>
                </a:solidFill>
                <a:effectLst/>
                <a:uLnTx/>
                <a:uFillTx/>
                <a:latin typeface="Trebuchet MS" panose="020B0603020202020204" pitchFamily="34" charset="0"/>
                <a:sym typeface="Arial"/>
              </a:rPr>
              <a:t>divide or breaking the item. </a:t>
            </a:r>
          </a:p>
          <a:p>
            <a:pPr marL="342900" marR="0" lvl="0" indent="-342900" algn="just" defTabSz="914400" rtl="0" eaLnBrk="1" fontAlgn="auto" latinLnBrk="0" hangingPunct="1">
              <a:lnSpc>
                <a:spcPct val="100000"/>
              </a:lnSpc>
              <a:spcBef>
                <a:spcPts val="1200"/>
              </a:spcBef>
              <a:spcAft>
                <a:spcPts val="60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70C0"/>
                </a:solidFill>
                <a:effectLst/>
                <a:uLnTx/>
                <a:uFillTx/>
                <a:latin typeface="Trebuchet MS" panose="020B0603020202020204" pitchFamily="34" charset="0"/>
                <a:sym typeface="Arial"/>
              </a:rPr>
              <a:t>For example</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we have an item of 3 kg then we can pick the item of 2 kg and leave the item of 1 kg. </a:t>
            </a:r>
          </a:p>
          <a:p>
            <a:pPr marL="342900" marR="0" lvl="0" indent="-342900" algn="just" defTabSz="914400" rtl="0" eaLnBrk="1" fontAlgn="auto" latinLnBrk="0" hangingPunct="1">
              <a:lnSpc>
                <a:spcPct val="100000"/>
              </a:lnSpc>
              <a:spcBef>
                <a:spcPts val="1200"/>
              </a:spcBef>
              <a:spcAft>
                <a:spcPts val="60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The fractional knapsack problem is solved by the </a:t>
            </a:r>
            <a:r>
              <a:rPr kumimoji="0" lang="en-IN" sz="2000" b="1" i="0" u="none" strike="noStrike" kern="0" cap="none" spc="0" normalizeH="0" baseline="0" noProof="0" dirty="0">
                <a:ln>
                  <a:noFill/>
                </a:ln>
                <a:solidFill>
                  <a:srgbClr val="D60093"/>
                </a:solidFill>
                <a:effectLst/>
                <a:uLnTx/>
                <a:uFillTx/>
                <a:latin typeface="Trebuchet MS" panose="020B0603020202020204" pitchFamily="34" charset="0"/>
                <a:sym typeface="Arial"/>
              </a:rPr>
              <a:t>Greedy approach</a:t>
            </a:r>
            <a:r>
              <a:rPr kumimoji="0" lang="en-IN" sz="2000" b="1" i="0" u="none" strike="noStrike" kern="0" cap="none" spc="0" normalizeH="0" baseline="0" noProof="0" dirty="0">
                <a:ln>
                  <a:noFill/>
                </a:ln>
                <a:solidFill>
                  <a:srgbClr val="000000"/>
                </a:solidFill>
                <a:effectLst/>
                <a:uLnTx/>
                <a:uFillTx/>
                <a:latin typeface="Trebuchet MS" panose="020B0603020202020204" pitchFamily="34" charset="0"/>
                <a:sym typeface="Arial"/>
              </a:rPr>
              <a:t>.</a:t>
            </a:r>
          </a:p>
        </p:txBody>
      </p:sp>
    </p:spTree>
    <p:extLst>
      <p:ext uri="{BB962C8B-B14F-4D97-AF65-F5344CB8AC3E}">
        <p14:creationId xmlns:p14="http://schemas.microsoft.com/office/powerpoint/2010/main" val="15112800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128954" y="134250"/>
            <a:ext cx="7062955" cy="600134"/>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700" b="1" dirty="0">
                <a:solidFill>
                  <a:schemeClr val="bg1"/>
                </a:solidFill>
                <a:latin typeface="Proxima Nova"/>
              </a:rPr>
              <a:t>Knapsack problem</a:t>
            </a:r>
          </a:p>
        </p:txBody>
      </p:sp>
      <p:sp>
        <p:nvSpPr>
          <p:cNvPr id="99" name="Google Shape;99;p17"/>
          <p:cNvSpPr txBox="1"/>
          <p:nvPr/>
        </p:nvSpPr>
        <p:spPr>
          <a:xfrm>
            <a:off x="128954" y="550583"/>
            <a:ext cx="8729920" cy="4647396"/>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2000" b="1" i="0" u="none" strike="noStrike" kern="0" cap="none" spc="0" normalizeH="0" baseline="0" noProof="0" dirty="0">
                <a:ln>
                  <a:noFill/>
                </a:ln>
                <a:solidFill>
                  <a:srgbClr val="0070C0"/>
                </a:solidFill>
                <a:effectLst/>
                <a:uLnTx/>
                <a:uFillTx/>
                <a:latin typeface="Trebuchet MS" panose="020B0603020202020204" pitchFamily="34" charset="0"/>
                <a:sym typeface="Arial"/>
              </a:rPr>
              <a:t>Mathematical </a:t>
            </a:r>
            <a:r>
              <a:rPr kumimoji="0" lang="en-IN" sz="2000" b="1" i="0" u="none" strike="noStrike" kern="0" cap="none" spc="0" normalizeH="0" baseline="0" noProof="0" dirty="0" smtClean="0">
                <a:ln>
                  <a:noFill/>
                </a:ln>
                <a:solidFill>
                  <a:srgbClr val="0070C0"/>
                </a:solidFill>
                <a:effectLst/>
                <a:uLnTx/>
                <a:uFillTx/>
                <a:latin typeface="Trebuchet MS" panose="020B0603020202020204" pitchFamily="34" charset="0"/>
                <a:sym typeface="Arial"/>
              </a:rPr>
              <a:t>formulation for</a:t>
            </a:r>
            <a:r>
              <a:rPr kumimoji="0" lang="en-IN" sz="2000" b="1" i="0" u="none" strike="noStrike" kern="0" cap="none" spc="0" normalizeH="0" noProof="0" dirty="0" smtClean="0">
                <a:ln>
                  <a:noFill/>
                </a:ln>
                <a:solidFill>
                  <a:srgbClr val="0070C0"/>
                </a:solidFill>
                <a:effectLst/>
                <a:uLnTx/>
                <a:uFillTx/>
                <a:latin typeface="Trebuchet MS" panose="020B0603020202020204" pitchFamily="34" charset="0"/>
                <a:sym typeface="Arial"/>
              </a:rPr>
              <a:t> this algorithm</a:t>
            </a:r>
            <a:r>
              <a:rPr kumimoji="0" lang="en-IN" sz="2000" b="1" i="0" u="none" strike="noStrike" kern="0" cap="none" spc="0" normalizeH="0" baseline="0" noProof="0" dirty="0" smtClean="0">
                <a:ln>
                  <a:noFill/>
                </a:ln>
                <a:solidFill>
                  <a:srgbClr val="0070C0"/>
                </a:solidFill>
                <a:effectLst/>
                <a:uLnTx/>
                <a:uFillTx/>
                <a:latin typeface="Trebuchet MS" panose="020B0603020202020204" pitchFamily="34" charset="0"/>
                <a:sym typeface="Arial"/>
              </a:rPr>
              <a:t> </a:t>
            </a:r>
            <a:endParaRPr kumimoji="0" lang="en-IN" sz="2000" b="1" i="0" u="none" strike="noStrike" kern="0" cap="none" spc="0" normalizeH="0" baseline="0" noProof="0" dirty="0">
              <a:ln>
                <a:noFill/>
              </a:ln>
              <a:solidFill>
                <a:srgbClr val="0070C0"/>
              </a:solidFill>
              <a:effectLst/>
              <a:uLnTx/>
              <a:uFillTx/>
              <a:latin typeface="Trebuchet MS" panose="020B0603020202020204" pitchFamily="34" charset="0"/>
              <a:sym typeface="Arial"/>
            </a:endParaRPr>
          </a:p>
          <a:p>
            <a:pPr marL="285750" marR="0" lvl="0" indent="-285750" algn="just" defTabSz="914400" rtl="0" eaLnBrk="1" fontAlgn="base" latinLnBrk="0" hangingPunct="1">
              <a:lnSpc>
                <a:spcPct val="100000"/>
              </a:lnSpc>
              <a:spcBef>
                <a:spcPts val="600"/>
              </a:spcBef>
              <a:spcAft>
                <a:spcPts val="60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We can select </a:t>
            </a:r>
            <a:r>
              <a:rPr kumimoji="0" lang="en-IN" sz="2000" b="0" i="0" u="none" strike="noStrike" kern="0" cap="none" spc="0" normalizeH="0" baseline="0" noProof="0" dirty="0">
                <a:ln>
                  <a:noFill/>
                </a:ln>
                <a:solidFill>
                  <a:srgbClr val="CC0099"/>
                </a:solidFill>
                <a:effectLst/>
                <a:uLnTx/>
                <a:uFillTx/>
                <a:latin typeface="Trebuchet MS" panose="020B0603020202020204" pitchFamily="34" charset="0"/>
                <a:sym typeface="Arial"/>
              </a:rPr>
              <a:t>any item only ones</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285750" marR="0" lvl="0" indent="-285750" algn="just" defTabSz="914400" rtl="0" eaLnBrk="1" fontAlgn="base" latinLnBrk="0" hangingPunct="1">
              <a:lnSpc>
                <a:spcPct val="100000"/>
              </a:lnSpc>
              <a:spcBef>
                <a:spcPts val="600"/>
              </a:spcBef>
              <a:spcAft>
                <a:spcPts val="60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We can put </a:t>
            </a:r>
            <a:r>
              <a:rPr kumimoji="0" lang="en-IN" sz="2000" b="0" i="0" u="none" strike="noStrike" kern="0" cap="none" spc="0" normalizeH="0" baseline="0" noProof="0" dirty="0">
                <a:ln>
                  <a:noFill/>
                </a:ln>
                <a:solidFill>
                  <a:srgbClr val="CC0099"/>
                </a:solidFill>
                <a:effectLst/>
                <a:uLnTx/>
                <a:uFillTx/>
                <a:latin typeface="Trebuchet MS" panose="020B0603020202020204" pitchFamily="34" charset="0"/>
                <a:sym typeface="Arial"/>
              </a:rPr>
              <a:t>items x</a:t>
            </a:r>
            <a:r>
              <a:rPr kumimoji="0" lang="en-IN" sz="2000" b="0" i="0" u="none" strike="noStrike" kern="0" cap="none" spc="0" normalizeH="0" baseline="-25000" noProof="0" dirty="0">
                <a:ln>
                  <a:noFill/>
                </a:ln>
                <a:solidFill>
                  <a:srgbClr val="CC0099"/>
                </a:solidFill>
                <a:effectLst/>
                <a:uLnTx/>
                <a:uFillTx/>
                <a:latin typeface="Trebuchet MS" panose="020B0603020202020204" pitchFamily="34" charset="0"/>
                <a:sym typeface="Arial"/>
              </a:rPr>
              <a:t>i</a:t>
            </a:r>
            <a:r>
              <a:rPr kumimoji="0" lang="en-IN" sz="2000" b="0" i="0" u="none" strike="noStrike" kern="0" cap="none" spc="0" normalizeH="0" baseline="0" noProof="0" dirty="0">
                <a:ln>
                  <a:noFill/>
                </a:ln>
                <a:solidFill>
                  <a:srgbClr val="CC0099"/>
                </a:solidFill>
                <a:effectLst/>
                <a:uLnTx/>
                <a:uFillTx/>
                <a:latin typeface="Trebuchet MS" panose="020B0603020202020204" pitchFamily="34" charset="0"/>
                <a:sym typeface="Arial"/>
              </a:rPr>
              <a:t> in knapsack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if knapsack can accommodate it. </a:t>
            </a:r>
          </a:p>
          <a:p>
            <a:pPr marL="285750" marR="0" lvl="0" indent="-285750" algn="just" defTabSz="914400" rtl="0" eaLnBrk="1" fontAlgn="base" latinLnBrk="0" hangingPunct="1">
              <a:lnSpc>
                <a:spcPct val="100000"/>
              </a:lnSpc>
              <a:spcBef>
                <a:spcPts val="600"/>
              </a:spcBef>
              <a:spcAft>
                <a:spcPts val="60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If the item is added to a knapsack, the </a:t>
            </a:r>
            <a:r>
              <a:rPr kumimoji="0" lang="en-IN" sz="2000" b="0" i="0" u="none" strike="noStrike" kern="0" cap="none" spc="0" normalizeH="0" baseline="0" noProof="0" dirty="0">
                <a:ln>
                  <a:noFill/>
                </a:ln>
                <a:solidFill>
                  <a:srgbClr val="CC0099"/>
                </a:solidFill>
                <a:effectLst/>
                <a:uLnTx/>
                <a:uFillTx/>
                <a:latin typeface="Trebuchet MS" panose="020B0603020202020204" pitchFamily="34" charset="0"/>
                <a:sym typeface="Arial"/>
              </a:rPr>
              <a:t>associated profit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is accumulated.</a:t>
            </a:r>
          </a:p>
          <a:p>
            <a:pPr marL="285750" marR="0" lvl="0" indent="-285750" algn="just" defTabSz="914400" rtl="0" eaLnBrk="1" fontAlgn="base" latinLnBrk="0" hangingPunct="1">
              <a:lnSpc>
                <a:spcPct val="100000"/>
              </a:lnSpc>
              <a:spcBef>
                <a:spcPts val="600"/>
              </a:spcBef>
              <a:spcAft>
                <a:spcPts val="60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If the </a:t>
            </a:r>
            <a:r>
              <a:rPr kumimoji="0" lang="en-IN" sz="2000" b="0" i="0" u="none" strike="noStrike" kern="0" cap="none" spc="0" normalizeH="0" baseline="0" noProof="0" dirty="0">
                <a:ln>
                  <a:noFill/>
                </a:ln>
                <a:solidFill>
                  <a:srgbClr val="CC0099"/>
                </a:solidFill>
                <a:effectLst/>
                <a:uLnTx/>
                <a:uFillTx/>
                <a:latin typeface="Trebuchet MS" panose="020B0603020202020204" pitchFamily="34" charset="0"/>
                <a:sym typeface="Arial"/>
              </a:rPr>
              <a:t>weight of the item is larger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than the remaining knapsack capacity, we </a:t>
            </a:r>
            <a:r>
              <a:rPr kumimoji="0" lang="en-IN" sz="2000" b="0" i="0" u="none" strike="noStrike" kern="0" cap="none" spc="0" normalizeH="0" baseline="0" noProof="0" dirty="0">
                <a:ln>
                  <a:noFill/>
                </a:ln>
                <a:solidFill>
                  <a:srgbClr val="CC0099"/>
                </a:solidFill>
                <a:effectLst/>
                <a:uLnTx/>
                <a:uFillTx/>
                <a:latin typeface="Trebuchet MS" panose="020B0603020202020204" pitchFamily="34" charset="0"/>
                <a:sym typeface="Arial"/>
              </a:rPr>
              <a:t>skip</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the item, and the </a:t>
            </a:r>
            <a:r>
              <a:rPr kumimoji="0" lang="en-IN" sz="2000" b="0" i="0" u="none" strike="noStrike" kern="0" cap="none" spc="0" normalizeH="0" baseline="0" noProof="0" dirty="0">
                <a:ln>
                  <a:noFill/>
                </a:ln>
                <a:solidFill>
                  <a:srgbClr val="CC0099"/>
                </a:solidFill>
                <a:effectLst/>
                <a:uLnTx/>
                <a:uFillTx/>
                <a:latin typeface="Trebuchet MS" panose="020B0603020202020204" pitchFamily="34" charset="0"/>
                <a:sym typeface="Arial"/>
              </a:rPr>
              <a:t>solution of the previous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step remains as it is. </a:t>
            </a:r>
          </a:p>
          <a:p>
            <a:pPr marL="285750" marR="0" lvl="0" indent="-285750" algn="just" defTabSz="914400" rtl="0" eaLnBrk="1" fontAlgn="base" latinLnBrk="0" hangingPunct="1">
              <a:lnSpc>
                <a:spcPct val="100000"/>
              </a:lnSpc>
              <a:spcBef>
                <a:spcPts val="600"/>
              </a:spcBef>
              <a:spcAft>
                <a:spcPts val="60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Otherwise, we should add the item to the </a:t>
            </a:r>
            <a:r>
              <a:rPr kumimoji="0" lang="en-IN" sz="2000" b="0" i="0" u="none" strike="noStrike" kern="0" cap="none" spc="0" normalizeH="0" baseline="0" noProof="0" dirty="0">
                <a:ln>
                  <a:noFill/>
                </a:ln>
                <a:solidFill>
                  <a:srgbClr val="CC0099"/>
                </a:solidFill>
                <a:effectLst/>
                <a:uLnTx/>
                <a:uFillTx/>
                <a:latin typeface="Trebuchet MS" panose="020B0603020202020204" pitchFamily="34" charset="0"/>
                <a:sym typeface="Arial"/>
              </a:rPr>
              <a:t>solution set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and the problem size will be reduced by the weight of that item. </a:t>
            </a:r>
          </a:p>
          <a:p>
            <a:pPr marL="285750" marR="0" lvl="0" indent="-285750" algn="just" defTabSz="914400" rtl="0" eaLnBrk="1" fontAlgn="base" latinLnBrk="0" hangingPunct="1">
              <a:lnSpc>
                <a:spcPct val="100000"/>
              </a:lnSpc>
              <a:spcBef>
                <a:spcPts val="600"/>
              </a:spcBef>
              <a:spcAft>
                <a:spcPts val="60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Corresponding </a:t>
            </a:r>
            <a:r>
              <a:rPr kumimoji="0" lang="en-IN" sz="2000" b="0" i="0" u="none" strike="noStrike" kern="0" cap="none" spc="0" normalizeH="0" baseline="0" noProof="0" dirty="0">
                <a:ln>
                  <a:noFill/>
                </a:ln>
                <a:solidFill>
                  <a:srgbClr val="CC0099"/>
                </a:solidFill>
                <a:effectLst/>
                <a:uLnTx/>
                <a:uFillTx/>
                <a:latin typeface="Trebuchet MS" panose="020B0603020202020204" pitchFamily="34" charset="0"/>
                <a:sym typeface="Arial"/>
              </a:rPr>
              <a:t>profit will be added for the selected item</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p:txBody>
      </p:sp>
    </p:spTree>
    <p:extLst>
      <p:ext uri="{BB962C8B-B14F-4D97-AF65-F5344CB8AC3E}">
        <p14:creationId xmlns:p14="http://schemas.microsoft.com/office/powerpoint/2010/main" val="62534052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128954" y="134250"/>
            <a:ext cx="7062955" cy="600134"/>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700" b="1" dirty="0">
                <a:solidFill>
                  <a:schemeClr val="bg1"/>
                </a:solidFill>
                <a:latin typeface="Proxima Nova"/>
              </a:rPr>
              <a:t>Knapsack problem Algorithm </a:t>
            </a:r>
          </a:p>
        </p:txBody>
      </p:sp>
      <p:sp>
        <p:nvSpPr>
          <p:cNvPr id="99" name="Google Shape;99;p17"/>
          <p:cNvSpPr txBox="1"/>
          <p:nvPr/>
        </p:nvSpPr>
        <p:spPr>
          <a:xfrm>
            <a:off x="244306" y="663901"/>
            <a:ext cx="8894907" cy="4570452"/>
          </a:xfrm>
          <a:prstGeom prst="rect">
            <a:avLst/>
          </a:prstGeom>
          <a:noFill/>
          <a:ln>
            <a:noFill/>
          </a:ln>
        </p:spPr>
        <p:txBody>
          <a:bodyPr spcFirstLastPara="1" wrap="square" lIns="91425" tIns="91425" rIns="91425" bIns="91425" anchor="t" anchorCtr="0">
            <a:spAutoFit/>
          </a:bodyPr>
          <a:lstStyle/>
          <a:p>
            <a:pPr lvl="0" fontAlgn="base">
              <a:defRPr/>
            </a:pPr>
            <a:r>
              <a:rPr lang="en-IN" sz="1500" b="1" dirty="0">
                <a:solidFill>
                  <a:srgbClr val="0070C0"/>
                </a:solidFill>
                <a:latin typeface="Trebuchet MS" panose="020B0603020202020204" pitchFamily="34" charset="0"/>
              </a:rPr>
              <a:t>Algorithm </a:t>
            </a:r>
            <a:r>
              <a:rPr lang="en-IN" sz="1500" dirty="0" smtClean="0">
                <a:solidFill>
                  <a:srgbClr val="FF0000"/>
                </a:solidFill>
                <a:latin typeface="Trebuchet MS" panose="020B0603020202020204" pitchFamily="34" charset="0"/>
              </a:rPr>
              <a:t>DP_KNAPSACK</a:t>
            </a:r>
            <a:r>
              <a:rPr lang="en-IN" sz="1500" dirty="0" smtClean="0">
                <a:latin typeface="Trebuchet MS" panose="020B0603020202020204" pitchFamily="34" charset="0"/>
              </a:rPr>
              <a:t> </a:t>
            </a:r>
            <a:r>
              <a:rPr lang="en-IN" sz="1500" dirty="0">
                <a:solidFill>
                  <a:srgbClr val="FF0000"/>
                </a:solidFill>
                <a:latin typeface="Trebuchet MS" panose="020B0603020202020204" pitchFamily="34" charset="0"/>
              </a:rPr>
              <a:t>(V, W, M) </a:t>
            </a:r>
            <a:endParaRPr lang="en-IN" sz="1500" dirty="0" smtClean="0">
              <a:solidFill>
                <a:srgbClr val="FF0000"/>
              </a:solidFill>
              <a:latin typeface="Trebuchet MS" panose="020B0603020202020204" pitchFamily="34" charset="0"/>
            </a:endParaRPr>
          </a:p>
          <a:p>
            <a:pPr lvl="0" fontAlgn="base">
              <a:defRPr/>
            </a:pPr>
            <a:r>
              <a:rPr lang="en-IN" sz="1500" dirty="0" smtClean="0">
                <a:solidFill>
                  <a:srgbClr val="FF0000"/>
                </a:solidFill>
                <a:latin typeface="Trebuchet MS" panose="020B0603020202020204" pitchFamily="34" charset="0"/>
              </a:rPr>
              <a:t>// </a:t>
            </a:r>
            <a:r>
              <a:rPr lang="en-IN" sz="1500" dirty="0">
                <a:solidFill>
                  <a:srgbClr val="FF0000"/>
                </a:solidFill>
                <a:latin typeface="Trebuchet MS" panose="020B0603020202020204" pitchFamily="34" charset="0"/>
              </a:rPr>
              <a:t>Description: </a:t>
            </a:r>
            <a:r>
              <a:rPr lang="en-IN" sz="1500" dirty="0">
                <a:latin typeface="Trebuchet MS" panose="020B0603020202020204" pitchFamily="34" charset="0"/>
              </a:rPr>
              <a:t>Solve binary knapsack problem using dynamic programming </a:t>
            </a:r>
            <a:endParaRPr lang="en-IN" sz="1500" dirty="0" smtClean="0">
              <a:latin typeface="Trebuchet MS" panose="020B0603020202020204" pitchFamily="34" charset="0"/>
            </a:endParaRPr>
          </a:p>
          <a:p>
            <a:pPr lvl="0" fontAlgn="base">
              <a:defRPr/>
            </a:pPr>
            <a:r>
              <a:rPr lang="en-IN" sz="1500" dirty="0" smtClean="0">
                <a:solidFill>
                  <a:srgbClr val="FF0000"/>
                </a:solidFill>
                <a:latin typeface="Trebuchet MS" panose="020B0603020202020204" pitchFamily="34" charset="0"/>
              </a:rPr>
              <a:t>// </a:t>
            </a:r>
            <a:r>
              <a:rPr lang="en-IN" sz="1500" dirty="0">
                <a:solidFill>
                  <a:srgbClr val="FF0000"/>
                </a:solidFill>
                <a:latin typeface="Trebuchet MS" panose="020B0603020202020204" pitchFamily="34" charset="0"/>
              </a:rPr>
              <a:t>Input: </a:t>
            </a:r>
            <a:r>
              <a:rPr lang="en-IN" sz="1500" dirty="0">
                <a:latin typeface="Trebuchet MS" panose="020B0603020202020204" pitchFamily="34" charset="0"/>
              </a:rPr>
              <a:t>Set of items X, set of weight W, profit of items V and knapsack capacity M </a:t>
            </a:r>
            <a:endParaRPr lang="en-IN" sz="1500" dirty="0" smtClean="0">
              <a:latin typeface="Trebuchet MS" panose="020B0603020202020204" pitchFamily="34" charset="0"/>
            </a:endParaRPr>
          </a:p>
          <a:p>
            <a:pPr lvl="0" fontAlgn="base">
              <a:defRPr/>
            </a:pPr>
            <a:r>
              <a:rPr lang="en-IN" sz="1500" dirty="0" smtClean="0">
                <a:solidFill>
                  <a:srgbClr val="FF0000"/>
                </a:solidFill>
                <a:latin typeface="Trebuchet MS" panose="020B0603020202020204" pitchFamily="34" charset="0"/>
              </a:rPr>
              <a:t>// </a:t>
            </a:r>
            <a:r>
              <a:rPr lang="en-IN" sz="1500" dirty="0">
                <a:solidFill>
                  <a:srgbClr val="FF0000"/>
                </a:solidFill>
                <a:latin typeface="Trebuchet MS" panose="020B0603020202020204" pitchFamily="34" charset="0"/>
              </a:rPr>
              <a:t>Output: </a:t>
            </a:r>
            <a:r>
              <a:rPr lang="en-IN" sz="1500" dirty="0">
                <a:latin typeface="Trebuchet MS" panose="020B0603020202020204" pitchFamily="34" charset="0"/>
              </a:rPr>
              <a:t>Array V, which holds the solution of </a:t>
            </a:r>
            <a:r>
              <a:rPr lang="en-IN" sz="1500" dirty="0" smtClean="0">
                <a:latin typeface="Trebuchet MS" panose="020B0603020202020204" pitchFamily="34" charset="0"/>
              </a:rPr>
              <a:t>problem</a:t>
            </a:r>
          </a:p>
          <a:p>
            <a:pPr lvl="0" fontAlgn="base">
              <a:defRPr/>
            </a:pPr>
            <a:r>
              <a:rPr lang="en-IN" sz="1500" dirty="0" smtClean="0">
                <a:latin typeface="Trebuchet MS" panose="020B0603020202020204" pitchFamily="34" charset="0"/>
              </a:rPr>
              <a:t> </a:t>
            </a:r>
            <a:r>
              <a:rPr lang="en-IN" sz="1500" b="1" dirty="0">
                <a:latin typeface="Trebuchet MS" panose="020B0603020202020204" pitchFamily="34" charset="0"/>
              </a:rPr>
              <a:t>for </a:t>
            </a:r>
            <a:r>
              <a:rPr lang="en-IN" sz="1500" dirty="0" err="1">
                <a:latin typeface="Trebuchet MS" panose="020B0603020202020204" pitchFamily="34" charset="0"/>
              </a:rPr>
              <a:t>i</a:t>
            </a:r>
            <a:r>
              <a:rPr lang="en-IN" sz="1500" dirty="0">
                <a:latin typeface="Trebuchet MS" panose="020B0603020202020204" pitchFamily="34" charset="0"/>
              </a:rPr>
              <a:t> ← 1 to n </a:t>
            </a:r>
            <a:r>
              <a:rPr lang="en-IN" sz="1500" b="1" dirty="0">
                <a:latin typeface="Trebuchet MS" panose="020B0603020202020204" pitchFamily="34" charset="0"/>
              </a:rPr>
              <a:t>do</a:t>
            </a:r>
            <a:r>
              <a:rPr lang="en-IN" sz="1500" dirty="0">
                <a:latin typeface="Trebuchet MS" panose="020B0603020202020204" pitchFamily="34" charset="0"/>
              </a:rPr>
              <a:t> </a:t>
            </a:r>
            <a:endParaRPr lang="en-IN" sz="1500" dirty="0" smtClean="0">
              <a:latin typeface="Trebuchet MS" panose="020B0603020202020204" pitchFamily="34" charset="0"/>
            </a:endParaRPr>
          </a:p>
          <a:p>
            <a:pPr lvl="0" fontAlgn="base">
              <a:defRPr/>
            </a:pPr>
            <a:r>
              <a:rPr lang="en-IN" sz="1500" dirty="0">
                <a:latin typeface="Trebuchet MS" panose="020B0603020202020204" pitchFamily="34" charset="0"/>
              </a:rPr>
              <a:t> </a:t>
            </a:r>
            <a:r>
              <a:rPr lang="en-IN" sz="1500" dirty="0" smtClean="0">
                <a:latin typeface="Trebuchet MS" panose="020B0603020202020204" pitchFamily="34" charset="0"/>
              </a:rPr>
              <a:t>      V[</a:t>
            </a:r>
            <a:r>
              <a:rPr lang="en-IN" sz="1500" dirty="0" err="1" smtClean="0">
                <a:latin typeface="Trebuchet MS" panose="020B0603020202020204" pitchFamily="34" charset="0"/>
              </a:rPr>
              <a:t>i</a:t>
            </a:r>
            <a:r>
              <a:rPr lang="en-IN" sz="1500" dirty="0">
                <a:latin typeface="Trebuchet MS" panose="020B0603020202020204" pitchFamily="34" charset="0"/>
              </a:rPr>
              <a:t>, 0] ← 0 </a:t>
            </a:r>
            <a:endParaRPr lang="en-IN" sz="1500" dirty="0" smtClean="0">
              <a:latin typeface="Trebuchet MS" panose="020B0603020202020204" pitchFamily="34" charset="0"/>
            </a:endParaRPr>
          </a:p>
          <a:p>
            <a:pPr lvl="0" fontAlgn="base">
              <a:defRPr/>
            </a:pPr>
            <a:r>
              <a:rPr lang="en-IN" sz="1500" b="1" dirty="0" smtClean="0">
                <a:latin typeface="Trebuchet MS" panose="020B0603020202020204" pitchFamily="34" charset="0"/>
              </a:rPr>
              <a:t>end</a:t>
            </a:r>
            <a:r>
              <a:rPr lang="en-IN" sz="1500" dirty="0" smtClean="0">
                <a:latin typeface="Trebuchet MS" panose="020B0603020202020204" pitchFamily="34" charset="0"/>
              </a:rPr>
              <a:t> </a:t>
            </a:r>
          </a:p>
          <a:p>
            <a:pPr lvl="0" fontAlgn="base">
              <a:defRPr/>
            </a:pPr>
            <a:r>
              <a:rPr lang="en-IN" sz="1500" b="1" dirty="0" smtClean="0">
                <a:latin typeface="Trebuchet MS" panose="020B0603020202020204" pitchFamily="34" charset="0"/>
              </a:rPr>
              <a:t>for </a:t>
            </a:r>
            <a:r>
              <a:rPr lang="en-IN" sz="1500" dirty="0" err="1">
                <a:latin typeface="Trebuchet MS" panose="020B0603020202020204" pitchFamily="34" charset="0"/>
              </a:rPr>
              <a:t>i</a:t>
            </a:r>
            <a:r>
              <a:rPr lang="en-IN" sz="1500" dirty="0">
                <a:latin typeface="Trebuchet MS" panose="020B0603020202020204" pitchFamily="34" charset="0"/>
              </a:rPr>
              <a:t> ← 1 to M </a:t>
            </a:r>
            <a:r>
              <a:rPr lang="en-IN" sz="1500" b="1" dirty="0">
                <a:latin typeface="Trebuchet MS" panose="020B0603020202020204" pitchFamily="34" charset="0"/>
              </a:rPr>
              <a:t>do</a:t>
            </a:r>
            <a:r>
              <a:rPr lang="en-IN" sz="1500" dirty="0">
                <a:latin typeface="Trebuchet MS" panose="020B0603020202020204" pitchFamily="34" charset="0"/>
              </a:rPr>
              <a:t> </a:t>
            </a:r>
          </a:p>
          <a:p>
            <a:pPr lvl="0" fontAlgn="base">
              <a:defRPr/>
            </a:pPr>
            <a:r>
              <a:rPr lang="en-IN" sz="1500" dirty="0" smtClean="0">
                <a:latin typeface="Trebuchet MS" panose="020B0603020202020204" pitchFamily="34" charset="0"/>
              </a:rPr>
              <a:t>      V[0</a:t>
            </a:r>
            <a:r>
              <a:rPr lang="en-IN" sz="1500" dirty="0">
                <a:latin typeface="Trebuchet MS" panose="020B0603020202020204" pitchFamily="34" charset="0"/>
              </a:rPr>
              <a:t>, </a:t>
            </a:r>
            <a:r>
              <a:rPr lang="en-IN" sz="1500" dirty="0" err="1">
                <a:latin typeface="Trebuchet MS" panose="020B0603020202020204" pitchFamily="34" charset="0"/>
              </a:rPr>
              <a:t>i</a:t>
            </a:r>
            <a:r>
              <a:rPr lang="en-IN" sz="1500" dirty="0">
                <a:latin typeface="Trebuchet MS" panose="020B0603020202020204" pitchFamily="34" charset="0"/>
              </a:rPr>
              <a:t>] ← 0 </a:t>
            </a:r>
            <a:endParaRPr lang="en-IN" sz="1500" dirty="0" smtClean="0">
              <a:latin typeface="Trebuchet MS" panose="020B0603020202020204" pitchFamily="34" charset="0"/>
            </a:endParaRPr>
          </a:p>
          <a:p>
            <a:pPr lvl="0" fontAlgn="base">
              <a:defRPr/>
            </a:pPr>
            <a:r>
              <a:rPr lang="en-IN" sz="1500" b="1" dirty="0" smtClean="0">
                <a:latin typeface="Trebuchet MS" panose="020B0603020202020204" pitchFamily="34" charset="0"/>
              </a:rPr>
              <a:t>end</a:t>
            </a:r>
            <a:r>
              <a:rPr lang="en-IN" sz="1500" dirty="0" smtClean="0">
                <a:latin typeface="Trebuchet MS" panose="020B0603020202020204" pitchFamily="34" charset="0"/>
              </a:rPr>
              <a:t> </a:t>
            </a:r>
          </a:p>
          <a:p>
            <a:pPr lvl="0" fontAlgn="base">
              <a:defRPr/>
            </a:pPr>
            <a:r>
              <a:rPr lang="en-IN" sz="1500" b="1" dirty="0" smtClean="0">
                <a:latin typeface="Trebuchet MS" panose="020B0603020202020204" pitchFamily="34" charset="0"/>
              </a:rPr>
              <a:t>for </a:t>
            </a:r>
            <a:r>
              <a:rPr lang="en-IN" sz="1500" dirty="0">
                <a:latin typeface="Trebuchet MS" panose="020B0603020202020204" pitchFamily="34" charset="0"/>
              </a:rPr>
              <a:t>V[0, </a:t>
            </a:r>
            <a:r>
              <a:rPr lang="en-IN" sz="1500" dirty="0" err="1">
                <a:latin typeface="Trebuchet MS" panose="020B0603020202020204" pitchFamily="34" charset="0"/>
              </a:rPr>
              <a:t>i</a:t>
            </a:r>
            <a:r>
              <a:rPr lang="en-IN" sz="1500" dirty="0">
                <a:latin typeface="Trebuchet MS" panose="020B0603020202020204" pitchFamily="34" charset="0"/>
              </a:rPr>
              <a:t>] ← 0 </a:t>
            </a:r>
            <a:r>
              <a:rPr lang="en-IN" sz="1500" b="1" dirty="0">
                <a:latin typeface="Trebuchet MS" panose="020B0603020202020204" pitchFamily="34" charset="0"/>
              </a:rPr>
              <a:t>do</a:t>
            </a:r>
            <a:r>
              <a:rPr lang="en-IN" sz="1500" dirty="0">
                <a:latin typeface="Trebuchet MS" panose="020B0603020202020204" pitchFamily="34" charset="0"/>
              </a:rPr>
              <a:t> </a:t>
            </a:r>
            <a:endParaRPr lang="en-IN" sz="1500" dirty="0" smtClean="0">
              <a:latin typeface="Trebuchet MS" panose="020B0603020202020204" pitchFamily="34" charset="0"/>
            </a:endParaRPr>
          </a:p>
          <a:p>
            <a:pPr lvl="0" fontAlgn="base">
              <a:defRPr/>
            </a:pPr>
            <a:r>
              <a:rPr lang="en-IN" sz="1500" b="1" dirty="0">
                <a:latin typeface="Trebuchet MS" panose="020B0603020202020204" pitchFamily="34" charset="0"/>
              </a:rPr>
              <a:t> </a:t>
            </a:r>
            <a:r>
              <a:rPr lang="en-IN" sz="1500" b="1" dirty="0" smtClean="0">
                <a:latin typeface="Trebuchet MS" panose="020B0603020202020204" pitchFamily="34" charset="0"/>
              </a:rPr>
              <a:t>     for </a:t>
            </a:r>
            <a:r>
              <a:rPr lang="en-IN" sz="1500" dirty="0">
                <a:latin typeface="Trebuchet MS" panose="020B0603020202020204" pitchFamily="34" charset="0"/>
              </a:rPr>
              <a:t>j ← 0 to M </a:t>
            </a:r>
            <a:r>
              <a:rPr lang="en-IN" sz="1500" b="1" dirty="0" smtClean="0">
                <a:latin typeface="Trebuchet MS" panose="020B0603020202020204" pitchFamily="34" charset="0"/>
              </a:rPr>
              <a:t>do</a:t>
            </a:r>
          </a:p>
          <a:p>
            <a:pPr lvl="0" fontAlgn="base">
              <a:defRPr/>
            </a:pPr>
            <a:r>
              <a:rPr lang="en-IN" sz="1500" b="1" dirty="0">
                <a:latin typeface="Trebuchet MS" panose="020B0603020202020204" pitchFamily="34" charset="0"/>
              </a:rPr>
              <a:t> </a:t>
            </a:r>
            <a:r>
              <a:rPr lang="en-IN" sz="1500" b="1" dirty="0" smtClean="0">
                <a:latin typeface="Trebuchet MS" panose="020B0603020202020204" pitchFamily="34" charset="0"/>
              </a:rPr>
              <a:t>           if </a:t>
            </a:r>
            <a:r>
              <a:rPr lang="en-IN" sz="1500" dirty="0">
                <a:latin typeface="Trebuchet MS" panose="020B0603020202020204" pitchFamily="34" charset="0"/>
              </a:rPr>
              <a:t>w[</a:t>
            </a:r>
            <a:r>
              <a:rPr lang="en-IN" sz="1500" dirty="0" err="1">
                <a:latin typeface="Trebuchet MS" panose="020B0603020202020204" pitchFamily="34" charset="0"/>
              </a:rPr>
              <a:t>i</a:t>
            </a:r>
            <a:r>
              <a:rPr lang="en-IN" sz="1500" dirty="0">
                <a:latin typeface="Trebuchet MS" panose="020B0603020202020204" pitchFamily="34" charset="0"/>
              </a:rPr>
              <a:t>] ≤ j </a:t>
            </a:r>
            <a:r>
              <a:rPr lang="en-IN" sz="1500" b="1" dirty="0">
                <a:latin typeface="Trebuchet MS" panose="020B0603020202020204" pitchFamily="34" charset="0"/>
              </a:rPr>
              <a:t>then</a:t>
            </a:r>
            <a:r>
              <a:rPr lang="en-IN" sz="1500" dirty="0">
                <a:latin typeface="Trebuchet MS" panose="020B0603020202020204" pitchFamily="34" charset="0"/>
              </a:rPr>
              <a:t> </a:t>
            </a:r>
            <a:endParaRPr lang="en-IN" sz="1500" dirty="0" smtClean="0">
              <a:latin typeface="Trebuchet MS" panose="020B0603020202020204" pitchFamily="34" charset="0"/>
            </a:endParaRPr>
          </a:p>
          <a:p>
            <a:pPr lvl="0" fontAlgn="base">
              <a:defRPr/>
            </a:pPr>
            <a:r>
              <a:rPr lang="en-IN" sz="1500" dirty="0" smtClean="0">
                <a:latin typeface="Trebuchet MS" panose="020B0603020202020204" pitchFamily="34" charset="0"/>
              </a:rPr>
              <a:t>	V[</a:t>
            </a:r>
            <a:r>
              <a:rPr lang="en-IN" sz="1500" dirty="0" err="1" smtClean="0">
                <a:latin typeface="Trebuchet MS" panose="020B0603020202020204" pitchFamily="34" charset="0"/>
              </a:rPr>
              <a:t>i</a:t>
            </a:r>
            <a:r>
              <a:rPr lang="en-IN" sz="1500" dirty="0">
                <a:latin typeface="Trebuchet MS" panose="020B0603020202020204" pitchFamily="34" charset="0"/>
              </a:rPr>
              <a:t>, j] ← max{V[i-1, j], v[</a:t>
            </a:r>
            <a:r>
              <a:rPr lang="en-IN" sz="1500" dirty="0" err="1">
                <a:latin typeface="Trebuchet MS" panose="020B0603020202020204" pitchFamily="34" charset="0"/>
              </a:rPr>
              <a:t>i</a:t>
            </a:r>
            <a:r>
              <a:rPr lang="en-IN" sz="1500" dirty="0">
                <a:latin typeface="Trebuchet MS" panose="020B0603020202020204" pitchFamily="34" charset="0"/>
              </a:rPr>
              <a:t>] + V[</a:t>
            </a:r>
            <a:r>
              <a:rPr lang="en-IN" sz="1500" dirty="0" err="1">
                <a:latin typeface="Trebuchet MS" panose="020B0603020202020204" pitchFamily="34" charset="0"/>
              </a:rPr>
              <a:t>i</a:t>
            </a:r>
            <a:r>
              <a:rPr lang="en-IN" sz="1500" dirty="0">
                <a:latin typeface="Trebuchet MS" panose="020B0603020202020204" pitchFamily="34" charset="0"/>
              </a:rPr>
              <a:t> – 1, j – w[</a:t>
            </a:r>
            <a:r>
              <a:rPr lang="en-IN" sz="1500" dirty="0" err="1">
                <a:latin typeface="Trebuchet MS" panose="020B0603020202020204" pitchFamily="34" charset="0"/>
              </a:rPr>
              <a:t>i</a:t>
            </a:r>
            <a:r>
              <a:rPr lang="en-IN" sz="1500" dirty="0">
                <a:latin typeface="Trebuchet MS" panose="020B0603020202020204" pitchFamily="34" charset="0"/>
              </a:rPr>
              <a:t>]]} </a:t>
            </a:r>
            <a:endParaRPr lang="en-IN" sz="1500" dirty="0" smtClean="0">
              <a:latin typeface="Trebuchet MS" panose="020B0603020202020204" pitchFamily="34" charset="0"/>
            </a:endParaRPr>
          </a:p>
          <a:p>
            <a:pPr lvl="0" fontAlgn="base">
              <a:defRPr/>
            </a:pPr>
            <a:r>
              <a:rPr lang="en-IN" sz="1500" b="1" dirty="0" smtClean="0">
                <a:latin typeface="Trebuchet MS" panose="020B0603020202020204" pitchFamily="34" charset="0"/>
              </a:rPr>
              <a:t>           else</a:t>
            </a:r>
            <a:r>
              <a:rPr lang="en-IN" sz="1500" dirty="0" smtClean="0">
                <a:latin typeface="Trebuchet MS" panose="020B0603020202020204" pitchFamily="34" charset="0"/>
              </a:rPr>
              <a:t> </a:t>
            </a:r>
          </a:p>
          <a:p>
            <a:pPr lvl="0" fontAlgn="base">
              <a:defRPr/>
            </a:pPr>
            <a:r>
              <a:rPr lang="en-IN" sz="1500" dirty="0">
                <a:latin typeface="Trebuchet MS" panose="020B0603020202020204" pitchFamily="34" charset="0"/>
              </a:rPr>
              <a:t>	</a:t>
            </a:r>
            <a:r>
              <a:rPr lang="en-IN" sz="1500" dirty="0" smtClean="0">
                <a:latin typeface="Trebuchet MS" panose="020B0603020202020204" pitchFamily="34" charset="0"/>
              </a:rPr>
              <a:t>V[</a:t>
            </a:r>
            <a:r>
              <a:rPr lang="en-IN" sz="1500" dirty="0" err="1" smtClean="0">
                <a:latin typeface="Trebuchet MS" panose="020B0603020202020204" pitchFamily="34" charset="0"/>
              </a:rPr>
              <a:t>i</a:t>
            </a:r>
            <a:r>
              <a:rPr lang="en-IN" sz="1500" dirty="0">
                <a:latin typeface="Trebuchet MS" panose="020B0603020202020204" pitchFamily="34" charset="0"/>
              </a:rPr>
              <a:t>, j] ← V[</a:t>
            </a:r>
            <a:r>
              <a:rPr lang="en-IN" sz="1500" dirty="0" err="1">
                <a:latin typeface="Trebuchet MS" panose="020B0603020202020204" pitchFamily="34" charset="0"/>
              </a:rPr>
              <a:t>i</a:t>
            </a:r>
            <a:r>
              <a:rPr lang="en-IN" sz="1500" dirty="0">
                <a:latin typeface="Trebuchet MS" panose="020B0603020202020204" pitchFamily="34" charset="0"/>
              </a:rPr>
              <a:t> – 1, j] </a:t>
            </a:r>
            <a:r>
              <a:rPr lang="en-IN" sz="1500" dirty="0" smtClean="0">
                <a:latin typeface="Trebuchet MS" panose="020B0603020202020204" pitchFamily="34" charset="0"/>
              </a:rPr>
              <a:t>                           </a:t>
            </a:r>
            <a:r>
              <a:rPr lang="en-IN" sz="1500" dirty="0" smtClean="0">
                <a:solidFill>
                  <a:srgbClr val="FF0000"/>
                </a:solidFill>
                <a:latin typeface="Trebuchet MS" panose="020B0603020202020204" pitchFamily="34" charset="0"/>
              </a:rPr>
              <a:t>// if w[</a:t>
            </a:r>
            <a:r>
              <a:rPr lang="en-IN" sz="1500" dirty="0" err="1" smtClean="0">
                <a:solidFill>
                  <a:srgbClr val="FF0000"/>
                </a:solidFill>
                <a:latin typeface="Trebuchet MS" panose="020B0603020202020204" pitchFamily="34" charset="0"/>
              </a:rPr>
              <a:t>i</a:t>
            </a:r>
            <a:r>
              <a:rPr lang="en-IN" sz="1500" dirty="0">
                <a:solidFill>
                  <a:srgbClr val="FF0000"/>
                </a:solidFill>
                <a:latin typeface="Trebuchet MS" panose="020B0603020202020204" pitchFamily="34" charset="0"/>
              </a:rPr>
              <a:t>]&gt;j </a:t>
            </a:r>
            <a:endParaRPr lang="en-IN" sz="1500" dirty="0" smtClean="0">
              <a:solidFill>
                <a:srgbClr val="FF0000"/>
              </a:solidFill>
              <a:latin typeface="Trebuchet MS" panose="020B0603020202020204" pitchFamily="34" charset="0"/>
            </a:endParaRPr>
          </a:p>
          <a:p>
            <a:pPr lvl="0" fontAlgn="base">
              <a:defRPr/>
            </a:pPr>
            <a:r>
              <a:rPr lang="en-IN" sz="1500" b="1" dirty="0" smtClean="0">
                <a:latin typeface="Trebuchet MS" panose="020B0603020202020204" pitchFamily="34" charset="0"/>
              </a:rPr>
              <a:t>	end</a:t>
            </a:r>
            <a:r>
              <a:rPr lang="en-IN" sz="1500" dirty="0" smtClean="0">
                <a:latin typeface="Trebuchet MS" panose="020B0603020202020204" pitchFamily="34" charset="0"/>
              </a:rPr>
              <a:t> </a:t>
            </a:r>
          </a:p>
          <a:p>
            <a:pPr lvl="0" fontAlgn="base">
              <a:defRPr/>
            </a:pPr>
            <a:r>
              <a:rPr lang="en-IN" sz="1500" b="1" dirty="0">
                <a:latin typeface="Trebuchet MS" panose="020B0603020202020204" pitchFamily="34" charset="0"/>
              </a:rPr>
              <a:t> </a:t>
            </a:r>
            <a:r>
              <a:rPr lang="en-IN" sz="1500" b="1" dirty="0" smtClean="0">
                <a:latin typeface="Trebuchet MS" panose="020B0603020202020204" pitchFamily="34" charset="0"/>
              </a:rPr>
              <a:t>      end</a:t>
            </a:r>
            <a:r>
              <a:rPr lang="en-IN" sz="1500" dirty="0" smtClean="0">
                <a:latin typeface="Trebuchet MS" panose="020B0603020202020204" pitchFamily="34" charset="0"/>
              </a:rPr>
              <a:t> </a:t>
            </a:r>
          </a:p>
          <a:p>
            <a:pPr lvl="0" fontAlgn="base">
              <a:defRPr/>
            </a:pPr>
            <a:r>
              <a:rPr lang="en-IN" sz="1500" b="1" dirty="0" smtClean="0">
                <a:latin typeface="Trebuchet MS" panose="020B0603020202020204" pitchFamily="34" charset="0"/>
              </a:rPr>
              <a:t>end</a:t>
            </a:r>
            <a:endPar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p:txBody>
      </p:sp>
    </p:spTree>
    <p:extLst>
      <p:ext uri="{BB962C8B-B14F-4D97-AF65-F5344CB8AC3E}">
        <p14:creationId xmlns:p14="http://schemas.microsoft.com/office/powerpoint/2010/main" val="150698742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1" y="0"/>
            <a:ext cx="9144000"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pPr fontAlgn="base"/>
            <a:r>
              <a:rPr lang="en-IN" sz="2700" b="1" dirty="0">
                <a:solidFill>
                  <a:schemeClr val="bg1"/>
                </a:solidFill>
                <a:latin typeface="Proxima Nova"/>
              </a:rPr>
              <a:t>Knapsack problem</a:t>
            </a:r>
          </a:p>
        </p:txBody>
      </p:sp>
      <p:sp>
        <p:nvSpPr>
          <p:cNvPr id="3" name="Rectangle 2"/>
          <p:cNvSpPr/>
          <p:nvPr/>
        </p:nvSpPr>
        <p:spPr>
          <a:xfrm>
            <a:off x="325037" y="832056"/>
            <a:ext cx="8193929" cy="4093428"/>
          </a:xfrm>
          <a:prstGeom prst="rect">
            <a:avLst/>
          </a:prstGeom>
        </p:spPr>
        <p:txBody>
          <a:bodyPr wrap="square">
            <a:spAutoFit/>
          </a:bodyPr>
          <a:lstStyle/>
          <a:p>
            <a:r>
              <a:rPr lang="en-IN" sz="2000" dirty="0" smtClean="0">
                <a:solidFill>
                  <a:srgbClr val="CC0099"/>
                </a:solidFill>
                <a:latin typeface="Trebuchet MS" panose="020B0603020202020204" pitchFamily="34" charset="0"/>
              </a:rPr>
              <a:t>For Example</a:t>
            </a:r>
            <a:r>
              <a:rPr lang="en-IN" sz="2000" dirty="0" smtClean="0">
                <a:latin typeface="Trebuchet MS" panose="020B0603020202020204" pitchFamily="34" charset="0"/>
              </a:rPr>
              <a:t>,</a:t>
            </a:r>
          </a:p>
          <a:p>
            <a:endParaRPr lang="en-IN" sz="2000" dirty="0" smtClean="0">
              <a:latin typeface="Trebuchet MS" panose="020B0603020202020204" pitchFamily="34" charset="0"/>
            </a:endParaRPr>
          </a:p>
          <a:p>
            <a:r>
              <a:rPr lang="en-IN" sz="2000" dirty="0" smtClean="0">
                <a:latin typeface="Trebuchet MS" panose="020B0603020202020204" pitchFamily="34" charset="0"/>
              </a:rPr>
              <a:t>Weights ={3,4,6,5}  </a:t>
            </a:r>
          </a:p>
          <a:p>
            <a:endParaRPr lang="en-US" sz="2000" dirty="0" smtClean="0">
              <a:latin typeface="Trebuchet MS" panose="020B0603020202020204" pitchFamily="34" charset="0"/>
            </a:endParaRPr>
          </a:p>
          <a:p>
            <a:r>
              <a:rPr lang="en-US" sz="2000" dirty="0" smtClean="0">
                <a:latin typeface="Trebuchet MS" panose="020B0603020202020204" pitchFamily="34" charset="0"/>
              </a:rPr>
              <a:t>Profits(Values)={2,3,1,4}</a:t>
            </a:r>
          </a:p>
          <a:p>
            <a:endParaRPr lang="en-US" sz="2000" dirty="0">
              <a:latin typeface="Trebuchet MS" panose="020B0603020202020204" pitchFamily="34" charset="0"/>
            </a:endParaRPr>
          </a:p>
          <a:p>
            <a:r>
              <a:rPr lang="en-US" sz="2000" dirty="0" smtClean="0">
                <a:latin typeface="Trebuchet MS" panose="020B0603020202020204" pitchFamily="34" charset="0"/>
              </a:rPr>
              <a:t>Probability of  x={0,0,0,0} if no item selected  </a:t>
            </a:r>
          </a:p>
          <a:p>
            <a:r>
              <a:rPr lang="en-US" sz="2000" dirty="0">
                <a:latin typeface="Trebuchet MS" panose="020B0603020202020204" pitchFamily="34" charset="0"/>
              </a:rPr>
              <a:t> </a:t>
            </a:r>
            <a:r>
              <a:rPr lang="en-US" sz="2000" dirty="0" smtClean="0">
                <a:latin typeface="Trebuchet MS" panose="020B0603020202020204" pitchFamily="34" charset="0"/>
              </a:rPr>
              <a:t>                         {0,0,0,1}  if 4</a:t>
            </a:r>
            <a:r>
              <a:rPr lang="en-US" sz="2000" baseline="30000" dirty="0" smtClean="0">
                <a:latin typeface="Trebuchet MS" panose="020B0603020202020204" pitchFamily="34" charset="0"/>
              </a:rPr>
              <a:t>th</a:t>
            </a:r>
            <a:r>
              <a:rPr lang="en-US" sz="2000" dirty="0" smtClean="0">
                <a:latin typeface="Trebuchet MS" panose="020B0603020202020204" pitchFamily="34" charset="0"/>
              </a:rPr>
              <a:t> item selected , we will write 1 </a:t>
            </a:r>
          </a:p>
          <a:p>
            <a:r>
              <a:rPr lang="en-US" sz="2000" dirty="0" smtClean="0">
                <a:latin typeface="Trebuchet MS" panose="020B0603020202020204" pitchFamily="34" charset="0"/>
              </a:rPr>
              <a:t>                             .</a:t>
            </a:r>
            <a:endParaRPr lang="en-US" sz="2000" dirty="0">
              <a:latin typeface="Trebuchet MS" panose="020B0603020202020204" pitchFamily="34" charset="0"/>
            </a:endParaRPr>
          </a:p>
          <a:p>
            <a:r>
              <a:rPr lang="en-US" sz="2000" dirty="0" smtClean="0">
                <a:latin typeface="Trebuchet MS" panose="020B0603020202020204" pitchFamily="34" charset="0"/>
              </a:rPr>
              <a:t>                             .</a:t>
            </a:r>
          </a:p>
          <a:p>
            <a:r>
              <a:rPr lang="en-US" sz="2000" dirty="0">
                <a:latin typeface="Trebuchet MS" panose="020B0603020202020204" pitchFamily="34" charset="0"/>
              </a:rPr>
              <a:t> </a:t>
            </a:r>
            <a:r>
              <a:rPr lang="en-US" sz="2000" dirty="0" smtClean="0">
                <a:latin typeface="Trebuchet MS" panose="020B0603020202020204" pitchFamily="34" charset="0"/>
              </a:rPr>
              <a:t>                            .</a:t>
            </a:r>
          </a:p>
          <a:p>
            <a:r>
              <a:rPr lang="en-US" sz="2000" dirty="0" smtClean="0">
                <a:latin typeface="Trebuchet MS" panose="020B0603020202020204" pitchFamily="34" charset="0"/>
              </a:rPr>
              <a:t>	             {0,1,1,1</a:t>
            </a:r>
            <a:r>
              <a:rPr lang="en-US" sz="2000" dirty="0">
                <a:latin typeface="Trebuchet MS" panose="020B0603020202020204" pitchFamily="34" charset="0"/>
              </a:rPr>
              <a:t>}</a:t>
            </a:r>
            <a:endParaRPr lang="en-US" sz="2000" dirty="0" smtClean="0">
              <a:latin typeface="Trebuchet MS" panose="020B0603020202020204" pitchFamily="34" charset="0"/>
            </a:endParaRPr>
          </a:p>
          <a:p>
            <a:r>
              <a:rPr lang="en-US" sz="2000" dirty="0" smtClean="0">
                <a:latin typeface="Trebuchet MS" panose="020B0603020202020204" pitchFamily="34" charset="0"/>
              </a:rPr>
              <a:t>                         {</a:t>
            </a:r>
            <a:r>
              <a:rPr lang="en-US" sz="2000" dirty="0">
                <a:latin typeface="Trebuchet MS" panose="020B0603020202020204" pitchFamily="34" charset="0"/>
              </a:rPr>
              <a:t>1,1,1,1</a:t>
            </a:r>
            <a:r>
              <a:rPr lang="en-US" sz="2000" dirty="0" smtClean="0">
                <a:latin typeface="Trebuchet MS" panose="020B0603020202020204" pitchFamily="34" charset="0"/>
              </a:rPr>
              <a:t>} if all selected.</a:t>
            </a:r>
            <a:endParaRPr lang="en-IN" sz="1800" dirty="0">
              <a:latin typeface="Trebuchet MS" panose="020B0603020202020204" pitchFamily="34" charset="0"/>
            </a:endParaRPr>
          </a:p>
        </p:txBody>
      </p:sp>
      <p:sp>
        <p:nvSpPr>
          <p:cNvPr id="14" name="Rectangle 13"/>
          <p:cNvSpPr/>
          <p:nvPr/>
        </p:nvSpPr>
        <p:spPr>
          <a:xfrm>
            <a:off x="5246207" y="1570719"/>
            <a:ext cx="1027271" cy="830997"/>
          </a:xfrm>
          <a:prstGeom prst="rect">
            <a:avLst/>
          </a:prstGeom>
          <a:ln>
            <a:solidFill>
              <a:schemeClr val="accent1"/>
            </a:solidFill>
          </a:ln>
        </p:spPr>
        <p:txBody>
          <a:bodyPr wrap="square">
            <a:spAutoFit/>
          </a:bodyPr>
          <a:lstStyle/>
          <a:p>
            <a:r>
              <a:rPr lang="en-US" sz="2400" dirty="0" smtClean="0">
                <a:latin typeface="Corbel" panose="020B0503020204020204" pitchFamily="34" charset="0"/>
              </a:rPr>
              <a:t>W=8 </a:t>
            </a:r>
            <a:endParaRPr lang="en-IN" dirty="0" smtClean="0"/>
          </a:p>
          <a:p>
            <a:r>
              <a:rPr lang="en-US" sz="2400" dirty="0" smtClean="0">
                <a:latin typeface="Corbel" panose="020B0503020204020204" pitchFamily="34" charset="0"/>
              </a:rPr>
              <a:t>n=4</a:t>
            </a:r>
          </a:p>
        </p:txBody>
      </p:sp>
    </p:spTree>
    <p:extLst>
      <p:ext uri="{BB962C8B-B14F-4D97-AF65-F5344CB8AC3E}">
        <p14:creationId xmlns:p14="http://schemas.microsoft.com/office/powerpoint/2010/main" val="48844713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155575" y="148588"/>
            <a:ext cx="7036346" cy="600134"/>
          </a:xfrm>
          <a:prstGeom prst="rect">
            <a:avLst/>
          </a:prstGeom>
          <a:noFill/>
          <a:ln>
            <a:noFill/>
          </a:ln>
        </p:spPr>
        <p:txBody>
          <a:bodyPr spcFirstLastPara="1" wrap="square" lIns="91425" tIns="91425" rIns="91425" bIns="91425" anchor="t" anchorCtr="0">
            <a:spAutoFit/>
          </a:bodyPr>
          <a:lstStyle/>
          <a:p>
            <a:pPr fontAlgn="base"/>
            <a:r>
              <a:rPr lang="en-IN" sz="2700" b="1" dirty="0">
                <a:solidFill>
                  <a:schemeClr val="bg1"/>
                </a:solidFill>
                <a:latin typeface="Proxima Nova"/>
              </a:rPr>
              <a:t>Knapsack problem</a:t>
            </a:r>
          </a:p>
        </p:txBody>
      </p:sp>
      <p:sp>
        <p:nvSpPr>
          <p:cNvPr id="99" name="Google Shape;99;p17"/>
          <p:cNvSpPr txBox="1"/>
          <p:nvPr/>
        </p:nvSpPr>
        <p:spPr>
          <a:xfrm>
            <a:off x="307974" y="730639"/>
            <a:ext cx="8550901" cy="4185731"/>
          </a:xfrm>
          <a:prstGeom prst="rect">
            <a:avLst/>
          </a:prstGeom>
          <a:noFill/>
          <a:ln>
            <a:noFill/>
          </a:ln>
        </p:spPr>
        <p:txBody>
          <a:bodyPr spcFirstLastPara="1" wrap="square" lIns="91425" tIns="91425" rIns="91425" bIns="91425" anchor="t" anchorCtr="0">
            <a:spAutoFit/>
          </a:bodyPr>
          <a:lstStyle/>
          <a:p>
            <a:pPr marL="342900" marR="0" lvl="0" indent="-342900" algn="l" defTabSz="914400" rtl="0" eaLnBrk="1" fontAlgn="base"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Dynamic programming divides the problem into small sub-problems. </a:t>
            </a:r>
          </a:p>
          <a:p>
            <a:pPr marL="342900" marR="0" lvl="0" indent="-342900" algn="l" defTabSz="914400" rtl="0" eaLnBrk="1" fontAlgn="base"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Let V is an array of the solution of sub-problems. </a:t>
            </a:r>
          </a:p>
          <a:p>
            <a:pPr marL="342900" marR="0" lvl="0" indent="-342900" algn="l" defTabSz="914400" rtl="0" eaLnBrk="1" fontAlgn="base"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V[i, j] represents the solution for problem size j with first i items. </a:t>
            </a:r>
          </a:p>
          <a:p>
            <a:pPr marL="342900" marR="0" lvl="0" indent="-342900" algn="l" defTabSz="914400" rtl="0" eaLnBrk="1" fontAlgn="base"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The mathematical notion of the knapsack problem is given as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363538" lvl="3" fontAlgn="base"/>
            <a:endPar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363538" lvl="3" fontAlgn="base"/>
            <a:endPar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endParaRPr>
          </a:p>
          <a:p>
            <a:pPr marL="363538" lvl="3" fontAlgn="base"/>
            <a:r>
              <a:rPr kumimoji="0" lang="en-IN" sz="2000" b="0" i="0" u="none" strike="noStrike" kern="0" cap="none" spc="0" normalizeH="0" baseline="0" noProof="0" dirty="0" smtClean="0">
                <a:ln>
                  <a:noFill/>
                </a:ln>
                <a:solidFill>
                  <a:srgbClr val="000000"/>
                </a:solidFill>
                <a:effectLst/>
                <a:uLnTx/>
                <a:uFillTx/>
                <a:latin typeface="Trebuchet MS" panose="020B0603020202020204" pitchFamily="34" charset="0"/>
                <a:sym typeface="Arial"/>
              </a:rPr>
              <a:t>Where</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363538" lvl="3" fontAlgn="base"/>
            <a:r>
              <a:rPr kumimoji="0" lang="en-IN" sz="2000" b="0" i="0" u="none" strike="noStrike" kern="0" cap="none" spc="0" normalizeH="0" baseline="0" noProof="0" dirty="0">
                <a:ln>
                  <a:noFill/>
                </a:ln>
                <a:solidFill>
                  <a:srgbClr val="CC0099"/>
                </a:solidFill>
                <a:effectLst/>
                <a:uLnTx/>
                <a:uFillTx/>
                <a:latin typeface="Trebuchet MS" panose="020B0603020202020204" pitchFamily="34" charset="0"/>
                <a:sym typeface="Arial"/>
              </a:rPr>
              <a:t>V [1 …. n, 0 … M] :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Size of the table</a:t>
            </a:r>
          </a:p>
          <a:p>
            <a:pPr marL="363538" lvl="3" fontAlgn="base"/>
            <a:r>
              <a:rPr kumimoji="0" lang="en-IN" sz="2000" b="0" i="0" u="none" strike="noStrike" kern="0" cap="none" spc="0" normalizeH="0" baseline="0" noProof="0" dirty="0">
                <a:ln>
                  <a:noFill/>
                </a:ln>
                <a:solidFill>
                  <a:srgbClr val="CC0099"/>
                </a:solidFill>
                <a:effectLst/>
                <a:uLnTx/>
                <a:uFillTx/>
                <a:latin typeface="Trebuchet MS" panose="020B0603020202020204" pitchFamily="34" charset="0"/>
                <a:sym typeface="Arial"/>
              </a:rPr>
              <a:t>V (n, M)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Solution</a:t>
            </a:r>
          </a:p>
          <a:p>
            <a:pPr marL="363538" lvl="3" fontAlgn="base"/>
            <a:r>
              <a:rPr kumimoji="0" lang="en-IN" sz="2000" b="0" i="0" u="none" strike="noStrike" kern="0" cap="none" spc="0" normalizeH="0" baseline="0" noProof="0" dirty="0">
                <a:ln>
                  <a:noFill/>
                </a:ln>
                <a:solidFill>
                  <a:srgbClr val="CC0099"/>
                </a:solidFill>
                <a:effectLst/>
                <a:uLnTx/>
                <a:uFillTx/>
                <a:latin typeface="Trebuchet MS" panose="020B0603020202020204" pitchFamily="34" charset="0"/>
                <a:sym typeface="Arial"/>
              </a:rPr>
              <a:t>n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sym typeface="Arial"/>
              </a:rPr>
              <a:t>= Number of items</a:t>
            </a:r>
          </a:p>
        </p:txBody>
      </p:sp>
      <p:sp>
        <p:nvSpPr>
          <p:cNvPr id="2" name="AutoShape 2" descr="Knapsack Problem using Dynamic Programm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AutoShape 4" descr="Knapsack Problem using Dynamic Programm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AutoShape 6" descr="Knapsack Problem using Dynamic Programming"/>
          <p:cNvSpPr>
            <a:spLocks noChangeAspect="1" noChangeArrowheads="1"/>
          </p:cNvSpPr>
          <p:nvPr/>
        </p:nvSpPr>
        <p:spPr bwMode="auto">
          <a:xfrm>
            <a:off x="2652590" y="4246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pic>
        <p:nvPicPr>
          <p:cNvPr id="5" name="Picture 4"/>
          <p:cNvPicPr>
            <a:picLocks noChangeAspect="1"/>
          </p:cNvPicPr>
          <p:nvPr/>
        </p:nvPicPr>
        <p:blipFill rotWithShape="1">
          <a:blip r:embed="rId6"/>
          <a:srcRect t="17081"/>
          <a:stretch/>
        </p:blipFill>
        <p:spPr>
          <a:xfrm>
            <a:off x="1090833" y="2399007"/>
            <a:ext cx="5365591" cy="1089433"/>
          </a:xfrm>
          <a:prstGeom prst="rect">
            <a:avLst/>
          </a:prstGeom>
        </p:spPr>
      </p:pic>
    </p:spTree>
    <p:extLst>
      <p:ext uri="{BB962C8B-B14F-4D97-AF65-F5344CB8AC3E}">
        <p14:creationId xmlns:p14="http://schemas.microsoft.com/office/powerpoint/2010/main" val="420030276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30708" y="15858"/>
            <a:ext cx="6906784" cy="600134"/>
          </a:xfrm>
          <a:prstGeom prst="rect">
            <a:avLst/>
          </a:prstGeom>
          <a:noFill/>
          <a:ln>
            <a:noFill/>
          </a:ln>
        </p:spPr>
        <p:txBody>
          <a:bodyPr spcFirstLastPara="1" wrap="square" lIns="91425" tIns="91425" rIns="91425" bIns="91425" anchor="t" anchorCtr="0">
            <a:spAutoFit/>
          </a:bodyPr>
          <a:lstStyle/>
          <a:p>
            <a:pPr fontAlgn="base"/>
            <a:r>
              <a:rPr kumimoji="0" lang="en-IN" sz="2700" b="1" i="0" u="none" strike="noStrike" kern="0" cap="none" spc="0" normalizeH="0" baseline="0" noProof="0" dirty="0">
                <a:ln>
                  <a:noFill/>
                </a:ln>
                <a:solidFill>
                  <a:schemeClr val="bg1"/>
                </a:solidFill>
                <a:effectLst/>
                <a:uLnTx/>
                <a:uFillTx/>
                <a:latin typeface="Proxima Nova" panose="020B0604020202020204" charset="0"/>
                <a:sym typeface="Arial"/>
              </a:rPr>
              <a:t>Knapsack</a:t>
            </a:r>
            <a:r>
              <a:rPr kumimoji="0" lang="en-IN" sz="2700" b="0" i="0" u="none" strike="noStrike" kern="0" cap="none" spc="0" normalizeH="0" baseline="0" noProof="0" dirty="0">
                <a:ln>
                  <a:noFill/>
                </a:ln>
                <a:solidFill>
                  <a:schemeClr val="bg1"/>
                </a:solidFill>
                <a:effectLst/>
                <a:uLnTx/>
                <a:uFillTx/>
                <a:latin typeface="Proxima Nova" panose="020B0604020202020204" charset="0"/>
                <a:sym typeface="Arial"/>
              </a:rPr>
              <a:t> </a:t>
            </a:r>
            <a:r>
              <a:rPr kumimoji="0" lang="en-IN" sz="2700" b="1" i="0" u="none" strike="noStrike" kern="0" cap="none" spc="0" normalizeH="0" baseline="0" noProof="0" dirty="0">
                <a:ln>
                  <a:noFill/>
                </a:ln>
                <a:solidFill>
                  <a:schemeClr val="bg1"/>
                </a:solidFill>
                <a:effectLst/>
                <a:uLnTx/>
                <a:uFillTx/>
                <a:latin typeface="Proxima Nova" panose="020B0604020202020204" charset="0"/>
                <a:sym typeface="Arial"/>
              </a:rPr>
              <a:t>problem</a:t>
            </a:r>
            <a:endParaRPr kumimoji="0" lang="en-IN" sz="2700" b="1" i="0" u="none" strike="noStrike" kern="0" cap="none" spc="0" normalizeH="0" baseline="0" noProof="0" dirty="0">
              <a:ln>
                <a:noFill/>
              </a:ln>
              <a:solidFill>
                <a:srgbClr val="FFFFFF"/>
              </a:solidFill>
              <a:effectLst/>
              <a:uLnTx/>
              <a:uFillTx/>
              <a:latin typeface="Proxima Nova" panose="020B0604020202020204" charset="0"/>
              <a:sym typeface="Arial"/>
            </a:endParaRPr>
          </a:p>
        </p:txBody>
      </p:sp>
      <p:sp>
        <p:nvSpPr>
          <p:cNvPr id="99" name="Google Shape;99;p17"/>
          <p:cNvSpPr txBox="1"/>
          <p:nvPr/>
        </p:nvSpPr>
        <p:spPr>
          <a:xfrm>
            <a:off x="325474" y="744156"/>
            <a:ext cx="8483526" cy="2339072"/>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base" latinLnBrk="0" hangingPunct="1">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FF0000"/>
                </a:solidFill>
                <a:effectLst/>
                <a:uLnTx/>
                <a:uFillTx/>
                <a:latin typeface="Trebuchet MS" panose="020B0603020202020204" pitchFamily="34" charset="0"/>
                <a:sym typeface="Arial"/>
              </a:rPr>
              <a:t>Example:</a:t>
            </a:r>
            <a:r>
              <a:rPr kumimoji="0" lang="en-IN" sz="20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2000" i="0" u="none" strike="noStrike" kern="0" cap="none" spc="0" normalizeH="0" baseline="0" noProof="0" dirty="0">
                <a:ln>
                  <a:noFill/>
                </a:ln>
                <a:solidFill>
                  <a:srgbClr val="000000"/>
                </a:solidFill>
                <a:effectLst/>
                <a:uLnTx/>
                <a:uFillTx/>
                <a:latin typeface="Trebuchet MS" panose="020B0603020202020204" pitchFamily="34" charset="0"/>
                <a:sym typeface="Arial"/>
              </a:rPr>
              <a:t>Find an optimal solution for following 0/1 Knapsack problem using dynamic programming: Number of objects n = 4, Knapsack Capacity M = 5, Weights (W1, W2, W3, W4) = (2, 3, 4, 5) and profits (P1, P2, P3, P4) = (3, 4, 5, 6).</a:t>
            </a:r>
          </a:p>
          <a:p>
            <a:pPr marL="0" marR="0" lvl="0" indent="0" algn="just" defTabSz="914400" rtl="0" eaLnBrk="1" fontAlgn="base" latinLnBrk="0" hangingPunct="1">
              <a:spcBef>
                <a:spcPts val="0"/>
              </a:spcBef>
              <a:spcAft>
                <a:spcPts val="0"/>
              </a:spcAft>
              <a:buClr>
                <a:srgbClr val="000000"/>
              </a:buClr>
              <a:buSzTx/>
              <a:buFont typeface="Arial"/>
              <a:buNone/>
              <a:tabLst/>
              <a:defRPr/>
            </a:pPr>
            <a:endParaRPr kumimoji="0" lang="en-IN" sz="200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just" defTabSz="914400" rtl="0" eaLnBrk="1" fontAlgn="base" latinLnBrk="0" hangingPunct="1">
              <a:spcBef>
                <a:spcPts val="0"/>
              </a:spcBef>
              <a:spcAft>
                <a:spcPts val="0"/>
              </a:spcAft>
              <a:buClr>
                <a:srgbClr val="000000"/>
              </a:buClr>
              <a:buSzTx/>
              <a:buFont typeface="Arial"/>
              <a:buNone/>
              <a:tabLst/>
              <a:defRPr/>
            </a:pPr>
            <a:r>
              <a:rPr kumimoji="0" lang="en-IN" sz="2000" i="0" u="none" strike="noStrike" kern="0" cap="none" spc="0" normalizeH="0" baseline="0" noProof="0" dirty="0">
                <a:ln>
                  <a:noFill/>
                </a:ln>
                <a:solidFill>
                  <a:srgbClr val="FF0000"/>
                </a:solidFill>
                <a:effectLst/>
                <a:uLnTx/>
                <a:uFillTx/>
                <a:latin typeface="Trebuchet MS" panose="020B0603020202020204" pitchFamily="34" charset="0"/>
                <a:sym typeface="Arial"/>
              </a:rPr>
              <a:t>Solution:  </a:t>
            </a:r>
            <a:r>
              <a:rPr kumimoji="0" lang="en-IN" sz="2000" i="0" u="none" strike="noStrike" kern="0" cap="none" spc="0" normalizeH="0" baseline="0" noProof="0" dirty="0">
                <a:ln>
                  <a:noFill/>
                </a:ln>
                <a:solidFill>
                  <a:srgbClr val="000000"/>
                </a:solidFill>
                <a:effectLst/>
                <a:uLnTx/>
                <a:uFillTx/>
                <a:latin typeface="Trebuchet MS" panose="020B0603020202020204" pitchFamily="34" charset="0"/>
                <a:sym typeface="Arial"/>
              </a:rPr>
              <a:t>Solution of the knapsack problem is defined as,</a:t>
            </a:r>
          </a:p>
          <a:p>
            <a:pPr marL="0" marR="0" lvl="0" indent="0" algn="just" defTabSz="914400" rtl="0" eaLnBrk="1" fontAlgn="base" latinLnBrk="0" hangingPunct="1">
              <a:spcBef>
                <a:spcPts val="0"/>
              </a:spcBef>
              <a:spcAft>
                <a:spcPts val="0"/>
              </a:spcAft>
              <a:buClr>
                <a:srgbClr val="000000"/>
              </a:buClr>
              <a:buSzTx/>
              <a:buFont typeface="Arial"/>
              <a:buNone/>
              <a:tabLst/>
              <a:defRPr/>
            </a:pPr>
            <a:endParaRPr kumimoji="0" lang="en-IN" sz="2000" i="0" u="none" strike="noStrike" kern="0" cap="none" spc="0" normalizeH="0" baseline="0" noProof="0" dirty="0">
              <a:ln>
                <a:noFill/>
              </a:ln>
              <a:solidFill>
                <a:srgbClr val="000000"/>
              </a:solidFill>
              <a:effectLst/>
              <a:uLnTx/>
              <a:uFillTx/>
              <a:latin typeface="Trebuchet MS" panose="020B0603020202020204" pitchFamily="34" charset="0"/>
              <a:sym typeface="Arial"/>
            </a:endParaRPr>
          </a:p>
        </p:txBody>
      </p:sp>
      <p:sp>
        <p:nvSpPr>
          <p:cNvPr id="2" name="AutoShape 2" descr="Knapsack Problem using Dynamic Programm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AutoShape 4" descr="Knapsack Problem using Dynamic Programm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AutoShape 6" descr="Knapsack Problem using Dynamic Programmi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pic>
        <p:nvPicPr>
          <p:cNvPr id="7" name="Picture 6"/>
          <p:cNvPicPr>
            <a:picLocks noChangeAspect="1"/>
          </p:cNvPicPr>
          <p:nvPr/>
        </p:nvPicPr>
        <p:blipFill rotWithShape="1">
          <a:blip r:embed="rId6"/>
          <a:srcRect t="17402"/>
          <a:stretch/>
        </p:blipFill>
        <p:spPr>
          <a:xfrm>
            <a:off x="612775" y="3232441"/>
            <a:ext cx="7158345" cy="1000213"/>
          </a:xfrm>
          <a:prstGeom prst="rect">
            <a:avLst/>
          </a:prstGeom>
        </p:spPr>
      </p:pic>
    </p:spTree>
    <p:extLst>
      <p:ext uri="{BB962C8B-B14F-4D97-AF65-F5344CB8AC3E}">
        <p14:creationId xmlns:p14="http://schemas.microsoft.com/office/powerpoint/2010/main" val="176915397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pPr fontAlgn="base"/>
            <a:r>
              <a:rPr kumimoji="0" lang="en-IN" sz="2700" b="1" i="0" u="none" strike="noStrike" kern="0" cap="none" spc="0" normalizeH="0" baseline="0" noProof="0" dirty="0">
                <a:ln>
                  <a:noFill/>
                </a:ln>
                <a:solidFill>
                  <a:schemeClr val="bg1"/>
                </a:solidFill>
                <a:effectLst/>
                <a:uLnTx/>
                <a:uFillTx/>
                <a:latin typeface="Proxima Nova" panose="020B0604020202020204" charset="0"/>
                <a:sym typeface="Arial"/>
              </a:rPr>
              <a:t>Knapsack</a:t>
            </a:r>
            <a:r>
              <a:rPr kumimoji="0" lang="en-IN" sz="2700" b="0" i="0" u="none" strike="noStrike" kern="0" cap="none" spc="0" normalizeH="0" baseline="0" noProof="0" dirty="0">
                <a:ln>
                  <a:noFill/>
                </a:ln>
                <a:solidFill>
                  <a:schemeClr val="bg1"/>
                </a:solidFill>
                <a:effectLst/>
                <a:uLnTx/>
                <a:uFillTx/>
                <a:latin typeface="Proxima Nova" panose="020B0604020202020204" charset="0"/>
                <a:sym typeface="Arial"/>
              </a:rPr>
              <a:t> </a:t>
            </a:r>
            <a:r>
              <a:rPr kumimoji="0" lang="en-IN" sz="2700" b="1" i="0" u="none" strike="noStrike" kern="0" cap="none" spc="0" normalizeH="0" baseline="0" noProof="0" dirty="0">
                <a:ln>
                  <a:noFill/>
                </a:ln>
                <a:solidFill>
                  <a:schemeClr val="bg1"/>
                </a:solidFill>
                <a:effectLst/>
                <a:uLnTx/>
                <a:uFillTx/>
                <a:latin typeface="Proxima Nova" panose="020B0604020202020204" charset="0"/>
                <a:sym typeface="Arial"/>
              </a:rPr>
              <a:t>problem</a:t>
            </a:r>
            <a:endParaRPr kumimoji="0" lang="en-IN" sz="2700" b="1" i="0" u="none" strike="noStrike" kern="0" cap="none" spc="0" normalizeH="0" baseline="0" noProof="0" dirty="0">
              <a:ln>
                <a:noFill/>
              </a:ln>
              <a:solidFill>
                <a:srgbClr val="FFFFFF"/>
              </a:solidFill>
              <a:effectLst/>
              <a:uLnTx/>
              <a:uFillTx/>
              <a:latin typeface="Proxima Nova" panose="020B0604020202020204" charset="0"/>
              <a:sym typeface="Arial"/>
            </a:endParaRPr>
          </a:p>
        </p:txBody>
      </p:sp>
      <p:grpSp>
        <p:nvGrpSpPr>
          <p:cNvPr id="25" name="Group 24"/>
          <p:cNvGrpSpPr/>
          <p:nvPr/>
        </p:nvGrpSpPr>
        <p:grpSpPr>
          <a:xfrm>
            <a:off x="987230" y="1035986"/>
            <a:ext cx="6776860" cy="3586816"/>
            <a:chOff x="1253448" y="1019908"/>
            <a:chExt cx="6776860" cy="3586816"/>
          </a:xfrm>
        </p:grpSpPr>
        <p:pic>
          <p:nvPicPr>
            <p:cNvPr id="2" name="Picture 1"/>
            <p:cNvPicPr>
              <a:picLocks noChangeAspect="1"/>
            </p:cNvPicPr>
            <p:nvPr/>
          </p:nvPicPr>
          <p:blipFill>
            <a:blip r:embed="rId6"/>
            <a:stretch>
              <a:fillRect/>
            </a:stretch>
          </p:blipFill>
          <p:spPr>
            <a:xfrm>
              <a:off x="1253448" y="1063994"/>
              <a:ext cx="6776860" cy="3506989"/>
            </a:xfrm>
            <a:prstGeom prst="rect">
              <a:avLst/>
            </a:prstGeom>
            <a:ln w="19050">
              <a:solidFill>
                <a:schemeClr val="accent1">
                  <a:lumMod val="60000"/>
                  <a:lumOff val="40000"/>
                </a:schemeClr>
              </a:solidFill>
            </a:ln>
          </p:spPr>
        </p:pic>
        <p:cxnSp>
          <p:nvCxnSpPr>
            <p:cNvPr id="4" name="Straight Connector 3">
              <a:extLst>
                <a:ext uri="{FF2B5EF4-FFF2-40B4-BE49-F238E27FC236}">
                  <a16:creationId xmlns:a16="http://schemas.microsoft.com/office/drawing/2014/main" id="{E3A71E23-0F5E-5399-1D16-15B3744D6DC6}"/>
                </a:ext>
              </a:extLst>
            </p:cNvPr>
            <p:cNvCxnSpPr/>
            <p:nvPr/>
          </p:nvCxnSpPr>
          <p:spPr>
            <a:xfrm>
              <a:off x="2748873" y="1019908"/>
              <a:ext cx="0" cy="351692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389AC00-6D99-4F9E-6B29-B3642B97BA2D}"/>
                </a:ext>
              </a:extLst>
            </p:cNvPr>
            <p:cNvCxnSpPr>
              <a:cxnSpLocks/>
            </p:cNvCxnSpPr>
            <p:nvPr/>
          </p:nvCxnSpPr>
          <p:spPr>
            <a:xfrm flipH="1">
              <a:off x="5486400" y="1019908"/>
              <a:ext cx="35169" cy="35868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A512ED8-9BCE-6748-BEF1-FA9FFADF0992}"/>
                </a:ext>
              </a:extLst>
            </p:cNvPr>
            <p:cNvCxnSpPr>
              <a:cxnSpLocks/>
            </p:cNvCxnSpPr>
            <p:nvPr/>
          </p:nvCxnSpPr>
          <p:spPr>
            <a:xfrm>
              <a:off x="1253448" y="1652954"/>
              <a:ext cx="677686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DBCAF07-0526-E58E-8F26-5DA75B8ED01B}"/>
                </a:ext>
              </a:extLst>
            </p:cNvPr>
            <p:cNvCxnSpPr/>
            <p:nvPr/>
          </p:nvCxnSpPr>
          <p:spPr>
            <a:xfrm>
              <a:off x="1253448" y="2391508"/>
              <a:ext cx="677686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DE86054-F46C-704B-7CE3-990B15F894A2}"/>
                </a:ext>
              </a:extLst>
            </p:cNvPr>
            <p:cNvCxnSpPr/>
            <p:nvPr/>
          </p:nvCxnSpPr>
          <p:spPr>
            <a:xfrm>
              <a:off x="1253448" y="3059723"/>
              <a:ext cx="677686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D2C9891-C82B-1E1E-8E63-40B73C7EE97B}"/>
                </a:ext>
              </a:extLst>
            </p:cNvPr>
            <p:cNvCxnSpPr/>
            <p:nvPr/>
          </p:nvCxnSpPr>
          <p:spPr>
            <a:xfrm>
              <a:off x="1253448" y="3739662"/>
              <a:ext cx="6776860" cy="0"/>
            </a:xfrm>
            <a:prstGeom prst="line">
              <a:avLst/>
            </a:prstGeom>
            <a:ln w="190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49127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pPr fontAlgn="base"/>
            <a:r>
              <a:rPr lang="en-IN" sz="2700" b="1" dirty="0">
                <a:solidFill>
                  <a:schemeClr val="bg1"/>
                </a:solidFill>
                <a:latin typeface="Proxima Nova" panose="020B0604020202020204" charset="0"/>
              </a:rPr>
              <a:t>Knapsack problem</a:t>
            </a:r>
          </a:p>
        </p:txBody>
      </p:sp>
      <p:graphicFrame>
        <p:nvGraphicFramePr>
          <p:cNvPr id="5" name="Table 4"/>
          <p:cNvGraphicFramePr>
            <a:graphicFrameLocks noGrp="1"/>
          </p:cNvGraphicFramePr>
          <p:nvPr>
            <p:extLst>
              <p:ext uri="{D42A27DB-BD31-4B8C-83A1-F6EECF244321}">
                <p14:modId xmlns:p14="http://schemas.microsoft.com/office/powerpoint/2010/main" val="3216069238"/>
              </p:ext>
            </p:extLst>
          </p:nvPr>
        </p:nvGraphicFramePr>
        <p:xfrm>
          <a:off x="1198930" y="1833381"/>
          <a:ext cx="6164520" cy="2595880"/>
        </p:xfrm>
        <a:graphic>
          <a:graphicData uri="http://schemas.openxmlformats.org/drawingml/2006/table">
            <a:tbl>
              <a:tblPr firstRow="1" bandRow="1">
                <a:tableStyleId>{8799B23B-EC83-4686-B30A-512413B5E67A}</a:tableStyleId>
              </a:tblPr>
              <a:tblGrid>
                <a:gridCol w="677333">
                  <a:extLst>
                    <a:ext uri="{9D8B030D-6E8A-4147-A177-3AD203B41FA5}">
                      <a16:colId xmlns:a16="http://schemas.microsoft.com/office/drawing/2014/main" val="1429554128"/>
                    </a:ext>
                  </a:extLst>
                </a:gridCol>
                <a:gridCol w="665685">
                  <a:extLst>
                    <a:ext uri="{9D8B030D-6E8A-4147-A177-3AD203B41FA5}">
                      <a16:colId xmlns:a16="http://schemas.microsoft.com/office/drawing/2014/main" val="3342826235"/>
                    </a:ext>
                  </a:extLst>
                </a:gridCol>
                <a:gridCol w="688981">
                  <a:extLst>
                    <a:ext uri="{9D8B030D-6E8A-4147-A177-3AD203B41FA5}">
                      <a16:colId xmlns:a16="http://schemas.microsoft.com/office/drawing/2014/main" val="2082945737"/>
                    </a:ext>
                  </a:extLst>
                </a:gridCol>
                <a:gridCol w="745855">
                  <a:extLst>
                    <a:ext uri="{9D8B030D-6E8A-4147-A177-3AD203B41FA5}">
                      <a16:colId xmlns:a16="http://schemas.microsoft.com/office/drawing/2014/main" val="1803304692"/>
                    </a:ext>
                  </a:extLst>
                </a:gridCol>
                <a:gridCol w="677334">
                  <a:extLst>
                    <a:ext uri="{9D8B030D-6E8A-4147-A177-3AD203B41FA5}">
                      <a16:colId xmlns:a16="http://schemas.microsoft.com/office/drawing/2014/main" val="599475569"/>
                    </a:ext>
                  </a:extLst>
                </a:gridCol>
                <a:gridCol w="677333">
                  <a:extLst>
                    <a:ext uri="{9D8B030D-6E8A-4147-A177-3AD203B41FA5}">
                      <a16:colId xmlns:a16="http://schemas.microsoft.com/office/drawing/2014/main" val="1387742800"/>
                    </a:ext>
                  </a:extLst>
                </a:gridCol>
                <a:gridCol w="677333">
                  <a:extLst>
                    <a:ext uri="{9D8B030D-6E8A-4147-A177-3AD203B41FA5}">
                      <a16:colId xmlns:a16="http://schemas.microsoft.com/office/drawing/2014/main" val="3618665493"/>
                    </a:ext>
                  </a:extLst>
                </a:gridCol>
                <a:gridCol w="677333">
                  <a:extLst>
                    <a:ext uri="{9D8B030D-6E8A-4147-A177-3AD203B41FA5}">
                      <a16:colId xmlns:a16="http://schemas.microsoft.com/office/drawing/2014/main" val="2665136876"/>
                    </a:ext>
                  </a:extLst>
                </a:gridCol>
                <a:gridCol w="677333">
                  <a:extLst>
                    <a:ext uri="{9D8B030D-6E8A-4147-A177-3AD203B41FA5}">
                      <a16:colId xmlns:a16="http://schemas.microsoft.com/office/drawing/2014/main" val="3360157751"/>
                    </a:ext>
                  </a:extLst>
                </a:gridCol>
              </a:tblGrid>
              <a:tr h="370840">
                <a:tc gridSpan="9">
                  <a:txBody>
                    <a:bodyPr/>
                    <a:lstStyle/>
                    <a:p>
                      <a:r>
                        <a:rPr lang="en-US" dirty="0" smtClean="0"/>
                        <a:t>          j→</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7671621"/>
                  </a:ext>
                </a:extLst>
              </a:tr>
              <a:tr h="370840">
                <a:tc gridSpan="3">
                  <a:txBody>
                    <a:bodyPr/>
                    <a:lstStyle/>
                    <a:p>
                      <a:pPr algn="ctr"/>
                      <a:r>
                        <a:rPr lang="en-US" dirty="0" smtClean="0"/>
                        <a:t>Item Detail</a:t>
                      </a:r>
                      <a:r>
                        <a:rPr lang="en-US" baseline="0" dirty="0" smtClean="0"/>
                        <a:t>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987120"/>
                  </a:ext>
                </a:extLst>
              </a:tr>
              <a:tr h="370840">
                <a:tc gridSpan="3">
                  <a:txBody>
                    <a:bodyPr/>
                    <a:lstStyle/>
                    <a:p>
                      <a:r>
                        <a:rPr lang="en-US" dirty="0" smtClean="0"/>
                        <a:t>i=0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smtClean="0">
                          <a:ln>
                            <a:noFill/>
                          </a:ln>
                          <a:solidFill>
                            <a:srgbClr val="000000"/>
                          </a:solidFill>
                          <a:effectLst/>
                          <a:uLnTx/>
                          <a:uFillTx/>
                          <a:latin typeface="Arial"/>
                          <a:ea typeface="+mn-ea"/>
                          <a:cs typeface="+mn-cs"/>
                          <a:sym typeface="Arial"/>
                        </a:rPr>
                        <a:t>0</a:t>
                      </a:r>
                      <a:endParaRPr kumimoji="0" lang="en-IN" sz="1400" b="0" i="0" u="none" strike="noStrike" kern="0" cap="none" spc="0" normalizeH="0" baseline="0" noProof="0" dirty="0">
                        <a:ln>
                          <a:noFill/>
                        </a:ln>
                        <a:solidFill>
                          <a:srgbClr val="000000"/>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smtClean="0">
                          <a:ln>
                            <a:noFill/>
                          </a:ln>
                          <a:solidFill>
                            <a:srgbClr val="000000"/>
                          </a:solidFill>
                          <a:effectLst/>
                          <a:uLnTx/>
                          <a:uFillTx/>
                          <a:latin typeface="Arial"/>
                          <a:ea typeface="+mn-ea"/>
                          <a:cs typeface="+mn-cs"/>
                          <a:sym typeface="Arial"/>
                        </a:rPr>
                        <a:t>0</a:t>
                      </a:r>
                      <a:endParaRPr kumimoji="0" lang="en-IN" sz="1400" b="0" i="0" u="none" strike="noStrike" kern="0" cap="none" spc="0" normalizeH="0" baseline="0" noProof="0" dirty="0">
                        <a:ln>
                          <a:noFill/>
                        </a:ln>
                        <a:solidFill>
                          <a:srgbClr val="000000"/>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smtClean="0">
                          <a:ln>
                            <a:noFill/>
                          </a:ln>
                          <a:solidFill>
                            <a:srgbClr val="000000"/>
                          </a:solidFill>
                          <a:effectLst/>
                          <a:uLnTx/>
                          <a:uFillTx/>
                          <a:latin typeface="Arial"/>
                          <a:ea typeface="+mn-ea"/>
                          <a:cs typeface="+mn-cs"/>
                          <a:sym typeface="Arial"/>
                        </a:rPr>
                        <a:t>0</a:t>
                      </a:r>
                      <a:endParaRPr kumimoji="0" lang="en-IN" sz="1400" b="0" i="0" u="none" strike="noStrike" kern="0" cap="none" spc="0" normalizeH="0" baseline="0" noProof="0" dirty="0">
                        <a:ln>
                          <a:noFill/>
                        </a:ln>
                        <a:solidFill>
                          <a:srgbClr val="000000"/>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smtClean="0">
                          <a:ln>
                            <a:noFill/>
                          </a:ln>
                          <a:solidFill>
                            <a:srgbClr val="000000"/>
                          </a:solidFill>
                          <a:effectLst/>
                          <a:uLnTx/>
                          <a:uFillTx/>
                          <a:latin typeface="Arial"/>
                          <a:ea typeface="+mn-ea"/>
                          <a:cs typeface="+mn-cs"/>
                          <a:sym typeface="Arial"/>
                        </a:rPr>
                        <a:t>0</a:t>
                      </a:r>
                      <a:endParaRPr kumimoji="0" lang="en-IN" sz="1400" b="0" i="0" u="none" strike="noStrike" kern="0" cap="none" spc="0" normalizeH="0" baseline="0" noProof="0" dirty="0">
                        <a:ln>
                          <a:noFill/>
                        </a:ln>
                        <a:solidFill>
                          <a:srgbClr val="000000"/>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smtClean="0">
                          <a:ln>
                            <a:noFill/>
                          </a:ln>
                          <a:solidFill>
                            <a:srgbClr val="000000"/>
                          </a:solidFill>
                          <a:effectLst/>
                          <a:uLnTx/>
                          <a:uFillTx/>
                          <a:latin typeface="Arial"/>
                          <a:ea typeface="+mn-ea"/>
                          <a:cs typeface="+mn-cs"/>
                          <a:sym typeface="Arial"/>
                        </a:rPr>
                        <a:t>0</a:t>
                      </a:r>
                      <a:endParaRPr kumimoji="0" lang="en-IN" sz="1400" b="0" i="0" u="none" strike="noStrike" kern="0" cap="none" spc="0" normalizeH="0" baseline="0" noProof="0" dirty="0">
                        <a:ln>
                          <a:noFill/>
                        </a:ln>
                        <a:solidFill>
                          <a:srgbClr val="000000"/>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0758571"/>
                  </a:ext>
                </a:extLst>
              </a:tr>
              <a:tr h="370840">
                <a:tc>
                  <a:txBody>
                    <a:bodyPr/>
                    <a:lstStyle/>
                    <a:p>
                      <a:r>
                        <a:rPr lang="en-US" dirty="0" err="1" smtClean="0"/>
                        <a:t>i</a:t>
                      </a:r>
                      <a:r>
                        <a:rPr lang="en-US" dirty="0" smtClean="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W1=2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V1=3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smtClean="0">
                          <a:ln>
                            <a:noFill/>
                          </a:ln>
                          <a:solidFill>
                            <a:srgbClr val="000000"/>
                          </a:solidFill>
                          <a:effectLst/>
                          <a:uLnTx/>
                          <a:uFillTx/>
                          <a:latin typeface="Arial"/>
                          <a:ea typeface="+mn-ea"/>
                          <a:cs typeface="+mn-cs"/>
                          <a:sym typeface="Arial"/>
                        </a:rPr>
                        <a:t>0</a:t>
                      </a:r>
                      <a:endParaRPr kumimoji="0" lang="en-IN" sz="1400" b="0" i="0" u="none" strike="noStrike" kern="0" cap="none" spc="0" normalizeH="0" baseline="0" noProof="0" dirty="0">
                        <a:ln>
                          <a:noFill/>
                        </a:ln>
                        <a:solidFill>
                          <a:srgbClr val="000000"/>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095657"/>
                  </a:ext>
                </a:extLst>
              </a:tr>
              <a:tr h="370840">
                <a:tc>
                  <a:txBody>
                    <a:bodyPr/>
                    <a:lstStyle/>
                    <a:p>
                      <a:r>
                        <a:rPr lang="en-US" dirty="0" err="1" smtClean="0"/>
                        <a:t>i</a:t>
                      </a:r>
                      <a:r>
                        <a:rPr lang="en-US" dirty="0" smtClean="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W2=3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V2=4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smtClean="0">
                          <a:ln>
                            <a:noFill/>
                          </a:ln>
                          <a:solidFill>
                            <a:srgbClr val="000000"/>
                          </a:solidFill>
                          <a:effectLst/>
                          <a:uLnTx/>
                          <a:uFillTx/>
                          <a:latin typeface="Arial"/>
                          <a:ea typeface="+mn-ea"/>
                          <a:cs typeface="+mn-cs"/>
                          <a:sym typeface="Arial"/>
                        </a:rPr>
                        <a:t>0</a:t>
                      </a:r>
                      <a:endParaRPr kumimoji="0" lang="en-IN" sz="1400" b="0" i="0" u="none" strike="noStrike" kern="0" cap="none" spc="0" normalizeH="0" baseline="0" noProof="0" dirty="0">
                        <a:ln>
                          <a:noFill/>
                        </a:ln>
                        <a:solidFill>
                          <a:srgbClr val="000000"/>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7517556"/>
                  </a:ext>
                </a:extLst>
              </a:tr>
              <a:tr h="370840">
                <a:tc>
                  <a:txBody>
                    <a:bodyPr/>
                    <a:lstStyle/>
                    <a:p>
                      <a:r>
                        <a:rPr lang="en-US" dirty="0" err="1" smtClean="0"/>
                        <a:t>i</a:t>
                      </a:r>
                      <a:r>
                        <a:rPr lang="en-US" dirty="0" smtClean="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W3=4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V3=5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smtClean="0">
                          <a:ln>
                            <a:noFill/>
                          </a:ln>
                          <a:solidFill>
                            <a:srgbClr val="000000"/>
                          </a:solidFill>
                          <a:effectLst/>
                          <a:uLnTx/>
                          <a:uFillTx/>
                          <a:latin typeface="Arial"/>
                          <a:ea typeface="+mn-ea"/>
                          <a:cs typeface="+mn-cs"/>
                          <a:sym typeface="Arial"/>
                        </a:rPr>
                        <a:t>0</a:t>
                      </a:r>
                      <a:endParaRPr kumimoji="0" lang="en-IN" sz="1400" b="0" i="0" u="none" strike="noStrike" kern="0" cap="none" spc="0" normalizeH="0" baseline="0" noProof="0" dirty="0">
                        <a:ln>
                          <a:noFill/>
                        </a:ln>
                        <a:solidFill>
                          <a:srgbClr val="000000"/>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053305"/>
                  </a:ext>
                </a:extLst>
              </a:tr>
              <a:tr h="370840">
                <a:tc>
                  <a:txBody>
                    <a:bodyPr/>
                    <a:lstStyle/>
                    <a:p>
                      <a:r>
                        <a:rPr lang="en-US" dirty="0" err="1" smtClean="0"/>
                        <a:t>i</a:t>
                      </a:r>
                      <a:r>
                        <a:rPr lang="en-US" dirty="0" smtClean="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W4=5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V4=6</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smtClean="0">
                          <a:ln>
                            <a:noFill/>
                          </a:ln>
                          <a:solidFill>
                            <a:srgbClr val="000000"/>
                          </a:solidFill>
                          <a:effectLst/>
                          <a:uLnTx/>
                          <a:uFillTx/>
                          <a:latin typeface="Arial"/>
                          <a:ea typeface="+mn-ea"/>
                          <a:cs typeface="+mn-cs"/>
                          <a:sym typeface="Arial"/>
                        </a:rPr>
                        <a:t>0</a:t>
                      </a:r>
                      <a:endParaRPr kumimoji="0" lang="en-IN" sz="1400" b="0" i="0" u="none" strike="noStrike" kern="0" cap="none" spc="0" normalizeH="0" baseline="0" noProof="0" dirty="0">
                        <a:ln>
                          <a:noFill/>
                        </a:ln>
                        <a:solidFill>
                          <a:srgbClr val="000000"/>
                        </a:solidFill>
                        <a:effectLst/>
                        <a:uLnTx/>
                        <a:uFillTx/>
                        <a:latin typeface="Arial"/>
                        <a:ea typeface="+mn-ea"/>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8588173"/>
                  </a:ext>
                </a:extLst>
              </a:tr>
            </a:tbl>
          </a:graphicData>
        </a:graphic>
      </p:graphicFrame>
      <p:sp>
        <p:nvSpPr>
          <p:cNvPr id="6" name="Rectangle 5"/>
          <p:cNvSpPr/>
          <p:nvPr/>
        </p:nvSpPr>
        <p:spPr>
          <a:xfrm>
            <a:off x="433137" y="817718"/>
            <a:ext cx="8425738" cy="1015663"/>
          </a:xfrm>
          <a:prstGeom prst="rect">
            <a:avLst/>
          </a:prstGeom>
        </p:spPr>
        <p:txBody>
          <a:bodyPr wrap="square">
            <a:spAutoFit/>
          </a:bodyPr>
          <a:lstStyle/>
          <a:p>
            <a:pPr marL="285750" indent="-285750">
              <a:buFont typeface="Arial" panose="020B0604020202020204" pitchFamily="34" charset="0"/>
              <a:buChar char="•"/>
              <a:defRPr/>
            </a:pPr>
            <a:r>
              <a:rPr lang="en-US" sz="2000" dirty="0">
                <a:latin typeface="Trebuchet MS" panose="020B0603020202020204" pitchFamily="34" charset="0"/>
              </a:rPr>
              <a:t>Boundary conditions  would be </a:t>
            </a:r>
            <a:r>
              <a:rPr lang="en-US" sz="2000" dirty="0">
                <a:solidFill>
                  <a:srgbClr val="CC0099"/>
                </a:solidFill>
                <a:latin typeface="Trebuchet MS" panose="020B0603020202020204" pitchFamily="34" charset="0"/>
              </a:rPr>
              <a:t>V[0,i]=V[i, 0]=0 </a:t>
            </a:r>
            <a:r>
              <a:rPr lang="en-US" sz="2000" dirty="0">
                <a:latin typeface="Trebuchet MS" panose="020B0603020202020204" pitchFamily="34" charset="0"/>
              </a:rPr>
              <a:t>Initial configuration of table looks like.</a:t>
            </a:r>
            <a:endParaRPr lang="en-IN" sz="2000" dirty="0">
              <a:latin typeface="Trebuchet MS" panose="020B0603020202020204" pitchFamily="34" charset="0"/>
            </a:endParaRPr>
          </a:p>
          <a:p>
            <a:endParaRPr lang="en-IN" sz="2000" dirty="0">
              <a:latin typeface="Trebuchet MS" panose="020B0603020202020204" pitchFamily="34" charset="0"/>
            </a:endParaRPr>
          </a:p>
        </p:txBody>
      </p:sp>
    </p:spTree>
    <p:extLst>
      <p:ext uri="{BB962C8B-B14F-4D97-AF65-F5344CB8AC3E}">
        <p14:creationId xmlns:p14="http://schemas.microsoft.com/office/powerpoint/2010/main" val="117911982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pPr fontAlgn="base"/>
            <a:r>
              <a:rPr lang="en-IN" sz="2700" b="1" dirty="0">
                <a:solidFill>
                  <a:schemeClr val="bg1"/>
                </a:solidFill>
                <a:latin typeface="Proxima Nova" panose="020B0604020202020204" charset="0"/>
              </a:rPr>
              <a:t>Knapsack problem</a:t>
            </a:r>
          </a:p>
        </p:txBody>
      </p:sp>
      <p:sp>
        <p:nvSpPr>
          <p:cNvPr id="99" name="Google Shape;99;p17"/>
          <p:cNvSpPr txBox="1"/>
          <p:nvPr/>
        </p:nvSpPr>
        <p:spPr>
          <a:xfrm>
            <a:off x="290604" y="817718"/>
            <a:ext cx="3767688" cy="3631733"/>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Filling first column, </a:t>
            </a:r>
            <a:r>
              <a:rPr kumimoji="0" lang="en-IN" sz="1600" b="1" i="0" u="none" strike="noStrike" kern="0" cap="none" spc="0" normalizeH="0" baseline="0" noProof="0" dirty="0">
                <a:ln>
                  <a:noFill/>
                </a:ln>
                <a:solidFill>
                  <a:srgbClr val="0070C0"/>
                </a:solidFill>
                <a:effectLst/>
                <a:uLnTx/>
                <a:uFillTx/>
                <a:latin typeface="Trebuchet MS" panose="020B0603020202020204" pitchFamily="34" charset="0"/>
                <a:sym typeface="Arial"/>
              </a:rPr>
              <a:t>j =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V [1, 1]</a:t>
            </a: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i = 1, j = 1,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w</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2</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V [i, j] = V [i – 1, j]</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V [1, 1] = V [0, 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0</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V [2, 1]</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2, j = 1,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w</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V [i, j] = V [i – 1, j]</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V [2, 1] = V [1, 1]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0</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Arial"/>
              <a:cs typeface="Arial"/>
              <a:sym typeface="Arial"/>
            </a:endParaRPr>
          </a:p>
        </p:txBody>
      </p:sp>
      <p:sp>
        <p:nvSpPr>
          <p:cNvPr id="8" name="Google Shape;99;p17"/>
          <p:cNvSpPr txBox="1"/>
          <p:nvPr/>
        </p:nvSpPr>
        <p:spPr>
          <a:xfrm>
            <a:off x="4344146" y="2035795"/>
            <a:ext cx="3986224" cy="2400627"/>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 [3, 1]</a:t>
            </a:r>
            <a:r>
              <a:rPr kumimoji="0" lang="en-IN" sz="1600" b="0" i="0" u="none" strike="noStrike" kern="0" cap="none" spc="0" normalizeH="0" baseline="0" noProof="0" dirty="0">
                <a:ln>
                  <a:noFill/>
                </a:ln>
                <a:solidFill>
                  <a:srgbClr val="000000"/>
                </a:solidFill>
                <a:effectLst/>
                <a:uLnTx/>
                <a:uFillTx/>
                <a:latin typeface="Arial"/>
                <a:cs typeface="Arial"/>
                <a:sym typeface="Arial"/>
              </a:rPr>
              <a:t> ⇒ i = 3, j = 1,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3  </a:t>
            </a:r>
            <a:r>
              <a:rPr kumimoji="0" lang="en-IN" sz="1600" b="0" i="0" u="none" strike="noStrike" kern="0" cap="none" spc="0" normalizeH="0" baseline="0" noProof="0" dirty="0">
                <a:ln>
                  <a:noFill/>
                </a:ln>
                <a:solidFill>
                  <a:srgbClr val="000000"/>
                </a:solidFill>
                <a:effectLst/>
                <a:uLnTx/>
                <a:uFillTx/>
                <a:latin typeface="Arial"/>
                <a:cs typeface="Arial"/>
                <a:sym typeface="Arial"/>
              </a:rPr>
              <a:t>=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&lt;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[i, j] = V [i – 1, j]</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[3, 1] = V [2, 1] = 0</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 [4, 1]</a:t>
            </a:r>
            <a:r>
              <a:rPr kumimoji="0" lang="en-IN" sz="1600" b="0" i="0" u="none" strike="noStrike" kern="0" cap="none" spc="0" normalizeH="0" baseline="0" noProof="0" dirty="0">
                <a:ln>
                  <a:noFill/>
                </a:ln>
                <a:solidFill>
                  <a:srgbClr val="000000"/>
                </a:solidFill>
                <a:effectLst/>
                <a:uLnTx/>
                <a:uFillTx/>
                <a:latin typeface="Arial"/>
                <a:cs typeface="Arial"/>
                <a:sym typeface="Arial"/>
              </a:rPr>
              <a:t> ⇒ i = 4, j = 1,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4  </a:t>
            </a:r>
            <a:r>
              <a:rPr kumimoji="0" lang="en-IN" sz="1600" b="0" i="0" u="none" strike="noStrike" kern="0" cap="none" spc="0" normalizeH="0" baseline="0" noProof="0" dirty="0">
                <a:ln>
                  <a:noFill/>
                </a:ln>
                <a:solidFill>
                  <a:srgbClr val="000000"/>
                </a:solidFill>
                <a:effectLst/>
                <a:uLnTx/>
                <a:uFillTx/>
                <a:latin typeface="Arial"/>
                <a:cs typeface="Arial"/>
                <a:sym typeface="Arial"/>
              </a:rPr>
              <a:t>=  5</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&lt;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a:t>
            </a:r>
            <a:r>
              <a:rPr kumimoji="0" lang="en-IN" sz="1600" b="0" i="0" u="none" strike="noStrike" kern="0" cap="none" spc="0" normalizeH="0" baseline="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j] = V[</a:t>
            </a:r>
            <a:r>
              <a:rPr kumimoji="0" lang="en-IN" sz="1600" b="0" i="0" u="none" strike="noStrike" kern="0" cap="none" spc="0" normalizeH="0" baseline="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1, j]</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[4, 1] = V [3, 1] = 0</a:t>
            </a:r>
          </a:p>
        </p:txBody>
      </p:sp>
      <p:pic>
        <p:nvPicPr>
          <p:cNvPr id="10" name="Picture 9"/>
          <p:cNvPicPr>
            <a:picLocks noChangeAspect="1"/>
          </p:cNvPicPr>
          <p:nvPr/>
        </p:nvPicPr>
        <p:blipFill>
          <a:blip r:embed="rId6"/>
          <a:stretch>
            <a:fillRect/>
          </a:stretch>
        </p:blipFill>
        <p:spPr>
          <a:xfrm>
            <a:off x="4344146" y="772664"/>
            <a:ext cx="4122082" cy="1121655"/>
          </a:xfrm>
          <a:prstGeom prst="rect">
            <a:avLst/>
          </a:prstGeom>
          <a:ln w="6350">
            <a:solidFill>
              <a:srgbClr val="0075CC"/>
            </a:solidFill>
          </a:ln>
        </p:spPr>
      </p:pic>
    </p:spTree>
    <p:extLst>
      <p:ext uri="{BB962C8B-B14F-4D97-AF65-F5344CB8AC3E}">
        <p14:creationId xmlns:p14="http://schemas.microsoft.com/office/powerpoint/2010/main" val="3668676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2791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pPr fontAlgn="base"/>
            <a:r>
              <a:rPr lang="en-IN" sz="2700" b="1" dirty="0">
                <a:solidFill>
                  <a:schemeClr val="bg1"/>
                </a:solidFill>
                <a:latin typeface="Proxima Nova" panose="020B0604020202020204" charset="0"/>
              </a:rPr>
              <a:t>Knapsack problem</a:t>
            </a:r>
          </a:p>
        </p:txBody>
      </p:sp>
      <p:sp>
        <p:nvSpPr>
          <p:cNvPr id="99" name="Google Shape;99;p17"/>
          <p:cNvSpPr txBox="1"/>
          <p:nvPr/>
        </p:nvSpPr>
        <p:spPr>
          <a:xfrm>
            <a:off x="267430" y="1214255"/>
            <a:ext cx="4304545" cy="3385512"/>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rPr>
              <a:t>Filling first column, </a:t>
            </a:r>
            <a:r>
              <a:rPr kumimoji="0" lang="en-IN" sz="1600" b="1" i="0" u="none" strike="noStrike" kern="0" cap="none" spc="0" normalizeH="0" baseline="0" noProof="0" dirty="0">
                <a:ln>
                  <a:noFill/>
                </a:ln>
                <a:solidFill>
                  <a:srgbClr val="0070C0"/>
                </a:solidFill>
                <a:effectLst/>
                <a:uLnTx/>
                <a:uFillTx/>
                <a:latin typeface="Trebuchet MS" panose="020B0603020202020204" pitchFamily="34" charset="0"/>
                <a:sym typeface="Arial"/>
              </a:rPr>
              <a:t>j = 2</a:t>
            </a:r>
            <a:endParaRPr kumimoji="0" lang="en-IN" sz="1600" b="0" i="0" u="none" strike="noStrike" kern="0" cap="none" spc="0" normalizeH="0" baseline="0" noProof="0" dirty="0">
              <a:ln>
                <a:noFill/>
              </a:ln>
              <a:solidFill>
                <a:srgbClr val="0070C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V[1, 2]</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1, j = 2,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w</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2, v</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V [i, j]  =max {V [i – 1, j], v</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V[i – 1, j –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max {V [0, 2], 3 + V [0, 0]}</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V[1, 2] = max (0, 3)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V[2, 2]</a:t>
            </a: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i = 2, j = 2,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w</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3, v</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V [i, j] = V[i – 1, j]</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V[2, 2] = V[1, 2]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3</a:t>
            </a:r>
          </a:p>
        </p:txBody>
      </p:sp>
      <p:sp>
        <p:nvSpPr>
          <p:cNvPr id="8" name="Google Shape;99;p17"/>
          <p:cNvSpPr txBox="1"/>
          <p:nvPr/>
        </p:nvSpPr>
        <p:spPr>
          <a:xfrm>
            <a:off x="4744826" y="2418200"/>
            <a:ext cx="3986224" cy="2154406"/>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V[3, 2]</a:t>
            </a: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i = 3, j = 2,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w</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3  </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4, v</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5</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V[</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j] = V[</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j]</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V[3, 2] = V [2, 2]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Trebuchet MS" panose="020B0603020202020204" pitchFamily="34" charset="0"/>
                <a:sym typeface="Arial"/>
              </a:rPr>
              <a:t>V[4, 2]</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i = 4, j = 2,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w</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4</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5, v</a:t>
            </a:r>
            <a:r>
              <a:rPr kumimoji="0" lang="en-IN" sz="1600" b="0" i="0" u="none" strike="noStrike" kern="0" cap="none" spc="0" normalizeH="0" baseline="-25000" noProof="0" dirty="0">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As, j &lt;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6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V[</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j] = V[</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 – 1, j]</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V[4, 2] = V[3, 2] = 3</a:t>
            </a:r>
          </a:p>
        </p:txBody>
      </p:sp>
      <p:pic>
        <p:nvPicPr>
          <p:cNvPr id="10" name="Picture 9"/>
          <p:cNvPicPr>
            <a:picLocks noChangeAspect="1"/>
          </p:cNvPicPr>
          <p:nvPr/>
        </p:nvPicPr>
        <p:blipFill>
          <a:blip r:embed="rId6"/>
          <a:stretch>
            <a:fillRect/>
          </a:stretch>
        </p:blipFill>
        <p:spPr>
          <a:xfrm>
            <a:off x="4744826" y="789621"/>
            <a:ext cx="4122082" cy="1121655"/>
          </a:xfrm>
          <a:prstGeom prst="rect">
            <a:avLst/>
          </a:prstGeom>
          <a:ln>
            <a:solidFill>
              <a:srgbClr val="0070C0"/>
            </a:solidFill>
          </a:ln>
        </p:spPr>
      </p:pic>
    </p:spTree>
    <p:extLst>
      <p:ext uri="{BB962C8B-B14F-4D97-AF65-F5344CB8AC3E}">
        <p14:creationId xmlns:p14="http://schemas.microsoft.com/office/powerpoint/2010/main" val="183067943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pPr fontAlgn="base"/>
            <a:r>
              <a:rPr lang="en-IN" sz="2700" b="1" dirty="0">
                <a:solidFill>
                  <a:schemeClr val="bg1"/>
                </a:solidFill>
                <a:latin typeface="Proxima Nova" panose="020B0604020202020204" charset="0"/>
              </a:rPr>
              <a:t>Knapsack problem</a:t>
            </a:r>
          </a:p>
        </p:txBody>
      </p:sp>
      <p:sp>
        <p:nvSpPr>
          <p:cNvPr id="99" name="Google Shape;99;p17"/>
          <p:cNvSpPr txBox="1"/>
          <p:nvPr/>
        </p:nvSpPr>
        <p:spPr>
          <a:xfrm>
            <a:off x="285126" y="1343826"/>
            <a:ext cx="4446177" cy="3139291"/>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Arial"/>
                <a:cs typeface="Arial"/>
                <a:sym typeface="Arial"/>
              </a:rPr>
              <a:t>Filling first column, </a:t>
            </a:r>
            <a:r>
              <a:rPr kumimoji="0" lang="en-IN" sz="1600" b="1" i="0" u="none" strike="noStrike" kern="0" cap="none" spc="0" normalizeH="0" baseline="0" noProof="0" dirty="0">
                <a:ln>
                  <a:noFill/>
                </a:ln>
                <a:solidFill>
                  <a:srgbClr val="0070C0"/>
                </a:solidFill>
                <a:effectLst/>
                <a:uLnTx/>
                <a:uFillTx/>
                <a:latin typeface="Arial"/>
                <a:cs typeface="Arial"/>
                <a:sym typeface="Arial"/>
              </a:rPr>
              <a:t>j = 3</a:t>
            </a:r>
            <a:endParaRPr kumimoji="0" lang="en-IN" sz="1600" b="0" i="0" u="none" strike="noStrike" kern="0" cap="none" spc="0" normalizeH="0" baseline="0" noProof="0" dirty="0">
              <a:ln>
                <a:noFill/>
              </a:ln>
              <a:solidFill>
                <a:srgbClr val="0070C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V[1, 3]</a:t>
            </a:r>
            <a:r>
              <a:rPr kumimoji="0" lang="en-IN" sz="1600" b="0" i="0" u="none" strike="noStrike" kern="0" cap="none" spc="0" normalizeH="0" baseline="0" noProof="0" dirty="0">
                <a:ln>
                  <a:noFill/>
                </a:ln>
                <a:solidFill>
                  <a:srgbClr val="FF0000"/>
                </a:solidFill>
                <a:effectLst/>
                <a:uLnTx/>
                <a:uFillTx/>
                <a:latin typeface="Arial"/>
                <a:cs typeface="Arial"/>
                <a:sym typeface="Arial"/>
              </a:rPr>
              <a:t> </a:t>
            </a:r>
            <a:r>
              <a:rPr kumimoji="0" lang="en-IN" sz="1600" b="0" i="0" u="none" strike="noStrike" kern="0" cap="none" spc="0" normalizeH="0" baseline="0" noProof="0" dirty="0">
                <a:ln>
                  <a:noFill/>
                </a:ln>
                <a:solidFill>
                  <a:srgbClr val="000000"/>
                </a:solidFill>
                <a:effectLst/>
                <a:uLnTx/>
                <a:uFillTx/>
                <a:latin typeface="Arial"/>
                <a:cs typeface="Arial"/>
                <a:sym typeface="Arial"/>
              </a:rPr>
              <a:t>⇒ i = 1, j = 3,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1</a:t>
            </a:r>
            <a:r>
              <a:rPr kumimoji="0" lang="en-IN" sz="1600" b="0" i="0" u="none" strike="noStrike" kern="0" cap="none" spc="0" normalizeH="0" baseline="0" noProof="0" dirty="0">
                <a:ln>
                  <a:noFill/>
                </a:ln>
                <a:solidFill>
                  <a:srgbClr val="000000"/>
                </a:solidFill>
                <a:effectLst/>
                <a:uLnTx/>
                <a:uFillTx/>
                <a:latin typeface="Arial"/>
                <a:cs typeface="Arial"/>
                <a:sym typeface="Arial"/>
              </a:rPr>
              <a:t> = 2,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[i, j]  =max {V [i – 1, j],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V [i – 1,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           = max {V [0, 3], 3 + V [0,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V[1, 3] = max (0, 3)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V[2, 3]</a:t>
            </a:r>
            <a:r>
              <a:rPr kumimoji="0" lang="en-IN" sz="1600" b="0" i="0" u="none" strike="noStrike" kern="0" cap="none" spc="0" normalizeH="0" baseline="0" noProof="0" dirty="0">
                <a:ln>
                  <a:noFill/>
                </a:ln>
                <a:solidFill>
                  <a:srgbClr val="000000"/>
                </a:solidFill>
                <a:effectLst/>
                <a:uLnTx/>
                <a:uFillTx/>
                <a:latin typeface="Arial"/>
                <a:cs typeface="Arial"/>
                <a:sym typeface="Arial"/>
              </a:rPr>
              <a:t> ⇒ i = 2, j = 3,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2</a:t>
            </a:r>
            <a:r>
              <a:rPr kumimoji="0" lang="en-IN" sz="1600" b="0" i="0" u="none" strike="noStrike" kern="0" cap="none" spc="0" normalizeH="0" baseline="0" noProof="0" dirty="0">
                <a:ln>
                  <a:noFill/>
                </a:ln>
                <a:solidFill>
                  <a:srgbClr val="000000"/>
                </a:solidFill>
                <a:effectLst/>
                <a:uLnTx/>
                <a:uFillTx/>
                <a:latin typeface="Arial"/>
                <a:cs typeface="Arial"/>
                <a:sym typeface="Arial"/>
              </a:rPr>
              <a:t> = 3,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[i, j]  = max {V [i – 1, j],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V [i – 1,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           = max {V [1, 3], 4 + V [1, 0]}</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V[2, 3] = max (3, 4) = 4</a:t>
            </a:r>
          </a:p>
        </p:txBody>
      </p:sp>
      <p:sp>
        <p:nvSpPr>
          <p:cNvPr id="8" name="Google Shape;99;p17"/>
          <p:cNvSpPr txBox="1"/>
          <p:nvPr/>
        </p:nvSpPr>
        <p:spPr>
          <a:xfrm>
            <a:off x="4867161" y="2031349"/>
            <a:ext cx="3986224" cy="2400627"/>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V[3, 3]</a:t>
            </a:r>
            <a:r>
              <a:rPr kumimoji="0" lang="en-IN" sz="1600" b="0" i="0" u="none" strike="noStrike" kern="0" cap="none" spc="0" normalizeH="0" baseline="0" noProof="0" dirty="0">
                <a:ln>
                  <a:noFill/>
                </a:ln>
                <a:solidFill>
                  <a:srgbClr val="FF0000"/>
                </a:solidFill>
                <a:effectLst/>
                <a:uLnTx/>
                <a:uFillTx/>
                <a:latin typeface="Arial"/>
                <a:cs typeface="Arial"/>
                <a:sym typeface="Arial"/>
              </a:rPr>
              <a:t> </a:t>
            </a:r>
            <a:r>
              <a:rPr kumimoji="0" lang="en-IN" sz="1600" b="0" i="0" u="none" strike="noStrike" kern="0" cap="none" spc="0" normalizeH="0" baseline="0" noProof="0" dirty="0">
                <a:ln>
                  <a:noFill/>
                </a:ln>
                <a:solidFill>
                  <a:srgbClr val="000000"/>
                </a:solidFill>
                <a:effectLst/>
                <a:uLnTx/>
                <a:uFillTx/>
                <a:latin typeface="Arial"/>
                <a:cs typeface="Arial"/>
                <a:sym typeface="Arial"/>
              </a:rPr>
              <a:t>⇒ i = 3, j = 3,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3</a:t>
            </a:r>
            <a:r>
              <a:rPr kumimoji="0" lang="en-IN" sz="1600" b="0" i="0" u="none" strike="noStrike" kern="0" cap="none" spc="0" normalizeH="0" baseline="0" noProof="0" dirty="0">
                <a:ln>
                  <a:noFill/>
                </a:ln>
                <a:solidFill>
                  <a:srgbClr val="000000"/>
                </a:solidFill>
                <a:effectLst/>
                <a:uLnTx/>
                <a:uFillTx/>
                <a:latin typeface="Arial"/>
                <a:cs typeface="Arial"/>
                <a:sym typeface="Arial"/>
              </a:rPr>
              <a:t> = 4,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5</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&lt;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[i, j] = V [i – 1, j]</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V[3, 3] = V [2, 3]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V[4, 3]</a:t>
            </a:r>
            <a:r>
              <a:rPr kumimoji="0" lang="en-IN" sz="1600" b="0" i="0" u="none" strike="noStrike" kern="0" cap="none" spc="0" normalizeH="0" baseline="0" noProof="0" dirty="0">
                <a:ln>
                  <a:noFill/>
                </a:ln>
                <a:solidFill>
                  <a:srgbClr val="FF0000"/>
                </a:solidFill>
                <a:effectLst/>
                <a:uLnTx/>
                <a:uFillTx/>
                <a:latin typeface="Arial"/>
                <a:cs typeface="Arial"/>
                <a:sym typeface="Arial"/>
              </a:rPr>
              <a:t> </a:t>
            </a:r>
            <a:r>
              <a:rPr kumimoji="0" lang="en-IN" sz="1600" b="0" i="0" u="none" strike="noStrike" kern="0" cap="none" spc="0" normalizeH="0" baseline="0" noProof="0" dirty="0">
                <a:ln>
                  <a:noFill/>
                </a:ln>
                <a:solidFill>
                  <a:srgbClr val="000000"/>
                </a:solidFill>
                <a:effectLst/>
                <a:uLnTx/>
                <a:uFillTx/>
                <a:latin typeface="Arial"/>
                <a:cs typeface="Arial"/>
                <a:sym typeface="Arial"/>
              </a:rPr>
              <a:t>⇒ i = 4, j = 3,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4</a:t>
            </a:r>
            <a:r>
              <a:rPr kumimoji="0" lang="en-IN" sz="1600" b="0" i="0" u="none" strike="noStrike" kern="0" cap="none" spc="0" normalizeH="0" baseline="0" noProof="0" dirty="0">
                <a:ln>
                  <a:noFill/>
                </a:ln>
                <a:solidFill>
                  <a:srgbClr val="000000"/>
                </a:solidFill>
                <a:effectLst/>
                <a:uLnTx/>
                <a:uFillTx/>
                <a:latin typeface="Arial"/>
                <a:cs typeface="Arial"/>
                <a:sym typeface="Arial"/>
              </a:rPr>
              <a:t> = 5,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&lt;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a:t>
            </a:r>
            <a:r>
              <a:rPr kumimoji="0" lang="en-IN" sz="1600" b="0" i="0" u="none" strike="noStrike" kern="0" cap="none" spc="0" normalizeH="0" baseline="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j] = V[</a:t>
            </a:r>
            <a:r>
              <a:rPr kumimoji="0" lang="en-IN" sz="1600" b="0" i="0" u="none" strike="noStrike" kern="0" cap="none" spc="0" normalizeH="0" baseline="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1, j]</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V[4, 3] = V [3, 3] = 4</a:t>
            </a:r>
          </a:p>
        </p:txBody>
      </p:sp>
      <p:pic>
        <p:nvPicPr>
          <p:cNvPr id="10" name="Picture 9"/>
          <p:cNvPicPr>
            <a:picLocks noChangeAspect="1"/>
          </p:cNvPicPr>
          <p:nvPr/>
        </p:nvPicPr>
        <p:blipFill>
          <a:blip r:embed="rId6"/>
          <a:stretch>
            <a:fillRect/>
          </a:stretch>
        </p:blipFill>
        <p:spPr>
          <a:xfrm>
            <a:off x="4874217" y="714878"/>
            <a:ext cx="4122082" cy="1121655"/>
          </a:xfrm>
          <a:prstGeom prst="rect">
            <a:avLst/>
          </a:prstGeom>
          <a:ln>
            <a:solidFill>
              <a:srgbClr val="0070C0"/>
            </a:solidFill>
          </a:ln>
        </p:spPr>
      </p:pic>
    </p:spTree>
    <p:extLst>
      <p:ext uri="{BB962C8B-B14F-4D97-AF65-F5344CB8AC3E}">
        <p14:creationId xmlns:p14="http://schemas.microsoft.com/office/powerpoint/2010/main" val="12111519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15612" y="134250"/>
            <a:ext cx="6976297" cy="600134"/>
          </a:xfrm>
          <a:prstGeom prst="rect">
            <a:avLst/>
          </a:prstGeom>
          <a:noFill/>
          <a:ln>
            <a:noFill/>
          </a:ln>
        </p:spPr>
        <p:txBody>
          <a:bodyPr spcFirstLastPara="1" wrap="square" lIns="91425" tIns="91425" rIns="91425" bIns="91425" anchor="t" anchorCtr="0">
            <a:spAutoFit/>
          </a:bodyPr>
          <a:lstStyle/>
          <a:p>
            <a:pPr fontAlgn="base"/>
            <a:r>
              <a:rPr lang="en-IN" sz="2700" b="1" dirty="0">
                <a:solidFill>
                  <a:schemeClr val="bg1"/>
                </a:solidFill>
                <a:latin typeface="Proxima Nova" panose="020B0604020202020204" charset="0"/>
              </a:rPr>
              <a:t>Knapsack problem</a:t>
            </a:r>
          </a:p>
        </p:txBody>
      </p:sp>
      <p:sp>
        <p:nvSpPr>
          <p:cNvPr id="99" name="Google Shape;99;p17"/>
          <p:cNvSpPr txBox="1"/>
          <p:nvPr/>
        </p:nvSpPr>
        <p:spPr>
          <a:xfrm>
            <a:off x="318620" y="1601442"/>
            <a:ext cx="4446177" cy="3139291"/>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Arial"/>
                <a:cs typeface="Arial"/>
                <a:sym typeface="Arial"/>
              </a:rPr>
              <a:t>Filling first column, </a:t>
            </a:r>
            <a:r>
              <a:rPr kumimoji="0" lang="en-IN" sz="1600" b="1" i="0" u="none" strike="noStrike" kern="0" cap="none" spc="0" normalizeH="0" baseline="0" noProof="0" dirty="0">
                <a:ln>
                  <a:noFill/>
                </a:ln>
                <a:solidFill>
                  <a:srgbClr val="0070C0"/>
                </a:solidFill>
                <a:effectLst/>
                <a:uLnTx/>
                <a:uFillTx/>
                <a:latin typeface="Arial"/>
                <a:cs typeface="Arial"/>
                <a:sym typeface="Arial"/>
              </a:rPr>
              <a:t>j = 4</a:t>
            </a:r>
            <a:endParaRPr kumimoji="0" lang="en-IN" sz="1600" b="0" i="0" u="none" strike="noStrike" kern="0" cap="none" spc="0" normalizeH="0" baseline="0" noProof="0" dirty="0">
              <a:ln>
                <a:noFill/>
              </a:ln>
              <a:solidFill>
                <a:srgbClr val="0070C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V[1, 4]</a:t>
            </a:r>
            <a:r>
              <a:rPr kumimoji="0" lang="en-IN" sz="1600" b="0" i="0" u="none" strike="noStrike" kern="0" cap="none" spc="0" normalizeH="0" baseline="0" noProof="0" dirty="0">
                <a:ln>
                  <a:noFill/>
                </a:ln>
                <a:solidFill>
                  <a:srgbClr val="000000"/>
                </a:solidFill>
                <a:effectLst/>
                <a:uLnTx/>
                <a:uFillTx/>
                <a:latin typeface="Arial"/>
                <a:cs typeface="Arial"/>
                <a:sym typeface="Arial"/>
              </a:rPr>
              <a:t> ⇒ i = 1, j = 4,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1</a:t>
            </a:r>
            <a:r>
              <a:rPr kumimoji="0" lang="en-IN" sz="1600" b="0" i="0" u="none" strike="noStrike" kern="0" cap="none" spc="0" normalizeH="0" baseline="0" noProof="0" dirty="0">
                <a:ln>
                  <a:noFill/>
                </a:ln>
                <a:solidFill>
                  <a:srgbClr val="000000"/>
                </a:solidFill>
                <a:effectLst/>
                <a:uLnTx/>
                <a:uFillTx/>
                <a:latin typeface="Arial"/>
                <a:cs typeface="Arial"/>
                <a:sym typeface="Arial"/>
              </a:rPr>
              <a:t> = 2,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[i, j]  = max {V [i – 1, j],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V [i – 1,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           = max {V [0, 4], 3 + V [0, 2]}</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V[1, 4] = max (0, 3)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V[2, 4]</a:t>
            </a:r>
            <a:r>
              <a:rPr kumimoji="0" lang="en-IN" sz="1600" b="0" i="0" u="none" strike="noStrike" kern="0" cap="none" spc="0" normalizeH="0" baseline="0" noProof="0" dirty="0">
                <a:ln>
                  <a:noFill/>
                </a:ln>
                <a:solidFill>
                  <a:srgbClr val="000000"/>
                </a:solidFill>
                <a:effectLst/>
                <a:uLnTx/>
                <a:uFillTx/>
                <a:latin typeface="Arial"/>
                <a:cs typeface="Arial"/>
                <a:sym typeface="Arial"/>
              </a:rPr>
              <a:t> ⇒ i = 2, j = 4,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2</a:t>
            </a:r>
            <a:r>
              <a:rPr kumimoji="0" lang="en-IN" sz="1600" b="0" i="0" u="none" strike="noStrike" kern="0" cap="none" spc="0" normalizeH="0" baseline="0" noProof="0" dirty="0">
                <a:ln>
                  <a:noFill/>
                </a:ln>
                <a:solidFill>
                  <a:srgbClr val="000000"/>
                </a:solidFill>
                <a:effectLst/>
                <a:uLnTx/>
                <a:uFillTx/>
                <a:latin typeface="Arial"/>
                <a:cs typeface="Arial"/>
                <a:sym typeface="Arial"/>
              </a:rPr>
              <a:t> = 3 ,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[i, j]   = max {V [i – 1, j],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V [i – 1,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            = max {V [1, 4], 4 + V [1,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V[2, 4]  = max (3, 4 + 0)  = 4</a:t>
            </a:r>
          </a:p>
        </p:txBody>
      </p:sp>
      <p:sp>
        <p:nvSpPr>
          <p:cNvPr id="8" name="Google Shape;99;p17"/>
          <p:cNvSpPr txBox="1"/>
          <p:nvPr/>
        </p:nvSpPr>
        <p:spPr>
          <a:xfrm>
            <a:off x="4867805" y="2093885"/>
            <a:ext cx="4117237" cy="2646848"/>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V[3, 4]</a:t>
            </a:r>
            <a:r>
              <a:rPr kumimoji="0" lang="en-IN" sz="1600" b="0" i="0" u="none" strike="noStrike" kern="0" cap="none" spc="0" normalizeH="0" baseline="0" noProof="0" dirty="0">
                <a:ln>
                  <a:noFill/>
                </a:ln>
                <a:solidFill>
                  <a:srgbClr val="FF0000"/>
                </a:solidFill>
                <a:effectLst/>
                <a:uLnTx/>
                <a:uFillTx/>
                <a:latin typeface="Arial"/>
                <a:cs typeface="Arial"/>
                <a:sym typeface="Arial"/>
              </a:rPr>
              <a:t>  </a:t>
            </a:r>
            <a:r>
              <a:rPr kumimoji="0" lang="en-IN" sz="1600" b="0" i="0" u="none" strike="noStrike" kern="0" cap="none" spc="0" normalizeH="0" baseline="0" noProof="0" dirty="0">
                <a:ln>
                  <a:noFill/>
                </a:ln>
                <a:solidFill>
                  <a:srgbClr val="000000"/>
                </a:solidFill>
                <a:effectLst/>
                <a:uLnTx/>
                <a:uFillTx/>
                <a:latin typeface="Arial"/>
                <a:cs typeface="Arial"/>
                <a:sym typeface="Arial"/>
              </a:rPr>
              <a:t>⇒  i = 3, j = 4,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3</a:t>
            </a:r>
            <a:r>
              <a:rPr kumimoji="0" lang="en-IN" sz="1600" b="0" i="0" u="none" strike="noStrike" kern="0" cap="none" spc="0" normalizeH="0" baseline="0" noProof="0" dirty="0">
                <a:ln>
                  <a:noFill/>
                </a:ln>
                <a:solidFill>
                  <a:srgbClr val="000000"/>
                </a:solidFill>
                <a:effectLst/>
                <a:uLnTx/>
                <a:uFillTx/>
                <a:latin typeface="Arial"/>
                <a:cs typeface="Arial"/>
                <a:sym typeface="Arial"/>
              </a:rPr>
              <a:t> = 4,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5</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[i, j] =max {V [i – 1, j],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V [i – 1,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           =max {V [2, 4], 5 + V [2, 0]}</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V[3, 4] =max (4, 5 + 0) = 5</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V[4, 4]</a:t>
            </a:r>
            <a:r>
              <a:rPr kumimoji="0" lang="en-IN" sz="1600" b="0" i="0" u="none" strike="noStrike" kern="0" cap="none" spc="0" normalizeH="0" baseline="0" noProof="0" dirty="0">
                <a:ln>
                  <a:noFill/>
                </a:ln>
                <a:solidFill>
                  <a:srgbClr val="000000"/>
                </a:solidFill>
                <a:effectLst/>
                <a:uLnTx/>
                <a:uFillTx/>
                <a:latin typeface="Arial"/>
                <a:cs typeface="Arial"/>
                <a:sym typeface="Arial"/>
              </a:rPr>
              <a:t> ⇒ i = 4, j = 4,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4</a:t>
            </a:r>
            <a:r>
              <a:rPr kumimoji="0" lang="en-IN" sz="1600" b="0" i="0" u="none" strike="noStrike" kern="0" cap="none" spc="0" normalizeH="0" baseline="0" noProof="0" dirty="0">
                <a:ln>
                  <a:noFill/>
                </a:ln>
                <a:solidFill>
                  <a:srgbClr val="000000"/>
                </a:solidFill>
                <a:effectLst/>
                <a:uLnTx/>
                <a:uFillTx/>
                <a:latin typeface="Arial"/>
                <a:cs typeface="Arial"/>
                <a:sym typeface="Arial"/>
              </a:rPr>
              <a:t> = 5,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&lt;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[i, j] = V [i – 1, j]</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V[4, 4] = V [3, 4] = 5</a:t>
            </a:r>
          </a:p>
        </p:txBody>
      </p:sp>
      <p:pic>
        <p:nvPicPr>
          <p:cNvPr id="10" name="Picture 9"/>
          <p:cNvPicPr>
            <a:picLocks noChangeAspect="1"/>
          </p:cNvPicPr>
          <p:nvPr/>
        </p:nvPicPr>
        <p:blipFill>
          <a:blip r:embed="rId6"/>
          <a:stretch>
            <a:fillRect/>
          </a:stretch>
        </p:blipFill>
        <p:spPr>
          <a:xfrm>
            <a:off x="4890964" y="788416"/>
            <a:ext cx="4122082" cy="1121655"/>
          </a:xfrm>
          <a:prstGeom prst="rect">
            <a:avLst/>
          </a:prstGeom>
          <a:ln>
            <a:solidFill>
              <a:srgbClr val="0033CC"/>
            </a:solidFill>
          </a:ln>
        </p:spPr>
      </p:pic>
    </p:spTree>
    <p:extLst>
      <p:ext uri="{BB962C8B-B14F-4D97-AF65-F5344CB8AC3E}">
        <p14:creationId xmlns:p14="http://schemas.microsoft.com/office/powerpoint/2010/main" val="260143297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15612" y="134250"/>
            <a:ext cx="6976297" cy="553968"/>
          </a:xfrm>
          <a:prstGeom prst="rect">
            <a:avLst/>
          </a:prstGeom>
          <a:noFill/>
          <a:ln>
            <a:noFill/>
          </a:ln>
        </p:spPr>
        <p:txBody>
          <a:bodyPr spcFirstLastPara="1" wrap="square" lIns="91425" tIns="91425" rIns="91425" bIns="91425" anchor="t" anchorCtr="0">
            <a:spAutoFit/>
          </a:bodyPr>
          <a:lstStyle/>
          <a:p>
            <a:pPr fontAlgn="base"/>
            <a:r>
              <a:rPr kumimoji="0" lang="en-IN" sz="2400" b="1" i="0" u="none" strike="noStrike" kern="0" cap="none" spc="0" normalizeH="0" baseline="0" noProof="0" dirty="0">
                <a:ln>
                  <a:noFill/>
                </a:ln>
                <a:solidFill>
                  <a:schemeClr val="bg1"/>
                </a:solidFill>
                <a:effectLst/>
                <a:uLnTx/>
                <a:uFillTx/>
                <a:latin typeface="Corbel" panose="020B0503020204020204" pitchFamily="34" charset="0"/>
                <a:sym typeface="Arial"/>
              </a:rPr>
              <a:t>Knapsack</a:t>
            </a:r>
            <a:r>
              <a:rPr kumimoji="0" lang="en-IN" sz="2400" b="0" i="0" u="none" strike="noStrike" kern="0" cap="none" spc="0" normalizeH="0" baseline="0" noProof="0" dirty="0">
                <a:ln>
                  <a:noFill/>
                </a:ln>
                <a:solidFill>
                  <a:schemeClr val="bg1"/>
                </a:solidFill>
                <a:effectLst/>
                <a:uLnTx/>
                <a:uFillTx/>
                <a:latin typeface="Corbel" panose="020B0503020204020204" pitchFamily="34" charset="0"/>
                <a:sym typeface="Arial"/>
              </a:rPr>
              <a:t> </a:t>
            </a:r>
            <a:r>
              <a:rPr kumimoji="0" lang="en-IN" sz="2400" b="1" i="0" u="none" strike="noStrike" kern="0" cap="none" spc="0" normalizeH="0" baseline="0" noProof="0" dirty="0">
                <a:ln>
                  <a:noFill/>
                </a:ln>
                <a:solidFill>
                  <a:schemeClr val="bg1"/>
                </a:solidFill>
                <a:effectLst/>
                <a:uLnTx/>
                <a:uFillTx/>
                <a:latin typeface="Corbel" panose="020B0503020204020204" pitchFamily="34" charset="0"/>
                <a:sym typeface="Arial"/>
              </a:rPr>
              <a:t>problem</a:t>
            </a:r>
            <a:endParaRPr kumimoji="0" lang="en-IN" sz="2400" b="1" i="0" u="none" strike="noStrike" kern="0" cap="none" spc="0" normalizeH="0" baseline="0" noProof="0" dirty="0">
              <a:ln>
                <a:noFill/>
              </a:ln>
              <a:solidFill>
                <a:srgbClr val="FFFFFF"/>
              </a:solidFill>
              <a:effectLst/>
              <a:uLnTx/>
              <a:uFillTx/>
              <a:latin typeface="Proxima Nova" panose="020B0604020202020204" charset="0"/>
              <a:cs typeface="Arial"/>
              <a:sym typeface="Arial"/>
            </a:endParaRPr>
          </a:p>
        </p:txBody>
      </p:sp>
      <p:sp>
        <p:nvSpPr>
          <p:cNvPr id="99" name="Google Shape;99;p17"/>
          <p:cNvSpPr txBox="1"/>
          <p:nvPr/>
        </p:nvSpPr>
        <p:spPr>
          <a:xfrm>
            <a:off x="199017" y="1343826"/>
            <a:ext cx="4446177" cy="3139291"/>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0000"/>
                </a:solidFill>
                <a:effectLst/>
                <a:uLnTx/>
                <a:uFillTx/>
                <a:latin typeface="Arial"/>
                <a:cs typeface="Arial"/>
                <a:sym typeface="Arial"/>
              </a:rPr>
              <a:t>Filling first column, </a:t>
            </a:r>
            <a:r>
              <a:rPr kumimoji="0" lang="en-IN" sz="1600" b="1" i="0" u="none" strike="noStrike" kern="0" cap="none" spc="0" normalizeH="0" baseline="0" noProof="0" dirty="0">
                <a:ln>
                  <a:noFill/>
                </a:ln>
                <a:solidFill>
                  <a:srgbClr val="0070C0"/>
                </a:solidFill>
                <a:effectLst/>
                <a:uLnTx/>
                <a:uFillTx/>
                <a:latin typeface="Arial"/>
                <a:cs typeface="Arial"/>
                <a:sym typeface="Arial"/>
              </a:rPr>
              <a:t>j = 5</a:t>
            </a:r>
            <a:endParaRPr kumimoji="0" lang="en-IN" sz="1600" b="0" i="0" u="none" strike="noStrike" kern="0" cap="none" spc="0" normalizeH="0" baseline="0" noProof="0" dirty="0">
              <a:ln>
                <a:noFill/>
              </a:ln>
              <a:solidFill>
                <a:srgbClr val="0070C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 [1, 5]</a:t>
            </a:r>
            <a:r>
              <a:rPr kumimoji="0" lang="en-IN" sz="1600" b="0" i="0" u="none" strike="noStrike" kern="0" cap="none" spc="0" normalizeH="0" baseline="0" noProof="0" dirty="0">
                <a:ln>
                  <a:noFill/>
                </a:ln>
                <a:solidFill>
                  <a:srgbClr val="FF0000"/>
                </a:solidFill>
                <a:effectLst/>
                <a:uLnTx/>
                <a:uFillTx/>
                <a:latin typeface="Arial"/>
                <a:cs typeface="Arial"/>
                <a:sym typeface="Arial"/>
              </a:rPr>
              <a:t> </a:t>
            </a:r>
            <a:r>
              <a:rPr kumimoji="0" lang="en-IN" sz="1600" b="0" i="0" u="none" strike="noStrike" kern="0" cap="none" spc="0" normalizeH="0" baseline="0" noProof="0" dirty="0">
                <a:ln>
                  <a:noFill/>
                </a:ln>
                <a:solidFill>
                  <a:srgbClr val="000000"/>
                </a:solidFill>
                <a:effectLst/>
                <a:uLnTx/>
                <a:uFillTx/>
                <a:latin typeface="Arial"/>
                <a:cs typeface="Arial"/>
                <a:sym typeface="Arial"/>
              </a:rPr>
              <a:t>⇒ i = 1, j = 5,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1</a:t>
            </a:r>
            <a:r>
              <a:rPr kumimoji="0" lang="en-IN" sz="1600" b="0" i="0" u="none" strike="noStrike" kern="0" cap="none" spc="0" normalizeH="0" baseline="0" noProof="0" dirty="0">
                <a:ln>
                  <a:noFill/>
                </a:ln>
                <a:solidFill>
                  <a:srgbClr val="000000"/>
                </a:solidFill>
                <a:effectLst/>
                <a:uLnTx/>
                <a:uFillTx/>
                <a:latin typeface="Arial"/>
                <a:cs typeface="Arial"/>
                <a:sym typeface="Arial"/>
              </a:rPr>
              <a:t> = 2,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[i, j]  = max {V [i – 1, j],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V [i – 1,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           = max {V [0, 5], 3 + V [0,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V[1, 5] = max (0, 3)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V[2, 5]</a:t>
            </a:r>
            <a:r>
              <a:rPr kumimoji="0" lang="en-IN" sz="1600" b="0" i="0" u="none" strike="noStrike" kern="0" cap="none" spc="0" normalizeH="0" baseline="0" noProof="0" dirty="0">
                <a:ln>
                  <a:noFill/>
                </a:ln>
                <a:solidFill>
                  <a:srgbClr val="000000"/>
                </a:solidFill>
                <a:effectLst/>
                <a:uLnTx/>
                <a:uFillTx/>
                <a:latin typeface="Arial"/>
                <a:cs typeface="Arial"/>
                <a:sym typeface="Arial"/>
              </a:rPr>
              <a:t> ⇒ i = 2, j = 5,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2</a:t>
            </a:r>
            <a:r>
              <a:rPr kumimoji="0" lang="en-IN" sz="1600" b="0" i="0" u="none" strike="noStrike" kern="0" cap="none" spc="0" normalizeH="0" baseline="0" noProof="0" dirty="0">
                <a:ln>
                  <a:noFill/>
                </a:ln>
                <a:solidFill>
                  <a:srgbClr val="000000"/>
                </a:solidFill>
                <a:effectLst/>
                <a:uLnTx/>
                <a:uFillTx/>
                <a:latin typeface="Arial"/>
                <a:cs typeface="Arial"/>
                <a:sym typeface="Arial"/>
              </a:rPr>
              <a:t> = 3,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4</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[i, j] = max {V [i – 1, j],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V [i – 1,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          = max {V [1, 5], 4 + V [1, 2]}</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V[2, 5]= max (3, 4 + 3) = 7</a:t>
            </a:r>
          </a:p>
        </p:txBody>
      </p:sp>
      <p:sp>
        <p:nvSpPr>
          <p:cNvPr id="8" name="Google Shape;99;p17"/>
          <p:cNvSpPr txBox="1"/>
          <p:nvPr/>
        </p:nvSpPr>
        <p:spPr>
          <a:xfrm>
            <a:off x="4773948" y="2085181"/>
            <a:ext cx="4253106" cy="2893069"/>
          </a:xfrm>
          <a:prstGeom prst="rect">
            <a:avLst/>
          </a:prstGeom>
          <a:noFill/>
          <a:ln>
            <a:solidFill>
              <a:schemeClr val="accent1"/>
            </a:solidFill>
          </a:ln>
        </p:spPr>
        <p:txBody>
          <a:bodyPr spcFirstLastPara="1" wrap="square" lIns="91425" tIns="91425" rIns="91425" bIns="91425" anchor="t" anchorCtr="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V[3, 5]</a:t>
            </a:r>
            <a:r>
              <a:rPr kumimoji="0" lang="en-IN" sz="1600" b="0" i="0" u="none" strike="noStrike" kern="0" cap="none" spc="0" normalizeH="0" baseline="0" noProof="0" dirty="0">
                <a:ln>
                  <a:noFill/>
                </a:ln>
                <a:solidFill>
                  <a:srgbClr val="000000"/>
                </a:solidFill>
                <a:effectLst/>
                <a:uLnTx/>
                <a:uFillTx/>
                <a:latin typeface="Arial"/>
                <a:cs typeface="Arial"/>
                <a:sym typeface="Arial"/>
              </a:rPr>
              <a:t> ⇒ i = 3, j = 5,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3</a:t>
            </a:r>
            <a:r>
              <a:rPr kumimoji="0" lang="en-IN" sz="1600" b="0" i="0" u="none" strike="noStrike" kern="0" cap="none" spc="0" normalizeH="0" baseline="0" noProof="0" dirty="0">
                <a:ln>
                  <a:noFill/>
                </a:ln>
                <a:solidFill>
                  <a:srgbClr val="000000"/>
                </a:solidFill>
                <a:effectLst/>
                <a:uLnTx/>
                <a:uFillTx/>
                <a:latin typeface="Arial"/>
                <a:cs typeface="Arial"/>
                <a:sym typeface="Arial"/>
              </a:rPr>
              <a:t> = 4,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5</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[i, j] = max {V [i – 1, j],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V [i – 1,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          = max {V [2, 5], 5 + V [2,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V[3, 5] = max (7, 5 + 0) = 7</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600" b="1"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FF0000"/>
                </a:solidFill>
                <a:effectLst/>
                <a:uLnTx/>
                <a:uFillTx/>
                <a:latin typeface="Arial"/>
                <a:cs typeface="Arial"/>
                <a:sym typeface="Arial"/>
              </a:rPr>
              <a:t>V [4, 5]</a:t>
            </a:r>
            <a:r>
              <a:rPr kumimoji="0" lang="en-IN" sz="1600" b="0" i="0" u="none" strike="noStrike" kern="0" cap="none" spc="0" normalizeH="0" baseline="0" noProof="0" dirty="0">
                <a:ln>
                  <a:noFill/>
                </a:ln>
                <a:solidFill>
                  <a:srgbClr val="FF0000"/>
                </a:solidFill>
                <a:effectLst/>
                <a:uLnTx/>
                <a:uFillTx/>
                <a:latin typeface="Arial"/>
                <a:cs typeface="Arial"/>
                <a:sym typeface="Arial"/>
              </a:rPr>
              <a:t> </a:t>
            </a:r>
            <a:r>
              <a:rPr kumimoji="0" lang="en-IN" sz="1600" b="0" i="0" u="none" strike="noStrike" kern="0" cap="none" spc="0" normalizeH="0" baseline="0" noProof="0" dirty="0">
                <a:ln>
                  <a:noFill/>
                </a:ln>
                <a:solidFill>
                  <a:srgbClr val="000000"/>
                </a:solidFill>
                <a:effectLst/>
                <a:uLnTx/>
                <a:uFillTx/>
                <a:latin typeface="Arial"/>
                <a:cs typeface="Arial"/>
                <a:sym typeface="Arial"/>
              </a:rPr>
              <a:t> ⇒  i = 4,   j = 5,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w</a:t>
            </a:r>
            <a:r>
              <a:rPr kumimoji="0" lang="en-IN" sz="1600" b="0" i="0" u="none" strike="noStrike" kern="0" cap="none" spc="0" normalizeH="0" baseline="-25000" noProof="0" dirty="0">
                <a:ln>
                  <a:noFill/>
                </a:ln>
                <a:solidFill>
                  <a:srgbClr val="000000"/>
                </a:solidFill>
                <a:effectLst/>
                <a:uLnTx/>
                <a:uFillTx/>
                <a:latin typeface="Arial"/>
                <a:cs typeface="Arial"/>
                <a:sym typeface="Arial"/>
              </a:rPr>
              <a:t>4  </a:t>
            </a:r>
            <a:r>
              <a:rPr kumimoji="0" lang="en-IN" sz="1600" b="0" i="0" u="none" strike="noStrike" kern="0" cap="none" spc="0" normalizeH="0" baseline="0" noProof="0" dirty="0">
                <a:ln>
                  <a:noFill/>
                </a:ln>
                <a:solidFill>
                  <a:srgbClr val="000000"/>
                </a:solidFill>
                <a:effectLst/>
                <a:uLnTx/>
                <a:uFillTx/>
                <a:latin typeface="Arial"/>
                <a:cs typeface="Arial"/>
                <a:sym typeface="Arial"/>
              </a:rPr>
              <a:t>=5,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6</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As,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 [i, j]  = max {V [i – 1, j], v</a:t>
            </a:r>
            <a:r>
              <a:rPr kumimoji="0" lang="en-IN" sz="1600" b="0" i="0" u="none" strike="noStrike" kern="0" cap="none" spc="0" normalizeH="0" baseline="-25000" noProof="0" dirty="0">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 V [i – 1, j – </a:t>
            </a:r>
            <a:r>
              <a:rPr kumimoji="0" lang="en-IN" sz="1600" b="0" i="0" u="none" strike="noStrike" kern="0" cap="none" spc="0" normalizeH="0" baseline="0" noProof="0" dirty="0" err="1">
                <a:ln>
                  <a:noFill/>
                </a:ln>
                <a:solidFill>
                  <a:srgbClr val="000000"/>
                </a:solidFill>
                <a:effectLst/>
                <a:uLnTx/>
                <a:uFillTx/>
                <a:latin typeface="Arial"/>
                <a:cs typeface="Arial"/>
                <a:sym typeface="Arial"/>
              </a:rPr>
              <a:t>w</a:t>
            </a:r>
            <a:r>
              <a:rPr kumimoji="0" lang="en-IN" sz="1600" b="0" i="0" u="none" strike="noStrike" kern="0" cap="none" spc="0" normalizeH="0" baseline="-25000" noProof="0" dirty="0" err="1">
                <a:ln>
                  <a:noFill/>
                </a:ln>
                <a:solidFill>
                  <a:srgbClr val="000000"/>
                </a:solidFill>
                <a:effectLst/>
                <a:uLnTx/>
                <a:uFillTx/>
                <a:latin typeface="Arial"/>
                <a:cs typeface="Arial"/>
                <a:sym typeface="Arial"/>
              </a:rPr>
              <a:t>i</a:t>
            </a:r>
            <a:r>
              <a:rPr kumimoji="0" lang="en-IN"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           = max {V [3, 5], 6 + V [3, 0]}</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Arial"/>
                <a:cs typeface="Arial"/>
                <a:sym typeface="Arial"/>
              </a:rPr>
              <a:t>V[4, 5] = max (7, 6 + 0) = 7</a:t>
            </a:r>
          </a:p>
        </p:txBody>
      </p:sp>
      <p:pic>
        <p:nvPicPr>
          <p:cNvPr id="10" name="Picture 9"/>
          <p:cNvPicPr>
            <a:picLocks noChangeAspect="1"/>
          </p:cNvPicPr>
          <p:nvPr/>
        </p:nvPicPr>
        <p:blipFill rotWithShape="1">
          <a:blip r:embed="rId6"/>
          <a:srcRect t="14811" b="5731"/>
          <a:stretch/>
        </p:blipFill>
        <p:spPr>
          <a:xfrm>
            <a:off x="4839460" y="832056"/>
            <a:ext cx="4122082" cy="1043043"/>
          </a:xfrm>
          <a:prstGeom prst="rect">
            <a:avLst/>
          </a:prstGeom>
          <a:ln>
            <a:solidFill>
              <a:srgbClr val="0070C0"/>
            </a:solidFill>
          </a:ln>
        </p:spPr>
      </p:pic>
    </p:spTree>
    <p:extLst>
      <p:ext uri="{BB962C8B-B14F-4D97-AF65-F5344CB8AC3E}">
        <p14:creationId xmlns:p14="http://schemas.microsoft.com/office/powerpoint/2010/main" val="417829276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600134"/>
          </a:xfrm>
          <a:prstGeom prst="rect">
            <a:avLst/>
          </a:prstGeom>
          <a:noFill/>
          <a:ln>
            <a:noFill/>
          </a:ln>
        </p:spPr>
        <p:txBody>
          <a:bodyPr spcFirstLastPara="1" wrap="square" lIns="91425" tIns="91425" rIns="91425" bIns="91425" anchor="t" anchorCtr="0">
            <a:spAutoFit/>
          </a:bodyPr>
          <a:lstStyle/>
          <a:p>
            <a:pPr fontAlgn="base"/>
            <a:r>
              <a:rPr kumimoji="0" lang="en-IN" sz="2700" b="1" i="0" u="none" strike="noStrike" kern="0" cap="none" spc="0" normalizeH="0" baseline="0" noProof="0" dirty="0">
                <a:ln>
                  <a:noFill/>
                </a:ln>
                <a:solidFill>
                  <a:schemeClr val="bg1"/>
                </a:solidFill>
                <a:effectLst/>
                <a:uLnTx/>
                <a:uFillTx/>
                <a:latin typeface="Proxima Nova" panose="020B0604020202020204" charset="0"/>
                <a:sym typeface="Arial"/>
              </a:rPr>
              <a:t>Knapsack</a:t>
            </a:r>
            <a:r>
              <a:rPr kumimoji="0" lang="en-IN" sz="2700" b="0" i="0" u="none" strike="noStrike" kern="0" cap="none" spc="0" normalizeH="0" baseline="0" noProof="0" dirty="0">
                <a:ln>
                  <a:noFill/>
                </a:ln>
                <a:solidFill>
                  <a:schemeClr val="bg1"/>
                </a:solidFill>
                <a:effectLst/>
                <a:uLnTx/>
                <a:uFillTx/>
                <a:latin typeface="Proxima Nova" panose="020B0604020202020204" charset="0"/>
                <a:sym typeface="Arial"/>
              </a:rPr>
              <a:t> </a:t>
            </a:r>
            <a:r>
              <a:rPr kumimoji="0" lang="en-IN" sz="2700" b="1" i="0" u="none" strike="noStrike" kern="0" cap="none" spc="0" normalizeH="0" baseline="0" noProof="0" dirty="0">
                <a:ln>
                  <a:noFill/>
                </a:ln>
                <a:solidFill>
                  <a:schemeClr val="bg1"/>
                </a:solidFill>
                <a:effectLst/>
                <a:uLnTx/>
                <a:uFillTx/>
                <a:latin typeface="Proxima Nova" panose="020B0604020202020204" charset="0"/>
                <a:sym typeface="Arial"/>
              </a:rPr>
              <a:t>problem</a:t>
            </a:r>
            <a:endParaRPr kumimoji="0" lang="en-IN" sz="2700" b="1" i="0" u="none" strike="noStrike" kern="0" cap="none" spc="0" normalizeH="0" baseline="0" noProof="0" dirty="0">
              <a:ln>
                <a:noFill/>
              </a:ln>
              <a:solidFill>
                <a:srgbClr val="FFFFFF"/>
              </a:solidFill>
              <a:effectLst/>
              <a:uLnTx/>
              <a:uFillTx/>
              <a:latin typeface="Proxima Nova" panose="020B0604020202020204" charset="0"/>
              <a:sym typeface="Arial"/>
            </a:endParaRPr>
          </a:p>
        </p:txBody>
      </p:sp>
      <p:pic>
        <p:nvPicPr>
          <p:cNvPr id="2" name="Picture 1"/>
          <p:cNvPicPr>
            <a:picLocks noChangeAspect="1"/>
          </p:cNvPicPr>
          <p:nvPr/>
        </p:nvPicPr>
        <p:blipFill rotWithShape="1">
          <a:blip r:embed="rId6"/>
          <a:srcRect l="739" t="2662" r="2069" b="3735"/>
          <a:stretch/>
        </p:blipFill>
        <p:spPr>
          <a:xfrm>
            <a:off x="509286" y="1041722"/>
            <a:ext cx="7697165" cy="3460830"/>
          </a:xfrm>
          <a:prstGeom prst="rect">
            <a:avLst/>
          </a:prstGeom>
          <a:ln w="28575">
            <a:solidFill>
              <a:srgbClr val="0070C0"/>
            </a:solidFill>
          </a:ln>
        </p:spPr>
      </p:pic>
      <p:grpSp>
        <p:nvGrpSpPr>
          <p:cNvPr id="51" name="Group 50"/>
          <p:cNvGrpSpPr/>
          <p:nvPr/>
        </p:nvGrpSpPr>
        <p:grpSpPr>
          <a:xfrm>
            <a:off x="1516284" y="1041722"/>
            <a:ext cx="6059346" cy="3460830"/>
            <a:chOff x="1516284" y="1041722"/>
            <a:chExt cx="6059346" cy="3460830"/>
          </a:xfrm>
        </p:grpSpPr>
        <p:cxnSp>
          <p:nvCxnSpPr>
            <p:cNvPr id="4" name="Straight Connector 3"/>
            <p:cNvCxnSpPr/>
            <p:nvPr/>
          </p:nvCxnSpPr>
          <p:spPr>
            <a:xfrm flipH="1">
              <a:off x="1516284" y="1041722"/>
              <a:ext cx="11574" cy="346083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356658" y="1041722"/>
              <a:ext cx="11575" cy="346083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629873" y="1041722"/>
              <a:ext cx="46300" cy="346083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347504" y="1041722"/>
              <a:ext cx="69448" cy="346083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007261" y="1041722"/>
              <a:ext cx="11574" cy="346083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481823" y="1041722"/>
              <a:ext cx="46299" cy="346083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002684" y="1041722"/>
              <a:ext cx="46298" cy="346083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75630" y="1041722"/>
              <a:ext cx="0" cy="3460830"/>
            </a:xfrm>
            <a:prstGeom prst="line">
              <a:avLst/>
            </a:prstGeom>
            <a:ln w="28575"/>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0526782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140678" y="134250"/>
            <a:ext cx="7051232" cy="600134"/>
          </a:xfrm>
          <a:prstGeom prst="rect">
            <a:avLst/>
          </a:prstGeom>
          <a:noFill/>
          <a:ln>
            <a:noFill/>
          </a:ln>
        </p:spPr>
        <p:txBody>
          <a:bodyPr spcFirstLastPara="1" wrap="square" lIns="91425" tIns="91425" rIns="91425" bIns="91425" anchor="t" anchorCtr="0">
            <a:spAutoFit/>
          </a:bodyPr>
          <a:lstStyle/>
          <a:p>
            <a:pPr fontAlgn="base"/>
            <a:r>
              <a:rPr kumimoji="0" lang="en-IN" sz="2700" b="1" i="0" u="none" strike="noStrike" kern="0" cap="none" spc="0" normalizeH="0" baseline="0" noProof="0" dirty="0">
                <a:ln>
                  <a:noFill/>
                </a:ln>
                <a:solidFill>
                  <a:schemeClr val="bg1"/>
                </a:solidFill>
                <a:effectLst/>
                <a:uLnTx/>
                <a:uFillTx/>
                <a:latin typeface="Proxima Nova" panose="020B0604020202020204" charset="0"/>
                <a:sym typeface="Arial"/>
              </a:rPr>
              <a:t>Knapsack</a:t>
            </a:r>
            <a:r>
              <a:rPr kumimoji="0" lang="en-IN" sz="2700" b="0" i="0" u="none" strike="noStrike" kern="0" cap="none" spc="0" normalizeH="0" baseline="0" noProof="0" dirty="0">
                <a:ln>
                  <a:noFill/>
                </a:ln>
                <a:solidFill>
                  <a:schemeClr val="bg1"/>
                </a:solidFill>
                <a:effectLst/>
                <a:uLnTx/>
                <a:uFillTx/>
                <a:latin typeface="Proxima Nova" panose="020B0604020202020204" charset="0"/>
                <a:sym typeface="Arial"/>
              </a:rPr>
              <a:t> </a:t>
            </a:r>
            <a:r>
              <a:rPr kumimoji="0" lang="en-IN" sz="2700" b="1" i="0" u="none" strike="noStrike" kern="0" cap="none" spc="0" normalizeH="0" baseline="0" noProof="0" dirty="0">
                <a:ln>
                  <a:noFill/>
                </a:ln>
                <a:solidFill>
                  <a:schemeClr val="bg1"/>
                </a:solidFill>
                <a:effectLst/>
                <a:uLnTx/>
                <a:uFillTx/>
                <a:latin typeface="Proxima Nova" panose="020B0604020202020204" charset="0"/>
                <a:sym typeface="Arial"/>
              </a:rPr>
              <a:t>problem</a:t>
            </a:r>
            <a:endParaRPr kumimoji="0" lang="en-IN" sz="2700" b="1" i="0" u="none" strike="noStrike" kern="0" cap="none" spc="0" normalizeH="0" baseline="0" noProof="0" dirty="0">
              <a:ln>
                <a:noFill/>
              </a:ln>
              <a:solidFill>
                <a:srgbClr val="FFFFFF"/>
              </a:solidFill>
              <a:effectLst/>
              <a:uLnTx/>
              <a:uFillTx/>
              <a:latin typeface="Proxima Nova" panose="020B0604020202020204" charset="0"/>
              <a:sym typeface="Arial"/>
            </a:endParaRPr>
          </a:p>
        </p:txBody>
      </p:sp>
      <p:sp>
        <p:nvSpPr>
          <p:cNvPr id="3" name="Rectangle 2"/>
          <p:cNvSpPr/>
          <p:nvPr/>
        </p:nvSpPr>
        <p:spPr>
          <a:xfrm>
            <a:off x="269631" y="817718"/>
            <a:ext cx="416347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1" i="0" u="none" strike="noStrike" kern="0" cap="none" spc="0" normalizeH="0" baseline="0" noProof="0" dirty="0">
                <a:ln>
                  <a:noFill/>
                </a:ln>
                <a:solidFill>
                  <a:schemeClr val="tx1"/>
                </a:solidFill>
                <a:effectLst/>
                <a:uLnTx/>
                <a:uFillTx/>
                <a:latin typeface="Trebuchet MS" panose="020B0603020202020204" pitchFamily="34" charset="0"/>
                <a:sym typeface="Arial"/>
              </a:rPr>
              <a:t>Find selected items for M = 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1" i="0" u="none" strike="noStrike" kern="0" cap="none" spc="0" normalizeH="0" baseline="0" noProof="0" dirty="0">
                <a:ln>
                  <a:noFill/>
                </a:ln>
                <a:solidFill>
                  <a:srgbClr val="0070C0"/>
                </a:solidFill>
                <a:effectLst/>
                <a:uLnTx/>
                <a:uFillTx/>
                <a:latin typeface="Trebuchet MS" panose="020B0603020202020204" pitchFamily="34" charset="0"/>
                <a:sym typeface="Arial"/>
              </a:rPr>
              <a:t>Step 1 </a:t>
            </a:r>
            <a:r>
              <a:rPr kumimoji="0" lang="en-IN" sz="1800" b="1" i="0" u="none" strike="noStrike" kern="0" cap="none" spc="0" normalizeH="0" baseline="0" noProof="0" dirty="0">
                <a:ln>
                  <a:noFill/>
                </a:ln>
                <a:solidFill>
                  <a:schemeClr val="tx1"/>
                </a:solidFill>
                <a:effectLst/>
                <a:uLnTx/>
                <a:uFillTx/>
                <a:latin typeface="Trebuchet MS" panose="020B0603020202020204" pitchFamily="34" charset="0"/>
                <a:sym typeface="Arial"/>
              </a:rPr>
              <a:t>: </a:t>
            </a: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sym typeface="Arial"/>
              </a:rPr>
              <a:t>Initially, i = n = 4, j = M = 5</a:t>
            </a:r>
          </a:p>
        </p:txBody>
      </p:sp>
      <p:pic>
        <p:nvPicPr>
          <p:cNvPr id="4" name="Picture 3"/>
          <p:cNvPicPr>
            <a:picLocks noChangeAspect="1"/>
          </p:cNvPicPr>
          <p:nvPr/>
        </p:nvPicPr>
        <p:blipFill>
          <a:blip r:embed="rId6"/>
          <a:stretch>
            <a:fillRect/>
          </a:stretch>
        </p:blipFill>
        <p:spPr>
          <a:xfrm>
            <a:off x="450129" y="1501186"/>
            <a:ext cx="4565670" cy="3001365"/>
          </a:xfrm>
          <a:prstGeom prst="rect">
            <a:avLst/>
          </a:prstGeom>
        </p:spPr>
      </p:pic>
      <p:sp>
        <p:nvSpPr>
          <p:cNvPr id="8" name="Rectangle 7"/>
          <p:cNvSpPr/>
          <p:nvPr/>
        </p:nvSpPr>
        <p:spPr>
          <a:xfrm>
            <a:off x="5167284" y="1482310"/>
            <a:ext cx="3526587" cy="2862322"/>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j] = V[4, 5] = 7</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 1, j] = V[3, 5] = 7</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j] = 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 1, j],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so don’t select </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30000" noProof="0" dirty="0" err="1">
                <a:ln>
                  <a:noFill/>
                </a:ln>
                <a:solidFill>
                  <a:srgbClr val="000000"/>
                </a:solidFill>
                <a:effectLst/>
                <a:uLnTx/>
                <a:uFillTx/>
                <a:latin typeface="Trebuchet MS" panose="020B0603020202020204" pitchFamily="34" charset="0"/>
                <a:sym typeface="Arial"/>
              </a:rPr>
              <a:t>th</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item and check for the previous item.</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so i = i – 1 = 4 – 1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Solution Set S = {  }</a:t>
            </a:r>
          </a:p>
        </p:txBody>
      </p:sp>
    </p:spTree>
    <p:extLst>
      <p:ext uri="{BB962C8B-B14F-4D97-AF65-F5344CB8AC3E}">
        <p14:creationId xmlns:p14="http://schemas.microsoft.com/office/powerpoint/2010/main" val="259438811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553968"/>
          </a:xfrm>
          <a:prstGeom prst="rect">
            <a:avLst/>
          </a:prstGeom>
          <a:noFill/>
          <a:ln>
            <a:noFill/>
          </a:ln>
        </p:spPr>
        <p:txBody>
          <a:bodyPr spcFirstLastPara="1" wrap="square" lIns="91425" tIns="91425" rIns="91425" bIns="91425" anchor="t" anchorCtr="0">
            <a:spAutoFit/>
          </a:bodyPr>
          <a:lstStyle/>
          <a:p>
            <a:pPr fontAlgn="base"/>
            <a:r>
              <a:rPr kumimoji="0" lang="en-IN" sz="2400" b="1" i="0" u="none" strike="noStrike" kern="0" cap="none" spc="0" normalizeH="0" baseline="0" noProof="0" dirty="0">
                <a:ln>
                  <a:noFill/>
                </a:ln>
                <a:solidFill>
                  <a:schemeClr val="bg1"/>
                </a:solidFill>
                <a:effectLst/>
                <a:uLnTx/>
                <a:uFillTx/>
                <a:latin typeface="Corbel" panose="020B0503020204020204" pitchFamily="34" charset="0"/>
                <a:sym typeface="Arial"/>
              </a:rPr>
              <a:t>Knapsack</a:t>
            </a:r>
            <a:r>
              <a:rPr kumimoji="0" lang="en-IN" sz="2400" b="0" i="0" u="none" strike="noStrike" kern="0" cap="none" spc="0" normalizeH="0" baseline="0" noProof="0" dirty="0">
                <a:ln>
                  <a:noFill/>
                </a:ln>
                <a:solidFill>
                  <a:schemeClr val="bg1"/>
                </a:solidFill>
                <a:effectLst/>
                <a:uLnTx/>
                <a:uFillTx/>
                <a:latin typeface="Corbel" panose="020B0503020204020204" pitchFamily="34" charset="0"/>
                <a:sym typeface="Arial"/>
              </a:rPr>
              <a:t> </a:t>
            </a:r>
            <a:r>
              <a:rPr kumimoji="0" lang="en-IN" sz="2400" b="1" i="0" u="none" strike="noStrike" kern="0" cap="none" spc="0" normalizeH="0" baseline="0" noProof="0" dirty="0">
                <a:ln>
                  <a:noFill/>
                </a:ln>
                <a:solidFill>
                  <a:schemeClr val="bg1"/>
                </a:solidFill>
                <a:effectLst/>
                <a:uLnTx/>
                <a:uFillTx/>
                <a:latin typeface="Corbel" panose="020B0503020204020204" pitchFamily="34" charset="0"/>
                <a:sym typeface="Arial"/>
              </a:rPr>
              <a:t>problem</a:t>
            </a:r>
            <a:endParaRPr kumimoji="0" lang="en-IN" sz="2400" b="1" i="0" u="none" strike="noStrike" kern="0" cap="none" spc="0" normalizeH="0" baseline="0" noProof="0" dirty="0">
              <a:ln>
                <a:noFill/>
              </a:ln>
              <a:solidFill>
                <a:srgbClr val="FFFFFF"/>
              </a:solidFill>
              <a:effectLst/>
              <a:uLnTx/>
              <a:uFillTx/>
              <a:latin typeface="Proxima Nova" panose="020B0604020202020204" charset="0"/>
              <a:cs typeface="Arial"/>
              <a:sym typeface="Arial"/>
            </a:endParaRPr>
          </a:p>
        </p:txBody>
      </p:sp>
      <p:sp>
        <p:nvSpPr>
          <p:cNvPr id="3" name="Rectangle 2"/>
          <p:cNvSpPr/>
          <p:nvPr/>
        </p:nvSpPr>
        <p:spPr>
          <a:xfrm>
            <a:off x="457671" y="817718"/>
            <a:ext cx="3169107"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1" i="0" u="none" strike="noStrike" kern="0" cap="none" spc="0" normalizeH="0" baseline="0" noProof="0" dirty="0">
                <a:ln>
                  <a:noFill/>
                </a:ln>
                <a:solidFill>
                  <a:srgbClr val="0070C0"/>
                </a:solidFill>
                <a:effectLst/>
                <a:uLnTx/>
                <a:uFillTx/>
                <a:latin typeface="Trebuchet MS" panose="020B0603020202020204" pitchFamily="34" charset="0"/>
                <a:sym typeface="Arial"/>
              </a:rPr>
              <a:t>Step 2 </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sym typeface="Arial"/>
              </a:rPr>
              <a:t>: </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i = 3, j = 5</a:t>
            </a:r>
          </a:p>
        </p:txBody>
      </p:sp>
      <p:sp>
        <p:nvSpPr>
          <p:cNvPr id="8" name="Rectangle 7"/>
          <p:cNvSpPr/>
          <p:nvPr/>
        </p:nvSpPr>
        <p:spPr>
          <a:xfrm>
            <a:off x="4981315" y="1314537"/>
            <a:ext cx="3589267" cy="2862322"/>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j] = V[3, 5] = 7</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 1, j] = V[2, 5] = 7</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j] = 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 1, j],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so don’t select </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30000" noProof="0" dirty="0" err="1">
                <a:ln>
                  <a:noFill/>
                </a:ln>
                <a:solidFill>
                  <a:srgbClr val="000000"/>
                </a:solidFill>
                <a:effectLst/>
                <a:uLnTx/>
                <a:uFillTx/>
                <a:latin typeface="Trebuchet MS" panose="020B0603020202020204" pitchFamily="34" charset="0"/>
                <a:sym typeface="Arial"/>
              </a:rPr>
              <a:t>th</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item and check for the previous item.</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so i = i – 1 = 3 – 1 = 2</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Solution Set S = {  }</a:t>
            </a:r>
          </a:p>
        </p:txBody>
      </p:sp>
      <p:pic>
        <p:nvPicPr>
          <p:cNvPr id="2" name="Picture 1"/>
          <p:cNvPicPr>
            <a:picLocks noChangeAspect="1"/>
          </p:cNvPicPr>
          <p:nvPr/>
        </p:nvPicPr>
        <p:blipFill>
          <a:blip r:embed="rId6"/>
          <a:stretch>
            <a:fillRect/>
          </a:stretch>
        </p:blipFill>
        <p:spPr>
          <a:xfrm>
            <a:off x="349908" y="1366984"/>
            <a:ext cx="4286250" cy="2809875"/>
          </a:xfrm>
          <a:prstGeom prst="rect">
            <a:avLst/>
          </a:prstGeom>
        </p:spPr>
      </p:pic>
    </p:spTree>
    <p:extLst>
      <p:ext uri="{BB962C8B-B14F-4D97-AF65-F5344CB8AC3E}">
        <p14:creationId xmlns:p14="http://schemas.microsoft.com/office/powerpoint/2010/main" val="294488757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553968"/>
          </a:xfrm>
          <a:prstGeom prst="rect">
            <a:avLst/>
          </a:prstGeom>
          <a:noFill/>
          <a:ln>
            <a:noFill/>
          </a:ln>
        </p:spPr>
        <p:txBody>
          <a:bodyPr spcFirstLastPara="1" wrap="square" lIns="91425" tIns="91425" rIns="91425" bIns="91425" anchor="t" anchorCtr="0">
            <a:spAutoFit/>
          </a:bodyPr>
          <a:lstStyle/>
          <a:p>
            <a:pPr fontAlgn="base"/>
            <a:r>
              <a:rPr kumimoji="0" lang="en-IN" sz="2400" b="1" i="0" u="none" strike="noStrike" kern="0" cap="none" spc="0" normalizeH="0" baseline="0" noProof="0" dirty="0">
                <a:ln>
                  <a:noFill/>
                </a:ln>
                <a:solidFill>
                  <a:schemeClr val="bg1"/>
                </a:solidFill>
                <a:effectLst/>
                <a:uLnTx/>
                <a:uFillTx/>
                <a:latin typeface="Corbel" panose="020B0503020204020204" pitchFamily="34" charset="0"/>
                <a:sym typeface="Arial"/>
              </a:rPr>
              <a:t>Knapsack</a:t>
            </a:r>
            <a:r>
              <a:rPr kumimoji="0" lang="en-IN" sz="2400" b="0" i="0" u="none" strike="noStrike" kern="0" cap="none" spc="0" normalizeH="0" baseline="0" noProof="0" dirty="0">
                <a:ln>
                  <a:noFill/>
                </a:ln>
                <a:solidFill>
                  <a:schemeClr val="bg1"/>
                </a:solidFill>
                <a:effectLst/>
                <a:uLnTx/>
                <a:uFillTx/>
                <a:latin typeface="Corbel" panose="020B0503020204020204" pitchFamily="34" charset="0"/>
                <a:sym typeface="Arial"/>
              </a:rPr>
              <a:t> </a:t>
            </a:r>
            <a:r>
              <a:rPr kumimoji="0" lang="en-IN" sz="2400" b="1" i="0" u="none" strike="noStrike" kern="0" cap="none" spc="0" normalizeH="0" baseline="0" noProof="0" dirty="0">
                <a:ln>
                  <a:noFill/>
                </a:ln>
                <a:solidFill>
                  <a:schemeClr val="bg1"/>
                </a:solidFill>
                <a:effectLst/>
                <a:uLnTx/>
                <a:uFillTx/>
                <a:latin typeface="Corbel" panose="020B0503020204020204" pitchFamily="34" charset="0"/>
                <a:sym typeface="Arial"/>
              </a:rPr>
              <a:t>problem</a:t>
            </a:r>
            <a:endParaRPr kumimoji="0" lang="en-IN" sz="2400" b="1" i="0" u="none" strike="noStrike" kern="0" cap="none" spc="0" normalizeH="0" baseline="0" noProof="0" dirty="0">
              <a:ln>
                <a:noFill/>
              </a:ln>
              <a:solidFill>
                <a:srgbClr val="FFFFFF"/>
              </a:solidFill>
              <a:effectLst/>
              <a:uLnTx/>
              <a:uFillTx/>
              <a:latin typeface="Proxima Nova" panose="020B0604020202020204" charset="0"/>
              <a:cs typeface="Arial"/>
              <a:sym typeface="Arial"/>
            </a:endParaRPr>
          </a:p>
        </p:txBody>
      </p:sp>
      <p:sp>
        <p:nvSpPr>
          <p:cNvPr id="3" name="Rectangle 2"/>
          <p:cNvSpPr/>
          <p:nvPr/>
        </p:nvSpPr>
        <p:spPr>
          <a:xfrm>
            <a:off x="285126" y="817718"/>
            <a:ext cx="3341652"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1" i="0" u="none" strike="noStrike" kern="0" cap="none" spc="0" normalizeH="0" baseline="0" noProof="0" dirty="0">
                <a:ln>
                  <a:noFill/>
                </a:ln>
                <a:solidFill>
                  <a:srgbClr val="0070C0"/>
                </a:solidFill>
                <a:effectLst/>
                <a:uLnTx/>
                <a:uFillTx/>
                <a:latin typeface="Trebuchet MS" panose="020B0603020202020204" pitchFamily="34" charset="0"/>
                <a:sym typeface="Arial"/>
              </a:rPr>
              <a:t>Step 3</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sym typeface="Arial"/>
              </a:rPr>
              <a:t> : </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i = 2, j = 5</a:t>
            </a:r>
          </a:p>
        </p:txBody>
      </p:sp>
      <p:sp>
        <p:nvSpPr>
          <p:cNvPr id="8" name="Rectangle 7"/>
          <p:cNvSpPr/>
          <p:nvPr/>
        </p:nvSpPr>
        <p:spPr>
          <a:xfrm>
            <a:off x="4722471" y="971606"/>
            <a:ext cx="3848111" cy="3416320"/>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j] = V[2, 5] = 7</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 1, j] = V[1, 5]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j] ≠ 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 1, j],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so add item Ii = I</a:t>
            </a:r>
            <a:r>
              <a:rPr kumimoji="0" lang="en-IN" sz="18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in solution set.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Reduce problem size j by </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8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j = j – </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8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 j – w</a:t>
            </a:r>
            <a:r>
              <a:rPr kumimoji="0" lang="en-IN" sz="18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 5 – 3 = 2</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i = i – 1 = 2 – 1 = 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Solution Set S = {I</a:t>
            </a:r>
            <a:r>
              <a:rPr kumimoji="0" lang="en-IN" sz="18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p:txBody>
      </p:sp>
      <p:pic>
        <p:nvPicPr>
          <p:cNvPr id="4" name="Picture 3"/>
          <p:cNvPicPr>
            <a:picLocks noChangeAspect="1"/>
          </p:cNvPicPr>
          <p:nvPr/>
        </p:nvPicPr>
        <p:blipFill>
          <a:blip r:embed="rId6"/>
          <a:stretch>
            <a:fillRect/>
          </a:stretch>
        </p:blipFill>
        <p:spPr>
          <a:xfrm>
            <a:off x="285126" y="1316550"/>
            <a:ext cx="4248150" cy="3207165"/>
          </a:xfrm>
          <a:prstGeom prst="rect">
            <a:avLst/>
          </a:prstGeom>
        </p:spPr>
      </p:pic>
    </p:spTree>
    <p:extLst>
      <p:ext uri="{BB962C8B-B14F-4D97-AF65-F5344CB8AC3E}">
        <p14:creationId xmlns:p14="http://schemas.microsoft.com/office/powerpoint/2010/main" val="198030631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6" y="134250"/>
            <a:ext cx="6906784" cy="553968"/>
          </a:xfrm>
          <a:prstGeom prst="rect">
            <a:avLst/>
          </a:prstGeom>
          <a:noFill/>
          <a:ln>
            <a:noFill/>
          </a:ln>
        </p:spPr>
        <p:txBody>
          <a:bodyPr spcFirstLastPara="1" wrap="square" lIns="91425" tIns="91425" rIns="91425" bIns="91425" anchor="t" anchorCtr="0">
            <a:spAutoFit/>
          </a:bodyPr>
          <a:lstStyle/>
          <a:p>
            <a:pPr fontAlgn="base"/>
            <a:r>
              <a:rPr kumimoji="0" lang="en-IN" sz="2400" b="1" i="0" u="none" strike="noStrike" kern="0" cap="none" spc="0" normalizeH="0" baseline="0" noProof="0" dirty="0">
                <a:ln>
                  <a:noFill/>
                </a:ln>
                <a:solidFill>
                  <a:schemeClr val="bg1"/>
                </a:solidFill>
                <a:effectLst/>
                <a:uLnTx/>
                <a:uFillTx/>
                <a:latin typeface="Corbel" panose="020B0503020204020204" pitchFamily="34" charset="0"/>
                <a:sym typeface="Arial"/>
              </a:rPr>
              <a:t>Knapsack</a:t>
            </a:r>
            <a:r>
              <a:rPr kumimoji="0" lang="en-IN" sz="2400" b="0" i="0" u="none" strike="noStrike" kern="0" cap="none" spc="0" normalizeH="0" baseline="0" noProof="0" dirty="0">
                <a:ln>
                  <a:noFill/>
                </a:ln>
                <a:solidFill>
                  <a:schemeClr val="bg1"/>
                </a:solidFill>
                <a:effectLst/>
                <a:uLnTx/>
                <a:uFillTx/>
                <a:latin typeface="Corbel" panose="020B0503020204020204" pitchFamily="34" charset="0"/>
                <a:sym typeface="Arial"/>
              </a:rPr>
              <a:t> </a:t>
            </a:r>
            <a:r>
              <a:rPr kumimoji="0" lang="en-IN" sz="2400" b="1" i="0" u="none" strike="noStrike" kern="0" cap="none" spc="0" normalizeH="0" baseline="0" noProof="0" dirty="0">
                <a:ln>
                  <a:noFill/>
                </a:ln>
                <a:solidFill>
                  <a:schemeClr val="bg1"/>
                </a:solidFill>
                <a:effectLst/>
                <a:uLnTx/>
                <a:uFillTx/>
                <a:latin typeface="Corbel" panose="020B0503020204020204" pitchFamily="34" charset="0"/>
                <a:sym typeface="Arial"/>
              </a:rPr>
              <a:t>problem</a:t>
            </a:r>
            <a:endParaRPr kumimoji="0" lang="en-IN" sz="2400" b="1" i="0" u="none" strike="noStrike" kern="0" cap="none" spc="0" normalizeH="0" baseline="0" noProof="0" dirty="0">
              <a:ln>
                <a:noFill/>
              </a:ln>
              <a:solidFill>
                <a:srgbClr val="FFFFFF"/>
              </a:solidFill>
              <a:effectLst/>
              <a:uLnTx/>
              <a:uFillTx/>
              <a:latin typeface="Proxima Nova" panose="020B0604020202020204" charset="0"/>
              <a:cs typeface="Arial"/>
              <a:sym typeface="Arial"/>
            </a:endParaRPr>
          </a:p>
        </p:txBody>
      </p:sp>
      <p:sp>
        <p:nvSpPr>
          <p:cNvPr id="3" name="Rectangle 2"/>
          <p:cNvSpPr/>
          <p:nvPr/>
        </p:nvSpPr>
        <p:spPr>
          <a:xfrm>
            <a:off x="285126" y="817718"/>
            <a:ext cx="3341652"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sym typeface="Arial"/>
              </a:rPr>
              <a:t>Step 4 : </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i = 1, j = 2</a:t>
            </a:r>
          </a:p>
        </p:txBody>
      </p:sp>
      <p:sp>
        <p:nvSpPr>
          <p:cNvPr id="8" name="Rectangle 7"/>
          <p:cNvSpPr/>
          <p:nvPr/>
        </p:nvSpPr>
        <p:spPr>
          <a:xfrm>
            <a:off x="4631744" y="663901"/>
            <a:ext cx="4396509" cy="4247317"/>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V[1, j] = V[1, 2] = 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 1, j] = V[0, 2] = 0</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j] ≠ V[</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 1, j],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so add item Ii = I</a:t>
            </a:r>
            <a:r>
              <a:rPr kumimoji="0" lang="en-IN" sz="18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in solution set.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Reduce problem size j by </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8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j = j – </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w</a:t>
            </a:r>
            <a:r>
              <a:rPr kumimoji="0" lang="en-IN" sz="1800" b="0" i="0" u="none" strike="noStrike" kern="0" cap="none" spc="0" normalizeH="0" baseline="-25000" noProof="0" dirty="0" err="1">
                <a:ln>
                  <a:noFill/>
                </a:ln>
                <a:solidFill>
                  <a:srgbClr val="000000"/>
                </a:solidFill>
                <a:effectLst/>
                <a:uLnTx/>
                <a:uFillTx/>
                <a:latin typeface="Trebuchet MS" panose="020B0603020202020204" pitchFamily="34" charset="0"/>
                <a:sym typeface="Arial"/>
              </a:rPr>
              <a:t>i</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 j – w</a:t>
            </a:r>
            <a:r>
              <a:rPr kumimoji="0" lang="en-IN" sz="18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 2 – 2 = 0</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Solution Set S = {I</a:t>
            </a:r>
            <a:r>
              <a:rPr kumimoji="0" lang="en-IN" sz="1800" b="0"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 I</a:t>
            </a:r>
            <a:r>
              <a:rPr kumimoji="0" lang="en-IN" sz="1800" b="0"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Problem size has reached to 0,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t>so final solution is</a:t>
            </a:r>
            <a:b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sym typeface="Arial"/>
              </a:rPr>
            </a:b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sym typeface="Arial"/>
              </a:rPr>
              <a:t>S = {I</a:t>
            </a:r>
            <a:r>
              <a:rPr kumimoji="0" lang="en-IN" sz="1800" b="1"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sym typeface="Arial"/>
              </a:rPr>
              <a:t>, I</a:t>
            </a:r>
            <a:r>
              <a:rPr kumimoji="0" lang="en-IN" sz="1800" b="1"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sym typeface="Arial"/>
              </a:rPr>
              <a:t>} Earned profit = P</a:t>
            </a:r>
            <a:r>
              <a:rPr kumimoji="0" lang="en-IN" sz="1800" b="1" i="0" u="none" strike="noStrike" kern="0" cap="none" spc="0" normalizeH="0" baseline="-25000" noProof="0" dirty="0">
                <a:ln>
                  <a:noFill/>
                </a:ln>
                <a:solidFill>
                  <a:srgbClr val="000000"/>
                </a:solidFill>
                <a:effectLst/>
                <a:uLnTx/>
                <a:uFillTx/>
                <a:latin typeface="Trebuchet MS" panose="020B0603020202020204" pitchFamily="34" charset="0"/>
                <a:sym typeface="Arial"/>
              </a:rPr>
              <a:t>1</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sym typeface="Arial"/>
              </a:rPr>
              <a:t> + P</a:t>
            </a:r>
            <a:r>
              <a:rPr kumimoji="0" lang="en-IN" sz="1800" b="1" i="0" u="none" strike="noStrike" kern="0" cap="none" spc="0" normalizeH="0" baseline="-25000" noProof="0" dirty="0">
                <a:ln>
                  <a:noFill/>
                </a:ln>
                <a:solidFill>
                  <a:srgbClr val="000000"/>
                </a:solidFill>
                <a:effectLst/>
                <a:uLnTx/>
                <a:uFillTx/>
                <a:latin typeface="Trebuchet MS" panose="020B0603020202020204" pitchFamily="34" charset="0"/>
                <a:sym typeface="Arial"/>
              </a:rPr>
              <a:t>2</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sym typeface="Arial"/>
              </a:rPr>
              <a:t> = 7</a:t>
            </a:r>
          </a:p>
        </p:txBody>
      </p:sp>
      <p:pic>
        <p:nvPicPr>
          <p:cNvPr id="2" name="Picture 1"/>
          <p:cNvPicPr>
            <a:picLocks noChangeAspect="1"/>
          </p:cNvPicPr>
          <p:nvPr/>
        </p:nvPicPr>
        <p:blipFill>
          <a:blip r:embed="rId6"/>
          <a:stretch>
            <a:fillRect/>
          </a:stretch>
        </p:blipFill>
        <p:spPr>
          <a:xfrm>
            <a:off x="272634" y="1527546"/>
            <a:ext cx="4248150" cy="3056029"/>
          </a:xfrm>
          <a:prstGeom prst="rect">
            <a:avLst/>
          </a:prstGeom>
        </p:spPr>
      </p:pic>
    </p:spTree>
    <p:extLst>
      <p:ext uri="{BB962C8B-B14F-4D97-AF65-F5344CB8AC3E}">
        <p14:creationId xmlns:p14="http://schemas.microsoft.com/office/powerpoint/2010/main" val="340339800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4" name="TextBox 3">
            <a:extLst>
              <a:ext uri="{FF2B5EF4-FFF2-40B4-BE49-F238E27FC236}">
                <a16:creationId xmlns:a16="http://schemas.microsoft.com/office/drawing/2014/main" id="{2DCA3047-24A1-3A5E-8101-81C90BBDFA6E}"/>
              </a:ext>
            </a:extLst>
          </p:cNvPr>
          <p:cNvSpPr txBox="1"/>
          <p:nvPr/>
        </p:nvSpPr>
        <p:spPr>
          <a:xfrm>
            <a:off x="234462" y="150731"/>
            <a:ext cx="4801951" cy="523220"/>
          </a:xfrm>
          <a:prstGeom prst="rect">
            <a:avLst/>
          </a:prstGeom>
          <a:noFill/>
        </p:spPr>
        <p:txBody>
          <a:bodyPr wrap="square">
            <a:spAutoFit/>
          </a:bodyPr>
          <a:lstStyle/>
          <a:p>
            <a:r>
              <a:rPr kumimoji="0" lang="en-IN" sz="2800" b="1" i="0" u="none" strike="noStrike" kern="0" cap="none" spc="0" normalizeH="0" baseline="0" noProof="0" dirty="0">
                <a:ln>
                  <a:noFill/>
                </a:ln>
                <a:solidFill>
                  <a:schemeClr val="bg1"/>
                </a:solidFill>
                <a:effectLst/>
                <a:uLnTx/>
                <a:uFillTx/>
                <a:latin typeface="Proxima Nova" panose="020B0604020202020204" charset="0"/>
                <a:sym typeface="Arial"/>
              </a:rPr>
              <a:t>Assembly </a:t>
            </a:r>
            <a:r>
              <a:rPr kumimoji="0" lang="en-IN" sz="2800" b="1" i="0" u="none" strike="noStrike" kern="0" cap="none" spc="0" normalizeH="0" baseline="0" noProof="0" dirty="0" smtClean="0">
                <a:ln>
                  <a:noFill/>
                </a:ln>
                <a:solidFill>
                  <a:schemeClr val="bg1"/>
                </a:solidFill>
                <a:effectLst/>
                <a:uLnTx/>
                <a:uFillTx/>
                <a:latin typeface="Proxima Nova" panose="020B0604020202020204" charset="0"/>
                <a:sym typeface="Arial"/>
              </a:rPr>
              <a:t>Line Scheduling </a:t>
            </a:r>
            <a:endParaRPr lang="en-IN" sz="2000" b="1" dirty="0">
              <a:solidFill>
                <a:schemeClr val="bg1"/>
              </a:solidFill>
              <a:latin typeface="Proxima Nova" panose="020B0604020202020204" charset="0"/>
            </a:endParaRPr>
          </a:p>
        </p:txBody>
      </p:sp>
      <p:sp>
        <p:nvSpPr>
          <p:cNvPr id="8" name="TextBox 7">
            <a:extLst>
              <a:ext uri="{FF2B5EF4-FFF2-40B4-BE49-F238E27FC236}">
                <a16:creationId xmlns:a16="http://schemas.microsoft.com/office/drawing/2014/main" id="{5A8EE1DD-DF14-68A1-82B8-C80958C55DC6}"/>
              </a:ext>
            </a:extLst>
          </p:cNvPr>
          <p:cNvSpPr txBox="1"/>
          <p:nvPr/>
        </p:nvSpPr>
        <p:spPr>
          <a:xfrm>
            <a:off x="391566" y="1022115"/>
            <a:ext cx="6618834" cy="461665"/>
          </a:xfrm>
          <a:prstGeom prst="rect">
            <a:avLst/>
          </a:prstGeom>
          <a:noFill/>
        </p:spPr>
        <p:txBody>
          <a:bodyPr wrap="square">
            <a:spAutoFit/>
          </a:bodyPr>
          <a:lstStyle/>
          <a:p>
            <a:pPr algn="l" fontAlgn="base"/>
            <a:r>
              <a:rPr lang="en-IN" sz="2400" b="1" i="0" dirty="0">
                <a:solidFill>
                  <a:schemeClr val="accent1">
                    <a:lumMod val="50000"/>
                  </a:schemeClr>
                </a:solidFill>
                <a:effectLst/>
                <a:latin typeface="Trebuchet MS" panose="020B0603020202020204" pitchFamily="34" charset="0"/>
              </a:rPr>
              <a:t>What is Assembly Line Scheduling? </a:t>
            </a:r>
          </a:p>
        </p:txBody>
      </p:sp>
      <p:sp>
        <p:nvSpPr>
          <p:cNvPr id="10" name="TextBox 9">
            <a:extLst>
              <a:ext uri="{FF2B5EF4-FFF2-40B4-BE49-F238E27FC236}">
                <a16:creationId xmlns:a16="http://schemas.microsoft.com/office/drawing/2014/main" id="{D86EB201-494D-249D-F00D-E4414DCCFD1C}"/>
              </a:ext>
            </a:extLst>
          </p:cNvPr>
          <p:cNvSpPr txBox="1"/>
          <p:nvPr/>
        </p:nvSpPr>
        <p:spPr>
          <a:xfrm>
            <a:off x="391566" y="1665986"/>
            <a:ext cx="8467309" cy="286232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dirty="0">
                <a:latin typeface="Trebuchet MS" panose="020B0603020202020204" pitchFamily="34" charset="0"/>
              </a:rPr>
              <a:t>Manufacturing of large items like car, trucks etc. generally undergoes through multiple station, where each station is responsible for assembling particular part only. </a:t>
            </a:r>
          </a:p>
          <a:p>
            <a:pPr marL="285750" indent="-285750">
              <a:lnSpc>
                <a:spcPct val="150000"/>
              </a:lnSpc>
              <a:buFont typeface="Arial" panose="020B0604020202020204" pitchFamily="34" charset="0"/>
              <a:buChar char="•"/>
            </a:pPr>
            <a:r>
              <a:rPr lang="en-IN" sz="2000" dirty="0">
                <a:latin typeface="Trebuchet MS" panose="020B0603020202020204" pitchFamily="34" charset="0"/>
              </a:rPr>
              <a:t>Entire product will be ready after it goes through predefined n stations in sequence.</a:t>
            </a:r>
          </a:p>
          <a:p>
            <a:pPr marL="285750" indent="-285750">
              <a:lnSpc>
                <a:spcPct val="150000"/>
              </a:lnSpc>
              <a:buFont typeface="Arial" panose="020B0604020202020204" pitchFamily="34" charset="0"/>
              <a:buChar char="•"/>
            </a:pPr>
            <a:endParaRPr lang="en-IN" sz="2000" dirty="0">
              <a:latin typeface="Trebuchet MS" panose="020B0603020202020204" pitchFamily="34" charset="0"/>
            </a:endParaRPr>
          </a:p>
        </p:txBody>
      </p:sp>
    </p:spTree>
    <p:extLst>
      <p:ext uri="{BB962C8B-B14F-4D97-AF65-F5344CB8AC3E}">
        <p14:creationId xmlns:p14="http://schemas.microsoft.com/office/powerpoint/2010/main" val="391035754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4" name="TextBox 3">
            <a:extLst>
              <a:ext uri="{FF2B5EF4-FFF2-40B4-BE49-F238E27FC236}">
                <a16:creationId xmlns:a16="http://schemas.microsoft.com/office/drawing/2014/main" id="{0304B89C-F92E-8740-E2C5-1B5E72E427BB}"/>
              </a:ext>
            </a:extLst>
          </p:cNvPr>
          <p:cNvSpPr txBox="1"/>
          <p:nvPr/>
        </p:nvSpPr>
        <p:spPr>
          <a:xfrm>
            <a:off x="420548" y="1019021"/>
            <a:ext cx="7959523" cy="2862322"/>
          </a:xfrm>
          <a:prstGeom prst="rect">
            <a:avLst/>
          </a:prstGeom>
          <a:noFill/>
        </p:spPr>
        <p:txBody>
          <a:bodyPr wrap="square">
            <a:spAutoFit/>
          </a:bodyPr>
          <a:lstStyle/>
          <a:p>
            <a:pPr marL="342900" indent="-342900" algn="just" fontAlgn="base">
              <a:spcBef>
                <a:spcPts val="600"/>
              </a:spcBef>
              <a:spcAft>
                <a:spcPts val="600"/>
              </a:spcAft>
              <a:buFont typeface="Arial" panose="020B0604020202020204" pitchFamily="34" charset="0"/>
              <a:buChar char="•"/>
            </a:pPr>
            <a:r>
              <a:rPr lang="en-IN" sz="2000" b="0" i="0" dirty="0">
                <a:solidFill>
                  <a:schemeClr val="tx1"/>
                </a:solidFill>
                <a:effectLst/>
                <a:latin typeface="Trebuchet MS" panose="020B0603020202020204" pitchFamily="34" charset="0"/>
              </a:rPr>
              <a:t>Determine which station should be selected from assembly line 1 and which to choose from assembly line </a:t>
            </a:r>
            <a:r>
              <a:rPr lang="en-IN" sz="2000" b="1" i="0" u="sng" dirty="0">
                <a:solidFill>
                  <a:srgbClr val="0070C0"/>
                </a:solidFill>
                <a:effectLst/>
                <a:latin typeface="Trebuchet MS" panose="020B0603020202020204" pitchFamily="34" charset="0"/>
              </a:rPr>
              <a:t>2 in order to minimize the total time</a:t>
            </a:r>
            <a:r>
              <a:rPr lang="en-IN" sz="2000" b="1" i="0" dirty="0">
                <a:solidFill>
                  <a:srgbClr val="0070C0"/>
                </a:solidFill>
                <a:effectLst/>
                <a:latin typeface="Trebuchet MS" panose="020B0603020202020204" pitchFamily="34" charset="0"/>
              </a:rPr>
              <a:t> </a:t>
            </a:r>
            <a:r>
              <a:rPr lang="en-IN" sz="2000" b="0" i="0" dirty="0">
                <a:solidFill>
                  <a:schemeClr val="tx1"/>
                </a:solidFill>
                <a:effectLst/>
                <a:latin typeface="Trebuchet MS" panose="020B0603020202020204" pitchFamily="34" charset="0"/>
              </a:rPr>
              <a:t>to build the entire product</a:t>
            </a:r>
            <a:r>
              <a:rPr lang="en-IN" sz="2000" b="0" i="0" dirty="0" smtClean="0">
                <a:solidFill>
                  <a:schemeClr val="tx1"/>
                </a:solidFill>
                <a:effectLst/>
                <a:latin typeface="Trebuchet MS" panose="020B0603020202020204" pitchFamily="34" charset="0"/>
              </a:rPr>
              <a:t>.</a:t>
            </a:r>
          </a:p>
          <a:p>
            <a:pPr marL="342900" indent="-342900" algn="just" fontAlgn="base">
              <a:spcBef>
                <a:spcPts val="600"/>
              </a:spcBef>
              <a:spcAft>
                <a:spcPts val="600"/>
              </a:spcAft>
              <a:buFont typeface="Arial" panose="020B0604020202020204" pitchFamily="34" charset="0"/>
              <a:buChar char="•"/>
            </a:pPr>
            <a:r>
              <a:rPr lang="en-IN" sz="2000" b="0" i="0" dirty="0" smtClean="0">
                <a:solidFill>
                  <a:schemeClr val="tx1"/>
                </a:solidFill>
                <a:effectLst/>
                <a:latin typeface="Trebuchet MS" panose="020B0603020202020204" pitchFamily="34" charset="0"/>
              </a:rPr>
              <a:t>Selecting stations by randomly is quite infeasible. If there are n stations, unfortunately there are </a:t>
            </a:r>
            <a:r>
              <a:rPr lang="en-IN" sz="2000" b="0" i="0" dirty="0" smtClean="0">
                <a:solidFill>
                  <a:srgbClr val="0070C0"/>
                </a:solidFill>
                <a:effectLst/>
                <a:latin typeface="Trebuchet MS" panose="020B0603020202020204" pitchFamily="34" charset="0"/>
              </a:rPr>
              <a:t>2</a:t>
            </a:r>
            <a:r>
              <a:rPr lang="en-IN" sz="2000" b="0" i="0" baseline="30000" dirty="0" smtClean="0">
                <a:solidFill>
                  <a:srgbClr val="0070C0"/>
                </a:solidFill>
                <a:effectLst/>
                <a:latin typeface="Trebuchet MS" panose="020B0603020202020204" pitchFamily="34" charset="0"/>
              </a:rPr>
              <a:t>n</a:t>
            </a:r>
            <a:r>
              <a:rPr lang="en-IN" sz="2000" b="0" i="0" dirty="0" smtClean="0">
                <a:solidFill>
                  <a:srgbClr val="0070C0"/>
                </a:solidFill>
                <a:effectLst/>
                <a:latin typeface="Trebuchet MS" panose="020B0603020202020204" pitchFamily="34" charset="0"/>
              </a:rPr>
              <a:t> possible </a:t>
            </a:r>
            <a:r>
              <a:rPr lang="en-IN" sz="2000" b="0" i="0" dirty="0" smtClean="0">
                <a:solidFill>
                  <a:schemeClr val="tx1"/>
                </a:solidFill>
                <a:effectLst/>
                <a:latin typeface="Trebuchet MS" panose="020B0603020202020204" pitchFamily="34" charset="0"/>
              </a:rPr>
              <a:t>ways to choose stations. </a:t>
            </a:r>
          </a:p>
          <a:p>
            <a:pPr marL="342900" indent="-342900" algn="just" fontAlgn="base">
              <a:spcBef>
                <a:spcPts val="600"/>
              </a:spcBef>
              <a:spcAft>
                <a:spcPts val="600"/>
              </a:spcAft>
              <a:buFont typeface="Arial" panose="020B0604020202020204" pitchFamily="34" charset="0"/>
              <a:buChar char="•"/>
            </a:pPr>
            <a:r>
              <a:rPr lang="en-IN" sz="2000" b="0" i="0" dirty="0" smtClean="0">
                <a:solidFill>
                  <a:schemeClr val="tx1"/>
                </a:solidFill>
                <a:effectLst/>
                <a:latin typeface="Trebuchet MS" panose="020B0603020202020204" pitchFamily="34" charset="0"/>
              </a:rPr>
              <a:t>Random selection takes </a:t>
            </a:r>
            <a:r>
              <a:rPr lang="en-IN" sz="2000" b="0" i="0" dirty="0" smtClean="0">
                <a:solidFill>
                  <a:srgbClr val="0070C0"/>
                </a:solidFill>
                <a:effectLst/>
                <a:latin typeface="Trebuchet MS" panose="020B0603020202020204" pitchFamily="34" charset="0"/>
              </a:rPr>
              <a:t>O(2</a:t>
            </a:r>
            <a:r>
              <a:rPr lang="en-IN" sz="2000" b="0" i="0" baseline="30000" dirty="0" smtClean="0">
                <a:solidFill>
                  <a:srgbClr val="0070C0"/>
                </a:solidFill>
                <a:effectLst/>
                <a:latin typeface="Trebuchet MS" panose="020B0603020202020204" pitchFamily="34" charset="0"/>
              </a:rPr>
              <a:t>n</a:t>
            </a:r>
            <a:r>
              <a:rPr lang="en-IN" sz="2000" b="0" i="0" dirty="0" smtClean="0">
                <a:solidFill>
                  <a:srgbClr val="0070C0"/>
                </a:solidFill>
                <a:effectLst/>
                <a:latin typeface="Trebuchet MS" panose="020B0603020202020204" pitchFamily="34" charset="0"/>
              </a:rPr>
              <a:t>) </a:t>
            </a:r>
            <a:r>
              <a:rPr lang="en-IN" sz="2000" b="0" i="0" dirty="0" smtClean="0">
                <a:solidFill>
                  <a:schemeClr val="tx1"/>
                </a:solidFill>
                <a:effectLst/>
                <a:latin typeface="Trebuchet MS" panose="020B0603020202020204" pitchFamily="34" charset="0"/>
              </a:rPr>
              <a:t>time, it is not acceptable when n is large.</a:t>
            </a:r>
            <a:endParaRPr lang="en-IN" sz="2000" b="0" i="0" dirty="0">
              <a:solidFill>
                <a:schemeClr val="tx1"/>
              </a:solidFill>
              <a:effectLst/>
              <a:latin typeface="Trebuchet MS" panose="020B0603020202020204" pitchFamily="34" charset="0"/>
            </a:endParaRPr>
          </a:p>
        </p:txBody>
      </p:sp>
      <p:sp>
        <p:nvSpPr>
          <p:cNvPr id="6" name="TextBox 5">
            <a:extLst>
              <a:ext uri="{FF2B5EF4-FFF2-40B4-BE49-F238E27FC236}">
                <a16:creationId xmlns:a16="http://schemas.microsoft.com/office/drawing/2014/main" id="{D2F40A59-A75B-A11A-7ADA-AACE8ACD41E7}"/>
              </a:ext>
            </a:extLst>
          </p:cNvPr>
          <p:cNvSpPr txBox="1"/>
          <p:nvPr/>
        </p:nvSpPr>
        <p:spPr>
          <a:xfrm>
            <a:off x="169985" y="176531"/>
            <a:ext cx="465406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800" b="1" dirty="0">
                <a:solidFill>
                  <a:schemeClr val="bg1"/>
                </a:solidFill>
                <a:latin typeface="Proxima Nova" panose="020B0604020202020204" charset="0"/>
              </a:rPr>
              <a:t>Assembly line scheduling </a:t>
            </a:r>
          </a:p>
        </p:txBody>
      </p:sp>
    </p:spTree>
    <p:extLst>
      <p:ext uri="{BB962C8B-B14F-4D97-AF65-F5344CB8AC3E}">
        <p14:creationId xmlns:p14="http://schemas.microsoft.com/office/powerpoint/2010/main" val="406844468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9525"/>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55BED87-1506-88F2-BE30-F4271F139C56}"/>
                  </a:ext>
                </a:extLst>
              </p:cNvPr>
              <p:cNvSpPr txBox="1"/>
              <p:nvPr/>
            </p:nvSpPr>
            <p:spPr>
              <a:xfrm>
                <a:off x="285125" y="1162890"/>
                <a:ext cx="8573750" cy="2485296"/>
              </a:xfrm>
              <a:prstGeom prst="rect">
                <a:avLst/>
              </a:prstGeom>
              <a:noFill/>
            </p:spPr>
            <p:txBody>
              <a:bodyPr wrap="square">
                <a:spAutoFit/>
              </a:bodyPr>
              <a:lstStyle/>
              <a:p>
                <a:pPr marL="143997" marR="0" lvl="0" algn="l" defTabSz="1219170" rtl="0" eaLnBrk="1" fontAlgn="auto" latinLnBrk="0" hangingPunct="1">
                  <a:lnSpc>
                    <a:spcPct val="90000"/>
                  </a:lnSpc>
                  <a:spcBef>
                    <a:spcPts val="1889"/>
                  </a:spcBef>
                  <a:spcAft>
                    <a:spcPts val="0"/>
                  </a:spcAft>
                  <a:buClr>
                    <a:srgbClr val="000000"/>
                  </a:buClr>
                  <a:buSzPct val="45000"/>
                  <a:tabLst/>
                  <a:defRPr/>
                </a:pPr>
                <a:r>
                  <a:rPr lang="en-US" sz="2000" kern="1200" dirty="0">
                    <a:solidFill>
                      <a:prstClr val="black"/>
                    </a:solidFill>
                    <a:latin typeface="Trebuchet MS" panose="020B0603020202020204" pitchFamily="34" charset="0"/>
                  </a:rPr>
                  <a:t>Consider the below example,</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000" b="0" i="0" u="none" strike="noStrike" kern="1200" cap="none" spc="0" normalizeH="0" baseline="0" noProof="0" dirty="0">
                    <a:ln>
                      <a:noFill/>
                    </a:ln>
                    <a:solidFill>
                      <a:prstClr val="black"/>
                    </a:solidFill>
                    <a:effectLst/>
                    <a:uLnTx/>
                    <a:uFillTx/>
                    <a:latin typeface="Trebuchet MS" panose="020B0603020202020204" pitchFamily="34" charset="0"/>
                  </a:rPr>
                  <a:t>An automobile chassis enters each assembly line, </a:t>
                </a:r>
                <a:r>
                  <a:rPr kumimoji="0" lang="en-US" sz="2000" b="1" i="0" u="none" strike="noStrike" kern="1200" cap="none" spc="0" normalizeH="0" baseline="0" noProof="0" dirty="0">
                    <a:ln>
                      <a:noFill/>
                    </a:ln>
                    <a:solidFill>
                      <a:srgbClr val="0070C0"/>
                    </a:solidFill>
                    <a:effectLst/>
                    <a:uLnTx/>
                    <a:uFillTx/>
                    <a:latin typeface="Trebuchet MS" panose="020B0603020202020204" pitchFamily="34" charset="0"/>
                  </a:rPr>
                  <a:t>has parts added to it at a number of stations</a:t>
                </a:r>
                <a:r>
                  <a:rPr kumimoji="0" lang="en-US" sz="2000" b="0" i="0" u="none" strike="noStrike" kern="1200" cap="none" spc="0" normalizeH="0" baseline="0" noProof="0" dirty="0">
                    <a:ln>
                      <a:noFill/>
                    </a:ln>
                    <a:solidFill>
                      <a:srgbClr val="0070C0"/>
                    </a:solidFill>
                    <a:effectLst/>
                    <a:uLnTx/>
                    <a:uFillTx/>
                    <a:latin typeface="Trebuchet MS" panose="020B0603020202020204" pitchFamily="34" charset="0"/>
                  </a:rPr>
                  <a:t>,</a:t>
                </a:r>
                <a:r>
                  <a:rPr kumimoji="0" lang="en-US" sz="2000" b="0" i="0" u="none" strike="noStrike" kern="1200" cap="none" spc="0" normalizeH="0" baseline="0" noProof="0" dirty="0">
                    <a:ln>
                      <a:noFill/>
                    </a:ln>
                    <a:solidFill>
                      <a:prstClr val="black"/>
                    </a:solidFill>
                    <a:effectLst/>
                    <a:uLnTx/>
                    <a:uFillTx/>
                    <a:latin typeface="Trebuchet MS" panose="020B0603020202020204" pitchFamily="34" charset="0"/>
                  </a:rPr>
                  <a:t> and a finished auto exits at the end of the line. </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000" b="0" i="0" u="none" strike="noStrike" kern="1200" cap="none" spc="0" normalizeH="0" baseline="0" noProof="0" dirty="0">
                    <a:ln>
                      <a:noFill/>
                    </a:ln>
                    <a:solidFill>
                      <a:prstClr val="black"/>
                    </a:solidFill>
                    <a:effectLst/>
                    <a:uLnTx/>
                    <a:uFillTx/>
                    <a:latin typeface="Trebuchet MS" panose="020B0603020202020204" pitchFamily="34" charset="0"/>
                  </a:rPr>
                  <a:t>There are two assembly lines, numbered </a:t>
                </a:r>
                <a14:m>
                  <m:oMath xmlns:m="http://schemas.openxmlformats.org/officeDocument/2006/math">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𝒊</m:t>
                    </m:r>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 = </m:t>
                    </m:r>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𝟏</m:t>
                    </m:r>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 </m:t>
                    </m:r>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𝟐</m:t>
                    </m:r>
                  </m:oMath>
                </a14:m>
                <a:r>
                  <a:rPr kumimoji="0" lang="en-US" sz="2000" b="1" i="0" u="none" strike="noStrike" kern="1200" cap="none" spc="0" normalizeH="0" baseline="0" noProof="0" dirty="0">
                    <a:ln>
                      <a:noFill/>
                    </a:ln>
                    <a:solidFill>
                      <a:srgbClr val="FF0000"/>
                    </a:solidFill>
                    <a:effectLst/>
                    <a:uLnTx/>
                    <a:uFillTx/>
                    <a:latin typeface="Trebuchet MS" panose="020B0603020202020204" pitchFamily="34" charset="0"/>
                  </a:rPr>
                  <a:t>.</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000" b="0" i="0" u="none" strike="noStrike" kern="1200" cap="none" spc="0" normalizeH="0" baseline="0" noProof="0" dirty="0">
                    <a:ln>
                      <a:noFill/>
                    </a:ln>
                    <a:solidFill>
                      <a:prstClr val="black"/>
                    </a:solidFill>
                    <a:effectLst/>
                    <a:uLnTx/>
                    <a:uFillTx/>
                    <a:latin typeface="Trebuchet MS" panose="020B0603020202020204" pitchFamily="34" charset="0"/>
                  </a:rPr>
                  <a:t>Each assembly line has </a:t>
                </a:r>
                <a14:m>
                  <m:oMath xmlns:m="http://schemas.openxmlformats.org/officeDocument/2006/math">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𝒏</m:t>
                    </m:r>
                  </m:oMath>
                </a14:m>
                <a:r>
                  <a:rPr kumimoji="0" lang="en-US" sz="2000" b="0" i="0" u="none" strike="noStrike" kern="1200" cap="none" spc="0" normalizeH="0" baseline="0" noProof="0" dirty="0">
                    <a:ln>
                      <a:noFill/>
                    </a:ln>
                    <a:solidFill>
                      <a:prstClr val="black"/>
                    </a:solidFill>
                    <a:effectLst/>
                    <a:uLnTx/>
                    <a:uFillTx/>
                    <a:latin typeface="Trebuchet MS" panose="020B0603020202020204" pitchFamily="34" charset="0"/>
                  </a:rPr>
                  <a:t> stations, numbered </a:t>
                </a:r>
                <a14:m>
                  <m:oMath xmlns:m="http://schemas.openxmlformats.org/officeDocument/2006/math">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𝒋</m:t>
                    </m:r>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 = </m:t>
                    </m:r>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𝟏</m:t>
                    </m:r>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 </m:t>
                    </m:r>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𝟐</m:t>
                    </m:r>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m:t>
                    </m:r>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rPr>
                      <m:t>𝒏</m:t>
                    </m:r>
                  </m:oMath>
                </a14:m>
                <a:endParaRPr kumimoji="0" lang="en-US" sz="2000" b="1" i="0" u="none" strike="noStrike" kern="1200" cap="none" spc="0" normalizeH="0" baseline="0" noProof="0" dirty="0">
                  <a:ln>
                    <a:noFill/>
                  </a:ln>
                  <a:solidFill>
                    <a:srgbClr val="FF0000"/>
                  </a:solidFill>
                  <a:effectLst/>
                  <a:uLnTx/>
                  <a:uFillTx/>
                  <a:latin typeface="Trebuchet MS" panose="020B0603020202020204" pitchFamily="34" charset="0"/>
                </a:endParaRPr>
              </a:p>
            </p:txBody>
          </p:sp>
        </mc:Choice>
        <mc:Fallback xmlns="">
          <p:sp>
            <p:nvSpPr>
              <p:cNvPr id="7" name="TextBox 6">
                <a:extLst>
                  <a:ext uri="{FF2B5EF4-FFF2-40B4-BE49-F238E27FC236}">
                    <a16:creationId xmlns:a16="http://schemas.microsoft.com/office/drawing/2014/main" id="{355BED87-1506-88F2-BE30-F4271F139C56}"/>
                  </a:ext>
                </a:extLst>
              </p:cNvPr>
              <p:cNvSpPr txBox="1">
                <a:spLocks noRot="1" noChangeAspect="1" noMove="1" noResize="1" noEditPoints="1" noAdjustHandles="1" noChangeArrowheads="1" noChangeShapeType="1" noTextEdit="1"/>
              </p:cNvSpPr>
              <p:nvPr/>
            </p:nvSpPr>
            <p:spPr>
              <a:xfrm>
                <a:off x="285125" y="1162890"/>
                <a:ext cx="8573750" cy="2485296"/>
              </a:xfrm>
              <a:prstGeom prst="rect">
                <a:avLst/>
              </a:prstGeom>
              <a:blipFill>
                <a:blip r:embed="rId6"/>
                <a:stretch>
                  <a:fillRect t="-2948" b="-3440"/>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292616E1-056D-E94A-F5AB-9C9A00289B65}"/>
              </a:ext>
            </a:extLst>
          </p:cNvPr>
          <p:cNvSpPr txBox="1"/>
          <p:nvPr/>
        </p:nvSpPr>
        <p:spPr>
          <a:xfrm>
            <a:off x="285125" y="148588"/>
            <a:ext cx="465406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Proxima Nova" panose="020B0604020202020204" charset="0"/>
                <a:sym typeface="Arial"/>
              </a:rPr>
              <a:t>Assembly line scheduling </a:t>
            </a:r>
            <a:endParaRPr kumimoji="0" lang="en-IN" sz="2000" b="1" i="0" u="none" strike="noStrike" kern="0" cap="none" spc="0" normalizeH="0" baseline="0" noProof="0" dirty="0">
              <a:ln>
                <a:noFill/>
              </a:ln>
              <a:solidFill>
                <a:schemeClr val="bg1"/>
              </a:solidFill>
              <a:effectLst/>
              <a:uLnTx/>
              <a:uFillTx/>
              <a:latin typeface="Proxima Nova" panose="020B0604020202020204" charset="0"/>
              <a:sym typeface="Arial"/>
            </a:endParaRPr>
          </a:p>
        </p:txBody>
      </p:sp>
    </p:spTree>
    <p:extLst>
      <p:ext uri="{BB962C8B-B14F-4D97-AF65-F5344CB8AC3E}">
        <p14:creationId xmlns:p14="http://schemas.microsoft.com/office/powerpoint/2010/main" val="380034491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5" y="148588"/>
            <a:ext cx="465406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Proxima Nova" panose="020B0604020202020204" charset="0"/>
                <a:sym typeface="Arial"/>
              </a:rPr>
              <a:t>Assembly line scheduling </a:t>
            </a:r>
            <a:endParaRPr kumimoji="0" lang="en-IN" sz="2000" b="1" i="0" u="none" strike="noStrike" kern="0" cap="none" spc="0" normalizeH="0" baseline="0" noProof="0" dirty="0">
              <a:ln>
                <a:noFill/>
              </a:ln>
              <a:solidFill>
                <a:schemeClr val="bg1"/>
              </a:solidFill>
              <a:effectLst/>
              <a:uLnTx/>
              <a:uFillTx/>
              <a:latin typeface="Proxima Nova" panose="020B0604020202020204" charset="0"/>
              <a:sym typeface="Arial"/>
            </a:endParaRPr>
          </a:p>
        </p:txBody>
      </p:sp>
      <mc:AlternateContent xmlns:mc="http://schemas.openxmlformats.org/markup-compatibility/2006" xmlns:a14="http://schemas.microsoft.com/office/drawing/2010/main">
        <mc:Choice Requires="a14">
          <p:sp>
            <p:nvSpPr>
              <p:cNvPr id="3" name="Rectangle 2"/>
              <p:cNvSpPr/>
              <p:nvPr/>
            </p:nvSpPr>
            <p:spPr>
              <a:xfrm>
                <a:off x="506082" y="1312357"/>
                <a:ext cx="7931861" cy="2016771"/>
              </a:xfrm>
              <a:prstGeom prst="rect">
                <a:avLst/>
              </a:prstGeom>
            </p:spPr>
            <p:txBody>
              <a:bodyPr wrap="square">
                <a:spAutoFit/>
              </a:bodyPr>
              <a:lstStyle/>
              <a:p>
                <a:pPr marL="457200" lvl="0" indent="-342900">
                  <a:lnSpc>
                    <a:spcPct val="115000"/>
                  </a:lnSpc>
                  <a:buClrTx/>
                  <a:buSzPts val="1800"/>
                  <a:buFont typeface="Arial"/>
                  <a:buChar char="●"/>
                </a:pPr>
                <a:r>
                  <a:rPr lang="en-US" sz="2000" dirty="0" smtClean="0">
                    <a:solidFill>
                      <a:srgbClr val="000000"/>
                    </a:solidFill>
                    <a:latin typeface="Trebuchet MS" panose="020B0603020202020204" pitchFamily="34" charset="0"/>
                  </a:rPr>
                  <a:t>We denote the </a:t>
                </a:r>
                <a14:m>
                  <m:oMath xmlns:m="http://schemas.openxmlformats.org/officeDocument/2006/math">
                    <m:sSup>
                      <m:sSupPr>
                        <m:ctrlPr>
                          <a:rPr lang="en-US" sz="2000" b="1" i="1" smtClean="0">
                            <a:solidFill>
                              <a:schemeClr val="accent1">
                                <a:lumMod val="50000"/>
                              </a:schemeClr>
                            </a:solidFill>
                            <a:latin typeface="Cambria Math" panose="02040503050406030204" pitchFamily="18" charset="0"/>
                          </a:rPr>
                        </m:ctrlPr>
                      </m:sSupPr>
                      <m:e>
                        <m:r>
                          <a:rPr lang="en-US" sz="2000" b="1" i="1">
                            <a:solidFill>
                              <a:schemeClr val="accent1">
                                <a:lumMod val="50000"/>
                              </a:schemeClr>
                            </a:solidFill>
                            <a:latin typeface="Cambria Math" panose="02040503050406030204" pitchFamily="18" charset="0"/>
                          </a:rPr>
                          <m:t>𝒋</m:t>
                        </m:r>
                      </m:e>
                      <m:sup>
                        <m:r>
                          <a:rPr lang="en-US" sz="2000" b="1" i="1">
                            <a:solidFill>
                              <a:schemeClr val="accent1">
                                <a:lumMod val="50000"/>
                              </a:schemeClr>
                            </a:solidFill>
                            <a:latin typeface="Cambria Math" panose="02040503050406030204" pitchFamily="18" charset="0"/>
                          </a:rPr>
                          <m:t>𝒕𝒉</m:t>
                        </m:r>
                      </m:sup>
                    </m:sSup>
                  </m:oMath>
                </a14:m>
                <a:r>
                  <a:rPr lang="en-US" sz="2000" dirty="0">
                    <a:solidFill>
                      <a:srgbClr val="000000"/>
                    </a:solidFill>
                    <a:latin typeface="Trebuchet MS" panose="020B0603020202020204" pitchFamily="34" charset="0"/>
                  </a:rPr>
                  <a:t> station on line </a:t>
                </a:r>
                <a14:m>
                  <m:oMath xmlns:m="http://schemas.openxmlformats.org/officeDocument/2006/math">
                    <m:r>
                      <a:rPr lang="en-US" sz="2000" b="1" i="1">
                        <a:solidFill>
                          <a:srgbClr val="000000"/>
                        </a:solidFill>
                        <a:latin typeface="Cambria Math" panose="02040503050406030204" pitchFamily="18" charset="0"/>
                      </a:rPr>
                      <m:t>𝒊</m:t>
                    </m:r>
                    <m:r>
                      <a:rPr lang="en-US" sz="2000" i="1">
                        <a:solidFill>
                          <a:srgbClr val="000000"/>
                        </a:solidFill>
                        <a:latin typeface="Cambria Math" panose="02040503050406030204" pitchFamily="18" charset="0"/>
                      </a:rPr>
                      <m:t> </m:t>
                    </m:r>
                  </m:oMath>
                </a14:m>
                <a:r>
                  <a:rPr lang="en-US" sz="2000" dirty="0">
                    <a:solidFill>
                      <a:srgbClr val="000000"/>
                    </a:solidFill>
                    <a:latin typeface="Trebuchet MS" panose="020B0603020202020204" pitchFamily="34" charset="0"/>
                  </a:rPr>
                  <a:t>by </a:t>
                </a:r>
                <a14:m>
                  <m:oMath xmlns:m="http://schemas.openxmlformats.org/officeDocument/2006/math">
                    <m:sSub>
                      <m:sSubPr>
                        <m:ctrlPr>
                          <a:rPr lang="en-US" sz="2000" b="1" i="1">
                            <a:solidFill>
                              <a:srgbClr val="000000"/>
                            </a:solidFill>
                            <a:latin typeface="Cambria Math" panose="02040503050406030204" pitchFamily="18" charset="0"/>
                          </a:rPr>
                        </m:ctrlPr>
                      </m:sSubPr>
                      <m:e>
                        <m:r>
                          <a:rPr lang="en-US" sz="2000" b="1" i="1">
                            <a:solidFill>
                              <a:srgbClr val="000000"/>
                            </a:solidFill>
                            <a:latin typeface="Cambria Math" panose="02040503050406030204" pitchFamily="18" charset="0"/>
                          </a:rPr>
                          <m:t>𝑺</m:t>
                        </m:r>
                      </m:e>
                      <m:sub>
                        <m:r>
                          <a:rPr lang="en-US" sz="2000" b="1" i="1">
                            <a:solidFill>
                              <a:srgbClr val="000000"/>
                            </a:solidFill>
                            <a:latin typeface="Cambria Math" panose="02040503050406030204" pitchFamily="18" charset="0"/>
                          </a:rPr>
                          <m:t>𝒊</m:t>
                        </m:r>
                        <m:r>
                          <a:rPr lang="en-US" sz="2000" b="1" i="1">
                            <a:solidFill>
                              <a:srgbClr val="000000"/>
                            </a:solidFill>
                            <a:latin typeface="Cambria Math" panose="02040503050406030204" pitchFamily="18" charset="0"/>
                          </a:rPr>
                          <m:t>,</m:t>
                        </m:r>
                        <m:r>
                          <a:rPr lang="en-US" sz="2000" b="1" i="1">
                            <a:solidFill>
                              <a:srgbClr val="000000"/>
                            </a:solidFill>
                            <a:latin typeface="Cambria Math" panose="02040503050406030204" pitchFamily="18" charset="0"/>
                          </a:rPr>
                          <m:t>𝒋</m:t>
                        </m:r>
                      </m:sub>
                    </m:sSub>
                    <m:r>
                      <a:rPr lang="en-US" sz="2000" i="1">
                        <a:solidFill>
                          <a:srgbClr val="000000"/>
                        </a:solidFill>
                        <a:latin typeface="Cambria Math" panose="02040503050406030204" pitchFamily="18" charset="0"/>
                      </a:rPr>
                      <m:t>.</m:t>
                    </m:r>
                  </m:oMath>
                </a14:m>
                <a:endParaRPr lang="en-US" sz="2000" dirty="0">
                  <a:solidFill>
                    <a:srgbClr val="000000"/>
                  </a:solidFill>
                  <a:latin typeface="Trebuchet MS" panose="020B0603020202020204" pitchFamily="34" charset="0"/>
                </a:endParaRPr>
              </a:p>
              <a:p>
                <a:pPr marL="457200" lvl="0" indent="-342900">
                  <a:lnSpc>
                    <a:spcPct val="115000"/>
                  </a:lnSpc>
                  <a:buClrTx/>
                  <a:buSzPts val="1800"/>
                  <a:buFont typeface="Arial"/>
                  <a:buChar char="●"/>
                </a:pPr>
                <a:r>
                  <a:rPr lang="en-US" sz="2000" dirty="0">
                    <a:solidFill>
                      <a:srgbClr val="000000"/>
                    </a:solidFill>
                    <a:latin typeface="Trebuchet MS" panose="020B0603020202020204" pitchFamily="34" charset="0"/>
                  </a:rPr>
                  <a:t>The </a:t>
                </a:r>
                <a14:m>
                  <m:oMath xmlns:m="http://schemas.openxmlformats.org/officeDocument/2006/math">
                    <m:sSup>
                      <m:sSupPr>
                        <m:ctrlPr>
                          <a:rPr lang="en-US" sz="2000" b="1" i="1">
                            <a:solidFill>
                              <a:srgbClr val="000000"/>
                            </a:solidFill>
                            <a:latin typeface="Cambria Math" panose="02040503050406030204" pitchFamily="18" charset="0"/>
                          </a:rPr>
                        </m:ctrlPr>
                      </m:sSupPr>
                      <m:e>
                        <m:r>
                          <a:rPr lang="en-US" sz="2000" b="1" i="1">
                            <a:solidFill>
                              <a:srgbClr val="000000"/>
                            </a:solidFill>
                            <a:latin typeface="Cambria Math" panose="02040503050406030204" pitchFamily="18" charset="0"/>
                          </a:rPr>
                          <m:t>𝒋</m:t>
                        </m:r>
                      </m:e>
                      <m:sup>
                        <m:r>
                          <a:rPr lang="en-US" sz="2000" b="1" i="1">
                            <a:solidFill>
                              <a:srgbClr val="000000"/>
                            </a:solidFill>
                            <a:latin typeface="Cambria Math" panose="02040503050406030204" pitchFamily="18" charset="0"/>
                          </a:rPr>
                          <m:t>𝒕𝒉</m:t>
                        </m:r>
                      </m:sup>
                    </m:sSup>
                  </m:oMath>
                </a14:m>
                <a:r>
                  <a:rPr lang="en-US" sz="2000" baseline="30000" dirty="0">
                    <a:solidFill>
                      <a:srgbClr val="000000"/>
                    </a:solidFill>
                    <a:latin typeface="Trebuchet MS" panose="020B0603020202020204" pitchFamily="34" charset="0"/>
                  </a:rPr>
                  <a:t> </a:t>
                </a:r>
                <a:r>
                  <a:rPr lang="en-US" sz="2000" dirty="0">
                    <a:solidFill>
                      <a:srgbClr val="000000"/>
                    </a:solidFill>
                    <a:latin typeface="Trebuchet MS" panose="020B0603020202020204" pitchFamily="34" charset="0"/>
                  </a:rPr>
                  <a:t>station on line</a:t>
                </a:r>
                <a14:m>
                  <m:oMath xmlns:m="http://schemas.openxmlformats.org/officeDocument/2006/math">
                    <m:r>
                      <a:rPr lang="en-US" sz="2000" i="1">
                        <a:solidFill>
                          <a:srgbClr val="000000"/>
                        </a:solidFill>
                        <a:latin typeface="Cambria Math" panose="02040503050406030204" pitchFamily="18" charset="0"/>
                      </a:rPr>
                      <m:t> </m:t>
                    </m:r>
                    <m:r>
                      <a:rPr lang="en-US" sz="2000" b="1" i="1" smtClean="0">
                        <a:solidFill>
                          <a:schemeClr val="accent1">
                            <a:lumMod val="50000"/>
                          </a:schemeClr>
                        </a:solidFill>
                        <a:latin typeface="Cambria Math" panose="02040503050406030204" pitchFamily="18" charset="0"/>
                      </a:rPr>
                      <m:t>𝟏</m:t>
                    </m:r>
                  </m:oMath>
                </a14:m>
                <a:r>
                  <a:rPr lang="en-US" sz="2000" b="1" dirty="0">
                    <a:solidFill>
                      <a:schemeClr val="accent1">
                        <a:lumMod val="50000"/>
                      </a:schemeClr>
                    </a:solidFill>
                    <a:latin typeface="Trebuchet MS" panose="020B0603020202020204" pitchFamily="34" charset="0"/>
                  </a:rPr>
                  <a:t> </a:t>
                </a:r>
                <a14:m>
                  <m:oMath xmlns:m="http://schemas.openxmlformats.org/officeDocument/2006/math">
                    <m:r>
                      <a:rPr lang="en-US" sz="2000" b="1" i="1">
                        <a:solidFill>
                          <a:schemeClr val="accent1">
                            <a:lumMod val="50000"/>
                          </a:schemeClr>
                        </a:solidFill>
                        <a:latin typeface="Cambria Math" panose="02040503050406030204" pitchFamily="18" charset="0"/>
                      </a:rPr>
                      <m:t>(</m:t>
                    </m:r>
                    <m:sSub>
                      <m:sSubPr>
                        <m:ctrlPr>
                          <a:rPr lang="en-US" sz="2000" b="1" i="1">
                            <a:solidFill>
                              <a:schemeClr val="accent1">
                                <a:lumMod val="50000"/>
                              </a:schemeClr>
                            </a:solidFill>
                            <a:latin typeface="Cambria Math" panose="02040503050406030204" pitchFamily="18" charset="0"/>
                          </a:rPr>
                        </m:ctrlPr>
                      </m:sSubPr>
                      <m:e>
                        <m:r>
                          <a:rPr lang="en-US" sz="2000" b="1" i="1">
                            <a:solidFill>
                              <a:schemeClr val="accent1">
                                <a:lumMod val="50000"/>
                              </a:schemeClr>
                            </a:solidFill>
                            <a:latin typeface="Cambria Math" panose="02040503050406030204" pitchFamily="18" charset="0"/>
                          </a:rPr>
                          <m:t>𝑺</m:t>
                        </m:r>
                      </m:e>
                      <m:sub>
                        <m:r>
                          <a:rPr lang="en-US" sz="2000" b="1" i="1">
                            <a:solidFill>
                              <a:schemeClr val="accent1">
                                <a:lumMod val="50000"/>
                              </a:schemeClr>
                            </a:solidFill>
                            <a:latin typeface="Cambria Math" panose="02040503050406030204" pitchFamily="18" charset="0"/>
                          </a:rPr>
                          <m:t>𝟏</m:t>
                        </m:r>
                        <m:r>
                          <a:rPr lang="en-US" sz="2000" b="1" i="1">
                            <a:solidFill>
                              <a:schemeClr val="accent1">
                                <a:lumMod val="50000"/>
                              </a:schemeClr>
                            </a:solidFill>
                            <a:latin typeface="Cambria Math" panose="02040503050406030204" pitchFamily="18" charset="0"/>
                          </a:rPr>
                          <m:t>,</m:t>
                        </m:r>
                        <m:r>
                          <a:rPr lang="en-US" sz="2000" b="1" i="1">
                            <a:solidFill>
                              <a:schemeClr val="accent1">
                                <a:lumMod val="50000"/>
                              </a:schemeClr>
                            </a:solidFill>
                            <a:latin typeface="Cambria Math" panose="02040503050406030204" pitchFamily="18" charset="0"/>
                          </a:rPr>
                          <m:t>𝒋</m:t>
                        </m:r>
                      </m:sub>
                    </m:sSub>
                    <m:r>
                      <a:rPr lang="en-US" sz="2000" b="1" i="1">
                        <a:solidFill>
                          <a:schemeClr val="accent1">
                            <a:lumMod val="50000"/>
                          </a:schemeClr>
                        </a:solidFill>
                        <a:latin typeface="Cambria Math" panose="02040503050406030204" pitchFamily="18" charset="0"/>
                      </a:rPr>
                      <m:t>) </m:t>
                    </m:r>
                  </m:oMath>
                </a14:m>
                <a:r>
                  <a:rPr lang="en-US" sz="2000" dirty="0">
                    <a:solidFill>
                      <a:srgbClr val="000000"/>
                    </a:solidFill>
                    <a:latin typeface="Trebuchet MS" panose="020B0603020202020204" pitchFamily="34" charset="0"/>
                  </a:rPr>
                  <a:t>performs the same function as the </a:t>
                </a:r>
                <a14:m>
                  <m:oMath xmlns:m="http://schemas.openxmlformats.org/officeDocument/2006/math">
                    <m:sSup>
                      <m:sSupPr>
                        <m:ctrlPr>
                          <a:rPr lang="en-US" sz="2000" b="1" i="1" smtClean="0">
                            <a:solidFill>
                              <a:schemeClr val="accent1">
                                <a:lumMod val="50000"/>
                              </a:schemeClr>
                            </a:solidFill>
                            <a:latin typeface="Cambria Math" panose="02040503050406030204" pitchFamily="18" charset="0"/>
                          </a:rPr>
                        </m:ctrlPr>
                      </m:sSupPr>
                      <m:e>
                        <m:r>
                          <a:rPr lang="en-US" sz="2000" b="1" i="1">
                            <a:solidFill>
                              <a:schemeClr val="accent1">
                                <a:lumMod val="50000"/>
                              </a:schemeClr>
                            </a:solidFill>
                            <a:latin typeface="Cambria Math" panose="02040503050406030204" pitchFamily="18" charset="0"/>
                          </a:rPr>
                          <m:t>𝒋</m:t>
                        </m:r>
                      </m:e>
                      <m:sup>
                        <m:r>
                          <a:rPr lang="en-US" sz="2000" b="1" i="1">
                            <a:solidFill>
                              <a:schemeClr val="accent1">
                                <a:lumMod val="50000"/>
                              </a:schemeClr>
                            </a:solidFill>
                            <a:latin typeface="Cambria Math" panose="02040503050406030204" pitchFamily="18" charset="0"/>
                          </a:rPr>
                          <m:t>𝒕𝒉</m:t>
                        </m:r>
                      </m:sup>
                    </m:sSup>
                  </m:oMath>
                </a14:m>
                <a:r>
                  <a:rPr lang="en-US" sz="2000" dirty="0">
                    <a:solidFill>
                      <a:srgbClr val="000000"/>
                    </a:solidFill>
                    <a:latin typeface="Trebuchet MS" panose="020B0603020202020204" pitchFamily="34" charset="0"/>
                  </a:rPr>
                  <a:t> station on line </a:t>
                </a:r>
                <a14:m>
                  <m:oMath xmlns:m="http://schemas.openxmlformats.org/officeDocument/2006/math">
                    <m:r>
                      <a:rPr lang="en-US" sz="2000" b="1" i="1" smtClean="0">
                        <a:solidFill>
                          <a:schemeClr val="accent1">
                            <a:lumMod val="50000"/>
                          </a:schemeClr>
                        </a:solidFill>
                        <a:latin typeface="Cambria Math" panose="02040503050406030204" pitchFamily="18" charset="0"/>
                      </a:rPr>
                      <m:t>𝟐</m:t>
                    </m:r>
                    <m:r>
                      <a:rPr lang="en-US" sz="2000" b="1" i="1" smtClean="0">
                        <a:solidFill>
                          <a:schemeClr val="accent1">
                            <a:lumMod val="50000"/>
                          </a:schemeClr>
                        </a:solidFill>
                        <a:latin typeface="Cambria Math" panose="02040503050406030204" pitchFamily="18" charset="0"/>
                      </a:rPr>
                      <m:t> (</m:t>
                    </m:r>
                    <m:sSub>
                      <m:sSubPr>
                        <m:ctrlPr>
                          <a:rPr lang="en-US" sz="2000" b="1" i="1">
                            <a:solidFill>
                              <a:schemeClr val="accent1">
                                <a:lumMod val="50000"/>
                              </a:schemeClr>
                            </a:solidFill>
                            <a:latin typeface="Cambria Math" panose="02040503050406030204" pitchFamily="18" charset="0"/>
                          </a:rPr>
                        </m:ctrlPr>
                      </m:sSubPr>
                      <m:e>
                        <m:r>
                          <a:rPr lang="en-US" sz="2000" b="1" i="1">
                            <a:solidFill>
                              <a:schemeClr val="accent1">
                                <a:lumMod val="50000"/>
                              </a:schemeClr>
                            </a:solidFill>
                            <a:latin typeface="Cambria Math" panose="02040503050406030204" pitchFamily="18" charset="0"/>
                          </a:rPr>
                          <m:t>𝑺</m:t>
                        </m:r>
                      </m:e>
                      <m:sub>
                        <m:r>
                          <a:rPr lang="en-US" sz="2000" b="1" i="1">
                            <a:solidFill>
                              <a:schemeClr val="accent1">
                                <a:lumMod val="50000"/>
                              </a:schemeClr>
                            </a:solidFill>
                            <a:latin typeface="Cambria Math" panose="02040503050406030204" pitchFamily="18" charset="0"/>
                          </a:rPr>
                          <m:t>𝟐</m:t>
                        </m:r>
                        <m:r>
                          <a:rPr lang="en-US" sz="2000" b="1" i="1">
                            <a:solidFill>
                              <a:schemeClr val="accent1">
                                <a:lumMod val="50000"/>
                              </a:schemeClr>
                            </a:solidFill>
                            <a:latin typeface="Cambria Math" panose="02040503050406030204" pitchFamily="18" charset="0"/>
                          </a:rPr>
                          <m:t>,</m:t>
                        </m:r>
                        <m:r>
                          <a:rPr lang="en-US" sz="2000" b="1" i="1">
                            <a:solidFill>
                              <a:schemeClr val="accent1">
                                <a:lumMod val="50000"/>
                              </a:schemeClr>
                            </a:solidFill>
                            <a:latin typeface="Cambria Math" panose="02040503050406030204" pitchFamily="18" charset="0"/>
                          </a:rPr>
                          <m:t>𝒋</m:t>
                        </m:r>
                      </m:sub>
                    </m:sSub>
                    <m:r>
                      <a:rPr lang="en-US" sz="2000" b="1" i="1">
                        <a:solidFill>
                          <a:schemeClr val="accent1">
                            <a:lumMod val="50000"/>
                          </a:schemeClr>
                        </a:solidFill>
                        <a:latin typeface="Cambria Math" panose="02040503050406030204" pitchFamily="18" charset="0"/>
                      </a:rPr>
                      <m:t>). </m:t>
                    </m:r>
                  </m:oMath>
                </a14:m>
                <a:endParaRPr lang="en-US" sz="2000" b="1" dirty="0">
                  <a:solidFill>
                    <a:schemeClr val="accent1">
                      <a:lumMod val="50000"/>
                    </a:schemeClr>
                  </a:solidFill>
                  <a:latin typeface="Trebuchet MS" panose="020B0603020202020204" pitchFamily="34" charset="0"/>
                </a:endParaRPr>
              </a:p>
              <a:p>
                <a:pPr marL="457200" lvl="0" indent="-342900">
                  <a:lnSpc>
                    <a:spcPct val="115000"/>
                  </a:lnSpc>
                  <a:buClrTx/>
                  <a:buSzPts val="1800"/>
                  <a:buFont typeface="Arial"/>
                  <a:buChar char="●"/>
                </a:pPr>
                <a:r>
                  <a:rPr lang="en-US" sz="2000" dirty="0">
                    <a:solidFill>
                      <a:srgbClr val="000000"/>
                    </a:solidFill>
                    <a:latin typeface="Trebuchet MS" panose="020B0603020202020204" pitchFamily="34" charset="0"/>
                  </a:rPr>
                  <a:t>Corresponding stations </a:t>
                </a:r>
                <a14:m>
                  <m:oMath xmlns:m="http://schemas.openxmlformats.org/officeDocument/2006/math">
                    <m:sSub>
                      <m:sSubPr>
                        <m:ctrlPr>
                          <a:rPr lang="en-US" sz="2000" b="1" i="1" smtClean="0">
                            <a:solidFill>
                              <a:schemeClr val="accent1">
                                <a:lumMod val="50000"/>
                              </a:schemeClr>
                            </a:solidFill>
                            <a:latin typeface="Cambria Math" panose="02040503050406030204" pitchFamily="18" charset="0"/>
                          </a:rPr>
                        </m:ctrlPr>
                      </m:sSubPr>
                      <m:e>
                        <m:r>
                          <a:rPr lang="en-US" sz="2000" b="1" i="1">
                            <a:solidFill>
                              <a:schemeClr val="accent1">
                                <a:lumMod val="50000"/>
                              </a:schemeClr>
                            </a:solidFill>
                            <a:latin typeface="Cambria Math" panose="02040503050406030204" pitchFamily="18" charset="0"/>
                          </a:rPr>
                          <m:t>𝑺</m:t>
                        </m:r>
                      </m:e>
                      <m:sub>
                        <m:r>
                          <a:rPr lang="en-US" sz="2000" b="1" i="1">
                            <a:solidFill>
                              <a:schemeClr val="accent1">
                                <a:lumMod val="50000"/>
                              </a:schemeClr>
                            </a:solidFill>
                            <a:latin typeface="Cambria Math" panose="02040503050406030204" pitchFamily="18" charset="0"/>
                          </a:rPr>
                          <m:t>𝟏</m:t>
                        </m:r>
                        <m:r>
                          <a:rPr lang="en-US" sz="2000" b="1" i="1">
                            <a:solidFill>
                              <a:schemeClr val="accent1">
                                <a:lumMod val="50000"/>
                              </a:schemeClr>
                            </a:solidFill>
                            <a:latin typeface="Cambria Math" panose="02040503050406030204" pitchFamily="18" charset="0"/>
                          </a:rPr>
                          <m:t>,</m:t>
                        </m:r>
                        <m:r>
                          <a:rPr lang="en-US" sz="2000" b="1" i="1">
                            <a:solidFill>
                              <a:schemeClr val="accent1">
                                <a:lumMod val="50000"/>
                              </a:schemeClr>
                            </a:solidFill>
                            <a:latin typeface="Cambria Math" panose="02040503050406030204" pitchFamily="18" charset="0"/>
                          </a:rPr>
                          <m:t>𝒋</m:t>
                        </m:r>
                      </m:sub>
                    </m:sSub>
                  </m:oMath>
                </a14:m>
                <a:r>
                  <a:rPr lang="en-US" sz="2000" baseline="-25000" dirty="0">
                    <a:solidFill>
                      <a:srgbClr val="000000"/>
                    </a:solidFill>
                    <a:latin typeface="Trebuchet MS" panose="020B0603020202020204" pitchFamily="34" charset="0"/>
                  </a:rPr>
                  <a:t> </a:t>
                </a:r>
                <a:r>
                  <a:rPr lang="en-US" sz="2000" dirty="0">
                    <a:solidFill>
                      <a:srgbClr val="000000"/>
                    </a:solidFill>
                    <a:latin typeface="Trebuchet MS" panose="020B0603020202020204" pitchFamily="34" charset="0"/>
                  </a:rPr>
                  <a:t>and </a:t>
                </a:r>
                <a14:m>
                  <m:oMath xmlns:m="http://schemas.openxmlformats.org/officeDocument/2006/math">
                    <m:sSub>
                      <m:sSubPr>
                        <m:ctrlPr>
                          <a:rPr lang="en-US" sz="2000" b="1" i="1" smtClean="0">
                            <a:solidFill>
                              <a:schemeClr val="accent1">
                                <a:lumMod val="50000"/>
                              </a:schemeClr>
                            </a:solidFill>
                            <a:latin typeface="Cambria Math" panose="02040503050406030204" pitchFamily="18" charset="0"/>
                          </a:rPr>
                        </m:ctrlPr>
                      </m:sSubPr>
                      <m:e>
                        <m:r>
                          <a:rPr lang="en-US" sz="2000" b="1" i="1">
                            <a:solidFill>
                              <a:schemeClr val="accent1">
                                <a:lumMod val="50000"/>
                              </a:schemeClr>
                            </a:solidFill>
                            <a:latin typeface="Cambria Math" panose="02040503050406030204" pitchFamily="18" charset="0"/>
                          </a:rPr>
                          <m:t>𝑺</m:t>
                        </m:r>
                      </m:e>
                      <m:sub>
                        <m:r>
                          <a:rPr lang="en-US" sz="2000" b="1" i="1">
                            <a:solidFill>
                              <a:schemeClr val="accent1">
                                <a:lumMod val="50000"/>
                              </a:schemeClr>
                            </a:solidFill>
                            <a:latin typeface="Cambria Math" panose="02040503050406030204" pitchFamily="18" charset="0"/>
                          </a:rPr>
                          <m:t>𝟐</m:t>
                        </m:r>
                        <m:r>
                          <a:rPr lang="en-US" sz="2000" b="1" i="1">
                            <a:solidFill>
                              <a:schemeClr val="accent1">
                                <a:lumMod val="50000"/>
                              </a:schemeClr>
                            </a:solidFill>
                            <a:latin typeface="Cambria Math" panose="02040503050406030204" pitchFamily="18" charset="0"/>
                          </a:rPr>
                          <m:t>,</m:t>
                        </m:r>
                        <m:r>
                          <a:rPr lang="en-US" sz="2000" b="1" i="1">
                            <a:solidFill>
                              <a:schemeClr val="accent1">
                                <a:lumMod val="50000"/>
                              </a:schemeClr>
                            </a:solidFill>
                            <a:latin typeface="Cambria Math" panose="02040503050406030204" pitchFamily="18" charset="0"/>
                          </a:rPr>
                          <m:t>𝒋</m:t>
                        </m:r>
                      </m:sub>
                    </m:sSub>
                  </m:oMath>
                </a14:m>
                <a:r>
                  <a:rPr lang="en-US" sz="2000" dirty="0">
                    <a:solidFill>
                      <a:srgbClr val="000000"/>
                    </a:solidFill>
                    <a:latin typeface="Trebuchet MS" panose="020B0603020202020204" pitchFamily="34" charset="0"/>
                  </a:rPr>
                  <a:t> perform the same function </a:t>
                </a:r>
                <a:r>
                  <a:rPr lang="en-US" sz="2000" b="1" dirty="0" smtClean="0">
                    <a:solidFill>
                      <a:schemeClr val="accent1">
                        <a:lumMod val="50000"/>
                      </a:schemeClr>
                    </a:solidFill>
                    <a:latin typeface="Trebuchet MS" panose="020B0603020202020204" pitchFamily="34" charset="0"/>
                  </a:rPr>
                  <a:t>but can take different amounts </a:t>
                </a:r>
                <a:r>
                  <a:rPr lang="en-US" sz="2000" b="1" dirty="0">
                    <a:solidFill>
                      <a:schemeClr val="accent1">
                        <a:lumMod val="50000"/>
                      </a:schemeClr>
                    </a:solidFill>
                    <a:latin typeface="Trebuchet MS" panose="020B0603020202020204" pitchFamily="34" charset="0"/>
                  </a:rPr>
                  <a:t>of time </a:t>
                </a:r>
                <a14:m>
                  <m:oMath xmlns:m="http://schemas.openxmlformats.org/officeDocument/2006/math">
                    <m:sSub>
                      <m:sSubPr>
                        <m:ctrlPr>
                          <a:rPr lang="en-US" sz="2000" b="1" i="1">
                            <a:solidFill>
                              <a:schemeClr val="accent1">
                                <a:lumMod val="50000"/>
                              </a:schemeClr>
                            </a:solidFill>
                            <a:latin typeface="Cambria Math" panose="02040503050406030204" pitchFamily="18" charset="0"/>
                          </a:rPr>
                        </m:ctrlPr>
                      </m:sSubPr>
                      <m:e>
                        <m:r>
                          <a:rPr lang="en-US" sz="2000" b="1" i="1">
                            <a:solidFill>
                              <a:schemeClr val="accent1">
                                <a:lumMod val="50000"/>
                              </a:schemeClr>
                            </a:solidFill>
                            <a:latin typeface="Cambria Math" panose="02040503050406030204" pitchFamily="18" charset="0"/>
                          </a:rPr>
                          <m:t>𝒂</m:t>
                        </m:r>
                      </m:e>
                      <m:sub>
                        <m:r>
                          <a:rPr lang="en-US" sz="2000" b="1" i="1">
                            <a:solidFill>
                              <a:schemeClr val="accent1">
                                <a:lumMod val="50000"/>
                              </a:schemeClr>
                            </a:solidFill>
                            <a:latin typeface="Cambria Math" panose="02040503050406030204" pitchFamily="18" charset="0"/>
                          </a:rPr>
                          <m:t>𝟏</m:t>
                        </m:r>
                        <m:r>
                          <a:rPr lang="en-US" sz="2000" b="1" i="1">
                            <a:solidFill>
                              <a:schemeClr val="accent1">
                                <a:lumMod val="50000"/>
                              </a:schemeClr>
                            </a:solidFill>
                            <a:latin typeface="Cambria Math" panose="02040503050406030204" pitchFamily="18" charset="0"/>
                          </a:rPr>
                          <m:t>,</m:t>
                        </m:r>
                        <m:r>
                          <a:rPr lang="en-US" sz="2000" b="1" i="1">
                            <a:solidFill>
                              <a:schemeClr val="accent1">
                                <a:lumMod val="50000"/>
                              </a:schemeClr>
                            </a:solidFill>
                            <a:latin typeface="Cambria Math" panose="02040503050406030204" pitchFamily="18" charset="0"/>
                          </a:rPr>
                          <m:t>𝒋</m:t>
                        </m:r>
                      </m:sub>
                    </m:sSub>
                  </m:oMath>
                </a14:m>
                <a:r>
                  <a:rPr lang="en-US" sz="2000" dirty="0">
                    <a:solidFill>
                      <a:srgbClr val="000000"/>
                    </a:solidFill>
                    <a:latin typeface="Trebuchet MS" panose="020B0603020202020204" pitchFamily="34" charset="0"/>
                  </a:rPr>
                  <a:t>and </a:t>
                </a:r>
                <a14:m>
                  <m:oMath xmlns:m="http://schemas.openxmlformats.org/officeDocument/2006/math">
                    <m:sSub>
                      <m:sSubPr>
                        <m:ctrlPr>
                          <a:rPr lang="en-US" sz="2000" b="1" i="1" smtClean="0">
                            <a:solidFill>
                              <a:schemeClr val="accent1">
                                <a:lumMod val="50000"/>
                              </a:schemeClr>
                            </a:solidFill>
                            <a:latin typeface="Cambria Math" panose="02040503050406030204" pitchFamily="18" charset="0"/>
                          </a:rPr>
                        </m:ctrlPr>
                      </m:sSubPr>
                      <m:e>
                        <m:r>
                          <a:rPr lang="en-US" sz="2000" b="1" i="1">
                            <a:solidFill>
                              <a:schemeClr val="accent1">
                                <a:lumMod val="50000"/>
                              </a:schemeClr>
                            </a:solidFill>
                            <a:latin typeface="Cambria Math" panose="02040503050406030204" pitchFamily="18" charset="0"/>
                          </a:rPr>
                          <m:t>𝒂</m:t>
                        </m:r>
                      </m:e>
                      <m:sub>
                        <m:r>
                          <a:rPr lang="en-US" sz="2000" b="1" i="1">
                            <a:solidFill>
                              <a:schemeClr val="accent1">
                                <a:lumMod val="50000"/>
                              </a:schemeClr>
                            </a:solidFill>
                            <a:latin typeface="Cambria Math" panose="02040503050406030204" pitchFamily="18" charset="0"/>
                          </a:rPr>
                          <m:t>𝟐</m:t>
                        </m:r>
                        <m:r>
                          <a:rPr lang="en-US" sz="2000" b="1" i="1">
                            <a:solidFill>
                              <a:schemeClr val="accent1">
                                <a:lumMod val="50000"/>
                              </a:schemeClr>
                            </a:solidFill>
                            <a:latin typeface="Cambria Math" panose="02040503050406030204" pitchFamily="18" charset="0"/>
                          </a:rPr>
                          <m:t>,</m:t>
                        </m:r>
                        <m:r>
                          <a:rPr lang="en-US" sz="2000" b="1" i="1">
                            <a:solidFill>
                              <a:schemeClr val="accent1">
                                <a:lumMod val="50000"/>
                              </a:schemeClr>
                            </a:solidFill>
                            <a:latin typeface="Cambria Math" panose="02040503050406030204" pitchFamily="18" charset="0"/>
                          </a:rPr>
                          <m:t>𝒋</m:t>
                        </m:r>
                      </m:sub>
                    </m:sSub>
                  </m:oMath>
                </a14:m>
                <a:r>
                  <a:rPr lang="en-US" sz="2000" dirty="0">
                    <a:solidFill>
                      <a:schemeClr val="accent1">
                        <a:lumMod val="50000"/>
                      </a:schemeClr>
                    </a:solidFill>
                    <a:latin typeface="Trebuchet MS" panose="020B0603020202020204" pitchFamily="34" charset="0"/>
                  </a:rPr>
                  <a:t>.</a:t>
                </a:r>
              </a:p>
            </p:txBody>
          </p:sp>
        </mc:Choice>
        <mc:Fallback xmlns="">
          <p:sp>
            <p:nvSpPr>
              <p:cNvPr id="3" name="Rectangle 2"/>
              <p:cNvSpPr>
                <a:spLocks noRot="1" noChangeAspect="1" noMove="1" noResize="1" noEditPoints="1" noAdjustHandles="1" noChangeArrowheads="1" noChangeShapeType="1" noTextEdit="1"/>
              </p:cNvSpPr>
              <p:nvPr/>
            </p:nvSpPr>
            <p:spPr>
              <a:xfrm>
                <a:off x="506082" y="1312357"/>
                <a:ext cx="7931861" cy="2016771"/>
              </a:xfrm>
              <a:prstGeom prst="rect">
                <a:avLst/>
              </a:prstGeom>
              <a:blipFill>
                <a:blip r:embed="rId6"/>
                <a:stretch>
                  <a:fillRect b="-2719"/>
                </a:stretch>
              </a:blipFill>
            </p:spPr>
            <p:txBody>
              <a:bodyPr/>
              <a:lstStyle/>
              <a:p>
                <a:r>
                  <a:rPr lang="en-IN">
                    <a:noFill/>
                  </a:rPr>
                  <a:t> </a:t>
                </a:r>
              </a:p>
            </p:txBody>
          </p:sp>
        </mc:Fallback>
      </mc:AlternateContent>
    </p:spTree>
    <p:extLst>
      <p:ext uri="{BB962C8B-B14F-4D97-AF65-F5344CB8AC3E}">
        <p14:creationId xmlns:p14="http://schemas.microsoft.com/office/powerpoint/2010/main" val="143538713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5" y="148588"/>
            <a:ext cx="465406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Proxima Nova" panose="020B0604020202020204" charset="0"/>
                <a:sym typeface="Arial"/>
              </a:rPr>
              <a:t>Assembly line scheduling </a:t>
            </a:r>
            <a:endParaRPr kumimoji="0" lang="en-IN" sz="2000" b="1" i="0" u="none" strike="noStrike" kern="0" cap="none" spc="0" normalizeH="0" baseline="0" noProof="0" dirty="0">
              <a:ln>
                <a:noFill/>
              </a:ln>
              <a:solidFill>
                <a:schemeClr val="bg1"/>
              </a:solidFill>
              <a:effectLst/>
              <a:uLnTx/>
              <a:uFillTx/>
              <a:latin typeface="Proxima Nova" panose="020B0604020202020204" charset="0"/>
              <a:sym typeface="Arial"/>
            </a:endParaRPr>
          </a:p>
        </p:txBody>
      </p:sp>
      <p:pic>
        <p:nvPicPr>
          <p:cNvPr id="7" name="Picture 6">
            <a:extLst>
              <a:ext uri="{FF2B5EF4-FFF2-40B4-BE49-F238E27FC236}">
                <a16:creationId xmlns:a16="http://schemas.microsoft.com/office/drawing/2014/main" id="{D9E3914E-47D0-1E95-7AD0-618AC7A4440F}"/>
              </a:ext>
            </a:extLst>
          </p:cNvPr>
          <p:cNvPicPr>
            <a:picLocks noChangeAspect="1"/>
          </p:cNvPicPr>
          <p:nvPr/>
        </p:nvPicPr>
        <p:blipFill>
          <a:blip r:embed="rId6"/>
          <a:stretch>
            <a:fillRect/>
          </a:stretch>
        </p:blipFill>
        <p:spPr>
          <a:xfrm>
            <a:off x="222738" y="797170"/>
            <a:ext cx="8782366" cy="4190468"/>
          </a:xfrm>
          <a:prstGeom prst="rect">
            <a:avLst/>
          </a:prstGeom>
        </p:spPr>
      </p:pic>
    </p:spTree>
    <p:extLst>
      <p:ext uri="{BB962C8B-B14F-4D97-AF65-F5344CB8AC3E}">
        <p14:creationId xmlns:p14="http://schemas.microsoft.com/office/powerpoint/2010/main" val="335273983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5" y="148588"/>
            <a:ext cx="465406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Proxima Nova" panose="020B0604020202020204" charset="0"/>
                <a:sym typeface="Arial"/>
              </a:rPr>
              <a:t>Assembly line scheduling </a:t>
            </a:r>
            <a:endParaRPr kumimoji="0" lang="en-IN" sz="2000" b="1" i="0" u="none" strike="noStrike" kern="0" cap="none" spc="0" normalizeH="0" baseline="0" noProof="0" dirty="0">
              <a:ln>
                <a:noFill/>
              </a:ln>
              <a:solidFill>
                <a:schemeClr val="bg1"/>
              </a:solidFill>
              <a:effectLst/>
              <a:uLnTx/>
              <a:uFillTx/>
              <a:latin typeface="Proxima Nova" panose="020B0604020202020204" charset="0"/>
              <a:sym typeface="Arial"/>
            </a:endParaRPr>
          </a:p>
        </p:txBody>
      </p:sp>
      <p:sp>
        <p:nvSpPr>
          <p:cNvPr id="8" name="Subtitle 2">
            <a:extLst>
              <a:ext uri="{FF2B5EF4-FFF2-40B4-BE49-F238E27FC236}">
                <a16:creationId xmlns:a16="http://schemas.microsoft.com/office/drawing/2014/main" id="{30C48083-F6B9-E56A-B4F0-20C2EF04C9A6}"/>
              </a:ext>
            </a:extLst>
          </p:cNvPr>
          <p:cNvSpPr>
            <a:spLocks noGrp="1"/>
          </p:cNvSpPr>
          <p:nvPr>
            <p:ph type="subTitle"/>
          </p:nvPr>
        </p:nvSpPr>
        <p:spPr>
          <a:xfrm>
            <a:off x="186431" y="687793"/>
            <a:ext cx="8827476" cy="4455707"/>
          </a:xfrm>
        </p:spPr>
        <p:txBody>
          <a:bodyPr numCol="2">
            <a:normAutofit fontScale="92500"/>
          </a:bodyPr>
          <a:lstStyle/>
          <a:p>
            <a:pPr marL="81000" indent="0" algn="l">
              <a:lnSpc>
                <a:spcPct val="100000"/>
              </a:lnSpc>
              <a:spcBef>
                <a:spcPts val="0"/>
              </a:spcBef>
              <a:buNone/>
            </a:pPr>
            <a:r>
              <a:rPr lang="en-IN" sz="1400" b="1" dirty="0">
                <a:solidFill>
                  <a:srgbClr val="FF0000"/>
                </a:solidFill>
                <a:latin typeface="Trebuchet MS" panose="020B0603020202020204" pitchFamily="34" charset="0"/>
              </a:rPr>
              <a:t>Algorithm </a:t>
            </a:r>
            <a:r>
              <a:rPr lang="en-IN" sz="1400" b="1" dirty="0">
                <a:solidFill>
                  <a:srgbClr val="0070C0"/>
                </a:solidFill>
                <a:latin typeface="Trebuchet MS" panose="020B0603020202020204" pitchFamily="34" charset="0"/>
              </a:rPr>
              <a:t>ASSEMBLY_LINE_SCHEDULING</a:t>
            </a:r>
            <a:r>
              <a:rPr lang="en-IN" sz="1400" b="1" dirty="0">
                <a:solidFill>
                  <a:srgbClr val="FF0000"/>
                </a:solidFill>
                <a:latin typeface="Trebuchet MS" panose="020B0603020202020204" pitchFamily="34" charset="0"/>
              </a:rPr>
              <a:t>(n, e, a, </a:t>
            </a:r>
            <a:r>
              <a:rPr lang="en-IN" sz="1400" b="1" dirty="0" err="1" smtClean="0">
                <a:solidFill>
                  <a:srgbClr val="FF0000"/>
                </a:solidFill>
                <a:latin typeface="Trebuchet MS" panose="020B0603020202020204" pitchFamily="34" charset="0"/>
              </a:rPr>
              <a:t>t,x</a:t>
            </a:r>
            <a:r>
              <a:rPr lang="en-IN" sz="1400" b="1" dirty="0">
                <a:solidFill>
                  <a:srgbClr val="FF0000"/>
                </a:solidFill>
                <a:latin typeface="Trebuchet MS" panose="020B0603020202020204" pitchFamily="34" charset="0"/>
              </a:rPr>
              <a:t>)  </a:t>
            </a:r>
          </a:p>
          <a:p>
            <a:pPr marL="81000" indent="0" algn="l">
              <a:lnSpc>
                <a:spcPct val="100000"/>
              </a:lnSpc>
              <a:spcBef>
                <a:spcPts val="0"/>
              </a:spcBef>
              <a:buNone/>
            </a:pPr>
            <a:r>
              <a:rPr lang="en-IN" sz="1400" b="1" dirty="0">
                <a:solidFill>
                  <a:srgbClr val="0070C0"/>
                </a:solidFill>
                <a:latin typeface="Trebuchet MS" panose="020B0603020202020204" pitchFamily="34" charset="0"/>
              </a:rPr>
              <a:t>// n </a:t>
            </a:r>
            <a:r>
              <a:rPr lang="en-IN" sz="1400" b="1" dirty="0">
                <a:solidFill>
                  <a:schemeClr val="tx1"/>
                </a:solidFill>
                <a:latin typeface="Trebuchet MS" panose="020B0603020202020204" pitchFamily="34" charset="0"/>
              </a:rPr>
              <a:t>is number of stations on both assembly</a:t>
            </a:r>
          </a:p>
          <a:p>
            <a:pPr marL="81000" indent="0" algn="l">
              <a:lnSpc>
                <a:spcPct val="100000"/>
              </a:lnSpc>
              <a:spcBef>
                <a:spcPts val="0"/>
              </a:spcBef>
              <a:buNone/>
            </a:pPr>
            <a:r>
              <a:rPr lang="en-IN" sz="1400" b="1" dirty="0">
                <a:solidFill>
                  <a:srgbClr val="0070C0"/>
                </a:solidFill>
                <a:latin typeface="Trebuchet MS" panose="020B0603020202020204" pitchFamily="34" charset="0"/>
              </a:rPr>
              <a:t>// e </a:t>
            </a:r>
            <a:r>
              <a:rPr lang="en-IN" sz="1400" b="1" dirty="0">
                <a:solidFill>
                  <a:schemeClr val="tx1"/>
                </a:solidFill>
                <a:latin typeface="Trebuchet MS" panose="020B0603020202020204" pitchFamily="34" charset="0"/>
              </a:rPr>
              <a:t>is array of entry time on assembly</a:t>
            </a:r>
          </a:p>
          <a:p>
            <a:pPr marL="81000" indent="0" algn="l">
              <a:lnSpc>
                <a:spcPct val="100000"/>
              </a:lnSpc>
              <a:spcBef>
                <a:spcPts val="0"/>
              </a:spcBef>
              <a:buNone/>
            </a:pPr>
            <a:r>
              <a:rPr lang="en-IN" sz="1400" b="1" dirty="0">
                <a:solidFill>
                  <a:srgbClr val="0070C0"/>
                </a:solidFill>
                <a:latin typeface="Trebuchet MS" panose="020B0603020202020204" pitchFamily="34" charset="0"/>
              </a:rPr>
              <a:t>// a </a:t>
            </a:r>
            <a:r>
              <a:rPr lang="en-IN" sz="1400" b="1" dirty="0">
                <a:solidFill>
                  <a:schemeClr val="tx1"/>
                </a:solidFill>
                <a:latin typeface="Trebuchet MS" panose="020B0603020202020204" pitchFamily="34" charset="0"/>
              </a:rPr>
              <a:t>is array of assembly time on given station</a:t>
            </a:r>
          </a:p>
          <a:p>
            <a:pPr marL="81000" indent="0" algn="l" defTabSz="1074738">
              <a:lnSpc>
                <a:spcPct val="100000"/>
              </a:lnSpc>
              <a:spcBef>
                <a:spcPts val="0"/>
              </a:spcBef>
              <a:buNone/>
            </a:pPr>
            <a:r>
              <a:rPr lang="en-IN" sz="1400" b="1" dirty="0">
                <a:solidFill>
                  <a:srgbClr val="0070C0"/>
                </a:solidFill>
                <a:latin typeface="Trebuchet MS" panose="020B0603020202020204" pitchFamily="34" charset="0"/>
              </a:rPr>
              <a:t>// t </a:t>
            </a:r>
            <a:r>
              <a:rPr lang="en-IN" sz="1400" b="1" dirty="0">
                <a:solidFill>
                  <a:schemeClr val="tx1"/>
                </a:solidFill>
                <a:latin typeface="Trebuchet MS" panose="020B0603020202020204" pitchFamily="34" charset="0"/>
              </a:rPr>
              <a:t>is array of the time required to change assembly line</a:t>
            </a:r>
          </a:p>
          <a:p>
            <a:pPr marL="81000" indent="0" algn="l">
              <a:lnSpc>
                <a:spcPct val="100000"/>
              </a:lnSpc>
              <a:spcBef>
                <a:spcPts val="0"/>
              </a:spcBef>
              <a:buNone/>
            </a:pPr>
            <a:r>
              <a:rPr lang="en-IN" sz="1400" b="1" dirty="0">
                <a:solidFill>
                  <a:srgbClr val="0070C0"/>
                </a:solidFill>
                <a:latin typeface="Trebuchet MS" panose="020B0603020202020204" pitchFamily="34" charset="0"/>
              </a:rPr>
              <a:t>//x </a:t>
            </a:r>
            <a:r>
              <a:rPr lang="en-IN" sz="1400" b="1" dirty="0">
                <a:solidFill>
                  <a:schemeClr val="tx1"/>
                </a:solidFill>
                <a:latin typeface="Trebuchet MS" panose="020B0603020202020204" pitchFamily="34" charset="0"/>
              </a:rPr>
              <a:t>is array of exit time from assembly</a:t>
            </a:r>
          </a:p>
          <a:p>
            <a:pPr marL="81000" indent="0" algn="l">
              <a:lnSpc>
                <a:spcPct val="100000"/>
              </a:lnSpc>
              <a:spcBef>
                <a:spcPts val="0"/>
              </a:spcBef>
              <a:buNone/>
            </a:pPr>
            <a:endParaRPr lang="en-IN" sz="1400" b="1" dirty="0">
              <a:latin typeface="Trebuchet MS" panose="020B0603020202020204" pitchFamily="34" charset="0"/>
            </a:endParaRPr>
          </a:p>
          <a:p>
            <a:pPr marL="81000" indent="0" algn="l">
              <a:lnSpc>
                <a:spcPct val="100000"/>
              </a:lnSpc>
              <a:spcBef>
                <a:spcPts val="0"/>
              </a:spcBef>
              <a:buNone/>
            </a:pPr>
            <a:r>
              <a:rPr lang="en-IN" sz="1400" b="1" dirty="0">
                <a:latin typeface="Trebuchet MS" panose="020B0603020202020204" pitchFamily="34" charset="0"/>
              </a:rPr>
              <a:t>f1[1] ← e1 + a1,1</a:t>
            </a:r>
          </a:p>
          <a:p>
            <a:pPr marL="81000" indent="0" algn="l">
              <a:lnSpc>
                <a:spcPct val="100000"/>
              </a:lnSpc>
              <a:spcBef>
                <a:spcPts val="0"/>
              </a:spcBef>
              <a:buNone/>
            </a:pPr>
            <a:r>
              <a:rPr lang="en-IN" sz="1400" b="1" dirty="0">
                <a:latin typeface="Trebuchet MS" panose="020B0603020202020204" pitchFamily="34" charset="0"/>
              </a:rPr>
              <a:t>f2[1] ← e2 + a2,1</a:t>
            </a:r>
          </a:p>
          <a:p>
            <a:pPr marL="81000" indent="0" algn="l">
              <a:lnSpc>
                <a:spcPct val="100000"/>
              </a:lnSpc>
              <a:spcBef>
                <a:spcPts val="0"/>
              </a:spcBef>
              <a:buNone/>
            </a:pPr>
            <a:endParaRPr lang="en-IN" sz="1400" b="1" dirty="0">
              <a:latin typeface="Trebuchet MS" panose="020B0603020202020204" pitchFamily="34" charset="0"/>
            </a:endParaRPr>
          </a:p>
          <a:p>
            <a:pPr marL="81000" indent="0" algn="l">
              <a:lnSpc>
                <a:spcPct val="100000"/>
              </a:lnSpc>
              <a:spcBef>
                <a:spcPts val="0"/>
              </a:spcBef>
              <a:buNone/>
            </a:pPr>
            <a:r>
              <a:rPr lang="en-IN" sz="1400" b="1" dirty="0">
                <a:latin typeface="Trebuchet MS" panose="020B0603020202020204" pitchFamily="34" charset="0"/>
              </a:rPr>
              <a:t>for j ← 2 to n do</a:t>
            </a:r>
          </a:p>
          <a:p>
            <a:pPr marL="81000" indent="0" algn="l">
              <a:lnSpc>
                <a:spcPct val="100000"/>
              </a:lnSpc>
              <a:spcBef>
                <a:spcPts val="0"/>
              </a:spcBef>
              <a:buNone/>
            </a:pPr>
            <a:r>
              <a:rPr lang="en-IN" sz="1400" b="1" dirty="0">
                <a:latin typeface="Trebuchet MS" panose="020B0603020202020204" pitchFamily="34" charset="0"/>
              </a:rPr>
              <a:t>   if f1[j - 1] + a1, j  ≤ f2[j – 1] + t[j – 1] + t + a2, j then</a:t>
            </a:r>
          </a:p>
          <a:p>
            <a:pPr marL="81000" indent="0" algn="l">
              <a:lnSpc>
                <a:spcPct val="100000"/>
              </a:lnSpc>
              <a:spcBef>
                <a:spcPts val="0"/>
              </a:spcBef>
              <a:buNone/>
            </a:pPr>
            <a:r>
              <a:rPr lang="en-IN" sz="1400" b="1" dirty="0">
                <a:latin typeface="Trebuchet MS" panose="020B0603020202020204" pitchFamily="34" charset="0"/>
              </a:rPr>
              <a:t>      f1[j] ← f1[j – 1] + a1, j</a:t>
            </a:r>
          </a:p>
          <a:p>
            <a:pPr marL="81000" indent="0" algn="l">
              <a:lnSpc>
                <a:spcPct val="100000"/>
              </a:lnSpc>
              <a:spcBef>
                <a:spcPts val="0"/>
              </a:spcBef>
              <a:buNone/>
            </a:pPr>
            <a:r>
              <a:rPr lang="en-IN" sz="1400" b="1" dirty="0">
                <a:latin typeface="Trebuchet MS" panose="020B0603020202020204" pitchFamily="34" charset="0"/>
              </a:rPr>
              <a:t>      L1[j] ← 1</a:t>
            </a:r>
          </a:p>
          <a:p>
            <a:pPr marL="81000" indent="0" algn="l">
              <a:lnSpc>
                <a:spcPct val="100000"/>
              </a:lnSpc>
              <a:spcBef>
                <a:spcPts val="0"/>
              </a:spcBef>
              <a:buNone/>
            </a:pPr>
            <a:r>
              <a:rPr lang="en-IN" sz="1400" b="1" dirty="0">
                <a:latin typeface="Trebuchet MS" panose="020B0603020202020204" pitchFamily="34" charset="0"/>
              </a:rPr>
              <a:t>   else</a:t>
            </a:r>
          </a:p>
          <a:p>
            <a:pPr marL="81000" indent="0" algn="l">
              <a:lnSpc>
                <a:spcPct val="100000"/>
              </a:lnSpc>
              <a:spcBef>
                <a:spcPts val="0"/>
              </a:spcBef>
              <a:buNone/>
            </a:pPr>
            <a:r>
              <a:rPr lang="en-IN" sz="1400" b="1" dirty="0">
                <a:latin typeface="Trebuchet MS" panose="020B0603020202020204" pitchFamily="34" charset="0"/>
              </a:rPr>
              <a:t>      f1[j] ← f2[j – 1] + t2,j – 1+ a1, j</a:t>
            </a:r>
          </a:p>
          <a:p>
            <a:pPr marL="81000" indent="0" algn="l">
              <a:lnSpc>
                <a:spcPct val="100000"/>
              </a:lnSpc>
              <a:spcBef>
                <a:spcPts val="0"/>
              </a:spcBef>
              <a:buNone/>
            </a:pPr>
            <a:r>
              <a:rPr lang="en-IN" sz="1400" b="1" dirty="0">
                <a:latin typeface="Trebuchet MS" panose="020B0603020202020204" pitchFamily="34" charset="0"/>
              </a:rPr>
              <a:t>      L1[j] ← 2</a:t>
            </a:r>
          </a:p>
          <a:p>
            <a:pPr marL="81000" indent="0" algn="l">
              <a:lnSpc>
                <a:spcPct val="100000"/>
              </a:lnSpc>
              <a:spcBef>
                <a:spcPts val="0"/>
              </a:spcBef>
              <a:buNone/>
            </a:pPr>
            <a:r>
              <a:rPr lang="en-IN" sz="1400" b="1" dirty="0">
                <a:latin typeface="Trebuchet MS" panose="020B0603020202020204" pitchFamily="34" charset="0"/>
              </a:rPr>
              <a:t>   end</a:t>
            </a:r>
          </a:p>
          <a:p>
            <a:pPr marL="81000" indent="0" algn="l">
              <a:lnSpc>
                <a:spcPct val="100000"/>
              </a:lnSpc>
              <a:spcBef>
                <a:spcPts val="600"/>
              </a:spcBef>
              <a:buNone/>
            </a:pPr>
            <a:r>
              <a:rPr lang="en-IN" sz="1400" b="1" dirty="0">
                <a:latin typeface="Trebuchet MS" panose="020B0603020202020204" pitchFamily="34" charset="0"/>
              </a:rPr>
              <a:t> if f2[j – 1] + a2, j ≤ f1[j – 1] + t1, j – 1 + a2, j then</a:t>
            </a:r>
          </a:p>
          <a:p>
            <a:pPr marL="984250" indent="0" algn="l">
              <a:lnSpc>
                <a:spcPct val="100000"/>
              </a:lnSpc>
              <a:spcBef>
                <a:spcPts val="600"/>
              </a:spcBef>
              <a:buNone/>
            </a:pPr>
            <a:r>
              <a:rPr lang="en-IN" sz="1400" b="1" dirty="0">
                <a:latin typeface="Trebuchet MS" panose="020B0603020202020204" pitchFamily="34" charset="0"/>
              </a:rPr>
              <a:t>      f2[j] ← f2[j – 1] + a2, j</a:t>
            </a:r>
          </a:p>
          <a:p>
            <a:pPr marL="984250" indent="0" algn="l">
              <a:lnSpc>
                <a:spcPct val="100000"/>
              </a:lnSpc>
              <a:spcBef>
                <a:spcPts val="600"/>
              </a:spcBef>
              <a:buNone/>
            </a:pPr>
            <a:r>
              <a:rPr lang="en-IN" sz="1400" b="1" dirty="0">
                <a:latin typeface="Corbel" panose="020B0503020204020204" pitchFamily="34" charset="0"/>
              </a:rPr>
              <a:t>      </a:t>
            </a:r>
            <a:r>
              <a:rPr lang="en-IN" sz="1400" b="1" dirty="0">
                <a:latin typeface="Trebuchet MS" panose="020B0603020202020204" pitchFamily="34" charset="0"/>
              </a:rPr>
              <a:t>L2[j] ← 2</a:t>
            </a:r>
          </a:p>
          <a:p>
            <a:pPr marL="984250" indent="0" algn="l">
              <a:lnSpc>
                <a:spcPct val="100000"/>
              </a:lnSpc>
              <a:spcBef>
                <a:spcPts val="600"/>
              </a:spcBef>
              <a:buNone/>
            </a:pPr>
            <a:r>
              <a:rPr lang="en-IN" sz="1400" b="1" dirty="0">
                <a:latin typeface="Trebuchet MS" panose="020B0603020202020204" pitchFamily="34" charset="0"/>
              </a:rPr>
              <a:t>   else</a:t>
            </a:r>
          </a:p>
          <a:p>
            <a:pPr marL="984250" indent="0" algn="l">
              <a:lnSpc>
                <a:spcPct val="100000"/>
              </a:lnSpc>
              <a:spcBef>
                <a:spcPts val="600"/>
              </a:spcBef>
              <a:buNone/>
            </a:pPr>
            <a:r>
              <a:rPr lang="en-IN" sz="1400" b="1" dirty="0">
                <a:latin typeface="Trebuchet MS" panose="020B0603020202020204" pitchFamily="34" charset="0"/>
              </a:rPr>
              <a:t>      f2[j] ← f1[j – 1] + t1, j – 1 + a2, j</a:t>
            </a:r>
          </a:p>
          <a:p>
            <a:pPr marL="984250" indent="0" algn="l">
              <a:lnSpc>
                <a:spcPct val="100000"/>
              </a:lnSpc>
              <a:spcBef>
                <a:spcPts val="600"/>
              </a:spcBef>
              <a:buNone/>
            </a:pPr>
            <a:r>
              <a:rPr lang="en-IN" sz="1400" b="1" dirty="0">
                <a:latin typeface="Trebuchet MS" panose="020B0603020202020204" pitchFamily="34" charset="0"/>
              </a:rPr>
              <a:t>      L2[j] ← 1</a:t>
            </a:r>
          </a:p>
          <a:p>
            <a:pPr marL="984250" indent="0" algn="l">
              <a:lnSpc>
                <a:spcPct val="100000"/>
              </a:lnSpc>
              <a:spcBef>
                <a:spcPts val="600"/>
              </a:spcBef>
              <a:buNone/>
            </a:pPr>
            <a:r>
              <a:rPr lang="en-IN" sz="1400" b="1" dirty="0">
                <a:latin typeface="Trebuchet MS" panose="020B0603020202020204" pitchFamily="34" charset="0"/>
              </a:rPr>
              <a:t>   end</a:t>
            </a:r>
          </a:p>
          <a:p>
            <a:pPr marL="984250" indent="0" algn="l">
              <a:lnSpc>
                <a:spcPct val="100000"/>
              </a:lnSpc>
              <a:spcBef>
                <a:spcPts val="600"/>
              </a:spcBef>
              <a:buNone/>
            </a:pPr>
            <a:endParaRPr lang="en-IN" sz="1400" b="1" dirty="0">
              <a:latin typeface="Trebuchet MS" panose="020B0603020202020204" pitchFamily="34" charset="0"/>
            </a:endParaRPr>
          </a:p>
          <a:p>
            <a:pPr marL="984250" indent="0" algn="l">
              <a:lnSpc>
                <a:spcPct val="100000"/>
              </a:lnSpc>
              <a:spcBef>
                <a:spcPts val="600"/>
              </a:spcBef>
              <a:buNone/>
            </a:pPr>
            <a:r>
              <a:rPr lang="en-IN" sz="1400" b="1" dirty="0">
                <a:latin typeface="Trebuchet MS" panose="020B0603020202020204" pitchFamily="34" charset="0"/>
              </a:rPr>
              <a:t>   if f1[n] + x1  ≤ f2[n] + x2 then</a:t>
            </a:r>
          </a:p>
          <a:p>
            <a:pPr marL="984250" indent="0" algn="l">
              <a:lnSpc>
                <a:spcPct val="100000"/>
              </a:lnSpc>
              <a:spcBef>
                <a:spcPts val="600"/>
              </a:spcBef>
              <a:buNone/>
            </a:pPr>
            <a:r>
              <a:rPr lang="en-IN" sz="1400" b="1" dirty="0">
                <a:latin typeface="Trebuchet MS" panose="020B0603020202020204" pitchFamily="34" charset="0"/>
              </a:rPr>
              <a:t>      F* ← f1[n] + x1</a:t>
            </a:r>
          </a:p>
          <a:p>
            <a:pPr marL="984250" indent="0" algn="l">
              <a:lnSpc>
                <a:spcPct val="100000"/>
              </a:lnSpc>
              <a:spcBef>
                <a:spcPts val="600"/>
              </a:spcBef>
              <a:buNone/>
            </a:pPr>
            <a:r>
              <a:rPr lang="en-IN" sz="1400" b="1" dirty="0">
                <a:latin typeface="Trebuchet MS" panose="020B0603020202020204" pitchFamily="34" charset="0"/>
              </a:rPr>
              <a:t>      L* ← 1</a:t>
            </a:r>
          </a:p>
          <a:p>
            <a:pPr marL="984250" indent="0" algn="l">
              <a:lnSpc>
                <a:spcPct val="100000"/>
              </a:lnSpc>
              <a:spcBef>
                <a:spcPts val="600"/>
              </a:spcBef>
              <a:buNone/>
            </a:pPr>
            <a:r>
              <a:rPr lang="en-IN" sz="1400" b="1" dirty="0">
                <a:latin typeface="Trebuchet MS" panose="020B0603020202020204" pitchFamily="34" charset="0"/>
              </a:rPr>
              <a:t>   else</a:t>
            </a:r>
          </a:p>
          <a:p>
            <a:pPr marL="984250" indent="0" algn="l">
              <a:lnSpc>
                <a:spcPct val="100000"/>
              </a:lnSpc>
              <a:spcBef>
                <a:spcPts val="600"/>
              </a:spcBef>
              <a:buNone/>
            </a:pPr>
            <a:r>
              <a:rPr lang="en-IN" sz="1400" b="1" dirty="0">
                <a:latin typeface="Trebuchet MS" panose="020B0603020202020204" pitchFamily="34" charset="0"/>
              </a:rPr>
              <a:t>      F* ← f2[n] + x2</a:t>
            </a:r>
          </a:p>
          <a:p>
            <a:pPr marL="984250" indent="0" algn="l">
              <a:lnSpc>
                <a:spcPct val="100000"/>
              </a:lnSpc>
              <a:spcBef>
                <a:spcPts val="600"/>
              </a:spcBef>
              <a:buNone/>
            </a:pPr>
            <a:r>
              <a:rPr lang="en-IN" sz="1400" b="1" dirty="0">
                <a:latin typeface="Trebuchet MS" panose="020B0603020202020204" pitchFamily="34" charset="0"/>
              </a:rPr>
              <a:t>      L* ← 2</a:t>
            </a:r>
          </a:p>
          <a:p>
            <a:pPr marL="984250" indent="0" algn="l">
              <a:lnSpc>
                <a:spcPct val="100000"/>
              </a:lnSpc>
              <a:spcBef>
                <a:spcPts val="600"/>
              </a:spcBef>
              <a:buNone/>
            </a:pPr>
            <a:r>
              <a:rPr lang="en-IN" sz="1400" b="1" dirty="0">
                <a:latin typeface="Trebuchet MS" panose="020B0603020202020204" pitchFamily="34" charset="0"/>
              </a:rPr>
              <a:t>   </a:t>
            </a:r>
            <a:r>
              <a:rPr lang="en-IN" sz="1400" b="1" dirty="0" smtClean="0">
                <a:latin typeface="Trebuchet MS" panose="020B0603020202020204" pitchFamily="34" charset="0"/>
              </a:rPr>
              <a:t>end</a:t>
            </a:r>
          </a:p>
          <a:p>
            <a:pPr marL="984250" indent="0" algn="l">
              <a:lnSpc>
                <a:spcPct val="100000"/>
              </a:lnSpc>
              <a:spcBef>
                <a:spcPts val="600"/>
              </a:spcBef>
              <a:buNone/>
            </a:pPr>
            <a:r>
              <a:rPr lang="en-IN" sz="1400" b="1" dirty="0" smtClean="0">
                <a:latin typeface="Trebuchet MS" panose="020B0603020202020204" pitchFamily="34" charset="0"/>
              </a:rPr>
              <a:t>end</a:t>
            </a:r>
            <a:endParaRPr lang="en-IN" sz="1400" b="1" dirty="0">
              <a:latin typeface="Trebuchet MS" panose="020B0603020202020204" pitchFamily="34" charset="0"/>
            </a:endParaRPr>
          </a:p>
        </p:txBody>
      </p:sp>
      <p:cxnSp>
        <p:nvCxnSpPr>
          <p:cNvPr id="10" name="Straight Connector 9">
            <a:extLst>
              <a:ext uri="{FF2B5EF4-FFF2-40B4-BE49-F238E27FC236}">
                <a16:creationId xmlns:a16="http://schemas.microsoft.com/office/drawing/2014/main" id="{49176CFE-A14D-36C1-2018-73000D943CB5}"/>
              </a:ext>
            </a:extLst>
          </p:cNvPr>
          <p:cNvCxnSpPr>
            <a:cxnSpLocks/>
          </p:cNvCxnSpPr>
          <p:nvPr/>
        </p:nvCxnSpPr>
        <p:spPr>
          <a:xfrm>
            <a:off x="5380892" y="687793"/>
            <a:ext cx="0" cy="4255477"/>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1491397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5" y="148588"/>
            <a:ext cx="465406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Assembly line scheduling </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mc:AlternateContent xmlns:mc="http://schemas.openxmlformats.org/markup-compatibility/2006" xmlns:a14="http://schemas.microsoft.com/office/drawing/2010/main">
        <mc:Choice Requires="a14">
          <p:sp>
            <p:nvSpPr>
              <p:cNvPr id="11" name="Content Placeholder 2"/>
              <p:cNvSpPr txBox="1">
                <a:spLocks/>
              </p:cNvSpPr>
              <p:nvPr/>
            </p:nvSpPr>
            <p:spPr>
              <a:xfrm>
                <a:off x="0" y="700088"/>
                <a:ext cx="8970380" cy="41417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a:buClrTx/>
                </a:pPr>
                <a:r>
                  <a:rPr lang="en-US" sz="2000" dirty="0" smtClean="0">
                    <a:solidFill>
                      <a:schemeClr val="tx1"/>
                    </a:solidFill>
                    <a:latin typeface="Trebuchet MS" panose="020B0603020202020204" pitchFamily="34" charset="0"/>
                  </a:rPr>
                  <a:t>Entry times are: </a:t>
                </a:r>
                <a14:m>
                  <m:oMath xmlns:m="http://schemas.openxmlformats.org/officeDocument/2006/math">
                    <m:sSub>
                      <m:sSubPr>
                        <m:ctrlPr>
                          <a:rPr lang="en-US" sz="2000" b="1" i="1" smtClean="0">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𝒆</m:t>
                        </m:r>
                      </m:e>
                      <m:sub>
                        <m:r>
                          <a:rPr lang="en-US" sz="2000" b="1" i="1">
                            <a:solidFill>
                              <a:srgbClr val="0070C0"/>
                            </a:solidFill>
                            <a:latin typeface="Cambria Math" panose="02040503050406030204" pitchFamily="18" charset="0"/>
                          </a:rPr>
                          <m:t>𝟏</m:t>
                        </m:r>
                      </m:sub>
                    </m:sSub>
                    <m:r>
                      <a:rPr lang="en-US" sz="2000" i="1">
                        <a:solidFill>
                          <a:srgbClr val="0070C0"/>
                        </a:solidFill>
                        <a:latin typeface="Cambria Math" panose="02040503050406030204" pitchFamily="18" charset="0"/>
                      </a:rPr>
                      <m:t> </m:t>
                    </m:r>
                  </m:oMath>
                </a14:m>
                <a:r>
                  <a:rPr lang="en-US" sz="2000" dirty="0">
                    <a:solidFill>
                      <a:schemeClr val="tx1"/>
                    </a:solidFill>
                    <a:latin typeface="Trebuchet MS" panose="020B0603020202020204" pitchFamily="34" charset="0"/>
                  </a:rPr>
                  <a:t>and </a:t>
                </a:r>
                <a14:m>
                  <m:oMath xmlns:m="http://schemas.openxmlformats.org/officeDocument/2006/math">
                    <m:sSub>
                      <m:sSubPr>
                        <m:ctrlPr>
                          <a:rPr lang="en-US" sz="2000" b="1" i="1" smtClean="0">
                            <a:solidFill>
                              <a:srgbClr val="0070C0"/>
                            </a:solidFill>
                            <a:latin typeface="Cambria Math" panose="02040503050406030204" pitchFamily="18" charset="0"/>
                          </a:rPr>
                        </m:ctrlPr>
                      </m:sSubPr>
                      <m:e>
                        <m:r>
                          <a:rPr lang="en-US" sz="2000" b="1" i="1" smtClean="0">
                            <a:solidFill>
                              <a:srgbClr val="0070C0"/>
                            </a:solidFill>
                            <a:latin typeface="Cambria Math" panose="02040503050406030204" pitchFamily="18" charset="0"/>
                          </a:rPr>
                          <m:t>𝒆</m:t>
                        </m:r>
                      </m:e>
                      <m:sub>
                        <m:r>
                          <a:rPr lang="en-US" sz="2000" b="1" i="1">
                            <a:solidFill>
                              <a:srgbClr val="0070C0"/>
                            </a:solidFill>
                            <a:latin typeface="Cambria Math" panose="02040503050406030204" pitchFamily="18" charset="0"/>
                          </a:rPr>
                          <m:t>𝟐</m:t>
                        </m:r>
                      </m:sub>
                    </m:sSub>
                  </m:oMath>
                </a14:m>
                <a:r>
                  <a:rPr lang="en-US" sz="2000" dirty="0">
                    <a:solidFill>
                      <a:schemeClr val="tx1"/>
                    </a:solidFill>
                    <a:latin typeface="Trebuchet MS" panose="020B0603020202020204" pitchFamily="34" charset="0"/>
                  </a:rPr>
                  <a:t>; exit times are:  </a:t>
                </a:r>
                <a14:m>
                  <m:oMath xmlns:m="http://schemas.openxmlformats.org/officeDocument/2006/math">
                    <m:sSub>
                      <m:sSubPr>
                        <m:ctrlPr>
                          <a:rPr lang="en-US" sz="2000" b="1" i="1" smtClean="0">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𝟏</m:t>
                        </m:r>
                      </m:sub>
                    </m:sSub>
                  </m:oMath>
                </a14:m>
                <a:r>
                  <a:rPr lang="en-US" sz="2000" dirty="0">
                    <a:solidFill>
                      <a:schemeClr val="tx1"/>
                    </a:solidFill>
                    <a:latin typeface="Trebuchet MS" panose="020B0603020202020204" pitchFamily="34" charset="0"/>
                  </a:rPr>
                  <a:t>and </a:t>
                </a:r>
                <a14:m>
                  <m:oMath xmlns:m="http://schemas.openxmlformats.org/officeDocument/2006/math">
                    <m:sSub>
                      <m:sSubPr>
                        <m:ctrlPr>
                          <a:rPr lang="en-US" sz="2000" b="1" i="1" smtClean="0">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𝟐</m:t>
                        </m:r>
                      </m:sub>
                    </m:sSub>
                  </m:oMath>
                </a14:m>
                <a:endParaRPr lang="en-US" sz="2000" b="1" dirty="0">
                  <a:solidFill>
                    <a:schemeClr val="tx1"/>
                  </a:solidFill>
                  <a:latin typeface="Trebuchet MS" panose="020B0603020202020204" pitchFamily="34" charset="0"/>
                </a:endParaRPr>
              </a:p>
              <a:p>
                <a:pPr>
                  <a:buClrTx/>
                </a:pPr>
                <a:r>
                  <a:rPr lang="en-US" sz="2000" dirty="0">
                    <a:solidFill>
                      <a:schemeClr val="tx1"/>
                    </a:solidFill>
                    <a:latin typeface="Trebuchet MS" panose="020B0603020202020204" pitchFamily="34" charset="0"/>
                  </a:rPr>
                  <a:t>After going through a station, a chassis can either:</a:t>
                </a:r>
              </a:p>
              <a:p>
                <a:pPr lvl="1">
                  <a:buClrTx/>
                  <a:buFont typeface="Wingdings" panose="05000000000000000000" pitchFamily="2" charset="2"/>
                  <a:buChar char="v"/>
                </a:pPr>
                <a:r>
                  <a:rPr lang="en-US" sz="2000" dirty="0">
                    <a:solidFill>
                      <a:schemeClr val="tx1"/>
                    </a:solidFill>
                    <a:latin typeface="Trebuchet MS" panose="020B0603020202020204" pitchFamily="34" charset="0"/>
                  </a:rPr>
                  <a:t>stay on </a:t>
                </a:r>
                <a:r>
                  <a:rPr lang="en-US" sz="2000" b="1" dirty="0">
                    <a:solidFill>
                      <a:srgbClr val="0070C0"/>
                    </a:solidFill>
                    <a:latin typeface="Trebuchet MS" panose="020B0603020202020204" pitchFamily="34" charset="0"/>
                  </a:rPr>
                  <a:t>same line </a:t>
                </a:r>
                <a:r>
                  <a:rPr lang="en-US" sz="2000" dirty="0">
                    <a:solidFill>
                      <a:schemeClr val="tx1"/>
                    </a:solidFill>
                    <a:latin typeface="Trebuchet MS" panose="020B0603020202020204" pitchFamily="34" charset="0"/>
                  </a:rPr>
                  <a:t>at no cost, or </a:t>
                </a:r>
              </a:p>
              <a:p>
                <a:pPr lvl="1">
                  <a:buClrTx/>
                  <a:buFont typeface="Wingdings" panose="05000000000000000000" pitchFamily="2" charset="2"/>
                  <a:buChar char="v"/>
                </a:pPr>
                <a:r>
                  <a:rPr lang="en-US" sz="2000" dirty="0">
                    <a:solidFill>
                      <a:schemeClr val="tx1"/>
                    </a:solidFill>
                    <a:latin typeface="Trebuchet MS" panose="020B0603020202020204" pitchFamily="34" charset="0"/>
                  </a:rPr>
                  <a:t>transfer to </a:t>
                </a:r>
                <a:r>
                  <a:rPr lang="en-US" sz="2000" b="1" dirty="0">
                    <a:solidFill>
                      <a:srgbClr val="0070C0"/>
                    </a:solidFill>
                    <a:latin typeface="Trebuchet MS" panose="020B0603020202020204" pitchFamily="34" charset="0"/>
                  </a:rPr>
                  <a:t>other line</a:t>
                </a:r>
                <a:r>
                  <a:rPr lang="en-US" sz="2000" dirty="0">
                    <a:solidFill>
                      <a:schemeClr val="tx1"/>
                    </a:solidFill>
                    <a:latin typeface="Trebuchet MS" panose="020B0603020202020204" pitchFamily="34" charset="0"/>
                  </a:rPr>
                  <a:t>: cost after </a:t>
                </a:r>
                <a14:m>
                  <m:oMath xmlns:m="http://schemas.openxmlformats.org/officeDocument/2006/math">
                    <m:sSub>
                      <m:sSubPr>
                        <m:ctrlPr>
                          <a:rPr lang="en-US" sz="2000" b="1" i="1" smtClean="0">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𝑺</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oMath>
                </a14:m>
                <a:r>
                  <a:rPr lang="en-US" sz="2000" b="1" dirty="0">
                    <a:solidFill>
                      <a:schemeClr val="tx1"/>
                    </a:solidFill>
                    <a:latin typeface="Trebuchet MS" panose="020B0603020202020204" pitchFamily="34" charset="0"/>
                  </a:rPr>
                  <a:t> </a:t>
                </a:r>
                <a:r>
                  <a:rPr lang="en-US" sz="2000" dirty="0">
                    <a:solidFill>
                      <a:schemeClr val="tx1"/>
                    </a:solidFill>
                    <a:latin typeface="Trebuchet MS" panose="020B0603020202020204" pitchFamily="34" charset="0"/>
                  </a:rPr>
                  <a:t>is </a:t>
                </a:r>
                <a14:m>
                  <m:oMath xmlns:m="http://schemas.openxmlformats.org/officeDocument/2006/math">
                    <m:sSub>
                      <m:sSubPr>
                        <m:ctrlPr>
                          <a:rPr lang="en-US" sz="2000" b="1" i="1" smtClean="0">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𝑻</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oMath>
                </a14:m>
                <a:r>
                  <a:rPr lang="en-US" sz="2000" dirty="0">
                    <a:solidFill>
                      <a:schemeClr val="tx1"/>
                    </a:solidFill>
                    <a:latin typeface="Trebuchet MS" panose="020B0603020202020204" pitchFamily="34" charset="0"/>
                  </a:rPr>
                  <a:t> for </a:t>
                </a:r>
                <a14:m>
                  <m:oMath xmlns:m="http://schemas.openxmlformats.org/officeDocument/2006/math">
                    <m:r>
                      <a:rPr lang="en-US" sz="2000" b="1" i="1" smtClean="0">
                        <a:solidFill>
                          <a:srgbClr val="0070C0"/>
                        </a:solidFill>
                        <a:latin typeface="Cambria Math" panose="02040503050406030204" pitchFamily="18" charset="0"/>
                      </a:rPr>
                      <m:t>𝒋</m:t>
                    </m:r>
                    <m:r>
                      <a:rPr lang="en-US" sz="2000" b="1" i="1" smtClean="0">
                        <a:solidFill>
                          <a:srgbClr val="0070C0"/>
                        </a:solidFill>
                        <a:latin typeface="Cambria Math" panose="02040503050406030204" pitchFamily="18" charset="0"/>
                      </a:rPr>
                      <m:t>=</m:t>
                    </m:r>
                    <m:r>
                      <a:rPr lang="en-US" sz="2000" b="1" i="1" smtClean="0">
                        <a:solidFill>
                          <a:srgbClr val="0070C0"/>
                        </a:solidFill>
                        <a:latin typeface="Cambria Math" panose="02040503050406030204" pitchFamily="18" charset="0"/>
                      </a:rPr>
                      <m:t>𝟏</m:t>
                    </m:r>
                    <m:r>
                      <a:rPr lang="en-US" sz="2000" b="1" i="1" smtClean="0">
                        <a:solidFill>
                          <a:srgbClr val="0070C0"/>
                        </a:solidFill>
                        <a:latin typeface="Cambria Math" panose="02040503050406030204" pitchFamily="18" charset="0"/>
                      </a:rPr>
                      <m:t>, . . . , </m:t>
                    </m:r>
                    <m:r>
                      <a:rPr lang="en-US" sz="2000" b="1" i="1" smtClean="0">
                        <a:solidFill>
                          <a:srgbClr val="0070C0"/>
                        </a:solidFill>
                        <a:latin typeface="Cambria Math" panose="02040503050406030204" pitchFamily="18" charset="0"/>
                      </a:rPr>
                      <m:t>𝒏</m:t>
                    </m:r>
                    <m:r>
                      <a:rPr lang="en-US" sz="2000" b="1" i="1" smtClean="0">
                        <a:solidFill>
                          <a:srgbClr val="0070C0"/>
                        </a:solidFill>
                        <a:latin typeface="Cambria Math" panose="02040503050406030204" pitchFamily="18" charset="0"/>
                      </a:rPr>
                      <m:t> –</m:t>
                    </m:r>
                    <m:r>
                      <a:rPr lang="en-US" sz="2000" b="1" i="1" smtClean="0">
                        <a:solidFill>
                          <a:srgbClr val="0070C0"/>
                        </a:solidFill>
                        <a:latin typeface="Cambria Math" panose="02040503050406030204" pitchFamily="18" charset="0"/>
                      </a:rPr>
                      <m:t>𝟏</m:t>
                    </m:r>
                  </m:oMath>
                </a14:m>
                <a:endParaRPr lang="en-US" sz="2000" b="1" dirty="0">
                  <a:solidFill>
                    <a:srgbClr val="0070C0"/>
                  </a:solidFill>
                  <a:latin typeface="Trebuchet MS" panose="020B0603020202020204" pitchFamily="34" charset="0"/>
                </a:endParaRPr>
              </a:p>
            </p:txBody>
          </p:sp>
        </mc:Choice>
        <mc:Fallback xmlns="">
          <p:sp>
            <p:nvSpPr>
              <p:cNvPr id="11" name="Content Placeholder 2"/>
              <p:cNvSpPr txBox="1">
                <a:spLocks noRot="1" noChangeAspect="1" noMove="1" noResize="1" noEditPoints="1" noAdjustHandles="1" noChangeArrowheads="1" noChangeShapeType="1" noTextEdit="1"/>
              </p:cNvSpPr>
              <p:nvPr/>
            </p:nvSpPr>
            <p:spPr>
              <a:xfrm>
                <a:off x="0" y="700088"/>
                <a:ext cx="8970380" cy="4141787"/>
              </a:xfrm>
              <a:prstGeom prst="rect">
                <a:avLst/>
              </a:prstGeom>
              <a:blipFill>
                <a:blip r:embed="rId6"/>
                <a:stretch>
                  <a:fillRect/>
                </a:stretch>
              </a:blipFill>
              <a:ln>
                <a:noFill/>
              </a:ln>
            </p:spPr>
            <p:txBody>
              <a:bodyPr/>
              <a:lstStyle/>
              <a:p>
                <a:r>
                  <a:rPr lang="en-IN">
                    <a:noFill/>
                  </a:rPr>
                  <a:t> </a:t>
                </a:r>
              </a:p>
            </p:txBody>
          </p:sp>
        </mc:Fallback>
      </mc:AlternateContent>
      <p:pic>
        <p:nvPicPr>
          <p:cNvPr id="12" name="Picture 11">
            <a:extLst>
              <a:ext uri="{FF2B5EF4-FFF2-40B4-BE49-F238E27FC236}">
                <a16:creationId xmlns:a16="http://schemas.microsoft.com/office/drawing/2014/main" id="{FCE93E76-9AA5-D4F5-345D-954EE7F6E42A}"/>
              </a:ext>
            </a:extLst>
          </p:cNvPr>
          <p:cNvPicPr>
            <a:picLocks noChangeAspect="1"/>
          </p:cNvPicPr>
          <p:nvPr/>
        </p:nvPicPr>
        <p:blipFill>
          <a:blip r:embed="rId7"/>
          <a:stretch>
            <a:fillRect/>
          </a:stretch>
        </p:blipFill>
        <p:spPr>
          <a:xfrm>
            <a:off x="779437" y="2341433"/>
            <a:ext cx="6858000" cy="2648867"/>
          </a:xfrm>
          <a:prstGeom prst="rect">
            <a:avLst/>
          </a:prstGeom>
        </p:spPr>
      </p:pic>
    </p:spTree>
    <p:extLst>
      <p:ext uri="{BB962C8B-B14F-4D97-AF65-F5344CB8AC3E}">
        <p14:creationId xmlns:p14="http://schemas.microsoft.com/office/powerpoint/2010/main" val="383706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24299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Assembly line </a:t>
            </a:r>
            <a:r>
              <a:rPr kumimoji="0" lang="en-IN" sz="2800" b="1" i="0" u="none" strike="noStrike" kern="0" cap="none" spc="0" normalizeH="0" baseline="0" noProof="0" dirty="0" smtClean="0">
                <a:ln>
                  <a:noFill/>
                </a:ln>
                <a:solidFill>
                  <a:schemeClr val="bg1"/>
                </a:solidFill>
                <a:effectLst/>
                <a:uLnTx/>
                <a:uFillTx/>
                <a:latin typeface="Trebuchet MS" panose="020B0603020202020204" pitchFamily="34" charset="0"/>
                <a:sym typeface="Arial"/>
              </a:rPr>
              <a:t>scheduling – Example  </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8" name="Content Placeholder 2"/>
          <p:cNvSpPr txBox="1">
            <a:spLocks/>
          </p:cNvSpPr>
          <p:nvPr/>
        </p:nvSpPr>
        <p:spPr>
          <a:xfrm>
            <a:off x="417513" y="804863"/>
            <a:ext cx="8726487" cy="4037012"/>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r>
              <a:rPr lang="en-US" sz="2000" dirty="0" smtClean="0">
                <a:solidFill>
                  <a:schemeClr val="tx1"/>
                </a:solidFill>
                <a:latin typeface="Trebuchet MS" panose="020B0603020202020204" pitchFamily="34" charset="0"/>
              </a:rPr>
              <a:t>Using dynamic programming technique, find the fastest time to get through the entire factory for the following:</a:t>
            </a:r>
            <a:endParaRPr lang="en-US" sz="2000" dirty="0">
              <a:solidFill>
                <a:schemeClr val="tx1"/>
              </a:solidFill>
              <a:latin typeface="Trebuchet MS" panose="020B0603020202020204" pitchFamily="34" charset="0"/>
            </a:endParaRPr>
          </a:p>
        </p:txBody>
      </p:sp>
      <p:pic>
        <p:nvPicPr>
          <p:cNvPr id="10" name="Content Placeholder 4" descr="C:\Users\RUPESH\Pictures\aa.jpg"/>
          <p:cNvPicPr/>
          <p:nvPr/>
        </p:nvPicPr>
        <p:blipFill>
          <a:blip r:embed="rId6">
            <a:extLst>
              <a:ext uri="{28A0092B-C50C-407E-A947-70E740481C1C}">
                <a14:useLocalDpi xmlns:a14="http://schemas.microsoft.com/office/drawing/2010/main" val="0"/>
              </a:ext>
            </a:extLst>
          </a:blip>
          <a:stretch>
            <a:fillRect/>
          </a:stretch>
        </p:blipFill>
        <p:spPr bwMode="auto">
          <a:xfrm>
            <a:off x="659756" y="1794870"/>
            <a:ext cx="7164581" cy="3047005"/>
          </a:xfrm>
          <a:prstGeom prst="rect">
            <a:avLst/>
          </a:prstGeom>
          <a:noFill/>
          <a:ln>
            <a:noFill/>
          </a:ln>
        </p:spPr>
      </p:pic>
    </p:spTree>
    <p:extLst>
      <p:ext uri="{BB962C8B-B14F-4D97-AF65-F5344CB8AC3E}">
        <p14:creationId xmlns:p14="http://schemas.microsoft.com/office/powerpoint/2010/main" val="363356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24299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Assembly line </a:t>
            </a:r>
            <a:r>
              <a:rPr kumimoji="0" lang="en-IN" sz="2800" b="1" i="0" u="none" strike="noStrike" kern="0" cap="none" spc="0" normalizeH="0" baseline="0" noProof="0" dirty="0" smtClean="0">
                <a:ln>
                  <a:noFill/>
                </a:ln>
                <a:solidFill>
                  <a:schemeClr val="bg1"/>
                </a:solidFill>
                <a:effectLst/>
                <a:uLnTx/>
                <a:uFillTx/>
                <a:latin typeface="Trebuchet MS" panose="020B0603020202020204" pitchFamily="34" charset="0"/>
                <a:sym typeface="Arial"/>
              </a:rPr>
              <a:t>scheduling</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11" name="TextBox 10">
            <a:extLst>
              <a:ext uri="{FF2B5EF4-FFF2-40B4-BE49-F238E27FC236}">
                <a16:creationId xmlns:a16="http://schemas.microsoft.com/office/drawing/2014/main" id="{B5048CFB-1E85-CD2C-6F3E-EC695C4E4792}"/>
              </a:ext>
            </a:extLst>
          </p:cNvPr>
          <p:cNvSpPr txBox="1"/>
          <p:nvPr/>
        </p:nvSpPr>
        <p:spPr>
          <a:xfrm>
            <a:off x="405886" y="1060750"/>
            <a:ext cx="8332178" cy="3385542"/>
          </a:xfrm>
          <a:prstGeom prst="rect">
            <a:avLst/>
          </a:prstGeom>
          <a:noFill/>
        </p:spPr>
        <p:txBody>
          <a:bodyPr wrap="square">
            <a:spAutoFit/>
          </a:bodyPr>
          <a:lstStyle/>
          <a:p>
            <a:pPr algn="l" fontAlgn="base">
              <a:spcBef>
                <a:spcPts val="1200"/>
              </a:spcBef>
            </a:pPr>
            <a:r>
              <a:rPr lang="en-IN" sz="2000" b="1" i="0" dirty="0">
                <a:solidFill>
                  <a:srgbClr val="0070C0"/>
                </a:solidFill>
                <a:effectLst/>
                <a:latin typeface="Trebuchet MS" panose="020B0603020202020204" pitchFamily="34" charset="0"/>
              </a:rPr>
              <a:t>Terminologies :</a:t>
            </a:r>
          </a:p>
          <a:p>
            <a:pPr marL="457200" lvl="1" algn="l" fontAlgn="base">
              <a:spcBef>
                <a:spcPts val="1200"/>
              </a:spcBef>
            </a:pPr>
            <a:r>
              <a:rPr lang="en-IN" sz="2000" b="0" i="0" dirty="0" err="1">
                <a:solidFill>
                  <a:schemeClr val="tx1"/>
                </a:solidFill>
                <a:effectLst/>
                <a:latin typeface="Trebuchet MS" panose="020B0603020202020204" pitchFamily="34" charset="0"/>
              </a:rPr>
              <a:t>S</a:t>
            </a:r>
            <a:r>
              <a:rPr lang="en-IN" sz="2000" b="0" i="0" baseline="-25000" dirty="0" err="1">
                <a:solidFill>
                  <a:schemeClr val="tx1"/>
                </a:solidFill>
                <a:effectLst/>
                <a:latin typeface="Trebuchet MS" panose="020B0603020202020204" pitchFamily="34" charset="0"/>
              </a:rPr>
              <a:t>ij</a:t>
            </a:r>
            <a:r>
              <a:rPr lang="en-IN" sz="2000" b="0" i="0" dirty="0">
                <a:solidFill>
                  <a:schemeClr val="tx1"/>
                </a:solidFill>
                <a:effectLst/>
                <a:latin typeface="Trebuchet MS" panose="020B0603020202020204" pitchFamily="34" charset="0"/>
              </a:rPr>
              <a:t> = Station </a:t>
            </a:r>
            <a:r>
              <a:rPr lang="en-IN" sz="2000" b="0" i="1" dirty="0">
                <a:solidFill>
                  <a:schemeClr val="tx1"/>
                </a:solidFill>
                <a:effectLst/>
                <a:latin typeface="Trebuchet MS" panose="020B0603020202020204" pitchFamily="34" charset="0"/>
              </a:rPr>
              <a:t>j</a:t>
            </a:r>
            <a:r>
              <a:rPr lang="en-IN" sz="2000" b="0" i="0" dirty="0">
                <a:solidFill>
                  <a:schemeClr val="tx1"/>
                </a:solidFill>
                <a:effectLst/>
                <a:latin typeface="Trebuchet MS" panose="020B0603020202020204" pitchFamily="34" charset="0"/>
              </a:rPr>
              <a:t> on assembly line </a:t>
            </a:r>
            <a:r>
              <a:rPr lang="en-IN" sz="2000" b="0" i="1" dirty="0">
                <a:solidFill>
                  <a:schemeClr val="tx1"/>
                </a:solidFill>
                <a:effectLst/>
                <a:latin typeface="Trebuchet MS" panose="020B0603020202020204" pitchFamily="34" charset="0"/>
              </a:rPr>
              <a:t>i</a:t>
            </a:r>
            <a:r>
              <a:rPr lang="en-IN" sz="2000" b="0" i="0" dirty="0">
                <a:solidFill>
                  <a:schemeClr val="tx1"/>
                </a:solidFill>
                <a:effectLst/>
                <a:latin typeface="Trebuchet MS" panose="020B0603020202020204" pitchFamily="34" charset="0"/>
              </a:rPr>
              <a:t>.</a:t>
            </a:r>
          </a:p>
          <a:p>
            <a:pPr marL="457200" lvl="1" algn="l" fontAlgn="base">
              <a:spcBef>
                <a:spcPts val="1200"/>
              </a:spcBef>
            </a:pPr>
            <a:r>
              <a:rPr lang="en-IN" sz="2000" b="0" i="0" dirty="0" err="1">
                <a:solidFill>
                  <a:schemeClr val="tx1"/>
                </a:solidFill>
                <a:effectLst/>
                <a:latin typeface="Trebuchet MS" panose="020B0603020202020204" pitchFamily="34" charset="0"/>
              </a:rPr>
              <a:t>a</a:t>
            </a:r>
            <a:r>
              <a:rPr lang="en-IN" sz="2000" b="0" i="0" baseline="-25000" dirty="0" err="1">
                <a:solidFill>
                  <a:schemeClr val="tx1"/>
                </a:solidFill>
                <a:effectLst/>
                <a:latin typeface="Trebuchet MS" panose="020B0603020202020204" pitchFamily="34" charset="0"/>
              </a:rPr>
              <a:t>ij</a:t>
            </a:r>
            <a:r>
              <a:rPr lang="en-IN" sz="2000" b="0" i="0" dirty="0">
                <a:solidFill>
                  <a:schemeClr val="tx1"/>
                </a:solidFill>
                <a:effectLst/>
                <a:latin typeface="Trebuchet MS" panose="020B0603020202020204" pitchFamily="34" charset="0"/>
              </a:rPr>
              <a:t> = Time needed to assemble the partial component at station </a:t>
            </a:r>
            <a:r>
              <a:rPr lang="en-IN" sz="2000" b="0" i="1" dirty="0">
                <a:solidFill>
                  <a:schemeClr val="tx1"/>
                </a:solidFill>
                <a:effectLst/>
                <a:latin typeface="Trebuchet MS" panose="020B0603020202020204" pitchFamily="34" charset="0"/>
              </a:rPr>
              <a:t>j</a:t>
            </a:r>
            <a:r>
              <a:rPr lang="en-IN" sz="2000" b="0" i="0" dirty="0">
                <a:solidFill>
                  <a:schemeClr val="tx1"/>
                </a:solidFill>
                <a:effectLst/>
                <a:latin typeface="Trebuchet MS" panose="020B0603020202020204" pitchFamily="34" charset="0"/>
              </a:rPr>
              <a:t> on assembly line </a:t>
            </a:r>
            <a:r>
              <a:rPr lang="en-IN" sz="2000" b="0" i="1" dirty="0">
                <a:solidFill>
                  <a:schemeClr val="tx1"/>
                </a:solidFill>
                <a:effectLst/>
                <a:latin typeface="Trebuchet MS" panose="020B0603020202020204" pitchFamily="34" charset="0"/>
              </a:rPr>
              <a:t>i</a:t>
            </a:r>
            <a:r>
              <a:rPr lang="en-IN" sz="2000" b="0" i="0" dirty="0">
                <a:solidFill>
                  <a:schemeClr val="tx1"/>
                </a:solidFill>
                <a:effectLst/>
                <a:latin typeface="Trebuchet MS" panose="020B0603020202020204" pitchFamily="34" charset="0"/>
              </a:rPr>
              <a:t>.</a:t>
            </a:r>
          </a:p>
          <a:p>
            <a:pPr marL="457200" lvl="1" algn="l" fontAlgn="base">
              <a:spcBef>
                <a:spcPts val="1200"/>
              </a:spcBef>
            </a:pPr>
            <a:r>
              <a:rPr lang="en-IN" sz="2000" b="0" i="0" dirty="0" err="1">
                <a:solidFill>
                  <a:schemeClr val="tx1"/>
                </a:solidFill>
                <a:effectLst/>
                <a:latin typeface="Trebuchet MS" panose="020B0603020202020204" pitchFamily="34" charset="0"/>
              </a:rPr>
              <a:t>t</a:t>
            </a:r>
            <a:r>
              <a:rPr lang="en-IN" sz="2000" b="0" i="0" baseline="-25000" dirty="0" err="1">
                <a:solidFill>
                  <a:schemeClr val="tx1"/>
                </a:solidFill>
                <a:effectLst/>
                <a:latin typeface="Trebuchet MS" panose="020B0603020202020204" pitchFamily="34" charset="0"/>
              </a:rPr>
              <a:t>ij</a:t>
            </a:r>
            <a:r>
              <a:rPr lang="en-IN" sz="2000" b="0" i="0" baseline="-25000" dirty="0">
                <a:solidFill>
                  <a:schemeClr val="tx1"/>
                </a:solidFill>
                <a:effectLst/>
                <a:latin typeface="Trebuchet MS" panose="020B0603020202020204" pitchFamily="34" charset="0"/>
              </a:rPr>
              <a:t> </a:t>
            </a:r>
            <a:r>
              <a:rPr lang="en-IN" sz="2000" b="0" i="0" dirty="0">
                <a:solidFill>
                  <a:schemeClr val="tx1"/>
                </a:solidFill>
                <a:effectLst/>
                <a:latin typeface="Trebuchet MS" panose="020B0603020202020204" pitchFamily="34" charset="0"/>
              </a:rPr>
              <a:t> = Time required to transfer component from one assembly to other from station j to (j + 1).</a:t>
            </a:r>
          </a:p>
          <a:p>
            <a:pPr marL="457200" lvl="1" algn="l" fontAlgn="base">
              <a:spcBef>
                <a:spcPts val="1200"/>
              </a:spcBef>
            </a:pPr>
            <a:r>
              <a:rPr lang="en-IN" sz="2000" b="0" i="0" dirty="0" err="1">
                <a:solidFill>
                  <a:schemeClr val="tx1"/>
                </a:solidFill>
                <a:effectLst/>
                <a:latin typeface="Trebuchet MS" panose="020B0603020202020204" pitchFamily="34" charset="0"/>
              </a:rPr>
              <a:t>e</a:t>
            </a:r>
            <a:r>
              <a:rPr lang="en-IN" sz="2000" b="0" i="0" baseline="-25000" dirty="0" err="1">
                <a:solidFill>
                  <a:schemeClr val="tx1"/>
                </a:solidFill>
                <a:effectLst/>
                <a:latin typeface="Trebuchet MS" panose="020B0603020202020204" pitchFamily="34" charset="0"/>
              </a:rPr>
              <a:t>i</a:t>
            </a:r>
            <a:r>
              <a:rPr lang="en-IN" sz="2000" b="0" i="0" dirty="0">
                <a:solidFill>
                  <a:schemeClr val="tx1"/>
                </a:solidFill>
                <a:effectLst/>
                <a:latin typeface="Trebuchet MS" panose="020B0603020202020204" pitchFamily="34" charset="0"/>
              </a:rPr>
              <a:t> = Entry time on assembly line i.</a:t>
            </a:r>
          </a:p>
          <a:p>
            <a:pPr marL="457200" lvl="1" algn="l" fontAlgn="base">
              <a:spcBef>
                <a:spcPts val="1200"/>
              </a:spcBef>
            </a:pPr>
            <a:r>
              <a:rPr lang="en-IN" sz="2000" b="0" i="0" dirty="0">
                <a:solidFill>
                  <a:schemeClr val="tx1"/>
                </a:solidFill>
                <a:effectLst/>
                <a:latin typeface="Trebuchet MS" panose="020B0603020202020204" pitchFamily="34" charset="0"/>
              </a:rPr>
              <a:t>x</a:t>
            </a:r>
            <a:r>
              <a:rPr lang="en-IN" sz="2000" b="0" i="0" baseline="-25000" dirty="0">
                <a:solidFill>
                  <a:schemeClr val="tx1"/>
                </a:solidFill>
                <a:effectLst/>
                <a:latin typeface="Trebuchet MS" panose="020B0603020202020204" pitchFamily="34" charset="0"/>
              </a:rPr>
              <a:t>i</a:t>
            </a:r>
            <a:r>
              <a:rPr lang="en-IN" sz="2000" b="0" i="0" dirty="0">
                <a:solidFill>
                  <a:schemeClr val="tx1"/>
                </a:solidFill>
                <a:effectLst/>
                <a:latin typeface="Trebuchet MS" panose="020B0603020202020204" pitchFamily="34" charset="0"/>
              </a:rPr>
              <a:t> = Exit time from assembly line i</a:t>
            </a:r>
            <a:r>
              <a:rPr lang="en-IN" sz="2400" b="0" i="0" dirty="0">
                <a:solidFill>
                  <a:schemeClr val="tx1"/>
                </a:solidFill>
                <a:effectLst/>
                <a:latin typeface="Corbel" panose="020B0503020204020204" pitchFamily="34" charset="0"/>
              </a:rPr>
              <a:t>.</a:t>
            </a:r>
          </a:p>
        </p:txBody>
      </p:sp>
    </p:spTree>
    <p:extLst>
      <p:ext uri="{BB962C8B-B14F-4D97-AF65-F5344CB8AC3E}">
        <p14:creationId xmlns:p14="http://schemas.microsoft.com/office/powerpoint/2010/main" val="373520710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24299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Assembly line </a:t>
            </a:r>
            <a:r>
              <a:rPr kumimoji="0" lang="en-IN" sz="2800" b="1" i="0" u="none" strike="noStrike" kern="0" cap="none" spc="0" normalizeH="0" baseline="0" noProof="0" dirty="0" smtClean="0">
                <a:ln>
                  <a:noFill/>
                </a:ln>
                <a:solidFill>
                  <a:schemeClr val="bg1"/>
                </a:solidFill>
                <a:effectLst/>
                <a:uLnTx/>
                <a:uFillTx/>
                <a:latin typeface="Trebuchet MS" panose="020B0603020202020204" pitchFamily="34" charset="0"/>
                <a:sym typeface="Arial"/>
              </a:rPr>
              <a:t>scheduling</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7" name="TextBox 6">
            <a:extLst>
              <a:ext uri="{FF2B5EF4-FFF2-40B4-BE49-F238E27FC236}">
                <a16:creationId xmlns:a16="http://schemas.microsoft.com/office/drawing/2014/main" id="{75807016-E21F-69EC-7EF9-DE12469B35AB}"/>
              </a:ext>
            </a:extLst>
          </p:cNvPr>
          <p:cNvSpPr txBox="1"/>
          <p:nvPr/>
        </p:nvSpPr>
        <p:spPr>
          <a:xfrm>
            <a:off x="735722" y="1873459"/>
            <a:ext cx="7794819" cy="1477328"/>
          </a:xfrm>
          <a:prstGeom prst="rect">
            <a:avLst/>
          </a:prstGeom>
          <a:solidFill>
            <a:schemeClr val="accent4">
              <a:lumMod val="40000"/>
              <a:lumOff val="60000"/>
            </a:schemeClr>
          </a:solidFill>
        </p:spPr>
        <p:txBody>
          <a:bodyPr wrap="square">
            <a:spAutoFit/>
          </a:bodyPr>
          <a:lstStyle/>
          <a:p>
            <a:pPr marL="342900" indent="-342900" algn="l" fontAlgn="base">
              <a:spcBef>
                <a:spcPts val="1200"/>
              </a:spcBef>
              <a:buFont typeface="Arial" panose="020B0604020202020204" pitchFamily="34" charset="0"/>
              <a:buChar char="•"/>
            </a:pPr>
            <a:r>
              <a:rPr lang="en-IN" sz="2000" b="0" i="0" dirty="0">
                <a:solidFill>
                  <a:schemeClr val="tx1"/>
                </a:solidFill>
                <a:effectLst/>
                <a:latin typeface="Trebuchet MS" panose="020B0603020202020204" pitchFamily="34" charset="0"/>
              </a:rPr>
              <a:t>Time required to build component on first station of both line is summation of entry time for particular assembly line and assembly time on first station of particular line.</a:t>
            </a:r>
          </a:p>
          <a:p>
            <a:pPr algn="ctr" fontAlgn="base">
              <a:spcBef>
                <a:spcPts val="1200"/>
              </a:spcBef>
            </a:pPr>
            <a:r>
              <a:rPr lang="en-IN" sz="2000" b="1" i="0" dirty="0">
                <a:solidFill>
                  <a:srgbClr val="0070C0"/>
                </a:solidFill>
                <a:effectLst/>
                <a:latin typeface="Trebuchet MS" panose="020B0603020202020204" pitchFamily="34" charset="0"/>
              </a:rPr>
              <a:t>f</a:t>
            </a:r>
            <a:r>
              <a:rPr lang="en-IN" sz="2000" b="1" i="0" baseline="-25000" dirty="0">
                <a:solidFill>
                  <a:srgbClr val="0070C0"/>
                </a:solidFill>
                <a:effectLst/>
                <a:latin typeface="Trebuchet MS" panose="020B0603020202020204" pitchFamily="34" charset="0"/>
              </a:rPr>
              <a:t>i</a:t>
            </a:r>
            <a:r>
              <a:rPr lang="en-IN" sz="2000" b="1" i="0" dirty="0">
                <a:solidFill>
                  <a:srgbClr val="0070C0"/>
                </a:solidFill>
                <a:effectLst/>
                <a:latin typeface="Trebuchet MS" panose="020B0603020202020204" pitchFamily="34" charset="0"/>
              </a:rPr>
              <a:t> [j]    =   </a:t>
            </a:r>
            <a:r>
              <a:rPr lang="en-IN" sz="2000" b="1" i="0" dirty="0" err="1">
                <a:solidFill>
                  <a:srgbClr val="0070C0"/>
                </a:solidFill>
                <a:effectLst/>
                <a:latin typeface="Trebuchet MS" panose="020B0603020202020204" pitchFamily="34" charset="0"/>
              </a:rPr>
              <a:t>e</a:t>
            </a:r>
            <a:r>
              <a:rPr lang="en-IN" sz="2000" b="1" i="0" baseline="-25000" dirty="0" err="1">
                <a:solidFill>
                  <a:srgbClr val="0070C0"/>
                </a:solidFill>
                <a:effectLst/>
                <a:latin typeface="Trebuchet MS" panose="020B0603020202020204" pitchFamily="34" charset="0"/>
              </a:rPr>
              <a:t>i</a:t>
            </a:r>
            <a:r>
              <a:rPr lang="en-IN" sz="2000" b="1" i="0" dirty="0">
                <a:solidFill>
                  <a:srgbClr val="0070C0"/>
                </a:solidFill>
                <a:effectLst/>
                <a:latin typeface="Trebuchet MS" panose="020B0603020202020204" pitchFamily="34" charset="0"/>
              </a:rPr>
              <a:t> + a</a:t>
            </a:r>
            <a:r>
              <a:rPr lang="en-IN" sz="2000" b="1" i="0" baseline="-25000" dirty="0">
                <a:solidFill>
                  <a:srgbClr val="0070C0"/>
                </a:solidFill>
                <a:effectLst/>
                <a:latin typeface="Trebuchet MS" panose="020B0603020202020204" pitchFamily="34" charset="0"/>
              </a:rPr>
              <a:t>i1 </a:t>
            </a:r>
            <a:r>
              <a:rPr lang="en-IN" sz="2000" b="1" i="0" dirty="0">
                <a:solidFill>
                  <a:srgbClr val="0070C0"/>
                </a:solidFill>
                <a:effectLst/>
                <a:latin typeface="Trebuchet MS" panose="020B0603020202020204" pitchFamily="34" charset="0"/>
              </a:rPr>
              <a:t>; Initial condition (if j == 1), i = 1, 2</a:t>
            </a:r>
          </a:p>
        </p:txBody>
      </p:sp>
      <p:sp>
        <p:nvSpPr>
          <p:cNvPr id="8" name="TextBox 7">
            <a:extLst>
              <a:ext uri="{FF2B5EF4-FFF2-40B4-BE49-F238E27FC236}">
                <a16:creationId xmlns:a16="http://schemas.microsoft.com/office/drawing/2014/main" id="{C6B702E3-83BC-87E4-18CC-D9745D49E6A4}"/>
              </a:ext>
            </a:extLst>
          </p:cNvPr>
          <p:cNvSpPr txBox="1"/>
          <p:nvPr/>
        </p:nvSpPr>
        <p:spPr>
          <a:xfrm>
            <a:off x="641455" y="1057190"/>
            <a:ext cx="4577860" cy="430887"/>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2200" b="1" i="0" u="none" strike="noStrike" kern="0" cap="none" spc="0" normalizeH="0" baseline="0" noProof="0" dirty="0">
                <a:ln>
                  <a:noFill/>
                </a:ln>
                <a:solidFill>
                  <a:srgbClr val="0070C0"/>
                </a:solidFill>
                <a:effectLst/>
                <a:uLnTx/>
                <a:uFillTx/>
                <a:latin typeface="Trebuchet MS" panose="020B0603020202020204" pitchFamily="34" charset="0"/>
                <a:sym typeface="Arial"/>
              </a:rPr>
              <a:t>Mathematical formulation</a:t>
            </a:r>
          </a:p>
        </p:txBody>
      </p:sp>
    </p:spTree>
    <p:extLst>
      <p:ext uri="{BB962C8B-B14F-4D97-AF65-F5344CB8AC3E}">
        <p14:creationId xmlns:p14="http://schemas.microsoft.com/office/powerpoint/2010/main" val="77999718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24299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Assembly line </a:t>
            </a:r>
            <a:r>
              <a:rPr kumimoji="0" lang="en-IN" sz="2800" b="1" i="0" u="none" strike="noStrike" kern="0" cap="none" spc="0" normalizeH="0" baseline="0" noProof="0" dirty="0" smtClean="0">
                <a:ln>
                  <a:noFill/>
                </a:ln>
                <a:solidFill>
                  <a:schemeClr val="bg1"/>
                </a:solidFill>
                <a:effectLst/>
                <a:uLnTx/>
                <a:uFillTx/>
                <a:latin typeface="Trebuchet MS" panose="020B0603020202020204" pitchFamily="34" charset="0"/>
                <a:sym typeface="Arial"/>
              </a:rPr>
              <a:t>scheduling</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10" name="TextBox 9">
            <a:extLst>
              <a:ext uri="{FF2B5EF4-FFF2-40B4-BE49-F238E27FC236}">
                <a16:creationId xmlns:a16="http://schemas.microsoft.com/office/drawing/2014/main" id="{75807016-E21F-69EC-7EF9-DE12469B35AB}"/>
              </a:ext>
            </a:extLst>
          </p:cNvPr>
          <p:cNvSpPr txBox="1"/>
          <p:nvPr/>
        </p:nvSpPr>
        <p:spPr>
          <a:xfrm>
            <a:off x="470109" y="999195"/>
            <a:ext cx="8118306" cy="3785652"/>
          </a:xfrm>
          <a:prstGeom prst="rect">
            <a:avLst/>
          </a:prstGeom>
          <a:noFill/>
        </p:spPr>
        <p:txBody>
          <a:bodyPr wrap="square">
            <a:spAutoFit/>
          </a:bodyPr>
          <a:lstStyle/>
          <a:p>
            <a:pPr algn="l" fontAlgn="base">
              <a:lnSpc>
                <a:spcPct val="150000"/>
              </a:lnSpc>
              <a:spcBef>
                <a:spcPts val="1200"/>
              </a:spcBef>
              <a:spcAft>
                <a:spcPts val="600"/>
              </a:spcAft>
            </a:pPr>
            <a:r>
              <a:rPr lang="en-IN" sz="2000" dirty="0">
                <a:solidFill>
                  <a:schemeClr val="tx1"/>
                </a:solidFill>
                <a:latin typeface="Trebuchet MS" panose="020B0603020202020204" pitchFamily="34" charset="0"/>
              </a:rPr>
              <a:t>Minimum time required to put the partially assembled product out of any station j on line 1 is minimum of :</a:t>
            </a:r>
          </a:p>
          <a:p>
            <a:pPr marL="457200" indent="-457200" algn="l" fontAlgn="base">
              <a:lnSpc>
                <a:spcPct val="150000"/>
              </a:lnSpc>
              <a:spcBef>
                <a:spcPts val="1200"/>
              </a:spcBef>
              <a:spcAft>
                <a:spcPts val="600"/>
              </a:spcAft>
              <a:buFont typeface="+mj-lt"/>
              <a:buAutoNum type="arabicPeriod"/>
            </a:pPr>
            <a:r>
              <a:rPr lang="en-IN" sz="2000" dirty="0">
                <a:solidFill>
                  <a:schemeClr val="tx1"/>
                </a:solidFill>
                <a:latin typeface="Trebuchet MS" panose="020B0603020202020204" pitchFamily="34" charset="0"/>
              </a:rPr>
              <a:t>(Minimum time taken up to station j – 1 on same assembly line 1) + (assembly time on station j of same assembly line)</a:t>
            </a:r>
          </a:p>
          <a:p>
            <a:pPr marL="457200" indent="-457200" algn="l" fontAlgn="base">
              <a:lnSpc>
                <a:spcPct val="150000"/>
              </a:lnSpc>
              <a:spcBef>
                <a:spcPts val="1200"/>
              </a:spcBef>
              <a:spcAft>
                <a:spcPts val="600"/>
              </a:spcAft>
              <a:buFont typeface="+mj-lt"/>
              <a:buAutoNum type="arabicPeriod"/>
            </a:pPr>
            <a:r>
              <a:rPr lang="en-IN" sz="2000" dirty="0">
                <a:solidFill>
                  <a:schemeClr val="tx1"/>
                </a:solidFill>
                <a:latin typeface="Trebuchet MS" panose="020B0603020202020204" pitchFamily="34" charset="0"/>
              </a:rPr>
              <a:t>(Minimum time taken up to station j – 1 on assembly line 2) + (assembly line transfer time) + (assembly time on station j of assembly line 2)</a:t>
            </a:r>
          </a:p>
        </p:txBody>
      </p:sp>
    </p:spTree>
    <p:extLst>
      <p:ext uri="{BB962C8B-B14F-4D97-AF65-F5344CB8AC3E}">
        <p14:creationId xmlns:p14="http://schemas.microsoft.com/office/powerpoint/2010/main" val="24184930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24299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Assembly line </a:t>
            </a:r>
            <a:r>
              <a:rPr kumimoji="0" lang="en-IN" sz="2800" b="1" i="0" u="none" strike="noStrike" kern="0" cap="none" spc="0" normalizeH="0" baseline="0" noProof="0" dirty="0" smtClean="0">
                <a:ln>
                  <a:noFill/>
                </a:ln>
                <a:solidFill>
                  <a:schemeClr val="bg1"/>
                </a:solidFill>
                <a:effectLst/>
                <a:uLnTx/>
                <a:uFillTx/>
                <a:latin typeface="Trebuchet MS" panose="020B0603020202020204" pitchFamily="34" charset="0"/>
                <a:sym typeface="Arial"/>
              </a:rPr>
              <a:t>scheduling</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mc:AlternateContent xmlns:mc="http://schemas.openxmlformats.org/markup-compatibility/2006" xmlns:a14="http://schemas.microsoft.com/office/drawing/2010/main">
        <mc:Choice Requires="a14">
          <p:sp>
            <p:nvSpPr>
              <p:cNvPr id="7" name="Content Placeholder 2"/>
              <p:cNvSpPr txBox="1">
                <a:spLocks/>
              </p:cNvSpPr>
              <p:nvPr/>
            </p:nvSpPr>
            <p:spPr>
              <a:xfrm>
                <a:off x="436564" y="758825"/>
                <a:ext cx="8422312" cy="40830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buFont typeface="Arial"/>
                  <a:buNone/>
                </a:pPr>
                <a:r>
                  <a:rPr lang="en-US" dirty="0" smtClean="0">
                    <a:solidFill>
                      <a:srgbClr val="0070C0"/>
                    </a:solidFill>
                    <a:latin typeface="Trebuchet MS" panose="020B0603020202020204" pitchFamily="34" charset="0"/>
                  </a:rPr>
                  <a:t>Step 1:</a:t>
                </a:r>
              </a:p>
              <a:p>
                <a14:m>
                  <m:oMath xmlns:m="http://schemas.openxmlformats.org/officeDocument/2006/math">
                    <m:sSup>
                      <m:sSupPr>
                        <m:ctrlPr>
                          <a:rPr lang="en-US" b="1" i="1" smtClean="0">
                            <a:solidFill>
                              <a:srgbClr val="CC0099"/>
                            </a:solidFill>
                            <a:latin typeface="Cambria Math" panose="02040503050406030204" pitchFamily="18" charset="0"/>
                          </a:rPr>
                        </m:ctrlPr>
                      </m:sSupPr>
                      <m:e>
                        <m:r>
                          <a:rPr lang="en-US" b="1" i="1">
                            <a:solidFill>
                              <a:srgbClr val="CC0099"/>
                            </a:solidFill>
                            <a:latin typeface="Cambria Math" panose="02040503050406030204" pitchFamily="18" charset="0"/>
                          </a:rPr>
                          <m:t>𝒇</m:t>
                        </m:r>
                      </m:e>
                      <m:sup>
                        <m:r>
                          <a:rPr lang="en-US" b="1" i="1">
                            <a:solidFill>
                              <a:srgbClr val="CC0099"/>
                            </a:solidFill>
                            <a:latin typeface="Cambria Math" panose="02040503050406030204" pitchFamily="18" charset="0"/>
                          </a:rPr>
                          <m:t>∗</m:t>
                        </m:r>
                      </m:sup>
                    </m:sSup>
                  </m:oMath>
                </a14:m>
                <a:r>
                  <a:rPr lang="en-US" dirty="0">
                    <a:solidFill>
                      <a:schemeClr val="tx1"/>
                    </a:solidFill>
                    <a:latin typeface="Trebuchet MS" panose="020B0603020202020204" pitchFamily="34" charset="0"/>
                  </a:rPr>
                  <a:t>: the fastest time to get through the entire factory</a:t>
                </a:r>
              </a:p>
              <a:p>
                <a14:m>
                  <m:oMath xmlns:m="http://schemas.openxmlformats.org/officeDocument/2006/math">
                    <m:sSub>
                      <m:sSubPr>
                        <m:ctrlPr>
                          <a:rPr lang="en-US" b="1" i="1" smtClean="0">
                            <a:solidFill>
                              <a:srgbClr val="CC0099"/>
                            </a:solidFill>
                            <a:latin typeface="Cambria Math" panose="02040503050406030204" pitchFamily="18" charset="0"/>
                          </a:rPr>
                        </m:ctrlPr>
                      </m:sSubPr>
                      <m:e>
                        <m:r>
                          <a:rPr lang="en-US" b="1" i="1">
                            <a:solidFill>
                              <a:srgbClr val="CC0099"/>
                            </a:solidFill>
                            <a:latin typeface="Cambria Math" panose="02040503050406030204" pitchFamily="18" charset="0"/>
                          </a:rPr>
                          <m:t>𝒇</m:t>
                        </m:r>
                      </m:e>
                      <m:sub>
                        <m:r>
                          <a:rPr lang="en-US" b="1" i="1">
                            <a:solidFill>
                              <a:srgbClr val="CC0099"/>
                            </a:solidFill>
                            <a:latin typeface="Cambria Math" panose="02040503050406030204" pitchFamily="18" charset="0"/>
                          </a:rPr>
                          <m:t>𝒊</m:t>
                        </m:r>
                      </m:sub>
                    </m:sSub>
                    <m:d>
                      <m:dPr>
                        <m:begChr m:val="["/>
                        <m:endChr m:val="]"/>
                        <m:ctrlPr>
                          <a:rPr lang="en-US" b="1" i="1">
                            <a:solidFill>
                              <a:srgbClr val="CC0099"/>
                            </a:solidFill>
                            <a:latin typeface="Cambria Math" panose="02040503050406030204" pitchFamily="18" charset="0"/>
                          </a:rPr>
                        </m:ctrlPr>
                      </m:dPr>
                      <m:e>
                        <m:r>
                          <a:rPr lang="en-US" b="1" i="1">
                            <a:solidFill>
                              <a:srgbClr val="CC0099"/>
                            </a:solidFill>
                            <a:latin typeface="Cambria Math" panose="02040503050406030204" pitchFamily="18" charset="0"/>
                          </a:rPr>
                          <m:t>𝒋</m:t>
                        </m:r>
                      </m:e>
                    </m:d>
                  </m:oMath>
                </a14:m>
                <a:r>
                  <a:rPr lang="en-US" dirty="0">
                    <a:solidFill>
                      <a:schemeClr val="tx1"/>
                    </a:solidFill>
                    <a:latin typeface="Trebuchet MS" panose="020B0603020202020204" pitchFamily="34" charset="0"/>
                  </a:rPr>
                  <a:t>: the fastest time to get from the starting point through station </a:t>
                </a:r>
                <a14:m>
                  <m:oMath xmlns:m="http://schemas.openxmlformats.org/officeDocument/2006/math">
                    <m:sSub>
                      <m:sSubPr>
                        <m:ctrlPr>
                          <a:rPr lang="en-US" b="1" i="1" smtClean="0">
                            <a:solidFill>
                              <a:srgbClr val="CC0099"/>
                            </a:solidFill>
                            <a:latin typeface="Cambria Math" panose="02040503050406030204" pitchFamily="18" charset="0"/>
                          </a:rPr>
                        </m:ctrlPr>
                      </m:sSubPr>
                      <m:e>
                        <m:r>
                          <a:rPr lang="en-US" b="1" i="1">
                            <a:solidFill>
                              <a:srgbClr val="CC0099"/>
                            </a:solidFill>
                            <a:latin typeface="Cambria Math" panose="02040503050406030204" pitchFamily="18" charset="0"/>
                          </a:rPr>
                          <m:t>𝑺</m:t>
                        </m:r>
                      </m:e>
                      <m:sub>
                        <m:r>
                          <a:rPr lang="en-US" b="1" i="1">
                            <a:solidFill>
                              <a:srgbClr val="CC0099"/>
                            </a:solidFill>
                            <a:latin typeface="Cambria Math" panose="02040503050406030204" pitchFamily="18" charset="0"/>
                          </a:rPr>
                          <m:t>𝒊</m:t>
                        </m:r>
                        <m:r>
                          <a:rPr lang="en-US" b="1" i="1">
                            <a:solidFill>
                              <a:srgbClr val="CC0099"/>
                            </a:solidFill>
                            <a:latin typeface="Cambria Math" panose="02040503050406030204" pitchFamily="18" charset="0"/>
                          </a:rPr>
                          <m:t>,</m:t>
                        </m:r>
                        <m:r>
                          <a:rPr lang="en-US" b="1" i="1">
                            <a:solidFill>
                              <a:srgbClr val="CC0099"/>
                            </a:solidFill>
                            <a:latin typeface="Cambria Math" panose="02040503050406030204" pitchFamily="18" charset="0"/>
                          </a:rPr>
                          <m:t>𝒋</m:t>
                        </m:r>
                      </m:sub>
                    </m:sSub>
                  </m:oMath>
                </a14:m>
                <a:r>
                  <a:rPr lang="en-US" baseline="-25000" dirty="0">
                    <a:solidFill>
                      <a:srgbClr val="CC0099"/>
                    </a:solidFill>
                    <a:latin typeface="Trebuchet MS" panose="020B0603020202020204" pitchFamily="34" charset="0"/>
                  </a:rPr>
                  <a:t>.</a:t>
                </a:r>
              </a:p>
              <a:p>
                <a:r>
                  <a:rPr lang="en-US" dirty="0">
                    <a:solidFill>
                      <a:schemeClr val="tx1"/>
                    </a:solidFill>
                    <a:latin typeface="Trebuchet MS" panose="020B0603020202020204" pitchFamily="34" charset="0"/>
                  </a:rPr>
                  <a:t>Base case:  </a:t>
                </a:r>
                <a14:m>
                  <m:oMath xmlns:m="http://schemas.openxmlformats.org/officeDocument/2006/math">
                    <m:r>
                      <a:rPr lang="en-US" b="1" i="1" smtClean="0">
                        <a:solidFill>
                          <a:srgbClr val="CC0099"/>
                        </a:solidFill>
                        <a:latin typeface="Cambria Math" panose="02040503050406030204" pitchFamily="18" charset="0"/>
                      </a:rPr>
                      <m:t>𝒋</m:t>
                    </m:r>
                    <m:r>
                      <a:rPr lang="en-US" b="1" i="1" smtClean="0">
                        <a:solidFill>
                          <a:srgbClr val="CC0099"/>
                        </a:solidFill>
                        <a:latin typeface="Cambria Math" panose="02040503050406030204" pitchFamily="18" charset="0"/>
                      </a:rPr>
                      <m:t>=</m:t>
                    </m:r>
                    <m:r>
                      <a:rPr lang="en-US" b="1" i="1" smtClean="0">
                        <a:solidFill>
                          <a:srgbClr val="CC0099"/>
                        </a:solidFill>
                        <a:latin typeface="Cambria Math" panose="02040503050406030204" pitchFamily="18" charset="0"/>
                      </a:rPr>
                      <m:t>𝟏</m:t>
                    </m:r>
                    <m:r>
                      <a:rPr lang="en-US" b="1" i="1" smtClean="0">
                        <a:solidFill>
                          <a:srgbClr val="CC0099"/>
                        </a:solidFill>
                        <a:latin typeface="Cambria Math" panose="02040503050406030204" pitchFamily="18" charset="0"/>
                      </a:rPr>
                      <m:t>, </m:t>
                    </m:r>
                    <m:r>
                      <a:rPr lang="en-US" b="1" i="1" smtClean="0">
                        <a:solidFill>
                          <a:srgbClr val="CC0099"/>
                        </a:solidFill>
                        <a:latin typeface="Cambria Math" panose="02040503050406030204" pitchFamily="18" charset="0"/>
                      </a:rPr>
                      <m:t>𝒊</m:t>
                    </m:r>
                    <m:r>
                      <a:rPr lang="en-US" b="1" i="1" smtClean="0">
                        <a:solidFill>
                          <a:srgbClr val="CC0099"/>
                        </a:solidFill>
                        <a:latin typeface="Cambria Math" panose="02040503050406030204" pitchFamily="18" charset="0"/>
                      </a:rPr>
                      <m:t>=</m:t>
                    </m:r>
                    <m:r>
                      <a:rPr lang="en-US" b="1" i="1" smtClean="0">
                        <a:solidFill>
                          <a:srgbClr val="CC0099"/>
                        </a:solidFill>
                        <a:latin typeface="Cambria Math" panose="02040503050406030204" pitchFamily="18" charset="0"/>
                      </a:rPr>
                      <m:t>𝟏</m:t>
                    </m:r>
                    <m:r>
                      <a:rPr lang="en-US" b="1" i="1" smtClean="0">
                        <a:solidFill>
                          <a:srgbClr val="CC0099"/>
                        </a:solidFill>
                        <a:latin typeface="Cambria Math" panose="02040503050406030204" pitchFamily="18" charset="0"/>
                      </a:rPr>
                      <m:t>, </m:t>
                    </m:r>
                    <m:r>
                      <a:rPr lang="en-US" b="1" i="1" smtClean="0">
                        <a:solidFill>
                          <a:srgbClr val="CC0099"/>
                        </a:solidFill>
                        <a:latin typeface="Cambria Math" panose="02040503050406030204" pitchFamily="18" charset="0"/>
                      </a:rPr>
                      <m:t>𝟐</m:t>
                    </m:r>
                    <m:r>
                      <a:rPr lang="en-US" b="1" i="1" smtClean="0">
                        <a:solidFill>
                          <a:srgbClr val="CC0099"/>
                        </a:solidFill>
                        <a:latin typeface="Cambria Math" panose="02040503050406030204" pitchFamily="18" charset="0"/>
                      </a:rPr>
                      <m:t> </m:t>
                    </m:r>
                  </m:oMath>
                </a14:m>
                <a:r>
                  <a:rPr lang="en-US" dirty="0">
                    <a:solidFill>
                      <a:schemeClr val="tx1"/>
                    </a:solidFill>
                    <a:latin typeface="Trebuchet MS" panose="020B0603020202020204" pitchFamily="34" charset="0"/>
                  </a:rPr>
                  <a:t>(getting through station </a:t>
                </a:r>
                <a14:m>
                  <m:oMath xmlns:m="http://schemas.openxmlformats.org/officeDocument/2006/math">
                    <m:r>
                      <a:rPr lang="en-US" i="1">
                        <a:solidFill>
                          <a:schemeClr val="tx1"/>
                        </a:solidFill>
                        <a:latin typeface="Cambria Math" panose="02040503050406030204" pitchFamily="18" charset="0"/>
                      </a:rPr>
                      <m:t>1</m:t>
                    </m:r>
                  </m:oMath>
                </a14:m>
                <a:r>
                  <a:rPr lang="en-US" dirty="0">
                    <a:solidFill>
                      <a:schemeClr val="tx1"/>
                    </a:solidFill>
                    <a:latin typeface="Trebuchet MS" panose="020B0603020202020204" pitchFamily="34" charset="0"/>
                  </a:rPr>
                  <a:t>)</a:t>
                </a:r>
              </a:p>
              <a:p>
                <a:endParaRPr lang="en-US" dirty="0"/>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436564" y="758825"/>
                <a:ext cx="8422312" cy="4083050"/>
              </a:xfrm>
              <a:prstGeom prst="rect">
                <a:avLst/>
              </a:prstGeom>
              <a:blipFill>
                <a:blip r:embed="rId6"/>
                <a:stretch>
                  <a:fillRect l="-652"/>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3830641041"/>
                  </p:ext>
                </p:extLst>
              </p:nvPr>
            </p:nvGraphicFramePr>
            <p:xfrm>
              <a:off x="1361531" y="2534190"/>
              <a:ext cx="2386013" cy="1962152"/>
            </p:xfrm>
            <a:graphic>
              <a:graphicData uri="http://schemas.openxmlformats.org/drawingml/2006/table">
                <a:tbl>
                  <a:tblPr firstRow="1" bandRow="1">
                    <a:tableStyleId>{5C22544A-7EE6-4342-B048-85BDC9FD1C3A}</a:tableStyleId>
                  </a:tblPr>
                  <a:tblGrid>
                    <a:gridCol w="2386013">
                      <a:extLst>
                        <a:ext uri="{9D8B030D-6E8A-4147-A177-3AD203B41FA5}">
                          <a16:colId xmlns:a16="http://schemas.microsoft.com/office/drawing/2014/main" val="20000"/>
                        </a:ext>
                      </a:extLst>
                    </a:gridCol>
                  </a:tblGrid>
                  <a:tr h="400052">
                    <a:tc>
                      <a:txBody>
                        <a:bodyPr/>
                        <a:lstStyle/>
                        <a:p>
                          <a:pPr algn="ctr"/>
                          <a:r>
                            <a:rPr lang="en-US" sz="1800" dirty="0">
                              <a:solidFill>
                                <a:srgbClr val="C00000"/>
                              </a:solidFill>
                            </a:rPr>
                            <a:t> </a:t>
                          </a:r>
                          <a14:m>
                            <m:oMath xmlns:m="http://schemas.openxmlformats.org/officeDocument/2006/math">
                              <m:sSub>
                                <m:sSubPr>
                                  <m:ctrlPr>
                                    <a:rPr lang="en-US" sz="1800" b="1" i="1" smtClean="0">
                                      <a:solidFill>
                                        <a:srgbClr val="AD1457"/>
                                      </a:solidFill>
                                      <a:latin typeface="Cambria Math" panose="02040503050406030204" pitchFamily="18" charset="0"/>
                                    </a:rPr>
                                  </m:ctrlPr>
                                </m:sSubPr>
                                <m:e>
                                  <m:r>
                                    <a:rPr lang="en-US" sz="1800" b="1" i="1" smtClean="0">
                                      <a:solidFill>
                                        <a:srgbClr val="AD1457"/>
                                      </a:solidFill>
                                      <a:latin typeface="Cambria Math" panose="02040503050406030204" pitchFamily="18" charset="0"/>
                                    </a:rPr>
                                    <m:t>𝒇</m:t>
                                  </m:r>
                                </m:e>
                                <m:sub>
                                  <m:r>
                                    <a:rPr lang="en-US" sz="1800" b="1" i="1" smtClean="0">
                                      <a:solidFill>
                                        <a:srgbClr val="AD1457"/>
                                      </a:solidFill>
                                      <a:latin typeface="Cambria Math" panose="02040503050406030204" pitchFamily="18" charset="0"/>
                                    </a:rPr>
                                    <m:t>𝟏</m:t>
                                  </m:r>
                                </m:sub>
                              </m:sSub>
                              <m:r>
                                <a:rPr lang="en-US" sz="1800" b="1" i="1">
                                  <a:solidFill>
                                    <a:srgbClr val="AD1457"/>
                                  </a:solidFill>
                                  <a:latin typeface="Cambria Math" panose="02040503050406030204" pitchFamily="18" charset="0"/>
                                </a:rPr>
                                <m:t>[</m:t>
                              </m:r>
                              <m:r>
                                <a:rPr lang="en-US" sz="1800" b="1" i="1">
                                  <a:solidFill>
                                    <a:srgbClr val="AD1457"/>
                                  </a:solidFill>
                                  <a:latin typeface="Cambria Math" panose="02040503050406030204" pitchFamily="18" charset="0"/>
                                </a:rPr>
                                <m:t>𝟏</m:t>
                              </m:r>
                              <m:r>
                                <a:rPr lang="en-US" sz="1800" b="1" i="1">
                                  <a:solidFill>
                                    <a:srgbClr val="AD1457"/>
                                  </a:solidFill>
                                  <a:latin typeface="Cambria Math" panose="02040503050406030204" pitchFamily="18" charset="0"/>
                                </a:rPr>
                                <m:t>] = </m:t>
                              </m:r>
                              <m:sSub>
                                <m:sSubPr>
                                  <m:ctrlPr>
                                    <a:rPr lang="en-US" sz="1800" b="1" i="1" smtClean="0">
                                      <a:solidFill>
                                        <a:srgbClr val="AD1457"/>
                                      </a:solidFill>
                                      <a:latin typeface="Cambria Math" panose="02040503050406030204" pitchFamily="18" charset="0"/>
                                    </a:rPr>
                                  </m:ctrlPr>
                                </m:sSubPr>
                                <m:e>
                                  <m:r>
                                    <a:rPr lang="en-US" sz="1800" b="1" i="1" smtClean="0">
                                      <a:solidFill>
                                        <a:srgbClr val="AD1457"/>
                                      </a:solidFill>
                                      <a:latin typeface="Cambria Math" panose="02040503050406030204" pitchFamily="18" charset="0"/>
                                    </a:rPr>
                                    <m:t>𝒆</m:t>
                                  </m:r>
                                </m:e>
                                <m:sub>
                                  <m:r>
                                    <a:rPr lang="en-US" sz="1800" b="1" i="1" smtClean="0">
                                      <a:solidFill>
                                        <a:srgbClr val="AD1457"/>
                                      </a:solidFill>
                                      <a:latin typeface="Cambria Math" panose="02040503050406030204" pitchFamily="18" charset="0"/>
                                    </a:rPr>
                                    <m:t>𝟏</m:t>
                                  </m:r>
                                </m:sub>
                              </m:sSub>
                              <m:r>
                                <a:rPr lang="en-US" sz="1800" b="1" i="1">
                                  <a:solidFill>
                                    <a:srgbClr val="AD1457"/>
                                  </a:solidFill>
                                  <a:latin typeface="Cambria Math" panose="02040503050406030204" pitchFamily="18" charset="0"/>
                                </a:rPr>
                                <m:t>+</m:t>
                              </m:r>
                              <m:sSub>
                                <m:sSubPr>
                                  <m:ctrlPr>
                                    <a:rPr lang="en-US" sz="1800" b="1" i="1" smtClean="0">
                                      <a:solidFill>
                                        <a:srgbClr val="AD1457"/>
                                      </a:solidFill>
                                      <a:latin typeface="Cambria Math" panose="02040503050406030204" pitchFamily="18" charset="0"/>
                                    </a:rPr>
                                  </m:ctrlPr>
                                </m:sSubPr>
                                <m:e>
                                  <m:r>
                                    <a:rPr lang="en-US" sz="1800" b="1" i="1" smtClean="0">
                                      <a:solidFill>
                                        <a:srgbClr val="AD1457"/>
                                      </a:solidFill>
                                      <a:latin typeface="Cambria Math" panose="02040503050406030204" pitchFamily="18" charset="0"/>
                                    </a:rPr>
                                    <m:t>𝒂</m:t>
                                  </m:r>
                                </m:e>
                                <m:sub>
                                  <m:r>
                                    <a:rPr lang="en-US" sz="1800" b="1" i="1" smtClean="0">
                                      <a:solidFill>
                                        <a:srgbClr val="AD1457"/>
                                      </a:solidFill>
                                      <a:latin typeface="Cambria Math" panose="02040503050406030204" pitchFamily="18" charset="0"/>
                                    </a:rPr>
                                    <m:t>𝟏</m:t>
                                  </m:r>
                                  <m:r>
                                    <a:rPr lang="en-US" sz="1800" b="1" i="1" smtClean="0">
                                      <a:solidFill>
                                        <a:srgbClr val="AD1457"/>
                                      </a:solidFill>
                                      <a:latin typeface="Cambria Math" panose="02040503050406030204" pitchFamily="18" charset="0"/>
                                    </a:rPr>
                                    <m:t>,</m:t>
                                  </m:r>
                                  <m:r>
                                    <a:rPr lang="en-US" sz="1800" b="1" i="1" smtClean="0">
                                      <a:solidFill>
                                        <a:srgbClr val="AD1457"/>
                                      </a:solidFill>
                                      <a:latin typeface="Cambria Math" panose="02040503050406030204" pitchFamily="18" charset="0"/>
                                    </a:rPr>
                                    <m:t>𝟏</m:t>
                                  </m:r>
                                </m:sub>
                              </m:sSub>
                            </m:oMath>
                          </a14:m>
                          <a:endParaRPr lang="en-US" sz="1800" b="1" dirty="0">
                            <a:solidFill>
                              <a:srgbClr val="AD1457"/>
                            </a:solidFill>
                          </a:endParaRPr>
                        </a:p>
                      </a:txBody>
                      <a:tcPr marL="68580" marR="68580" marT="34290" marB="3429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000"/>
                      </a:ext>
                    </a:extLst>
                  </a:tr>
                  <a:tr h="1508760">
                    <a:tc>
                      <a:txBody>
                        <a:bodyPr/>
                        <a:lstStyle/>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txBody>
                      <a:tcPr marL="68580" marR="68580" marT="34290" marB="3429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3830641041"/>
                  </p:ext>
                </p:extLst>
              </p:nvPr>
            </p:nvGraphicFramePr>
            <p:xfrm>
              <a:off x="1361531" y="2534190"/>
              <a:ext cx="2386013" cy="1962152"/>
            </p:xfrm>
            <a:graphic>
              <a:graphicData uri="http://schemas.openxmlformats.org/drawingml/2006/table">
                <a:tbl>
                  <a:tblPr firstRow="1" bandRow="1">
                    <a:tableStyleId>{5C22544A-7EE6-4342-B048-85BDC9FD1C3A}</a:tableStyleId>
                  </a:tblPr>
                  <a:tblGrid>
                    <a:gridCol w="2386013">
                      <a:extLst>
                        <a:ext uri="{9D8B030D-6E8A-4147-A177-3AD203B41FA5}">
                          <a16:colId xmlns:a16="http://schemas.microsoft.com/office/drawing/2014/main" val="20000"/>
                        </a:ext>
                      </a:extLst>
                    </a:gridCol>
                  </a:tblGrid>
                  <a:tr h="400052">
                    <a:tc>
                      <a:txBody>
                        <a:bodyPr/>
                        <a:lstStyle/>
                        <a:p>
                          <a:endParaRPr lang="en-US"/>
                        </a:p>
                      </a:txBody>
                      <a:tcPr marL="68580" marR="68580" marT="34290" marB="3429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7"/>
                          <a:stretch>
                            <a:fillRect l="-255" t="-1515" r="-510" b="-392424"/>
                          </a:stretch>
                        </a:blipFill>
                      </a:tcPr>
                    </a:tc>
                    <a:extLst>
                      <a:ext uri="{0D108BD9-81ED-4DB2-BD59-A6C34878D82A}">
                        <a16:rowId xmlns:a16="http://schemas.microsoft.com/office/drawing/2014/main" val="10000"/>
                      </a:ext>
                    </a:extLst>
                  </a:tr>
                  <a:tr h="1562100">
                    <a:tc>
                      <a:txBody>
                        <a:bodyPr/>
                        <a:lstStyle/>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txBody>
                      <a:tcPr marL="68580" marR="68580" marT="34290" marB="3429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1775401791"/>
                  </p:ext>
                </p:extLst>
              </p:nvPr>
            </p:nvGraphicFramePr>
            <p:xfrm>
              <a:off x="4442869" y="2534190"/>
              <a:ext cx="2386013" cy="1962152"/>
            </p:xfrm>
            <a:graphic>
              <a:graphicData uri="http://schemas.openxmlformats.org/drawingml/2006/table">
                <a:tbl>
                  <a:tblPr firstRow="1" bandRow="1">
                    <a:tableStyleId>{5C22544A-7EE6-4342-B048-85BDC9FD1C3A}</a:tableStyleId>
                  </a:tblPr>
                  <a:tblGrid>
                    <a:gridCol w="2386013">
                      <a:extLst>
                        <a:ext uri="{9D8B030D-6E8A-4147-A177-3AD203B41FA5}">
                          <a16:colId xmlns:a16="http://schemas.microsoft.com/office/drawing/2014/main" val="20000"/>
                        </a:ext>
                      </a:extLst>
                    </a:gridCol>
                  </a:tblGrid>
                  <a:tr h="400052">
                    <a:tc>
                      <a:txBody>
                        <a:bodyPr/>
                        <a:lstStyle/>
                        <a:p>
                          <a:pPr/>
                          <a14:m>
                            <m:oMathPara xmlns:m="http://schemas.openxmlformats.org/officeDocument/2006/math">
                              <m:oMathParaPr>
                                <m:jc m:val="centerGroup"/>
                              </m:oMathParaPr>
                              <m:oMath xmlns:m="http://schemas.openxmlformats.org/officeDocument/2006/math">
                                <m:sSub>
                                  <m:sSubPr>
                                    <m:ctrlPr>
                                      <a:rPr lang="en-US" sz="1800" b="1" i="1" smtClean="0">
                                        <a:solidFill>
                                          <a:srgbClr val="AD1457"/>
                                        </a:solidFill>
                                        <a:latin typeface="Cambria Math" panose="02040503050406030204" pitchFamily="18" charset="0"/>
                                      </a:rPr>
                                    </m:ctrlPr>
                                  </m:sSubPr>
                                  <m:e>
                                    <m:r>
                                      <a:rPr lang="en-US" sz="1800" b="1" i="1" smtClean="0">
                                        <a:solidFill>
                                          <a:srgbClr val="AD1457"/>
                                        </a:solidFill>
                                        <a:latin typeface="Cambria Math" panose="02040503050406030204" pitchFamily="18" charset="0"/>
                                      </a:rPr>
                                      <m:t>𝒇</m:t>
                                    </m:r>
                                  </m:e>
                                  <m:sub>
                                    <m:r>
                                      <a:rPr lang="en-US" sz="1800" b="1" i="1" smtClean="0">
                                        <a:solidFill>
                                          <a:srgbClr val="AD1457"/>
                                        </a:solidFill>
                                        <a:latin typeface="Cambria Math" panose="02040503050406030204" pitchFamily="18" charset="0"/>
                                      </a:rPr>
                                      <m:t>𝟐</m:t>
                                    </m:r>
                                  </m:sub>
                                </m:sSub>
                                <m:r>
                                  <a:rPr lang="en-US" sz="1800" b="1" i="1">
                                    <a:solidFill>
                                      <a:srgbClr val="AD1457"/>
                                    </a:solidFill>
                                    <a:latin typeface="Cambria Math" panose="02040503050406030204" pitchFamily="18" charset="0"/>
                                  </a:rPr>
                                  <m:t>[</m:t>
                                </m:r>
                                <m:r>
                                  <a:rPr lang="en-US" sz="1800" b="1" i="1">
                                    <a:solidFill>
                                      <a:srgbClr val="AD1457"/>
                                    </a:solidFill>
                                    <a:latin typeface="Cambria Math" panose="02040503050406030204" pitchFamily="18" charset="0"/>
                                  </a:rPr>
                                  <m:t>𝟏</m:t>
                                </m:r>
                                <m:r>
                                  <a:rPr lang="en-US" sz="1800" b="1" i="1">
                                    <a:solidFill>
                                      <a:srgbClr val="AD1457"/>
                                    </a:solidFill>
                                    <a:latin typeface="Cambria Math" panose="02040503050406030204" pitchFamily="18" charset="0"/>
                                  </a:rPr>
                                  <m:t>] = </m:t>
                                </m:r>
                                <m:sSub>
                                  <m:sSubPr>
                                    <m:ctrlPr>
                                      <a:rPr lang="en-US" sz="1800" b="1" i="1" smtClean="0">
                                        <a:solidFill>
                                          <a:srgbClr val="AD1457"/>
                                        </a:solidFill>
                                        <a:latin typeface="Cambria Math" panose="02040503050406030204" pitchFamily="18" charset="0"/>
                                      </a:rPr>
                                    </m:ctrlPr>
                                  </m:sSubPr>
                                  <m:e>
                                    <m:r>
                                      <a:rPr lang="en-US" sz="1800" b="1" i="1" smtClean="0">
                                        <a:solidFill>
                                          <a:srgbClr val="AD1457"/>
                                        </a:solidFill>
                                        <a:latin typeface="Cambria Math" panose="02040503050406030204" pitchFamily="18" charset="0"/>
                                      </a:rPr>
                                      <m:t>𝒆</m:t>
                                    </m:r>
                                  </m:e>
                                  <m:sub>
                                    <m:r>
                                      <a:rPr lang="en-US" sz="1800" b="1" i="1" smtClean="0">
                                        <a:solidFill>
                                          <a:srgbClr val="AD1457"/>
                                        </a:solidFill>
                                        <a:latin typeface="Cambria Math" panose="02040503050406030204" pitchFamily="18" charset="0"/>
                                      </a:rPr>
                                      <m:t>𝟐</m:t>
                                    </m:r>
                                  </m:sub>
                                </m:sSub>
                                <m:r>
                                  <a:rPr lang="en-US" sz="1800" b="1" i="1">
                                    <a:solidFill>
                                      <a:srgbClr val="AD1457"/>
                                    </a:solidFill>
                                    <a:latin typeface="Cambria Math" panose="02040503050406030204" pitchFamily="18" charset="0"/>
                                  </a:rPr>
                                  <m:t>+ </m:t>
                                </m:r>
                                <m:sSub>
                                  <m:sSubPr>
                                    <m:ctrlPr>
                                      <a:rPr lang="en-US" sz="1800" b="1" i="1" smtClean="0">
                                        <a:solidFill>
                                          <a:srgbClr val="AD1457"/>
                                        </a:solidFill>
                                        <a:latin typeface="Cambria Math" panose="02040503050406030204" pitchFamily="18" charset="0"/>
                                      </a:rPr>
                                    </m:ctrlPr>
                                  </m:sSubPr>
                                  <m:e>
                                    <m:r>
                                      <a:rPr lang="en-US" sz="1800" b="1" i="1" smtClean="0">
                                        <a:solidFill>
                                          <a:srgbClr val="AD1457"/>
                                        </a:solidFill>
                                        <a:latin typeface="Cambria Math" panose="02040503050406030204" pitchFamily="18" charset="0"/>
                                      </a:rPr>
                                      <m:t>𝒂</m:t>
                                    </m:r>
                                  </m:e>
                                  <m:sub>
                                    <m:r>
                                      <a:rPr lang="en-US" sz="1800" b="1" i="1" smtClean="0">
                                        <a:solidFill>
                                          <a:srgbClr val="AD1457"/>
                                        </a:solidFill>
                                        <a:latin typeface="Cambria Math" panose="02040503050406030204" pitchFamily="18" charset="0"/>
                                      </a:rPr>
                                      <m:t>𝟐</m:t>
                                    </m:r>
                                    <m:r>
                                      <a:rPr lang="en-US" sz="1800" b="1" i="1" smtClean="0">
                                        <a:solidFill>
                                          <a:srgbClr val="AD1457"/>
                                        </a:solidFill>
                                        <a:latin typeface="Cambria Math" panose="02040503050406030204" pitchFamily="18" charset="0"/>
                                      </a:rPr>
                                      <m:t>,</m:t>
                                    </m:r>
                                    <m:r>
                                      <a:rPr lang="en-US" sz="1800" b="1" i="1" smtClean="0">
                                        <a:solidFill>
                                          <a:srgbClr val="AD1457"/>
                                        </a:solidFill>
                                        <a:latin typeface="Cambria Math" panose="02040503050406030204" pitchFamily="18" charset="0"/>
                                      </a:rPr>
                                      <m:t>𝟏</m:t>
                                    </m:r>
                                  </m:sub>
                                </m:sSub>
                              </m:oMath>
                            </m:oMathPara>
                          </a14:m>
                          <a:endParaRPr lang="en-US" sz="1800" b="1"/>
                        </a:p>
                      </a:txBody>
                      <a:tcPr marL="68580" marR="68580" marT="34290" marB="3429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000"/>
                      </a:ext>
                    </a:extLst>
                  </a:tr>
                  <a:tr h="1508760">
                    <a:tc>
                      <a:txBody>
                        <a:bodyPr/>
                        <a:lstStyle/>
                        <a:p>
                          <a:endParaRPr lang="en-US" sz="1400"/>
                        </a:p>
                        <a:p>
                          <a:endParaRPr lang="en-US" sz="1400"/>
                        </a:p>
                        <a:p>
                          <a:endParaRPr lang="en-US" sz="1400"/>
                        </a:p>
                        <a:p>
                          <a:endParaRPr lang="en-US" sz="1400"/>
                        </a:p>
                        <a:p>
                          <a:endParaRPr lang="en-US" sz="1400"/>
                        </a:p>
                        <a:p>
                          <a:endParaRPr lang="en-US" sz="1400"/>
                        </a:p>
                        <a:p>
                          <a:endParaRPr lang="en-US" sz="1400"/>
                        </a:p>
                      </a:txBody>
                      <a:tcPr marL="68580" marR="68580" marT="34290" marB="3429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1775401791"/>
                  </p:ext>
                </p:extLst>
              </p:nvPr>
            </p:nvGraphicFramePr>
            <p:xfrm>
              <a:off x="4442869" y="2534190"/>
              <a:ext cx="2386013" cy="1962152"/>
            </p:xfrm>
            <a:graphic>
              <a:graphicData uri="http://schemas.openxmlformats.org/drawingml/2006/table">
                <a:tbl>
                  <a:tblPr firstRow="1" bandRow="1">
                    <a:tableStyleId>{5C22544A-7EE6-4342-B048-85BDC9FD1C3A}</a:tableStyleId>
                  </a:tblPr>
                  <a:tblGrid>
                    <a:gridCol w="2386013">
                      <a:extLst>
                        <a:ext uri="{9D8B030D-6E8A-4147-A177-3AD203B41FA5}">
                          <a16:colId xmlns:a16="http://schemas.microsoft.com/office/drawing/2014/main" val="20000"/>
                        </a:ext>
                      </a:extLst>
                    </a:gridCol>
                  </a:tblGrid>
                  <a:tr h="400052">
                    <a:tc>
                      <a:txBody>
                        <a:bodyPr/>
                        <a:lstStyle/>
                        <a:p>
                          <a:endParaRPr lang="en-US"/>
                        </a:p>
                      </a:txBody>
                      <a:tcPr marL="68580" marR="68580" marT="34290" marB="3429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8"/>
                          <a:stretch>
                            <a:fillRect l="-254" t="-1515" r="-509" b="-392424"/>
                          </a:stretch>
                        </a:blipFill>
                      </a:tcPr>
                    </a:tc>
                    <a:extLst>
                      <a:ext uri="{0D108BD9-81ED-4DB2-BD59-A6C34878D82A}">
                        <a16:rowId xmlns:a16="http://schemas.microsoft.com/office/drawing/2014/main" val="10000"/>
                      </a:ext>
                    </a:extLst>
                  </a:tr>
                  <a:tr h="1562100">
                    <a:tc>
                      <a:txBody>
                        <a:bodyPr/>
                        <a:lstStyle/>
                        <a:p>
                          <a:endParaRPr lang="en-US" sz="1400"/>
                        </a:p>
                        <a:p>
                          <a:endParaRPr lang="en-US" sz="1400"/>
                        </a:p>
                        <a:p>
                          <a:endParaRPr lang="en-US" sz="1400"/>
                        </a:p>
                        <a:p>
                          <a:endParaRPr lang="en-US" sz="1400"/>
                        </a:p>
                        <a:p>
                          <a:endParaRPr lang="en-US" sz="1400"/>
                        </a:p>
                        <a:p>
                          <a:endParaRPr lang="en-US" sz="1400"/>
                        </a:p>
                        <a:p>
                          <a:endParaRPr lang="en-US" sz="1400"/>
                        </a:p>
                      </a:txBody>
                      <a:tcPr marL="68580" marR="68580" marT="34290" marB="3429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Fallback>
      </mc:AlternateContent>
      <p:pic>
        <p:nvPicPr>
          <p:cNvPr id="12" name="Picture 11"/>
          <p:cNvPicPr>
            <a:picLocks noChangeAspect="1"/>
          </p:cNvPicPr>
          <p:nvPr/>
        </p:nvPicPr>
        <p:blipFill>
          <a:blip r:embed="rId9"/>
          <a:stretch>
            <a:fillRect/>
          </a:stretch>
        </p:blipFill>
        <p:spPr>
          <a:xfrm>
            <a:off x="1614896" y="2991391"/>
            <a:ext cx="1851660" cy="1393079"/>
          </a:xfrm>
          <a:prstGeom prst="rect">
            <a:avLst/>
          </a:prstGeom>
        </p:spPr>
      </p:pic>
      <p:pic>
        <p:nvPicPr>
          <p:cNvPr id="13" name="Picture 12"/>
          <p:cNvPicPr>
            <a:picLocks noChangeAspect="1"/>
          </p:cNvPicPr>
          <p:nvPr/>
        </p:nvPicPr>
        <p:blipFill>
          <a:blip r:embed="rId10"/>
          <a:stretch>
            <a:fillRect/>
          </a:stretch>
        </p:blipFill>
        <p:spPr>
          <a:xfrm>
            <a:off x="4723856" y="3048542"/>
            <a:ext cx="1851660" cy="1332835"/>
          </a:xfrm>
          <a:prstGeom prst="rect">
            <a:avLst/>
          </a:prstGeom>
        </p:spPr>
      </p:pic>
    </p:spTree>
    <p:extLst>
      <p:ext uri="{BB962C8B-B14F-4D97-AF65-F5344CB8AC3E}">
        <p14:creationId xmlns:p14="http://schemas.microsoft.com/office/powerpoint/2010/main" val="1694715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dur="50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dur="50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dur="50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dur="50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4">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5">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6">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24299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Assembly line </a:t>
            </a:r>
            <a:r>
              <a:rPr kumimoji="0" lang="en-IN" sz="2800" b="1" i="0" u="none" strike="noStrike" kern="0" cap="none" spc="0" normalizeH="0" baseline="0" noProof="0" dirty="0" smtClean="0">
                <a:ln>
                  <a:noFill/>
                </a:ln>
                <a:solidFill>
                  <a:schemeClr val="bg1"/>
                </a:solidFill>
                <a:effectLst/>
                <a:uLnTx/>
                <a:uFillTx/>
                <a:latin typeface="Trebuchet MS" panose="020B0603020202020204" pitchFamily="34" charset="0"/>
                <a:sym typeface="Arial"/>
              </a:rPr>
              <a:t>scheduling</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grpSp>
        <p:nvGrpSpPr>
          <p:cNvPr id="24" name="Group 23"/>
          <p:cNvGrpSpPr/>
          <p:nvPr/>
        </p:nvGrpSpPr>
        <p:grpSpPr>
          <a:xfrm>
            <a:off x="1185455" y="1342210"/>
            <a:ext cx="6172200" cy="891540"/>
            <a:chOff x="1580606" y="1789613"/>
            <a:chExt cx="8229600" cy="1188720"/>
          </a:xfrm>
        </p:grpSpPr>
        <p:sp>
          <p:nvSpPr>
            <p:cNvPr id="25" name="Rectangle 24"/>
            <p:cNvSpPr/>
            <p:nvPr/>
          </p:nvSpPr>
          <p:spPr>
            <a:xfrm>
              <a:off x="1580606" y="1789613"/>
              <a:ext cx="8229600" cy="1188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Arial"/>
              </a:endParaRPr>
            </a:p>
          </p:txBody>
        </p:sp>
        <p:pic>
          <p:nvPicPr>
            <p:cNvPr id="26" name="Picture 25"/>
            <p:cNvPicPr>
              <a:picLocks noChangeAspect="1"/>
            </p:cNvPicPr>
            <p:nvPr/>
          </p:nvPicPr>
          <p:blipFill>
            <a:blip r:embed="rId7"/>
            <a:stretch>
              <a:fillRect/>
            </a:stretch>
          </p:blipFill>
          <p:spPr>
            <a:xfrm>
              <a:off x="1763818" y="1963740"/>
              <a:ext cx="7959328" cy="914400"/>
            </a:xfrm>
            <a:prstGeom prst="rect">
              <a:avLst/>
            </a:prstGeom>
            <a:solidFill>
              <a:srgbClr val="F19D19"/>
            </a:solidFill>
          </p:spPr>
        </p:pic>
      </p:grpSp>
      <p:sp>
        <p:nvSpPr>
          <p:cNvPr id="27" name="Content Placeholder 2"/>
          <p:cNvSpPr txBox="1">
            <a:spLocks/>
          </p:cNvSpPr>
          <p:nvPr/>
        </p:nvSpPr>
        <p:spPr>
          <a:xfrm>
            <a:off x="285124" y="731838"/>
            <a:ext cx="8495339" cy="411003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r>
              <a:rPr lang="en-US" sz="2000" dirty="0" smtClean="0">
                <a:solidFill>
                  <a:schemeClr val="tx1"/>
                </a:solidFill>
                <a:latin typeface="Trebuchet MS" panose="020B0603020202020204" pitchFamily="34" charset="0"/>
              </a:rPr>
              <a:t>General Case: 𝑗 = 2, 3, …,𝑛 and 𝑖 = 1, 2 -  Recursive solution </a:t>
            </a:r>
          </a:p>
          <a:p>
            <a:endParaRPr lang="en-US" sz="2100" dirty="0"/>
          </a:p>
        </p:txBody>
      </p:sp>
      <p:grpSp>
        <p:nvGrpSpPr>
          <p:cNvPr id="28" name="Group 27"/>
          <p:cNvGrpSpPr/>
          <p:nvPr/>
        </p:nvGrpSpPr>
        <p:grpSpPr>
          <a:xfrm>
            <a:off x="2076995" y="3938452"/>
            <a:ext cx="4114800" cy="685800"/>
            <a:chOff x="2769326" y="5251269"/>
            <a:chExt cx="5486400" cy="914400"/>
          </a:xfrm>
        </p:grpSpPr>
        <p:sp>
          <p:nvSpPr>
            <p:cNvPr id="29" name="Rectangle 28"/>
            <p:cNvSpPr/>
            <p:nvPr/>
          </p:nvSpPr>
          <p:spPr>
            <a:xfrm>
              <a:off x="2769326" y="5251269"/>
              <a:ext cx="5486400" cy="914400"/>
            </a:xfrm>
            <a:prstGeom prst="rect">
              <a:avLst/>
            </a:prstGeom>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Arial"/>
              </a:endParaRPr>
            </a:p>
          </p:txBody>
        </p:sp>
        <p:graphicFrame>
          <p:nvGraphicFramePr>
            <p:cNvPr id="30" name="Object 2"/>
            <p:cNvGraphicFramePr>
              <a:graphicFrameLocks noChangeAspect="1"/>
            </p:cNvGraphicFramePr>
            <p:nvPr/>
          </p:nvGraphicFramePr>
          <p:xfrm>
            <a:off x="2906486" y="5394035"/>
            <a:ext cx="5212080" cy="628868"/>
          </p:xfrm>
          <a:graphic>
            <a:graphicData uri="http://schemas.openxmlformats.org/presentationml/2006/ole">
              <mc:AlternateContent xmlns:mc="http://schemas.openxmlformats.org/markup-compatibility/2006">
                <mc:Choice xmlns:v="urn:schemas-microsoft-com:vml" Requires="v">
                  <p:oleObj spid="_x0000_s2086" name="Equation" r:id="rId8" imgW="1892160" imgH="228600" progId="Equation.3">
                    <p:embed/>
                  </p:oleObj>
                </mc:Choice>
                <mc:Fallback>
                  <p:oleObj name="Equation" r:id="rId8" imgW="1892160" imgH="228600" progId="Equation.3">
                    <p:embed/>
                    <p:pic>
                      <p:nvPicPr>
                        <p:cNvPr id="9" name="Object 2"/>
                        <p:cNvPicPr/>
                        <p:nvPr/>
                      </p:nvPicPr>
                      <p:blipFill>
                        <a:blip r:embed="rId9"/>
                        <a:stretch>
                          <a:fillRect/>
                        </a:stretch>
                      </p:blipFill>
                      <p:spPr>
                        <a:xfrm>
                          <a:off x="2906486" y="5394035"/>
                          <a:ext cx="5212080" cy="628868"/>
                        </a:xfrm>
                        <a:prstGeom prst="rect">
                          <a:avLst/>
                        </a:prstGeom>
                        <a:noFill/>
                      </p:spPr>
                    </p:pic>
                  </p:oleObj>
                </mc:Fallback>
              </mc:AlternateContent>
            </a:graphicData>
          </a:graphic>
        </p:graphicFrame>
      </p:grpSp>
      <p:grpSp>
        <p:nvGrpSpPr>
          <p:cNvPr id="31" name="Group 30"/>
          <p:cNvGrpSpPr/>
          <p:nvPr/>
        </p:nvGrpSpPr>
        <p:grpSpPr>
          <a:xfrm>
            <a:off x="1201784" y="2632166"/>
            <a:ext cx="6172200" cy="960120"/>
            <a:chOff x="1602379" y="3509555"/>
            <a:chExt cx="8229600" cy="1280160"/>
          </a:xfrm>
        </p:grpSpPr>
        <p:sp>
          <p:nvSpPr>
            <p:cNvPr id="32" name="Rectangle 31"/>
            <p:cNvSpPr/>
            <p:nvPr/>
          </p:nvSpPr>
          <p:spPr>
            <a:xfrm>
              <a:off x="1602379" y="3509555"/>
              <a:ext cx="8229600" cy="1280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Arial"/>
              </a:endParaRPr>
            </a:p>
          </p:txBody>
        </p:sp>
        <p:pic>
          <p:nvPicPr>
            <p:cNvPr id="33" name="Picture 32"/>
            <p:cNvPicPr>
              <a:picLocks noChangeAspect="1"/>
            </p:cNvPicPr>
            <p:nvPr/>
          </p:nvPicPr>
          <p:blipFill>
            <a:blip r:embed="rId10"/>
            <a:stretch>
              <a:fillRect/>
            </a:stretch>
          </p:blipFill>
          <p:spPr>
            <a:xfrm>
              <a:off x="1750755" y="3625636"/>
              <a:ext cx="7955280" cy="1038519"/>
            </a:xfrm>
            <a:prstGeom prst="rect">
              <a:avLst/>
            </a:prstGeom>
          </p:spPr>
        </p:pic>
      </p:grpSp>
    </p:spTree>
    <p:extLst>
      <p:ext uri="{BB962C8B-B14F-4D97-AF65-F5344CB8AC3E}">
        <p14:creationId xmlns:p14="http://schemas.microsoft.com/office/powerpoint/2010/main" val="304633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par>
                          <p:cTn id="8" fill="hold">
                            <p:stCondLst>
                              <p:cond delay="500"/>
                            </p:stCondLst>
                            <p:childTnLst>
                              <p:par>
                                <p:cTn id="9" presetID="22" presetClass="entr" presetSubtype="1" dur="100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up)">
                                      <p:cBhvr>
                                        <p:cTn id="11" dur="10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dur="1000"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up)">
                                      <p:cBhvr>
                                        <p:cTn id="16" dur="10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dur="100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wipe(up)">
                                      <p:cBhvr>
                                        <p:cTn id="21"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24299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Assembly line </a:t>
            </a:r>
            <a:r>
              <a:rPr kumimoji="0" lang="en-IN" sz="2800" b="1" i="0" u="none" strike="noStrike" kern="0" cap="none" spc="0" normalizeH="0" baseline="0" noProof="0" dirty="0" smtClean="0">
                <a:ln>
                  <a:noFill/>
                </a:ln>
                <a:solidFill>
                  <a:schemeClr val="bg1"/>
                </a:solidFill>
                <a:effectLst/>
                <a:uLnTx/>
                <a:uFillTx/>
                <a:latin typeface="Trebuchet MS" panose="020B0603020202020204" pitchFamily="34" charset="0"/>
                <a:sym typeface="Arial"/>
              </a:rPr>
              <a:t>scheduling</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6" name="TextBox 5">
            <a:extLst>
              <a:ext uri="{FF2B5EF4-FFF2-40B4-BE49-F238E27FC236}">
                <a16:creationId xmlns:a16="http://schemas.microsoft.com/office/drawing/2014/main" id="{7A8FA0A9-9286-57FF-7B23-9CC857886714}"/>
              </a:ext>
            </a:extLst>
          </p:cNvPr>
          <p:cNvSpPr txBox="1"/>
          <p:nvPr/>
        </p:nvSpPr>
        <p:spPr>
          <a:xfrm>
            <a:off x="468923" y="722347"/>
            <a:ext cx="8487508" cy="1785104"/>
          </a:xfrm>
          <a:prstGeom prst="rect">
            <a:avLst/>
          </a:prstGeom>
          <a:noFill/>
        </p:spPr>
        <p:txBody>
          <a:bodyPr wrap="square">
            <a:spAutoFit/>
          </a:bodyPr>
          <a:lstStyle/>
          <a:p>
            <a:pPr marL="342900" indent="-342900">
              <a:spcBef>
                <a:spcPts val="600"/>
              </a:spcBef>
              <a:buFont typeface="Arial" panose="020B0604020202020204" pitchFamily="34" charset="0"/>
              <a:buChar char="•"/>
            </a:pPr>
            <a:r>
              <a:rPr lang="en-IN" sz="2000" b="0" i="0" dirty="0">
                <a:solidFill>
                  <a:schemeClr val="tx1"/>
                </a:solidFill>
                <a:effectLst/>
                <a:latin typeface="Trebuchet MS" panose="020B0603020202020204" pitchFamily="34" charset="0"/>
              </a:rPr>
              <a:t>The above algorithm will just tell us the minimum time required to take away the product from station n. </a:t>
            </a:r>
          </a:p>
          <a:p>
            <a:pPr marL="342900" indent="-342900">
              <a:spcBef>
                <a:spcPts val="600"/>
              </a:spcBef>
              <a:buFont typeface="Arial" panose="020B0604020202020204" pitchFamily="34" charset="0"/>
              <a:buChar char="•"/>
            </a:pPr>
            <a:r>
              <a:rPr lang="en-IN" sz="2000" b="0" i="0" dirty="0">
                <a:solidFill>
                  <a:schemeClr val="tx1"/>
                </a:solidFill>
                <a:effectLst/>
                <a:latin typeface="Trebuchet MS" panose="020B0603020202020204" pitchFamily="34" charset="0"/>
              </a:rPr>
              <a:t>It does not tell anything about the sequence of stations on assembly. </a:t>
            </a:r>
          </a:p>
          <a:p>
            <a:pPr marL="342900" indent="-342900">
              <a:spcBef>
                <a:spcPts val="600"/>
              </a:spcBef>
              <a:buFont typeface="Arial" panose="020B0604020202020204" pitchFamily="34" charset="0"/>
              <a:buChar char="•"/>
            </a:pPr>
            <a:r>
              <a:rPr lang="en-IN" sz="2000" b="0" i="0" dirty="0">
                <a:solidFill>
                  <a:schemeClr val="tx1"/>
                </a:solidFill>
                <a:effectLst/>
                <a:latin typeface="Trebuchet MS" panose="020B0603020202020204" pitchFamily="34" charset="0"/>
              </a:rPr>
              <a:t>We can find the station sequence by tracing the solution using the following algorithm.</a:t>
            </a:r>
            <a:endParaRPr lang="en-IN" sz="2000" dirty="0">
              <a:solidFill>
                <a:schemeClr val="tx1"/>
              </a:solidFill>
              <a:latin typeface="Trebuchet MS" panose="020B0603020202020204" pitchFamily="34" charset="0"/>
            </a:endParaRPr>
          </a:p>
        </p:txBody>
      </p:sp>
      <p:pic>
        <p:nvPicPr>
          <p:cNvPr id="7" name="Picture 6">
            <a:extLst>
              <a:ext uri="{FF2B5EF4-FFF2-40B4-BE49-F238E27FC236}">
                <a16:creationId xmlns:a16="http://schemas.microsoft.com/office/drawing/2014/main" id="{9E708F7F-F2B3-1EAA-0DF7-92438DE5CFE7}"/>
              </a:ext>
            </a:extLst>
          </p:cNvPr>
          <p:cNvPicPr>
            <a:picLocks noChangeAspect="1"/>
          </p:cNvPicPr>
          <p:nvPr/>
        </p:nvPicPr>
        <p:blipFill>
          <a:blip r:embed="rId6"/>
          <a:stretch>
            <a:fillRect/>
          </a:stretch>
        </p:blipFill>
        <p:spPr>
          <a:xfrm>
            <a:off x="1022430" y="2731230"/>
            <a:ext cx="4044461" cy="2105758"/>
          </a:xfrm>
          <a:prstGeom prst="rect">
            <a:avLst/>
          </a:prstGeom>
          <a:ln w="6350">
            <a:solidFill>
              <a:schemeClr val="tx1"/>
            </a:solidFill>
          </a:ln>
        </p:spPr>
      </p:pic>
    </p:spTree>
    <p:extLst>
      <p:ext uri="{BB962C8B-B14F-4D97-AF65-F5344CB8AC3E}">
        <p14:creationId xmlns:p14="http://schemas.microsoft.com/office/powerpoint/2010/main" val="266912283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24299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Assembly line </a:t>
            </a:r>
            <a:r>
              <a:rPr kumimoji="0" lang="en-IN" sz="2800" b="1" i="0" u="none" strike="noStrike" kern="0" cap="none" spc="0" normalizeH="0" baseline="0" noProof="0" dirty="0" smtClean="0">
                <a:ln>
                  <a:noFill/>
                </a:ln>
                <a:solidFill>
                  <a:schemeClr val="bg1"/>
                </a:solidFill>
                <a:effectLst/>
                <a:uLnTx/>
                <a:uFillTx/>
                <a:latin typeface="Trebuchet MS" panose="020B0603020202020204" pitchFamily="34" charset="0"/>
                <a:sym typeface="Arial"/>
              </a:rPr>
              <a:t>scheduling</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6" name="TextBox 5">
            <a:extLst>
              <a:ext uri="{FF2B5EF4-FFF2-40B4-BE49-F238E27FC236}">
                <a16:creationId xmlns:a16="http://schemas.microsoft.com/office/drawing/2014/main" id="{0A555138-6A8C-9125-029F-9EBAD8181D10}"/>
              </a:ext>
            </a:extLst>
          </p:cNvPr>
          <p:cNvSpPr txBox="1"/>
          <p:nvPr/>
        </p:nvSpPr>
        <p:spPr>
          <a:xfrm>
            <a:off x="585114" y="892318"/>
            <a:ext cx="5838093" cy="369332"/>
          </a:xfrm>
          <a:prstGeom prst="rect">
            <a:avLst/>
          </a:prstGeom>
          <a:noFill/>
        </p:spPr>
        <p:txBody>
          <a:bodyPr wrap="square">
            <a:spAutoFit/>
          </a:bodyPr>
          <a:lstStyle/>
          <a:p>
            <a:r>
              <a:rPr lang="en-IN" sz="1800" b="1" i="0" dirty="0">
                <a:solidFill>
                  <a:schemeClr val="tx1"/>
                </a:solidFill>
                <a:effectLst/>
                <a:latin typeface="Trebuchet MS" panose="020B0603020202020204" pitchFamily="34" charset="0"/>
              </a:rPr>
              <a:t>Find optimal assembly line schedule for given data.</a:t>
            </a:r>
            <a:endParaRPr lang="en-IN" sz="1800" dirty="0">
              <a:solidFill>
                <a:schemeClr val="tx1"/>
              </a:solidFill>
              <a:latin typeface="Trebuchet MS" panose="020B0603020202020204" pitchFamily="34" charset="0"/>
            </a:endParaRPr>
          </a:p>
        </p:txBody>
      </p:sp>
      <p:pic>
        <p:nvPicPr>
          <p:cNvPr id="7" name="Picture 6">
            <a:extLst>
              <a:ext uri="{FF2B5EF4-FFF2-40B4-BE49-F238E27FC236}">
                <a16:creationId xmlns:a16="http://schemas.microsoft.com/office/drawing/2014/main" id="{7691A65A-B383-A63C-B99F-522447BB9741}"/>
              </a:ext>
            </a:extLst>
          </p:cNvPr>
          <p:cNvPicPr>
            <a:picLocks noChangeAspect="1"/>
          </p:cNvPicPr>
          <p:nvPr/>
        </p:nvPicPr>
        <p:blipFill>
          <a:blip r:embed="rId6"/>
          <a:stretch>
            <a:fillRect/>
          </a:stretch>
        </p:blipFill>
        <p:spPr>
          <a:xfrm>
            <a:off x="585089" y="1591271"/>
            <a:ext cx="7789985" cy="2133600"/>
          </a:xfrm>
          <a:prstGeom prst="rect">
            <a:avLst/>
          </a:prstGeom>
        </p:spPr>
      </p:pic>
    </p:spTree>
    <p:extLst>
      <p:ext uri="{BB962C8B-B14F-4D97-AF65-F5344CB8AC3E}">
        <p14:creationId xmlns:p14="http://schemas.microsoft.com/office/powerpoint/2010/main" val="151360952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153439" y="148588"/>
            <a:ext cx="6687199" cy="523220"/>
          </a:xfrm>
          <a:prstGeom prst="rect">
            <a:avLst/>
          </a:prstGeom>
          <a:noFill/>
        </p:spPr>
        <p:txBody>
          <a:bodyPr wrap="square">
            <a:spAutoFit/>
          </a:bodyPr>
          <a:lstStyle/>
          <a:p>
            <a:pPr lvl="0">
              <a:defRPr/>
            </a:pPr>
            <a:r>
              <a:rPr lang="en-IN" sz="2800" b="1" dirty="0">
                <a:solidFill>
                  <a:schemeClr val="bg1"/>
                </a:solidFill>
                <a:latin typeface="Trebuchet MS" panose="020B0603020202020204" pitchFamily="34" charset="0"/>
              </a:rPr>
              <a:t>Assembly line scheduling -Example 1 </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6" name="TextBox 5">
            <a:extLst>
              <a:ext uri="{FF2B5EF4-FFF2-40B4-BE49-F238E27FC236}">
                <a16:creationId xmlns:a16="http://schemas.microsoft.com/office/drawing/2014/main" id="{EDB47E45-AAAB-4199-CEBC-40FF90F17F12}"/>
              </a:ext>
            </a:extLst>
          </p:cNvPr>
          <p:cNvSpPr txBox="1"/>
          <p:nvPr/>
        </p:nvSpPr>
        <p:spPr>
          <a:xfrm>
            <a:off x="700966" y="1393460"/>
            <a:ext cx="8142729" cy="1323439"/>
          </a:xfrm>
          <a:prstGeom prst="rect">
            <a:avLst/>
          </a:prstGeom>
          <a:noFill/>
          <a:ln w="19050">
            <a:solidFill>
              <a:schemeClr val="accent1">
                <a:lumMod val="75000"/>
              </a:schemeClr>
            </a:solidFill>
          </a:ln>
        </p:spPr>
        <p:txBody>
          <a:bodyPr wrap="square">
            <a:spAutoFit/>
          </a:bodyPr>
          <a:lstStyle/>
          <a:p>
            <a:pPr algn="l" fontAlgn="base"/>
            <a:r>
              <a:rPr lang="en-IN" sz="2000" b="0" i="0" dirty="0">
                <a:solidFill>
                  <a:schemeClr val="tx1"/>
                </a:solidFill>
                <a:effectLst/>
                <a:latin typeface="Trebuchet MS" panose="020B0603020202020204" pitchFamily="34" charset="0"/>
              </a:rPr>
              <a:t>f</a:t>
            </a:r>
            <a:r>
              <a:rPr lang="en-IN" sz="2000" b="0" i="0" baseline="-25000" dirty="0">
                <a:solidFill>
                  <a:schemeClr val="tx1"/>
                </a:solidFill>
                <a:effectLst/>
                <a:latin typeface="Trebuchet MS" panose="020B0603020202020204" pitchFamily="34" charset="0"/>
              </a:rPr>
              <a:t>i</a:t>
            </a:r>
            <a:r>
              <a:rPr lang="en-IN" sz="2000" b="0" i="0" dirty="0">
                <a:solidFill>
                  <a:schemeClr val="tx1"/>
                </a:solidFill>
                <a:effectLst/>
                <a:latin typeface="Trebuchet MS" panose="020B0603020202020204" pitchFamily="34" charset="0"/>
              </a:rPr>
              <a:t> [j] = </a:t>
            </a:r>
            <a:r>
              <a:rPr lang="en-IN" sz="2000" b="0" i="0" dirty="0" err="1">
                <a:solidFill>
                  <a:schemeClr val="tx1"/>
                </a:solidFill>
                <a:effectLst/>
                <a:latin typeface="Trebuchet MS" panose="020B0603020202020204" pitchFamily="34" charset="0"/>
              </a:rPr>
              <a:t>e</a:t>
            </a:r>
            <a:r>
              <a:rPr lang="en-IN" sz="2000" b="0" i="0" baseline="-25000" dirty="0" err="1">
                <a:solidFill>
                  <a:schemeClr val="tx1"/>
                </a:solidFill>
                <a:effectLst/>
                <a:latin typeface="Trebuchet MS" panose="020B0603020202020204" pitchFamily="34" charset="0"/>
              </a:rPr>
              <a:t>i</a:t>
            </a:r>
            <a:r>
              <a:rPr lang="en-IN" sz="2000" b="0" i="0" dirty="0">
                <a:solidFill>
                  <a:schemeClr val="tx1"/>
                </a:solidFill>
                <a:effectLst/>
                <a:latin typeface="Trebuchet MS" panose="020B0603020202020204" pitchFamily="34" charset="0"/>
              </a:rPr>
              <a:t> + a</a:t>
            </a:r>
            <a:r>
              <a:rPr lang="en-IN" sz="2000" b="0" i="0" baseline="-25000" dirty="0">
                <a:solidFill>
                  <a:schemeClr val="tx1"/>
                </a:solidFill>
                <a:effectLst/>
                <a:latin typeface="Trebuchet MS" panose="020B0603020202020204" pitchFamily="34" charset="0"/>
              </a:rPr>
              <a:t>i</a:t>
            </a:r>
            <a:r>
              <a:rPr lang="en-IN" sz="2000" b="0" i="0" dirty="0">
                <a:solidFill>
                  <a:schemeClr val="tx1"/>
                </a:solidFill>
                <a:effectLst/>
                <a:latin typeface="Trebuchet MS" panose="020B0603020202020204" pitchFamily="34" charset="0"/>
              </a:rPr>
              <a:t>,</a:t>
            </a:r>
            <a:r>
              <a:rPr lang="en-IN" sz="2000" b="0" i="0" baseline="-25000" dirty="0">
                <a:solidFill>
                  <a:schemeClr val="tx1"/>
                </a:solidFill>
                <a:effectLst/>
                <a:latin typeface="Trebuchet MS" panose="020B0603020202020204" pitchFamily="34" charset="0"/>
              </a:rPr>
              <a:t>1</a:t>
            </a:r>
            <a:r>
              <a:rPr lang="en-IN" sz="2000" b="0" i="0" dirty="0">
                <a:solidFill>
                  <a:schemeClr val="tx1"/>
                </a:solidFill>
                <a:effectLst/>
                <a:latin typeface="Trebuchet MS" panose="020B0603020202020204" pitchFamily="34" charset="0"/>
              </a:rPr>
              <a:t>; 			</a:t>
            </a:r>
            <a:r>
              <a:rPr lang="en-IN" sz="2000" b="0" i="0" dirty="0">
                <a:solidFill>
                  <a:srgbClr val="0033CC"/>
                </a:solidFill>
                <a:effectLst/>
                <a:latin typeface="Trebuchet MS" panose="020B0603020202020204" pitchFamily="34" charset="0"/>
              </a:rPr>
              <a:t>Initial condition (j = 1, </a:t>
            </a:r>
            <a:r>
              <a:rPr lang="en-IN" sz="2000" b="0" i="0" dirty="0" err="1">
                <a:solidFill>
                  <a:srgbClr val="0033CC"/>
                </a:solidFill>
                <a:effectLst/>
                <a:latin typeface="Trebuchet MS" panose="020B0603020202020204" pitchFamily="34" charset="0"/>
              </a:rPr>
              <a:t>i</a:t>
            </a:r>
            <a:r>
              <a:rPr lang="en-IN" sz="2000" b="0" i="0" dirty="0">
                <a:solidFill>
                  <a:srgbClr val="0033CC"/>
                </a:solidFill>
                <a:effectLst/>
                <a:latin typeface="Trebuchet MS" panose="020B0603020202020204" pitchFamily="34" charset="0"/>
              </a:rPr>
              <a:t>=1, 2)</a:t>
            </a:r>
          </a:p>
          <a:p>
            <a:pPr algn="l" fontAlgn="base"/>
            <a:r>
              <a:rPr lang="en-IN" sz="2000" b="0" i="0" dirty="0">
                <a:solidFill>
                  <a:schemeClr val="tx1"/>
                </a:solidFill>
                <a:effectLst/>
                <a:latin typeface="Trebuchet MS" panose="020B0603020202020204" pitchFamily="34" charset="0"/>
              </a:rPr>
              <a:t>f</a:t>
            </a:r>
            <a:r>
              <a:rPr lang="en-IN" sz="2000" b="0" i="0" baseline="-25000" dirty="0">
                <a:solidFill>
                  <a:schemeClr val="tx1"/>
                </a:solidFill>
                <a:effectLst/>
                <a:latin typeface="Trebuchet MS" panose="020B0603020202020204" pitchFamily="34" charset="0"/>
              </a:rPr>
              <a:t>1 </a:t>
            </a:r>
            <a:r>
              <a:rPr lang="en-IN" sz="2000" b="0" i="0" dirty="0">
                <a:solidFill>
                  <a:schemeClr val="tx1"/>
                </a:solidFill>
                <a:effectLst/>
                <a:latin typeface="Trebuchet MS" panose="020B0603020202020204" pitchFamily="34" charset="0"/>
              </a:rPr>
              <a:t>[j] = min (f</a:t>
            </a:r>
            <a:r>
              <a:rPr lang="en-IN" sz="2000" b="0" i="0" baseline="-25000" dirty="0">
                <a:solidFill>
                  <a:schemeClr val="tx1"/>
                </a:solidFill>
                <a:effectLst/>
                <a:latin typeface="Trebuchet MS" panose="020B0603020202020204" pitchFamily="34" charset="0"/>
              </a:rPr>
              <a:t>1</a:t>
            </a:r>
            <a:r>
              <a:rPr lang="en-IN" sz="2000" b="0" i="0" dirty="0">
                <a:solidFill>
                  <a:schemeClr val="tx1"/>
                </a:solidFill>
                <a:effectLst/>
                <a:latin typeface="Trebuchet MS" panose="020B0603020202020204" pitchFamily="34" charset="0"/>
              </a:rPr>
              <a:t> [j – 1] + a</a:t>
            </a:r>
            <a:r>
              <a:rPr lang="en-IN" sz="2000" b="0" i="0" baseline="-25000" dirty="0">
                <a:solidFill>
                  <a:schemeClr val="tx1"/>
                </a:solidFill>
                <a:effectLst/>
                <a:latin typeface="Trebuchet MS" panose="020B0603020202020204" pitchFamily="34" charset="0"/>
              </a:rPr>
              <a:t>1j</a:t>
            </a:r>
            <a:r>
              <a:rPr lang="en-IN" sz="2000" b="0" i="0" dirty="0">
                <a:solidFill>
                  <a:schemeClr val="tx1"/>
                </a:solidFill>
                <a:effectLst/>
                <a:latin typeface="Trebuchet MS" panose="020B0603020202020204" pitchFamily="34" charset="0"/>
              </a:rPr>
              <a:t>, f</a:t>
            </a:r>
            <a:r>
              <a:rPr lang="en-IN" sz="2000" b="0" i="0" baseline="-25000" dirty="0">
                <a:solidFill>
                  <a:schemeClr val="tx1"/>
                </a:solidFill>
                <a:effectLst/>
                <a:latin typeface="Trebuchet MS" panose="020B0603020202020204" pitchFamily="34" charset="0"/>
              </a:rPr>
              <a:t>2</a:t>
            </a:r>
            <a:r>
              <a:rPr lang="en-IN" sz="2000" b="0" i="0" dirty="0">
                <a:solidFill>
                  <a:schemeClr val="tx1"/>
                </a:solidFill>
                <a:effectLst/>
                <a:latin typeface="Trebuchet MS" panose="020B0603020202020204" pitchFamily="34" charset="0"/>
              </a:rPr>
              <a:t> [j – 1] + t</a:t>
            </a:r>
            <a:r>
              <a:rPr lang="en-IN" sz="2000" b="0" i="0" baseline="-25000" dirty="0">
                <a:solidFill>
                  <a:schemeClr val="tx1"/>
                </a:solidFill>
                <a:effectLst/>
                <a:latin typeface="Trebuchet MS" panose="020B0603020202020204" pitchFamily="34" charset="0"/>
              </a:rPr>
              <a:t>2 j – 1</a:t>
            </a:r>
            <a:r>
              <a:rPr lang="en-IN" sz="2000" b="0" i="0" dirty="0">
                <a:solidFill>
                  <a:schemeClr val="tx1"/>
                </a:solidFill>
                <a:effectLst/>
                <a:latin typeface="Trebuchet MS" panose="020B0603020202020204" pitchFamily="34" charset="0"/>
              </a:rPr>
              <a:t>) + a</a:t>
            </a:r>
            <a:r>
              <a:rPr lang="en-IN" sz="2000" b="0" i="0" baseline="-25000" dirty="0">
                <a:solidFill>
                  <a:schemeClr val="tx1"/>
                </a:solidFill>
                <a:effectLst/>
                <a:latin typeface="Trebuchet MS" panose="020B0603020202020204" pitchFamily="34" charset="0"/>
              </a:rPr>
              <a:t>1j</a:t>
            </a:r>
            <a:r>
              <a:rPr lang="en-IN" sz="2000" b="0" i="0" dirty="0">
                <a:solidFill>
                  <a:schemeClr val="tx1"/>
                </a:solidFill>
                <a:effectLst/>
                <a:latin typeface="Trebuchet MS" panose="020B0603020202020204" pitchFamily="34" charset="0"/>
              </a:rPr>
              <a:t>)</a:t>
            </a:r>
          </a:p>
          <a:p>
            <a:pPr algn="l" fontAlgn="base"/>
            <a:r>
              <a:rPr lang="en-IN" sz="2000" b="0" i="0" dirty="0">
                <a:solidFill>
                  <a:schemeClr val="tx1"/>
                </a:solidFill>
                <a:effectLst/>
                <a:latin typeface="Trebuchet MS" panose="020B0603020202020204" pitchFamily="34" charset="0"/>
              </a:rPr>
              <a:t>f</a:t>
            </a:r>
            <a:r>
              <a:rPr lang="en-IN" sz="2000" b="0" i="0" baseline="-25000" dirty="0">
                <a:solidFill>
                  <a:schemeClr val="tx1"/>
                </a:solidFill>
                <a:effectLst/>
                <a:latin typeface="Trebuchet MS" panose="020B0603020202020204" pitchFamily="34" charset="0"/>
              </a:rPr>
              <a:t>2 </a:t>
            </a:r>
            <a:r>
              <a:rPr lang="en-IN" sz="2000" b="0" i="0" dirty="0">
                <a:solidFill>
                  <a:schemeClr val="tx1"/>
                </a:solidFill>
                <a:effectLst/>
                <a:latin typeface="Trebuchet MS" panose="020B0603020202020204" pitchFamily="34" charset="0"/>
              </a:rPr>
              <a:t>[j] = min (f</a:t>
            </a:r>
            <a:r>
              <a:rPr lang="en-IN" sz="2000" b="0" i="0" baseline="-25000" dirty="0">
                <a:solidFill>
                  <a:schemeClr val="tx1"/>
                </a:solidFill>
                <a:effectLst/>
                <a:latin typeface="Trebuchet MS" panose="020B0603020202020204" pitchFamily="34" charset="0"/>
              </a:rPr>
              <a:t>1</a:t>
            </a:r>
            <a:r>
              <a:rPr lang="en-IN" sz="2000" b="0" i="0" dirty="0">
                <a:solidFill>
                  <a:schemeClr val="tx1"/>
                </a:solidFill>
                <a:effectLst/>
                <a:latin typeface="Trebuchet MS" panose="020B0603020202020204" pitchFamily="34" charset="0"/>
              </a:rPr>
              <a:t> [j – 1] + t</a:t>
            </a:r>
            <a:r>
              <a:rPr lang="en-IN" sz="2000" b="0" i="0" baseline="-25000" dirty="0">
                <a:solidFill>
                  <a:schemeClr val="tx1"/>
                </a:solidFill>
                <a:effectLst/>
                <a:latin typeface="Trebuchet MS" panose="020B0603020202020204" pitchFamily="34" charset="0"/>
              </a:rPr>
              <a:t>1</a:t>
            </a:r>
            <a:r>
              <a:rPr lang="en-IN" sz="2000" b="0" i="0" dirty="0">
                <a:solidFill>
                  <a:schemeClr val="tx1"/>
                </a:solidFill>
                <a:effectLst/>
                <a:latin typeface="Trebuchet MS" panose="020B0603020202020204" pitchFamily="34" charset="0"/>
              </a:rPr>
              <a:t> </a:t>
            </a:r>
            <a:r>
              <a:rPr lang="en-IN" sz="2000" b="0" i="0" baseline="-25000" dirty="0">
                <a:solidFill>
                  <a:schemeClr val="tx1"/>
                </a:solidFill>
                <a:effectLst/>
                <a:latin typeface="Trebuchet MS" panose="020B0603020202020204" pitchFamily="34" charset="0"/>
              </a:rPr>
              <a:t>j – 1</a:t>
            </a:r>
            <a:r>
              <a:rPr lang="en-IN" sz="2000" b="0" i="0" dirty="0">
                <a:solidFill>
                  <a:schemeClr val="tx1"/>
                </a:solidFill>
                <a:effectLst/>
                <a:latin typeface="Trebuchet MS" panose="020B0603020202020204" pitchFamily="34" charset="0"/>
              </a:rPr>
              <a:t>) + a</a:t>
            </a:r>
            <a:r>
              <a:rPr lang="en-IN" sz="2000" b="0" i="0" baseline="-25000" dirty="0">
                <a:solidFill>
                  <a:schemeClr val="tx1"/>
                </a:solidFill>
                <a:effectLst/>
                <a:latin typeface="Trebuchet MS" panose="020B0603020202020204" pitchFamily="34" charset="0"/>
              </a:rPr>
              <a:t>2j</a:t>
            </a:r>
            <a:r>
              <a:rPr lang="en-IN" sz="2000" b="0" i="0" dirty="0">
                <a:solidFill>
                  <a:schemeClr val="tx1"/>
                </a:solidFill>
                <a:effectLst/>
                <a:latin typeface="Trebuchet MS" panose="020B0603020202020204" pitchFamily="34" charset="0"/>
              </a:rPr>
              <a:t>, f</a:t>
            </a:r>
            <a:r>
              <a:rPr lang="en-IN" sz="2000" b="0" i="0" baseline="-25000" dirty="0">
                <a:solidFill>
                  <a:schemeClr val="tx1"/>
                </a:solidFill>
                <a:effectLst/>
                <a:latin typeface="Trebuchet MS" panose="020B0603020202020204" pitchFamily="34" charset="0"/>
              </a:rPr>
              <a:t>2</a:t>
            </a:r>
            <a:r>
              <a:rPr lang="en-IN" sz="2000" b="0" i="0" dirty="0">
                <a:solidFill>
                  <a:schemeClr val="tx1"/>
                </a:solidFill>
                <a:effectLst/>
                <a:latin typeface="Trebuchet MS" panose="020B0603020202020204" pitchFamily="34" charset="0"/>
              </a:rPr>
              <a:t> [j – 1] + a</a:t>
            </a:r>
            <a:r>
              <a:rPr lang="en-IN" sz="2000" b="0" i="0" baseline="-25000" dirty="0">
                <a:solidFill>
                  <a:schemeClr val="tx1"/>
                </a:solidFill>
                <a:effectLst/>
                <a:latin typeface="Trebuchet MS" panose="020B0603020202020204" pitchFamily="34" charset="0"/>
              </a:rPr>
              <a:t>2j</a:t>
            </a:r>
            <a:r>
              <a:rPr lang="en-IN" sz="2000" b="0" i="0" dirty="0">
                <a:solidFill>
                  <a:schemeClr val="tx1"/>
                </a:solidFill>
                <a:effectLst/>
                <a:latin typeface="Trebuchet MS" panose="020B0603020202020204" pitchFamily="34" charset="0"/>
              </a:rPr>
              <a:t> )</a:t>
            </a:r>
          </a:p>
          <a:p>
            <a:pPr algn="l" fontAlgn="base"/>
            <a:r>
              <a:rPr lang="en-IN" sz="2000" b="0" i="0" dirty="0">
                <a:solidFill>
                  <a:schemeClr val="tx1"/>
                </a:solidFill>
                <a:effectLst/>
                <a:latin typeface="Trebuchet MS" panose="020B0603020202020204" pitchFamily="34" charset="0"/>
              </a:rPr>
              <a:t>f*  = min (f</a:t>
            </a:r>
            <a:r>
              <a:rPr lang="en-IN" sz="2000" b="0" i="0" baseline="-25000" dirty="0">
                <a:solidFill>
                  <a:schemeClr val="tx1"/>
                </a:solidFill>
                <a:effectLst/>
                <a:latin typeface="Trebuchet MS" panose="020B0603020202020204" pitchFamily="34" charset="0"/>
              </a:rPr>
              <a:t>1</a:t>
            </a:r>
            <a:r>
              <a:rPr lang="en-IN" sz="2000" b="0" i="0" dirty="0">
                <a:solidFill>
                  <a:schemeClr val="tx1"/>
                </a:solidFill>
                <a:effectLst/>
                <a:latin typeface="Trebuchet MS" panose="020B0603020202020204" pitchFamily="34" charset="0"/>
              </a:rPr>
              <a:t> [n] + x</a:t>
            </a:r>
            <a:r>
              <a:rPr lang="en-IN" sz="2000" b="0" i="0" baseline="-25000" dirty="0">
                <a:solidFill>
                  <a:schemeClr val="tx1"/>
                </a:solidFill>
                <a:effectLst/>
                <a:latin typeface="Trebuchet MS" panose="020B0603020202020204" pitchFamily="34" charset="0"/>
              </a:rPr>
              <a:t>1</a:t>
            </a:r>
            <a:r>
              <a:rPr lang="en-IN" sz="2000" b="0" i="0" dirty="0">
                <a:solidFill>
                  <a:schemeClr val="tx1"/>
                </a:solidFill>
                <a:effectLst/>
                <a:latin typeface="Trebuchet MS" panose="020B0603020202020204" pitchFamily="34" charset="0"/>
              </a:rPr>
              <a:t>, f</a:t>
            </a:r>
            <a:r>
              <a:rPr lang="en-IN" sz="2000" b="0" i="0" baseline="-25000" dirty="0">
                <a:solidFill>
                  <a:schemeClr val="tx1"/>
                </a:solidFill>
                <a:effectLst/>
                <a:latin typeface="Trebuchet MS" panose="020B0603020202020204" pitchFamily="34" charset="0"/>
              </a:rPr>
              <a:t>2</a:t>
            </a:r>
            <a:r>
              <a:rPr lang="en-IN" sz="2000" b="0" i="0" dirty="0">
                <a:solidFill>
                  <a:schemeClr val="tx1"/>
                </a:solidFill>
                <a:effectLst/>
                <a:latin typeface="Trebuchet MS" panose="020B0603020202020204" pitchFamily="34" charset="0"/>
              </a:rPr>
              <a:t> [n]+x</a:t>
            </a:r>
            <a:r>
              <a:rPr lang="en-IN" sz="2000" b="0" i="0" baseline="-25000" dirty="0">
                <a:solidFill>
                  <a:schemeClr val="tx1"/>
                </a:solidFill>
                <a:effectLst/>
                <a:latin typeface="Trebuchet MS" panose="020B0603020202020204" pitchFamily="34" charset="0"/>
              </a:rPr>
              <a:t>2</a:t>
            </a:r>
            <a:r>
              <a:rPr lang="en-IN" sz="2000" b="0" i="0" dirty="0">
                <a:solidFill>
                  <a:schemeClr val="tx1"/>
                </a:solidFill>
                <a:effectLst/>
                <a:latin typeface="Trebuchet MS" panose="020B0603020202020204" pitchFamily="34" charset="0"/>
              </a:rPr>
              <a:t> )</a:t>
            </a:r>
          </a:p>
        </p:txBody>
      </p:sp>
      <p:sp>
        <p:nvSpPr>
          <p:cNvPr id="7" name="TextBox 6">
            <a:extLst>
              <a:ext uri="{FF2B5EF4-FFF2-40B4-BE49-F238E27FC236}">
                <a16:creationId xmlns:a16="http://schemas.microsoft.com/office/drawing/2014/main" id="{46B6B5F7-9124-533F-06F2-1B722DB1E4FF}"/>
              </a:ext>
            </a:extLst>
          </p:cNvPr>
          <p:cNvSpPr txBox="1"/>
          <p:nvPr/>
        </p:nvSpPr>
        <p:spPr>
          <a:xfrm>
            <a:off x="153439" y="748320"/>
            <a:ext cx="4618892" cy="400110"/>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FF0000"/>
                </a:solidFill>
                <a:effectLst/>
                <a:uLnTx/>
                <a:uFillTx/>
                <a:latin typeface="Trebuchet MS" panose="020B0603020202020204" pitchFamily="34" charset="0"/>
                <a:sym typeface="Arial"/>
              </a:rPr>
              <a:t>Solution:</a:t>
            </a:r>
            <a:endParaRPr kumimoji="0" lang="en-IN" sz="2000" b="0" i="0" u="none" strike="noStrike" kern="0" cap="none" spc="0" normalizeH="0" baseline="0" noProof="0" dirty="0">
              <a:ln>
                <a:noFill/>
              </a:ln>
              <a:solidFill>
                <a:srgbClr val="FF0000"/>
              </a:solidFill>
              <a:effectLst/>
              <a:uLnTx/>
              <a:uFillTx/>
              <a:latin typeface="Trebuchet MS" panose="020B0603020202020204" pitchFamily="34" charset="0"/>
              <a:sym typeface="Arial"/>
            </a:endParaRPr>
          </a:p>
        </p:txBody>
      </p:sp>
      <p:sp>
        <p:nvSpPr>
          <p:cNvPr id="8" name="TextBox 7">
            <a:extLst>
              <a:ext uri="{FF2B5EF4-FFF2-40B4-BE49-F238E27FC236}">
                <a16:creationId xmlns:a16="http://schemas.microsoft.com/office/drawing/2014/main" id="{106A3019-2301-E270-075D-79AEBC242724}"/>
              </a:ext>
            </a:extLst>
          </p:cNvPr>
          <p:cNvSpPr txBox="1"/>
          <p:nvPr/>
        </p:nvSpPr>
        <p:spPr>
          <a:xfrm>
            <a:off x="716145" y="2868644"/>
            <a:ext cx="5838094" cy="1754326"/>
          </a:xfrm>
          <a:prstGeom prst="rect">
            <a:avLst/>
          </a:prstGeom>
          <a:noFill/>
          <a:ln w="19050">
            <a:solidFill>
              <a:schemeClr val="tx1"/>
            </a:solidFill>
          </a:ln>
        </p:spPr>
        <p:txBody>
          <a:bodyPr wrap="square">
            <a:spAutoFit/>
          </a:bodyPr>
          <a:lstStyle/>
          <a:p>
            <a:pPr algn="l" fontAlgn="base"/>
            <a:r>
              <a:rPr lang="en-IN" sz="1800" b="1" i="0" dirty="0">
                <a:solidFill>
                  <a:srgbClr val="FF0000"/>
                </a:solidFill>
                <a:effectLst/>
                <a:latin typeface="Trebuchet MS" panose="020B0603020202020204" pitchFamily="34" charset="0"/>
              </a:rPr>
              <a:t>f</a:t>
            </a:r>
            <a:r>
              <a:rPr lang="en-IN" sz="1800" b="1" i="0" baseline="-25000" dirty="0">
                <a:solidFill>
                  <a:srgbClr val="FF0000"/>
                </a:solidFill>
                <a:effectLst/>
                <a:latin typeface="Trebuchet MS" panose="020B0603020202020204" pitchFamily="34" charset="0"/>
              </a:rPr>
              <a:t>1 </a:t>
            </a:r>
            <a:r>
              <a:rPr lang="en-IN" sz="1800" b="1" i="0" dirty="0">
                <a:solidFill>
                  <a:srgbClr val="FF0000"/>
                </a:solidFill>
                <a:effectLst/>
                <a:latin typeface="Trebuchet MS" panose="020B0603020202020204" pitchFamily="34" charset="0"/>
              </a:rPr>
              <a:t>[1] = e</a:t>
            </a:r>
            <a:r>
              <a:rPr lang="en-IN" sz="1800" b="1" i="0" baseline="-25000" dirty="0">
                <a:solidFill>
                  <a:srgbClr val="FF0000"/>
                </a:solidFill>
                <a:effectLst/>
                <a:latin typeface="Trebuchet MS" panose="020B0603020202020204" pitchFamily="34" charset="0"/>
              </a:rPr>
              <a:t>1 </a:t>
            </a:r>
            <a:r>
              <a:rPr lang="en-IN" sz="1800" b="1" i="0" dirty="0">
                <a:solidFill>
                  <a:srgbClr val="FF0000"/>
                </a:solidFill>
                <a:effectLst/>
                <a:latin typeface="Trebuchet MS" panose="020B0603020202020204" pitchFamily="34" charset="0"/>
              </a:rPr>
              <a:t>+ a</a:t>
            </a:r>
            <a:r>
              <a:rPr lang="en-IN" sz="1800" b="1" i="0" baseline="-25000" dirty="0">
                <a:solidFill>
                  <a:srgbClr val="FF0000"/>
                </a:solidFill>
                <a:effectLst/>
                <a:latin typeface="Trebuchet MS" panose="020B0603020202020204" pitchFamily="34" charset="0"/>
              </a:rPr>
              <a:t>11</a:t>
            </a:r>
            <a:endParaRPr lang="en-IN" sz="1800" b="1" i="0" dirty="0">
              <a:solidFill>
                <a:srgbClr val="FF0000"/>
              </a:solidFill>
              <a:effectLst/>
              <a:latin typeface="Trebuchet MS" panose="020B0603020202020204" pitchFamily="34" charset="0"/>
            </a:endParaRPr>
          </a:p>
          <a:p>
            <a:pPr algn="l" fontAlgn="base"/>
            <a:r>
              <a:rPr lang="en-IN" sz="1800" b="1" i="0" dirty="0">
                <a:solidFill>
                  <a:schemeClr val="tx1"/>
                </a:solidFill>
                <a:effectLst/>
                <a:latin typeface="Trebuchet MS" panose="020B0603020202020204" pitchFamily="34" charset="0"/>
              </a:rPr>
              <a:t>= 4 + 2</a:t>
            </a:r>
          </a:p>
          <a:p>
            <a:pPr algn="l" fontAlgn="base"/>
            <a:r>
              <a:rPr lang="en-IN" sz="1800" b="1" i="0" dirty="0">
                <a:solidFill>
                  <a:schemeClr val="tx1"/>
                </a:solidFill>
                <a:effectLst/>
                <a:latin typeface="Trebuchet MS" panose="020B0603020202020204" pitchFamily="34" charset="0"/>
              </a:rPr>
              <a:t>= 6</a:t>
            </a:r>
          </a:p>
          <a:p>
            <a:pPr algn="l" fontAlgn="base"/>
            <a:r>
              <a:rPr lang="en-IN" sz="1800" b="1" i="0" dirty="0">
                <a:solidFill>
                  <a:srgbClr val="FF0000"/>
                </a:solidFill>
                <a:effectLst/>
                <a:latin typeface="Trebuchet MS" panose="020B0603020202020204" pitchFamily="34" charset="0"/>
              </a:rPr>
              <a:t>f</a:t>
            </a:r>
            <a:r>
              <a:rPr lang="en-IN" sz="1800" b="1" i="0" baseline="-25000" dirty="0">
                <a:solidFill>
                  <a:srgbClr val="FF0000"/>
                </a:solidFill>
                <a:effectLst/>
                <a:latin typeface="Trebuchet MS" panose="020B0603020202020204" pitchFamily="34" charset="0"/>
              </a:rPr>
              <a:t>2 </a:t>
            </a:r>
            <a:r>
              <a:rPr lang="en-IN" sz="1800" b="1" i="0" dirty="0">
                <a:solidFill>
                  <a:srgbClr val="FF0000"/>
                </a:solidFill>
                <a:effectLst/>
                <a:latin typeface="Trebuchet MS" panose="020B0603020202020204" pitchFamily="34" charset="0"/>
              </a:rPr>
              <a:t>[1]  = e</a:t>
            </a:r>
            <a:r>
              <a:rPr lang="en-IN" sz="1800" b="1" i="0" baseline="-25000" dirty="0">
                <a:solidFill>
                  <a:srgbClr val="FF0000"/>
                </a:solidFill>
                <a:effectLst/>
                <a:latin typeface="Trebuchet MS" panose="020B0603020202020204" pitchFamily="34" charset="0"/>
              </a:rPr>
              <a:t>2 </a:t>
            </a:r>
            <a:r>
              <a:rPr lang="en-IN" sz="1800" b="1" i="0" dirty="0">
                <a:solidFill>
                  <a:srgbClr val="FF0000"/>
                </a:solidFill>
                <a:effectLst/>
                <a:latin typeface="Trebuchet MS" panose="020B0603020202020204" pitchFamily="34" charset="0"/>
              </a:rPr>
              <a:t>+ a</a:t>
            </a:r>
            <a:r>
              <a:rPr lang="en-IN" sz="1800" b="1" i="0" baseline="-25000" dirty="0">
                <a:solidFill>
                  <a:srgbClr val="FF0000"/>
                </a:solidFill>
                <a:effectLst/>
                <a:latin typeface="Trebuchet MS" panose="020B0603020202020204" pitchFamily="34" charset="0"/>
              </a:rPr>
              <a:t>21</a:t>
            </a:r>
            <a:endParaRPr lang="en-IN" sz="1800" b="1" i="0" dirty="0">
              <a:solidFill>
                <a:srgbClr val="FF0000"/>
              </a:solidFill>
              <a:effectLst/>
              <a:latin typeface="Trebuchet MS" panose="020B0603020202020204" pitchFamily="34" charset="0"/>
            </a:endParaRPr>
          </a:p>
          <a:p>
            <a:pPr algn="l" fontAlgn="base"/>
            <a:r>
              <a:rPr lang="en-IN" sz="1800" b="1" i="0" dirty="0">
                <a:solidFill>
                  <a:schemeClr val="tx1"/>
                </a:solidFill>
                <a:effectLst/>
                <a:latin typeface="Trebuchet MS" panose="020B0603020202020204" pitchFamily="34" charset="0"/>
              </a:rPr>
              <a:t>= 2 + 6 </a:t>
            </a:r>
          </a:p>
          <a:p>
            <a:pPr algn="l" fontAlgn="base"/>
            <a:r>
              <a:rPr lang="en-IN" sz="1800" b="1" i="0" dirty="0">
                <a:solidFill>
                  <a:schemeClr val="tx1"/>
                </a:solidFill>
                <a:effectLst/>
                <a:latin typeface="Trebuchet MS" panose="020B0603020202020204" pitchFamily="34" charset="0"/>
              </a:rPr>
              <a:t>= 8</a:t>
            </a:r>
          </a:p>
        </p:txBody>
      </p:sp>
    </p:spTree>
    <p:extLst>
      <p:ext uri="{BB962C8B-B14F-4D97-AF65-F5344CB8AC3E}">
        <p14:creationId xmlns:p14="http://schemas.microsoft.com/office/powerpoint/2010/main" val="150034513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Trebuchet MS" panose="020B0603020202020204" pitchFamily="34" charset="0"/>
              </a:rPr>
              <a:t>Assembly line scheduling -Example 1   </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6" name="TextBox 5">
            <a:extLst>
              <a:ext uri="{FF2B5EF4-FFF2-40B4-BE49-F238E27FC236}">
                <a16:creationId xmlns:a16="http://schemas.microsoft.com/office/drawing/2014/main" id="{E0B5BEAA-1A5A-959B-BB30-4530499C2CDE}"/>
              </a:ext>
            </a:extLst>
          </p:cNvPr>
          <p:cNvSpPr txBox="1"/>
          <p:nvPr/>
        </p:nvSpPr>
        <p:spPr>
          <a:xfrm>
            <a:off x="457200" y="991457"/>
            <a:ext cx="7408983" cy="3477875"/>
          </a:xfrm>
          <a:prstGeom prst="rect">
            <a:avLst/>
          </a:prstGeom>
          <a:noFill/>
          <a:ln w="19050">
            <a:solidFill>
              <a:srgbClr val="0033CC"/>
            </a:solidFill>
          </a:ln>
        </p:spPr>
        <p:txBody>
          <a:bodyPr wrap="square">
            <a:spAutoFit/>
          </a:bodyPr>
          <a:lstStyle/>
          <a:p>
            <a:pPr algn="l" fontAlgn="base"/>
            <a:r>
              <a:rPr lang="en-IN" sz="2000" b="1" i="0" dirty="0">
                <a:solidFill>
                  <a:srgbClr val="0070C0"/>
                </a:solidFill>
                <a:effectLst/>
                <a:latin typeface="Trebuchet MS" panose="020B0603020202020204" pitchFamily="34" charset="0"/>
              </a:rPr>
              <a:t>f</a:t>
            </a:r>
            <a:r>
              <a:rPr lang="en-IN" sz="2000" b="1" i="0" baseline="-25000" dirty="0">
                <a:solidFill>
                  <a:srgbClr val="0070C0"/>
                </a:solidFill>
                <a:effectLst/>
                <a:latin typeface="Trebuchet MS" panose="020B0603020202020204" pitchFamily="34" charset="0"/>
              </a:rPr>
              <a:t>1 </a:t>
            </a:r>
            <a:r>
              <a:rPr lang="en-IN" sz="2000" b="1" i="0" dirty="0">
                <a:solidFill>
                  <a:srgbClr val="0070C0"/>
                </a:solidFill>
                <a:effectLst/>
                <a:latin typeface="Trebuchet MS" panose="020B0603020202020204" pitchFamily="34" charset="0"/>
              </a:rPr>
              <a:t>[2] = min (f</a:t>
            </a:r>
            <a:r>
              <a:rPr lang="en-IN" sz="2000" b="1" i="0" baseline="-25000" dirty="0">
                <a:solidFill>
                  <a:srgbClr val="0070C0"/>
                </a:solidFill>
                <a:effectLst/>
                <a:latin typeface="Trebuchet MS" panose="020B0603020202020204" pitchFamily="34" charset="0"/>
              </a:rPr>
              <a:t>1</a:t>
            </a:r>
            <a:r>
              <a:rPr lang="en-IN" sz="2000" b="1" i="0" dirty="0">
                <a:solidFill>
                  <a:srgbClr val="0070C0"/>
                </a:solidFill>
                <a:effectLst/>
                <a:latin typeface="Trebuchet MS" panose="020B0603020202020204" pitchFamily="34" charset="0"/>
              </a:rPr>
              <a:t>[j – 1] + a</a:t>
            </a:r>
            <a:r>
              <a:rPr lang="en-IN" sz="2000" b="1" i="0" baseline="-25000" dirty="0">
                <a:solidFill>
                  <a:srgbClr val="0070C0"/>
                </a:solidFill>
                <a:effectLst/>
                <a:latin typeface="Trebuchet MS" panose="020B0603020202020204" pitchFamily="34" charset="0"/>
              </a:rPr>
              <a:t>1j</a:t>
            </a:r>
            <a:r>
              <a:rPr lang="en-IN" sz="2000" b="1" i="0" dirty="0">
                <a:solidFill>
                  <a:srgbClr val="0070C0"/>
                </a:solidFill>
                <a:effectLst/>
                <a:latin typeface="Trebuchet MS" panose="020B0603020202020204" pitchFamily="34" charset="0"/>
              </a:rPr>
              <a:t>, f</a:t>
            </a:r>
            <a:r>
              <a:rPr lang="en-IN" sz="2000" b="1" i="0" baseline="-25000" dirty="0">
                <a:solidFill>
                  <a:srgbClr val="0070C0"/>
                </a:solidFill>
                <a:effectLst/>
                <a:latin typeface="Trebuchet MS" panose="020B0603020202020204" pitchFamily="34" charset="0"/>
              </a:rPr>
              <a:t>2</a:t>
            </a:r>
            <a:r>
              <a:rPr lang="en-IN" sz="2000" b="1" i="0" dirty="0">
                <a:solidFill>
                  <a:srgbClr val="0070C0"/>
                </a:solidFill>
                <a:effectLst/>
                <a:latin typeface="Trebuchet MS" panose="020B0603020202020204" pitchFamily="34" charset="0"/>
              </a:rPr>
              <a:t> [j – 1] + t</a:t>
            </a:r>
            <a:r>
              <a:rPr lang="en-IN" sz="2000" b="1" i="0" baseline="-25000" dirty="0">
                <a:solidFill>
                  <a:srgbClr val="0070C0"/>
                </a:solidFill>
                <a:effectLst/>
                <a:latin typeface="Trebuchet MS" panose="020B0603020202020204" pitchFamily="34" charset="0"/>
              </a:rPr>
              <a:t>2j – 1</a:t>
            </a:r>
            <a:r>
              <a:rPr lang="en-IN" sz="2000" b="1" i="0" dirty="0">
                <a:solidFill>
                  <a:srgbClr val="0070C0"/>
                </a:solidFill>
                <a:effectLst/>
                <a:latin typeface="Trebuchet MS" panose="020B0603020202020204" pitchFamily="34" charset="0"/>
              </a:rPr>
              <a:t>+ a</a:t>
            </a:r>
            <a:r>
              <a:rPr lang="en-IN" sz="2000" b="1" i="0" baseline="-25000" dirty="0">
                <a:solidFill>
                  <a:srgbClr val="0070C0"/>
                </a:solidFill>
                <a:effectLst/>
                <a:latin typeface="Trebuchet MS" panose="020B0603020202020204" pitchFamily="34" charset="0"/>
              </a:rPr>
              <a:t>1j</a:t>
            </a:r>
            <a:r>
              <a:rPr lang="en-IN" sz="2000" b="1" i="0" dirty="0">
                <a:solidFill>
                  <a:srgbClr val="0070C0"/>
                </a:solidFill>
                <a:effectLst/>
                <a:latin typeface="Trebuchet MS" panose="020B0603020202020204" pitchFamily="34" charset="0"/>
              </a:rPr>
              <a:t> )</a:t>
            </a:r>
          </a:p>
          <a:p>
            <a:pPr algn="l" fontAlgn="base"/>
            <a:r>
              <a:rPr lang="en-IN" sz="2000" b="1" i="0" dirty="0">
                <a:solidFill>
                  <a:schemeClr val="tx1"/>
                </a:solidFill>
                <a:effectLst/>
                <a:latin typeface="Trebuchet MS" panose="020B0603020202020204" pitchFamily="34" charset="0"/>
              </a:rPr>
              <a:t>= min (f</a:t>
            </a:r>
            <a:r>
              <a:rPr lang="en-IN" sz="2000" b="1" i="0" baseline="-25000" dirty="0">
                <a:solidFill>
                  <a:schemeClr val="tx1"/>
                </a:solidFill>
                <a:effectLst/>
                <a:latin typeface="Trebuchet MS" panose="020B0603020202020204" pitchFamily="34" charset="0"/>
              </a:rPr>
              <a:t>1 </a:t>
            </a:r>
            <a:r>
              <a:rPr lang="en-IN" sz="2000" b="1" i="0" dirty="0">
                <a:solidFill>
                  <a:schemeClr val="tx1"/>
                </a:solidFill>
                <a:effectLst/>
                <a:latin typeface="Trebuchet MS" panose="020B0603020202020204" pitchFamily="34" charset="0"/>
              </a:rPr>
              <a:t>[1] + a</a:t>
            </a:r>
            <a:r>
              <a:rPr lang="en-IN" sz="2000" b="1" i="0" baseline="-25000" dirty="0">
                <a:solidFill>
                  <a:schemeClr val="tx1"/>
                </a:solidFill>
                <a:effectLst/>
                <a:latin typeface="Trebuchet MS" panose="020B0603020202020204" pitchFamily="34" charset="0"/>
              </a:rPr>
              <a:t>12</a:t>
            </a:r>
            <a:r>
              <a:rPr lang="en-IN" sz="2000" b="1" i="0" dirty="0">
                <a:solidFill>
                  <a:schemeClr val="tx1"/>
                </a:solidFill>
                <a:effectLst/>
                <a:latin typeface="Trebuchet MS" panose="020B0603020202020204" pitchFamily="34" charset="0"/>
              </a:rPr>
              <a:t>, f</a:t>
            </a:r>
            <a:r>
              <a:rPr lang="en-IN" sz="2000" b="1" i="0" baseline="-25000" dirty="0">
                <a:solidFill>
                  <a:schemeClr val="tx1"/>
                </a:solidFill>
                <a:effectLst/>
                <a:latin typeface="Trebuchet MS" panose="020B0603020202020204" pitchFamily="34" charset="0"/>
              </a:rPr>
              <a:t>2</a:t>
            </a:r>
            <a:r>
              <a:rPr lang="en-IN" sz="2000" b="1" i="0" dirty="0">
                <a:solidFill>
                  <a:schemeClr val="tx1"/>
                </a:solidFill>
                <a:effectLst/>
                <a:latin typeface="Trebuchet MS" panose="020B0603020202020204" pitchFamily="34" charset="0"/>
              </a:rPr>
              <a:t> [1] + t</a:t>
            </a:r>
            <a:r>
              <a:rPr lang="en-IN" sz="2000" b="1" i="0" baseline="-25000" dirty="0">
                <a:solidFill>
                  <a:schemeClr val="tx1"/>
                </a:solidFill>
                <a:effectLst/>
                <a:latin typeface="Trebuchet MS" panose="020B0603020202020204" pitchFamily="34" charset="0"/>
              </a:rPr>
              <a:t>21</a:t>
            </a:r>
            <a:r>
              <a:rPr lang="en-IN" sz="2000" b="1" i="0" dirty="0">
                <a:solidFill>
                  <a:schemeClr val="tx1"/>
                </a:solidFill>
                <a:effectLst/>
                <a:latin typeface="Trebuchet MS" panose="020B0603020202020204" pitchFamily="34" charset="0"/>
              </a:rPr>
              <a:t> + a</a:t>
            </a:r>
            <a:r>
              <a:rPr lang="en-IN" sz="2000" b="1" i="0" baseline="-25000" dirty="0">
                <a:solidFill>
                  <a:schemeClr val="tx1"/>
                </a:solidFill>
                <a:effectLst/>
                <a:latin typeface="Trebuchet MS" panose="020B0603020202020204" pitchFamily="34" charset="0"/>
              </a:rPr>
              <a:t>12</a:t>
            </a:r>
            <a:r>
              <a:rPr lang="en-IN" sz="2000" b="1" i="0" dirty="0">
                <a:solidFill>
                  <a:schemeClr val="tx1"/>
                </a:solidFill>
                <a:effectLst/>
                <a:latin typeface="Trebuchet MS" panose="020B0603020202020204" pitchFamily="34" charset="0"/>
              </a:rPr>
              <a:t>) </a:t>
            </a:r>
          </a:p>
          <a:p>
            <a:pPr algn="l" fontAlgn="base"/>
            <a:r>
              <a:rPr lang="en-IN" sz="2000" b="1" i="0" dirty="0">
                <a:solidFill>
                  <a:schemeClr val="tx1"/>
                </a:solidFill>
                <a:effectLst/>
                <a:latin typeface="Trebuchet MS" panose="020B0603020202020204" pitchFamily="34" charset="0"/>
              </a:rPr>
              <a:t>=  min (6 + 8, 8 + 3 + 8)</a:t>
            </a:r>
          </a:p>
          <a:p>
            <a:pPr algn="l" fontAlgn="base"/>
            <a:r>
              <a:rPr lang="en-IN" sz="2000" b="1" i="0" dirty="0">
                <a:solidFill>
                  <a:schemeClr val="tx1"/>
                </a:solidFill>
                <a:effectLst/>
                <a:latin typeface="Trebuchet MS" panose="020B0603020202020204" pitchFamily="34" charset="0"/>
              </a:rPr>
              <a:t>= min (14, 19) </a:t>
            </a:r>
          </a:p>
          <a:p>
            <a:pPr algn="l" fontAlgn="base"/>
            <a:r>
              <a:rPr lang="en-IN" sz="2000" b="1" i="0" dirty="0">
                <a:solidFill>
                  <a:schemeClr val="tx1"/>
                </a:solidFill>
                <a:effectLst/>
                <a:latin typeface="Trebuchet MS" panose="020B0603020202020204" pitchFamily="34" charset="0"/>
              </a:rPr>
              <a:t>= 14</a:t>
            </a:r>
          </a:p>
          <a:p>
            <a:pPr algn="l" fontAlgn="base"/>
            <a:endParaRPr lang="en-IN" sz="2000" b="1" dirty="0">
              <a:solidFill>
                <a:schemeClr val="tx1"/>
              </a:solidFill>
              <a:latin typeface="Trebuchet MS" panose="020B0603020202020204" pitchFamily="34" charset="0"/>
            </a:endParaRPr>
          </a:p>
          <a:p>
            <a:pPr fontAlgn="base"/>
            <a:r>
              <a:rPr lang="en-IN" sz="2000" b="1" dirty="0">
                <a:solidFill>
                  <a:srgbClr val="0070C0"/>
                </a:solidFill>
                <a:latin typeface="Trebuchet MS" panose="020B0603020202020204" pitchFamily="34" charset="0"/>
              </a:rPr>
              <a:t>f2 [2] = min (f1 [j – 1]  + </a:t>
            </a:r>
            <a:r>
              <a:rPr lang="en-IN" sz="2000" b="1" dirty="0" err="1">
                <a:solidFill>
                  <a:srgbClr val="0070C0"/>
                </a:solidFill>
                <a:latin typeface="Trebuchet MS" panose="020B0603020202020204" pitchFamily="34" charset="0"/>
              </a:rPr>
              <a:t>tj</a:t>
            </a:r>
            <a:r>
              <a:rPr lang="en-IN" sz="2000" b="1" dirty="0">
                <a:solidFill>
                  <a:srgbClr val="0070C0"/>
                </a:solidFill>
                <a:latin typeface="Trebuchet MS" panose="020B0603020202020204" pitchFamily="34" charset="0"/>
              </a:rPr>
              <a:t> – 1 + a2j, f2 [j – 1] + a2j)</a:t>
            </a:r>
          </a:p>
          <a:p>
            <a:pPr fontAlgn="base"/>
            <a:r>
              <a:rPr lang="en-IN" sz="2000" b="1" dirty="0">
                <a:solidFill>
                  <a:schemeClr val="tx1"/>
                </a:solidFill>
                <a:latin typeface="Trebuchet MS" panose="020B0603020202020204" pitchFamily="34" charset="0"/>
              </a:rPr>
              <a:t>= min (f1[1]  + t11 + a22, f2 [1] + a22 )</a:t>
            </a:r>
          </a:p>
          <a:p>
            <a:pPr fontAlgn="base"/>
            <a:r>
              <a:rPr lang="en-IN" sz="2000" b="1" dirty="0">
                <a:solidFill>
                  <a:schemeClr val="tx1"/>
                </a:solidFill>
                <a:latin typeface="Trebuchet MS" panose="020B0603020202020204" pitchFamily="34" charset="0"/>
              </a:rPr>
              <a:t>=  min (6 + 3 + 11, 8 + 11)</a:t>
            </a:r>
          </a:p>
          <a:p>
            <a:pPr fontAlgn="base"/>
            <a:r>
              <a:rPr lang="en-IN" sz="2000" b="1" dirty="0">
                <a:solidFill>
                  <a:schemeClr val="tx1"/>
                </a:solidFill>
                <a:latin typeface="Trebuchet MS" panose="020B0603020202020204" pitchFamily="34" charset="0"/>
              </a:rPr>
              <a:t>= min(20, 19)</a:t>
            </a:r>
          </a:p>
          <a:p>
            <a:pPr fontAlgn="base"/>
            <a:r>
              <a:rPr lang="en-IN" sz="2000" b="1" dirty="0">
                <a:solidFill>
                  <a:schemeClr val="tx1"/>
                </a:solidFill>
                <a:latin typeface="Trebuchet MS" panose="020B0603020202020204" pitchFamily="34" charset="0"/>
              </a:rPr>
              <a:t>= 19</a:t>
            </a:r>
            <a:endParaRPr lang="en-IN" sz="1600" b="1" i="0" dirty="0">
              <a:solidFill>
                <a:schemeClr val="tx1"/>
              </a:solidFill>
              <a:effectLst/>
              <a:latin typeface="Trebuchet MS" panose="020B0603020202020204" pitchFamily="34" charset="0"/>
            </a:endParaRPr>
          </a:p>
        </p:txBody>
      </p:sp>
    </p:spTree>
    <p:extLst>
      <p:ext uri="{BB962C8B-B14F-4D97-AF65-F5344CB8AC3E}">
        <p14:creationId xmlns:p14="http://schemas.microsoft.com/office/powerpoint/2010/main" val="292411747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Trebuchet MS" panose="020B0603020202020204" pitchFamily="34" charset="0"/>
              </a:rPr>
              <a:t>Assembly line scheduling -Example 1   </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6" name="TextBox 5">
            <a:extLst>
              <a:ext uri="{FF2B5EF4-FFF2-40B4-BE49-F238E27FC236}">
                <a16:creationId xmlns:a16="http://schemas.microsoft.com/office/drawing/2014/main" id="{B0C43904-8AF9-1FD2-A1CC-7C73B5D98603}"/>
              </a:ext>
            </a:extLst>
          </p:cNvPr>
          <p:cNvSpPr txBox="1"/>
          <p:nvPr/>
        </p:nvSpPr>
        <p:spPr>
          <a:xfrm>
            <a:off x="560778" y="1010251"/>
            <a:ext cx="7069016" cy="3477875"/>
          </a:xfrm>
          <a:prstGeom prst="rect">
            <a:avLst/>
          </a:prstGeom>
          <a:noFill/>
          <a:ln w="19050">
            <a:solidFill>
              <a:srgbClr val="0033CC"/>
            </a:solidFill>
          </a:ln>
        </p:spPr>
        <p:txBody>
          <a:bodyPr wrap="square">
            <a:spAutoFit/>
          </a:bodyPr>
          <a:lstStyle/>
          <a:p>
            <a:pPr algn="l" fontAlgn="base"/>
            <a:r>
              <a:rPr lang="en-IN" sz="2000" b="1" dirty="0">
                <a:solidFill>
                  <a:srgbClr val="0070C0"/>
                </a:solidFill>
                <a:latin typeface="Trebuchet MS" panose="020B0603020202020204" pitchFamily="34" charset="0"/>
              </a:rPr>
              <a:t>f1 [3] = min (f1[j – 1] + a1j, f2 [j – 1] + t2j – 1) + a1j )</a:t>
            </a:r>
          </a:p>
          <a:p>
            <a:pPr algn="l" fontAlgn="base"/>
            <a:r>
              <a:rPr lang="en-IN" sz="2000" b="1" dirty="0">
                <a:solidFill>
                  <a:schemeClr val="tx1"/>
                </a:solidFill>
                <a:latin typeface="Trebuchet MS" panose="020B0603020202020204" pitchFamily="34" charset="0"/>
              </a:rPr>
              <a:t>= min (f1[2] + a13, f2 [2] + t22 + a13 )</a:t>
            </a:r>
          </a:p>
          <a:p>
            <a:pPr algn="l" fontAlgn="base"/>
            <a:r>
              <a:rPr lang="en-IN" sz="2000" b="1" dirty="0">
                <a:solidFill>
                  <a:schemeClr val="tx1"/>
                </a:solidFill>
                <a:latin typeface="Trebuchet MS" panose="020B0603020202020204" pitchFamily="34" charset="0"/>
              </a:rPr>
              <a:t>= min (14 + 9, 19 + 4 + 9)</a:t>
            </a:r>
          </a:p>
          <a:p>
            <a:pPr algn="l" fontAlgn="base"/>
            <a:r>
              <a:rPr lang="en-IN" sz="2000" b="1" dirty="0">
                <a:solidFill>
                  <a:schemeClr val="tx1"/>
                </a:solidFill>
                <a:latin typeface="Trebuchet MS" panose="020B0603020202020204" pitchFamily="34" charset="0"/>
              </a:rPr>
              <a:t>= min (23, 32)</a:t>
            </a:r>
          </a:p>
          <a:p>
            <a:pPr algn="l" fontAlgn="base"/>
            <a:r>
              <a:rPr lang="en-IN" sz="2000" b="1" dirty="0">
                <a:solidFill>
                  <a:schemeClr val="tx1"/>
                </a:solidFill>
                <a:latin typeface="Trebuchet MS" panose="020B0603020202020204" pitchFamily="34" charset="0"/>
              </a:rPr>
              <a:t>= 23</a:t>
            </a:r>
          </a:p>
          <a:p>
            <a:pPr algn="l" fontAlgn="base"/>
            <a:endParaRPr lang="en-IN" sz="2000" b="1" dirty="0">
              <a:solidFill>
                <a:schemeClr val="tx1"/>
              </a:solidFill>
              <a:latin typeface="Trebuchet MS" panose="020B0603020202020204" pitchFamily="34" charset="0"/>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lang="en-IN" sz="2000" b="1" dirty="0">
                <a:solidFill>
                  <a:srgbClr val="0070C0"/>
                </a:solidFill>
                <a:latin typeface="Trebuchet MS" panose="020B0603020202020204" pitchFamily="34" charset="0"/>
              </a:rPr>
              <a:t>f2 [3] = min (f1[j – 1] + </a:t>
            </a:r>
            <a:r>
              <a:rPr lang="en-IN" sz="2000" b="1" dirty="0" err="1">
                <a:solidFill>
                  <a:srgbClr val="0070C0"/>
                </a:solidFill>
                <a:latin typeface="Trebuchet MS" panose="020B0603020202020204" pitchFamily="34" charset="0"/>
              </a:rPr>
              <a:t>tj</a:t>
            </a:r>
            <a:r>
              <a:rPr lang="en-IN" sz="2000" b="1" dirty="0">
                <a:solidFill>
                  <a:srgbClr val="0070C0"/>
                </a:solidFill>
                <a:latin typeface="Trebuchet MS" panose="020B0603020202020204" pitchFamily="34" charset="0"/>
              </a:rPr>
              <a:t> – 1 + a2j, f2 [j – 1] + a2j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lang="en-IN" sz="2000" b="1" dirty="0">
                <a:solidFill>
                  <a:schemeClr val="tx1"/>
                </a:solidFill>
                <a:latin typeface="Trebuchet MS" panose="020B0603020202020204" pitchFamily="34" charset="0"/>
              </a:rPr>
              <a:t>= min (f1[2] + t12 + a23, f2 [2] + a23)</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lang="en-IN" sz="2000" b="1" dirty="0">
                <a:solidFill>
                  <a:schemeClr val="tx1"/>
                </a:solidFill>
                <a:latin typeface="Trebuchet MS" panose="020B0603020202020204" pitchFamily="34" charset="0"/>
              </a:rPr>
              <a:t>= min (14 + 1 + 2, 19 + 2)</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lang="en-IN" sz="2000" b="1" dirty="0">
                <a:solidFill>
                  <a:schemeClr val="tx1"/>
                </a:solidFill>
                <a:latin typeface="Trebuchet MS" panose="020B0603020202020204" pitchFamily="34" charset="0"/>
              </a:rPr>
              <a:t>= min (17, 21)</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lang="en-IN" sz="2000" b="1" dirty="0">
                <a:solidFill>
                  <a:schemeClr val="tx1"/>
                </a:solidFill>
                <a:latin typeface="Trebuchet MS" panose="020B0603020202020204" pitchFamily="34" charset="0"/>
              </a:rPr>
              <a:t>= 17</a:t>
            </a:r>
            <a:endParaRPr lang="en-IN" sz="1600" b="1"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258306439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Trebuchet MS" panose="020B0603020202020204" pitchFamily="34" charset="0"/>
              </a:rPr>
              <a:t>Assembly line scheduling -Example 1   </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6" name="TextBox 5">
            <a:extLst>
              <a:ext uri="{FF2B5EF4-FFF2-40B4-BE49-F238E27FC236}">
                <a16:creationId xmlns:a16="http://schemas.microsoft.com/office/drawing/2014/main" id="{F34FB68C-B8DE-AB70-857F-E806CE2B5953}"/>
              </a:ext>
            </a:extLst>
          </p:cNvPr>
          <p:cNvSpPr txBox="1"/>
          <p:nvPr/>
        </p:nvSpPr>
        <p:spPr>
          <a:xfrm>
            <a:off x="562706" y="988516"/>
            <a:ext cx="7069017" cy="3477875"/>
          </a:xfrm>
          <a:prstGeom prst="rect">
            <a:avLst/>
          </a:prstGeom>
          <a:noFill/>
          <a:ln w="19050">
            <a:solidFill>
              <a:srgbClr val="0033CC"/>
            </a:solidFill>
          </a:ln>
        </p:spPr>
        <p:txBody>
          <a:bodyPr wrap="square">
            <a:spAutoFit/>
          </a:bodyPr>
          <a:lstStyle/>
          <a:p>
            <a:pPr algn="l" fontAlgn="base"/>
            <a:r>
              <a:rPr lang="en-IN" sz="2000" b="1" i="0" dirty="0">
                <a:solidFill>
                  <a:srgbClr val="0070C0"/>
                </a:solidFill>
                <a:effectLst/>
                <a:latin typeface="Trebuchet MS" panose="020B0603020202020204" pitchFamily="34" charset="0"/>
              </a:rPr>
              <a:t>f</a:t>
            </a:r>
            <a:r>
              <a:rPr lang="en-IN" sz="2000" b="1" i="0" baseline="-25000" dirty="0">
                <a:solidFill>
                  <a:srgbClr val="0070C0"/>
                </a:solidFill>
                <a:effectLst/>
                <a:latin typeface="Trebuchet MS" panose="020B0603020202020204" pitchFamily="34" charset="0"/>
              </a:rPr>
              <a:t>1 </a:t>
            </a:r>
            <a:r>
              <a:rPr lang="en-IN" sz="2000" b="1" i="0" dirty="0">
                <a:solidFill>
                  <a:srgbClr val="0070C0"/>
                </a:solidFill>
                <a:effectLst/>
                <a:latin typeface="Trebuchet MS" panose="020B0603020202020204" pitchFamily="34" charset="0"/>
              </a:rPr>
              <a:t>[4] = min (f</a:t>
            </a:r>
            <a:r>
              <a:rPr lang="en-IN" sz="2000" b="1" i="0" baseline="-25000" dirty="0">
                <a:solidFill>
                  <a:srgbClr val="0070C0"/>
                </a:solidFill>
                <a:effectLst/>
                <a:latin typeface="Trebuchet MS" panose="020B0603020202020204" pitchFamily="34" charset="0"/>
              </a:rPr>
              <a:t>1 </a:t>
            </a:r>
            <a:r>
              <a:rPr lang="en-IN" sz="2000" b="1" i="0" dirty="0">
                <a:solidFill>
                  <a:srgbClr val="0070C0"/>
                </a:solidFill>
                <a:effectLst/>
                <a:latin typeface="Trebuchet MS" panose="020B0603020202020204" pitchFamily="34" charset="0"/>
              </a:rPr>
              <a:t>[j – 1] + a</a:t>
            </a:r>
            <a:r>
              <a:rPr lang="en-IN" sz="2000" b="1" i="0" baseline="-25000" dirty="0">
                <a:solidFill>
                  <a:srgbClr val="0070C0"/>
                </a:solidFill>
                <a:effectLst/>
                <a:latin typeface="Trebuchet MS" panose="020B0603020202020204" pitchFamily="34" charset="0"/>
              </a:rPr>
              <a:t>1j</a:t>
            </a:r>
            <a:r>
              <a:rPr lang="en-IN" sz="2000" b="1" i="0" dirty="0">
                <a:solidFill>
                  <a:srgbClr val="0070C0"/>
                </a:solidFill>
                <a:effectLst/>
                <a:latin typeface="Trebuchet MS" panose="020B0603020202020204" pitchFamily="34" charset="0"/>
              </a:rPr>
              <a:t>, f</a:t>
            </a:r>
            <a:r>
              <a:rPr lang="en-IN" sz="2000" b="1" i="0" baseline="-25000" dirty="0">
                <a:solidFill>
                  <a:srgbClr val="0070C0"/>
                </a:solidFill>
                <a:effectLst/>
                <a:latin typeface="Trebuchet MS" panose="020B0603020202020204" pitchFamily="34" charset="0"/>
              </a:rPr>
              <a:t>2</a:t>
            </a:r>
            <a:r>
              <a:rPr lang="en-IN" sz="2000" b="1" i="0" dirty="0">
                <a:solidFill>
                  <a:srgbClr val="0070C0"/>
                </a:solidFill>
                <a:effectLst/>
                <a:latin typeface="Trebuchet MS" panose="020B0603020202020204" pitchFamily="34" charset="0"/>
              </a:rPr>
              <a:t> [j – 1] + t</a:t>
            </a:r>
            <a:r>
              <a:rPr lang="en-IN" sz="2000" b="1" i="0" baseline="-25000" dirty="0">
                <a:solidFill>
                  <a:srgbClr val="0070C0"/>
                </a:solidFill>
                <a:effectLst/>
                <a:latin typeface="Trebuchet MS" panose="020B0603020202020204" pitchFamily="34" charset="0"/>
              </a:rPr>
              <a:t>2j – 1</a:t>
            </a:r>
            <a:r>
              <a:rPr lang="en-IN" sz="2000" b="1" i="0" dirty="0">
                <a:solidFill>
                  <a:srgbClr val="0070C0"/>
                </a:solidFill>
                <a:effectLst/>
                <a:latin typeface="Trebuchet MS" panose="020B0603020202020204" pitchFamily="34" charset="0"/>
              </a:rPr>
              <a:t> + a</a:t>
            </a:r>
            <a:r>
              <a:rPr lang="en-IN" sz="2000" b="1" i="0" baseline="-25000" dirty="0">
                <a:solidFill>
                  <a:srgbClr val="0070C0"/>
                </a:solidFill>
                <a:effectLst/>
                <a:latin typeface="Trebuchet MS" panose="020B0603020202020204" pitchFamily="34" charset="0"/>
              </a:rPr>
              <a:t>1j</a:t>
            </a:r>
            <a:r>
              <a:rPr lang="en-IN" sz="2000" b="1" i="0" dirty="0">
                <a:solidFill>
                  <a:srgbClr val="0070C0"/>
                </a:solidFill>
                <a:effectLst/>
                <a:latin typeface="Trebuchet MS" panose="020B0603020202020204" pitchFamily="34" charset="0"/>
              </a:rPr>
              <a:t> )</a:t>
            </a:r>
          </a:p>
          <a:p>
            <a:pPr algn="l" fontAlgn="base"/>
            <a:r>
              <a:rPr lang="en-IN" sz="2000" b="1" i="0" dirty="0">
                <a:solidFill>
                  <a:schemeClr val="tx1"/>
                </a:solidFill>
                <a:effectLst/>
                <a:latin typeface="Trebuchet MS" panose="020B0603020202020204" pitchFamily="34" charset="0"/>
              </a:rPr>
              <a:t>= min (f</a:t>
            </a:r>
            <a:r>
              <a:rPr lang="en-IN" sz="2000" b="1" i="0" baseline="-25000" dirty="0">
                <a:solidFill>
                  <a:schemeClr val="tx1"/>
                </a:solidFill>
                <a:effectLst/>
                <a:latin typeface="Trebuchet MS" panose="020B0603020202020204" pitchFamily="34" charset="0"/>
              </a:rPr>
              <a:t>1 </a:t>
            </a:r>
            <a:r>
              <a:rPr lang="en-IN" sz="2000" b="1" i="0" dirty="0">
                <a:solidFill>
                  <a:schemeClr val="tx1"/>
                </a:solidFill>
                <a:effectLst/>
                <a:latin typeface="Trebuchet MS" panose="020B0603020202020204" pitchFamily="34" charset="0"/>
              </a:rPr>
              <a:t>[3] + a</a:t>
            </a:r>
            <a:r>
              <a:rPr lang="en-IN" sz="2000" b="1" i="0" baseline="-25000" dirty="0">
                <a:solidFill>
                  <a:schemeClr val="tx1"/>
                </a:solidFill>
                <a:effectLst/>
                <a:latin typeface="Trebuchet MS" panose="020B0603020202020204" pitchFamily="34" charset="0"/>
              </a:rPr>
              <a:t>14</a:t>
            </a:r>
            <a:r>
              <a:rPr lang="en-IN" sz="2000" b="1" i="0" dirty="0">
                <a:solidFill>
                  <a:schemeClr val="tx1"/>
                </a:solidFill>
                <a:effectLst/>
                <a:latin typeface="Trebuchet MS" panose="020B0603020202020204" pitchFamily="34" charset="0"/>
              </a:rPr>
              <a:t>, f</a:t>
            </a:r>
            <a:r>
              <a:rPr lang="en-IN" sz="2000" b="1" i="0" baseline="-25000" dirty="0">
                <a:solidFill>
                  <a:schemeClr val="tx1"/>
                </a:solidFill>
                <a:effectLst/>
                <a:latin typeface="Trebuchet MS" panose="020B0603020202020204" pitchFamily="34" charset="0"/>
              </a:rPr>
              <a:t>2</a:t>
            </a:r>
            <a:r>
              <a:rPr lang="en-IN" sz="2000" b="1" i="0" dirty="0">
                <a:solidFill>
                  <a:schemeClr val="tx1"/>
                </a:solidFill>
                <a:effectLst/>
                <a:latin typeface="Trebuchet MS" panose="020B0603020202020204" pitchFamily="34" charset="0"/>
              </a:rPr>
              <a:t> [3] + t</a:t>
            </a:r>
            <a:r>
              <a:rPr lang="en-IN" sz="2000" b="1" i="0" baseline="-25000" dirty="0">
                <a:solidFill>
                  <a:schemeClr val="tx1"/>
                </a:solidFill>
                <a:effectLst/>
                <a:latin typeface="Trebuchet MS" panose="020B0603020202020204" pitchFamily="34" charset="0"/>
              </a:rPr>
              <a:t>23</a:t>
            </a:r>
            <a:r>
              <a:rPr lang="en-IN" sz="2000" b="1" i="0" dirty="0">
                <a:solidFill>
                  <a:schemeClr val="tx1"/>
                </a:solidFill>
                <a:effectLst/>
                <a:latin typeface="Trebuchet MS" panose="020B0603020202020204" pitchFamily="34" charset="0"/>
              </a:rPr>
              <a:t> + a</a:t>
            </a:r>
            <a:r>
              <a:rPr lang="en-IN" sz="2000" b="1" i="0" baseline="-25000" dirty="0">
                <a:solidFill>
                  <a:schemeClr val="tx1"/>
                </a:solidFill>
                <a:effectLst/>
                <a:latin typeface="Trebuchet MS" panose="020B0603020202020204" pitchFamily="34" charset="0"/>
              </a:rPr>
              <a:t>14</a:t>
            </a:r>
            <a:r>
              <a:rPr lang="en-IN" sz="2000" b="1" i="0" dirty="0">
                <a:solidFill>
                  <a:schemeClr val="tx1"/>
                </a:solidFill>
                <a:effectLst/>
                <a:latin typeface="Trebuchet MS" panose="020B0603020202020204" pitchFamily="34" charset="0"/>
              </a:rPr>
              <a:t>)</a:t>
            </a:r>
          </a:p>
          <a:p>
            <a:pPr algn="l" fontAlgn="base"/>
            <a:r>
              <a:rPr lang="en-IN" sz="2000" b="1" i="0" dirty="0">
                <a:solidFill>
                  <a:schemeClr val="tx1"/>
                </a:solidFill>
                <a:effectLst/>
                <a:latin typeface="Trebuchet MS" panose="020B0603020202020204" pitchFamily="34" charset="0"/>
              </a:rPr>
              <a:t>= min (23 + 3 , 17 + 1 + 3)</a:t>
            </a:r>
          </a:p>
          <a:p>
            <a:pPr algn="l" fontAlgn="base"/>
            <a:r>
              <a:rPr lang="en-IN" sz="2000" b="1" i="0" dirty="0">
                <a:solidFill>
                  <a:schemeClr val="tx1"/>
                </a:solidFill>
                <a:effectLst/>
                <a:latin typeface="Trebuchet MS" panose="020B0603020202020204" pitchFamily="34" charset="0"/>
              </a:rPr>
              <a:t>= min (26, 21)</a:t>
            </a:r>
          </a:p>
          <a:p>
            <a:pPr algn="l" fontAlgn="base"/>
            <a:r>
              <a:rPr lang="en-IN" sz="2000" b="1" i="0" dirty="0">
                <a:solidFill>
                  <a:schemeClr val="tx1"/>
                </a:solidFill>
                <a:effectLst/>
                <a:latin typeface="Trebuchet MS" panose="020B0603020202020204" pitchFamily="34" charset="0"/>
              </a:rPr>
              <a:t>= 21</a:t>
            </a:r>
          </a:p>
          <a:p>
            <a:pPr algn="l" fontAlgn="base"/>
            <a:endParaRPr lang="en-IN" sz="2000" b="1" dirty="0">
              <a:solidFill>
                <a:schemeClr val="tx1"/>
              </a:solidFill>
              <a:latin typeface="Trebuchet MS" panose="020B0603020202020204" pitchFamily="34" charset="0"/>
            </a:endParaRPr>
          </a:p>
          <a:p>
            <a:pPr algn="l" fontAlgn="base"/>
            <a:r>
              <a:rPr lang="en-IN" sz="2000" b="1" i="0" dirty="0">
                <a:solidFill>
                  <a:srgbClr val="0070C0"/>
                </a:solidFill>
                <a:effectLst/>
                <a:latin typeface="Trebuchet MS" panose="020B0603020202020204" pitchFamily="34" charset="0"/>
              </a:rPr>
              <a:t>f</a:t>
            </a:r>
            <a:r>
              <a:rPr lang="en-IN" sz="2000" b="1" i="0" baseline="-25000" dirty="0">
                <a:solidFill>
                  <a:srgbClr val="0070C0"/>
                </a:solidFill>
                <a:effectLst/>
                <a:latin typeface="Trebuchet MS" panose="020B0603020202020204" pitchFamily="34" charset="0"/>
              </a:rPr>
              <a:t>2 </a:t>
            </a:r>
            <a:r>
              <a:rPr lang="en-IN" sz="2000" b="1" i="0" dirty="0">
                <a:solidFill>
                  <a:srgbClr val="0070C0"/>
                </a:solidFill>
                <a:effectLst/>
                <a:latin typeface="Trebuchet MS" panose="020B0603020202020204" pitchFamily="34" charset="0"/>
              </a:rPr>
              <a:t>[4] = min (f</a:t>
            </a:r>
            <a:r>
              <a:rPr lang="en-IN" sz="2000" b="1" i="0" baseline="-25000" dirty="0">
                <a:solidFill>
                  <a:srgbClr val="0070C0"/>
                </a:solidFill>
                <a:effectLst/>
                <a:latin typeface="Trebuchet MS" panose="020B0603020202020204" pitchFamily="34" charset="0"/>
              </a:rPr>
              <a:t>1 </a:t>
            </a:r>
            <a:r>
              <a:rPr lang="en-IN" sz="2000" b="1" i="0" dirty="0">
                <a:solidFill>
                  <a:srgbClr val="0070C0"/>
                </a:solidFill>
                <a:effectLst/>
                <a:latin typeface="Trebuchet MS" panose="020B0603020202020204" pitchFamily="34" charset="0"/>
              </a:rPr>
              <a:t>[j – 1] + </a:t>
            </a:r>
            <a:r>
              <a:rPr lang="en-IN" sz="2000" b="1" i="0" dirty="0" err="1">
                <a:solidFill>
                  <a:srgbClr val="0070C0"/>
                </a:solidFill>
                <a:effectLst/>
                <a:latin typeface="Trebuchet MS" panose="020B0603020202020204" pitchFamily="34" charset="0"/>
              </a:rPr>
              <a:t>t</a:t>
            </a:r>
            <a:r>
              <a:rPr lang="en-IN" sz="2000" b="1" i="0" baseline="-25000" dirty="0" err="1">
                <a:solidFill>
                  <a:srgbClr val="0070C0"/>
                </a:solidFill>
                <a:effectLst/>
                <a:latin typeface="Trebuchet MS" panose="020B0603020202020204" pitchFamily="34" charset="0"/>
              </a:rPr>
              <a:t>j</a:t>
            </a:r>
            <a:r>
              <a:rPr lang="en-IN" sz="2000" b="1" i="0" baseline="-25000" dirty="0">
                <a:solidFill>
                  <a:srgbClr val="0070C0"/>
                </a:solidFill>
                <a:effectLst/>
                <a:latin typeface="Trebuchet MS" panose="020B0603020202020204" pitchFamily="34" charset="0"/>
              </a:rPr>
              <a:t> – 1</a:t>
            </a:r>
            <a:r>
              <a:rPr lang="en-IN" sz="2000" b="1" i="0" dirty="0">
                <a:solidFill>
                  <a:srgbClr val="0070C0"/>
                </a:solidFill>
                <a:effectLst/>
                <a:latin typeface="Trebuchet MS" panose="020B0603020202020204" pitchFamily="34" charset="0"/>
              </a:rPr>
              <a:t> + a</a:t>
            </a:r>
            <a:r>
              <a:rPr lang="en-IN" sz="2000" b="1" i="0" baseline="-25000" dirty="0">
                <a:solidFill>
                  <a:srgbClr val="0070C0"/>
                </a:solidFill>
                <a:effectLst/>
                <a:latin typeface="Trebuchet MS" panose="020B0603020202020204" pitchFamily="34" charset="0"/>
              </a:rPr>
              <a:t>2j</a:t>
            </a:r>
            <a:r>
              <a:rPr lang="en-IN" sz="2000" b="1" i="0" dirty="0">
                <a:solidFill>
                  <a:srgbClr val="0070C0"/>
                </a:solidFill>
                <a:effectLst/>
                <a:latin typeface="Trebuchet MS" panose="020B0603020202020204" pitchFamily="34" charset="0"/>
              </a:rPr>
              <a:t>, f</a:t>
            </a:r>
            <a:r>
              <a:rPr lang="en-IN" sz="2000" b="1" i="0" baseline="-25000" dirty="0">
                <a:solidFill>
                  <a:srgbClr val="0070C0"/>
                </a:solidFill>
                <a:effectLst/>
                <a:latin typeface="Trebuchet MS" panose="020B0603020202020204" pitchFamily="34" charset="0"/>
              </a:rPr>
              <a:t>2</a:t>
            </a:r>
            <a:r>
              <a:rPr lang="en-IN" sz="2000" b="1" i="0" dirty="0">
                <a:solidFill>
                  <a:srgbClr val="0070C0"/>
                </a:solidFill>
                <a:effectLst/>
                <a:latin typeface="Trebuchet MS" panose="020B0603020202020204" pitchFamily="34" charset="0"/>
              </a:rPr>
              <a:t> [j – 1] + a</a:t>
            </a:r>
            <a:r>
              <a:rPr lang="en-IN" sz="2000" b="1" i="0" baseline="-25000" dirty="0">
                <a:solidFill>
                  <a:srgbClr val="0070C0"/>
                </a:solidFill>
                <a:effectLst/>
                <a:latin typeface="Trebuchet MS" panose="020B0603020202020204" pitchFamily="34" charset="0"/>
              </a:rPr>
              <a:t>2j</a:t>
            </a:r>
            <a:r>
              <a:rPr lang="en-IN" sz="2000" b="1" i="0" dirty="0">
                <a:solidFill>
                  <a:srgbClr val="0070C0"/>
                </a:solidFill>
                <a:effectLst/>
                <a:latin typeface="Trebuchet MS" panose="020B0603020202020204" pitchFamily="34" charset="0"/>
              </a:rPr>
              <a:t>)</a:t>
            </a:r>
          </a:p>
          <a:p>
            <a:pPr algn="l" fontAlgn="base"/>
            <a:r>
              <a:rPr lang="en-IN" sz="2000" b="1" i="0" dirty="0">
                <a:solidFill>
                  <a:schemeClr val="tx1"/>
                </a:solidFill>
                <a:effectLst/>
                <a:latin typeface="Trebuchet MS" panose="020B0603020202020204" pitchFamily="34" charset="0"/>
              </a:rPr>
              <a:t>= min(f</a:t>
            </a:r>
            <a:r>
              <a:rPr lang="en-IN" sz="2000" b="1" i="0" baseline="-25000" dirty="0">
                <a:solidFill>
                  <a:schemeClr val="tx1"/>
                </a:solidFill>
                <a:effectLst/>
                <a:latin typeface="Trebuchet MS" panose="020B0603020202020204" pitchFamily="34" charset="0"/>
              </a:rPr>
              <a:t>1 </a:t>
            </a:r>
            <a:r>
              <a:rPr lang="en-IN" sz="2000" b="1" i="0" dirty="0">
                <a:solidFill>
                  <a:schemeClr val="tx1"/>
                </a:solidFill>
                <a:effectLst/>
                <a:latin typeface="Trebuchet MS" panose="020B0603020202020204" pitchFamily="34" charset="0"/>
              </a:rPr>
              <a:t>[3] + t</a:t>
            </a:r>
            <a:r>
              <a:rPr lang="en-IN" sz="2000" b="1" i="0" baseline="-25000" dirty="0">
                <a:solidFill>
                  <a:schemeClr val="tx1"/>
                </a:solidFill>
                <a:effectLst/>
                <a:latin typeface="Trebuchet MS" panose="020B0603020202020204" pitchFamily="34" charset="0"/>
              </a:rPr>
              <a:t>13</a:t>
            </a:r>
            <a:r>
              <a:rPr lang="en-IN" sz="2000" b="1" i="0" dirty="0">
                <a:solidFill>
                  <a:schemeClr val="tx1"/>
                </a:solidFill>
                <a:effectLst/>
                <a:latin typeface="Trebuchet MS" panose="020B0603020202020204" pitchFamily="34" charset="0"/>
              </a:rPr>
              <a:t> + a</a:t>
            </a:r>
            <a:r>
              <a:rPr lang="en-IN" sz="2000" b="1" i="0" baseline="-25000" dirty="0">
                <a:solidFill>
                  <a:schemeClr val="tx1"/>
                </a:solidFill>
                <a:effectLst/>
                <a:latin typeface="Trebuchet MS" panose="020B0603020202020204" pitchFamily="34" charset="0"/>
              </a:rPr>
              <a:t>24</a:t>
            </a:r>
            <a:r>
              <a:rPr lang="en-IN" sz="2000" b="1" i="0" dirty="0">
                <a:solidFill>
                  <a:schemeClr val="tx1"/>
                </a:solidFill>
                <a:effectLst/>
                <a:latin typeface="Trebuchet MS" panose="020B0603020202020204" pitchFamily="34" charset="0"/>
              </a:rPr>
              <a:t>, f</a:t>
            </a:r>
            <a:r>
              <a:rPr lang="en-IN" sz="2000" b="1" i="0" baseline="-25000" dirty="0">
                <a:solidFill>
                  <a:schemeClr val="tx1"/>
                </a:solidFill>
                <a:effectLst/>
                <a:latin typeface="Trebuchet MS" panose="020B0603020202020204" pitchFamily="34" charset="0"/>
              </a:rPr>
              <a:t>2</a:t>
            </a:r>
            <a:r>
              <a:rPr lang="en-IN" sz="2000" b="1" i="0" dirty="0">
                <a:solidFill>
                  <a:schemeClr val="tx1"/>
                </a:solidFill>
                <a:effectLst/>
                <a:latin typeface="Trebuchet MS" panose="020B0603020202020204" pitchFamily="34" charset="0"/>
              </a:rPr>
              <a:t> [3] + a</a:t>
            </a:r>
            <a:r>
              <a:rPr lang="en-IN" sz="2000" b="1" i="0" baseline="-25000" dirty="0">
                <a:solidFill>
                  <a:schemeClr val="tx1"/>
                </a:solidFill>
                <a:effectLst/>
                <a:latin typeface="Trebuchet MS" panose="020B0603020202020204" pitchFamily="34" charset="0"/>
              </a:rPr>
              <a:t>24</a:t>
            </a:r>
            <a:r>
              <a:rPr lang="en-IN" sz="2000" b="1" i="0" dirty="0">
                <a:solidFill>
                  <a:schemeClr val="tx1"/>
                </a:solidFill>
                <a:effectLst/>
                <a:latin typeface="Trebuchet MS" panose="020B0603020202020204" pitchFamily="34" charset="0"/>
              </a:rPr>
              <a:t>)</a:t>
            </a:r>
          </a:p>
          <a:p>
            <a:pPr algn="l" fontAlgn="base"/>
            <a:r>
              <a:rPr lang="en-IN" sz="2000" b="1" i="0" dirty="0">
                <a:solidFill>
                  <a:schemeClr val="tx1"/>
                </a:solidFill>
                <a:effectLst/>
                <a:latin typeface="Trebuchet MS" panose="020B0603020202020204" pitchFamily="34" charset="0"/>
              </a:rPr>
              <a:t>= min (23 + 2 + 2, 17 + 2)</a:t>
            </a:r>
          </a:p>
          <a:p>
            <a:pPr algn="l" fontAlgn="base"/>
            <a:r>
              <a:rPr lang="en-IN" sz="2000" b="1" i="0" dirty="0">
                <a:solidFill>
                  <a:schemeClr val="tx1"/>
                </a:solidFill>
                <a:effectLst/>
                <a:latin typeface="Trebuchet MS" panose="020B0603020202020204" pitchFamily="34" charset="0"/>
              </a:rPr>
              <a:t>= min(27, 19)</a:t>
            </a:r>
          </a:p>
          <a:p>
            <a:pPr algn="l" fontAlgn="base"/>
            <a:r>
              <a:rPr lang="en-IN" sz="2000" b="1" i="0" dirty="0">
                <a:solidFill>
                  <a:schemeClr val="tx1"/>
                </a:solidFill>
                <a:effectLst/>
                <a:latin typeface="Trebuchet MS" panose="020B0603020202020204" pitchFamily="34" charset="0"/>
              </a:rPr>
              <a:t>= 19</a:t>
            </a:r>
          </a:p>
        </p:txBody>
      </p:sp>
    </p:spTree>
    <p:extLst>
      <p:ext uri="{BB962C8B-B14F-4D97-AF65-F5344CB8AC3E}">
        <p14:creationId xmlns:p14="http://schemas.microsoft.com/office/powerpoint/2010/main" val="102645611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Assembly line scheduling -Example 1   </a:t>
            </a:r>
            <a:endParaRPr kumimoji="0" lang="en-IN" sz="2000" b="1" i="0" u="none" strike="noStrike" kern="0" cap="none" spc="0" normalizeH="0" baseline="0" noProof="0" dirty="0">
              <a:ln>
                <a:noFill/>
              </a:ln>
              <a:solidFill>
                <a:schemeClr val="bg1"/>
              </a:solidFill>
              <a:effectLst/>
              <a:uLnTx/>
              <a:uFillTx/>
              <a:sym typeface="Arial"/>
            </a:endParaRPr>
          </a:p>
        </p:txBody>
      </p:sp>
      <p:graphicFrame>
        <p:nvGraphicFramePr>
          <p:cNvPr id="6" name="Table 5">
            <a:extLst>
              <a:ext uri="{FF2B5EF4-FFF2-40B4-BE49-F238E27FC236}">
                <a16:creationId xmlns:a16="http://schemas.microsoft.com/office/drawing/2014/main" id="{7E33C9F6-651F-BB45-E9E2-637C1B179A63}"/>
              </a:ext>
            </a:extLst>
          </p:cNvPr>
          <p:cNvGraphicFramePr>
            <a:graphicFrameLocks noGrp="1"/>
          </p:cNvGraphicFramePr>
          <p:nvPr>
            <p:extLst>
              <p:ext uri="{D42A27DB-BD31-4B8C-83A1-F6EECF244321}">
                <p14:modId xmlns:p14="http://schemas.microsoft.com/office/powerpoint/2010/main" val="5262606"/>
              </p:ext>
            </p:extLst>
          </p:nvPr>
        </p:nvGraphicFramePr>
        <p:xfrm>
          <a:off x="908061" y="1535068"/>
          <a:ext cx="6181728" cy="1470717"/>
        </p:xfrm>
        <a:graphic>
          <a:graphicData uri="http://schemas.openxmlformats.org/drawingml/2006/table">
            <a:tbl>
              <a:tblPr>
                <a:tableStyleId>{35758FB7-9AC5-4552-8A53-C91805E547FA}</a:tableStyleId>
              </a:tblPr>
              <a:tblGrid>
                <a:gridCol w="883104">
                  <a:extLst>
                    <a:ext uri="{9D8B030D-6E8A-4147-A177-3AD203B41FA5}">
                      <a16:colId xmlns:a16="http://schemas.microsoft.com/office/drawing/2014/main" val="749963879"/>
                    </a:ext>
                  </a:extLst>
                </a:gridCol>
                <a:gridCol w="883104">
                  <a:extLst>
                    <a:ext uri="{9D8B030D-6E8A-4147-A177-3AD203B41FA5}">
                      <a16:colId xmlns:a16="http://schemas.microsoft.com/office/drawing/2014/main" val="2502935551"/>
                    </a:ext>
                  </a:extLst>
                </a:gridCol>
                <a:gridCol w="883104">
                  <a:extLst>
                    <a:ext uri="{9D8B030D-6E8A-4147-A177-3AD203B41FA5}">
                      <a16:colId xmlns:a16="http://schemas.microsoft.com/office/drawing/2014/main" val="2315691993"/>
                    </a:ext>
                  </a:extLst>
                </a:gridCol>
                <a:gridCol w="883104">
                  <a:extLst>
                    <a:ext uri="{9D8B030D-6E8A-4147-A177-3AD203B41FA5}">
                      <a16:colId xmlns:a16="http://schemas.microsoft.com/office/drawing/2014/main" val="661087476"/>
                    </a:ext>
                  </a:extLst>
                </a:gridCol>
                <a:gridCol w="883104">
                  <a:extLst>
                    <a:ext uri="{9D8B030D-6E8A-4147-A177-3AD203B41FA5}">
                      <a16:colId xmlns:a16="http://schemas.microsoft.com/office/drawing/2014/main" val="1160874431"/>
                    </a:ext>
                  </a:extLst>
                </a:gridCol>
                <a:gridCol w="883104">
                  <a:extLst>
                    <a:ext uri="{9D8B030D-6E8A-4147-A177-3AD203B41FA5}">
                      <a16:colId xmlns:a16="http://schemas.microsoft.com/office/drawing/2014/main" val="2357608202"/>
                    </a:ext>
                  </a:extLst>
                </a:gridCol>
                <a:gridCol w="883104">
                  <a:extLst>
                    <a:ext uri="{9D8B030D-6E8A-4147-A177-3AD203B41FA5}">
                      <a16:colId xmlns:a16="http://schemas.microsoft.com/office/drawing/2014/main" val="1223450855"/>
                    </a:ext>
                  </a:extLst>
                </a:gridCol>
              </a:tblGrid>
              <a:tr h="480646">
                <a:tc>
                  <a:txBody>
                    <a:bodyPr/>
                    <a:lstStyle/>
                    <a:p>
                      <a:pPr algn="ctr" fontAlgn="ctr"/>
                      <a:endParaRPr lang="en-IN" b="1" dirty="0">
                        <a:effectLst/>
                      </a:endParaRPr>
                    </a:p>
                  </a:txBody>
                  <a:tcPr marL="47625" marR="47625" marT="47625" marB="47625" anchor="ctr"/>
                </a:tc>
                <a:tc>
                  <a:txBody>
                    <a:bodyPr/>
                    <a:lstStyle/>
                    <a:p>
                      <a:pPr algn="ctr" fontAlgn="ctr"/>
                      <a:r>
                        <a:rPr lang="en-IN" sz="1600" b="1" dirty="0">
                          <a:solidFill>
                            <a:srgbClr val="FF0000"/>
                          </a:solidFill>
                          <a:effectLst/>
                        </a:rPr>
                        <a:t>j = 1</a:t>
                      </a:r>
                    </a:p>
                  </a:txBody>
                  <a:tcPr marL="47625" marR="47625" marT="47625" marB="47625" anchor="ctr"/>
                </a:tc>
                <a:tc>
                  <a:txBody>
                    <a:bodyPr/>
                    <a:lstStyle/>
                    <a:p>
                      <a:pPr algn="ctr" fontAlgn="ctr"/>
                      <a:r>
                        <a:rPr lang="en-IN" sz="1600" b="1" dirty="0">
                          <a:solidFill>
                            <a:srgbClr val="FF0000"/>
                          </a:solidFill>
                          <a:effectLst/>
                        </a:rPr>
                        <a:t>j = 2</a:t>
                      </a:r>
                    </a:p>
                  </a:txBody>
                  <a:tcPr marL="47625" marR="47625" marT="47625" marB="47625" anchor="ctr"/>
                </a:tc>
                <a:tc>
                  <a:txBody>
                    <a:bodyPr/>
                    <a:lstStyle/>
                    <a:p>
                      <a:pPr algn="ctr" fontAlgn="ctr"/>
                      <a:r>
                        <a:rPr lang="en-IN" sz="1600" b="1" dirty="0">
                          <a:solidFill>
                            <a:srgbClr val="FF0000"/>
                          </a:solidFill>
                          <a:effectLst/>
                        </a:rPr>
                        <a:t>j= 3</a:t>
                      </a:r>
                    </a:p>
                  </a:txBody>
                  <a:tcPr marL="47625" marR="47625" marT="47625" marB="47625" anchor="ctr"/>
                </a:tc>
                <a:tc>
                  <a:txBody>
                    <a:bodyPr/>
                    <a:lstStyle/>
                    <a:p>
                      <a:pPr algn="ctr" fontAlgn="ctr"/>
                      <a:r>
                        <a:rPr lang="en-IN" sz="1600" b="1" dirty="0">
                          <a:solidFill>
                            <a:srgbClr val="FF0000"/>
                          </a:solidFill>
                          <a:effectLst/>
                        </a:rPr>
                        <a:t>j = 4</a:t>
                      </a:r>
                    </a:p>
                  </a:txBody>
                  <a:tcPr marL="47625" marR="47625" marT="47625" marB="47625" anchor="ctr"/>
                </a:tc>
                <a:tc>
                  <a:txBody>
                    <a:bodyPr/>
                    <a:lstStyle/>
                    <a:p>
                      <a:pPr algn="ctr" fontAlgn="ctr"/>
                      <a:r>
                        <a:rPr lang="en-IN" sz="1600" b="1" dirty="0">
                          <a:solidFill>
                            <a:srgbClr val="FF0000"/>
                          </a:solidFill>
                          <a:effectLst/>
                        </a:rPr>
                        <a:t>j = 5</a:t>
                      </a:r>
                    </a:p>
                  </a:txBody>
                  <a:tcPr marL="47625" marR="47625" marT="47625" marB="47625" anchor="ctr"/>
                </a:tc>
                <a:tc>
                  <a:txBody>
                    <a:bodyPr/>
                    <a:lstStyle/>
                    <a:p>
                      <a:pPr algn="ctr" fontAlgn="ctr"/>
                      <a:r>
                        <a:rPr lang="en-IN" sz="1600" b="1" dirty="0">
                          <a:solidFill>
                            <a:srgbClr val="FF0000"/>
                          </a:solidFill>
                          <a:effectLst/>
                        </a:rPr>
                        <a:t>j = 6</a:t>
                      </a:r>
                    </a:p>
                  </a:txBody>
                  <a:tcPr marL="47625" marR="47625" marT="47625" marB="47625" anchor="ctr"/>
                </a:tc>
                <a:extLst>
                  <a:ext uri="{0D108BD9-81ED-4DB2-BD59-A6C34878D82A}">
                    <a16:rowId xmlns:a16="http://schemas.microsoft.com/office/drawing/2014/main" val="913370860"/>
                  </a:ext>
                </a:extLst>
              </a:tr>
              <a:tr h="511555">
                <a:tc>
                  <a:txBody>
                    <a:bodyPr/>
                    <a:lstStyle/>
                    <a:p>
                      <a:pPr algn="ctr" fontAlgn="ctr"/>
                      <a:r>
                        <a:rPr lang="en-IN" sz="1600" b="1" dirty="0">
                          <a:solidFill>
                            <a:srgbClr val="FF0000"/>
                          </a:solidFill>
                          <a:effectLst/>
                        </a:rPr>
                        <a:t>f</a:t>
                      </a:r>
                      <a:r>
                        <a:rPr lang="en-IN" sz="1600" b="1" baseline="-25000" dirty="0">
                          <a:solidFill>
                            <a:srgbClr val="FF0000"/>
                          </a:solidFill>
                          <a:effectLst/>
                        </a:rPr>
                        <a:t>1</a:t>
                      </a:r>
                      <a:r>
                        <a:rPr lang="en-IN" sz="1600" b="1" dirty="0">
                          <a:solidFill>
                            <a:srgbClr val="FF0000"/>
                          </a:solidFill>
                          <a:effectLst/>
                        </a:rPr>
                        <a:t>[j]</a:t>
                      </a:r>
                    </a:p>
                  </a:txBody>
                  <a:tcPr marL="47625" marR="47625" marT="47625" marB="47625" anchor="ctr"/>
                </a:tc>
                <a:tc>
                  <a:txBody>
                    <a:bodyPr/>
                    <a:lstStyle/>
                    <a:p>
                      <a:pPr algn="ctr" fontAlgn="ctr"/>
                      <a:r>
                        <a:rPr lang="en-IN" dirty="0">
                          <a:effectLst/>
                        </a:rPr>
                        <a:t>6</a:t>
                      </a:r>
                    </a:p>
                  </a:txBody>
                  <a:tcPr marL="47625" marR="47625" marT="47625" marB="47625" anchor="ctr"/>
                </a:tc>
                <a:tc>
                  <a:txBody>
                    <a:bodyPr/>
                    <a:lstStyle/>
                    <a:p>
                      <a:pPr algn="ctr" fontAlgn="ctr"/>
                      <a:r>
                        <a:rPr lang="en-IN" dirty="0">
                          <a:effectLst/>
                        </a:rPr>
                        <a:t>14</a:t>
                      </a:r>
                    </a:p>
                  </a:txBody>
                  <a:tcPr marL="47625" marR="47625" marT="47625" marB="47625" anchor="ctr"/>
                </a:tc>
                <a:tc>
                  <a:txBody>
                    <a:bodyPr/>
                    <a:lstStyle/>
                    <a:p>
                      <a:pPr algn="ctr" fontAlgn="ctr"/>
                      <a:r>
                        <a:rPr lang="en-IN" dirty="0">
                          <a:effectLst/>
                        </a:rPr>
                        <a:t>23</a:t>
                      </a:r>
                    </a:p>
                  </a:txBody>
                  <a:tcPr marL="47625" marR="47625" marT="47625" marB="47625" anchor="ctr"/>
                </a:tc>
                <a:tc>
                  <a:txBody>
                    <a:bodyPr/>
                    <a:lstStyle/>
                    <a:p>
                      <a:pPr algn="ctr" fontAlgn="ctr"/>
                      <a:r>
                        <a:rPr lang="en-IN" dirty="0">
                          <a:effectLst/>
                        </a:rPr>
                        <a:t>21</a:t>
                      </a:r>
                    </a:p>
                  </a:txBody>
                  <a:tcPr marL="47625" marR="47625" marT="47625" marB="47625" anchor="ctr"/>
                </a:tc>
                <a:tc>
                  <a:txBody>
                    <a:bodyPr/>
                    <a:lstStyle/>
                    <a:p>
                      <a:pPr algn="ctr" fontAlgn="ctr"/>
                      <a:r>
                        <a:rPr lang="en-IN" dirty="0">
                          <a:effectLst/>
                        </a:rPr>
                        <a:t>24</a:t>
                      </a:r>
                    </a:p>
                  </a:txBody>
                  <a:tcPr marL="47625" marR="47625" marT="47625" marB="47625" anchor="ctr"/>
                </a:tc>
                <a:tc>
                  <a:txBody>
                    <a:bodyPr/>
                    <a:lstStyle/>
                    <a:p>
                      <a:pPr algn="ctr" fontAlgn="ctr"/>
                      <a:r>
                        <a:rPr lang="en-IN">
                          <a:effectLst/>
                        </a:rPr>
                        <a:t>25</a:t>
                      </a:r>
                    </a:p>
                  </a:txBody>
                  <a:tcPr marL="47625" marR="47625" marT="47625" marB="47625" anchor="ctr"/>
                </a:tc>
                <a:extLst>
                  <a:ext uri="{0D108BD9-81ED-4DB2-BD59-A6C34878D82A}">
                    <a16:rowId xmlns:a16="http://schemas.microsoft.com/office/drawing/2014/main" val="2723357209"/>
                  </a:ext>
                </a:extLst>
              </a:tr>
              <a:tr h="478516">
                <a:tc>
                  <a:txBody>
                    <a:bodyPr/>
                    <a:lstStyle/>
                    <a:p>
                      <a:pPr algn="ctr" fontAlgn="ctr"/>
                      <a:r>
                        <a:rPr lang="en-IN" sz="1600" b="1" dirty="0">
                          <a:solidFill>
                            <a:srgbClr val="FF0000"/>
                          </a:solidFill>
                          <a:effectLst/>
                        </a:rPr>
                        <a:t>f</a:t>
                      </a:r>
                      <a:r>
                        <a:rPr lang="en-IN" sz="1600" b="1" baseline="-25000" dirty="0">
                          <a:solidFill>
                            <a:srgbClr val="FF0000"/>
                          </a:solidFill>
                          <a:effectLst/>
                        </a:rPr>
                        <a:t>2</a:t>
                      </a:r>
                      <a:r>
                        <a:rPr lang="en-IN" sz="1600" b="1" dirty="0">
                          <a:solidFill>
                            <a:srgbClr val="FF0000"/>
                          </a:solidFill>
                          <a:effectLst/>
                        </a:rPr>
                        <a:t>[j]</a:t>
                      </a:r>
                    </a:p>
                  </a:txBody>
                  <a:tcPr marL="47625" marR="47625" marT="47625" marB="47625" anchor="ctr"/>
                </a:tc>
                <a:tc>
                  <a:txBody>
                    <a:bodyPr/>
                    <a:lstStyle/>
                    <a:p>
                      <a:pPr algn="ctr" fontAlgn="ctr"/>
                      <a:r>
                        <a:rPr lang="en-IN" dirty="0">
                          <a:effectLst/>
                        </a:rPr>
                        <a:t>8</a:t>
                      </a:r>
                    </a:p>
                  </a:txBody>
                  <a:tcPr marL="47625" marR="47625" marT="47625" marB="47625" anchor="ctr"/>
                </a:tc>
                <a:tc>
                  <a:txBody>
                    <a:bodyPr/>
                    <a:lstStyle/>
                    <a:p>
                      <a:pPr algn="ctr" fontAlgn="ctr"/>
                      <a:r>
                        <a:rPr lang="en-IN">
                          <a:effectLst/>
                        </a:rPr>
                        <a:t>17</a:t>
                      </a:r>
                    </a:p>
                  </a:txBody>
                  <a:tcPr marL="47625" marR="47625" marT="47625" marB="47625" anchor="ctr"/>
                </a:tc>
                <a:tc>
                  <a:txBody>
                    <a:bodyPr/>
                    <a:lstStyle/>
                    <a:p>
                      <a:pPr algn="ctr" fontAlgn="ctr"/>
                      <a:r>
                        <a:rPr lang="en-IN">
                          <a:effectLst/>
                        </a:rPr>
                        <a:t>19</a:t>
                      </a:r>
                    </a:p>
                  </a:txBody>
                  <a:tcPr marL="47625" marR="47625" marT="47625" marB="47625" anchor="ctr"/>
                </a:tc>
                <a:tc>
                  <a:txBody>
                    <a:bodyPr/>
                    <a:lstStyle/>
                    <a:p>
                      <a:pPr algn="ctr" fontAlgn="ctr"/>
                      <a:r>
                        <a:rPr lang="en-IN">
                          <a:effectLst/>
                        </a:rPr>
                        <a:t>26</a:t>
                      </a:r>
                    </a:p>
                  </a:txBody>
                  <a:tcPr marL="47625" marR="47625" marT="47625" marB="47625" anchor="ctr"/>
                </a:tc>
                <a:tc>
                  <a:txBody>
                    <a:bodyPr/>
                    <a:lstStyle/>
                    <a:p>
                      <a:pPr algn="ctr" fontAlgn="ctr"/>
                      <a:r>
                        <a:rPr lang="en-IN" dirty="0">
                          <a:effectLst/>
                        </a:rPr>
                        <a:t>29</a:t>
                      </a:r>
                    </a:p>
                  </a:txBody>
                  <a:tcPr marL="47625" marR="47625" marT="47625" marB="47625" anchor="ctr"/>
                </a:tc>
                <a:tc>
                  <a:txBody>
                    <a:bodyPr/>
                    <a:lstStyle/>
                    <a:p>
                      <a:pPr algn="ctr" fontAlgn="ctr"/>
                      <a:r>
                        <a:rPr lang="en-IN" dirty="0">
                          <a:effectLst/>
                        </a:rPr>
                        <a:t>29</a:t>
                      </a:r>
                    </a:p>
                  </a:txBody>
                  <a:tcPr marL="47625" marR="47625" marT="47625" marB="47625" anchor="ctr"/>
                </a:tc>
                <a:extLst>
                  <a:ext uri="{0D108BD9-81ED-4DB2-BD59-A6C34878D82A}">
                    <a16:rowId xmlns:a16="http://schemas.microsoft.com/office/drawing/2014/main" val="853049148"/>
                  </a:ext>
                </a:extLst>
              </a:tr>
            </a:tbl>
          </a:graphicData>
        </a:graphic>
      </p:graphicFrame>
      <p:sp>
        <p:nvSpPr>
          <p:cNvPr id="7" name="TextBox 6">
            <a:extLst>
              <a:ext uri="{FF2B5EF4-FFF2-40B4-BE49-F238E27FC236}">
                <a16:creationId xmlns:a16="http://schemas.microsoft.com/office/drawing/2014/main" id="{D9D1136F-FCE8-F271-A284-750C6000D671}"/>
              </a:ext>
            </a:extLst>
          </p:cNvPr>
          <p:cNvSpPr txBox="1"/>
          <p:nvPr/>
        </p:nvSpPr>
        <p:spPr>
          <a:xfrm>
            <a:off x="399941" y="879274"/>
            <a:ext cx="6963509" cy="400110"/>
          </a:xfrm>
          <a:prstGeom prst="rect">
            <a:avLst/>
          </a:prstGeom>
          <a:noFill/>
        </p:spPr>
        <p:txBody>
          <a:bodyPr wrap="square">
            <a:spAutoFit/>
          </a:bodyPr>
          <a:lstStyle/>
          <a:p>
            <a:r>
              <a:rPr lang="en-IN" sz="2000" b="0" i="0" dirty="0">
                <a:solidFill>
                  <a:schemeClr val="tx1"/>
                </a:solidFill>
                <a:effectLst/>
                <a:latin typeface="Trebuchet MS" panose="020B0603020202020204" pitchFamily="34" charset="0"/>
              </a:rPr>
              <a:t>Hence we can summarize f</a:t>
            </a:r>
            <a:r>
              <a:rPr lang="en-IN" sz="2000" b="0" i="0" baseline="-25000" dirty="0">
                <a:solidFill>
                  <a:schemeClr val="tx1"/>
                </a:solidFill>
                <a:effectLst/>
                <a:latin typeface="Trebuchet MS" panose="020B0603020202020204" pitchFamily="34" charset="0"/>
              </a:rPr>
              <a:t>1</a:t>
            </a:r>
            <a:r>
              <a:rPr lang="en-IN" sz="2000" b="0" i="0" dirty="0">
                <a:solidFill>
                  <a:schemeClr val="tx1"/>
                </a:solidFill>
                <a:effectLst/>
                <a:latin typeface="Trebuchet MS" panose="020B0603020202020204" pitchFamily="34" charset="0"/>
              </a:rPr>
              <a:t>[j] and f</a:t>
            </a:r>
            <a:r>
              <a:rPr lang="en-IN" sz="2000" b="0" i="0" baseline="-25000" dirty="0">
                <a:solidFill>
                  <a:schemeClr val="tx1"/>
                </a:solidFill>
                <a:effectLst/>
                <a:latin typeface="Trebuchet MS" panose="020B0603020202020204" pitchFamily="34" charset="0"/>
              </a:rPr>
              <a:t>2</a:t>
            </a:r>
            <a:r>
              <a:rPr lang="en-IN" sz="2000" b="0" i="0" dirty="0">
                <a:solidFill>
                  <a:schemeClr val="tx1"/>
                </a:solidFill>
                <a:effectLst/>
                <a:latin typeface="Trebuchet MS" panose="020B0603020202020204" pitchFamily="34" charset="0"/>
              </a:rPr>
              <a:t>[j] as follows :</a:t>
            </a:r>
            <a:endParaRPr lang="en-IN" sz="2000" dirty="0">
              <a:solidFill>
                <a:schemeClr val="tx1"/>
              </a:solidFill>
              <a:latin typeface="Trebuchet MS" panose="020B0603020202020204" pitchFamily="34" charset="0"/>
            </a:endParaRPr>
          </a:p>
        </p:txBody>
      </p:sp>
      <p:sp>
        <p:nvSpPr>
          <p:cNvPr id="8" name="TextBox 7">
            <a:extLst>
              <a:ext uri="{FF2B5EF4-FFF2-40B4-BE49-F238E27FC236}">
                <a16:creationId xmlns:a16="http://schemas.microsoft.com/office/drawing/2014/main" id="{294A9753-4E83-5D9C-7D27-2B9E57875B6B}"/>
              </a:ext>
            </a:extLst>
          </p:cNvPr>
          <p:cNvSpPr txBox="1"/>
          <p:nvPr/>
        </p:nvSpPr>
        <p:spPr>
          <a:xfrm>
            <a:off x="908060" y="3361599"/>
            <a:ext cx="5157073" cy="1569660"/>
          </a:xfrm>
          <a:prstGeom prst="rect">
            <a:avLst/>
          </a:prstGeom>
          <a:noFill/>
        </p:spPr>
        <p:txBody>
          <a:bodyPr wrap="square">
            <a:spAutoFit/>
          </a:bodyPr>
          <a:lstStyle/>
          <a:p>
            <a:pPr algn="l" fontAlgn="base"/>
            <a:r>
              <a:rPr lang="en-IN" sz="2400" b="0" i="0" dirty="0">
                <a:solidFill>
                  <a:schemeClr val="tx1"/>
                </a:solidFill>
                <a:effectLst/>
                <a:latin typeface="Trebuchet MS" panose="020B0603020202020204" pitchFamily="34" charset="0"/>
              </a:rPr>
              <a:t>f*    =   min (f</a:t>
            </a:r>
            <a:r>
              <a:rPr lang="en-IN" sz="2400" b="0" i="0" baseline="-25000" dirty="0">
                <a:solidFill>
                  <a:schemeClr val="tx1"/>
                </a:solidFill>
                <a:effectLst/>
                <a:latin typeface="Trebuchet MS" panose="020B0603020202020204" pitchFamily="34" charset="0"/>
              </a:rPr>
              <a:t>1</a:t>
            </a:r>
            <a:r>
              <a:rPr lang="en-IN" sz="2400" b="0" i="0" dirty="0">
                <a:solidFill>
                  <a:schemeClr val="tx1"/>
                </a:solidFill>
                <a:effectLst/>
                <a:latin typeface="Trebuchet MS" panose="020B0603020202020204" pitchFamily="34" charset="0"/>
              </a:rPr>
              <a:t> [n] + x</a:t>
            </a:r>
            <a:r>
              <a:rPr lang="en-IN" sz="2400" b="0" i="0" baseline="-25000" dirty="0">
                <a:solidFill>
                  <a:schemeClr val="tx1"/>
                </a:solidFill>
                <a:effectLst/>
                <a:latin typeface="Trebuchet MS" panose="020B0603020202020204" pitchFamily="34" charset="0"/>
              </a:rPr>
              <a:t>1</a:t>
            </a:r>
            <a:r>
              <a:rPr lang="en-IN" sz="2400" b="0" i="0" dirty="0">
                <a:solidFill>
                  <a:schemeClr val="tx1"/>
                </a:solidFill>
                <a:effectLst/>
                <a:latin typeface="Trebuchet MS" panose="020B0603020202020204" pitchFamily="34" charset="0"/>
              </a:rPr>
              <a:t>, f</a:t>
            </a:r>
            <a:r>
              <a:rPr lang="en-IN" sz="2400" b="0" i="0" baseline="-25000" dirty="0">
                <a:solidFill>
                  <a:schemeClr val="tx1"/>
                </a:solidFill>
                <a:effectLst/>
                <a:latin typeface="Trebuchet MS" panose="020B0603020202020204" pitchFamily="34" charset="0"/>
              </a:rPr>
              <a:t>2</a:t>
            </a:r>
            <a:r>
              <a:rPr lang="en-IN" sz="2400" b="0" i="0" dirty="0">
                <a:solidFill>
                  <a:schemeClr val="tx1"/>
                </a:solidFill>
                <a:effectLst/>
                <a:latin typeface="Trebuchet MS" panose="020B0603020202020204" pitchFamily="34" charset="0"/>
              </a:rPr>
              <a:t> [n] + x</a:t>
            </a:r>
            <a:r>
              <a:rPr lang="en-IN" sz="2400" b="0" i="0" baseline="-25000" dirty="0">
                <a:solidFill>
                  <a:schemeClr val="tx1"/>
                </a:solidFill>
                <a:effectLst/>
                <a:latin typeface="Trebuchet MS" panose="020B0603020202020204" pitchFamily="34" charset="0"/>
              </a:rPr>
              <a:t>2</a:t>
            </a:r>
            <a:r>
              <a:rPr lang="en-IN" sz="2400" b="0" i="0" dirty="0">
                <a:solidFill>
                  <a:schemeClr val="tx1"/>
                </a:solidFill>
                <a:effectLst/>
                <a:latin typeface="Trebuchet MS" panose="020B0603020202020204" pitchFamily="34" charset="0"/>
              </a:rPr>
              <a:t>)</a:t>
            </a:r>
          </a:p>
          <a:p>
            <a:pPr algn="l" fontAlgn="base"/>
            <a:r>
              <a:rPr lang="en-IN" sz="2400" b="0" i="0" dirty="0">
                <a:solidFill>
                  <a:schemeClr val="tx1"/>
                </a:solidFill>
                <a:effectLst/>
                <a:latin typeface="Trebuchet MS" panose="020B0603020202020204" pitchFamily="34" charset="0"/>
              </a:rPr>
              <a:t>f*    =   min (25 + 3, 29 + 7)</a:t>
            </a:r>
          </a:p>
          <a:p>
            <a:pPr algn="l" fontAlgn="base"/>
            <a:r>
              <a:rPr lang="en-IN" sz="2400" b="0" i="0" dirty="0">
                <a:solidFill>
                  <a:schemeClr val="tx1"/>
                </a:solidFill>
                <a:effectLst/>
                <a:latin typeface="Trebuchet MS" panose="020B0603020202020204" pitchFamily="34" charset="0"/>
              </a:rPr>
              <a:t>= min (28, 36)</a:t>
            </a:r>
          </a:p>
          <a:p>
            <a:pPr algn="l" fontAlgn="base"/>
            <a:r>
              <a:rPr lang="en-IN" sz="2400" b="0" i="0" dirty="0">
                <a:solidFill>
                  <a:schemeClr val="tx1"/>
                </a:solidFill>
                <a:effectLst/>
                <a:latin typeface="Trebuchet MS" panose="020B0603020202020204" pitchFamily="34" charset="0"/>
              </a:rPr>
              <a:t>= 28</a:t>
            </a:r>
          </a:p>
        </p:txBody>
      </p:sp>
    </p:spTree>
    <p:extLst>
      <p:ext uri="{BB962C8B-B14F-4D97-AF65-F5344CB8AC3E}">
        <p14:creationId xmlns:p14="http://schemas.microsoft.com/office/powerpoint/2010/main" val="343742700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Trebuchet MS" panose="020B0603020202020204" pitchFamily="34" charset="0"/>
              </a:rPr>
              <a:t>Assembly line scheduling -Example 1   </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6" name="TextBox 5">
            <a:extLst>
              <a:ext uri="{FF2B5EF4-FFF2-40B4-BE49-F238E27FC236}">
                <a16:creationId xmlns:a16="http://schemas.microsoft.com/office/drawing/2014/main" id="{9C3CE8F2-C6DF-74D5-D9EC-4C7129612605}"/>
              </a:ext>
            </a:extLst>
          </p:cNvPr>
          <p:cNvSpPr txBox="1"/>
          <p:nvPr/>
        </p:nvSpPr>
        <p:spPr>
          <a:xfrm>
            <a:off x="474562" y="989111"/>
            <a:ext cx="4624976" cy="400110"/>
          </a:xfrm>
          <a:prstGeom prst="rect">
            <a:avLst/>
          </a:prstGeom>
          <a:noFill/>
        </p:spPr>
        <p:txBody>
          <a:bodyPr wrap="square">
            <a:spAutoFit/>
          </a:bodyPr>
          <a:lstStyle/>
          <a:p>
            <a:r>
              <a:rPr lang="en-IN" sz="2000" b="1" i="0" dirty="0">
                <a:solidFill>
                  <a:srgbClr val="0070C0"/>
                </a:solidFill>
                <a:effectLst/>
                <a:latin typeface="Trebuchet MS" panose="020B0603020202020204" pitchFamily="34" charset="0"/>
              </a:rPr>
              <a:t>Compute fastest path :</a:t>
            </a:r>
            <a:endParaRPr lang="en-IN" sz="2000" dirty="0">
              <a:solidFill>
                <a:srgbClr val="0070C0"/>
              </a:solidFill>
              <a:latin typeface="Trebuchet MS" panose="020B0603020202020204" pitchFamily="34" charset="0"/>
            </a:endParaRPr>
          </a:p>
        </p:txBody>
      </p:sp>
      <p:pic>
        <p:nvPicPr>
          <p:cNvPr id="7" name="Picture 6">
            <a:extLst>
              <a:ext uri="{FF2B5EF4-FFF2-40B4-BE49-F238E27FC236}">
                <a16:creationId xmlns:a16="http://schemas.microsoft.com/office/drawing/2014/main" id="{874367A5-5FB0-9106-7E88-61EF9743CC3C}"/>
              </a:ext>
            </a:extLst>
          </p:cNvPr>
          <p:cNvPicPr>
            <a:picLocks noChangeAspect="1"/>
          </p:cNvPicPr>
          <p:nvPr/>
        </p:nvPicPr>
        <p:blipFill>
          <a:blip r:embed="rId6"/>
          <a:stretch>
            <a:fillRect/>
          </a:stretch>
        </p:blipFill>
        <p:spPr>
          <a:xfrm>
            <a:off x="1122484" y="1973567"/>
            <a:ext cx="3733800" cy="1931743"/>
          </a:xfrm>
          <a:prstGeom prst="rect">
            <a:avLst/>
          </a:prstGeom>
        </p:spPr>
      </p:pic>
    </p:spTree>
    <p:extLst>
      <p:ext uri="{BB962C8B-B14F-4D97-AF65-F5344CB8AC3E}">
        <p14:creationId xmlns:p14="http://schemas.microsoft.com/office/powerpoint/2010/main" val="132856584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Trebuchet MS" panose="020B0603020202020204" pitchFamily="34" charset="0"/>
              </a:rPr>
              <a:t>Assembly line scheduling -Example 1   </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6" name="TextBox 5">
            <a:extLst>
              <a:ext uri="{FF2B5EF4-FFF2-40B4-BE49-F238E27FC236}">
                <a16:creationId xmlns:a16="http://schemas.microsoft.com/office/drawing/2014/main" id="{DC58E757-D74B-6B27-5353-A157C2CBF736}"/>
              </a:ext>
            </a:extLst>
          </p:cNvPr>
          <p:cNvSpPr txBox="1"/>
          <p:nvPr/>
        </p:nvSpPr>
        <p:spPr>
          <a:xfrm>
            <a:off x="285124" y="937640"/>
            <a:ext cx="7959969" cy="3631763"/>
          </a:xfrm>
          <a:prstGeom prst="rect">
            <a:avLst/>
          </a:prstGeom>
          <a:noFill/>
        </p:spPr>
        <p:txBody>
          <a:bodyPr wrap="square">
            <a:spAutoFit/>
          </a:bodyPr>
          <a:lstStyle/>
          <a:p>
            <a:pPr algn="l" fontAlgn="base">
              <a:spcBef>
                <a:spcPts val="1200"/>
              </a:spcBef>
            </a:pPr>
            <a:r>
              <a:rPr lang="en-IN" sz="2000" b="1" i="0" dirty="0">
                <a:solidFill>
                  <a:srgbClr val="0070C0"/>
                </a:solidFill>
                <a:effectLst/>
                <a:latin typeface="Trebuchet MS" panose="020B0603020202020204" pitchFamily="34" charset="0"/>
              </a:rPr>
              <a:t>Trace back the path :</a:t>
            </a:r>
          </a:p>
          <a:p>
            <a:pPr marL="342900" indent="-342900" algn="l" fontAlgn="base">
              <a:spcBef>
                <a:spcPts val="1200"/>
              </a:spcBef>
              <a:buFont typeface="Arial" panose="020B0604020202020204" pitchFamily="34" charset="0"/>
              <a:buChar char="•"/>
            </a:pPr>
            <a:r>
              <a:rPr lang="en-IN" sz="2000" b="0" i="0" dirty="0">
                <a:solidFill>
                  <a:schemeClr val="tx1"/>
                </a:solidFill>
                <a:effectLst/>
                <a:latin typeface="Trebuchet MS" panose="020B0603020202020204" pitchFamily="34" charset="0"/>
              </a:rPr>
              <a:t>* = 1, so we have to select last station S</a:t>
            </a:r>
            <a:r>
              <a:rPr lang="en-IN" sz="2000" b="0" i="0" baseline="-25000" dirty="0">
                <a:solidFill>
                  <a:schemeClr val="tx1"/>
                </a:solidFill>
                <a:effectLst/>
                <a:latin typeface="Trebuchet MS" panose="020B0603020202020204" pitchFamily="34" charset="0"/>
              </a:rPr>
              <a:t>1,6</a:t>
            </a:r>
            <a:r>
              <a:rPr lang="en-IN" sz="2000" b="0" i="0" dirty="0">
                <a:solidFill>
                  <a:schemeClr val="tx1"/>
                </a:solidFill>
                <a:effectLst/>
                <a:latin typeface="Trebuchet MS" panose="020B0603020202020204" pitchFamily="34" charset="0"/>
              </a:rPr>
              <a:t> on line 1. Now we will look at l</a:t>
            </a:r>
            <a:r>
              <a:rPr lang="en-IN" sz="2000" b="0" i="0" baseline="-25000" dirty="0">
                <a:solidFill>
                  <a:schemeClr val="tx1"/>
                </a:solidFill>
                <a:effectLst/>
                <a:latin typeface="Trebuchet MS" panose="020B0603020202020204" pitchFamily="34" charset="0"/>
              </a:rPr>
              <a:t>1</a:t>
            </a:r>
            <a:r>
              <a:rPr lang="en-IN" sz="2000" b="0" i="0" dirty="0">
                <a:solidFill>
                  <a:schemeClr val="tx1"/>
                </a:solidFill>
                <a:effectLst/>
                <a:latin typeface="Trebuchet MS" panose="020B0603020202020204" pitchFamily="34" charset="0"/>
              </a:rPr>
              <a:t>[6], which is 1, so we will select previous station on line 1 that is station S</a:t>
            </a:r>
            <a:r>
              <a:rPr lang="en-IN" sz="2000" b="0" i="0" baseline="-25000" dirty="0">
                <a:solidFill>
                  <a:schemeClr val="tx1"/>
                </a:solidFill>
                <a:effectLst/>
                <a:latin typeface="Trebuchet MS" panose="020B0603020202020204" pitchFamily="34" charset="0"/>
              </a:rPr>
              <a:t>1, 5</a:t>
            </a:r>
            <a:r>
              <a:rPr lang="en-IN" sz="2000" b="0" i="0" dirty="0">
                <a:solidFill>
                  <a:schemeClr val="tx1"/>
                </a:solidFill>
                <a:effectLst/>
                <a:latin typeface="Trebuchet MS" panose="020B0603020202020204" pitchFamily="34" charset="0"/>
              </a:rPr>
              <a:t>.</a:t>
            </a:r>
          </a:p>
          <a:p>
            <a:pPr marL="342900" indent="-342900" algn="l" fontAlgn="base">
              <a:spcBef>
                <a:spcPts val="1200"/>
              </a:spcBef>
              <a:buFont typeface="Arial" panose="020B0604020202020204" pitchFamily="34" charset="0"/>
              <a:buChar char="•"/>
            </a:pPr>
            <a:r>
              <a:rPr lang="en-IN" sz="2000" b="0" i="0" dirty="0">
                <a:solidFill>
                  <a:schemeClr val="tx1"/>
                </a:solidFill>
                <a:effectLst/>
                <a:latin typeface="Trebuchet MS" panose="020B0603020202020204" pitchFamily="34" charset="0"/>
              </a:rPr>
              <a:t>Now we will look at l</a:t>
            </a:r>
            <a:r>
              <a:rPr lang="en-IN" sz="2000" b="0" i="0" baseline="-25000" dirty="0">
                <a:solidFill>
                  <a:schemeClr val="tx1"/>
                </a:solidFill>
                <a:effectLst/>
                <a:latin typeface="Trebuchet MS" panose="020B0603020202020204" pitchFamily="34" charset="0"/>
              </a:rPr>
              <a:t>1, 5</a:t>
            </a:r>
            <a:r>
              <a:rPr lang="en-IN" sz="2000" b="0" i="0" dirty="0">
                <a:solidFill>
                  <a:schemeClr val="tx1"/>
                </a:solidFill>
                <a:effectLst/>
                <a:latin typeface="Trebuchet MS" panose="020B0603020202020204" pitchFamily="34" charset="0"/>
              </a:rPr>
              <a:t> which is 2 so we will change line to 2 and previous station that is S</a:t>
            </a:r>
            <a:r>
              <a:rPr lang="en-IN" sz="2000" b="0" i="0" baseline="-25000" dirty="0">
                <a:solidFill>
                  <a:schemeClr val="tx1"/>
                </a:solidFill>
                <a:effectLst/>
                <a:latin typeface="Trebuchet MS" panose="020B0603020202020204" pitchFamily="34" charset="0"/>
              </a:rPr>
              <a:t>2, 4</a:t>
            </a:r>
            <a:r>
              <a:rPr lang="en-IN" sz="2000" b="0" i="0" dirty="0">
                <a:solidFill>
                  <a:schemeClr val="tx1"/>
                </a:solidFill>
                <a:effectLst/>
                <a:latin typeface="Trebuchet MS" panose="020B0603020202020204" pitchFamily="34" charset="0"/>
              </a:rPr>
              <a:t>.  </a:t>
            </a:r>
          </a:p>
          <a:p>
            <a:pPr marL="342900" indent="-342900" algn="l" fontAlgn="base">
              <a:spcBef>
                <a:spcPts val="1200"/>
              </a:spcBef>
              <a:buFont typeface="Arial" panose="020B0604020202020204" pitchFamily="34" charset="0"/>
              <a:buChar char="•"/>
            </a:pPr>
            <a:r>
              <a:rPr lang="en-IN" sz="2000" b="0" i="0" dirty="0">
                <a:solidFill>
                  <a:schemeClr val="tx1"/>
                </a:solidFill>
                <a:effectLst/>
                <a:latin typeface="Trebuchet MS" panose="020B0603020202020204" pitchFamily="34" charset="0"/>
              </a:rPr>
              <a:t>Next observe l</a:t>
            </a:r>
            <a:r>
              <a:rPr lang="en-IN" sz="2000" b="0" i="0" baseline="-25000" dirty="0">
                <a:solidFill>
                  <a:schemeClr val="tx1"/>
                </a:solidFill>
                <a:effectLst/>
                <a:latin typeface="Trebuchet MS" panose="020B0603020202020204" pitchFamily="34" charset="0"/>
              </a:rPr>
              <a:t>2</a:t>
            </a:r>
            <a:r>
              <a:rPr lang="en-IN" sz="2000" b="0" i="0" dirty="0">
                <a:solidFill>
                  <a:schemeClr val="tx1"/>
                </a:solidFill>
                <a:effectLst/>
                <a:latin typeface="Trebuchet MS" panose="020B0603020202020204" pitchFamily="34" charset="0"/>
              </a:rPr>
              <a:t>[4], its 2 so we have to remain on same line and select station S</a:t>
            </a:r>
            <a:r>
              <a:rPr lang="en-IN" sz="2000" b="0" i="0" baseline="-25000" dirty="0">
                <a:solidFill>
                  <a:schemeClr val="tx1"/>
                </a:solidFill>
                <a:effectLst/>
                <a:latin typeface="Trebuchet MS" panose="020B0603020202020204" pitchFamily="34" charset="0"/>
              </a:rPr>
              <a:t>2, 3</a:t>
            </a:r>
            <a:r>
              <a:rPr lang="en-IN" sz="2000" b="0" i="0" dirty="0">
                <a:solidFill>
                  <a:schemeClr val="tx1"/>
                </a:solidFill>
                <a:effectLst/>
                <a:latin typeface="Trebuchet MS" panose="020B0603020202020204" pitchFamily="34" charset="0"/>
              </a:rPr>
              <a:t>. Now observe l</a:t>
            </a:r>
            <a:r>
              <a:rPr lang="en-IN" sz="2000" b="0" i="0" baseline="-25000" dirty="0">
                <a:solidFill>
                  <a:schemeClr val="tx1"/>
                </a:solidFill>
                <a:effectLst/>
                <a:latin typeface="Trebuchet MS" panose="020B0603020202020204" pitchFamily="34" charset="0"/>
              </a:rPr>
              <a:t>2</a:t>
            </a:r>
            <a:r>
              <a:rPr lang="en-IN" sz="2000" b="0" i="0" dirty="0">
                <a:solidFill>
                  <a:schemeClr val="tx1"/>
                </a:solidFill>
                <a:effectLst/>
                <a:latin typeface="Trebuchet MS" panose="020B0603020202020204" pitchFamily="34" charset="0"/>
              </a:rPr>
              <a:t>[3], which is 1, so move on station S</a:t>
            </a:r>
            <a:r>
              <a:rPr lang="en-IN" sz="2000" b="0" i="0" baseline="-25000" dirty="0">
                <a:solidFill>
                  <a:schemeClr val="tx1"/>
                </a:solidFill>
                <a:effectLst/>
                <a:latin typeface="Trebuchet MS" panose="020B0603020202020204" pitchFamily="34" charset="0"/>
              </a:rPr>
              <a:t>1,2</a:t>
            </a:r>
            <a:r>
              <a:rPr lang="en-IN" sz="2000" b="0" i="0" dirty="0">
                <a:solidFill>
                  <a:schemeClr val="tx1"/>
                </a:solidFill>
                <a:effectLst/>
                <a:latin typeface="Trebuchet MS" panose="020B0603020202020204" pitchFamily="34" charset="0"/>
              </a:rPr>
              <a:t> on line 1. Now observe l</a:t>
            </a:r>
            <a:r>
              <a:rPr lang="en-IN" sz="2000" b="0" i="0" baseline="-25000" dirty="0">
                <a:solidFill>
                  <a:schemeClr val="tx1"/>
                </a:solidFill>
                <a:effectLst/>
                <a:latin typeface="Trebuchet MS" panose="020B0603020202020204" pitchFamily="34" charset="0"/>
              </a:rPr>
              <a:t>1</a:t>
            </a:r>
            <a:r>
              <a:rPr lang="en-IN" sz="2000" b="0" i="0" dirty="0">
                <a:solidFill>
                  <a:schemeClr val="tx1"/>
                </a:solidFill>
                <a:effectLst/>
                <a:latin typeface="Trebuchet MS" panose="020B0603020202020204" pitchFamily="34" charset="0"/>
              </a:rPr>
              <a:t>[3], which is 1, so remain on same line.</a:t>
            </a:r>
          </a:p>
        </p:txBody>
      </p:sp>
    </p:spTree>
    <p:extLst>
      <p:ext uri="{BB962C8B-B14F-4D97-AF65-F5344CB8AC3E}">
        <p14:creationId xmlns:p14="http://schemas.microsoft.com/office/powerpoint/2010/main" val="193489674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Trebuchet MS" panose="020B0603020202020204" pitchFamily="34" charset="0"/>
              </a:rPr>
              <a:t>Assembly line scheduling -Example 1   </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7" name="TextBox 6">
            <a:extLst>
              <a:ext uri="{FF2B5EF4-FFF2-40B4-BE49-F238E27FC236}">
                <a16:creationId xmlns:a16="http://schemas.microsoft.com/office/drawing/2014/main" id="{B71D6633-F886-13C0-4C0B-6E27882D555D}"/>
              </a:ext>
            </a:extLst>
          </p:cNvPr>
          <p:cNvSpPr txBox="1"/>
          <p:nvPr/>
        </p:nvSpPr>
        <p:spPr>
          <a:xfrm>
            <a:off x="586151" y="907050"/>
            <a:ext cx="7666597" cy="646331"/>
          </a:xfrm>
          <a:prstGeom prst="rect">
            <a:avLst/>
          </a:prstGeom>
          <a:noFill/>
        </p:spPr>
        <p:txBody>
          <a:bodyPr wrap="square">
            <a:spAutoFit/>
          </a:bodyPr>
          <a:lstStyle/>
          <a:p>
            <a:pPr marL="285750" indent="-285750" algn="l" fontAlgn="base">
              <a:buFont typeface="Arial" panose="020B0604020202020204" pitchFamily="34" charset="0"/>
              <a:buChar char="•"/>
            </a:pPr>
            <a:r>
              <a:rPr lang="en-IN" sz="1800" b="1" i="0" dirty="0" smtClean="0">
                <a:solidFill>
                  <a:schemeClr val="tx1"/>
                </a:solidFill>
                <a:effectLst/>
                <a:latin typeface="Corbel" panose="020B0503020204020204" pitchFamily="34" charset="0"/>
              </a:rPr>
              <a:t>At last you can draw the Final path(Result) like this, </a:t>
            </a:r>
            <a:r>
              <a:rPr lang="en-IN" sz="1800" b="1" i="0" dirty="0">
                <a:solidFill>
                  <a:schemeClr val="tx1"/>
                </a:solidFill>
                <a:effectLst/>
                <a:latin typeface="Corbel" panose="020B0503020204020204" pitchFamily="34" charset="0"/>
              </a:rPr>
              <a:t>shown in following figure</a:t>
            </a:r>
          </a:p>
        </p:txBody>
      </p:sp>
      <p:grpSp>
        <p:nvGrpSpPr>
          <p:cNvPr id="22" name="Group 21"/>
          <p:cNvGrpSpPr/>
          <p:nvPr/>
        </p:nvGrpSpPr>
        <p:grpSpPr>
          <a:xfrm>
            <a:off x="400871" y="252760"/>
            <a:ext cx="8573751" cy="4122470"/>
            <a:chOff x="285124" y="148588"/>
            <a:chExt cx="8573751" cy="4122470"/>
          </a:xfrm>
        </p:grpSpPr>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pic>
          <p:nvPicPr>
            <p:cNvPr id="8" name="Picture 7">
              <a:extLst>
                <a:ext uri="{FF2B5EF4-FFF2-40B4-BE49-F238E27FC236}">
                  <a16:creationId xmlns:a16="http://schemas.microsoft.com/office/drawing/2014/main" id="{18E42436-399E-A698-0774-22B2B91487F5}"/>
                </a:ext>
              </a:extLst>
            </p:cNvPr>
            <p:cNvPicPr>
              <a:picLocks noChangeAspect="1"/>
            </p:cNvPicPr>
            <p:nvPr/>
          </p:nvPicPr>
          <p:blipFill>
            <a:blip r:embed="rId6"/>
            <a:stretch>
              <a:fillRect/>
            </a:stretch>
          </p:blipFill>
          <p:spPr>
            <a:xfrm>
              <a:off x="586153" y="1504950"/>
              <a:ext cx="8077200" cy="2766108"/>
            </a:xfrm>
            <a:prstGeom prst="rect">
              <a:avLst/>
            </a:prstGeom>
            <a:solidFill>
              <a:schemeClr val="tx1"/>
            </a:solidFill>
            <a:ln w="28575">
              <a:solidFill>
                <a:schemeClr val="bg1"/>
              </a:solidFill>
            </a:ln>
          </p:spPr>
        </p:pic>
        <p:grpSp>
          <p:nvGrpSpPr>
            <p:cNvPr id="21" name="Group 20"/>
            <p:cNvGrpSpPr/>
            <p:nvPr/>
          </p:nvGrpSpPr>
          <p:grpSpPr>
            <a:xfrm>
              <a:off x="285124" y="1650032"/>
              <a:ext cx="8409194" cy="2037835"/>
              <a:chOff x="285124" y="1650032"/>
              <a:chExt cx="8409194" cy="2037835"/>
            </a:xfrm>
          </p:grpSpPr>
          <p:cxnSp>
            <p:nvCxnSpPr>
              <p:cNvPr id="10" name="Straight Connector 9">
                <a:extLst>
                  <a:ext uri="{FF2B5EF4-FFF2-40B4-BE49-F238E27FC236}">
                    <a16:creationId xmlns:a16="http://schemas.microsoft.com/office/drawing/2014/main" id="{436E0150-039D-3FA2-C8F2-B0D38E3B726F}"/>
                  </a:ext>
                </a:extLst>
              </p:cNvPr>
              <p:cNvCxnSpPr>
                <a:cxnSpLocks/>
              </p:cNvCxnSpPr>
              <p:nvPr/>
            </p:nvCxnSpPr>
            <p:spPr>
              <a:xfrm flipH="1">
                <a:off x="285124" y="1706517"/>
                <a:ext cx="1383324" cy="1109503"/>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1" name="Straight Connector 10">
                <a:extLst>
                  <a:ext uri="{FF2B5EF4-FFF2-40B4-BE49-F238E27FC236}">
                    <a16:creationId xmlns:a16="http://schemas.microsoft.com/office/drawing/2014/main" id="{9FBDED26-8F4F-77A4-7533-A4E883161BD5}"/>
                  </a:ext>
                </a:extLst>
              </p:cNvPr>
              <p:cNvCxnSpPr>
                <a:cxnSpLocks/>
              </p:cNvCxnSpPr>
              <p:nvPr/>
            </p:nvCxnSpPr>
            <p:spPr>
              <a:xfrm flipH="1" flipV="1">
                <a:off x="1988946" y="1703017"/>
                <a:ext cx="756140" cy="14654"/>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2" name="Straight Connector 11">
                <a:extLst>
                  <a:ext uri="{FF2B5EF4-FFF2-40B4-BE49-F238E27FC236}">
                    <a16:creationId xmlns:a16="http://schemas.microsoft.com/office/drawing/2014/main" id="{2B0F074B-EEF7-58DD-21E6-B803AA94C5BF}"/>
                  </a:ext>
                </a:extLst>
              </p:cNvPr>
              <p:cNvCxnSpPr>
                <a:cxnSpLocks/>
              </p:cNvCxnSpPr>
              <p:nvPr/>
            </p:nvCxnSpPr>
            <p:spPr>
              <a:xfrm flipH="1" flipV="1">
                <a:off x="3065585" y="1850761"/>
                <a:ext cx="1055002" cy="1837106"/>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3" name="Straight Connector 12">
                <a:extLst>
                  <a:ext uri="{FF2B5EF4-FFF2-40B4-BE49-F238E27FC236}">
                    <a16:creationId xmlns:a16="http://schemas.microsoft.com/office/drawing/2014/main" id="{8033F4C8-CB22-E8CA-19DA-C8B809E7CB97}"/>
                  </a:ext>
                </a:extLst>
              </p:cNvPr>
              <p:cNvCxnSpPr>
                <a:cxnSpLocks/>
              </p:cNvCxnSpPr>
              <p:nvPr/>
            </p:nvCxnSpPr>
            <p:spPr>
              <a:xfrm flipH="1">
                <a:off x="4208559" y="3687867"/>
                <a:ext cx="726831" cy="0"/>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4" name="Straight Connector 13">
                <a:extLst>
                  <a:ext uri="{FF2B5EF4-FFF2-40B4-BE49-F238E27FC236}">
                    <a16:creationId xmlns:a16="http://schemas.microsoft.com/office/drawing/2014/main" id="{E234E8AD-7C81-9BA9-27B0-A173D4D02E67}"/>
                  </a:ext>
                </a:extLst>
              </p:cNvPr>
              <p:cNvCxnSpPr>
                <a:cxnSpLocks/>
              </p:cNvCxnSpPr>
              <p:nvPr/>
            </p:nvCxnSpPr>
            <p:spPr>
              <a:xfrm flipH="1">
                <a:off x="5069711" y="1934287"/>
                <a:ext cx="955949" cy="1665440"/>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5" name="Straight Connector 14">
                <a:extLst>
                  <a:ext uri="{FF2B5EF4-FFF2-40B4-BE49-F238E27FC236}">
                    <a16:creationId xmlns:a16="http://schemas.microsoft.com/office/drawing/2014/main" id="{1D86A074-3CA1-E834-AC37-D7818CE5F23B}"/>
                  </a:ext>
                </a:extLst>
              </p:cNvPr>
              <p:cNvCxnSpPr>
                <a:cxnSpLocks/>
              </p:cNvCxnSpPr>
              <p:nvPr/>
            </p:nvCxnSpPr>
            <p:spPr>
              <a:xfrm flipH="1" flipV="1">
                <a:off x="6424246" y="1650032"/>
                <a:ext cx="798357" cy="17047"/>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6" name="Straight Connector 15">
                <a:extLst>
                  <a:ext uri="{FF2B5EF4-FFF2-40B4-BE49-F238E27FC236}">
                    <a16:creationId xmlns:a16="http://schemas.microsoft.com/office/drawing/2014/main" id="{234E1F4B-DE9E-DEDA-A349-0EEC617BA7E2}"/>
                  </a:ext>
                </a:extLst>
              </p:cNvPr>
              <p:cNvCxnSpPr>
                <a:cxnSpLocks/>
              </p:cNvCxnSpPr>
              <p:nvPr/>
            </p:nvCxnSpPr>
            <p:spPr>
              <a:xfrm flipH="1" flipV="1">
                <a:off x="7671273" y="1898588"/>
                <a:ext cx="1023045" cy="868419"/>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grpSp>
      </p:grpSp>
    </p:spTree>
    <p:extLst>
      <p:ext uri="{BB962C8B-B14F-4D97-AF65-F5344CB8AC3E}">
        <p14:creationId xmlns:p14="http://schemas.microsoft.com/office/powerpoint/2010/main" val="107209523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Trebuchet MS" panose="020B0603020202020204" pitchFamily="34" charset="0"/>
              </a:rPr>
              <a:t>Assembly line scheduling </a:t>
            </a:r>
            <a:endParaRPr kumimoji="0" lang="en-IN" sz="20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pic>
        <p:nvPicPr>
          <p:cNvPr id="6" name="Picture 5">
            <a:extLst>
              <a:ext uri="{FF2B5EF4-FFF2-40B4-BE49-F238E27FC236}">
                <a16:creationId xmlns:a16="http://schemas.microsoft.com/office/drawing/2014/main" id="{B08DFBF1-AE74-4E98-F19C-39DEA0769604}"/>
              </a:ext>
            </a:extLst>
          </p:cNvPr>
          <p:cNvPicPr>
            <a:picLocks noChangeAspect="1"/>
          </p:cNvPicPr>
          <p:nvPr/>
        </p:nvPicPr>
        <p:blipFill>
          <a:blip r:embed="rId6"/>
          <a:stretch>
            <a:fillRect/>
          </a:stretch>
        </p:blipFill>
        <p:spPr>
          <a:xfrm>
            <a:off x="386862" y="1702114"/>
            <a:ext cx="8077200" cy="2708763"/>
          </a:xfrm>
          <a:prstGeom prst="rect">
            <a:avLst/>
          </a:prstGeom>
        </p:spPr>
      </p:pic>
      <p:sp>
        <p:nvSpPr>
          <p:cNvPr id="7" name="Title 1">
            <a:extLst>
              <a:ext uri="{FF2B5EF4-FFF2-40B4-BE49-F238E27FC236}">
                <a16:creationId xmlns:a16="http://schemas.microsoft.com/office/drawing/2014/main" id="{7457762D-BA64-E16E-70C2-C723032518A1}"/>
              </a:ext>
            </a:extLst>
          </p:cNvPr>
          <p:cNvSpPr txBox="1">
            <a:spLocks/>
          </p:cNvSpPr>
          <p:nvPr/>
        </p:nvSpPr>
        <p:spPr>
          <a:xfrm>
            <a:off x="386862" y="920261"/>
            <a:ext cx="5668108" cy="533400"/>
          </a:xfrm>
          <a:prstGeom prst="rect">
            <a:avLst/>
          </a:prstGeom>
        </p:spPr>
        <p:txBody>
          <a:bodyPr tIns="68580" bIns="68580" anchor="b">
            <a:noAutofit/>
          </a:bodyPr>
          <a:lst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a:lstStyle>
          <a:p>
            <a:pPr defTabSz="914378">
              <a:buClrTx/>
            </a:pPr>
            <a:r>
              <a:rPr lang="en-US" sz="2400" b="1" dirty="0" smtClean="0">
                <a:solidFill>
                  <a:srgbClr val="0070C0"/>
                </a:solidFill>
                <a:latin typeface="Trebuchet MS" panose="020B0603020202020204" pitchFamily="34" charset="0"/>
              </a:rPr>
              <a:t>Solve the following </a:t>
            </a:r>
            <a:endParaRPr lang="en-US" sz="2400" b="1" dirty="0">
              <a:solidFill>
                <a:srgbClr val="0070C0"/>
              </a:solidFill>
              <a:latin typeface="Trebuchet MS" panose="020B0603020202020204" pitchFamily="34" charset="0"/>
            </a:endParaRPr>
          </a:p>
        </p:txBody>
      </p:sp>
    </p:spTree>
    <p:extLst>
      <p:ext uri="{BB962C8B-B14F-4D97-AF65-F5344CB8AC3E}">
        <p14:creationId xmlns:p14="http://schemas.microsoft.com/office/powerpoint/2010/main" val="388429255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Trebuchet MS" panose="020B0603020202020204" pitchFamily="34" charset="0"/>
              </a:rPr>
              <a:t>Matrix Chain Multiplication </a:t>
            </a:r>
          </a:p>
        </p:txBody>
      </p:sp>
      <p:sp>
        <p:nvSpPr>
          <p:cNvPr id="6" name="TextBox 5">
            <a:extLst>
              <a:ext uri="{FF2B5EF4-FFF2-40B4-BE49-F238E27FC236}">
                <a16:creationId xmlns:a16="http://schemas.microsoft.com/office/drawing/2014/main" id="{717C1934-4D00-275C-4CC8-D4B6D2A80980}"/>
              </a:ext>
            </a:extLst>
          </p:cNvPr>
          <p:cNvSpPr txBox="1"/>
          <p:nvPr/>
        </p:nvSpPr>
        <p:spPr>
          <a:xfrm>
            <a:off x="303591" y="909743"/>
            <a:ext cx="7961177" cy="332398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000" b="0" i="0" dirty="0">
                <a:solidFill>
                  <a:schemeClr val="tx1"/>
                </a:solidFill>
                <a:effectLst/>
                <a:latin typeface="Trebuchet MS" panose="020B0603020202020204" pitchFamily="34" charset="0"/>
              </a:rPr>
              <a:t>Matrix Chain Multiplication is </a:t>
            </a:r>
            <a:r>
              <a:rPr lang="en-IN" sz="2000" b="0" i="0" dirty="0" smtClean="0">
                <a:solidFill>
                  <a:schemeClr val="tx1"/>
                </a:solidFill>
                <a:effectLst/>
                <a:latin typeface="Trebuchet MS" panose="020B0603020202020204" pitchFamily="34" charset="0"/>
              </a:rPr>
              <a:t>solved </a:t>
            </a:r>
            <a:r>
              <a:rPr lang="en-IN" sz="2000" b="0" i="0" dirty="0">
                <a:solidFill>
                  <a:schemeClr val="tx1"/>
                </a:solidFill>
                <a:effectLst/>
                <a:latin typeface="Trebuchet MS" panose="020B0603020202020204" pitchFamily="34" charset="0"/>
              </a:rPr>
              <a:t>using </a:t>
            </a:r>
            <a:r>
              <a:rPr lang="en-IN" sz="2000" b="0" i="0" u="none" strike="noStrike" dirty="0">
                <a:solidFill>
                  <a:srgbClr val="CC0099"/>
                </a:solidFill>
                <a:effectLst/>
                <a:latin typeface="Trebuchet MS" panose="020B0603020202020204" pitchFamily="34" charset="0"/>
              </a:rPr>
              <a:t>dynamic programming</a:t>
            </a:r>
            <a:r>
              <a:rPr lang="en-IN" sz="2000" b="0" i="0" dirty="0" smtClean="0">
                <a:solidFill>
                  <a:schemeClr val="tx1"/>
                </a:solidFill>
                <a:effectLst/>
                <a:latin typeface="Trebuchet MS" panose="020B0603020202020204" pitchFamily="34" charset="0"/>
              </a:rPr>
              <a:t>.</a:t>
            </a:r>
          </a:p>
          <a:p>
            <a:pPr marL="342900" indent="-342900">
              <a:lnSpc>
                <a:spcPct val="150000"/>
              </a:lnSpc>
              <a:buFont typeface="Arial" panose="020B0604020202020204" pitchFamily="34" charset="0"/>
              <a:buChar char="•"/>
            </a:pPr>
            <a:r>
              <a:rPr lang="en-US" sz="2000" dirty="0" smtClean="0"/>
              <a:t>It is a optimization </a:t>
            </a:r>
            <a:r>
              <a:rPr lang="en-US" sz="2000" dirty="0"/>
              <a:t>problem that aims to </a:t>
            </a:r>
            <a:r>
              <a:rPr lang="en-US" sz="2000" dirty="0">
                <a:solidFill>
                  <a:srgbClr val="0070C0"/>
                </a:solidFill>
              </a:rPr>
              <a:t>determine the most efficient way to multiply</a:t>
            </a:r>
            <a:r>
              <a:rPr lang="en-US" sz="2000" dirty="0"/>
              <a:t> a given sequence of matrices. </a:t>
            </a:r>
            <a:endParaRPr lang="en-US" sz="2000" dirty="0" smtClean="0"/>
          </a:p>
          <a:p>
            <a:pPr marL="342900" indent="-342900">
              <a:lnSpc>
                <a:spcPct val="150000"/>
              </a:lnSpc>
              <a:buFont typeface="Arial" panose="020B0604020202020204" pitchFamily="34" charset="0"/>
              <a:buChar char="•"/>
            </a:pPr>
            <a:r>
              <a:rPr lang="en-US" sz="2000" dirty="0">
                <a:solidFill>
                  <a:schemeClr val="tx1"/>
                </a:solidFill>
                <a:latin typeface="Trebuchet MS" panose="020B0603020202020204" pitchFamily="34" charset="0"/>
              </a:rPr>
              <a:t>The problem is </a:t>
            </a:r>
            <a:r>
              <a:rPr lang="en-US" sz="2000" dirty="0">
                <a:solidFill>
                  <a:srgbClr val="0070C0"/>
                </a:solidFill>
                <a:latin typeface="Trebuchet MS" panose="020B0603020202020204" pitchFamily="34" charset="0"/>
              </a:rPr>
              <a:t>not about multiplying the matrices themselves </a:t>
            </a:r>
            <a:r>
              <a:rPr lang="en-US" sz="2000" dirty="0">
                <a:solidFill>
                  <a:schemeClr val="tx1"/>
                </a:solidFill>
                <a:latin typeface="Trebuchet MS" panose="020B0603020202020204" pitchFamily="34" charset="0"/>
              </a:rPr>
              <a:t>but about figuring out the optimal order to minimize the number of scalar multiplications</a:t>
            </a:r>
            <a:r>
              <a:rPr lang="en-US" sz="2000" dirty="0" smtClean="0">
                <a:solidFill>
                  <a:schemeClr val="tx1"/>
                </a:solidFill>
                <a:latin typeface="Trebuchet MS" panose="020B0603020202020204" pitchFamily="34" charset="0"/>
              </a:rPr>
              <a:t>.</a:t>
            </a:r>
            <a:endParaRPr lang="en-IN" sz="2000" b="0" i="0" dirty="0">
              <a:solidFill>
                <a:schemeClr val="tx1"/>
              </a:solidFill>
              <a:effectLst/>
              <a:latin typeface="Trebuchet MS" panose="020B0603020202020204" pitchFamily="34" charset="0"/>
            </a:endParaRPr>
          </a:p>
        </p:txBody>
      </p:sp>
    </p:spTree>
    <p:extLst>
      <p:ext uri="{BB962C8B-B14F-4D97-AF65-F5344CB8AC3E}">
        <p14:creationId xmlns:p14="http://schemas.microsoft.com/office/powerpoint/2010/main" val="44610208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Trebuchet MS" panose="020B0603020202020204" pitchFamily="34" charset="0"/>
              </a:rPr>
              <a:t>Matrix Chain Multiplication </a:t>
            </a:r>
          </a:p>
        </p:txBody>
      </p:sp>
      <p:sp>
        <p:nvSpPr>
          <p:cNvPr id="3" name="Rectangle 2"/>
          <p:cNvSpPr/>
          <p:nvPr/>
        </p:nvSpPr>
        <p:spPr>
          <a:xfrm>
            <a:off x="285124" y="860695"/>
            <a:ext cx="8272722" cy="3785652"/>
          </a:xfrm>
          <a:prstGeom prst="rect">
            <a:avLst/>
          </a:prstGeom>
        </p:spPr>
        <p:txBody>
          <a:bodyPr wrap="square">
            <a:spAutoFit/>
          </a:bodyPr>
          <a:lstStyle/>
          <a:p>
            <a:pPr lvl="0">
              <a:lnSpc>
                <a:spcPct val="150000"/>
              </a:lnSpc>
            </a:pPr>
            <a:r>
              <a:rPr lang="en-IN" sz="2000" b="1" dirty="0">
                <a:solidFill>
                  <a:srgbClr val="0070C0"/>
                </a:solidFill>
                <a:latin typeface="Trebuchet MS" panose="020B0603020202020204" pitchFamily="34" charset="0"/>
              </a:rPr>
              <a:t>Problem:</a:t>
            </a:r>
            <a:r>
              <a:rPr lang="en-IN" sz="2000" dirty="0">
                <a:solidFill>
                  <a:srgbClr val="0070C0"/>
                </a:solidFill>
                <a:latin typeface="Trebuchet MS" panose="020B0603020202020204" pitchFamily="34" charset="0"/>
              </a:rPr>
              <a:t>  </a:t>
            </a:r>
          </a:p>
          <a:p>
            <a:pPr marL="342900" lvl="0" indent="-342900">
              <a:lnSpc>
                <a:spcPct val="150000"/>
              </a:lnSpc>
              <a:buFont typeface="Arial" panose="020B0604020202020204" pitchFamily="34" charset="0"/>
              <a:buChar char="•"/>
            </a:pPr>
            <a:r>
              <a:rPr lang="en-IN" sz="2000" dirty="0">
                <a:latin typeface="Trebuchet MS" panose="020B0603020202020204" pitchFamily="34" charset="0"/>
              </a:rPr>
              <a:t>In what order, n matrices </a:t>
            </a:r>
            <a:r>
              <a:rPr lang="en-IN" sz="2000" dirty="0">
                <a:solidFill>
                  <a:srgbClr val="0070C0"/>
                </a:solidFill>
                <a:latin typeface="Trebuchet MS" panose="020B0603020202020204" pitchFamily="34" charset="0"/>
              </a:rPr>
              <a:t>A</a:t>
            </a:r>
            <a:r>
              <a:rPr lang="en-IN" sz="2000" baseline="-25000" dirty="0">
                <a:solidFill>
                  <a:srgbClr val="0070C0"/>
                </a:solidFill>
                <a:latin typeface="Trebuchet MS" panose="020B0603020202020204" pitchFamily="34" charset="0"/>
              </a:rPr>
              <a:t>1</a:t>
            </a:r>
            <a:r>
              <a:rPr lang="en-IN" sz="2000" dirty="0">
                <a:solidFill>
                  <a:srgbClr val="0070C0"/>
                </a:solidFill>
                <a:latin typeface="Trebuchet MS" panose="020B0603020202020204" pitchFamily="34" charset="0"/>
              </a:rPr>
              <a:t>, A</a:t>
            </a:r>
            <a:r>
              <a:rPr lang="en-IN" sz="2000" baseline="-25000" dirty="0">
                <a:solidFill>
                  <a:srgbClr val="0070C0"/>
                </a:solidFill>
                <a:latin typeface="Trebuchet MS" panose="020B0603020202020204" pitchFamily="34" charset="0"/>
              </a:rPr>
              <a:t>2</a:t>
            </a:r>
            <a:r>
              <a:rPr lang="en-IN" sz="2000" dirty="0">
                <a:solidFill>
                  <a:srgbClr val="0070C0"/>
                </a:solidFill>
                <a:latin typeface="Trebuchet MS" panose="020B0603020202020204" pitchFamily="34" charset="0"/>
              </a:rPr>
              <a:t>, A</a:t>
            </a:r>
            <a:r>
              <a:rPr lang="en-IN" sz="2000" baseline="-25000" dirty="0">
                <a:solidFill>
                  <a:srgbClr val="0070C0"/>
                </a:solidFill>
                <a:latin typeface="Trebuchet MS" panose="020B0603020202020204" pitchFamily="34" charset="0"/>
              </a:rPr>
              <a:t>3</a:t>
            </a:r>
            <a:r>
              <a:rPr lang="en-IN" sz="2000" dirty="0">
                <a:solidFill>
                  <a:srgbClr val="0070C0"/>
                </a:solidFill>
                <a:latin typeface="Trebuchet MS" panose="020B0603020202020204" pitchFamily="34" charset="0"/>
              </a:rPr>
              <a:t>, …. A</a:t>
            </a:r>
            <a:r>
              <a:rPr lang="en-IN" sz="2000" baseline="-25000" dirty="0">
                <a:solidFill>
                  <a:srgbClr val="0070C0"/>
                </a:solidFill>
                <a:latin typeface="Trebuchet MS" panose="020B0603020202020204" pitchFamily="34" charset="0"/>
              </a:rPr>
              <a:t>n</a:t>
            </a:r>
            <a:r>
              <a:rPr lang="en-IN" sz="2000" dirty="0">
                <a:latin typeface="Trebuchet MS" panose="020B0603020202020204" pitchFamily="34" charset="0"/>
              </a:rPr>
              <a:t> should be multiplied so that it would take a </a:t>
            </a:r>
            <a:r>
              <a:rPr lang="en-IN" sz="2000" dirty="0">
                <a:solidFill>
                  <a:srgbClr val="0070C0"/>
                </a:solidFill>
                <a:latin typeface="Trebuchet MS" panose="020B0603020202020204" pitchFamily="34" charset="0"/>
              </a:rPr>
              <a:t>minimum number </a:t>
            </a:r>
            <a:r>
              <a:rPr lang="en-IN" sz="2000" dirty="0">
                <a:latin typeface="Trebuchet MS" panose="020B0603020202020204" pitchFamily="34" charset="0"/>
              </a:rPr>
              <a:t>of computations to derive the result. </a:t>
            </a:r>
            <a:endParaRPr lang="en-IN" sz="2000" dirty="0" smtClean="0">
              <a:latin typeface="Trebuchet MS" panose="020B0603020202020204" pitchFamily="34" charset="0"/>
            </a:endParaRPr>
          </a:p>
          <a:p>
            <a:pPr marL="342900" indent="-342900">
              <a:lnSpc>
                <a:spcPct val="150000"/>
              </a:lnSpc>
              <a:buFont typeface="Arial" panose="020B0604020202020204" pitchFamily="34" charset="0"/>
              <a:buChar char="•"/>
            </a:pPr>
            <a:r>
              <a:rPr lang="en-US" sz="2000" dirty="0">
                <a:latin typeface="Trebuchet MS" panose="020B0603020202020204" pitchFamily="34" charset="0"/>
                <a:ea typeface="Calibri" panose="020F0502020204030204" pitchFamily="34" charset="0"/>
                <a:cs typeface="Times New Roman" panose="02020603050405020304" pitchFamily="18" charset="0"/>
              </a:rPr>
              <a:t>The matrices need to be compatible for multiplication, i.e., if matrix A</a:t>
            </a:r>
            <a:r>
              <a:rPr lang="en-US" sz="2000" baseline="-25000" dirty="0">
                <a:latin typeface="Trebuchet MS" panose="020B0603020202020204" pitchFamily="34" charset="0"/>
                <a:ea typeface="Calibri" panose="020F0502020204030204" pitchFamily="34" charset="0"/>
                <a:cs typeface="Times New Roman" panose="02020603050405020304" pitchFamily="18" charset="0"/>
              </a:rPr>
              <a:t>i </a:t>
            </a:r>
            <a:r>
              <a:rPr lang="en-US" sz="2000" dirty="0">
                <a:latin typeface="Trebuchet MS" panose="020B0603020202020204" pitchFamily="34" charset="0"/>
                <a:ea typeface="Calibri" panose="020F0502020204030204" pitchFamily="34" charset="0"/>
                <a:cs typeface="Times New Roman" panose="02020603050405020304" pitchFamily="18" charset="0"/>
              </a:rPr>
              <a:t>has dimensions </a:t>
            </a:r>
            <a:r>
              <a:rPr lang="en-US" sz="2000" dirty="0" smtClean="0">
                <a:latin typeface="Trebuchet MS" panose="020B0603020202020204" pitchFamily="34" charset="0"/>
              </a:rPr>
              <a:t>p</a:t>
            </a:r>
            <a:r>
              <a:rPr lang="en-US" sz="2000" baseline="-25000" dirty="0" smtClean="0">
                <a:latin typeface="Trebuchet MS" panose="020B0603020202020204" pitchFamily="34" charset="0"/>
              </a:rPr>
              <a:t>i-1 </a:t>
            </a:r>
            <a:r>
              <a:rPr lang="en-US" b="1" dirty="0" smtClean="0">
                <a:latin typeface="Trebuchet MS" panose="020B0603020202020204" pitchFamily="34" charset="0"/>
              </a:rPr>
              <a:t>X</a:t>
            </a:r>
            <a:r>
              <a:rPr lang="en-US" sz="2000" dirty="0" smtClean="0">
                <a:latin typeface="Trebuchet MS" panose="020B0603020202020204" pitchFamily="34" charset="0"/>
              </a:rPr>
              <a:t> p</a:t>
            </a:r>
            <a:r>
              <a:rPr lang="en-US" sz="2000" baseline="-25000" dirty="0" smtClean="0">
                <a:latin typeface="Trebuchet MS" panose="020B0603020202020204" pitchFamily="34" charset="0"/>
              </a:rPr>
              <a:t>i </a:t>
            </a:r>
            <a:r>
              <a:rPr lang="en-IN" sz="2000" dirty="0"/>
              <a:t>then </a:t>
            </a:r>
            <a:r>
              <a:rPr lang="en-IN" sz="2000" dirty="0" smtClean="0"/>
              <a:t>matrix </a:t>
            </a:r>
            <a:r>
              <a:rPr lang="en-IN" sz="2000" dirty="0">
                <a:latin typeface="Trebuchet MS" panose="020B0603020202020204" pitchFamily="34" charset="0"/>
              </a:rPr>
              <a:t>A</a:t>
            </a:r>
            <a:r>
              <a:rPr lang="en-IN" sz="2000" baseline="-25000" dirty="0">
                <a:latin typeface="Trebuchet MS" panose="020B0603020202020204" pitchFamily="34" charset="0"/>
              </a:rPr>
              <a:t>i+1</a:t>
            </a:r>
            <a:r>
              <a:rPr lang="en-IN" sz="2000" dirty="0">
                <a:latin typeface="Trebuchet MS" panose="020B0603020202020204" pitchFamily="34" charset="0"/>
              </a:rPr>
              <a:t> </a:t>
            </a:r>
            <a:r>
              <a:rPr lang="en-IN" sz="2000" dirty="0" smtClean="0">
                <a:latin typeface="Trebuchet MS" panose="020B0603020202020204" pitchFamily="34" charset="0"/>
              </a:rPr>
              <a:t>​must </a:t>
            </a:r>
            <a:r>
              <a:rPr lang="en-IN" sz="2000" dirty="0">
                <a:latin typeface="Trebuchet MS" panose="020B0603020202020204" pitchFamily="34" charset="0"/>
              </a:rPr>
              <a:t>have </a:t>
            </a:r>
            <a:r>
              <a:rPr lang="en-IN" sz="2000" dirty="0" smtClean="0">
                <a:latin typeface="Trebuchet MS" panose="020B0603020202020204" pitchFamily="34" charset="0"/>
              </a:rPr>
              <a:t>dimensions </a:t>
            </a:r>
            <a:r>
              <a:rPr lang="en-US" sz="2000" dirty="0">
                <a:latin typeface="Trebuchet MS" panose="020B0603020202020204" pitchFamily="34" charset="0"/>
              </a:rPr>
              <a:t>p</a:t>
            </a:r>
            <a:r>
              <a:rPr lang="en-US" sz="2000" baseline="-25000" dirty="0">
                <a:latin typeface="Trebuchet MS" panose="020B0603020202020204" pitchFamily="34" charset="0"/>
              </a:rPr>
              <a:t>i  </a:t>
            </a:r>
            <a:r>
              <a:rPr lang="en-US" sz="1600" dirty="0">
                <a:latin typeface="Trebuchet MS" panose="020B0603020202020204" pitchFamily="34" charset="0"/>
              </a:rPr>
              <a:t>X</a:t>
            </a:r>
            <a:r>
              <a:rPr lang="en-US" sz="2000" dirty="0">
                <a:latin typeface="Trebuchet MS" panose="020B0603020202020204" pitchFamily="34" charset="0"/>
              </a:rPr>
              <a:t> </a:t>
            </a:r>
            <a:r>
              <a:rPr lang="en-US" sz="2000" dirty="0" smtClean="0">
                <a:latin typeface="Trebuchet MS" panose="020B0603020202020204" pitchFamily="34" charset="0"/>
              </a:rPr>
              <a:t>p</a:t>
            </a:r>
            <a:r>
              <a:rPr lang="en-US" sz="2000" baseline="-25000" dirty="0" smtClean="0">
                <a:latin typeface="Trebuchet MS" panose="020B0603020202020204" pitchFamily="34" charset="0"/>
              </a:rPr>
              <a:t>i+1. </a:t>
            </a:r>
            <a:endParaRPr lang="en-IN" sz="2000" dirty="0" smtClean="0">
              <a:latin typeface="Trebuchet MS" panose="020B0603020202020204" pitchFamily="34" charset="0"/>
            </a:endParaRPr>
          </a:p>
          <a:p>
            <a:pPr marL="342900" lvl="0" indent="-342900">
              <a:lnSpc>
                <a:spcPct val="150000"/>
              </a:lnSpc>
              <a:buFont typeface="Arial" panose="020B0604020202020204" pitchFamily="34" charset="0"/>
              <a:buChar char="•"/>
            </a:pPr>
            <a:endParaRPr lang="en-IN" sz="2000" dirty="0">
              <a:latin typeface="Trebuchet MS" panose="020B0603020202020204" pitchFamily="34" charset="0"/>
            </a:endParaRPr>
          </a:p>
        </p:txBody>
      </p:sp>
    </p:spTree>
    <p:extLst>
      <p:ext uri="{BB962C8B-B14F-4D97-AF65-F5344CB8AC3E}">
        <p14:creationId xmlns:p14="http://schemas.microsoft.com/office/powerpoint/2010/main" val="310256504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Matrix Chain Multiplication </a:t>
            </a:r>
          </a:p>
        </p:txBody>
      </p:sp>
      <mc:AlternateContent xmlns:mc="http://schemas.openxmlformats.org/markup-compatibility/2006" xmlns:a14="http://schemas.microsoft.com/office/drawing/2010/main">
        <mc:Choice Requires="a14">
          <p:sp>
            <p:nvSpPr>
              <p:cNvPr id="6" name="Content Placeholder 2"/>
              <p:cNvSpPr txBox="1">
                <a:spLocks/>
              </p:cNvSpPr>
              <p:nvPr/>
            </p:nvSpPr>
            <p:spPr>
              <a:xfrm>
                <a:off x="415925" y="808038"/>
                <a:ext cx="8728075" cy="40322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r>
                  <a:rPr lang="en-US" sz="2000" dirty="0" smtClean="0">
                    <a:solidFill>
                      <a:schemeClr val="tx1"/>
                    </a:solidFill>
                    <a:latin typeface="Trebuchet MS" panose="020B0603020202020204" pitchFamily="34" charset="0"/>
                  </a:rPr>
                  <a:t>Let matrix </a:t>
                </a:r>
                <a14:m>
                  <m:oMath xmlns:m="http://schemas.openxmlformats.org/officeDocument/2006/math">
                    <m:r>
                      <a:rPr lang="en-US" sz="2000" b="1" i="1" smtClean="0">
                        <a:solidFill>
                          <a:srgbClr val="0070C0"/>
                        </a:solidFill>
                        <a:latin typeface="Cambria Math" panose="02040503050406030204" pitchFamily="18" charset="0"/>
                      </a:rPr>
                      <m:t>𝑨</m:t>
                    </m:r>
                    <m:r>
                      <a:rPr lang="en-US" sz="2000" b="1" i="1" smtClean="0">
                        <a:solidFill>
                          <a:srgbClr val="0070C0"/>
                        </a:solidFill>
                        <a:latin typeface="Cambria Math" panose="02040503050406030204" pitchFamily="18" charset="0"/>
                      </a:rPr>
                      <m:t> (</m:t>
                    </m:r>
                    <m:r>
                      <a:rPr lang="en-US" sz="2000" b="1" i="1" smtClean="0">
                        <a:solidFill>
                          <a:srgbClr val="0070C0"/>
                        </a:solidFill>
                        <a:latin typeface="Cambria Math" panose="02040503050406030204" pitchFamily="18" charset="0"/>
                      </a:rPr>
                      <m:t>𝒑</m:t>
                    </m:r>
                    <m:r>
                      <a:rPr lang="en-US" sz="2000" b="1" i="1">
                        <a:solidFill>
                          <a:srgbClr val="0070C0"/>
                        </a:solidFill>
                        <a:latin typeface="Cambria Math" panose="02040503050406030204" pitchFamily="18" charset="0"/>
                        <a:ea typeface="Cambria Math" panose="02040503050406030204" pitchFamily="18" charset="0"/>
                      </a:rPr>
                      <m:t>×</m:t>
                    </m:r>
                    <m:r>
                      <a:rPr lang="en-US" sz="2000" b="1" i="1">
                        <a:solidFill>
                          <a:srgbClr val="0070C0"/>
                        </a:solidFill>
                        <a:latin typeface="Cambria Math" panose="02040503050406030204" pitchFamily="18" charset="0"/>
                      </a:rPr>
                      <m:t> </m:t>
                    </m:r>
                    <m:r>
                      <a:rPr lang="en-US" sz="2000" b="1" i="1">
                        <a:solidFill>
                          <a:srgbClr val="0070C0"/>
                        </a:solidFill>
                        <a:latin typeface="Cambria Math" panose="02040503050406030204" pitchFamily="18" charset="0"/>
                      </a:rPr>
                      <m:t>𝒒</m:t>
                    </m:r>
                    <m:r>
                      <a:rPr lang="en-US" sz="2000" b="1" i="1">
                        <a:solidFill>
                          <a:srgbClr val="0070C0"/>
                        </a:solidFill>
                        <a:latin typeface="Cambria Math" panose="02040503050406030204" pitchFamily="18" charset="0"/>
                      </a:rPr>
                      <m:t>) </m:t>
                    </m:r>
                  </m:oMath>
                </a14:m>
                <a:r>
                  <a:rPr lang="en-US" sz="2000" dirty="0">
                    <a:solidFill>
                      <a:schemeClr val="tx1"/>
                    </a:solidFill>
                    <a:latin typeface="Trebuchet MS" panose="020B0603020202020204" pitchFamily="34" charset="0"/>
                  </a:rPr>
                  <a:t>and matrix </a:t>
                </a:r>
                <a14:m>
                  <m:oMath xmlns:m="http://schemas.openxmlformats.org/officeDocument/2006/math">
                    <m:r>
                      <a:rPr lang="en-US" sz="2000" b="1" i="1" smtClean="0">
                        <a:solidFill>
                          <a:srgbClr val="0070C0"/>
                        </a:solidFill>
                        <a:latin typeface="Cambria Math" panose="02040503050406030204" pitchFamily="18" charset="0"/>
                      </a:rPr>
                      <m:t>𝑩</m:t>
                    </m:r>
                    <m:r>
                      <a:rPr lang="en-US" sz="2000" b="1" i="1" smtClean="0">
                        <a:solidFill>
                          <a:srgbClr val="0070C0"/>
                        </a:solidFill>
                        <a:latin typeface="Cambria Math" panose="02040503050406030204" pitchFamily="18" charset="0"/>
                      </a:rPr>
                      <m:t> (</m:t>
                    </m:r>
                    <m:r>
                      <a:rPr lang="en-US" sz="2000" b="1" i="1" smtClean="0">
                        <a:solidFill>
                          <a:srgbClr val="0070C0"/>
                        </a:solidFill>
                        <a:latin typeface="Cambria Math" panose="02040503050406030204" pitchFamily="18" charset="0"/>
                      </a:rPr>
                      <m:t>𝒒</m:t>
                    </m:r>
                    <m:r>
                      <a:rPr lang="en-US" sz="2000" b="1" i="1" smtClean="0">
                        <a:solidFill>
                          <a:srgbClr val="0070C0"/>
                        </a:solidFill>
                        <a:latin typeface="Cambria Math" panose="02040503050406030204" pitchFamily="18" charset="0"/>
                      </a:rPr>
                      <m:t> × </m:t>
                    </m:r>
                    <m:r>
                      <a:rPr lang="en-US" sz="2000" b="1" i="1" smtClean="0">
                        <a:solidFill>
                          <a:srgbClr val="0070C0"/>
                        </a:solidFill>
                        <a:latin typeface="Cambria Math" panose="02040503050406030204" pitchFamily="18" charset="0"/>
                      </a:rPr>
                      <m:t>𝒓</m:t>
                    </m:r>
                    <m:r>
                      <a:rPr lang="en-US" sz="2000" b="1" i="1" smtClean="0">
                        <a:solidFill>
                          <a:srgbClr val="0070C0"/>
                        </a:solidFill>
                        <a:latin typeface="Cambria Math" panose="02040503050406030204" pitchFamily="18" charset="0"/>
                      </a:rPr>
                      <m:t>) </m:t>
                    </m:r>
                  </m:oMath>
                </a14:m>
                <a:r>
                  <a:rPr lang="en-US" sz="2000" dirty="0">
                    <a:solidFill>
                      <a:schemeClr val="tx1"/>
                    </a:solidFill>
                    <a:latin typeface="Trebuchet MS" panose="020B0603020202020204" pitchFamily="34" charset="0"/>
                  </a:rPr>
                  <a:t>are two given matrices for multiplication.</a:t>
                </a:r>
              </a:p>
              <a:p>
                <a:r>
                  <a:rPr lang="en-US" sz="2000" dirty="0">
                    <a:solidFill>
                      <a:schemeClr val="tx1"/>
                    </a:solidFill>
                    <a:latin typeface="Trebuchet MS" panose="020B0603020202020204" pitchFamily="34" charset="0"/>
                  </a:rPr>
                  <a:t>The resultant matrix </a:t>
                </a:r>
                <a14:m>
                  <m:oMath xmlns:m="http://schemas.openxmlformats.org/officeDocument/2006/math">
                    <m:r>
                      <a:rPr lang="en-US" sz="2000" i="1">
                        <a:solidFill>
                          <a:schemeClr val="tx1"/>
                        </a:solidFill>
                        <a:latin typeface="Cambria Math" panose="02040503050406030204" pitchFamily="18" charset="0"/>
                      </a:rPr>
                      <m:t>𝐶</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𝐴</m:t>
                    </m:r>
                    <m:r>
                      <a:rPr lang="en-US" sz="2000" i="1">
                        <a:solidFill>
                          <a:schemeClr val="tx1"/>
                        </a:solidFill>
                        <a:latin typeface="Cambria Math" panose="02040503050406030204" pitchFamily="18" charset="0"/>
                      </a:rPr>
                      <m:t> ∙</m:t>
                    </m:r>
                    <m:r>
                      <a:rPr lang="en-US" sz="2000" i="1">
                        <a:solidFill>
                          <a:schemeClr val="tx1"/>
                        </a:solidFill>
                        <a:latin typeface="Cambria Math" panose="02040503050406030204" pitchFamily="18" charset="0"/>
                      </a:rPr>
                      <m:t>𝐵</m:t>
                    </m:r>
                  </m:oMath>
                </a14:m>
                <a:endParaRPr lang="en-US" sz="2000" dirty="0">
                  <a:solidFill>
                    <a:schemeClr val="tx1"/>
                  </a:solidFill>
                  <a:latin typeface="Trebuchet MS" panose="020B0603020202020204" pitchFamily="34" charset="0"/>
                </a:endParaRPr>
              </a:p>
              <a:p>
                <a:r>
                  <a:rPr lang="en-US" sz="2000" dirty="0">
                    <a:solidFill>
                      <a:schemeClr val="tx1"/>
                    </a:solidFill>
                    <a:latin typeface="Trebuchet MS" panose="020B0603020202020204" pitchFamily="34" charset="0"/>
                  </a:rPr>
                  <a:t>So,</a:t>
                </a:r>
                <a:r>
                  <a:rPr lang="en-US" sz="2000" dirty="0">
                    <a:latin typeface="Trebuchet MS" panose="020B0603020202020204" pitchFamily="34" charset="0"/>
                  </a:rPr>
                  <a:t> </a:t>
                </a:r>
              </a:p>
              <a:p>
                <a:endParaRPr lang="en-US" sz="1600" i="1" dirty="0">
                  <a:latin typeface="Trebuchet MS" panose="020B0603020202020204" pitchFamily="34" charset="0"/>
                </a:endParaRPr>
              </a:p>
              <a:p>
                <a:endParaRPr lang="en-US" sz="1600" i="1" dirty="0">
                  <a:latin typeface="Trebuchet MS" panose="020B0603020202020204" pitchFamily="34" charset="0"/>
                </a:endParaRPr>
              </a:p>
              <a:p>
                <a:endParaRPr lang="en-US" sz="1400" dirty="0">
                  <a:latin typeface="Trebuchet MS" panose="020B0603020202020204" pitchFamily="34" charset="0"/>
                </a:endParaRPr>
              </a:p>
            </p:txBody>
          </p:sp>
        </mc:Choice>
        <mc:Fallback xmlns="">
          <p:sp>
            <p:nvSpPr>
              <p:cNvPr id="6" name="Content Placeholder 2"/>
              <p:cNvSpPr txBox="1">
                <a:spLocks noRot="1" noChangeAspect="1" noMove="1" noResize="1" noEditPoints="1" noAdjustHandles="1" noChangeArrowheads="1" noChangeShapeType="1" noTextEdit="1"/>
              </p:cNvSpPr>
              <p:nvPr/>
            </p:nvSpPr>
            <p:spPr>
              <a:xfrm>
                <a:off x="415925" y="808038"/>
                <a:ext cx="8728075" cy="4032250"/>
              </a:xfrm>
              <a:prstGeom prst="rect">
                <a:avLst/>
              </a:prstGeom>
              <a:blipFill>
                <a:blip r:embed="rId6"/>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515279" y="2051279"/>
                <a:ext cx="5360083" cy="54864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14:m>
                  <m:oMath xmlns:m="http://schemas.openxmlformats.org/officeDocument/2006/math">
                    <m:sSub>
                      <m:sSubPr>
                        <m:ctrlPr>
                          <a:rPr lang="en-US" sz="1800" i="1" kern="1200" smtClean="0">
                            <a:solidFill>
                              <a:srgbClr val="0070C0"/>
                            </a:solidFill>
                            <a:latin typeface="Cambria Math" panose="02040503050406030204" pitchFamily="18" charset="0"/>
                          </a:rPr>
                        </m:ctrlPr>
                      </m:sSubPr>
                      <m:e>
                        <m:r>
                          <a:rPr lang="en-US" sz="1800" i="1" kern="1200">
                            <a:solidFill>
                              <a:srgbClr val="0070C0"/>
                            </a:solidFill>
                            <a:latin typeface="Cambria Math" panose="02040503050406030204" pitchFamily="18" charset="0"/>
                          </a:rPr>
                          <m:t>𝐶</m:t>
                        </m:r>
                      </m:e>
                      <m:sub>
                        <m:r>
                          <a:rPr lang="en-US" sz="1800" i="1" kern="1200">
                            <a:solidFill>
                              <a:srgbClr val="0070C0"/>
                            </a:solidFill>
                            <a:latin typeface="Cambria Math" panose="02040503050406030204" pitchFamily="18" charset="0"/>
                          </a:rPr>
                          <m:t>𝑖𝑗</m:t>
                        </m:r>
                      </m:sub>
                    </m:sSub>
                    <m:r>
                      <a:rPr lang="en-US" sz="1800" i="1" kern="1200">
                        <a:solidFill>
                          <a:srgbClr val="0070C0"/>
                        </a:solidFill>
                        <a:latin typeface="Cambria Math" panose="02040503050406030204" pitchFamily="18" charset="0"/>
                      </a:rPr>
                      <m:t>=</m:t>
                    </m:r>
                    <m:nary>
                      <m:naryPr>
                        <m:chr m:val="∑"/>
                        <m:ctrlPr>
                          <a:rPr lang="en-US" sz="1800" i="1" kern="1200">
                            <a:solidFill>
                              <a:srgbClr val="0070C0"/>
                            </a:solidFill>
                            <a:latin typeface="Cambria Math" panose="02040503050406030204" pitchFamily="18" charset="0"/>
                          </a:rPr>
                        </m:ctrlPr>
                      </m:naryPr>
                      <m:sub>
                        <m:r>
                          <a:rPr lang="en-US" sz="1800" i="1" kern="1200">
                            <a:solidFill>
                              <a:srgbClr val="0070C0"/>
                            </a:solidFill>
                            <a:latin typeface="Cambria Math" panose="02040503050406030204" pitchFamily="18" charset="0"/>
                          </a:rPr>
                          <m:t>𝑘</m:t>
                        </m:r>
                        <m:r>
                          <a:rPr lang="en-US" sz="1800" i="1" kern="1200">
                            <a:solidFill>
                              <a:srgbClr val="0070C0"/>
                            </a:solidFill>
                            <a:latin typeface="Cambria Math" panose="02040503050406030204" pitchFamily="18" charset="0"/>
                          </a:rPr>
                          <m:t>=1</m:t>
                        </m:r>
                      </m:sub>
                      <m:sup>
                        <m:r>
                          <a:rPr lang="en-US" sz="1800" i="1" kern="1200">
                            <a:solidFill>
                              <a:srgbClr val="0070C0"/>
                            </a:solidFill>
                            <a:latin typeface="Cambria Math" panose="02040503050406030204" pitchFamily="18" charset="0"/>
                          </a:rPr>
                          <m:t>𝑞</m:t>
                        </m:r>
                      </m:sup>
                      <m:e>
                        <m:sSub>
                          <m:sSubPr>
                            <m:ctrlPr>
                              <a:rPr lang="en-US" sz="1800" i="1" kern="1200">
                                <a:solidFill>
                                  <a:srgbClr val="0070C0"/>
                                </a:solidFill>
                                <a:latin typeface="Cambria Math" panose="02040503050406030204" pitchFamily="18" charset="0"/>
                              </a:rPr>
                            </m:ctrlPr>
                          </m:sSubPr>
                          <m:e>
                            <m:r>
                              <a:rPr lang="en-US" sz="1800" i="1" kern="1200">
                                <a:solidFill>
                                  <a:srgbClr val="0070C0"/>
                                </a:solidFill>
                                <a:latin typeface="Cambria Math" panose="02040503050406030204" pitchFamily="18" charset="0"/>
                              </a:rPr>
                              <m:t>𝑎</m:t>
                            </m:r>
                          </m:e>
                          <m:sub>
                            <m:r>
                              <a:rPr lang="en-US" sz="1800" i="1" kern="1200">
                                <a:solidFill>
                                  <a:srgbClr val="0070C0"/>
                                </a:solidFill>
                                <a:latin typeface="Cambria Math" panose="02040503050406030204" pitchFamily="18" charset="0"/>
                              </a:rPr>
                              <m:t>𝑖𝑘</m:t>
                            </m:r>
                          </m:sub>
                        </m:sSub>
                        <m:sSub>
                          <m:sSubPr>
                            <m:ctrlPr>
                              <a:rPr lang="en-US" sz="1800" i="1" kern="1200">
                                <a:solidFill>
                                  <a:srgbClr val="0070C0"/>
                                </a:solidFill>
                                <a:latin typeface="Cambria Math" panose="02040503050406030204" pitchFamily="18" charset="0"/>
                              </a:rPr>
                            </m:ctrlPr>
                          </m:sSubPr>
                          <m:e>
                            <m:r>
                              <a:rPr lang="en-US" sz="1800" i="1" kern="1200">
                                <a:solidFill>
                                  <a:srgbClr val="0070C0"/>
                                </a:solidFill>
                                <a:latin typeface="Cambria Math" panose="02040503050406030204" pitchFamily="18" charset="0"/>
                              </a:rPr>
                              <m:t>𝑏</m:t>
                            </m:r>
                          </m:e>
                          <m:sub>
                            <m:r>
                              <a:rPr lang="en-US" sz="1800" i="1" kern="1200">
                                <a:solidFill>
                                  <a:srgbClr val="0070C0"/>
                                </a:solidFill>
                                <a:latin typeface="Cambria Math" panose="02040503050406030204" pitchFamily="18" charset="0"/>
                              </a:rPr>
                              <m:t>𝑘𝑗</m:t>
                            </m:r>
                          </m:sub>
                        </m:sSub>
                      </m:e>
                    </m:nary>
                  </m:oMath>
                </a14:m>
                <a:r>
                  <a:rPr lang="en-US" sz="1800" kern="1200" dirty="0">
                    <a:solidFill>
                      <a:srgbClr val="0070C0"/>
                    </a:solidFill>
                    <a:latin typeface="Arial"/>
                  </a:rPr>
                  <a:t>    Where, </a:t>
                </a:r>
                <a14:m>
                  <m:oMath xmlns:m="http://schemas.openxmlformats.org/officeDocument/2006/math">
                    <m:r>
                      <a:rPr lang="en-US" sz="1800" i="1" kern="1200">
                        <a:solidFill>
                          <a:srgbClr val="0070C0"/>
                        </a:solidFill>
                        <a:latin typeface="Cambria Math" panose="02040503050406030204" pitchFamily="18" charset="0"/>
                      </a:rPr>
                      <m:t>1≤</m:t>
                    </m:r>
                    <m:r>
                      <a:rPr lang="en-US" sz="1800" i="1" kern="1200" err="1">
                        <a:solidFill>
                          <a:srgbClr val="0070C0"/>
                        </a:solidFill>
                        <a:latin typeface="Cambria Math" panose="02040503050406030204" pitchFamily="18" charset="0"/>
                      </a:rPr>
                      <m:t>𝑖</m:t>
                    </m:r>
                    <m:r>
                      <a:rPr lang="en-US" sz="1800" i="1" kern="1200">
                        <a:solidFill>
                          <a:srgbClr val="0070C0"/>
                        </a:solidFill>
                        <a:latin typeface="Cambria Math" panose="02040503050406030204" pitchFamily="18" charset="0"/>
                      </a:rPr>
                      <m:t>≤</m:t>
                    </m:r>
                    <m:r>
                      <a:rPr lang="en-US" sz="1800" i="1" kern="1200">
                        <a:solidFill>
                          <a:srgbClr val="0070C0"/>
                        </a:solidFill>
                        <a:latin typeface="Cambria Math" panose="02040503050406030204" pitchFamily="18" charset="0"/>
                      </a:rPr>
                      <m:t>𝑝</m:t>
                    </m:r>
                    <m:r>
                      <a:rPr lang="en-US" sz="1800" i="1" kern="1200">
                        <a:solidFill>
                          <a:srgbClr val="0070C0"/>
                        </a:solidFill>
                        <a:latin typeface="Cambria Math" panose="02040503050406030204" pitchFamily="18" charset="0"/>
                      </a:rPr>
                      <m:t> </m:t>
                    </m:r>
                  </m:oMath>
                </a14:m>
                <a:r>
                  <a:rPr lang="en-US" sz="1800" i="1" kern="1200" dirty="0">
                    <a:solidFill>
                      <a:srgbClr val="0070C0"/>
                    </a:solidFill>
                    <a:latin typeface="Arial"/>
                  </a:rPr>
                  <a:t>and </a:t>
                </a:r>
                <a14:m>
                  <m:oMath xmlns:m="http://schemas.openxmlformats.org/officeDocument/2006/math">
                    <m:r>
                      <a:rPr lang="en-US" sz="1800" i="1" kern="1200">
                        <a:solidFill>
                          <a:srgbClr val="0070C0"/>
                        </a:solidFill>
                        <a:latin typeface="Cambria Math" panose="02040503050406030204" pitchFamily="18" charset="0"/>
                      </a:rPr>
                      <m:t>1≤</m:t>
                    </m:r>
                    <m:r>
                      <a:rPr lang="en-US" sz="1800" i="1" kern="1200">
                        <a:solidFill>
                          <a:srgbClr val="0070C0"/>
                        </a:solidFill>
                        <a:latin typeface="Cambria Math" panose="02040503050406030204" pitchFamily="18" charset="0"/>
                      </a:rPr>
                      <m:t>𝑗</m:t>
                    </m:r>
                    <m:r>
                      <a:rPr lang="en-US" sz="1800" i="1" kern="1200">
                        <a:solidFill>
                          <a:srgbClr val="0070C0"/>
                        </a:solidFill>
                        <a:latin typeface="Cambria Math" panose="02040503050406030204" pitchFamily="18" charset="0"/>
                      </a:rPr>
                      <m:t>≤</m:t>
                    </m:r>
                    <m:r>
                      <a:rPr lang="en-US" sz="1800" i="1" kern="1200">
                        <a:solidFill>
                          <a:srgbClr val="0070C0"/>
                        </a:solidFill>
                        <a:latin typeface="Cambria Math" panose="02040503050406030204" pitchFamily="18" charset="0"/>
                      </a:rPr>
                      <m:t>𝑟</m:t>
                    </m:r>
                  </m:oMath>
                </a14:m>
                <a:endParaRPr lang="en-US" sz="1800" i="1" kern="1200" dirty="0">
                  <a:solidFill>
                    <a:srgbClr val="0070C0"/>
                  </a:solidFill>
                  <a:latin typeface="Arial"/>
                </a:endParaRPr>
              </a:p>
            </p:txBody>
          </p:sp>
        </mc:Choice>
        <mc:Fallback xmlns="">
          <p:sp>
            <p:nvSpPr>
              <p:cNvPr id="7" name="Rectangle 6"/>
              <p:cNvSpPr>
                <a:spLocks noRot="1" noChangeAspect="1" noMove="1" noResize="1" noEditPoints="1" noAdjustHandles="1" noChangeArrowheads="1" noChangeShapeType="1" noTextEdit="1"/>
              </p:cNvSpPr>
              <p:nvPr/>
            </p:nvSpPr>
            <p:spPr>
              <a:xfrm>
                <a:off x="1515279" y="2051279"/>
                <a:ext cx="5360083" cy="548640"/>
              </a:xfrm>
              <a:prstGeom prst="rect">
                <a:avLst/>
              </a:prstGeom>
              <a:blipFill>
                <a:blip r:embed="rId7"/>
                <a:stretch>
                  <a:fillRect t="-59574" b="-10212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865709" y="2812279"/>
                <a:ext cx="4480854" cy="202800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14:m>
                  <m:oMath xmlns:m="http://schemas.openxmlformats.org/officeDocument/2006/math">
                    <m:r>
                      <a:rPr lang="en-US" sz="1500" i="1" kern="1200" smtClean="0">
                        <a:solidFill>
                          <a:srgbClr val="0070C0"/>
                        </a:solidFill>
                        <a:latin typeface="Cambria Math" panose="02040503050406030204" pitchFamily="18" charset="0"/>
                      </a:rPr>
                      <m:t>𝐴</m:t>
                    </m:r>
                    <m:r>
                      <a:rPr lang="en-US" sz="1500" i="1" kern="1200" smtClean="0">
                        <a:solidFill>
                          <a:srgbClr val="0070C0"/>
                        </a:solidFill>
                        <a:latin typeface="Cambria Math" panose="02040503050406030204" pitchFamily="18" charset="0"/>
                      </a:rPr>
                      <m:t>=</m:t>
                    </m:r>
                    <m:d>
                      <m:dPr>
                        <m:begChr m:val="["/>
                        <m:endChr m:val="]"/>
                        <m:ctrlPr>
                          <a:rPr lang="en-US" sz="1500" i="1" kern="1200">
                            <a:solidFill>
                              <a:srgbClr val="0070C0"/>
                            </a:solidFill>
                            <a:latin typeface="Cambria Math" panose="02040503050406030204" pitchFamily="18" charset="0"/>
                          </a:rPr>
                        </m:ctrlPr>
                      </m:dPr>
                      <m:e>
                        <m:m>
                          <m:mPr>
                            <m:mcs>
                              <m:mc>
                                <m:mcPr>
                                  <m:count m:val="3"/>
                                  <m:mcJc m:val="center"/>
                                </m:mcPr>
                              </m:mc>
                            </m:mcs>
                            <m:ctrlPr>
                              <a:rPr lang="en-US" sz="1500" i="1" kern="1200">
                                <a:solidFill>
                                  <a:srgbClr val="0070C0"/>
                                </a:solidFill>
                                <a:latin typeface="Cambria Math" panose="02040503050406030204" pitchFamily="18" charset="0"/>
                              </a:rPr>
                            </m:ctrlPr>
                          </m:mPr>
                          <m:mr>
                            <m:e>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𝐴</m:t>
                                  </m:r>
                                </m:e>
                                <m:sub>
                                  <m:r>
                                    <a:rPr lang="en-US" sz="1500" i="1" kern="1200">
                                      <a:solidFill>
                                        <a:srgbClr val="0070C0"/>
                                      </a:solidFill>
                                      <a:latin typeface="Cambria Math" panose="02040503050406030204" pitchFamily="18" charset="0"/>
                                    </a:rPr>
                                    <m:t>11</m:t>
                                  </m:r>
                                </m:sub>
                              </m:sSub>
                            </m:e>
                            <m:e>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𝐴</m:t>
                                  </m:r>
                                </m:e>
                                <m:sub>
                                  <m:r>
                                    <a:rPr lang="en-US" sz="1500" i="1" kern="1200">
                                      <a:solidFill>
                                        <a:srgbClr val="0070C0"/>
                                      </a:solidFill>
                                      <a:latin typeface="Cambria Math" panose="02040503050406030204" pitchFamily="18" charset="0"/>
                                    </a:rPr>
                                    <m:t>12</m:t>
                                  </m:r>
                                </m:sub>
                              </m:sSub>
                            </m:e>
                            <m:e>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𝐴</m:t>
                                  </m:r>
                                </m:e>
                                <m:sub>
                                  <m:r>
                                    <a:rPr lang="en-US" sz="1500" i="1" kern="1200">
                                      <a:solidFill>
                                        <a:srgbClr val="0070C0"/>
                                      </a:solidFill>
                                      <a:latin typeface="Cambria Math" panose="02040503050406030204" pitchFamily="18" charset="0"/>
                                    </a:rPr>
                                    <m:t>13</m:t>
                                  </m:r>
                                </m:sub>
                              </m:sSub>
                            </m:e>
                          </m:mr>
                          <m:mr>
                            <m:e>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𝐴</m:t>
                                  </m:r>
                                </m:e>
                                <m:sub>
                                  <m:r>
                                    <a:rPr lang="en-US" sz="1500" i="1" kern="1200">
                                      <a:solidFill>
                                        <a:srgbClr val="0070C0"/>
                                      </a:solidFill>
                                      <a:latin typeface="Cambria Math" panose="02040503050406030204" pitchFamily="18" charset="0"/>
                                    </a:rPr>
                                    <m:t>21</m:t>
                                  </m:r>
                                </m:sub>
                              </m:sSub>
                            </m:e>
                            <m:e>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𝐴</m:t>
                                  </m:r>
                                </m:e>
                                <m:sub>
                                  <m:r>
                                    <a:rPr lang="en-US" sz="1500" i="1" kern="1200">
                                      <a:solidFill>
                                        <a:srgbClr val="0070C0"/>
                                      </a:solidFill>
                                      <a:latin typeface="Cambria Math" panose="02040503050406030204" pitchFamily="18" charset="0"/>
                                    </a:rPr>
                                    <m:t>22</m:t>
                                  </m:r>
                                </m:sub>
                              </m:sSub>
                            </m:e>
                            <m:e>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𝐴</m:t>
                                  </m:r>
                                </m:e>
                                <m:sub>
                                  <m:r>
                                    <a:rPr lang="en-US" sz="1500" i="1" kern="1200">
                                      <a:solidFill>
                                        <a:srgbClr val="0070C0"/>
                                      </a:solidFill>
                                      <a:latin typeface="Cambria Math" panose="02040503050406030204" pitchFamily="18" charset="0"/>
                                    </a:rPr>
                                    <m:t>23</m:t>
                                  </m:r>
                                </m:sub>
                              </m:sSub>
                            </m:e>
                          </m:mr>
                        </m:m>
                      </m:e>
                    </m:d>
                  </m:oMath>
                </a14:m>
                <a:r>
                  <a:rPr lang="en-US" sz="1500" kern="1200" dirty="0">
                    <a:solidFill>
                      <a:srgbClr val="0070C0"/>
                    </a:solidFill>
                    <a:latin typeface="Arial"/>
                  </a:rPr>
                  <a:t> and </a:t>
                </a:r>
                <a14:m>
                  <m:oMath xmlns:m="http://schemas.openxmlformats.org/officeDocument/2006/math">
                    <m:r>
                      <a:rPr lang="en-US" sz="1500" i="1" kern="1200">
                        <a:solidFill>
                          <a:srgbClr val="0070C0"/>
                        </a:solidFill>
                        <a:latin typeface="Cambria Math" panose="02040503050406030204" pitchFamily="18" charset="0"/>
                      </a:rPr>
                      <m:t>𝐵</m:t>
                    </m:r>
                    <m:r>
                      <a:rPr lang="en-US" sz="1500" i="1" kern="1200">
                        <a:solidFill>
                          <a:srgbClr val="0070C0"/>
                        </a:solidFill>
                        <a:latin typeface="Cambria Math" panose="02040503050406030204" pitchFamily="18" charset="0"/>
                      </a:rPr>
                      <m:t>=</m:t>
                    </m:r>
                    <m:d>
                      <m:dPr>
                        <m:begChr m:val="["/>
                        <m:endChr m:val="]"/>
                        <m:ctrlPr>
                          <a:rPr lang="en-US" sz="1500" i="1" kern="1200">
                            <a:solidFill>
                              <a:srgbClr val="0070C0"/>
                            </a:solidFill>
                            <a:latin typeface="Cambria Math" panose="02040503050406030204" pitchFamily="18" charset="0"/>
                          </a:rPr>
                        </m:ctrlPr>
                      </m:dPr>
                      <m:e>
                        <m:m>
                          <m:mPr>
                            <m:mcs>
                              <m:mc>
                                <m:mcPr>
                                  <m:count m:val="2"/>
                                  <m:mcJc m:val="center"/>
                                </m:mcPr>
                              </m:mc>
                            </m:mcs>
                            <m:ctrlPr>
                              <a:rPr lang="en-US" sz="1500" i="1" kern="1200">
                                <a:solidFill>
                                  <a:srgbClr val="0070C0"/>
                                </a:solidFill>
                                <a:latin typeface="Cambria Math" panose="02040503050406030204" pitchFamily="18" charset="0"/>
                              </a:rPr>
                            </m:ctrlPr>
                          </m:mPr>
                          <m:mr>
                            <m:e>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𝐵</m:t>
                                  </m:r>
                                </m:e>
                                <m:sub>
                                  <m:r>
                                    <a:rPr lang="en-US" sz="1500" i="1" kern="1200">
                                      <a:solidFill>
                                        <a:srgbClr val="0070C0"/>
                                      </a:solidFill>
                                      <a:latin typeface="Cambria Math" panose="02040503050406030204" pitchFamily="18" charset="0"/>
                                    </a:rPr>
                                    <m:t>11</m:t>
                                  </m:r>
                                </m:sub>
                              </m:sSub>
                            </m:e>
                            <m:e>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𝐵</m:t>
                                  </m:r>
                                </m:e>
                                <m:sub>
                                  <m:r>
                                    <a:rPr lang="en-US" sz="1500" i="1" kern="1200">
                                      <a:solidFill>
                                        <a:srgbClr val="0070C0"/>
                                      </a:solidFill>
                                      <a:latin typeface="Cambria Math" panose="02040503050406030204" pitchFamily="18" charset="0"/>
                                    </a:rPr>
                                    <m:t>12</m:t>
                                  </m:r>
                                </m:sub>
                              </m:sSub>
                            </m:e>
                          </m:mr>
                          <m:mr>
                            <m:e>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𝐵</m:t>
                                  </m:r>
                                </m:e>
                                <m:sub>
                                  <m:r>
                                    <a:rPr lang="en-US" sz="1500" i="1" kern="1200">
                                      <a:solidFill>
                                        <a:srgbClr val="0070C0"/>
                                      </a:solidFill>
                                      <a:latin typeface="Cambria Math" panose="02040503050406030204" pitchFamily="18" charset="0"/>
                                    </a:rPr>
                                    <m:t>21</m:t>
                                  </m:r>
                                </m:sub>
                              </m:sSub>
                            </m:e>
                            <m:e>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𝐵</m:t>
                                  </m:r>
                                </m:e>
                                <m:sub>
                                  <m:r>
                                    <a:rPr lang="en-US" sz="1500" i="1" kern="1200">
                                      <a:solidFill>
                                        <a:srgbClr val="0070C0"/>
                                      </a:solidFill>
                                      <a:latin typeface="Cambria Math" panose="02040503050406030204" pitchFamily="18" charset="0"/>
                                    </a:rPr>
                                    <m:t>22</m:t>
                                  </m:r>
                                </m:sub>
                              </m:sSub>
                            </m:e>
                          </m:mr>
                          <m:mr>
                            <m:e>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𝐵</m:t>
                                  </m:r>
                                </m:e>
                                <m:sub>
                                  <m:r>
                                    <a:rPr lang="en-US" sz="1500" i="1" kern="1200">
                                      <a:solidFill>
                                        <a:srgbClr val="0070C0"/>
                                      </a:solidFill>
                                      <a:latin typeface="Cambria Math" panose="02040503050406030204" pitchFamily="18" charset="0"/>
                                    </a:rPr>
                                    <m:t>31</m:t>
                                  </m:r>
                                </m:sub>
                              </m:sSub>
                            </m:e>
                            <m:e>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𝐵</m:t>
                                  </m:r>
                                </m:e>
                                <m:sub>
                                  <m:r>
                                    <a:rPr lang="en-US" sz="1500" i="1" kern="1200">
                                      <a:solidFill>
                                        <a:srgbClr val="0070C0"/>
                                      </a:solidFill>
                                      <a:latin typeface="Cambria Math" panose="02040503050406030204" pitchFamily="18" charset="0"/>
                                    </a:rPr>
                                    <m:t>32</m:t>
                                  </m:r>
                                </m:sub>
                              </m:sSub>
                            </m:e>
                          </m:mr>
                        </m:m>
                      </m:e>
                    </m:d>
                  </m:oMath>
                </a14:m>
                <a:endParaRPr lang="en-US" sz="1500" kern="1200" dirty="0">
                  <a:solidFill>
                    <a:srgbClr val="0070C0"/>
                  </a:solidFill>
                  <a:latin typeface="Arial"/>
                </a:endParaRPr>
              </a:p>
              <a:p>
                <a:pPr algn="ctr" defTabSz="685800">
                  <a:buClrTx/>
                </a:pPr>
                <a:endParaRPr lang="en-US" sz="1500" kern="1200" dirty="0">
                  <a:solidFill>
                    <a:srgbClr val="0070C0"/>
                  </a:solidFill>
                  <a:latin typeface="Arial"/>
                </a:endParaRPr>
              </a:p>
              <a:p>
                <a:pPr algn="ctr" defTabSz="685800">
                  <a:buClrTx/>
                </a:pPr>
                <a14:m>
                  <m:oMathPara xmlns:m="http://schemas.openxmlformats.org/officeDocument/2006/math">
                    <m:oMathParaPr>
                      <m:jc m:val="centerGroup"/>
                    </m:oMathParaPr>
                    <m:oMath xmlns:m="http://schemas.openxmlformats.org/officeDocument/2006/math">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𝐶</m:t>
                          </m:r>
                        </m:e>
                        <m:sub>
                          <m:r>
                            <a:rPr lang="en-US" sz="1500" i="1" kern="1200">
                              <a:solidFill>
                                <a:srgbClr val="0070C0"/>
                              </a:solidFill>
                              <a:latin typeface="Cambria Math" panose="02040503050406030204" pitchFamily="18" charset="0"/>
                            </a:rPr>
                            <m:t>11</m:t>
                          </m:r>
                        </m:sub>
                      </m:sSub>
                      <m:r>
                        <a:rPr lang="en-US" sz="1500" i="1" kern="1200">
                          <a:solidFill>
                            <a:srgbClr val="0070C0"/>
                          </a:solidFill>
                          <a:latin typeface="Cambria Math" panose="02040503050406030204" pitchFamily="18" charset="0"/>
                        </a:rPr>
                        <m:t>=</m:t>
                      </m:r>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𝐴</m:t>
                          </m:r>
                        </m:e>
                        <m:sub>
                          <m:r>
                            <a:rPr lang="en-US" sz="1500" i="1" kern="1200">
                              <a:solidFill>
                                <a:srgbClr val="0070C0"/>
                              </a:solidFill>
                              <a:latin typeface="Cambria Math" panose="02040503050406030204" pitchFamily="18" charset="0"/>
                            </a:rPr>
                            <m:t>11</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𝐵</m:t>
                          </m:r>
                        </m:e>
                        <m:sub>
                          <m:r>
                            <a:rPr lang="en-US" sz="1500" i="1" kern="1200">
                              <a:solidFill>
                                <a:srgbClr val="0070C0"/>
                              </a:solidFill>
                              <a:latin typeface="Cambria Math" panose="02040503050406030204" pitchFamily="18" charset="0"/>
                              <a:ea typeface="Cambria Math" panose="02040503050406030204" pitchFamily="18" charset="0"/>
                            </a:rPr>
                            <m:t>11</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𝐴</m:t>
                          </m:r>
                        </m:e>
                        <m:sub>
                          <m:r>
                            <a:rPr lang="en-US" sz="1500" i="1" kern="1200">
                              <a:solidFill>
                                <a:srgbClr val="0070C0"/>
                              </a:solidFill>
                              <a:latin typeface="Cambria Math" panose="02040503050406030204" pitchFamily="18" charset="0"/>
                              <a:ea typeface="Cambria Math" panose="02040503050406030204" pitchFamily="18" charset="0"/>
                            </a:rPr>
                            <m:t>12</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𝐵</m:t>
                          </m:r>
                        </m:e>
                        <m:sub>
                          <m:r>
                            <a:rPr lang="en-US" sz="1500" i="1" kern="1200">
                              <a:solidFill>
                                <a:srgbClr val="0070C0"/>
                              </a:solidFill>
                              <a:latin typeface="Cambria Math" panose="02040503050406030204" pitchFamily="18" charset="0"/>
                              <a:ea typeface="Cambria Math" panose="02040503050406030204" pitchFamily="18" charset="0"/>
                            </a:rPr>
                            <m:t>21</m:t>
                          </m:r>
                        </m:sub>
                      </m:sSub>
                      <m:r>
                        <a:rPr lang="en-US" sz="1500"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𝐴</m:t>
                          </m:r>
                        </m:e>
                        <m:sub>
                          <m:r>
                            <a:rPr lang="en-US" sz="1500" i="1" kern="1200">
                              <a:solidFill>
                                <a:srgbClr val="0070C0"/>
                              </a:solidFill>
                              <a:latin typeface="Cambria Math" panose="02040503050406030204" pitchFamily="18" charset="0"/>
                              <a:ea typeface="Cambria Math" panose="02040503050406030204" pitchFamily="18" charset="0"/>
                            </a:rPr>
                            <m:t>13</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𝐵</m:t>
                          </m:r>
                        </m:e>
                        <m:sub>
                          <m:r>
                            <a:rPr lang="en-US" sz="1500" i="1" kern="1200">
                              <a:solidFill>
                                <a:srgbClr val="0070C0"/>
                              </a:solidFill>
                              <a:latin typeface="Cambria Math" panose="02040503050406030204" pitchFamily="18" charset="0"/>
                              <a:ea typeface="Cambria Math" panose="02040503050406030204" pitchFamily="18" charset="0"/>
                            </a:rPr>
                            <m:t>31</m:t>
                          </m:r>
                        </m:sub>
                      </m:sSub>
                    </m:oMath>
                  </m:oMathPara>
                </a14:m>
                <a:endParaRPr lang="en-US" sz="1500" kern="1200" dirty="0">
                  <a:solidFill>
                    <a:srgbClr val="0070C0"/>
                  </a:solidFill>
                  <a:latin typeface="Arial"/>
                </a:endParaRPr>
              </a:p>
              <a:p>
                <a:pPr algn="ctr" defTabSz="685800">
                  <a:buClrTx/>
                </a:pPr>
                <a14:m>
                  <m:oMathPara xmlns:m="http://schemas.openxmlformats.org/officeDocument/2006/math">
                    <m:oMathParaPr>
                      <m:jc m:val="centerGroup"/>
                    </m:oMathParaPr>
                    <m:oMath xmlns:m="http://schemas.openxmlformats.org/officeDocument/2006/math">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𝐶</m:t>
                          </m:r>
                        </m:e>
                        <m:sub>
                          <m:r>
                            <a:rPr lang="en-US" sz="1500" i="1" kern="1200">
                              <a:solidFill>
                                <a:srgbClr val="0070C0"/>
                              </a:solidFill>
                              <a:latin typeface="Cambria Math" panose="02040503050406030204" pitchFamily="18" charset="0"/>
                            </a:rPr>
                            <m:t>12</m:t>
                          </m:r>
                        </m:sub>
                      </m:sSub>
                      <m:r>
                        <a:rPr lang="en-US" sz="1500" i="1" kern="1200">
                          <a:solidFill>
                            <a:srgbClr val="0070C0"/>
                          </a:solidFill>
                          <a:latin typeface="Cambria Math" panose="02040503050406030204" pitchFamily="18" charset="0"/>
                        </a:rPr>
                        <m:t>=</m:t>
                      </m:r>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𝐴</m:t>
                          </m:r>
                        </m:e>
                        <m:sub>
                          <m:r>
                            <a:rPr lang="en-US" sz="1500" i="1" kern="1200">
                              <a:solidFill>
                                <a:srgbClr val="0070C0"/>
                              </a:solidFill>
                              <a:latin typeface="Cambria Math" panose="02040503050406030204" pitchFamily="18" charset="0"/>
                            </a:rPr>
                            <m:t>11</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𝐵</m:t>
                          </m:r>
                        </m:e>
                        <m:sub>
                          <m:r>
                            <a:rPr lang="en-US" sz="1500" i="1" kern="1200">
                              <a:solidFill>
                                <a:srgbClr val="0070C0"/>
                              </a:solidFill>
                              <a:latin typeface="Cambria Math" panose="02040503050406030204" pitchFamily="18" charset="0"/>
                              <a:ea typeface="Cambria Math" panose="02040503050406030204" pitchFamily="18" charset="0"/>
                            </a:rPr>
                            <m:t>12</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𝐴</m:t>
                          </m:r>
                        </m:e>
                        <m:sub>
                          <m:r>
                            <a:rPr lang="en-US" sz="1500" i="1" kern="1200">
                              <a:solidFill>
                                <a:srgbClr val="0070C0"/>
                              </a:solidFill>
                              <a:latin typeface="Cambria Math" panose="02040503050406030204" pitchFamily="18" charset="0"/>
                              <a:ea typeface="Cambria Math" panose="02040503050406030204" pitchFamily="18" charset="0"/>
                            </a:rPr>
                            <m:t>12</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𝐵</m:t>
                          </m:r>
                        </m:e>
                        <m:sub>
                          <m:r>
                            <a:rPr lang="en-US" sz="1500" i="1" kern="1200">
                              <a:solidFill>
                                <a:srgbClr val="0070C0"/>
                              </a:solidFill>
                              <a:latin typeface="Cambria Math" panose="02040503050406030204" pitchFamily="18" charset="0"/>
                              <a:ea typeface="Cambria Math" panose="02040503050406030204" pitchFamily="18" charset="0"/>
                            </a:rPr>
                            <m:t>22</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𝐴</m:t>
                          </m:r>
                        </m:e>
                        <m:sub>
                          <m:r>
                            <a:rPr lang="en-US" sz="1500" i="1" kern="1200">
                              <a:solidFill>
                                <a:srgbClr val="0070C0"/>
                              </a:solidFill>
                              <a:latin typeface="Cambria Math" panose="02040503050406030204" pitchFamily="18" charset="0"/>
                              <a:ea typeface="Cambria Math" panose="02040503050406030204" pitchFamily="18" charset="0"/>
                            </a:rPr>
                            <m:t>13</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𝐵</m:t>
                          </m:r>
                        </m:e>
                        <m:sub>
                          <m:r>
                            <a:rPr lang="en-US" sz="1500" i="1" kern="1200">
                              <a:solidFill>
                                <a:srgbClr val="0070C0"/>
                              </a:solidFill>
                              <a:latin typeface="Cambria Math" panose="02040503050406030204" pitchFamily="18" charset="0"/>
                              <a:ea typeface="Cambria Math" panose="02040503050406030204" pitchFamily="18" charset="0"/>
                            </a:rPr>
                            <m:t>32</m:t>
                          </m:r>
                        </m:sub>
                      </m:sSub>
                    </m:oMath>
                  </m:oMathPara>
                </a14:m>
                <a:endParaRPr lang="en-US" sz="1500" kern="1200" dirty="0">
                  <a:solidFill>
                    <a:srgbClr val="0070C0"/>
                  </a:solidFill>
                  <a:latin typeface="Arial"/>
                </a:endParaRPr>
              </a:p>
              <a:p>
                <a:pPr algn="ctr" defTabSz="685800">
                  <a:buClrTx/>
                </a:pPr>
                <a14:m>
                  <m:oMathPara xmlns:m="http://schemas.openxmlformats.org/officeDocument/2006/math">
                    <m:oMathParaPr>
                      <m:jc m:val="centerGroup"/>
                    </m:oMathParaPr>
                    <m:oMath xmlns:m="http://schemas.openxmlformats.org/officeDocument/2006/math">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𝐶</m:t>
                          </m:r>
                        </m:e>
                        <m:sub>
                          <m:r>
                            <a:rPr lang="en-US" sz="1500" i="1" kern="1200">
                              <a:solidFill>
                                <a:srgbClr val="0070C0"/>
                              </a:solidFill>
                              <a:latin typeface="Cambria Math" panose="02040503050406030204" pitchFamily="18" charset="0"/>
                            </a:rPr>
                            <m:t>21</m:t>
                          </m:r>
                        </m:sub>
                      </m:sSub>
                      <m:r>
                        <a:rPr lang="en-US" sz="1500" i="1" kern="1200">
                          <a:solidFill>
                            <a:srgbClr val="0070C0"/>
                          </a:solidFill>
                          <a:latin typeface="Cambria Math" panose="02040503050406030204" pitchFamily="18" charset="0"/>
                        </a:rPr>
                        <m:t>=</m:t>
                      </m:r>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𝐴</m:t>
                          </m:r>
                        </m:e>
                        <m:sub>
                          <m:r>
                            <a:rPr lang="en-US" sz="1500" i="1" kern="1200">
                              <a:solidFill>
                                <a:srgbClr val="0070C0"/>
                              </a:solidFill>
                              <a:latin typeface="Cambria Math" panose="02040503050406030204" pitchFamily="18" charset="0"/>
                            </a:rPr>
                            <m:t>21</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𝐵</m:t>
                          </m:r>
                        </m:e>
                        <m:sub>
                          <m:r>
                            <a:rPr lang="en-US" sz="1500" i="1" kern="1200">
                              <a:solidFill>
                                <a:srgbClr val="0070C0"/>
                              </a:solidFill>
                              <a:latin typeface="Cambria Math" panose="02040503050406030204" pitchFamily="18" charset="0"/>
                              <a:ea typeface="Cambria Math" panose="02040503050406030204" pitchFamily="18" charset="0"/>
                            </a:rPr>
                            <m:t>11</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𝐴</m:t>
                          </m:r>
                        </m:e>
                        <m:sub>
                          <m:r>
                            <a:rPr lang="en-US" sz="1500" i="1" kern="1200">
                              <a:solidFill>
                                <a:srgbClr val="0070C0"/>
                              </a:solidFill>
                              <a:latin typeface="Cambria Math" panose="02040503050406030204" pitchFamily="18" charset="0"/>
                              <a:ea typeface="Cambria Math" panose="02040503050406030204" pitchFamily="18" charset="0"/>
                            </a:rPr>
                            <m:t>22</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𝐵</m:t>
                          </m:r>
                        </m:e>
                        <m:sub>
                          <m:r>
                            <a:rPr lang="en-US" sz="1500" i="1" kern="1200">
                              <a:solidFill>
                                <a:srgbClr val="0070C0"/>
                              </a:solidFill>
                              <a:latin typeface="Cambria Math" panose="02040503050406030204" pitchFamily="18" charset="0"/>
                              <a:ea typeface="Cambria Math" panose="02040503050406030204" pitchFamily="18" charset="0"/>
                            </a:rPr>
                            <m:t>21</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𝐴</m:t>
                          </m:r>
                        </m:e>
                        <m:sub>
                          <m:r>
                            <a:rPr lang="en-US" sz="1500" i="1" kern="1200">
                              <a:solidFill>
                                <a:srgbClr val="0070C0"/>
                              </a:solidFill>
                              <a:latin typeface="Cambria Math" panose="02040503050406030204" pitchFamily="18" charset="0"/>
                              <a:ea typeface="Cambria Math" panose="02040503050406030204" pitchFamily="18" charset="0"/>
                            </a:rPr>
                            <m:t>23</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𝐵</m:t>
                          </m:r>
                        </m:e>
                        <m:sub>
                          <m:r>
                            <a:rPr lang="en-US" sz="1500" i="1" kern="1200">
                              <a:solidFill>
                                <a:srgbClr val="0070C0"/>
                              </a:solidFill>
                              <a:latin typeface="Cambria Math" panose="02040503050406030204" pitchFamily="18" charset="0"/>
                              <a:ea typeface="Cambria Math" panose="02040503050406030204" pitchFamily="18" charset="0"/>
                            </a:rPr>
                            <m:t>31</m:t>
                          </m:r>
                        </m:sub>
                      </m:sSub>
                    </m:oMath>
                  </m:oMathPara>
                </a14:m>
                <a:endParaRPr lang="en-US" sz="1500" kern="1200" dirty="0">
                  <a:solidFill>
                    <a:srgbClr val="0070C0"/>
                  </a:solidFill>
                  <a:latin typeface="Arial"/>
                </a:endParaRPr>
              </a:p>
              <a:p>
                <a:pPr algn="ctr" defTabSz="685800">
                  <a:buClrTx/>
                </a:pPr>
                <a14:m>
                  <m:oMathPara xmlns:m="http://schemas.openxmlformats.org/officeDocument/2006/math">
                    <m:oMathParaPr>
                      <m:jc m:val="centerGroup"/>
                    </m:oMathParaPr>
                    <m:oMath xmlns:m="http://schemas.openxmlformats.org/officeDocument/2006/math">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𝐶</m:t>
                          </m:r>
                        </m:e>
                        <m:sub>
                          <m:r>
                            <a:rPr lang="en-US" sz="1500" i="1" kern="1200">
                              <a:solidFill>
                                <a:srgbClr val="0070C0"/>
                              </a:solidFill>
                              <a:latin typeface="Cambria Math" panose="02040503050406030204" pitchFamily="18" charset="0"/>
                            </a:rPr>
                            <m:t>22</m:t>
                          </m:r>
                        </m:sub>
                      </m:sSub>
                      <m:r>
                        <a:rPr lang="en-US" sz="1500" i="1" kern="1200">
                          <a:solidFill>
                            <a:srgbClr val="0070C0"/>
                          </a:solidFill>
                          <a:latin typeface="Cambria Math" panose="02040503050406030204" pitchFamily="18" charset="0"/>
                        </a:rPr>
                        <m:t>=</m:t>
                      </m:r>
                      <m:sSub>
                        <m:sSubPr>
                          <m:ctrlPr>
                            <a:rPr lang="en-US" sz="1500" i="1" kern="1200">
                              <a:solidFill>
                                <a:srgbClr val="0070C0"/>
                              </a:solidFill>
                              <a:latin typeface="Cambria Math" panose="02040503050406030204" pitchFamily="18" charset="0"/>
                            </a:rPr>
                          </m:ctrlPr>
                        </m:sSubPr>
                        <m:e>
                          <m:r>
                            <a:rPr lang="en-US" sz="1500" i="1" kern="1200">
                              <a:solidFill>
                                <a:srgbClr val="0070C0"/>
                              </a:solidFill>
                              <a:latin typeface="Cambria Math" panose="02040503050406030204" pitchFamily="18" charset="0"/>
                            </a:rPr>
                            <m:t>𝐴</m:t>
                          </m:r>
                        </m:e>
                        <m:sub>
                          <m:r>
                            <a:rPr lang="en-US" sz="1500" i="1" kern="1200">
                              <a:solidFill>
                                <a:srgbClr val="0070C0"/>
                              </a:solidFill>
                              <a:latin typeface="Cambria Math" panose="02040503050406030204" pitchFamily="18" charset="0"/>
                            </a:rPr>
                            <m:t>21</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𝐵</m:t>
                          </m:r>
                        </m:e>
                        <m:sub>
                          <m:r>
                            <a:rPr lang="en-US" sz="1500" i="1" kern="1200">
                              <a:solidFill>
                                <a:srgbClr val="0070C0"/>
                              </a:solidFill>
                              <a:latin typeface="Cambria Math" panose="02040503050406030204" pitchFamily="18" charset="0"/>
                              <a:ea typeface="Cambria Math" panose="02040503050406030204" pitchFamily="18" charset="0"/>
                            </a:rPr>
                            <m:t>12</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𝐴</m:t>
                          </m:r>
                        </m:e>
                        <m:sub>
                          <m:r>
                            <a:rPr lang="en-US" sz="1500" i="1" kern="1200">
                              <a:solidFill>
                                <a:srgbClr val="0070C0"/>
                              </a:solidFill>
                              <a:latin typeface="Cambria Math" panose="02040503050406030204" pitchFamily="18" charset="0"/>
                              <a:ea typeface="Cambria Math" panose="02040503050406030204" pitchFamily="18" charset="0"/>
                            </a:rPr>
                            <m:t>22</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𝐵</m:t>
                          </m:r>
                        </m:e>
                        <m:sub>
                          <m:r>
                            <a:rPr lang="en-US" sz="1500" i="1" kern="1200">
                              <a:solidFill>
                                <a:srgbClr val="0070C0"/>
                              </a:solidFill>
                              <a:latin typeface="Cambria Math" panose="02040503050406030204" pitchFamily="18" charset="0"/>
                              <a:ea typeface="Cambria Math" panose="02040503050406030204" pitchFamily="18" charset="0"/>
                            </a:rPr>
                            <m:t>22</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𝐴</m:t>
                          </m:r>
                        </m:e>
                        <m:sub>
                          <m:r>
                            <a:rPr lang="en-US" sz="1500" i="1" kern="1200">
                              <a:solidFill>
                                <a:srgbClr val="0070C0"/>
                              </a:solidFill>
                              <a:latin typeface="Cambria Math" panose="02040503050406030204" pitchFamily="18" charset="0"/>
                              <a:ea typeface="Cambria Math" panose="02040503050406030204" pitchFamily="18" charset="0"/>
                            </a:rPr>
                            <m:t>23</m:t>
                          </m:r>
                        </m:sub>
                      </m:sSub>
                      <m:r>
                        <a:rPr lang="en-US" sz="1500" i="1" kern="1200">
                          <a:solidFill>
                            <a:srgbClr val="0070C0"/>
                          </a:solidFill>
                          <a:latin typeface="Cambria Math" panose="02040503050406030204" pitchFamily="18" charset="0"/>
                          <a:ea typeface="Cambria Math" panose="02040503050406030204" pitchFamily="18" charset="0"/>
                        </a:rPr>
                        <m:t>∙</m:t>
                      </m:r>
                      <m:sSub>
                        <m:sSubPr>
                          <m:ctrlPr>
                            <a:rPr lang="en-US" sz="1500" i="1" kern="1200">
                              <a:solidFill>
                                <a:srgbClr val="0070C0"/>
                              </a:solidFill>
                              <a:latin typeface="Cambria Math" panose="02040503050406030204" pitchFamily="18" charset="0"/>
                              <a:ea typeface="Cambria Math" panose="02040503050406030204" pitchFamily="18" charset="0"/>
                            </a:rPr>
                          </m:ctrlPr>
                        </m:sSubPr>
                        <m:e>
                          <m:r>
                            <a:rPr lang="en-US" sz="1500" i="1" kern="1200">
                              <a:solidFill>
                                <a:srgbClr val="0070C0"/>
                              </a:solidFill>
                              <a:latin typeface="Cambria Math" panose="02040503050406030204" pitchFamily="18" charset="0"/>
                              <a:ea typeface="Cambria Math" panose="02040503050406030204" pitchFamily="18" charset="0"/>
                            </a:rPr>
                            <m:t>𝐵</m:t>
                          </m:r>
                        </m:e>
                        <m:sub>
                          <m:r>
                            <a:rPr lang="en-US" sz="1500" i="1" kern="1200">
                              <a:solidFill>
                                <a:srgbClr val="0070C0"/>
                              </a:solidFill>
                              <a:latin typeface="Cambria Math" panose="02040503050406030204" pitchFamily="18" charset="0"/>
                              <a:ea typeface="Cambria Math" panose="02040503050406030204" pitchFamily="18" charset="0"/>
                            </a:rPr>
                            <m:t>32</m:t>
                          </m:r>
                        </m:sub>
                      </m:sSub>
                    </m:oMath>
                  </m:oMathPara>
                </a14:m>
                <a:endParaRPr lang="en-US" sz="1500" kern="1200" dirty="0">
                  <a:solidFill>
                    <a:srgbClr val="0070C0"/>
                  </a:solidFill>
                  <a:latin typeface="Arial"/>
                  <a:ea typeface="Cambria Math" panose="020405030504060302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1865709" y="2812279"/>
                <a:ext cx="4480854" cy="2028009"/>
              </a:xfrm>
              <a:prstGeom prst="rect">
                <a:avLst/>
              </a:prstGeom>
              <a:blipFill>
                <a:blip r:embed="rId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3872444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Matrix Chain Multiplication </a:t>
            </a:r>
          </a:p>
        </p:txBody>
      </p:sp>
      <p:sp>
        <p:nvSpPr>
          <p:cNvPr id="6" name="TextBox 5">
            <a:extLst>
              <a:ext uri="{FF2B5EF4-FFF2-40B4-BE49-F238E27FC236}">
                <a16:creationId xmlns:a16="http://schemas.microsoft.com/office/drawing/2014/main" id="{7F1801B8-6CE4-9F5A-4557-B2ACADC34153}"/>
              </a:ext>
            </a:extLst>
          </p:cNvPr>
          <p:cNvSpPr txBox="1"/>
          <p:nvPr/>
        </p:nvSpPr>
        <p:spPr>
          <a:xfrm>
            <a:off x="285124" y="815646"/>
            <a:ext cx="8460291" cy="4016484"/>
          </a:xfrm>
          <a:prstGeom prst="rect">
            <a:avLst/>
          </a:prstGeom>
          <a:noFill/>
        </p:spPr>
        <p:txBody>
          <a:bodyPr wrap="square">
            <a:spAutoFit/>
          </a:bodyPr>
          <a:lstStyle/>
          <a:p>
            <a:pPr marL="324000" lvl="0" indent="-243000" defTabSz="914378">
              <a:lnSpc>
                <a:spcPct val="150000"/>
              </a:lnSpc>
              <a:spcBef>
                <a:spcPts val="1200"/>
              </a:spcBef>
              <a:spcAft>
                <a:spcPts val="600"/>
              </a:spcAft>
              <a:buSzPct val="45000"/>
              <a:buFont typeface="Wingdings" charset="2"/>
              <a:buChar char=""/>
              <a:defRPr/>
            </a:pPr>
            <a:r>
              <a:rPr lang="en-US" sz="2000" kern="1200" dirty="0">
                <a:solidFill>
                  <a:prstClr val="black"/>
                </a:solidFill>
                <a:latin typeface="Trebuchet MS" panose="020B0603020202020204" pitchFamily="34" charset="0"/>
              </a:rPr>
              <a:t>Consider a chain of matrices to be multiplied together. For example, we have matrices </a:t>
            </a:r>
            <a:r>
              <a:rPr lang="en-US" sz="2000" kern="1200" dirty="0">
                <a:solidFill>
                  <a:srgbClr val="0070C0"/>
                </a:solidFill>
                <a:latin typeface="Trebuchet MS" panose="020B0603020202020204" pitchFamily="34" charset="0"/>
              </a:rPr>
              <a:t>A, B, C, and D. </a:t>
            </a:r>
            <a:endParaRPr lang="en-US" sz="2000" kern="1200" dirty="0" smtClean="0">
              <a:solidFill>
                <a:srgbClr val="0070C0"/>
              </a:solidFill>
              <a:latin typeface="Trebuchet MS" panose="020B0603020202020204" pitchFamily="34" charset="0"/>
            </a:endParaRPr>
          </a:p>
          <a:p>
            <a:pPr marL="324000" lvl="0" indent="-243000" defTabSz="914378">
              <a:lnSpc>
                <a:spcPct val="150000"/>
              </a:lnSpc>
              <a:spcBef>
                <a:spcPts val="1200"/>
              </a:spcBef>
              <a:spcAft>
                <a:spcPts val="600"/>
              </a:spcAft>
              <a:buSzPct val="45000"/>
              <a:buFont typeface="Wingdings" charset="2"/>
              <a:buChar char=""/>
              <a:defRPr/>
            </a:pPr>
            <a:r>
              <a:rPr lang="en-US" sz="2000" kern="1200" dirty="0" smtClean="0">
                <a:solidFill>
                  <a:prstClr val="black"/>
                </a:solidFill>
                <a:latin typeface="Trebuchet MS" panose="020B0603020202020204" pitchFamily="34" charset="0"/>
              </a:rPr>
              <a:t>The </a:t>
            </a:r>
            <a:r>
              <a:rPr lang="en-US" sz="2000" kern="1200" dirty="0">
                <a:solidFill>
                  <a:srgbClr val="0070C0"/>
                </a:solidFill>
                <a:latin typeface="Trebuchet MS" panose="020B0603020202020204" pitchFamily="34" charset="0"/>
              </a:rPr>
              <a:t>goal</a:t>
            </a:r>
            <a:r>
              <a:rPr lang="en-US" sz="2000" kern="1200" dirty="0">
                <a:solidFill>
                  <a:prstClr val="black"/>
                </a:solidFill>
                <a:latin typeface="Trebuchet MS" panose="020B0603020202020204" pitchFamily="34" charset="0"/>
              </a:rPr>
              <a:t> is to find the most efficient order of multiplication that </a:t>
            </a:r>
            <a:r>
              <a:rPr lang="en-US" sz="2000" kern="1200" dirty="0">
                <a:solidFill>
                  <a:srgbClr val="0070C0"/>
                </a:solidFill>
                <a:latin typeface="Trebuchet MS" panose="020B0603020202020204" pitchFamily="34" charset="0"/>
              </a:rPr>
              <a:t>minimizes the total number of scalar multiplications </a:t>
            </a:r>
            <a:r>
              <a:rPr lang="en-US" sz="2000" kern="1200" dirty="0">
                <a:solidFill>
                  <a:prstClr val="black"/>
                </a:solidFill>
                <a:latin typeface="Trebuchet MS" panose="020B0603020202020204" pitchFamily="34" charset="0"/>
              </a:rPr>
              <a:t>required. </a:t>
            </a:r>
            <a:endParaRPr lang="en-US" sz="2000" kern="1200" dirty="0" smtClean="0">
              <a:solidFill>
                <a:prstClr val="black"/>
              </a:solidFill>
              <a:latin typeface="Trebuchet MS" panose="020B0603020202020204" pitchFamily="34" charset="0"/>
            </a:endParaRPr>
          </a:p>
          <a:p>
            <a:pPr marL="324000" lvl="0" indent="-243000" defTabSz="914378">
              <a:lnSpc>
                <a:spcPct val="150000"/>
              </a:lnSpc>
              <a:spcBef>
                <a:spcPts val="1200"/>
              </a:spcBef>
              <a:spcAft>
                <a:spcPts val="600"/>
              </a:spcAft>
              <a:buSzPct val="45000"/>
              <a:buFont typeface="Wingdings" charset="2"/>
              <a:buChar char=""/>
              <a:defRPr/>
            </a:pPr>
            <a:r>
              <a:rPr lang="en-US" sz="2000" kern="1200" dirty="0" smtClean="0">
                <a:solidFill>
                  <a:prstClr val="black"/>
                </a:solidFill>
                <a:latin typeface="Trebuchet MS" panose="020B0603020202020204" pitchFamily="34" charset="0"/>
              </a:rPr>
              <a:t>In </a:t>
            </a:r>
            <a:r>
              <a:rPr lang="en-US" sz="2000" kern="1200" dirty="0">
                <a:solidFill>
                  <a:prstClr val="black"/>
                </a:solidFill>
                <a:latin typeface="Trebuchet MS" panose="020B0603020202020204" pitchFamily="34" charset="0"/>
              </a:rPr>
              <a:t>this case, we can multiply them in different orders: </a:t>
            </a:r>
            <a:r>
              <a:rPr lang="en-US" sz="2000" kern="1200" dirty="0">
                <a:solidFill>
                  <a:srgbClr val="0070C0"/>
                </a:solidFill>
                <a:latin typeface="Trebuchet MS" panose="020B0603020202020204" pitchFamily="34" charset="0"/>
              </a:rPr>
              <a:t>((AB)C)D</a:t>
            </a:r>
            <a:r>
              <a:rPr lang="en-US" sz="2000" kern="1200" dirty="0">
                <a:solidFill>
                  <a:prstClr val="black"/>
                </a:solidFill>
                <a:latin typeface="Trebuchet MS" panose="020B0603020202020204" pitchFamily="34" charset="0"/>
              </a:rPr>
              <a:t>, </a:t>
            </a:r>
            <a:r>
              <a:rPr lang="en-US" sz="2000" kern="1200" dirty="0">
                <a:solidFill>
                  <a:srgbClr val="0070C0"/>
                </a:solidFill>
                <a:latin typeface="Trebuchet MS" panose="020B0603020202020204" pitchFamily="34" charset="0"/>
              </a:rPr>
              <a:t>(A(BC))D</a:t>
            </a:r>
            <a:r>
              <a:rPr lang="en-US" sz="2000" kern="1200" dirty="0">
                <a:solidFill>
                  <a:prstClr val="black"/>
                </a:solidFill>
                <a:latin typeface="Trebuchet MS" panose="020B0603020202020204" pitchFamily="34" charset="0"/>
              </a:rPr>
              <a:t>, or </a:t>
            </a:r>
            <a:r>
              <a:rPr lang="en-US" sz="2000" kern="1200" dirty="0">
                <a:solidFill>
                  <a:srgbClr val="0070C0"/>
                </a:solidFill>
                <a:latin typeface="Trebuchet MS" panose="020B0603020202020204" pitchFamily="34" charset="0"/>
              </a:rPr>
              <a:t>A((BC)D). </a:t>
            </a:r>
            <a:endParaRPr lang="en-US" sz="2000" kern="1200" dirty="0" smtClean="0">
              <a:solidFill>
                <a:srgbClr val="0070C0"/>
              </a:solidFill>
              <a:latin typeface="Trebuchet MS" panose="020B0603020202020204" pitchFamily="34" charset="0"/>
            </a:endParaRPr>
          </a:p>
          <a:p>
            <a:pPr marL="324000" lvl="0" indent="-243000" defTabSz="914378">
              <a:lnSpc>
                <a:spcPct val="150000"/>
              </a:lnSpc>
              <a:spcBef>
                <a:spcPts val="1200"/>
              </a:spcBef>
              <a:spcAft>
                <a:spcPts val="600"/>
              </a:spcAft>
              <a:buSzPct val="45000"/>
              <a:buFont typeface="Wingdings" charset="2"/>
              <a:buChar char=""/>
              <a:defRPr/>
            </a:pPr>
            <a:r>
              <a:rPr lang="en-US" sz="2000" kern="1200" dirty="0" smtClean="0">
                <a:solidFill>
                  <a:prstClr val="black"/>
                </a:solidFill>
                <a:latin typeface="Trebuchet MS" panose="020B0603020202020204" pitchFamily="34" charset="0"/>
              </a:rPr>
              <a:t>The </a:t>
            </a:r>
            <a:r>
              <a:rPr lang="en-US" sz="2000" kern="1200" dirty="0">
                <a:solidFill>
                  <a:prstClr val="black"/>
                </a:solidFill>
                <a:latin typeface="Trebuchet MS" panose="020B0603020202020204" pitchFamily="34" charset="0"/>
              </a:rPr>
              <a:t>Matrix Chain Algorithm helps us determine the optimal order.</a:t>
            </a:r>
            <a:endParaRPr kumimoji="0" lang="en-US" sz="2000" b="0" i="0" u="none" strike="noStrike" kern="1200" cap="none" spc="0" normalizeH="0" baseline="0" noProof="0" dirty="0">
              <a:ln>
                <a:noFill/>
              </a:ln>
              <a:solidFill>
                <a:prstClr val="black"/>
              </a:solidFill>
              <a:effectLst/>
              <a:uLnTx/>
              <a:uFillTx/>
              <a:latin typeface="Trebuchet MS" panose="020B0603020202020204" pitchFamily="34" charset="0"/>
            </a:endParaRPr>
          </a:p>
        </p:txBody>
      </p:sp>
    </p:spTree>
    <p:extLst>
      <p:ext uri="{BB962C8B-B14F-4D97-AF65-F5344CB8AC3E}">
        <p14:creationId xmlns:p14="http://schemas.microsoft.com/office/powerpoint/2010/main" val="997810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85124" y="148588"/>
            <a:ext cx="6590238"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a:t>
            </a:r>
            <a:endParaRPr lang="en-IN" sz="2800" b="1" dirty="0">
              <a:solidFill>
                <a:schemeClr val="bg1"/>
              </a:solidFill>
              <a:latin typeface="Corbel" panose="020B0503020204020204" pitchFamily="34" charset="0"/>
            </a:endParaRPr>
          </a:p>
        </p:txBody>
      </p:sp>
      <p:sp>
        <p:nvSpPr>
          <p:cNvPr id="2" name="Rectangle 1"/>
          <p:cNvSpPr/>
          <p:nvPr/>
        </p:nvSpPr>
        <p:spPr>
          <a:xfrm>
            <a:off x="194623" y="782680"/>
            <a:ext cx="8754704" cy="4093428"/>
          </a:xfrm>
          <a:prstGeom prst="rect">
            <a:avLst/>
          </a:prstGeom>
        </p:spPr>
        <p:txBody>
          <a:bodyPr wrap="square">
            <a:spAutoFit/>
          </a:bodyPr>
          <a:lstStyle/>
          <a:p>
            <a:pPr marL="342900" indent="-342900" fontAlgn="base">
              <a:buFont typeface="Arial" panose="020B0604020202020204" pitchFamily="34" charset="0"/>
              <a:buChar char="•"/>
            </a:pPr>
            <a:r>
              <a:rPr lang="en-US" sz="2000" dirty="0">
                <a:solidFill>
                  <a:schemeClr val="tx1"/>
                </a:solidFill>
                <a:latin typeface="Trebuchet MS" panose="020B0603020202020204" pitchFamily="34" charset="0"/>
              </a:rPr>
              <a:t>Suppose dimension of </a:t>
            </a:r>
            <a:r>
              <a:rPr lang="en-US" sz="2000" dirty="0">
                <a:solidFill>
                  <a:srgbClr val="0070C0"/>
                </a:solidFill>
                <a:latin typeface="Trebuchet MS" panose="020B0603020202020204" pitchFamily="34" charset="0"/>
              </a:rPr>
              <a:t>three matrices </a:t>
            </a:r>
            <a:r>
              <a:rPr lang="en-US" sz="2000" dirty="0">
                <a:solidFill>
                  <a:schemeClr val="tx1"/>
                </a:solidFill>
                <a:latin typeface="Trebuchet MS" panose="020B0603020202020204" pitchFamily="34" charset="0"/>
              </a:rPr>
              <a:t>are :</a:t>
            </a:r>
          </a:p>
          <a:p>
            <a:pPr fontAlgn="base"/>
            <a:r>
              <a:rPr lang="en-US" sz="2000" dirty="0" smtClean="0">
                <a:solidFill>
                  <a:schemeClr val="tx1"/>
                </a:solidFill>
                <a:latin typeface="Trebuchet MS" panose="020B0603020202020204" pitchFamily="34" charset="0"/>
              </a:rPr>
              <a:t>	</a:t>
            </a:r>
            <a:r>
              <a:rPr lang="en-US" sz="2000" dirty="0" smtClean="0">
                <a:solidFill>
                  <a:srgbClr val="0070C0"/>
                </a:solidFill>
                <a:latin typeface="Trebuchet MS" panose="020B0603020202020204" pitchFamily="34" charset="0"/>
              </a:rPr>
              <a:t>A</a:t>
            </a:r>
            <a:r>
              <a:rPr lang="en-US" sz="2000" baseline="-25000" dirty="0" smtClean="0">
                <a:solidFill>
                  <a:srgbClr val="0070C0"/>
                </a:solidFill>
                <a:latin typeface="Trebuchet MS" panose="020B0603020202020204" pitchFamily="34" charset="0"/>
              </a:rPr>
              <a:t>1</a:t>
            </a:r>
            <a:r>
              <a:rPr lang="en-US" sz="2000" dirty="0">
                <a:solidFill>
                  <a:schemeClr val="tx1"/>
                </a:solidFill>
                <a:latin typeface="Trebuchet MS" panose="020B0603020202020204" pitchFamily="34" charset="0"/>
              </a:rPr>
              <a:t> = 5 x </a:t>
            </a:r>
            <a:r>
              <a:rPr lang="en-US" sz="2000" dirty="0" smtClean="0">
                <a:solidFill>
                  <a:schemeClr val="tx1"/>
                </a:solidFill>
                <a:latin typeface="Trebuchet MS" panose="020B0603020202020204" pitchFamily="34" charset="0"/>
              </a:rPr>
              <a:t>4 	</a:t>
            </a:r>
            <a:r>
              <a:rPr lang="en-US" sz="2000" dirty="0" smtClean="0">
                <a:solidFill>
                  <a:srgbClr val="0070C0"/>
                </a:solidFill>
                <a:latin typeface="Trebuchet MS" panose="020B0603020202020204" pitchFamily="34" charset="0"/>
              </a:rPr>
              <a:t>A</a:t>
            </a:r>
            <a:r>
              <a:rPr lang="en-US" sz="2000" baseline="-25000" dirty="0" smtClean="0">
                <a:solidFill>
                  <a:srgbClr val="0070C0"/>
                </a:solidFill>
                <a:latin typeface="Trebuchet MS" panose="020B0603020202020204" pitchFamily="34" charset="0"/>
              </a:rPr>
              <a:t>2</a:t>
            </a:r>
            <a:r>
              <a:rPr lang="en-US" sz="2000" dirty="0">
                <a:solidFill>
                  <a:schemeClr val="tx1"/>
                </a:solidFill>
                <a:latin typeface="Trebuchet MS" panose="020B0603020202020204" pitchFamily="34" charset="0"/>
              </a:rPr>
              <a:t> = 4 x </a:t>
            </a:r>
            <a:r>
              <a:rPr lang="en-US" sz="2000" dirty="0" smtClean="0">
                <a:solidFill>
                  <a:schemeClr val="tx1"/>
                </a:solidFill>
                <a:latin typeface="Trebuchet MS" panose="020B0603020202020204" pitchFamily="34" charset="0"/>
              </a:rPr>
              <a:t>6 	</a:t>
            </a:r>
            <a:r>
              <a:rPr lang="en-US" sz="2000" dirty="0" smtClean="0">
                <a:solidFill>
                  <a:srgbClr val="0070C0"/>
                </a:solidFill>
                <a:latin typeface="Trebuchet MS" panose="020B0603020202020204" pitchFamily="34" charset="0"/>
              </a:rPr>
              <a:t>A</a:t>
            </a:r>
            <a:r>
              <a:rPr lang="en-US" sz="2000" baseline="-25000" dirty="0" smtClean="0">
                <a:solidFill>
                  <a:srgbClr val="0070C0"/>
                </a:solidFill>
                <a:latin typeface="Trebuchet MS" panose="020B0603020202020204" pitchFamily="34" charset="0"/>
              </a:rPr>
              <a:t>3</a:t>
            </a:r>
            <a:r>
              <a:rPr lang="en-US" sz="2000" dirty="0">
                <a:solidFill>
                  <a:schemeClr val="tx1"/>
                </a:solidFill>
                <a:latin typeface="Trebuchet MS" panose="020B0603020202020204" pitchFamily="34" charset="0"/>
              </a:rPr>
              <a:t> = 6 x 2     </a:t>
            </a:r>
          </a:p>
          <a:p>
            <a:pPr marL="342900" indent="-342900" fontAlgn="base">
              <a:buFont typeface="Arial" panose="020B0604020202020204" pitchFamily="34" charset="0"/>
              <a:buChar char="•"/>
            </a:pPr>
            <a:r>
              <a:rPr lang="en-US" sz="2000" dirty="0">
                <a:solidFill>
                  <a:schemeClr val="tx1"/>
                </a:solidFill>
                <a:latin typeface="Trebuchet MS" panose="020B0603020202020204" pitchFamily="34" charset="0"/>
              </a:rPr>
              <a:t>Matrix multiplication is associative. So</a:t>
            </a:r>
          </a:p>
          <a:p>
            <a:pPr fontAlgn="base"/>
            <a:r>
              <a:rPr lang="en-US" sz="2000" dirty="0" smtClean="0">
                <a:solidFill>
                  <a:schemeClr val="tx1"/>
                </a:solidFill>
                <a:latin typeface="Trebuchet MS" panose="020B0603020202020204" pitchFamily="34" charset="0"/>
              </a:rPr>
              <a:t>	</a:t>
            </a:r>
            <a:r>
              <a:rPr lang="en-US" sz="2000" b="1" dirty="0" smtClean="0">
                <a:solidFill>
                  <a:srgbClr val="0070C0"/>
                </a:solidFill>
                <a:latin typeface="Trebuchet MS" panose="020B0603020202020204" pitchFamily="34" charset="0"/>
              </a:rPr>
              <a:t>(</a:t>
            </a:r>
            <a:r>
              <a:rPr lang="en-US" sz="2000" b="1" dirty="0">
                <a:solidFill>
                  <a:srgbClr val="0070C0"/>
                </a:solidFill>
                <a:latin typeface="Trebuchet MS" panose="020B0603020202020204" pitchFamily="34" charset="0"/>
              </a:rPr>
              <a:t>A</a:t>
            </a:r>
            <a:r>
              <a:rPr lang="en-US" sz="2000" b="1" baseline="-25000" dirty="0">
                <a:solidFill>
                  <a:srgbClr val="0070C0"/>
                </a:solidFill>
                <a:latin typeface="Trebuchet MS" panose="020B0603020202020204" pitchFamily="34" charset="0"/>
              </a:rPr>
              <a:t>1</a:t>
            </a:r>
            <a:r>
              <a:rPr lang="en-US" sz="2000" b="1" dirty="0">
                <a:solidFill>
                  <a:srgbClr val="0070C0"/>
                </a:solidFill>
                <a:latin typeface="Trebuchet MS" panose="020B0603020202020204" pitchFamily="34" charset="0"/>
              </a:rPr>
              <a:t> A</a:t>
            </a:r>
            <a:r>
              <a:rPr lang="en-US" sz="2000" b="1" baseline="-25000" dirty="0">
                <a:solidFill>
                  <a:srgbClr val="0070C0"/>
                </a:solidFill>
                <a:latin typeface="Trebuchet MS" panose="020B0603020202020204" pitchFamily="34" charset="0"/>
              </a:rPr>
              <a:t>2</a:t>
            </a:r>
            <a:r>
              <a:rPr lang="en-US" sz="2000" b="1" dirty="0">
                <a:solidFill>
                  <a:srgbClr val="0070C0"/>
                </a:solidFill>
                <a:latin typeface="Trebuchet MS" panose="020B0603020202020204" pitchFamily="34" charset="0"/>
              </a:rPr>
              <a:t> ) A</a:t>
            </a:r>
            <a:r>
              <a:rPr lang="en-US" sz="2000" b="1" baseline="-25000" dirty="0">
                <a:solidFill>
                  <a:srgbClr val="0070C0"/>
                </a:solidFill>
                <a:latin typeface="Trebuchet MS" panose="020B0603020202020204" pitchFamily="34" charset="0"/>
              </a:rPr>
              <a:t>3</a:t>
            </a:r>
            <a:r>
              <a:rPr lang="en-US" sz="2000" dirty="0">
                <a:solidFill>
                  <a:schemeClr val="tx1"/>
                </a:solidFill>
                <a:latin typeface="Trebuchet MS" panose="020B0603020202020204" pitchFamily="34" charset="0"/>
              </a:rPr>
              <a:t> = {(5 x 4 ) x (4 x 6) } x (6 x 2)</a:t>
            </a:r>
          </a:p>
          <a:p>
            <a:pPr fontAlgn="base"/>
            <a:r>
              <a:rPr lang="en-US" sz="2000" dirty="0" smtClean="0">
                <a:solidFill>
                  <a:schemeClr val="tx1"/>
                </a:solidFill>
                <a:latin typeface="Trebuchet MS" panose="020B0603020202020204" pitchFamily="34" charset="0"/>
              </a:rPr>
              <a:t>		     = </a:t>
            </a:r>
            <a:r>
              <a:rPr lang="en-US" sz="2000" dirty="0">
                <a:solidFill>
                  <a:schemeClr val="tx1"/>
                </a:solidFill>
                <a:latin typeface="Trebuchet MS" panose="020B0603020202020204" pitchFamily="34" charset="0"/>
              </a:rPr>
              <a:t>(5 x 4 x 6) + (5 x 6 x 2)</a:t>
            </a:r>
          </a:p>
          <a:p>
            <a:pPr fontAlgn="base"/>
            <a:r>
              <a:rPr lang="en-US" sz="2000" dirty="0" smtClean="0">
                <a:solidFill>
                  <a:schemeClr val="tx1"/>
                </a:solidFill>
                <a:latin typeface="Trebuchet MS" panose="020B0603020202020204" pitchFamily="34" charset="0"/>
              </a:rPr>
              <a:t>		     = </a:t>
            </a:r>
            <a:r>
              <a:rPr lang="en-US" sz="2000" dirty="0">
                <a:solidFill>
                  <a:schemeClr val="tx1"/>
                </a:solidFill>
                <a:latin typeface="Trebuchet MS" panose="020B0603020202020204" pitchFamily="34" charset="0"/>
              </a:rPr>
              <a:t>180</a:t>
            </a:r>
          </a:p>
          <a:p>
            <a:pPr fontAlgn="base"/>
            <a:r>
              <a:rPr lang="en-US" sz="2000" dirty="0" smtClean="0">
                <a:solidFill>
                  <a:schemeClr val="tx1"/>
                </a:solidFill>
                <a:latin typeface="Trebuchet MS" panose="020B0603020202020204" pitchFamily="34" charset="0"/>
              </a:rPr>
              <a:t>	</a:t>
            </a:r>
            <a:r>
              <a:rPr lang="en-US" sz="2000" b="1" dirty="0" smtClean="0">
                <a:solidFill>
                  <a:srgbClr val="0070C0"/>
                </a:solidFill>
                <a:latin typeface="Trebuchet MS" panose="020B0603020202020204" pitchFamily="34" charset="0"/>
              </a:rPr>
              <a:t>A</a:t>
            </a:r>
            <a:r>
              <a:rPr lang="en-US" sz="2000" b="1" baseline="-25000" dirty="0" smtClean="0">
                <a:solidFill>
                  <a:srgbClr val="0070C0"/>
                </a:solidFill>
                <a:latin typeface="Trebuchet MS" panose="020B0603020202020204" pitchFamily="34" charset="0"/>
              </a:rPr>
              <a:t>1</a:t>
            </a:r>
            <a:r>
              <a:rPr lang="en-US" sz="2000" b="1" dirty="0">
                <a:solidFill>
                  <a:srgbClr val="0070C0"/>
                </a:solidFill>
                <a:latin typeface="Trebuchet MS" panose="020B0603020202020204" pitchFamily="34" charset="0"/>
              </a:rPr>
              <a:t> (A</a:t>
            </a:r>
            <a:r>
              <a:rPr lang="en-US" sz="2000" b="1" baseline="-25000" dirty="0">
                <a:solidFill>
                  <a:srgbClr val="0070C0"/>
                </a:solidFill>
                <a:latin typeface="Trebuchet MS" panose="020B0603020202020204" pitchFamily="34" charset="0"/>
              </a:rPr>
              <a:t>2</a:t>
            </a:r>
            <a:r>
              <a:rPr lang="en-US" sz="2000" b="1" dirty="0">
                <a:solidFill>
                  <a:srgbClr val="0070C0"/>
                </a:solidFill>
                <a:latin typeface="Trebuchet MS" panose="020B0603020202020204" pitchFamily="34" charset="0"/>
              </a:rPr>
              <a:t> A</a:t>
            </a:r>
            <a:r>
              <a:rPr lang="en-US" sz="2000" b="1" baseline="-25000" dirty="0">
                <a:solidFill>
                  <a:srgbClr val="0070C0"/>
                </a:solidFill>
                <a:latin typeface="Trebuchet MS" panose="020B0603020202020204" pitchFamily="34" charset="0"/>
              </a:rPr>
              <a:t>3</a:t>
            </a:r>
            <a:r>
              <a:rPr lang="en-US" sz="2000" b="1" dirty="0">
                <a:solidFill>
                  <a:srgbClr val="0070C0"/>
                </a:solidFill>
                <a:latin typeface="Trebuchet MS" panose="020B0603020202020204" pitchFamily="34" charset="0"/>
              </a:rPr>
              <a:t>)</a:t>
            </a:r>
            <a:r>
              <a:rPr lang="en-US" sz="2000" dirty="0">
                <a:solidFill>
                  <a:srgbClr val="0070C0"/>
                </a:solidFill>
                <a:latin typeface="Trebuchet MS" panose="020B0603020202020204" pitchFamily="34" charset="0"/>
              </a:rPr>
              <a:t> </a:t>
            </a:r>
            <a:r>
              <a:rPr lang="en-US" sz="2000" dirty="0" smtClean="0">
                <a:solidFill>
                  <a:schemeClr val="tx1"/>
                </a:solidFill>
                <a:latin typeface="Trebuchet MS" panose="020B0603020202020204" pitchFamily="34" charset="0"/>
              </a:rPr>
              <a:t> =</a:t>
            </a:r>
            <a:r>
              <a:rPr lang="en-US" sz="2000" dirty="0">
                <a:solidFill>
                  <a:schemeClr val="tx1"/>
                </a:solidFill>
                <a:latin typeface="Trebuchet MS" panose="020B0603020202020204" pitchFamily="34" charset="0"/>
              </a:rPr>
              <a:t> (5 x 4) x {(4 x 6) x (6 x 2) }</a:t>
            </a:r>
          </a:p>
          <a:p>
            <a:pPr fontAlgn="base"/>
            <a:r>
              <a:rPr lang="en-US" sz="2000" dirty="0" smtClean="0">
                <a:solidFill>
                  <a:schemeClr val="tx1"/>
                </a:solidFill>
                <a:latin typeface="Trebuchet MS" panose="020B0603020202020204" pitchFamily="34" charset="0"/>
              </a:rPr>
              <a:t>		     = </a:t>
            </a:r>
            <a:r>
              <a:rPr lang="en-US" sz="2000" dirty="0">
                <a:solidFill>
                  <a:schemeClr val="tx1"/>
                </a:solidFill>
                <a:latin typeface="Trebuchet MS" panose="020B0603020202020204" pitchFamily="34" charset="0"/>
              </a:rPr>
              <a:t>(5 x 4 x 2) + (4 x 6 x 2)</a:t>
            </a:r>
          </a:p>
          <a:p>
            <a:pPr fontAlgn="base"/>
            <a:r>
              <a:rPr lang="en-US" sz="2000" dirty="0" smtClean="0">
                <a:solidFill>
                  <a:schemeClr val="tx1"/>
                </a:solidFill>
                <a:latin typeface="Trebuchet MS" panose="020B0603020202020204" pitchFamily="34" charset="0"/>
              </a:rPr>
              <a:t>	                 = </a:t>
            </a:r>
            <a:r>
              <a:rPr lang="en-US" sz="2000" dirty="0">
                <a:solidFill>
                  <a:schemeClr val="tx1"/>
                </a:solidFill>
                <a:latin typeface="Trebuchet MS" panose="020B0603020202020204" pitchFamily="34" charset="0"/>
              </a:rPr>
              <a:t>88</a:t>
            </a:r>
          </a:p>
          <a:p>
            <a:pPr marL="342900" indent="-342900" fontAlgn="base">
              <a:buFont typeface="Arial" panose="020B0604020202020204" pitchFamily="34" charset="0"/>
              <a:buChar char="•"/>
            </a:pPr>
            <a:r>
              <a:rPr lang="en-US" sz="2000" dirty="0">
                <a:solidFill>
                  <a:schemeClr val="tx1"/>
                </a:solidFill>
                <a:latin typeface="Trebuchet MS" panose="020B0603020202020204" pitchFamily="34" charset="0"/>
              </a:rPr>
              <a:t>The answer of both multiplication sequences would be the same, but the numbers of multiplications are different. </a:t>
            </a:r>
            <a:endParaRPr lang="en-US" sz="2000" dirty="0" smtClean="0">
              <a:solidFill>
                <a:schemeClr val="tx1"/>
              </a:solidFill>
              <a:latin typeface="Trebuchet MS" panose="020B0603020202020204" pitchFamily="34" charset="0"/>
            </a:endParaRPr>
          </a:p>
          <a:p>
            <a:pPr marL="342900" indent="-342900" fontAlgn="base">
              <a:buFont typeface="Arial" panose="020B0604020202020204" pitchFamily="34" charset="0"/>
              <a:buChar char="•"/>
            </a:pPr>
            <a:r>
              <a:rPr lang="en-US" sz="2000" dirty="0" smtClean="0">
                <a:solidFill>
                  <a:schemeClr val="tx1"/>
                </a:solidFill>
                <a:latin typeface="Trebuchet MS" panose="020B0603020202020204" pitchFamily="34" charset="0"/>
              </a:rPr>
              <a:t>This </a:t>
            </a:r>
            <a:r>
              <a:rPr lang="en-US" sz="2000" dirty="0">
                <a:solidFill>
                  <a:schemeClr val="tx1"/>
                </a:solidFill>
                <a:latin typeface="Trebuchet MS" panose="020B0603020202020204" pitchFamily="34" charset="0"/>
              </a:rPr>
              <a:t>leads to the question, what order should be selected for a chain of matrices to minimize the number of </a:t>
            </a:r>
            <a:r>
              <a:rPr lang="en-US" sz="2000" dirty="0" smtClean="0">
                <a:solidFill>
                  <a:schemeClr val="tx1"/>
                </a:solidFill>
                <a:latin typeface="Trebuchet MS" panose="020B0603020202020204" pitchFamily="34" charset="0"/>
              </a:rPr>
              <a:t>multiplications.</a:t>
            </a:r>
            <a:endParaRPr lang="en-US" sz="2000"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11450083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135939" y="148588"/>
            <a:ext cx="7487549"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Algorithm to Solve Matrix Chain Multiplication</a:t>
            </a:r>
          </a:p>
        </p:txBody>
      </p:sp>
      <p:sp>
        <p:nvSpPr>
          <p:cNvPr id="6" name="TextBox 5">
            <a:extLst>
              <a:ext uri="{FF2B5EF4-FFF2-40B4-BE49-F238E27FC236}">
                <a16:creationId xmlns:a16="http://schemas.microsoft.com/office/drawing/2014/main" id="{B794265C-63C6-72AF-7313-0C606319E6F4}"/>
              </a:ext>
            </a:extLst>
          </p:cNvPr>
          <p:cNvSpPr txBox="1"/>
          <p:nvPr/>
        </p:nvSpPr>
        <p:spPr>
          <a:xfrm>
            <a:off x="140677" y="671808"/>
            <a:ext cx="8909538" cy="3785652"/>
          </a:xfrm>
          <a:prstGeom prst="rect">
            <a:avLst/>
          </a:prstGeom>
          <a:noFill/>
        </p:spPr>
        <p:txBody>
          <a:bodyPr wrap="square">
            <a:spAutoFit/>
          </a:bodyPr>
          <a:lstStyle/>
          <a:p>
            <a:pPr fontAlgn="base">
              <a:lnSpc>
                <a:spcPct val="150000"/>
              </a:lnSpc>
            </a:pPr>
            <a:r>
              <a:rPr lang="en-US" sz="2000" dirty="0">
                <a:solidFill>
                  <a:srgbClr val="FF0000"/>
                </a:solidFill>
                <a:latin typeface="Trebuchet MS" panose="020B0603020202020204" pitchFamily="34" charset="0"/>
              </a:rPr>
              <a:t>Let’s break down the steps of the algorithm</a:t>
            </a:r>
            <a:r>
              <a:rPr lang="en-US" sz="2000" dirty="0" smtClean="0">
                <a:solidFill>
                  <a:srgbClr val="FF0000"/>
                </a:solidFill>
                <a:latin typeface="Trebuchet MS" panose="020B0603020202020204" pitchFamily="34" charset="0"/>
              </a:rPr>
              <a:t>:</a:t>
            </a:r>
          </a:p>
          <a:p>
            <a:pPr fontAlgn="base">
              <a:lnSpc>
                <a:spcPct val="150000"/>
              </a:lnSpc>
              <a:buClr>
                <a:srgbClr val="0070C0"/>
              </a:buClr>
            </a:pPr>
            <a:r>
              <a:rPr lang="en-US" sz="2000" dirty="0" smtClean="0">
                <a:solidFill>
                  <a:srgbClr val="0070C0"/>
                </a:solidFill>
                <a:latin typeface="Trebuchet MS" panose="020B0603020202020204" pitchFamily="34" charset="0"/>
              </a:rPr>
              <a:t>1. Define </a:t>
            </a:r>
            <a:r>
              <a:rPr lang="en-US" sz="2000" dirty="0">
                <a:solidFill>
                  <a:srgbClr val="0070C0"/>
                </a:solidFill>
                <a:latin typeface="Trebuchet MS" panose="020B0603020202020204" pitchFamily="34" charset="0"/>
              </a:rPr>
              <a:t>the problem:</a:t>
            </a:r>
          </a:p>
          <a:p>
            <a:pPr marL="706438" indent="-342900" fontAlgn="base">
              <a:lnSpc>
                <a:spcPct val="150000"/>
              </a:lnSpc>
              <a:buFont typeface="Wingdings" panose="05000000000000000000" pitchFamily="2" charset="2"/>
              <a:buChar char="ü"/>
            </a:pPr>
            <a:r>
              <a:rPr lang="en-US" sz="2000" dirty="0">
                <a:solidFill>
                  <a:schemeClr val="tx1"/>
                </a:solidFill>
                <a:latin typeface="Trebuchet MS" panose="020B0603020202020204" pitchFamily="34" charset="0"/>
              </a:rPr>
              <a:t>Given a chain of matrices A1, A2, A3, …, An, where the dimensions of matrix Ai are d[i-1] x d[</a:t>
            </a:r>
            <a:r>
              <a:rPr lang="en-US" sz="2000" dirty="0" err="1">
                <a:solidFill>
                  <a:schemeClr val="tx1"/>
                </a:solidFill>
                <a:latin typeface="Trebuchet MS" panose="020B0603020202020204" pitchFamily="34" charset="0"/>
              </a:rPr>
              <a:t>i</a:t>
            </a:r>
            <a:r>
              <a:rPr lang="en-US" sz="2000" dirty="0">
                <a:solidFill>
                  <a:schemeClr val="tx1"/>
                </a:solidFill>
                <a:latin typeface="Trebuchet MS" panose="020B0603020202020204" pitchFamily="34" charset="0"/>
              </a:rPr>
              <a:t>] for </a:t>
            </a:r>
            <a:r>
              <a:rPr lang="en-US" sz="2000" dirty="0" err="1">
                <a:solidFill>
                  <a:schemeClr val="tx1"/>
                </a:solidFill>
                <a:latin typeface="Trebuchet MS" panose="020B0603020202020204" pitchFamily="34" charset="0"/>
              </a:rPr>
              <a:t>i</a:t>
            </a:r>
            <a:r>
              <a:rPr lang="en-US" sz="2000" dirty="0">
                <a:solidFill>
                  <a:schemeClr val="tx1"/>
                </a:solidFill>
                <a:latin typeface="Trebuchet MS" panose="020B0603020202020204" pitchFamily="34" charset="0"/>
              </a:rPr>
              <a:t> = 1 to n.</a:t>
            </a:r>
          </a:p>
          <a:p>
            <a:pPr marL="706438" indent="-342900" fontAlgn="base">
              <a:lnSpc>
                <a:spcPct val="150000"/>
              </a:lnSpc>
              <a:buFont typeface="Wingdings" panose="05000000000000000000" pitchFamily="2" charset="2"/>
              <a:buChar char="ü"/>
            </a:pPr>
            <a:r>
              <a:rPr lang="en-US" sz="2000" dirty="0">
                <a:solidFill>
                  <a:schemeClr val="tx1"/>
                </a:solidFill>
                <a:latin typeface="Trebuchet MS" panose="020B0603020202020204" pitchFamily="34" charset="0"/>
              </a:rPr>
              <a:t>The goal is to find the optimal order of matrix multiplication to minimize the total number of scalar multiplications.</a:t>
            </a:r>
          </a:p>
          <a:p>
            <a:pPr fontAlgn="base">
              <a:lnSpc>
                <a:spcPct val="150000"/>
              </a:lnSpc>
            </a:pPr>
            <a:r>
              <a:rPr lang="en-US" sz="2000" dirty="0" smtClean="0">
                <a:solidFill>
                  <a:srgbClr val="0070C0"/>
                </a:solidFill>
                <a:latin typeface="Trebuchet MS" panose="020B0603020202020204" pitchFamily="34" charset="0"/>
              </a:rPr>
              <a:t>2. Create </a:t>
            </a:r>
            <a:r>
              <a:rPr lang="en-US" sz="2000" dirty="0">
                <a:solidFill>
                  <a:srgbClr val="0070C0"/>
                </a:solidFill>
                <a:latin typeface="Trebuchet MS" panose="020B0603020202020204" pitchFamily="34" charset="0"/>
              </a:rPr>
              <a:t>a table:</a:t>
            </a:r>
          </a:p>
          <a:p>
            <a:pPr marL="342900" indent="-342900" fontAlgn="base">
              <a:lnSpc>
                <a:spcPct val="150000"/>
              </a:lnSpc>
              <a:buFont typeface="Wingdings" panose="05000000000000000000" pitchFamily="2" charset="2"/>
              <a:buChar char="ü"/>
            </a:pPr>
            <a:r>
              <a:rPr lang="en-US" sz="2000" dirty="0">
                <a:solidFill>
                  <a:schemeClr val="tx1"/>
                </a:solidFill>
                <a:latin typeface="Trebuchet MS" panose="020B0603020202020204" pitchFamily="34" charset="0"/>
              </a:rPr>
              <a:t>Create an n x n table, where n is the number of matrices in the chain</a:t>
            </a:r>
            <a:r>
              <a:rPr lang="en-US" sz="2000" dirty="0" smtClean="0">
                <a:solidFill>
                  <a:schemeClr val="tx1"/>
                </a:solidFill>
                <a:latin typeface="Trebuchet MS" panose="020B0603020202020204" pitchFamily="34" charset="0"/>
              </a:rPr>
              <a:t>.</a:t>
            </a:r>
            <a:endParaRPr lang="en-US" sz="2000"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233340892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135939" y="148588"/>
            <a:ext cx="7487549"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Algorithm to Solve Matrix Chain Multiplication</a:t>
            </a:r>
          </a:p>
        </p:txBody>
      </p:sp>
      <p:sp>
        <p:nvSpPr>
          <p:cNvPr id="6" name="TextBox 5">
            <a:extLst>
              <a:ext uri="{FF2B5EF4-FFF2-40B4-BE49-F238E27FC236}">
                <a16:creationId xmlns:a16="http://schemas.microsoft.com/office/drawing/2014/main" id="{B794265C-63C6-72AF-7313-0C606319E6F4}"/>
              </a:ext>
            </a:extLst>
          </p:cNvPr>
          <p:cNvSpPr txBox="1"/>
          <p:nvPr/>
        </p:nvSpPr>
        <p:spPr>
          <a:xfrm>
            <a:off x="140677" y="671808"/>
            <a:ext cx="8909538" cy="5478423"/>
          </a:xfrm>
          <a:prstGeom prst="rect">
            <a:avLst/>
          </a:prstGeom>
          <a:noFill/>
        </p:spPr>
        <p:txBody>
          <a:bodyPr wrap="square">
            <a:spAutoFit/>
          </a:bodyPr>
          <a:lstStyle/>
          <a:p>
            <a:pPr marL="342900" indent="-342900" fontAlgn="base">
              <a:lnSpc>
                <a:spcPct val="150000"/>
              </a:lnSpc>
              <a:buClr>
                <a:schemeClr val="tx1"/>
              </a:buClr>
              <a:buFont typeface="Wingdings" panose="05000000000000000000" pitchFamily="2" charset="2"/>
              <a:buChar char="ü"/>
            </a:pPr>
            <a:r>
              <a:rPr lang="en-US" sz="2000" dirty="0">
                <a:solidFill>
                  <a:schemeClr val="tx1"/>
                </a:solidFill>
                <a:latin typeface="Trebuchet MS" panose="020B0603020202020204" pitchFamily="34" charset="0"/>
              </a:rPr>
              <a:t>The table, let’s call it M, will store the minimum number of scalar multiplications required to multiply the </a:t>
            </a:r>
            <a:r>
              <a:rPr lang="en-US" sz="2000" dirty="0" err="1">
                <a:solidFill>
                  <a:schemeClr val="tx1"/>
                </a:solidFill>
                <a:latin typeface="Trebuchet MS" panose="020B0603020202020204" pitchFamily="34" charset="0"/>
              </a:rPr>
              <a:t>subchains</a:t>
            </a:r>
            <a:r>
              <a:rPr lang="en-US" sz="2000" dirty="0">
                <a:solidFill>
                  <a:schemeClr val="tx1"/>
                </a:solidFill>
                <a:latin typeface="Trebuchet MS" panose="020B0603020202020204" pitchFamily="34" charset="0"/>
              </a:rPr>
              <a:t> of matrices.</a:t>
            </a:r>
          </a:p>
          <a:p>
            <a:pPr fontAlgn="base">
              <a:lnSpc>
                <a:spcPct val="150000"/>
              </a:lnSpc>
              <a:buClr>
                <a:srgbClr val="0070C0"/>
              </a:buClr>
            </a:pPr>
            <a:r>
              <a:rPr lang="en-US" sz="2000" dirty="0" smtClean="0">
                <a:solidFill>
                  <a:srgbClr val="0070C0"/>
                </a:solidFill>
                <a:latin typeface="Trebuchet MS" panose="020B0603020202020204" pitchFamily="34" charset="0"/>
              </a:rPr>
              <a:t>3. Initialize </a:t>
            </a:r>
            <a:r>
              <a:rPr lang="en-US" sz="2000" dirty="0">
                <a:solidFill>
                  <a:srgbClr val="0070C0"/>
                </a:solidFill>
                <a:latin typeface="Trebuchet MS" panose="020B0603020202020204" pitchFamily="34" charset="0"/>
              </a:rPr>
              <a:t>the table:</a:t>
            </a:r>
          </a:p>
          <a:p>
            <a:pPr marL="342900" indent="-342900" fontAlgn="base">
              <a:lnSpc>
                <a:spcPct val="150000"/>
              </a:lnSpc>
              <a:buClrTx/>
              <a:buFont typeface="Wingdings" panose="05000000000000000000" pitchFamily="2" charset="2"/>
              <a:buChar char="ü"/>
            </a:pPr>
            <a:r>
              <a:rPr lang="en-US" sz="2000" dirty="0">
                <a:solidFill>
                  <a:schemeClr val="tx1"/>
                </a:solidFill>
                <a:latin typeface="Trebuchet MS" panose="020B0603020202020204" pitchFamily="34" charset="0"/>
              </a:rPr>
              <a:t>Set the diagonal entries of M to 0, as the </a:t>
            </a:r>
            <a:r>
              <a:rPr lang="en-US" sz="2000" dirty="0" err="1">
                <a:solidFill>
                  <a:schemeClr val="tx1"/>
                </a:solidFill>
                <a:latin typeface="Trebuchet MS" panose="020B0603020202020204" pitchFamily="34" charset="0"/>
              </a:rPr>
              <a:t>subchains</a:t>
            </a:r>
            <a:r>
              <a:rPr lang="en-US" sz="2000" dirty="0">
                <a:solidFill>
                  <a:schemeClr val="tx1"/>
                </a:solidFill>
                <a:latin typeface="Trebuchet MS" panose="020B0603020202020204" pitchFamily="34" charset="0"/>
              </a:rPr>
              <a:t> of length 1 do not require any multiplication.</a:t>
            </a:r>
          </a:p>
          <a:p>
            <a:pPr fontAlgn="base"/>
            <a:r>
              <a:rPr lang="en-US" sz="2000" dirty="0" smtClean="0">
                <a:solidFill>
                  <a:srgbClr val="0070C0"/>
                </a:solidFill>
                <a:latin typeface="Trebuchet MS" panose="020B0603020202020204" pitchFamily="34" charset="0"/>
              </a:rPr>
              <a:t>4. Fill </a:t>
            </a:r>
            <a:r>
              <a:rPr lang="en-US" sz="2000" dirty="0">
                <a:solidFill>
                  <a:srgbClr val="0070C0"/>
                </a:solidFill>
                <a:latin typeface="Trebuchet MS" panose="020B0603020202020204" pitchFamily="34" charset="0"/>
              </a:rPr>
              <a:t>in the table</a:t>
            </a:r>
            <a:r>
              <a:rPr lang="en-US" dirty="0" smtClean="0"/>
              <a:t>:</a:t>
            </a:r>
          </a:p>
          <a:p>
            <a:pPr marL="285750" indent="-285750" fontAlgn="base">
              <a:lnSpc>
                <a:spcPct val="150000"/>
              </a:lnSpc>
              <a:buFont typeface="Wingdings" panose="05000000000000000000" pitchFamily="2" charset="2"/>
              <a:buChar char="ü"/>
            </a:pPr>
            <a:r>
              <a:rPr lang="en-US" sz="2000" dirty="0" smtClean="0">
                <a:latin typeface="Trebuchet MS" panose="020B0603020202020204" pitchFamily="34" charset="0"/>
              </a:rPr>
              <a:t>Iterate </a:t>
            </a:r>
            <a:r>
              <a:rPr lang="en-US" sz="2000" dirty="0">
                <a:latin typeface="Trebuchet MS" panose="020B0603020202020204" pitchFamily="34" charset="0"/>
              </a:rPr>
              <a:t>over the table diagonally, starting from the </a:t>
            </a:r>
            <a:r>
              <a:rPr lang="en-US" sz="2000" dirty="0" err="1">
                <a:latin typeface="Trebuchet MS" panose="020B0603020202020204" pitchFamily="34" charset="0"/>
              </a:rPr>
              <a:t>subchains</a:t>
            </a:r>
            <a:r>
              <a:rPr lang="en-US" sz="2000" dirty="0">
                <a:latin typeface="Trebuchet MS" panose="020B0603020202020204" pitchFamily="34" charset="0"/>
              </a:rPr>
              <a:t> of length 2 and gradually increasing the length.</a:t>
            </a:r>
          </a:p>
          <a:p>
            <a:pPr marL="285750" indent="-285750" fontAlgn="base">
              <a:lnSpc>
                <a:spcPct val="150000"/>
              </a:lnSpc>
              <a:buFont typeface="Wingdings" panose="05000000000000000000" pitchFamily="2" charset="2"/>
              <a:buChar char="ü"/>
            </a:pPr>
            <a:r>
              <a:rPr lang="en-US" sz="2000" dirty="0">
                <a:latin typeface="Trebuchet MS" panose="020B0603020202020204" pitchFamily="34" charset="0"/>
              </a:rPr>
              <a:t>For each subchain length k, starting from matrix </a:t>
            </a:r>
            <a:r>
              <a:rPr lang="en-US" sz="2000" dirty="0" err="1">
                <a:latin typeface="Trebuchet MS" panose="020B0603020202020204" pitchFamily="34" charset="0"/>
              </a:rPr>
              <a:t>i</a:t>
            </a:r>
            <a:r>
              <a:rPr lang="en-US" sz="2000" dirty="0">
                <a:latin typeface="Trebuchet MS" panose="020B0603020202020204" pitchFamily="34" charset="0"/>
              </a:rPr>
              <a:t>, calculate the minimum number of scalar multiplications.</a:t>
            </a:r>
          </a:p>
          <a:p>
            <a:pPr marL="342900" indent="-342900" fontAlgn="base">
              <a:lnSpc>
                <a:spcPct val="150000"/>
              </a:lnSpc>
              <a:buClr>
                <a:srgbClr val="0070C0"/>
              </a:buClr>
              <a:buFont typeface="Wingdings" panose="05000000000000000000" pitchFamily="2" charset="2"/>
              <a:buChar char="ü"/>
            </a:pPr>
            <a:endParaRPr lang="en-US" sz="2000" dirty="0" smtClean="0">
              <a:solidFill>
                <a:srgbClr val="0070C0"/>
              </a:solidFill>
              <a:latin typeface="Trebuchet MS" panose="020B0603020202020204" pitchFamily="34" charset="0"/>
            </a:endParaRPr>
          </a:p>
          <a:p>
            <a:pPr fontAlgn="base">
              <a:lnSpc>
                <a:spcPct val="150000"/>
              </a:lnSpc>
              <a:buClr>
                <a:srgbClr val="0070C0"/>
              </a:buClr>
            </a:pPr>
            <a:endParaRPr lang="en-US" sz="2000"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197736656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135939" y="148588"/>
            <a:ext cx="7487549"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Algorithm to Solve Matrix Chain Multiplication</a:t>
            </a:r>
          </a:p>
        </p:txBody>
      </p:sp>
      <p:sp>
        <p:nvSpPr>
          <p:cNvPr id="6" name="TextBox 5">
            <a:extLst>
              <a:ext uri="{FF2B5EF4-FFF2-40B4-BE49-F238E27FC236}">
                <a16:creationId xmlns:a16="http://schemas.microsoft.com/office/drawing/2014/main" id="{B794265C-63C6-72AF-7313-0C606319E6F4}"/>
              </a:ext>
            </a:extLst>
          </p:cNvPr>
          <p:cNvSpPr txBox="1"/>
          <p:nvPr/>
        </p:nvSpPr>
        <p:spPr>
          <a:xfrm>
            <a:off x="140677" y="671808"/>
            <a:ext cx="8993798" cy="4478149"/>
          </a:xfrm>
          <a:prstGeom prst="rect">
            <a:avLst/>
          </a:prstGeom>
          <a:noFill/>
        </p:spPr>
        <p:txBody>
          <a:bodyPr wrap="square">
            <a:spAutoFit/>
          </a:bodyPr>
          <a:lstStyle/>
          <a:p>
            <a:pPr marL="342900" indent="-342900" fontAlgn="base">
              <a:lnSpc>
                <a:spcPct val="150000"/>
              </a:lnSpc>
              <a:buFont typeface="Arial" panose="020B0604020202020204" pitchFamily="34" charset="0"/>
              <a:buChar char="•"/>
            </a:pPr>
            <a:r>
              <a:rPr lang="en-US" sz="1900" dirty="0">
                <a:solidFill>
                  <a:schemeClr val="tx1"/>
                </a:solidFill>
                <a:latin typeface="Trebuchet MS" panose="020B0603020202020204" pitchFamily="34" charset="0"/>
              </a:rPr>
              <a:t>For each possible split point j, where </a:t>
            </a:r>
            <a:r>
              <a:rPr lang="en-US" sz="1900" dirty="0" err="1">
                <a:solidFill>
                  <a:schemeClr val="tx1"/>
                </a:solidFill>
                <a:latin typeface="Trebuchet MS" panose="020B0603020202020204" pitchFamily="34" charset="0"/>
              </a:rPr>
              <a:t>i</a:t>
            </a:r>
            <a:r>
              <a:rPr lang="en-US" sz="1900" dirty="0">
                <a:solidFill>
                  <a:schemeClr val="tx1"/>
                </a:solidFill>
                <a:latin typeface="Trebuchet MS" panose="020B0603020202020204" pitchFamily="34" charset="0"/>
              </a:rPr>
              <a:t> ≤ j &lt; </a:t>
            </a:r>
            <a:r>
              <a:rPr lang="en-US" sz="1900" dirty="0" err="1">
                <a:solidFill>
                  <a:schemeClr val="tx1"/>
                </a:solidFill>
                <a:latin typeface="Trebuchet MS" panose="020B0603020202020204" pitchFamily="34" charset="0"/>
              </a:rPr>
              <a:t>i</a:t>
            </a:r>
            <a:r>
              <a:rPr lang="en-US" sz="1900" dirty="0">
                <a:solidFill>
                  <a:schemeClr val="tx1"/>
                </a:solidFill>
                <a:latin typeface="Trebuchet MS" panose="020B0603020202020204" pitchFamily="34" charset="0"/>
              </a:rPr>
              <a:t> + k, calculate the number of scalar multiplications as follows:</a:t>
            </a:r>
          </a:p>
          <a:p>
            <a:pPr marL="539750" lvl="1" indent="-363538" fontAlgn="base">
              <a:lnSpc>
                <a:spcPct val="150000"/>
              </a:lnSpc>
              <a:buFont typeface="Wingdings" panose="05000000000000000000" pitchFamily="2" charset="2"/>
              <a:buChar char="ü"/>
            </a:pPr>
            <a:r>
              <a:rPr lang="en-US" sz="1900" dirty="0">
                <a:solidFill>
                  <a:schemeClr val="tx1"/>
                </a:solidFill>
                <a:latin typeface="Trebuchet MS" panose="020B0603020202020204" pitchFamily="34" charset="0"/>
              </a:rPr>
              <a:t>Compute the number of scalar multiplications required for the left subchain: M[</a:t>
            </a:r>
            <a:r>
              <a:rPr lang="en-US" sz="1900" dirty="0" err="1">
                <a:solidFill>
                  <a:schemeClr val="tx1"/>
                </a:solidFill>
                <a:latin typeface="Trebuchet MS" panose="020B0603020202020204" pitchFamily="34" charset="0"/>
              </a:rPr>
              <a:t>i</a:t>
            </a:r>
            <a:r>
              <a:rPr lang="en-US" sz="1900" dirty="0">
                <a:solidFill>
                  <a:schemeClr val="tx1"/>
                </a:solidFill>
                <a:latin typeface="Trebuchet MS" panose="020B0603020202020204" pitchFamily="34" charset="0"/>
              </a:rPr>
              <a:t>][j]</a:t>
            </a:r>
          </a:p>
          <a:p>
            <a:pPr marL="539750" lvl="1" indent="-363538" fontAlgn="base">
              <a:lnSpc>
                <a:spcPct val="150000"/>
              </a:lnSpc>
              <a:buFont typeface="Wingdings" panose="05000000000000000000" pitchFamily="2" charset="2"/>
              <a:buChar char="ü"/>
            </a:pPr>
            <a:r>
              <a:rPr lang="en-US" sz="1900" dirty="0">
                <a:solidFill>
                  <a:schemeClr val="tx1"/>
                </a:solidFill>
                <a:latin typeface="Trebuchet MS" panose="020B0603020202020204" pitchFamily="34" charset="0"/>
              </a:rPr>
              <a:t>Compute the number of scalar multiplications required for the right subchain: M[j+1][</a:t>
            </a:r>
            <a:r>
              <a:rPr lang="en-US" sz="1900" dirty="0" err="1">
                <a:solidFill>
                  <a:schemeClr val="tx1"/>
                </a:solidFill>
                <a:latin typeface="Trebuchet MS" panose="020B0603020202020204" pitchFamily="34" charset="0"/>
              </a:rPr>
              <a:t>i+k</a:t>
            </a:r>
            <a:r>
              <a:rPr lang="en-US" sz="1900" dirty="0">
                <a:solidFill>
                  <a:schemeClr val="tx1"/>
                </a:solidFill>
                <a:latin typeface="Trebuchet MS" panose="020B0603020202020204" pitchFamily="34" charset="0"/>
              </a:rPr>
              <a:t>]</a:t>
            </a:r>
          </a:p>
          <a:p>
            <a:pPr marL="539750" lvl="1" indent="-363538" fontAlgn="base">
              <a:lnSpc>
                <a:spcPct val="150000"/>
              </a:lnSpc>
              <a:buFont typeface="Wingdings" panose="05000000000000000000" pitchFamily="2" charset="2"/>
              <a:buChar char="ü"/>
            </a:pPr>
            <a:r>
              <a:rPr lang="en-US" sz="1900" dirty="0">
                <a:solidFill>
                  <a:schemeClr val="tx1"/>
                </a:solidFill>
                <a:latin typeface="Trebuchet MS" panose="020B0603020202020204" pitchFamily="34" charset="0"/>
              </a:rPr>
              <a:t>Calculate the number of scalar multiplications for the current split point: d[i-1] * d[j] * d[</a:t>
            </a:r>
            <a:r>
              <a:rPr lang="en-US" sz="1900" dirty="0" err="1">
                <a:solidFill>
                  <a:schemeClr val="tx1"/>
                </a:solidFill>
                <a:latin typeface="Trebuchet MS" panose="020B0603020202020204" pitchFamily="34" charset="0"/>
              </a:rPr>
              <a:t>i+k</a:t>
            </a:r>
            <a:r>
              <a:rPr lang="en-US" sz="1900" dirty="0">
                <a:solidFill>
                  <a:schemeClr val="tx1"/>
                </a:solidFill>
                <a:latin typeface="Trebuchet MS" panose="020B0603020202020204" pitchFamily="34" charset="0"/>
              </a:rPr>
              <a:t>] + M[</a:t>
            </a:r>
            <a:r>
              <a:rPr lang="en-US" sz="1900" dirty="0" err="1">
                <a:solidFill>
                  <a:schemeClr val="tx1"/>
                </a:solidFill>
                <a:latin typeface="Trebuchet MS" panose="020B0603020202020204" pitchFamily="34" charset="0"/>
              </a:rPr>
              <a:t>i</a:t>
            </a:r>
            <a:r>
              <a:rPr lang="en-US" sz="1900" dirty="0">
                <a:solidFill>
                  <a:schemeClr val="tx1"/>
                </a:solidFill>
                <a:latin typeface="Trebuchet MS" panose="020B0603020202020204" pitchFamily="34" charset="0"/>
              </a:rPr>
              <a:t>][j] + M[j+1][</a:t>
            </a:r>
            <a:r>
              <a:rPr lang="en-US" sz="1900" dirty="0" err="1">
                <a:solidFill>
                  <a:schemeClr val="tx1"/>
                </a:solidFill>
                <a:latin typeface="Trebuchet MS" panose="020B0603020202020204" pitchFamily="34" charset="0"/>
              </a:rPr>
              <a:t>i+k</a:t>
            </a:r>
            <a:r>
              <a:rPr lang="en-US" sz="1900" dirty="0">
                <a:solidFill>
                  <a:schemeClr val="tx1"/>
                </a:solidFill>
                <a:latin typeface="Trebuchet MS" panose="020B0603020202020204" pitchFamily="34" charset="0"/>
              </a:rPr>
              <a:t>]</a:t>
            </a:r>
          </a:p>
          <a:p>
            <a:pPr marL="539750" lvl="1" indent="-363538" fontAlgn="base">
              <a:lnSpc>
                <a:spcPct val="150000"/>
              </a:lnSpc>
              <a:buFont typeface="Wingdings" panose="05000000000000000000" pitchFamily="2" charset="2"/>
              <a:buChar char="ü"/>
            </a:pPr>
            <a:r>
              <a:rPr lang="en-US" sz="1900" dirty="0">
                <a:solidFill>
                  <a:schemeClr val="tx1"/>
                </a:solidFill>
                <a:latin typeface="Trebuchet MS" panose="020B0603020202020204" pitchFamily="34" charset="0"/>
              </a:rPr>
              <a:t>Update the table entry M[</a:t>
            </a:r>
            <a:r>
              <a:rPr lang="en-US" sz="1900" dirty="0" err="1">
                <a:solidFill>
                  <a:schemeClr val="tx1"/>
                </a:solidFill>
                <a:latin typeface="Trebuchet MS" panose="020B0603020202020204" pitchFamily="34" charset="0"/>
              </a:rPr>
              <a:t>i</a:t>
            </a:r>
            <a:r>
              <a:rPr lang="en-US" sz="1900" dirty="0">
                <a:solidFill>
                  <a:schemeClr val="tx1"/>
                </a:solidFill>
                <a:latin typeface="Trebuchet MS" panose="020B0603020202020204" pitchFamily="34" charset="0"/>
              </a:rPr>
              <a:t>][</a:t>
            </a:r>
            <a:r>
              <a:rPr lang="en-US" sz="1900" dirty="0" err="1">
                <a:solidFill>
                  <a:schemeClr val="tx1"/>
                </a:solidFill>
                <a:latin typeface="Trebuchet MS" panose="020B0603020202020204" pitchFamily="34" charset="0"/>
              </a:rPr>
              <a:t>i+k</a:t>
            </a:r>
            <a:r>
              <a:rPr lang="en-US" sz="1900" dirty="0">
                <a:solidFill>
                  <a:schemeClr val="tx1"/>
                </a:solidFill>
                <a:latin typeface="Trebuchet MS" panose="020B0603020202020204" pitchFamily="34" charset="0"/>
              </a:rPr>
              <a:t>] with the minimum value among all possible split points.</a:t>
            </a:r>
          </a:p>
        </p:txBody>
      </p:sp>
    </p:spTree>
    <p:extLst>
      <p:ext uri="{BB962C8B-B14F-4D97-AF65-F5344CB8AC3E}">
        <p14:creationId xmlns:p14="http://schemas.microsoft.com/office/powerpoint/2010/main" val="276539639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135939" y="148588"/>
            <a:ext cx="7487549"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Algorithm to Solve Matrix Chain Multiplication</a:t>
            </a:r>
          </a:p>
        </p:txBody>
      </p:sp>
      <p:sp>
        <p:nvSpPr>
          <p:cNvPr id="6" name="TextBox 5">
            <a:extLst>
              <a:ext uri="{FF2B5EF4-FFF2-40B4-BE49-F238E27FC236}">
                <a16:creationId xmlns:a16="http://schemas.microsoft.com/office/drawing/2014/main" id="{B794265C-63C6-72AF-7313-0C606319E6F4}"/>
              </a:ext>
            </a:extLst>
          </p:cNvPr>
          <p:cNvSpPr txBox="1"/>
          <p:nvPr/>
        </p:nvSpPr>
        <p:spPr>
          <a:xfrm>
            <a:off x="316523" y="985785"/>
            <a:ext cx="8253046" cy="3267498"/>
          </a:xfrm>
          <a:prstGeom prst="rect">
            <a:avLst/>
          </a:prstGeom>
          <a:noFill/>
        </p:spPr>
        <p:txBody>
          <a:bodyPr wrap="square">
            <a:spAutoFit/>
          </a:bodyPr>
          <a:lstStyle/>
          <a:p>
            <a:pPr fontAlgn="base">
              <a:lnSpc>
                <a:spcPct val="150000"/>
              </a:lnSpc>
            </a:pPr>
            <a:r>
              <a:rPr lang="en-US" sz="2000" dirty="0" smtClean="0">
                <a:solidFill>
                  <a:srgbClr val="0070C0"/>
                </a:solidFill>
                <a:latin typeface="Trebuchet MS" panose="020B0603020202020204" pitchFamily="34" charset="0"/>
              </a:rPr>
              <a:t>5.Backtrack </a:t>
            </a:r>
            <a:r>
              <a:rPr lang="en-US" sz="2000" dirty="0">
                <a:solidFill>
                  <a:srgbClr val="0070C0"/>
                </a:solidFill>
                <a:latin typeface="Trebuchet MS" panose="020B0603020202020204" pitchFamily="34" charset="0"/>
              </a:rPr>
              <a:t>the optimal solution:</a:t>
            </a:r>
          </a:p>
          <a:p>
            <a:pPr marL="342900" indent="-342900" fontAlgn="base">
              <a:lnSpc>
                <a:spcPct val="150000"/>
              </a:lnSpc>
              <a:buFont typeface="Arial" panose="020B0604020202020204" pitchFamily="34" charset="0"/>
              <a:buChar char="•"/>
            </a:pPr>
            <a:r>
              <a:rPr lang="en-US" sz="2000" dirty="0">
                <a:solidFill>
                  <a:schemeClr val="tx1"/>
                </a:solidFill>
                <a:latin typeface="Trebuchet MS" panose="020B0603020202020204" pitchFamily="34" charset="0"/>
              </a:rPr>
              <a:t>To determine the optimal order of matrix multiplication, track the split that gives the minimum number of scalar multiplications for each subchain.</a:t>
            </a:r>
          </a:p>
          <a:p>
            <a:pPr marL="342900" indent="-342900" fontAlgn="base">
              <a:lnSpc>
                <a:spcPct val="150000"/>
              </a:lnSpc>
              <a:buFont typeface="Arial" panose="020B0604020202020204" pitchFamily="34" charset="0"/>
              <a:buChar char="•"/>
            </a:pPr>
            <a:r>
              <a:rPr lang="en-US" sz="2000" dirty="0">
                <a:solidFill>
                  <a:schemeClr val="tx1"/>
                </a:solidFill>
                <a:latin typeface="Trebuchet MS" panose="020B0603020202020204" pitchFamily="34" charset="0"/>
              </a:rPr>
              <a:t>This can be achieved by storing additional information during the table-filling step, such as the split points that yield the minimum number of scalar multiplications for each subchain.</a:t>
            </a:r>
          </a:p>
        </p:txBody>
      </p:sp>
    </p:spTree>
    <p:extLst>
      <p:ext uri="{BB962C8B-B14F-4D97-AF65-F5344CB8AC3E}">
        <p14:creationId xmlns:p14="http://schemas.microsoft.com/office/powerpoint/2010/main" val="248859312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135939" y="148588"/>
            <a:ext cx="7487549"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Algorithm to Solve Matrix Chain Multiplication</a:t>
            </a:r>
          </a:p>
        </p:txBody>
      </p:sp>
      <p:sp>
        <p:nvSpPr>
          <p:cNvPr id="6" name="TextBox 5">
            <a:extLst>
              <a:ext uri="{FF2B5EF4-FFF2-40B4-BE49-F238E27FC236}">
                <a16:creationId xmlns:a16="http://schemas.microsoft.com/office/drawing/2014/main" id="{B794265C-63C6-72AF-7313-0C606319E6F4}"/>
              </a:ext>
            </a:extLst>
          </p:cNvPr>
          <p:cNvSpPr txBox="1"/>
          <p:nvPr/>
        </p:nvSpPr>
        <p:spPr>
          <a:xfrm>
            <a:off x="316522" y="985785"/>
            <a:ext cx="8288215" cy="3323987"/>
          </a:xfrm>
          <a:prstGeom prst="rect">
            <a:avLst/>
          </a:prstGeom>
          <a:noFill/>
        </p:spPr>
        <p:txBody>
          <a:bodyPr wrap="square">
            <a:spAutoFit/>
          </a:bodyPr>
          <a:lstStyle/>
          <a:p>
            <a:pPr fontAlgn="base">
              <a:lnSpc>
                <a:spcPct val="150000"/>
              </a:lnSpc>
            </a:pPr>
            <a:r>
              <a:rPr lang="en-US" sz="2000" dirty="0" smtClean="0">
                <a:solidFill>
                  <a:srgbClr val="0070C0"/>
                </a:solidFill>
                <a:latin typeface="Trebuchet MS" panose="020B0603020202020204" pitchFamily="34" charset="0"/>
              </a:rPr>
              <a:t>6. Return </a:t>
            </a:r>
            <a:r>
              <a:rPr lang="en-US" sz="2000" dirty="0">
                <a:solidFill>
                  <a:srgbClr val="0070C0"/>
                </a:solidFill>
                <a:latin typeface="Trebuchet MS" panose="020B0603020202020204" pitchFamily="34" charset="0"/>
              </a:rPr>
              <a:t>the result:</a:t>
            </a:r>
          </a:p>
          <a:p>
            <a:pPr marL="342900" indent="-342900" fontAlgn="base">
              <a:lnSpc>
                <a:spcPct val="150000"/>
              </a:lnSpc>
              <a:buFont typeface="Arial" panose="020B0604020202020204" pitchFamily="34" charset="0"/>
              <a:buChar char="•"/>
            </a:pPr>
            <a:r>
              <a:rPr lang="en-US" sz="2000" dirty="0">
                <a:solidFill>
                  <a:schemeClr val="tx1"/>
                </a:solidFill>
                <a:latin typeface="Trebuchet MS" panose="020B0603020202020204" pitchFamily="34" charset="0"/>
              </a:rPr>
              <a:t>The minimum number of scalar multiplications required to multiply the entire chain is stored in M[1][n], where n is the number of matrices in the chain.</a:t>
            </a:r>
          </a:p>
          <a:p>
            <a:pPr marL="342900" indent="-342900" fontAlgn="base">
              <a:lnSpc>
                <a:spcPct val="150000"/>
              </a:lnSpc>
              <a:buFont typeface="Arial" panose="020B0604020202020204" pitchFamily="34" charset="0"/>
              <a:buChar char="•"/>
            </a:pPr>
            <a:r>
              <a:rPr lang="en-US" sz="2000" dirty="0">
                <a:solidFill>
                  <a:schemeClr val="tx1"/>
                </a:solidFill>
                <a:latin typeface="Trebuchet MS" panose="020B0603020202020204" pitchFamily="34" charset="0"/>
              </a:rPr>
              <a:t>The optimal order of matrix multiplication can be obtained by backtracking through the split points stored during the algorithm execution.</a:t>
            </a:r>
          </a:p>
        </p:txBody>
      </p:sp>
    </p:spTree>
    <p:extLst>
      <p:ext uri="{BB962C8B-B14F-4D97-AF65-F5344CB8AC3E}">
        <p14:creationId xmlns:p14="http://schemas.microsoft.com/office/powerpoint/2010/main" val="17444311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a:t>
            </a:r>
            <a:endParaRPr lang="en-IN" sz="2800" b="1" dirty="0">
              <a:solidFill>
                <a:schemeClr val="bg1"/>
              </a:solidFill>
              <a:latin typeface="Corbel" panose="020B0503020204020204" pitchFamily="34" charset="0"/>
            </a:endParaRPr>
          </a:p>
        </p:txBody>
      </p:sp>
      <p:sp>
        <p:nvSpPr>
          <p:cNvPr id="4" name="Rectangle 3"/>
          <p:cNvSpPr/>
          <p:nvPr/>
        </p:nvSpPr>
        <p:spPr>
          <a:xfrm>
            <a:off x="261405" y="671808"/>
            <a:ext cx="5213420" cy="4278094"/>
          </a:xfrm>
          <a:prstGeom prst="rect">
            <a:avLst/>
          </a:prstGeom>
        </p:spPr>
        <p:txBody>
          <a:bodyPr wrap="square">
            <a:spAutoFit/>
          </a:bodyPr>
          <a:lstStyle/>
          <a:p>
            <a:r>
              <a:rPr lang="en-IN" sz="1600" dirty="0">
                <a:solidFill>
                  <a:srgbClr val="0070C0"/>
                </a:solidFill>
                <a:latin typeface="Trebuchet MS" panose="020B0603020202020204" pitchFamily="34" charset="0"/>
              </a:rPr>
              <a:t>Algorithm</a:t>
            </a:r>
            <a:r>
              <a:rPr lang="en-IN" sz="1600" dirty="0">
                <a:latin typeface="Trebuchet MS" panose="020B0603020202020204" pitchFamily="34" charset="0"/>
              </a:rPr>
              <a:t> </a:t>
            </a:r>
            <a:r>
              <a:rPr lang="en-IN" sz="1600" dirty="0">
                <a:solidFill>
                  <a:schemeClr val="tx1"/>
                </a:solidFill>
                <a:latin typeface="Trebuchet MS" panose="020B0603020202020204" pitchFamily="34" charset="0"/>
              </a:rPr>
              <a:t>MATRIX_CHAIN_ORDER(p)</a:t>
            </a:r>
          </a:p>
          <a:p>
            <a:r>
              <a:rPr lang="en-IN" sz="1600" dirty="0">
                <a:solidFill>
                  <a:srgbClr val="FF0000"/>
                </a:solidFill>
                <a:latin typeface="Trebuchet MS" panose="020B0603020202020204" pitchFamily="34" charset="0"/>
              </a:rPr>
              <a:t>// p is sequence of n matrices</a:t>
            </a:r>
          </a:p>
          <a:p>
            <a:pPr>
              <a:lnSpc>
                <a:spcPct val="150000"/>
              </a:lnSpc>
            </a:pPr>
            <a:r>
              <a:rPr lang="en-IN" sz="1600" dirty="0" smtClean="0">
                <a:latin typeface="Trebuchet MS" panose="020B0603020202020204" pitchFamily="34" charset="0"/>
              </a:rPr>
              <a:t>n </a:t>
            </a:r>
            <a:r>
              <a:rPr lang="en-IN" sz="1600" dirty="0">
                <a:latin typeface="Trebuchet MS" panose="020B0603020202020204" pitchFamily="34" charset="0"/>
              </a:rPr>
              <a:t>← length(p) </a:t>
            </a:r>
            <a:r>
              <a:rPr lang="en-IN" sz="1600" dirty="0" smtClean="0">
                <a:latin typeface="Trebuchet MS" panose="020B0603020202020204" pitchFamily="34" charset="0"/>
              </a:rPr>
              <a:t>– 1 </a:t>
            </a:r>
            <a:r>
              <a:rPr lang="en-IN" sz="1200" dirty="0">
                <a:solidFill>
                  <a:srgbClr val="0070C0"/>
                </a:solidFill>
              </a:rPr>
              <a:t>// Number of matrices</a:t>
            </a:r>
          </a:p>
          <a:p>
            <a:pPr>
              <a:lnSpc>
                <a:spcPct val="150000"/>
              </a:lnSpc>
            </a:pPr>
            <a:r>
              <a:rPr lang="en-IN" sz="1600" dirty="0">
                <a:latin typeface="Trebuchet MS" panose="020B0603020202020204" pitchFamily="34" charset="0"/>
              </a:rPr>
              <a:t>for </a:t>
            </a:r>
            <a:r>
              <a:rPr lang="en-IN" sz="1600" dirty="0" err="1">
                <a:latin typeface="Trebuchet MS" panose="020B0603020202020204" pitchFamily="34" charset="0"/>
              </a:rPr>
              <a:t>i</a:t>
            </a:r>
            <a:r>
              <a:rPr lang="en-IN" sz="1600" dirty="0">
                <a:latin typeface="Trebuchet MS" panose="020B0603020202020204" pitchFamily="34" charset="0"/>
              </a:rPr>
              <a:t> ← 1 to n do</a:t>
            </a:r>
          </a:p>
          <a:p>
            <a:pPr>
              <a:lnSpc>
                <a:spcPct val="150000"/>
              </a:lnSpc>
            </a:pPr>
            <a:r>
              <a:rPr lang="en-IN" sz="1600" dirty="0">
                <a:latin typeface="Trebuchet MS" panose="020B0603020202020204" pitchFamily="34" charset="0"/>
              </a:rPr>
              <a:t>    m[</a:t>
            </a:r>
            <a:r>
              <a:rPr lang="en-IN" sz="1600" dirty="0" err="1">
                <a:latin typeface="Trebuchet MS" panose="020B0603020202020204" pitchFamily="34" charset="0"/>
              </a:rPr>
              <a:t>i,i</a:t>
            </a:r>
            <a:r>
              <a:rPr lang="en-IN" sz="1600" dirty="0">
                <a:latin typeface="Trebuchet MS" panose="020B0603020202020204" pitchFamily="34" charset="0"/>
              </a:rPr>
              <a:t>] ← 0</a:t>
            </a:r>
          </a:p>
          <a:p>
            <a:pPr>
              <a:lnSpc>
                <a:spcPct val="150000"/>
              </a:lnSpc>
            </a:pPr>
            <a:r>
              <a:rPr lang="en-IN" sz="1600" dirty="0">
                <a:latin typeface="Trebuchet MS" panose="020B0603020202020204" pitchFamily="34" charset="0"/>
              </a:rPr>
              <a:t>end</a:t>
            </a:r>
          </a:p>
          <a:p>
            <a:pPr>
              <a:lnSpc>
                <a:spcPct val="150000"/>
              </a:lnSpc>
            </a:pPr>
            <a:r>
              <a:rPr lang="en-IN" sz="1600" dirty="0" smtClean="0">
                <a:latin typeface="Trebuchet MS" panose="020B0603020202020204" pitchFamily="34" charset="0"/>
              </a:rPr>
              <a:t>for </a:t>
            </a:r>
            <a:r>
              <a:rPr lang="en-IN" sz="1600" dirty="0">
                <a:latin typeface="Trebuchet MS" panose="020B0603020202020204" pitchFamily="34" charset="0"/>
              </a:rPr>
              <a:t>l ← 2 to n do</a:t>
            </a:r>
          </a:p>
          <a:p>
            <a:pPr>
              <a:lnSpc>
                <a:spcPct val="150000"/>
              </a:lnSpc>
            </a:pPr>
            <a:r>
              <a:rPr lang="en-IN" sz="1600" dirty="0">
                <a:latin typeface="Trebuchet MS" panose="020B0603020202020204" pitchFamily="34" charset="0"/>
              </a:rPr>
              <a:t>    for </a:t>
            </a:r>
            <a:r>
              <a:rPr lang="en-IN" sz="1600" dirty="0" err="1">
                <a:latin typeface="Trebuchet MS" panose="020B0603020202020204" pitchFamily="34" charset="0"/>
              </a:rPr>
              <a:t>i</a:t>
            </a:r>
            <a:r>
              <a:rPr lang="en-IN" sz="1600" dirty="0">
                <a:latin typeface="Trebuchet MS" panose="020B0603020202020204" pitchFamily="34" charset="0"/>
              </a:rPr>
              <a:t> ← 1 to n – l + 1 do</a:t>
            </a:r>
          </a:p>
          <a:p>
            <a:pPr>
              <a:lnSpc>
                <a:spcPct val="150000"/>
              </a:lnSpc>
            </a:pPr>
            <a:r>
              <a:rPr lang="en-IN" sz="1600" dirty="0">
                <a:latin typeface="Trebuchet MS" panose="020B0603020202020204" pitchFamily="34" charset="0"/>
              </a:rPr>
              <a:t>        j ← </a:t>
            </a:r>
            <a:r>
              <a:rPr lang="en-IN" sz="1600" dirty="0" err="1">
                <a:latin typeface="Trebuchet MS" panose="020B0603020202020204" pitchFamily="34" charset="0"/>
              </a:rPr>
              <a:t>i</a:t>
            </a:r>
            <a:r>
              <a:rPr lang="en-IN" sz="1600" dirty="0">
                <a:latin typeface="Trebuchet MS" panose="020B0603020202020204" pitchFamily="34" charset="0"/>
              </a:rPr>
              <a:t> + l - 1</a:t>
            </a:r>
          </a:p>
          <a:p>
            <a:pPr>
              <a:lnSpc>
                <a:spcPct val="150000"/>
              </a:lnSpc>
            </a:pPr>
            <a:r>
              <a:rPr lang="en-IN" sz="1600" dirty="0">
                <a:latin typeface="Trebuchet MS" panose="020B0603020202020204" pitchFamily="34" charset="0"/>
              </a:rPr>
              <a:t>        m[</a:t>
            </a:r>
            <a:r>
              <a:rPr lang="en-IN" sz="1600" dirty="0" err="1">
                <a:latin typeface="Trebuchet MS" panose="020B0603020202020204" pitchFamily="34" charset="0"/>
              </a:rPr>
              <a:t>i</a:t>
            </a:r>
            <a:r>
              <a:rPr lang="en-IN" sz="1600" dirty="0">
                <a:latin typeface="Trebuchet MS" panose="020B0603020202020204" pitchFamily="34" charset="0"/>
              </a:rPr>
              <a:t>,  j] ← ∞</a:t>
            </a:r>
          </a:p>
          <a:p>
            <a:pPr>
              <a:lnSpc>
                <a:spcPct val="150000"/>
              </a:lnSpc>
            </a:pPr>
            <a:r>
              <a:rPr lang="en-IN" sz="1600" dirty="0">
                <a:latin typeface="Trebuchet MS" panose="020B0603020202020204" pitchFamily="34" charset="0"/>
              </a:rPr>
              <a:t>        for  k ← </a:t>
            </a:r>
            <a:r>
              <a:rPr lang="en-IN" sz="1600" dirty="0" err="1">
                <a:latin typeface="Trebuchet MS" panose="020B0603020202020204" pitchFamily="34" charset="0"/>
              </a:rPr>
              <a:t>i</a:t>
            </a:r>
            <a:r>
              <a:rPr lang="en-IN" sz="1600" dirty="0">
                <a:latin typeface="Trebuchet MS" panose="020B0603020202020204" pitchFamily="34" charset="0"/>
              </a:rPr>
              <a:t> to j – 1 do</a:t>
            </a:r>
          </a:p>
          <a:p>
            <a:pPr>
              <a:lnSpc>
                <a:spcPct val="150000"/>
              </a:lnSpc>
            </a:pPr>
            <a:r>
              <a:rPr lang="en-IN" sz="1600" dirty="0">
                <a:latin typeface="Trebuchet MS" panose="020B0603020202020204" pitchFamily="34" charset="0"/>
              </a:rPr>
              <a:t>            q ← m[</a:t>
            </a:r>
            <a:r>
              <a:rPr lang="en-IN" sz="1600" dirty="0" err="1">
                <a:latin typeface="Trebuchet MS" panose="020B0603020202020204" pitchFamily="34" charset="0"/>
              </a:rPr>
              <a:t>i</a:t>
            </a:r>
            <a:r>
              <a:rPr lang="en-IN" sz="1600" dirty="0">
                <a:latin typeface="Trebuchet MS" panose="020B0603020202020204" pitchFamily="34" charset="0"/>
              </a:rPr>
              <a:t>, k]+ m[k + 1, j] + di – 1 * </a:t>
            </a:r>
            <a:r>
              <a:rPr lang="en-IN" sz="1600" dirty="0" err="1">
                <a:latin typeface="Trebuchet MS" panose="020B0603020202020204" pitchFamily="34" charset="0"/>
              </a:rPr>
              <a:t>dk</a:t>
            </a:r>
            <a:r>
              <a:rPr lang="en-IN" sz="1600" dirty="0">
                <a:latin typeface="Trebuchet MS" panose="020B0603020202020204" pitchFamily="34" charset="0"/>
              </a:rPr>
              <a:t> * </a:t>
            </a:r>
            <a:r>
              <a:rPr lang="en-IN" sz="1600" dirty="0" err="1" smtClean="0">
                <a:latin typeface="Trebuchet MS" panose="020B0603020202020204" pitchFamily="34" charset="0"/>
              </a:rPr>
              <a:t>dj</a:t>
            </a:r>
            <a:endParaRPr lang="en-IN" sz="1600" dirty="0">
              <a:latin typeface="Trebuchet MS" panose="020B0603020202020204" pitchFamily="34" charset="0"/>
            </a:endParaRPr>
          </a:p>
        </p:txBody>
      </p:sp>
      <p:sp>
        <p:nvSpPr>
          <p:cNvPr id="5" name="Rectangle 4"/>
          <p:cNvSpPr/>
          <p:nvPr/>
        </p:nvSpPr>
        <p:spPr>
          <a:xfrm>
            <a:off x="4935415" y="1202790"/>
            <a:ext cx="4372708" cy="3416320"/>
          </a:xfrm>
          <a:prstGeom prst="rect">
            <a:avLst/>
          </a:prstGeom>
        </p:spPr>
        <p:txBody>
          <a:bodyPr wrap="square">
            <a:spAutoFit/>
          </a:bodyPr>
          <a:lstStyle/>
          <a:p>
            <a:pPr lvl="0">
              <a:lnSpc>
                <a:spcPct val="150000"/>
              </a:lnSpc>
            </a:pPr>
            <a:r>
              <a:rPr lang="en-IN" dirty="0"/>
              <a:t> </a:t>
            </a:r>
            <a:r>
              <a:rPr lang="en-IN" sz="1800" dirty="0">
                <a:latin typeface="Trebuchet MS" panose="020B0603020202020204" pitchFamily="34" charset="0"/>
              </a:rPr>
              <a:t>if  q &lt; m[</a:t>
            </a:r>
            <a:r>
              <a:rPr lang="en-IN" sz="1800" dirty="0" err="1">
                <a:latin typeface="Trebuchet MS" panose="020B0603020202020204" pitchFamily="34" charset="0"/>
              </a:rPr>
              <a:t>i</a:t>
            </a:r>
            <a:r>
              <a:rPr lang="en-IN" sz="1800" dirty="0">
                <a:latin typeface="Trebuchet MS" panose="020B0603020202020204" pitchFamily="34" charset="0"/>
              </a:rPr>
              <a:t>, j]  then</a:t>
            </a:r>
          </a:p>
          <a:p>
            <a:pPr lvl="0">
              <a:lnSpc>
                <a:spcPct val="150000"/>
              </a:lnSpc>
            </a:pPr>
            <a:r>
              <a:rPr lang="en-IN" sz="1800" dirty="0">
                <a:latin typeface="Trebuchet MS" panose="020B0603020202020204" pitchFamily="34" charset="0"/>
              </a:rPr>
              <a:t>                m[</a:t>
            </a:r>
            <a:r>
              <a:rPr lang="en-IN" sz="1800" dirty="0" err="1">
                <a:latin typeface="Trebuchet MS" panose="020B0603020202020204" pitchFamily="34" charset="0"/>
              </a:rPr>
              <a:t>i,j</a:t>
            </a:r>
            <a:r>
              <a:rPr lang="en-IN" sz="1800" dirty="0">
                <a:latin typeface="Trebuchet MS" panose="020B0603020202020204" pitchFamily="34" charset="0"/>
              </a:rPr>
              <a:t> ] ← q</a:t>
            </a:r>
          </a:p>
          <a:p>
            <a:pPr lvl="0">
              <a:lnSpc>
                <a:spcPct val="150000"/>
              </a:lnSpc>
            </a:pPr>
            <a:r>
              <a:rPr lang="en-IN" sz="1800" dirty="0">
                <a:latin typeface="Trebuchet MS" panose="020B0603020202020204" pitchFamily="34" charset="0"/>
              </a:rPr>
              <a:t>                s[</a:t>
            </a:r>
            <a:r>
              <a:rPr lang="en-IN" sz="1800" dirty="0" err="1">
                <a:latin typeface="Trebuchet MS" panose="020B0603020202020204" pitchFamily="34" charset="0"/>
              </a:rPr>
              <a:t>i</a:t>
            </a:r>
            <a:r>
              <a:rPr lang="en-IN" sz="1800" dirty="0">
                <a:latin typeface="Trebuchet MS" panose="020B0603020202020204" pitchFamily="34" charset="0"/>
              </a:rPr>
              <a:t>, j] ← </a:t>
            </a:r>
            <a:r>
              <a:rPr lang="en-IN" sz="1800" dirty="0" smtClean="0">
                <a:latin typeface="Trebuchet MS" panose="020B0603020202020204" pitchFamily="34" charset="0"/>
              </a:rPr>
              <a:t>k </a:t>
            </a:r>
            <a:r>
              <a:rPr lang="en-IN" sz="1200" dirty="0" smtClean="0">
                <a:solidFill>
                  <a:srgbClr val="0070C0"/>
                </a:solidFill>
              </a:rPr>
              <a:t>// </a:t>
            </a:r>
            <a:r>
              <a:rPr lang="en-IN" sz="1200" dirty="0">
                <a:solidFill>
                  <a:srgbClr val="0070C0"/>
                </a:solidFill>
              </a:rPr>
              <a:t>Store the split </a:t>
            </a:r>
            <a:r>
              <a:rPr lang="en-IN" sz="1200" dirty="0" smtClean="0">
                <a:solidFill>
                  <a:srgbClr val="0070C0"/>
                </a:solidFill>
              </a:rPr>
              <a:t>position</a:t>
            </a:r>
            <a:r>
              <a:rPr lang="en-IN" dirty="0" smtClean="0">
                <a:solidFill>
                  <a:srgbClr val="0070C0"/>
                </a:solidFill>
                <a:latin typeface="Trebuchet MS" panose="020B0603020202020204" pitchFamily="34" charset="0"/>
              </a:rPr>
              <a:t> </a:t>
            </a:r>
            <a:endParaRPr lang="en-IN" dirty="0">
              <a:solidFill>
                <a:srgbClr val="0070C0"/>
              </a:solidFill>
              <a:latin typeface="Trebuchet MS" panose="020B0603020202020204" pitchFamily="34" charset="0"/>
            </a:endParaRPr>
          </a:p>
          <a:p>
            <a:pPr lvl="0">
              <a:lnSpc>
                <a:spcPct val="150000"/>
              </a:lnSpc>
            </a:pPr>
            <a:r>
              <a:rPr lang="en-IN" sz="1800" dirty="0">
                <a:latin typeface="Trebuchet MS" panose="020B0603020202020204" pitchFamily="34" charset="0"/>
              </a:rPr>
              <a:t>            end</a:t>
            </a:r>
          </a:p>
          <a:p>
            <a:pPr lvl="0">
              <a:lnSpc>
                <a:spcPct val="150000"/>
              </a:lnSpc>
            </a:pPr>
            <a:r>
              <a:rPr lang="en-IN" sz="1800" dirty="0">
                <a:latin typeface="Trebuchet MS" panose="020B0603020202020204" pitchFamily="34" charset="0"/>
              </a:rPr>
              <a:t>        end</a:t>
            </a:r>
          </a:p>
          <a:p>
            <a:pPr lvl="0">
              <a:lnSpc>
                <a:spcPct val="150000"/>
              </a:lnSpc>
            </a:pPr>
            <a:r>
              <a:rPr lang="en-IN" sz="1800" dirty="0">
                <a:latin typeface="Trebuchet MS" panose="020B0603020202020204" pitchFamily="34" charset="0"/>
              </a:rPr>
              <a:t>    end</a:t>
            </a:r>
          </a:p>
          <a:p>
            <a:pPr lvl="0">
              <a:lnSpc>
                <a:spcPct val="150000"/>
              </a:lnSpc>
            </a:pPr>
            <a:r>
              <a:rPr lang="en-IN" sz="1800" dirty="0">
                <a:latin typeface="Trebuchet MS" panose="020B0603020202020204" pitchFamily="34" charset="0"/>
              </a:rPr>
              <a:t>end</a:t>
            </a:r>
          </a:p>
          <a:p>
            <a:pPr lvl="0">
              <a:lnSpc>
                <a:spcPct val="150000"/>
              </a:lnSpc>
            </a:pPr>
            <a:r>
              <a:rPr lang="en-IN" sz="1800" dirty="0">
                <a:latin typeface="Trebuchet MS" panose="020B0603020202020204" pitchFamily="34" charset="0"/>
              </a:rPr>
              <a:t>return m and s</a:t>
            </a:r>
          </a:p>
        </p:txBody>
      </p:sp>
      <p:cxnSp>
        <p:nvCxnSpPr>
          <p:cNvPr id="7" name="Straight Connector 6"/>
          <p:cNvCxnSpPr/>
          <p:nvPr/>
        </p:nvCxnSpPr>
        <p:spPr>
          <a:xfrm>
            <a:off x="4853144" y="852580"/>
            <a:ext cx="0" cy="4097322"/>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16893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fontAlgn="base">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 Example </a:t>
            </a:r>
            <a:endParaRPr lang="en-IN" sz="2800" b="1" dirty="0">
              <a:solidFill>
                <a:schemeClr val="bg1"/>
              </a:solidFill>
              <a:latin typeface="Corbel" panose="020B0503020204020204" pitchFamily="34" charset="0"/>
            </a:endParaRPr>
          </a:p>
        </p:txBody>
      </p:sp>
      <p:sp>
        <p:nvSpPr>
          <p:cNvPr id="4" name="Rectangle 3"/>
          <p:cNvSpPr/>
          <p:nvPr/>
        </p:nvSpPr>
        <p:spPr>
          <a:xfrm>
            <a:off x="261405" y="881773"/>
            <a:ext cx="8460564" cy="3785652"/>
          </a:xfrm>
          <a:prstGeom prst="rect">
            <a:avLst/>
          </a:prstGeom>
        </p:spPr>
        <p:txBody>
          <a:bodyPr wrap="square">
            <a:spAutoFit/>
          </a:bodyPr>
          <a:lstStyle/>
          <a:p>
            <a:pPr marL="342900" lvl="0" indent="-342900" fontAlgn="base">
              <a:lnSpc>
                <a:spcPct val="150000"/>
              </a:lnSpc>
              <a:buFont typeface="Arial" panose="020B0604020202020204" pitchFamily="34" charset="0"/>
              <a:buChar char="•"/>
            </a:pPr>
            <a:r>
              <a:rPr lang="en-US" sz="2000" dirty="0">
                <a:latin typeface="Trebuchet MS" panose="020B0603020202020204" pitchFamily="34" charset="0"/>
              </a:rPr>
              <a:t>Let’s consider an example to illustrate the matrix chain multiplication.</a:t>
            </a:r>
          </a:p>
          <a:p>
            <a:pPr marL="342900" lvl="0" indent="-342900" fontAlgn="base">
              <a:lnSpc>
                <a:spcPct val="150000"/>
              </a:lnSpc>
              <a:buFont typeface="Arial" panose="020B0604020202020204" pitchFamily="34" charset="0"/>
              <a:buChar char="•"/>
            </a:pPr>
            <a:r>
              <a:rPr lang="en-US" sz="2000" dirty="0" smtClean="0">
                <a:latin typeface="Trebuchet MS" panose="020B0603020202020204" pitchFamily="34" charset="0"/>
              </a:rPr>
              <a:t>Suppose </a:t>
            </a:r>
            <a:r>
              <a:rPr lang="en-US" sz="2000" dirty="0">
                <a:latin typeface="Trebuchet MS" panose="020B0603020202020204" pitchFamily="34" charset="0"/>
              </a:rPr>
              <a:t>we have a chain of four matrices: A, B, C, and D, with dimensions as follows:</a:t>
            </a:r>
          </a:p>
          <a:p>
            <a:pPr marL="539750" lvl="2" fontAlgn="base">
              <a:lnSpc>
                <a:spcPct val="150000"/>
              </a:lnSpc>
            </a:pPr>
            <a:r>
              <a:rPr lang="en-US" sz="2000" dirty="0" smtClean="0">
                <a:latin typeface="Trebuchet MS" panose="020B0603020202020204" pitchFamily="34" charset="0"/>
              </a:rPr>
              <a:t>A</a:t>
            </a:r>
            <a:r>
              <a:rPr lang="en-US" sz="2000" dirty="0">
                <a:latin typeface="Trebuchet MS" panose="020B0603020202020204" pitchFamily="34" charset="0"/>
              </a:rPr>
              <a:t>: 10 x 30</a:t>
            </a:r>
          </a:p>
          <a:p>
            <a:pPr marL="539750" lvl="2" fontAlgn="base">
              <a:lnSpc>
                <a:spcPct val="150000"/>
              </a:lnSpc>
            </a:pPr>
            <a:r>
              <a:rPr lang="en-US" sz="2000" dirty="0" smtClean="0">
                <a:latin typeface="Trebuchet MS" panose="020B0603020202020204" pitchFamily="34" charset="0"/>
              </a:rPr>
              <a:t>B</a:t>
            </a:r>
            <a:r>
              <a:rPr lang="en-US" sz="2000" dirty="0">
                <a:latin typeface="Trebuchet MS" panose="020B0603020202020204" pitchFamily="34" charset="0"/>
              </a:rPr>
              <a:t>: 30 x 5</a:t>
            </a:r>
          </a:p>
          <a:p>
            <a:pPr marL="539750" lvl="2" fontAlgn="base">
              <a:lnSpc>
                <a:spcPct val="150000"/>
              </a:lnSpc>
            </a:pPr>
            <a:r>
              <a:rPr lang="en-US" sz="2000" dirty="0" smtClean="0">
                <a:latin typeface="Trebuchet MS" panose="020B0603020202020204" pitchFamily="34" charset="0"/>
              </a:rPr>
              <a:t>C</a:t>
            </a:r>
            <a:r>
              <a:rPr lang="en-US" sz="2000" dirty="0">
                <a:latin typeface="Trebuchet MS" panose="020B0603020202020204" pitchFamily="34" charset="0"/>
              </a:rPr>
              <a:t>: 5 x 60</a:t>
            </a:r>
          </a:p>
          <a:p>
            <a:pPr marL="539750" lvl="2" fontAlgn="base">
              <a:lnSpc>
                <a:spcPct val="150000"/>
              </a:lnSpc>
            </a:pPr>
            <a:r>
              <a:rPr lang="en-US" sz="2000" dirty="0" smtClean="0">
                <a:latin typeface="Trebuchet MS" panose="020B0603020202020204" pitchFamily="34" charset="0"/>
              </a:rPr>
              <a:t>D</a:t>
            </a:r>
            <a:r>
              <a:rPr lang="en-US" sz="2000" dirty="0">
                <a:latin typeface="Trebuchet MS" panose="020B0603020202020204" pitchFamily="34" charset="0"/>
              </a:rPr>
              <a:t>: 60 x 8</a:t>
            </a:r>
          </a:p>
        </p:txBody>
      </p:sp>
    </p:spTree>
    <p:extLst>
      <p:ext uri="{BB962C8B-B14F-4D97-AF65-F5344CB8AC3E}">
        <p14:creationId xmlns:p14="http://schemas.microsoft.com/office/powerpoint/2010/main" val="351317987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fontAlgn="base">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 Example </a:t>
            </a:r>
            <a:endParaRPr lang="en-IN" sz="2800" b="1" dirty="0">
              <a:solidFill>
                <a:schemeClr val="bg1"/>
              </a:solidFill>
              <a:latin typeface="Corbel" panose="020B0503020204020204" pitchFamily="34" charset="0"/>
            </a:endParaRPr>
          </a:p>
        </p:txBody>
      </p:sp>
      <p:sp>
        <p:nvSpPr>
          <p:cNvPr id="4" name="Rectangle 3"/>
          <p:cNvSpPr/>
          <p:nvPr/>
        </p:nvSpPr>
        <p:spPr>
          <a:xfrm>
            <a:off x="261405" y="881773"/>
            <a:ext cx="7827518" cy="3323987"/>
          </a:xfrm>
          <a:prstGeom prst="rect">
            <a:avLst/>
          </a:prstGeom>
        </p:spPr>
        <p:txBody>
          <a:bodyPr wrap="square">
            <a:spAutoFit/>
          </a:bodyPr>
          <a:lstStyle/>
          <a:p>
            <a:pPr marL="342900" lvl="0" indent="-342900" fontAlgn="base">
              <a:lnSpc>
                <a:spcPct val="150000"/>
              </a:lnSpc>
              <a:buFont typeface="Arial" panose="020B0604020202020204" pitchFamily="34" charset="0"/>
              <a:buChar char="•"/>
            </a:pPr>
            <a:r>
              <a:rPr lang="en-US" sz="2000" dirty="0">
                <a:latin typeface="Trebuchet MS" panose="020B0603020202020204" pitchFamily="34" charset="0"/>
              </a:rPr>
              <a:t>The </a:t>
            </a:r>
            <a:r>
              <a:rPr lang="en-US" sz="2000" dirty="0">
                <a:solidFill>
                  <a:srgbClr val="0070C0"/>
                </a:solidFill>
                <a:latin typeface="Trebuchet MS" panose="020B0603020202020204" pitchFamily="34" charset="0"/>
              </a:rPr>
              <a:t>goal is to find the optimal order </a:t>
            </a:r>
            <a:r>
              <a:rPr lang="en-US" sz="2000" dirty="0">
                <a:latin typeface="Trebuchet MS" panose="020B0603020202020204" pitchFamily="34" charset="0"/>
              </a:rPr>
              <a:t>of multiplying these matrices that minimizes the total number of scalar multiplications.</a:t>
            </a:r>
          </a:p>
          <a:p>
            <a:pPr marL="342900" lvl="0" indent="-342900" fontAlgn="base">
              <a:lnSpc>
                <a:spcPct val="150000"/>
              </a:lnSpc>
              <a:buFont typeface="Arial" panose="020B0604020202020204" pitchFamily="34" charset="0"/>
              <a:buChar char="•"/>
            </a:pPr>
            <a:r>
              <a:rPr lang="en-US" sz="2000" dirty="0" smtClean="0">
                <a:latin typeface="Trebuchet MS" panose="020B0603020202020204" pitchFamily="34" charset="0"/>
              </a:rPr>
              <a:t>To </a:t>
            </a:r>
            <a:r>
              <a:rPr lang="en-US" sz="2000" dirty="0">
                <a:latin typeface="Trebuchet MS" panose="020B0603020202020204" pitchFamily="34" charset="0"/>
              </a:rPr>
              <a:t>solve this problem, we can apply the Matrix Chain Multiplication algorithm using dynamic programming. </a:t>
            </a:r>
            <a:r>
              <a:rPr lang="en-US" sz="2000" dirty="0" smtClean="0">
                <a:latin typeface="Trebuchet MS" panose="020B0603020202020204" pitchFamily="34" charset="0"/>
              </a:rPr>
              <a:t>Let’s </a:t>
            </a:r>
            <a:r>
              <a:rPr lang="en-US" sz="2000" dirty="0">
                <a:latin typeface="Trebuchet MS" panose="020B0603020202020204" pitchFamily="34" charset="0"/>
              </a:rPr>
              <a:t>go step by </a:t>
            </a:r>
            <a:r>
              <a:rPr lang="en-US" sz="2000" dirty="0" smtClean="0">
                <a:latin typeface="Trebuchet MS" panose="020B0603020202020204" pitchFamily="34" charset="0"/>
              </a:rPr>
              <a:t>step,</a:t>
            </a:r>
            <a:endParaRPr lang="en-US" sz="2000" dirty="0">
              <a:latin typeface="Trebuchet MS" panose="020B0603020202020204" pitchFamily="34" charset="0"/>
            </a:endParaRPr>
          </a:p>
          <a:p>
            <a:pPr lvl="0" fontAlgn="base">
              <a:lnSpc>
                <a:spcPct val="150000"/>
              </a:lnSpc>
            </a:pPr>
            <a:endParaRPr lang="en-US" sz="2000" dirty="0">
              <a:latin typeface="Trebuchet MS" panose="020B0603020202020204" pitchFamily="34" charset="0"/>
            </a:endParaRPr>
          </a:p>
        </p:txBody>
      </p:sp>
    </p:spTree>
    <p:extLst>
      <p:ext uri="{BB962C8B-B14F-4D97-AF65-F5344CB8AC3E}">
        <p14:creationId xmlns:p14="http://schemas.microsoft.com/office/powerpoint/2010/main" val="400554473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9525"/>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fontAlgn="base">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 Example </a:t>
            </a:r>
            <a:endParaRPr lang="en-IN" sz="2800" b="1" dirty="0">
              <a:solidFill>
                <a:schemeClr val="bg1"/>
              </a:solidFill>
              <a:latin typeface="Corbel" panose="020B0503020204020204" pitchFamily="34" charset="0"/>
            </a:endParaRPr>
          </a:p>
        </p:txBody>
      </p:sp>
      <p:pic>
        <p:nvPicPr>
          <p:cNvPr id="2" name="Picture 1"/>
          <p:cNvPicPr>
            <a:picLocks noChangeAspect="1"/>
          </p:cNvPicPr>
          <p:nvPr/>
        </p:nvPicPr>
        <p:blipFill>
          <a:blip r:embed="rId6"/>
          <a:stretch>
            <a:fillRect/>
          </a:stretch>
        </p:blipFill>
        <p:spPr>
          <a:xfrm>
            <a:off x="5892753" y="743727"/>
            <a:ext cx="2966122" cy="3031104"/>
          </a:xfrm>
          <a:prstGeom prst="rect">
            <a:avLst/>
          </a:prstGeom>
        </p:spPr>
      </p:pic>
      <p:sp>
        <p:nvSpPr>
          <p:cNvPr id="3" name="Rectangle 2"/>
          <p:cNvSpPr/>
          <p:nvPr/>
        </p:nvSpPr>
        <p:spPr>
          <a:xfrm>
            <a:off x="261404" y="968525"/>
            <a:ext cx="5626561" cy="2400657"/>
          </a:xfrm>
          <a:prstGeom prst="rect">
            <a:avLst/>
          </a:prstGeom>
        </p:spPr>
        <p:txBody>
          <a:bodyPr wrap="square">
            <a:spAutoFit/>
          </a:bodyPr>
          <a:lstStyle/>
          <a:p>
            <a:pPr lvl="0" fontAlgn="base">
              <a:lnSpc>
                <a:spcPct val="150000"/>
              </a:lnSpc>
            </a:pPr>
            <a:r>
              <a:rPr lang="en-US" sz="2000" dirty="0">
                <a:solidFill>
                  <a:srgbClr val="0070C0"/>
                </a:solidFill>
                <a:latin typeface="Trebuchet MS" panose="020B0603020202020204" pitchFamily="34" charset="0"/>
              </a:rPr>
              <a:t>Step 1: </a:t>
            </a:r>
          </a:p>
          <a:p>
            <a:pPr lvl="0" fontAlgn="base">
              <a:lnSpc>
                <a:spcPct val="150000"/>
              </a:lnSpc>
            </a:pPr>
            <a:r>
              <a:rPr lang="en-US" sz="2000" dirty="0">
                <a:latin typeface="Trebuchet MS" panose="020B0603020202020204" pitchFamily="34" charset="0"/>
              </a:rPr>
              <a:t>Create the table We create a 4×4 table to store the minimum number of scalar multiplications needed for each subchain. The table initially looks like this:</a:t>
            </a:r>
            <a:endParaRPr lang="en-IN" dirty="0"/>
          </a:p>
        </p:txBody>
      </p:sp>
    </p:spTree>
    <p:extLst>
      <p:ext uri="{BB962C8B-B14F-4D97-AF65-F5344CB8AC3E}">
        <p14:creationId xmlns:p14="http://schemas.microsoft.com/office/powerpoint/2010/main" val="141297364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954107"/>
          </a:xfrm>
          <a:prstGeom prst="rect">
            <a:avLst/>
          </a:prstGeom>
          <a:noFill/>
        </p:spPr>
        <p:txBody>
          <a:bodyPr wrap="square">
            <a:spAutoFit/>
          </a:bodyPr>
          <a:lstStyle/>
          <a:p>
            <a:pPr lvl="0" fontAlgn="base">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 Example</a:t>
            </a:r>
            <a:endParaRPr lang="en-IN" sz="2800" b="1" dirty="0">
              <a:solidFill>
                <a:schemeClr val="bg1"/>
              </a:solidFill>
              <a:latin typeface="Corbel" panose="020B0503020204020204" pitchFamily="34" charset="0"/>
            </a:endParaRPr>
          </a:p>
          <a:p>
            <a:pPr lvl="0">
              <a:defRPr/>
            </a:pPr>
            <a:r>
              <a:rPr lang="en-IN" sz="2800" b="1" dirty="0" smtClean="0">
                <a:solidFill>
                  <a:schemeClr val="bg1"/>
                </a:solidFill>
                <a:latin typeface="Corbel" panose="020B0503020204020204" pitchFamily="34" charset="0"/>
              </a:rPr>
              <a:t> </a:t>
            </a:r>
            <a:endParaRPr lang="en-IN" sz="2800" b="1" dirty="0">
              <a:solidFill>
                <a:schemeClr val="bg1"/>
              </a:solidFill>
              <a:latin typeface="Corbel" panose="020B0503020204020204" pitchFamily="34" charset="0"/>
            </a:endParaRPr>
          </a:p>
        </p:txBody>
      </p:sp>
      <p:sp>
        <p:nvSpPr>
          <p:cNvPr id="7" name="Rectangle 6"/>
          <p:cNvSpPr/>
          <p:nvPr/>
        </p:nvSpPr>
        <p:spPr>
          <a:xfrm>
            <a:off x="261405" y="785646"/>
            <a:ext cx="8706750" cy="3785652"/>
          </a:xfrm>
          <a:prstGeom prst="rect">
            <a:avLst/>
          </a:prstGeom>
        </p:spPr>
        <p:txBody>
          <a:bodyPr wrap="square">
            <a:spAutoFit/>
          </a:bodyPr>
          <a:lstStyle/>
          <a:p>
            <a:pPr lvl="0" fontAlgn="base">
              <a:lnSpc>
                <a:spcPct val="150000"/>
              </a:lnSpc>
            </a:pPr>
            <a:r>
              <a:rPr lang="en-US" sz="2000" dirty="0" smtClean="0">
                <a:solidFill>
                  <a:srgbClr val="0070C0"/>
                </a:solidFill>
                <a:latin typeface="Trebuchet MS" panose="020B0603020202020204" pitchFamily="34" charset="0"/>
              </a:rPr>
              <a:t>Step </a:t>
            </a:r>
            <a:r>
              <a:rPr lang="en-US" sz="2000" dirty="0">
                <a:solidFill>
                  <a:srgbClr val="0070C0"/>
                </a:solidFill>
                <a:latin typeface="Trebuchet MS" panose="020B0603020202020204" pitchFamily="34" charset="0"/>
              </a:rPr>
              <a:t>2: </a:t>
            </a:r>
            <a:endParaRPr lang="en-US" sz="2000" dirty="0" smtClean="0">
              <a:solidFill>
                <a:srgbClr val="0070C0"/>
              </a:solidFill>
              <a:latin typeface="Trebuchet MS" panose="020B0603020202020204" pitchFamily="34" charset="0"/>
            </a:endParaRPr>
          </a:p>
          <a:p>
            <a:pPr marL="342900" lvl="0" indent="-342900" fontAlgn="base">
              <a:lnSpc>
                <a:spcPct val="150000"/>
              </a:lnSpc>
              <a:buFont typeface="Arial" panose="020B0604020202020204" pitchFamily="34" charset="0"/>
              <a:buChar char="•"/>
            </a:pPr>
            <a:r>
              <a:rPr lang="en-US" sz="2000" dirty="0" smtClean="0">
                <a:latin typeface="Trebuchet MS" panose="020B0603020202020204" pitchFamily="34" charset="0"/>
              </a:rPr>
              <a:t>Fill </a:t>
            </a:r>
            <a:r>
              <a:rPr lang="en-US" sz="2000" dirty="0">
                <a:latin typeface="Trebuchet MS" panose="020B0603020202020204" pitchFamily="34" charset="0"/>
              </a:rPr>
              <a:t>in the table We iterate diagonally through the table, calculating the minimum number of scalar multiplications for each subchain.</a:t>
            </a:r>
          </a:p>
          <a:p>
            <a:pPr lvl="0" fontAlgn="base">
              <a:lnSpc>
                <a:spcPct val="150000"/>
              </a:lnSpc>
            </a:pPr>
            <a:r>
              <a:rPr lang="en-US" sz="2000" dirty="0" smtClean="0">
                <a:solidFill>
                  <a:srgbClr val="0070C0"/>
                </a:solidFill>
                <a:latin typeface="Trebuchet MS" panose="020B0603020202020204" pitchFamily="34" charset="0"/>
              </a:rPr>
              <a:t>First</a:t>
            </a:r>
            <a:r>
              <a:rPr lang="en-US" sz="2000" dirty="0">
                <a:solidFill>
                  <a:srgbClr val="0070C0"/>
                </a:solidFill>
                <a:latin typeface="Trebuchet MS" panose="020B0603020202020204" pitchFamily="34" charset="0"/>
              </a:rPr>
              <a:t>, we consider </a:t>
            </a:r>
            <a:r>
              <a:rPr lang="en-US" sz="2000" dirty="0" err="1">
                <a:solidFill>
                  <a:srgbClr val="0070C0"/>
                </a:solidFill>
                <a:latin typeface="Trebuchet MS" panose="020B0603020202020204" pitchFamily="34" charset="0"/>
              </a:rPr>
              <a:t>subchains</a:t>
            </a:r>
            <a:r>
              <a:rPr lang="en-US" sz="2000" dirty="0">
                <a:solidFill>
                  <a:srgbClr val="0070C0"/>
                </a:solidFill>
                <a:latin typeface="Trebuchet MS" panose="020B0603020202020204" pitchFamily="34" charset="0"/>
              </a:rPr>
              <a:t> of length 2: </a:t>
            </a:r>
            <a:endParaRPr lang="en-US" sz="2000" dirty="0" smtClean="0">
              <a:solidFill>
                <a:srgbClr val="0070C0"/>
              </a:solidFill>
              <a:latin typeface="Trebuchet MS" panose="020B0603020202020204" pitchFamily="34" charset="0"/>
            </a:endParaRPr>
          </a:p>
          <a:p>
            <a:pPr marL="342900" lvl="0" indent="-342900" fontAlgn="base">
              <a:lnSpc>
                <a:spcPct val="150000"/>
              </a:lnSpc>
              <a:buFont typeface="Arial" panose="020B0604020202020204" pitchFamily="34" charset="0"/>
              <a:buChar char="•"/>
            </a:pPr>
            <a:r>
              <a:rPr lang="en-US" sz="2000" dirty="0" smtClean="0">
                <a:latin typeface="Trebuchet MS" panose="020B0603020202020204" pitchFamily="34" charset="0"/>
              </a:rPr>
              <a:t>For </a:t>
            </a:r>
            <a:r>
              <a:rPr lang="en-US" sz="2000" dirty="0">
                <a:latin typeface="Trebuchet MS" panose="020B0603020202020204" pitchFamily="34" charset="0"/>
              </a:rPr>
              <a:t>the subchain AB, the only option is multiplying matrices A and B, resulting in 10 x 5 scalar multiplications. </a:t>
            </a:r>
            <a:endParaRPr lang="en-US" sz="2000" dirty="0" smtClean="0">
              <a:latin typeface="Trebuchet MS" panose="020B0603020202020204" pitchFamily="34" charset="0"/>
            </a:endParaRPr>
          </a:p>
          <a:p>
            <a:pPr marL="342900" lvl="0" indent="-342900" fontAlgn="base">
              <a:lnSpc>
                <a:spcPct val="150000"/>
              </a:lnSpc>
              <a:buFont typeface="Arial" panose="020B0604020202020204" pitchFamily="34" charset="0"/>
              <a:buChar char="•"/>
            </a:pPr>
            <a:r>
              <a:rPr lang="en-US" sz="2000" dirty="0" smtClean="0">
                <a:latin typeface="Trebuchet MS" panose="020B0603020202020204" pitchFamily="34" charset="0"/>
              </a:rPr>
              <a:t>For </a:t>
            </a:r>
            <a:r>
              <a:rPr lang="en-US" sz="2000" dirty="0">
                <a:latin typeface="Trebuchet MS" panose="020B0603020202020204" pitchFamily="34" charset="0"/>
              </a:rPr>
              <a:t>the subchain BC, the only option is multiplying matrices B and C, resulting in 30 x 5 scalar multiplications. </a:t>
            </a:r>
            <a:endParaRPr lang="en-IN" dirty="0"/>
          </a:p>
        </p:txBody>
      </p:sp>
    </p:spTree>
    <p:extLst>
      <p:ext uri="{BB962C8B-B14F-4D97-AF65-F5344CB8AC3E}">
        <p14:creationId xmlns:p14="http://schemas.microsoft.com/office/powerpoint/2010/main" val="225448766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954107"/>
          </a:xfrm>
          <a:prstGeom prst="rect">
            <a:avLst/>
          </a:prstGeom>
          <a:noFill/>
        </p:spPr>
        <p:txBody>
          <a:bodyPr wrap="square">
            <a:spAutoFit/>
          </a:bodyPr>
          <a:lstStyle/>
          <a:p>
            <a:pPr lvl="0" fontAlgn="base">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 Example</a:t>
            </a:r>
            <a:endParaRPr lang="en-IN" sz="2800" b="1" dirty="0">
              <a:solidFill>
                <a:schemeClr val="bg1"/>
              </a:solidFill>
              <a:latin typeface="Corbel" panose="020B0503020204020204" pitchFamily="34" charset="0"/>
            </a:endParaRPr>
          </a:p>
          <a:p>
            <a:pPr lvl="0">
              <a:defRPr/>
            </a:pPr>
            <a:r>
              <a:rPr lang="en-IN" sz="2800" b="1" dirty="0" smtClean="0">
                <a:solidFill>
                  <a:schemeClr val="bg1"/>
                </a:solidFill>
                <a:latin typeface="Corbel" panose="020B0503020204020204" pitchFamily="34" charset="0"/>
              </a:rPr>
              <a:t> </a:t>
            </a:r>
            <a:endParaRPr lang="en-IN" sz="2800" b="1" dirty="0">
              <a:solidFill>
                <a:schemeClr val="bg1"/>
              </a:solidFill>
              <a:latin typeface="Corbel" panose="020B0503020204020204" pitchFamily="34" charset="0"/>
            </a:endParaRPr>
          </a:p>
        </p:txBody>
      </p:sp>
      <p:sp>
        <p:nvSpPr>
          <p:cNvPr id="7" name="Rectangle 6"/>
          <p:cNvSpPr/>
          <p:nvPr/>
        </p:nvSpPr>
        <p:spPr>
          <a:xfrm>
            <a:off x="261405" y="785646"/>
            <a:ext cx="3654104" cy="4108817"/>
          </a:xfrm>
          <a:prstGeom prst="rect">
            <a:avLst/>
          </a:prstGeom>
        </p:spPr>
        <p:txBody>
          <a:bodyPr wrap="square">
            <a:spAutoFit/>
          </a:bodyPr>
          <a:lstStyle/>
          <a:p>
            <a:pPr marL="342900" lvl="0" indent="-342900" fontAlgn="base">
              <a:lnSpc>
                <a:spcPct val="150000"/>
              </a:lnSpc>
              <a:buFont typeface="Arial" panose="020B0604020202020204" pitchFamily="34" charset="0"/>
              <a:buChar char="•"/>
            </a:pPr>
            <a:r>
              <a:rPr lang="en-US" sz="2000" dirty="0">
                <a:latin typeface="Trebuchet MS" panose="020B0603020202020204" pitchFamily="34" charset="0"/>
              </a:rPr>
              <a:t>For the subchain CD, the only option is multiplying matrices C and D, resulting in 5 x 8 scalar multiplications</a:t>
            </a:r>
            <a:r>
              <a:rPr lang="en-US" sz="2000" dirty="0" smtClean="0">
                <a:latin typeface="Trebuchet MS" panose="020B0603020202020204" pitchFamily="34" charset="0"/>
              </a:rPr>
              <a:t>.</a:t>
            </a:r>
          </a:p>
          <a:p>
            <a:pPr marL="342900" lvl="0" indent="-342900" fontAlgn="base">
              <a:lnSpc>
                <a:spcPct val="150000"/>
              </a:lnSpc>
              <a:buFont typeface="Arial" panose="020B0604020202020204" pitchFamily="34" charset="0"/>
              <a:buChar char="•"/>
            </a:pPr>
            <a:r>
              <a:rPr lang="en-US" sz="2000" dirty="0">
                <a:latin typeface="Trebuchet MS" panose="020B0603020202020204" pitchFamily="34" charset="0"/>
              </a:rPr>
              <a:t>Updating the table:</a:t>
            </a:r>
          </a:p>
          <a:p>
            <a:pPr marL="342900" lvl="0" indent="-342900" fontAlgn="base">
              <a:lnSpc>
                <a:spcPct val="150000"/>
              </a:lnSpc>
              <a:buFont typeface="Arial" panose="020B0604020202020204" pitchFamily="34" charset="0"/>
              <a:buChar char="•"/>
            </a:pPr>
            <a:endParaRPr lang="en-US" sz="2000" dirty="0">
              <a:latin typeface="Trebuchet MS" panose="020B0603020202020204" pitchFamily="34" charset="0"/>
            </a:endParaRPr>
          </a:p>
          <a:p>
            <a:pPr marL="342900" lvl="0" indent="-342900" fontAlgn="base">
              <a:lnSpc>
                <a:spcPct val="150000"/>
              </a:lnSpc>
              <a:buFont typeface="Arial" panose="020B0604020202020204" pitchFamily="34" charset="0"/>
              <a:buChar char="•"/>
            </a:pPr>
            <a:endParaRPr lang="en-US" sz="2000" dirty="0">
              <a:latin typeface="Trebuchet MS" panose="020B0603020202020204" pitchFamily="34" charset="0"/>
            </a:endParaRPr>
          </a:p>
          <a:p>
            <a:pPr marL="342900" lvl="0" indent="-342900" fontAlgn="base">
              <a:lnSpc>
                <a:spcPct val="150000"/>
              </a:lnSpc>
              <a:buFont typeface="Arial" panose="020B0604020202020204" pitchFamily="34" charset="0"/>
              <a:buChar char="•"/>
            </a:pPr>
            <a:endParaRPr lang="en-IN" dirty="0"/>
          </a:p>
        </p:txBody>
      </p:sp>
      <p:pic>
        <p:nvPicPr>
          <p:cNvPr id="2" name="Picture 1"/>
          <p:cNvPicPr>
            <a:picLocks noChangeAspect="1"/>
          </p:cNvPicPr>
          <p:nvPr/>
        </p:nvPicPr>
        <p:blipFill>
          <a:blip r:embed="rId6"/>
          <a:stretch>
            <a:fillRect/>
          </a:stretch>
        </p:blipFill>
        <p:spPr>
          <a:xfrm>
            <a:off x="4450814" y="1030776"/>
            <a:ext cx="4148355" cy="2943636"/>
          </a:xfrm>
          <a:prstGeom prst="rect">
            <a:avLst/>
          </a:prstGeom>
        </p:spPr>
      </p:pic>
      <p:sp>
        <p:nvSpPr>
          <p:cNvPr id="3" name="Right Arrow 2"/>
          <p:cNvSpPr/>
          <p:nvPr/>
        </p:nvSpPr>
        <p:spPr>
          <a:xfrm>
            <a:off x="3071446" y="3270739"/>
            <a:ext cx="721755" cy="2461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5768345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fontAlgn="base">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 Example</a:t>
            </a:r>
            <a:endParaRPr lang="en-IN" sz="2800" b="1" dirty="0">
              <a:solidFill>
                <a:schemeClr val="bg1"/>
              </a:solidFill>
              <a:latin typeface="Corbel" panose="020B0503020204020204" pitchFamily="34" charset="0"/>
            </a:endParaRPr>
          </a:p>
        </p:txBody>
      </p:sp>
      <p:sp>
        <p:nvSpPr>
          <p:cNvPr id="7" name="Rectangle 6"/>
          <p:cNvSpPr/>
          <p:nvPr/>
        </p:nvSpPr>
        <p:spPr>
          <a:xfrm>
            <a:off x="261405" y="785646"/>
            <a:ext cx="8706750" cy="4570482"/>
          </a:xfrm>
          <a:prstGeom prst="rect">
            <a:avLst/>
          </a:prstGeom>
        </p:spPr>
        <p:txBody>
          <a:bodyPr wrap="square">
            <a:spAutoFit/>
          </a:bodyPr>
          <a:lstStyle/>
          <a:p>
            <a:pPr lvl="0" fontAlgn="base">
              <a:lnSpc>
                <a:spcPct val="150000"/>
              </a:lnSpc>
            </a:pPr>
            <a:r>
              <a:rPr lang="en-US" sz="2000" b="1" dirty="0">
                <a:solidFill>
                  <a:srgbClr val="0070C0"/>
                </a:solidFill>
                <a:latin typeface="Trebuchet MS" panose="020B0603020202020204" pitchFamily="34" charset="0"/>
              </a:rPr>
              <a:t>Next, we consider </a:t>
            </a:r>
            <a:r>
              <a:rPr lang="en-US" sz="2000" b="1" dirty="0" err="1">
                <a:solidFill>
                  <a:srgbClr val="0070C0"/>
                </a:solidFill>
                <a:latin typeface="Trebuchet MS" panose="020B0603020202020204" pitchFamily="34" charset="0"/>
              </a:rPr>
              <a:t>subchains</a:t>
            </a:r>
            <a:r>
              <a:rPr lang="en-US" sz="2000" b="1" dirty="0">
                <a:solidFill>
                  <a:srgbClr val="0070C0"/>
                </a:solidFill>
                <a:latin typeface="Trebuchet MS" panose="020B0603020202020204" pitchFamily="34" charset="0"/>
              </a:rPr>
              <a:t> of length 3: </a:t>
            </a:r>
            <a:endParaRPr lang="en-US" sz="2000" b="1" dirty="0" smtClean="0">
              <a:solidFill>
                <a:srgbClr val="0070C0"/>
              </a:solidFill>
              <a:latin typeface="Trebuchet MS" panose="020B0603020202020204" pitchFamily="34" charset="0"/>
            </a:endParaRPr>
          </a:p>
          <a:p>
            <a:pPr marL="342900" lvl="0" indent="-342900" fontAlgn="base">
              <a:lnSpc>
                <a:spcPct val="150000"/>
              </a:lnSpc>
              <a:buFont typeface="Arial" panose="020B0604020202020204" pitchFamily="34" charset="0"/>
              <a:buChar char="•"/>
            </a:pPr>
            <a:r>
              <a:rPr lang="en-US" sz="2000" dirty="0" smtClean="0">
                <a:solidFill>
                  <a:schemeClr val="tx1"/>
                </a:solidFill>
                <a:latin typeface="Trebuchet MS" panose="020B0603020202020204" pitchFamily="34" charset="0"/>
              </a:rPr>
              <a:t>For </a:t>
            </a:r>
            <a:r>
              <a:rPr lang="en-US" sz="2000" dirty="0">
                <a:solidFill>
                  <a:schemeClr val="tx1"/>
                </a:solidFill>
                <a:latin typeface="Trebuchet MS" panose="020B0603020202020204" pitchFamily="34" charset="0"/>
              </a:rPr>
              <a:t>the subchain ABC, we have two options: (AB)C or A(BC). Let’s calculate the scalar multiplications for each option:</a:t>
            </a:r>
          </a:p>
          <a:p>
            <a:pPr marL="539750" lvl="0" indent="-363538" fontAlgn="base">
              <a:lnSpc>
                <a:spcPct val="150000"/>
              </a:lnSpc>
              <a:buFont typeface="Wingdings" panose="05000000000000000000" pitchFamily="2" charset="2"/>
              <a:buChar char="ü"/>
            </a:pPr>
            <a:r>
              <a:rPr lang="en-US" sz="2000" dirty="0" smtClean="0">
                <a:solidFill>
                  <a:srgbClr val="0070C0"/>
                </a:solidFill>
                <a:latin typeface="Trebuchet MS" panose="020B0603020202020204" pitchFamily="34" charset="0"/>
              </a:rPr>
              <a:t>(</a:t>
            </a:r>
            <a:r>
              <a:rPr lang="en-US" sz="2000" dirty="0">
                <a:solidFill>
                  <a:srgbClr val="0070C0"/>
                </a:solidFill>
                <a:latin typeface="Trebuchet MS" panose="020B0603020202020204" pitchFamily="34" charset="0"/>
              </a:rPr>
              <a:t>AB)C: </a:t>
            </a:r>
            <a:r>
              <a:rPr lang="en-US" sz="2000" dirty="0">
                <a:solidFill>
                  <a:schemeClr val="tx1"/>
                </a:solidFill>
                <a:latin typeface="Trebuchet MS" panose="020B0603020202020204" pitchFamily="34" charset="0"/>
              </a:rPr>
              <a:t>We multiply matrices A and B (10 x 30) resulting in a temporary matrix of size 10 x 5. </a:t>
            </a:r>
            <a:endParaRPr lang="en-US" sz="2000" dirty="0" smtClean="0">
              <a:solidFill>
                <a:schemeClr val="tx1"/>
              </a:solidFill>
              <a:latin typeface="Trebuchet MS" panose="020B0603020202020204" pitchFamily="34" charset="0"/>
            </a:endParaRPr>
          </a:p>
          <a:p>
            <a:pPr marL="539750" lvl="0" indent="-363538" fontAlgn="base">
              <a:lnSpc>
                <a:spcPct val="150000"/>
              </a:lnSpc>
              <a:buFont typeface="Wingdings" panose="05000000000000000000" pitchFamily="2" charset="2"/>
              <a:buChar char="ü"/>
            </a:pPr>
            <a:r>
              <a:rPr lang="en-US" sz="2000" dirty="0" smtClean="0">
                <a:solidFill>
                  <a:schemeClr val="tx1"/>
                </a:solidFill>
                <a:latin typeface="Trebuchet MS" panose="020B0603020202020204" pitchFamily="34" charset="0"/>
              </a:rPr>
              <a:t>Then</a:t>
            </a:r>
            <a:r>
              <a:rPr lang="en-US" sz="2000" dirty="0">
                <a:solidFill>
                  <a:schemeClr val="tx1"/>
                </a:solidFill>
                <a:latin typeface="Trebuchet MS" panose="020B0603020202020204" pitchFamily="34" charset="0"/>
              </a:rPr>
              <a:t>, we multiply this temporary matrix with matrix C (10 x 5) resulting in a final matrix of size 10 x 60. </a:t>
            </a:r>
            <a:endParaRPr lang="en-US" sz="2000" dirty="0" smtClean="0">
              <a:solidFill>
                <a:schemeClr val="tx1"/>
              </a:solidFill>
              <a:latin typeface="Trebuchet MS" panose="020B0603020202020204" pitchFamily="34" charset="0"/>
            </a:endParaRPr>
          </a:p>
          <a:p>
            <a:pPr marL="539750" lvl="0" indent="-363538" fontAlgn="base">
              <a:lnSpc>
                <a:spcPct val="150000"/>
              </a:lnSpc>
              <a:buFont typeface="Wingdings" panose="05000000000000000000" pitchFamily="2" charset="2"/>
              <a:buChar char="ü"/>
            </a:pPr>
            <a:r>
              <a:rPr lang="en-US" sz="2000" dirty="0" smtClean="0">
                <a:solidFill>
                  <a:schemeClr val="tx1"/>
                </a:solidFill>
                <a:latin typeface="Trebuchet MS" panose="020B0603020202020204" pitchFamily="34" charset="0"/>
              </a:rPr>
              <a:t>The </a:t>
            </a:r>
            <a:r>
              <a:rPr lang="en-US" sz="2000" b="1" dirty="0">
                <a:solidFill>
                  <a:srgbClr val="0070C0"/>
                </a:solidFill>
                <a:latin typeface="Trebuchet MS" panose="020B0603020202020204" pitchFamily="34" charset="0"/>
              </a:rPr>
              <a:t>total scalar </a:t>
            </a:r>
            <a:r>
              <a:rPr lang="en-US" sz="2000" dirty="0">
                <a:solidFill>
                  <a:schemeClr val="tx1"/>
                </a:solidFill>
                <a:latin typeface="Trebuchet MS" panose="020B0603020202020204" pitchFamily="34" charset="0"/>
              </a:rPr>
              <a:t>multiplications for this option are </a:t>
            </a:r>
            <a:r>
              <a:rPr lang="en-US" sz="2000" dirty="0">
                <a:solidFill>
                  <a:srgbClr val="FF0000"/>
                </a:solidFill>
                <a:latin typeface="Trebuchet MS" panose="020B0603020202020204" pitchFamily="34" charset="0"/>
              </a:rPr>
              <a:t>10 x 30 x 5 + 10 x 5 x 60 = 4500.</a:t>
            </a:r>
          </a:p>
          <a:p>
            <a:pPr marL="176212" lvl="0" fontAlgn="base">
              <a:lnSpc>
                <a:spcPct val="150000"/>
              </a:lnSpc>
            </a:pPr>
            <a:endParaRPr lang="en-IN" dirty="0">
              <a:solidFill>
                <a:schemeClr val="tx1"/>
              </a:solidFill>
            </a:endParaRPr>
          </a:p>
        </p:txBody>
      </p:sp>
    </p:spTree>
    <p:extLst>
      <p:ext uri="{BB962C8B-B14F-4D97-AF65-F5344CB8AC3E}">
        <p14:creationId xmlns:p14="http://schemas.microsoft.com/office/powerpoint/2010/main" val="281249135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2"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fontAlgn="base">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 Example</a:t>
            </a:r>
            <a:endParaRPr lang="en-IN" sz="2800" b="1" dirty="0">
              <a:solidFill>
                <a:schemeClr val="bg1"/>
              </a:solidFill>
              <a:latin typeface="Corbel" panose="020B0503020204020204" pitchFamily="34" charset="0"/>
            </a:endParaRPr>
          </a:p>
        </p:txBody>
      </p:sp>
      <p:sp>
        <p:nvSpPr>
          <p:cNvPr id="7" name="Rectangle 6"/>
          <p:cNvSpPr/>
          <p:nvPr/>
        </p:nvSpPr>
        <p:spPr>
          <a:xfrm>
            <a:off x="342814" y="743727"/>
            <a:ext cx="8516061" cy="3785652"/>
          </a:xfrm>
          <a:prstGeom prst="rect">
            <a:avLst/>
          </a:prstGeom>
        </p:spPr>
        <p:txBody>
          <a:bodyPr wrap="square">
            <a:spAutoFit/>
          </a:bodyPr>
          <a:lstStyle/>
          <a:p>
            <a:pPr marL="342900" lvl="0" indent="-342900" fontAlgn="base">
              <a:lnSpc>
                <a:spcPct val="150000"/>
              </a:lnSpc>
              <a:buFont typeface="Wingdings" panose="05000000000000000000" pitchFamily="2" charset="2"/>
              <a:buChar char="ü"/>
            </a:pPr>
            <a:r>
              <a:rPr lang="en-US" sz="2000" dirty="0">
                <a:solidFill>
                  <a:srgbClr val="0070C0"/>
                </a:solidFill>
                <a:latin typeface="Trebuchet MS" panose="020B0603020202020204" pitchFamily="34" charset="0"/>
              </a:rPr>
              <a:t>A(BC): </a:t>
            </a:r>
            <a:r>
              <a:rPr lang="en-US" sz="2000" dirty="0">
                <a:solidFill>
                  <a:schemeClr val="tx1"/>
                </a:solidFill>
                <a:latin typeface="Trebuchet MS" panose="020B0603020202020204" pitchFamily="34" charset="0"/>
              </a:rPr>
              <a:t>We multiply matrices B and C (30 x 5) resulting in a temporary matrix of size 30 x 60. </a:t>
            </a:r>
            <a:endParaRPr lang="en-US" sz="2000" dirty="0" smtClean="0">
              <a:solidFill>
                <a:schemeClr val="tx1"/>
              </a:solidFill>
              <a:latin typeface="Trebuchet MS" panose="020B0603020202020204" pitchFamily="34" charset="0"/>
            </a:endParaRPr>
          </a:p>
          <a:p>
            <a:pPr marL="342900" lvl="0" indent="-342900" fontAlgn="base">
              <a:lnSpc>
                <a:spcPct val="150000"/>
              </a:lnSpc>
              <a:buFont typeface="Wingdings" panose="05000000000000000000" pitchFamily="2" charset="2"/>
              <a:buChar char="ü"/>
            </a:pPr>
            <a:r>
              <a:rPr lang="en-US" sz="2000" dirty="0" smtClean="0">
                <a:solidFill>
                  <a:schemeClr val="tx1"/>
                </a:solidFill>
                <a:latin typeface="Trebuchet MS" panose="020B0603020202020204" pitchFamily="34" charset="0"/>
              </a:rPr>
              <a:t>Then</a:t>
            </a:r>
            <a:r>
              <a:rPr lang="en-US" sz="2000" dirty="0">
                <a:solidFill>
                  <a:schemeClr val="tx1"/>
                </a:solidFill>
                <a:latin typeface="Trebuchet MS" panose="020B0603020202020204" pitchFamily="34" charset="0"/>
              </a:rPr>
              <a:t>, we multiply matrix A (10 x 30) with this temporary matrix, resulting in a final matrix of size 10 x 60. </a:t>
            </a:r>
            <a:endParaRPr lang="en-US" sz="2000" dirty="0" smtClean="0">
              <a:solidFill>
                <a:schemeClr val="tx1"/>
              </a:solidFill>
              <a:latin typeface="Trebuchet MS" panose="020B0603020202020204" pitchFamily="34" charset="0"/>
            </a:endParaRPr>
          </a:p>
          <a:p>
            <a:pPr marL="342900" lvl="0" indent="-342900" fontAlgn="base">
              <a:lnSpc>
                <a:spcPct val="150000"/>
              </a:lnSpc>
              <a:buFont typeface="Wingdings" panose="05000000000000000000" pitchFamily="2" charset="2"/>
              <a:buChar char="ü"/>
            </a:pPr>
            <a:r>
              <a:rPr lang="en-US" sz="2000" dirty="0" smtClean="0">
                <a:solidFill>
                  <a:schemeClr val="tx1"/>
                </a:solidFill>
                <a:latin typeface="Trebuchet MS" panose="020B0603020202020204" pitchFamily="34" charset="0"/>
              </a:rPr>
              <a:t>The </a:t>
            </a:r>
            <a:r>
              <a:rPr lang="en-US" sz="2000" b="1" dirty="0">
                <a:solidFill>
                  <a:srgbClr val="0070C0"/>
                </a:solidFill>
                <a:latin typeface="Trebuchet MS" panose="020B0603020202020204" pitchFamily="34" charset="0"/>
              </a:rPr>
              <a:t>total scalar </a:t>
            </a:r>
            <a:r>
              <a:rPr lang="en-US" sz="2000" dirty="0">
                <a:solidFill>
                  <a:schemeClr val="tx1"/>
                </a:solidFill>
                <a:latin typeface="Trebuchet MS" panose="020B0603020202020204" pitchFamily="34" charset="0"/>
              </a:rPr>
              <a:t>multiplications for this option are </a:t>
            </a:r>
            <a:r>
              <a:rPr lang="en-US" sz="2000" dirty="0">
                <a:solidFill>
                  <a:srgbClr val="FF0000"/>
                </a:solidFill>
                <a:latin typeface="Trebuchet MS" panose="020B0603020202020204" pitchFamily="34" charset="0"/>
              </a:rPr>
              <a:t>10 x 30 x 60 + 10 x 5 x 60 = 9000</a:t>
            </a:r>
            <a:r>
              <a:rPr lang="en-US" sz="2000" dirty="0" smtClean="0">
                <a:solidFill>
                  <a:srgbClr val="FF0000"/>
                </a:solidFill>
                <a:latin typeface="Trebuchet MS" panose="020B0603020202020204" pitchFamily="34" charset="0"/>
              </a:rPr>
              <a:t>.</a:t>
            </a:r>
          </a:p>
          <a:p>
            <a:pPr lvl="0" fontAlgn="base">
              <a:lnSpc>
                <a:spcPct val="150000"/>
              </a:lnSpc>
            </a:pPr>
            <a:endParaRPr lang="en-IN" sz="2000" b="1" dirty="0" smtClean="0">
              <a:solidFill>
                <a:schemeClr val="tx1"/>
              </a:solidFill>
              <a:latin typeface="Trebuchet MS" panose="020B0603020202020204" pitchFamily="34" charset="0"/>
            </a:endParaRPr>
          </a:p>
          <a:p>
            <a:pPr lvl="0" fontAlgn="base">
              <a:lnSpc>
                <a:spcPct val="150000"/>
              </a:lnSpc>
            </a:pPr>
            <a:r>
              <a:rPr lang="en-IN" sz="2000" b="1" dirty="0" smtClean="0">
                <a:solidFill>
                  <a:schemeClr val="tx1"/>
                </a:solidFill>
                <a:latin typeface="Trebuchet MS" panose="020B0603020202020204" pitchFamily="34" charset="0"/>
              </a:rPr>
              <a:t>Updating </a:t>
            </a:r>
            <a:r>
              <a:rPr lang="en-IN" sz="2000" b="1" dirty="0">
                <a:solidFill>
                  <a:schemeClr val="tx1"/>
                </a:solidFill>
                <a:latin typeface="Trebuchet MS" panose="020B0603020202020204" pitchFamily="34" charset="0"/>
              </a:rPr>
              <a:t>the table:</a:t>
            </a:r>
          </a:p>
        </p:txBody>
      </p:sp>
      <p:sp>
        <p:nvSpPr>
          <p:cNvPr id="3" name="Right Arrow 2"/>
          <p:cNvSpPr/>
          <p:nvPr/>
        </p:nvSpPr>
        <p:spPr>
          <a:xfrm>
            <a:off x="3142731" y="4108938"/>
            <a:ext cx="785446" cy="187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p:cNvPicPr>
            <a:picLocks noChangeAspect="1"/>
          </p:cNvPicPr>
          <p:nvPr/>
        </p:nvPicPr>
        <p:blipFill rotWithShape="1">
          <a:blip r:embed="rId6"/>
          <a:srcRect t="4892"/>
          <a:stretch/>
        </p:blipFill>
        <p:spPr>
          <a:xfrm>
            <a:off x="4489938" y="3071446"/>
            <a:ext cx="4044462" cy="1934308"/>
          </a:xfrm>
          <a:prstGeom prst="rect">
            <a:avLst/>
          </a:prstGeom>
        </p:spPr>
      </p:pic>
    </p:spTree>
    <p:extLst>
      <p:ext uri="{BB962C8B-B14F-4D97-AF65-F5344CB8AC3E}">
        <p14:creationId xmlns:p14="http://schemas.microsoft.com/office/powerpoint/2010/main" val="337369997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2"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fontAlgn="base">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 Example</a:t>
            </a:r>
            <a:endParaRPr lang="en-IN" sz="2800" b="1" dirty="0">
              <a:solidFill>
                <a:schemeClr val="bg1"/>
              </a:solidFill>
              <a:latin typeface="Corbel" panose="020B0503020204020204" pitchFamily="34" charset="0"/>
            </a:endParaRPr>
          </a:p>
        </p:txBody>
      </p:sp>
      <p:sp>
        <p:nvSpPr>
          <p:cNvPr id="7" name="Rectangle 6"/>
          <p:cNvSpPr/>
          <p:nvPr/>
        </p:nvSpPr>
        <p:spPr>
          <a:xfrm>
            <a:off x="342814" y="743727"/>
            <a:ext cx="8516061" cy="3785652"/>
          </a:xfrm>
          <a:prstGeom prst="rect">
            <a:avLst/>
          </a:prstGeom>
        </p:spPr>
        <p:txBody>
          <a:bodyPr wrap="square">
            <a:spAutoFit/>
          </a:bodyPr>
          <a:lstStyle/>
          <a:p>
            <a:pPr marL="342900" lvl="0" indent="-342900" fontAlgn="base">
              <a:lnSpc>
                <a:spcPct val="150000"/>
              </a:lnSpc>
              <a:buFont typeface="Wingdings" panose="05000000000000000000" pitchFamily="2" charset="2"/>
              <a:buChar char="ü"/>
            </a:pPr>
            <a:r>
              <a:rPr lang="en-US" sz="2000" dirty="0">
                <a:solidFill>
                  <a:srgbClr val="0070C0"/>
                </a:solidFill>
                <a:latin typeface="Trebuchet MS" panose="020B0603020202020204" pitchFamily="34" charset="0"/>
              </a:rPr>
              <a:t>A(BC): </a:t>
            </a:r>
            <a:r>
              <a:rPr lang="en-US" sz="2000" dirty="0">
                <a:solidFill>
                  <a:schemeClr val="tx1"/>
                </a:solidFill>
                <a:latin typeface="Trebuchet MS" panose="020B0603020202020204" pitchFamily="34" charset="0"/>
              </a:rPr>
              <a:t>We multiply matrices B and C (30 x 5) resulting in a temporary matrix of size 30 x 60. </a:t>
            </a:r>
            <a:endParaRPr lang="en-US" sz="2000" dirty="0" smtClean="0">
              <a:solidFill>
                <a:schemeClr val="tx1"/>
              </a:solidFill>
              <a:latin typeface="Trebuchet MS" panose="020B0603020202020204" pitchFamily="34" charset="0"/>
            </a:endParaRPr>
          </a:p>
          <a:p>
            <a:pPr marL="342900" lvl="0" indent="-342900" fontAlgn="base">
              <a:lnSpc>
                <a:spcPct val="150000"/>
              </a:lnSpc>
              <a:buFont typeface="Wingdings" panose="05000000000000000000" pitchFamily="2" charset="2"/>
              <a:buChar char="ü"/>
            </a:pPr>
            <a:r>
              <a:rPr lang="en-US" sz="2000" dirty="0" smtClean="0">
                <a:solidFill>
                  <a:schemeClr val="tx1"/>
                </a:solidFill>
                <a:latin typeface="Trebuchet MS" panose="020B0603020202020204" pitchFamily="34" charset="0"/>
              </a:rPr>
              <a:t>Then</a:t>
            </a:r>
            <a:r>
              <a:rPr lang="en-US" sz="2000" dirty="0">
                <a:solidFill>
                  <a:schemeClr val="tx1"/>
                </a:solidFill>
                <a:latin typeface="Trebuchet MS" panose="020B0603020202020204" pitchFamily="34" charset="0"/>
              </a:rPr>
              <a:t>, we multiply matrix A (10 x 30) with this temporary matrix, resulting in a final matrix of size 10 x 60. </a:t>
            </a:r>
            <a:endParaRPr lang="en-US" sz="2000" dirty="0" smtClean="0">
              <a:solidFill>
                <a:schemeClr val="tx1"/>
              </a:solidFill>
              <a:latin typeface="Trebuchet MS" panose="020B0603020202020204" pitchFamily="34" charset="0"/>
            </a:endParaRPr>
          </a:p>
          <a:p>
            <a:pPr marL="342900" lvl="0" indent="-342900" fontAlgn="base">
              <a:lnSpc>
                <a:spcPct val="150000"/>
              </a:lnSpc>
              <a:buFont typeface="Wingdings" panose="05000000000000000000" pitchFamily="2" charset="2"/>
              <a:buChar char="ü"/>
            </a:pPr>
            <a:r>
              <a:rPr lang="en-US" sz="2000" dirty="0" smtClean="0">
                <a:solidFill>
                  <a:schemeClr val="tx1"/>
                </a:solidFill>
                <a:latin typeface="Trebuchet MS" panose="020B0603020202020204" pitchFamily="34" charset="0"/>
              </a:rPr>
              <a:t>The </a:t>
            </a:r>
            <a:r>
              <a:rPr lang="en-US" sz="2000" b="1" dirty="0">
                <a:solidFill>
                  <a:srgbClr val="0070C0"/>
                </a:solidFill>
                <a:latin typeface="Trebuchet MS" panose="020B0603020202020204" pitchFamily="34" charset="0"/>
              </a:rPr>
              <a:t>total scalar </a:t>
            </a:r>
            <a:r>
              <a:rPr lang="en-US" sz="2000" dirty="0">
                <a:solidFill>
                  <a:schemeClr val="tx1"/>
                </a:solidFill>
                <a:latin typeface="Trebuchet MS" panose="020B0603020202020204" pitchFamily="34" charset="0"/>
              </a:rPr>
              <a:t>multiplications for this option are </a:t>
            </a:r>
            <a:r>
              <a:rPr lang="en-US" sz="2000" dirty="0">
                <a:solidFill>
                  <a:srgbClr val="FF0000"/>
                </a:solidFill>
                <a:latin typeface="Trebuchet MS" panose="020B0603020202020204" pitchFamily="34" charset="0"/>
              </a:rPr>
              <a:t>10 x 30 x 60 + 10 x 5 x 60 = 9000</a:t>
            </a:r>
            <a:r>
              <a:rPr lang="en-US" sz="2000" dirty="0" smtClean="0">
                <a:solidFill>
                  <a:srgbClr val="FF0000"/>
                </a:solidFill>
                <a:latin typeface="Trebuchet MS" panose="020B0603020202020204" pitchFamily="34" charset="0"/>
              </a:rPr>
              <a:t>.</a:t>
            </a:r>
          </a:p>
          <a:p>
            <a:pPr lvl="0" fontAlgn="base">
              <a:lnSpc>
                <a:spcPct val="150000"/>
              </a:lnSpc>
            </a:pPr>
            <a:endParaRPr lang="en-IN" sz="2000" b="1" dirty="0" smtClean="0">
              <a:solidFill>
                <a:schemeClr val="tx1"/>
              </a:solidFill>
              <a:latin typeface="Trebuchet MS" panose="020B0603020202020204" pitchFamily="34" charset="0"/>
            </a:endParaRPr>
          </a:p>
          <a:p>
            <a:pPr lvl="0" fontAlgn="base">
              <a:lnSpc>
                <a:spcPct val="150000"/>
              </a:lnSpc>
            </a:pPr>
            <a:r>
              <a:rPr lang="en-IN" sz="2000" b="1" dirty="0" smtClean="0">
                <a:solidFill>
                  <a:schemeClr val="tx1"/>
                </a:solidFill>
                <a:latin typeface="Trebuchet MS" panose="020B0603020202020204" pitchFamily="34" charset="0"/>
              </a:rPr>
              <a:t>Updating </a:t>
            </a:r>
            <a:r>
              <a:rPr lang="en-IN" sz="2000" b="1" dirty="0">
                <a:solidFill>
                  <a:schemeClr val="tx1"/>
                </a:solidFill>
                <a:latin typeface="Trebuchet MS" panose="020B0603020202020204" pitchFamily="34" charset="0"/>
              </a:rPr>
              <a:t>the table:</a:t>
            </a:r>
          </a:p>
        </p:txBody>
      </p:sp>
      <p:sp>
        <p:nvSpPr>
          <p:cNvPr id="3" name="Right Arrow 2"/>
          <p:cNvSpPr/>
          <p:nvPr/>
        </p:nvSpPr>
        <p:spPr>
          <a:xfrm>
            <a:off x="3142731" y="4108938"/>
            <a:ext cx="785446" cy="187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p:cNvPicPr>
            <a:picLocks noChangeAspect="1"/>
          </p:cNvPicPr>
          <p:nvPr/>
        </p:nvPicPr>
        <p:blipFill rotWithShape="1">
          <a:blip r:embed="rId6"/>
          <a:srcRect t="4892"/>
          <a:stretch/>
        </p:blipFill>
        <p:spPr>
          <a:xfrm>
            <a:off x="4489938" y="3071446"/>
            <a:ext cx="4044462" cy="1934308"/>
          </a:xfrm>
          <a:prstGeom prst="rect">
            <a:avLst/>
          </a:prstGeom>
        </p:spPr>
      </p:pic>
    </p:spTree>
    <p:extLst>
      <p:ext uri="{BB962C8B-B14F-4D97-AF65-F5344CB8AC3E}">
        <p14:creationId xmlns:p14="http://schemas.microsoft.com/office/powerpoint/2010/main" val="410244205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a:t>
            </a:r>
            <a:endParaRPr lang="en-IN" sz="2800" b="1"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B794265C-63C6-72AF-7313-0C606319E6F4}"/>
              </a:ext>
            </a:extLst>
          </p:cNvPr>
          <p:cNvSpPr txBox="1"/>
          <p:nvPr/>
        </p:nvSpPr>
        <p:spPr>
          <a:xfrm>
            <a:off x="261405" y="856915"/>
            <a:ext cx="8683303" cy="4247317"/>
          </a:xfrm>
          <a:prstGeom prst="rect">
            <a:avLst/>
          </a:prstGeom>
          <a:noFill/>
        </p:spPr>
        <p:txBody>
          <a:bodyPr wrap="square">
            <a:spAutoFit/>
          </a:bodyPr>
          <a:lstStyle/>
          <a:p>
            <a:pPr fontAlgn="base">
              <a:lnSpc>
                <a:spcPct val="150000"/>
              </a:lnSpc>
            </a:pPr>
            <a:r>
              <a:rPr lang="en-US" sz="2000" dirty="0">
                <a:solidFill>
                  <a:srgbClr val="0070C0"/>
                </a:solidFill>
                <a:latin typeface="Trebuchet MS" panose="020B0603020202020204" pitchFamily="34" charset="0"/>
              </a:rPr>
              <a:t>Finally, we consider the entire chain of matrices ABCD: </a:t>
            </a:r>
            <a:endParaRPr lang="en-US" sz="2000" dirty="0" smtClean="0">
              <a:solidFill>
                <a:srgbClr val="0070C0"/>
              </a:solidFill>
              <a:latin typeface="Trebuchet MS" panose="020B0603020202020204" pitchFamily="34" charset="0"/>
            </a:endParaRPr>
          </a:p>
          <a:p>
            <a:pPr marL="342900" indent="-342900" fontAlgn="base">
              <a:lnSpc>
                <a:spcPct val="150000"/>
              </a:lnSpc>
              <a:buFont typeface="Arial" panose="020B0604020202020204" pitchFamily="34" charset="0"/>
              <a:buChar char="•"/>
            </a:pPr>
            <a:r>
              <a:rPr lang="en-US" sz="2000" dirty="0" smtClean="0">
                <a:solidFill>
                  <a:schemeClr val="tx1"/>
                </a:solidFill>
                <a:latin typeface="Trebuchet MS" panose="020B0603020202020204" pitchFamily="34" charset="0"/>
              </a:rPr>
              <a:t>We </a:t>
            </a:r>
            <a:r>
              <a:rPr lang="en-US" sz="2000" dirty="0">
                <a:solidFill>
                  <a:schemeClr val="tx1"/>
                </a:solidFill>
                <a:latin typeface="Trebuchet MS" panose="020B0603020202020204" pitchFamily="34" charset="0"/>
              </a:rPr>
              <a:t>have two options: ((AB)C)D or (A(BC))D. Calculating the scalar multiplications for each option:</a:t>
            </a:r>
          </a:p>
          <a:p>
            <a:pPr marL="714375" indent="-350838" fontAlgn="base">
              <a:lnSpc>
                <a:spcPct val="150000"/>
              </a:lnSpc>
              <a:buFont typeface="Wingdings" panose="05000000000000000000" pitchFamily="2" charset="2"/>
              <a:buChar char="ü"/>
            </a:pPr>
            <a:r>
              <a:rPr lang="en-US" sz="2000" dirty="0">
                <a:solidFill>
                  <a:srgbClr val="0070C0"/>
                </a:solidFill>
                <a:latin typeface="Trebuchet MS" panose="020B0603020202020204" pitchFamily="34" charset="0"/>
              </a:rPr>
              <a:t>((AB)C)D: </a:t>
            </a:r>
            <a:r>
              <a:rPr lang="en-US" sz="2000" dirty="0">
                <a:solidFill>
                  <a:schemeClr val="tx1"/>
                </a:solidFill>
                <a:latin typeface="Trebuchet MS" panose="020B0603020202020204" pitchFamily="34" charset="0"/>
              </a:rPr>
              <a:t>We multiply matrices (AB) and C, resulting in a temporary matrix of size 10 x 60. </a:t>
            </a:r>
            <a:endParaRPr lang="en-US" sz="2000" dirty="0" smtClean="0">
              <a:solidFill>
                <a:schemeClr val="tx1"/>
              </a:solidFill>
              <a:latin typeface="Trebuchet MS" panose="020B0603020202020204" pitchFamily="34" charset="0"/>
            </a:endParaRPr>
          </a:p>
          <a:p>
            <a:pPr marL="714375" indent="-350838" fontAlgn="base">
              <a:lnSpc>
                <a:spcPct val="150000"/>
              </a:lnSpc>
              <a:buFont typeface="Wingdings" panose="05000000000000000000" pitchFamily="2" charset="2"/>
              <a:buChar char="ü"/>
            </a:pPr>
            <a:r>
              <a:rPr lang="en-US" sz="2000" dirty="0" smtClean="0">
                <a:solidFill>
                  <a:schemeClr val="tx1"/>
                </a:solidFill>
                <a:latin typeface="Trebuchet MS" panose="020B0603020202020204" pitchFamily="34" charset="0"/>
              </a:rPr>
              <a:t>Then</a:t>
            </a:r>
            <a:r>
              <a:rPr lang="en-US" sz="2000" dirty="0">
                <a:solidFill>
                  <a:schemeClr val="tx1"/>
                </a:solidFill>
                <a:latin typeface="Trebuchet MS" panose="020B0603020202020204" pitchFamily="34" charset="0"/>
              </a:rPr>
              <a:t>, we multiply this temporary matrix with matrix D (10 x 60), resulting in a final matrix of size 10 x 8</a:t>
            </a:r>
            <a:r>
              <a:rPr lang="en-US" sz="2000" dirty="0" smtClean="0">
                <a:solidFill>
                  <a:schemeClr val="tx1"/>
                </a:solidFill>
                <a:latin typeface="Trebuchet MS" panose="020B0603020202020204" pitchFamily="34" charset="0"/>
              </a:rPr>
              <a:t>.</a:t>
            </a:r>
          </a:p>
          <a:p>
            <a:pPr marL="714375" indent="-350838" fontAlgn="base">
              <a:lnSpc>
                <a:spcPct val="150000"/>
              </a:lnSpc>
              <a:buFont typeface="Wingdings" panose="05000000000000000000" pitchFamily="2" charset="2"/>
              <a:buChar char="ü"/>
            </a:pPr>
            <a:r>
              <a:rPr lang="en-US" sz="2000" dirty="0" smtClean="0">
                <a:solidFill>
                  <a:schemeClr val="tx1"/>
                </a:solidFill>
                <a:latin typeface="Trebuchet MS" panose="020B0603020202020204" pitchFamily="34" charset="0"/>
              </a:rPr>
              <a:t> </a:t>
            </a:r>
            <a:r>
              <a:rPr lang="en-US" sz="2000" dirty="0">
                <a:solidFill>
                  <a:schemeClr val="tx1"/>
                </a:solidFill>
                <a:latin typeface="Trebuchet MS" panose="020B0603020202020204" pitchFamily="34" charset="0"/>
              </a:rPr>
              <a:t>The </a:t>
            </a:r>
            <a:r>
              <a:rPr lang="en-US" sz="2000" dirty="0">
                <a:solidFill>
                  <a:srgbClr val="0070C0"/>
                </a:solidFill>
                <a:latin typeface="Trebuchet MS" panose="020B0603020202020204" pitchFamily="34" charset="0"/>
              </a:rPr>
              <a:t>total scalar </a:t>
            </a:r>
            <a:r>
              <a:rPr lang="en-US" sz="2000" dirty="0">
                <a:solidFill>
                  <a:schemeClr val="tx1"/>
                </a:solidFill>
                <a:latin typeface="Trebuchet MS" panose="020B0603020202020204" pitchFamily="34" charset="0"/>
              </a:rPr>
              <a:t>multiplications for this option are </a:t>
            </a:r>
            <a:endParaRPr lang="en-US" sz="2000" dirty="0" smtClean="0">
              <a:solidFill>
                <a:schemeClr val="tx1"/>
              </a:solidFill>
              <a:latin typeface="Trebuchet MS" panose="020B0603020202020204" pitchFamily="34" charset="0"/>
            </a:endParaRPr>
          </a:p>
          <a:p>
            <a:pPr marL="363537" fontAlgn="base">
              <a:lnSpc>
                <a:spcPct val="150000"/>
              </a:lnSpc>
            </a:pPr>
            <a:r>
              <a:rPr lang="en-US" sz="2000" dirty="0">
                <a:solidFill>
                  <a:schemeClr val="tx1"/>
                </a:solidFill>
                <a:latin typeface="Trebuchet MS" panose="020B0603020202020204" pitchFamily="34" charset="0"/>
              </a:rPr>
              <a:t>	</a:t>
            </a:r>
            <a:r>
              <a:rPr lang="en-US" sz="2000" dirty="0" smtClean="0">
                <a:solidFill>
                  <a:srgbClr val="FF0000"/>
                </a:solidFill>
                <a:latin typeface="Trebuchet MS" panose="020B0603020202020204" pitchFamily="34" charset="0"/>
              </a:rPr>
              <a:t>10 </a:t>
            </a:r>
            <a:r>
              <a:rPr lang="en-US" sz="2000" dirty="0">
                <a:solidFill>
                  <a:srgbClr val="FF0000"/>
                </a:solidFill>
                <a:latin typeface="Trebuchet MS" panose="020B0603020202020204" pitchFamily="34" charset="0"/>
              </a:rPr>
              <a:t>x 5 x 60 + 10 x 60 x 8 = 6000</a:t>
            </a:r>
            <a:r>
              <a:rPr lang="en-US" sz="2000" dirty="0" smtClean="0">
                <a:solidFill>
                  <a:srgbClr val="FF0000"/>
                </a:solidFill>
                <a:latin typeface="Trebuchet MS" panose="020B0603020202020204" pitchFamily="34" charset="0"/>
              </a:rPr>
              <a:t>.</a:t>
            </a:r>
            <a:endParaRPr lang="en-US" sz="2000" dirty="0">
              <a:solidFill>
                <a:srgbClr val="FF0000"/>
              </a:solidFill>
              <a:latin typeface="Trebuchet MS" panose="020B0603020202020204" pitchFamily="34" charset="0"/>
            </a:endParaRPr>
          </a:p>
        </p:txBody>
      </p:sp>
    </p:spTree>
    <p:extLst>
      <p:ext uri="{BB962C8B-B14F-4D97-AF65-F5344CB8AC3E}">
        <p14:creationId xmlns:p14="http://schemas.microsoft.com/office/powerpoint/2010/main" val="217369965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a:t>
            </a:r>
            <a:endParaRPr lang="en-IN" sz="2800" b="1"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B794265C-63C6-72AF-7313-0C606319E6F4}"/>
              </a:ext>
            </a:extLst>
          </p:cNvPr>
          <p:cNvSpPr txBox="1"/>
          <p:nvPr/>
        </p:nvSpPr>
        <p:spPr>
          <a:xfrm>
            <a:off x="261405" y="743727"/>
            <a:ext cx="8683303" cy="3416320"/>
          </a:xfrm>
          <a:prstGeom prst="rect">
            <a:avLst/>
          </a:prstGeom>
          <a:noFill/>
        </p:spPr>
        <p:txBody>
          <a:bodyPr wrap="square">
            <a:spAutoFit/>
          </a:bodyPr>
          <a:lstStyle/>
          <a:p>
            <a:pPr marL="342900" indent="-342900" fontAlgn="base">
              <a:lnSpc>
                <a:spcPct val="150000"/>
              </a:lnSpc>
              <a:buFont typeface="Wingdings" panose="05000000000000000000" pitchFamily="2" charset="2"/>
              <a:buChar char="ü"/>
            </a:pPr>
            <a:r>
              <a:rPr lang="en-US" sz="2400" dirty="0" smtClean="0">
                <a:solidFill>
                  <a:srgbClr val="0070C0"/>
                </a:solidFill>
                <a:latin typeface="Trebuchet MS" panose="020B0603020202020204" pitchFamily="34" charset="0"/>
              </a:rPr>
              <a:t>(</a:t>
            </a:r>
            <a:r>
              <a:rPr lang="en-US" sz="2400" dirty="0">
                <a:solidFill>
                  <a:srgbClr val="0070C0"/>
                </a:solidFill>
                <a:latin typeface="Trebuchet MS" panose="020B0603020202020204" pitchFamily="34" charset="0"/>
              </a:rPr>
              <a:t>A(BC))D: </a:t>
            </a:r>
            <a:r>
              <a:rPr lang="en-US" sz="2400" dirty="0">
                <a:solidFill>
                  <a:schemeClr val="tx1"/>
                </a:solidFill>
                <a:latin typeface="Trebuchet MS" panose="020B0603020202020204" pitchFamily="34" charset="0"/>
              </a:rPr>
              <a:t>We multiply matrices A and (BC), resulting in a temporary matrix of size 10 x 60. </a:t>
            </a:r>
            <a:endParaRPr lang="en-US" sz="2400" dirty="0" smtClean="0">
              <a:solidFill>
                <a:schemeClr val="tx1"/>
              </a:solidFill>
              <a:latin typeface="Trebuchet MS" panose="020B0603020202020204" pitchFamily="34" charset="0"/>
            </a:endParaRPr>
          </a:p>
          <a:p>
            <a:pPr marL="342900" indent="-342900" fontAlgn="base">
              <a:lnSpc>
                <a:spcPct val="150000"/>
              </a:lnSpc>
              <a:buFont typeface="Wingdings" panose="05000000000000000000" pitchFamily="2" charset="2"/>
              <a:buChar char="ü"/>
            </a:pPr>
            <a:r>
              <a:rPr lang="en-US" sz="2400" dirty="0" smtClean="0">
                <a:solidFill>
                  <a:schemeClr val="tx1"/>
                </a:solidFill>
                <a:latin typeface="Trebuchet MS" panose="020B0603020202020204" pitchFamily="34" charset="0"/>
              </a:rPr>
              <a:t>Then</a:t>
            </a:r>
            <a:r>
              <a:rPr lang="en-US" sz="2400" dirty="0">
                <a:solidFill>
                  <a:schemeClr val="tx1"/>
                </a:solidFill>
                <a:latin typeface="Trebuchet MS" panose="020B0603020202020204" pitchFamily="34" charset="0"/>
              </a:rPr>
              <a:t>, we multiply this temporary matrix with matrix D (10 x 60), resulting in a final matrix of size 10 x 8. </a:t>
            </a:r>
            <a:endParaRPr lang="en-US" sz="2400" dirty="0" smtClean="0">
              <a:solidFill>
                <a:schemeClr val="tx1"/>
              </a:solidFill>
              <a:latin typeface="Trebuchet MS" panose="020B0603020202020204" pitchFamily="34" charset="0"/>
            </a:endParaRPr>
          </a:p>
          <a:p>
            <a:pPr marL="342900" indent="-342900" fontAlgn="base">
              <a:lnSpc>
                <a:spcPct val="150000"/>
              </a:lnSpc>
              <a:buFont typeface="Wingdings" panose="05000000000000000000" pitchFamily="2" charset="2"/>
              <a:buChar char="ü"/>
            </a:pPr>
            <a:r>
              <a:rPr lang="en-US" sz="2400" dirty="0" smtClean="0">
                <a:solidFill>
                  <a:schemeClr val="tx1"/>
                </a:solidFill>
                <a:latin typeface="Trebuchet MS" panose="020B0603020202020204" pitchFamily="34" charset="0"/>
              </a:rPr>
              <a:t>The </a:t>
            </a:r>
            <a:r>
              <a:rPr lang="en-US" sz="2400" dirty="0">
                <a:solidFill>
                  <a:srgbClr val="0070C0"/>
                </a:solidFill>
                <a:latin typeface="Trebuchet MS" panose="020B0603020202020204" pitchFamily="34" charset="0"/>
              </a:rPr>
              <a:t>total scalar </a:t>
            </a:r>
            <a:r>
              <a:rPr lang="en-US" sz="2400" dirty="0">
                <a:solidFill>
                  <a:schemeClr val="tx1"/>
                </a:solidFill>
                <a:latin typeface="Trebuchet MS" panose="020B0603020202020204" pitchFamily="34" charset="0"/>
              </a:rPr>
              <a:t>multiplications for this option is </a:t>
            </a:r>
            <a:r>
              <a:rPr lang="en-US" sz="2400" dirty="0">
                <a:solidFill>
                  <a:srgbClr val="FF0000"/>
                </a:solidFill>
                <a:latin typeface="Trebuchet MS" panose="020B0603020202020204" pitchFamily="34" charset="0"/>
              </a:rPr>
              <a:t>10 x 30 x 5 + 10 x 5 x 8 = 1300.</a:t>
            </a:r>
          </a:p>
        </p:txBody>
      </p:sp>
    </p:spTree>
    <p:extLst>
      <p:ext uri="{BB962C8B-B14F-4D97-AF65-F5344CB8AC3E}">
        <p14:creationId xmlns:p14="http://schemas.microsoft.com/office/powerpoint/2010/main" val="365293417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a:t>
            </a:r>
            <a:endParaRPr lang="en-IN" sz="2800" b="1"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B794265C-63C6-72AF-7313-0C606319E6F4}"/>
              </a:ext>
            </a:extLst>
          </p:cNvPr>
          <p:cNvSpPr txBox="1"/>
          <p:nvPr/>
        </p:nvSpPr>
        <p:spPr>
          <a:xfrm>
            <a:off x="261405" y="856915"/>
            <a:ext cx="8683303" cy="2862322"/>
          </a:xfrm>
          <a:prstGeom prst="rect">
            <a:avLst/>
          </a:prstGeom>
          <a:noFill/>
        </p:spPr>
        <p:txBody>
          <a:bodyPr wrap="square">
            <a:spAutoFit/>
          </a:bodyPr>
          <a:lstStyle/>
          <a:p>
            <a:pPr marL="342900" indent="-342900" fontAlgn="base">
              <a:lnSpc>
                <a:spcPct val="150000"/>
              </a:lnSpc>
              <a:buFont typeface="Wingdings" panose="05000000000000000000" pitchFamily="2" charset="2"/>
              <a:buChar char="ü"/>
            </a:pPr>
            <a:r>
              <a:rPr lang="en-US" sz="2400" dirty="0">
                <a:solidFill>
                  <a:srgbClr val="0070C0"/>
                </a:solidFill>
                <a:latin typeface="Trebuchet MS" panose="020B0603020202020204" pitchFamily="34" charset="0"/>
              </a:rPr>
              <a:t>Updating the table</a:t>
            </a:r>
            <a:r>
              <a:rPr lang="en-US" sz="2400" dirty="0" smtClean="0">
                <a:solidFill>
                  <a:srgbClr val="0070C0"/>
                </a:solidFill>
                <a:latin typeface="Trebuchet MS" panose="020B0603020202020204" pitchFamily="34" charset="0"/>
              </a:rPr>
              <a:t>:</a:t>
            </a:r>
          </a:p>
          <a:p>
            <a:pPr marL="342900" indent="-342900" fontAlgn="base">
              <a:lnSpc>
                <a:spcPct val="150000"/>
              </a:lnSpc>
              <a:buFont typeface="Wingdings" panose="05000000000000000000" pitchFamily="2" charset="2"/>
              <a:buChar char="ü"/>
            </a:pPr>
            <a:endParaRPr lang="en-US" sz="2400" dirty="0">
              <a:solidFill>
                <a:srgbClr val="0070C0"/>
              </a:solidFill>
              <a:latin typeface="Trebuchet MS" panose="020B0603020202020204" pitchFamily="34" charset="0"/>
            </a:endParaRPr>
          </a:p>
          <a:p>
            <a:pPr marL="342900" indent="-342900" fontAlgn="base">
              <a:lnSpc>
                <a:spcPct val="150000"/>
              </a:lnSpc>
              <a:buFont typeface="Wingdings" panose="05000000000000000000" pitchFamily="2" charset="2"/>
              <a:buChar char="ü"/>
            </a:pPr>
            <a:endParaRPr lang="en-US" sz="2400" dirty="0" smtClean="0">
              <a:solidFill>
                <a:srgbClr val="0070C0"/>
              </a:solidFill>
              <a:latin typeface="Trebuchet MS" panose="020B0603020202020204" pitchFamily="34" charset="0"/>
            </a:endParaRPr>
          </a:p>
          <a:p>
            <a:pPr marL="342900" indent="-342900" fontAlgn="base">
              <a:lnSpc>
                <a:spcPct val="150000"/>
              </a:lnSpc>
              <a:buFont typeface="Wingdings" panose="05000000000000000000" pitchFamily="2" charset="2"/>
              <a:buChar char="ü"/>
            </a:pPr>
            <a:endParaRPr lang="en-US" sz="2400" dirty="0">
              <a:solidFill>
                <a:srgbClr val="0070C0"/>
              </a:solidFill>
              <a:latin typeface="Trebuchet MS" panose="020B0603020202020204" pitchFamily="34" charset="0"/>
            </a:endParaRPr>
          </a:p>
          <a:p>
            <a:pPr marL="342900" indent="-342900" fontAlgn="base">
              <a:lnSpc>
                <a:spcPct val="150000"/>
              </a:lnSpc>
              <a:buFont typeface="Wingdings" panose="05000000000000000000" pitchFamily="2" charset="2"/>
              <a:buChar char="ü"/>
            </a:pPr>
            <a:endParaRPr lang="en-US" sz="2400" dirty="0">
              <a:solidFill>
                <a:srgbClr val="FF0000"/>
              </a:solidFill>
              <a:latin typeface="Trebuchet MS" panose="020B0603020202020204" pitchFamily="34" charset="0"/>
            </a:endParaRPr>
          </a:p>
        </p:txBody>
      </p:sp>
      <p:pic>
        <p:nvPicPr>
          <p:cNvPr id="2" name="Picture 1"/>
          <p:cNvPicPr>
            <a:picLocks noChangeAspect="1"/>
          </p:cNvPicPr>
          <p:nvPr/>
        </p:nvPicPr>
        <p:blipFill>
          <a:blip r:embed="rId6"/>
          <a:stretch>
            <a:fillRect/>
          </a:stretch>
        </p:blipFill>
        <p:spPr>
          <a:xfrm>
            <a:off x="1198320" y="1494398"/>
            <a:ext cx="4405311" cy="2749356"/>
          </a:xfrm>
          <a:prstGeom prst="rect">
            <a:avLst/>
          </a:prstGeom>
        </p:spPr>
      </p:pic>
    </p:spTree>
    <p:extLst>
      <p:ext uri="{BB962C8B-B14F-4D97-AF65-F5344CB8AC3E}">
        <p14:creationId xmlns:p14="http://schemas.microsoft.com/office/powerpoint/2010/main" val="129912082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a:defRPr/>
            </a:pPr>
            <a:r>
              <a:rPr lang="en-IN" sz="2800" b="1" dirty="0">
                <a:solidFill>
                  <a:schemeClr val="bg1"/>
                </a:solidFill>
                <a:latin typeface="Corbel" panose="020B0503020204020204" pitchFamily="34" charset="0"/>
              </a:rPr>
              <a:t>Matrix </a:t>
            </a:r>
            <a:r>
              <a:rPr lang="en-IN" sz="2800" b="1" dirty="0" smtClean="0">
                <a:solidFill>
                  <a:schemeClr val="bg1"/>
                </a:solidFill>
                <a:latin typeface="Corbel" panose="020B0503020204020204" pitchFamily="34" charset="0"/>
              </a:rPr>
              <a:t>Chain Multiplication </a:t>
            </a:r>
            <a:endParaRPr lang="en-IN" sz="2800" b="1"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B794265C-63C6-72AF-7313-0C606319E6F4}"/>
              </a:ext>
            </a:extLst>
          </p:cNvPr>
          <p:cNvSpPr txBox="1"/>
          <p:nvPr/>
        </p:nvSpPr>
        <p:spPr>
          <a:xfrm>
            <a:off x="140677" y="671808"/>
            <a:ext cx="8909538" cy="4247317"/>
          </a:xfrm>
          <a:prstGeom prst="rect">
            <a:avLst/>
          </a:prstGeom>
          <a:noFill/>
        </p:spPr>
        <p:txBody>
          <a:bodyPr wrap="square">
            <a:spAutoFit/>
          </a:bodyPr>
          <a:lstStyle/>
          <a:p>
            <a:pPr fontAlgn="base">
              <a:lnSpc>
                <a:spcPct val="150000"/>
              </a:lnSpc>
            </a:pPr>
            <a:r>
              <a:rPr lang="en-US" sz="2000" b="1" dirty="0">
                <a:solidFill>
                  <a:srgbClr val="0070C0"/>
                </a:solidFill>
                <a:latin typeface="Trebuchet MS" panose="020B0603020202020204" pitchFamily="34" charset="0"/>
              </a:rPr>
              <a:t>Step 3:</a:t>
            </a:r>
            <a:r>
              <a:rPr lang="en-US" sz="2000" dirty="0">
                <a:solidFill>
                  <a:srgbClr val="0070C0"/>
                </a:solidFill>
                <a:latin typeface="Trebuchet MS" panose="020B0603020202020204" pitchFamily="34" charset="0"/>
              </a:rPr>
              <a:t> </a:t>
            </a:r>
            <a:endParaRPr lang="en-US" sz="2000" dirty="0" smtClean="0">
              <a:solidFill>
                <a:srgbClr val="0070C0"/>
              </a:solidFill>
              <a:latin typeface="Trebuchet MS" panose="020B0603020202020204" pitchFamily="34" charset="0"/>
            </a:endParaRPr>
          </a:p>
          <a:p>
            <a:pPr marL="342900" indent="-342900" fontAlgn="base">
              <a:lnSpc>
                <a:spcPct val="150000"/>
              </a:lnSpc>
              <a:buFont typeface="Arial" panose="020B0604020202020204" pitchFamily="34" charset="0"/>
              <a:buChar char="•"/>
            </a:pPr>
            <a:r>
              <a:rPr lang="en-US" sz="2000" dirty="0" smtClean="0">
                <a:solidFill>
                  <a:schemeClr val="tx1"/>
                </a:solidFill>
                <a:latin typeface="Trebuchet MS" panose="020B0603020202020204" pitchFamily="34" charset="0"/>
              </a:rPr>
              <a:t>Backtrack </a:t>
            </a:r>
            <a:r>
              <a:rPr lang="en-US" sz="2000" dirty="0">
                <a:solidFill>
                  <a:schemeClr val="tx1"/>
                </a:solidFill>
                <a:latin typeface="Trebuchet MS" panose="020B0603020202020204" pitchFamily="34" charset="0"/>
              </a:rPr>
              <a:t>the optimal solution To determine the optimal order of multiplication, we start at M[1, 4], which gives us the minimum number of scalar multiplications for the entire chain. </a:t>
            </a:r>
            <a:endParaRPr lang="en-US" sz="2000" dirty="0" smtClean="0">
              <a:solidFill>
                <a:schemeClr val="tx1"/>
              </a:solidFill>
              <a:latin typeface="Trebuchet MS" panose="020B0603020202020204" pitchFamily="34" charset="0"/>
            </a:endParaRPr>
          </a:p>
          <a:p>
            <a:pPr marL="342900" indent="-342900" fontAlgn="base">
              <a:lnSpc>
                <a:spcPct val="150000"/>
              </a:lnSpc>
              <a:buFont typeface="Arial" panose="020B0604020202020204" pitchFamily="34" charset="0"/>
              <a:buChar char="•"/>
            </a:pPr>
            <a:r>
              <a:rPr lang="en-US" sz="2000" dirty="0" smtClean="0">
                <a:solidFill>
                  <a:schemeClr val="tx1"/>
                </a:solidFill>
                <a:latin typeface="Trebuchet MS" panose="020B0603020202020204" pitchFamily="34" charset="0"/>
              </a:rPr>
              <a:t>In </a:t>
            </a:r>
            <a:r>
              <a:rPr lang="en-US" sz="2000" dirty="0">
                <a:solidFill>
                  <a:schemeClr val="tx1"/>
                </a:solidFill>
                <a:latin typeface="Trebuchet MS" panose="020B0603020202020204" pitchFamily="34" charset="0"/>
              </a:rPr>
              <a:t>this case, M[1, 4] = 6000, indicating that </a:t>
            </a:r>
            <a:r>
              <a:rPr lang="en-US" sz="2000" dirty="0">
                <a:solidFill>
                  <a:srgbClr val="0070C0"/>
                </a:solidFill>
                <a:latin typeface="Trebuchet MS" panose="020B0603020202020204" pitchFamily="34" charset="0"/>
              </a:rPr>
              <a:t>((AB)C)D </a:t>
            </a:r>
            <a:r>
              <a:rPr lang="en-US" sz="2000" dirty="0">
                <a:solidFill>
                  <a:schemeClr val="tx1"/>
                </a:solidFill>
                <a:latin typeface="Trebuchet MS" panose="020B0603020202020204" pitchFamily="34" charset="0"/>
              </a:rPr>
              <a:t>is the optimal order.</a:t>
            </a:r>
          </a:p>
          <a:p>
            <a:pPr fontAlgn="base">
              <a:lnSpc>
                <a:spcPct val="150000"/>
              </a:lnSpc>
            </a:pPr>
            <a:r>
              <a:rPr lang="en-US" sz="2000" b="1" dirty="0">
                <a:solidFill>
                  <a:srgbClr val="0070C0"/>
                </a:solidFill>
                <a:latin typeface="Trebuchet MS" panose="020B0603020202020204" pitchFamily="34" charset="0"/>
              </a:rPr>
              <a:t>Step 4:</a:t>
            </a:r>
            <a:r>
              <a:rPr lang="en-US" sz="2000" dirty="0">
                <a:solidFill>
                  <a:srgbClr val="0070C0"/>
                </a:solidFill>
                <a:latin typeface="Trebuchet MS" panose="020B0603020202020204" pitchFamily="34" charset="0"/>
              </a:rPr>
              <a:t> </a:t>
            </a:r>
            <a:endParaRPr lang="en-US" sz="2000" dirty="0" smtClean="0">
              <a:solidFill>
                <a:srgbClr val="0070C0"/>
              </a:solidFill>
              <a:latin typeface="Trebuchet MS" panose="020B0603020202020204" pitchFamily="34" charset="0"/>
            </a:endParaRPr>
          </a:p>
          <a:p>
            <a:pPr marL="342900" indent="-342900" fontAlgn="base">
              <a:lnSpc>
                <a:spcPct val="150000"/>
              </a:lnSpc>
              <a:buFont typeface="Arial" panose="020B0604020202020204" pitchFamily="34" charset="0"/>
              <a:buChar char="•"/>
            </a:pPr>
            <a:r>
              <a:rPr lang="en-US" sz="2000" dirty="0" smtClean="0">
                <a:solidFill>
                  <a:schemeClr val="tx1"/>
                </a:solidFill>
                <a:latin typeface="Trebuchet MS" panose="020B0603020202020204" pitchFamily="34" charset="0"/>
              </a:rPr>
              <a:t>Return </a:t>
            </a:r>
            <a:r>
              <a:rPr lang="en-US" sz="2000" dirty="0">
                <a:solidFill>
                  <a:schemeClr val="tx1"/>
                </a:solidFill>
                <a:latin typeface="Trebuchet MS" panose="020B0603020202020204" pitchFamily="34" charset="0"/>
              </a:rPr>
              <a:t>the result The minimum number of scalar multiplications required to multiply the entire chain is 6000, and the optimal order is </a:t>
            </a:r>
            <a:r>
              <a:rPr lang="en-US" sz="2000" dirty="0">
                <a:solidFill>
                  <a:srgbClr val="0070C0"/>
                </a:solidFill>
                <a:latin typeface="Trebuchet MS" panose="020B0603020202020204" pitchFamily="34" charset="0"/>
              </a:rPr>
              <a:t>((AB)C)D</a:t>
            </a:r>
            <a:r>
              <a:rPr lang="en-US" sz="2000" dirty="0" smtClean="0">
                <a:solidFill>
                  <a:srgbClr val="0070C0"/>
                </a:solidFill>
                <a:latin typeface="Trebuchet MS" panose="020B0603020202020204" pitchFamily="34" charset="0"/>
              </a:rPr>
              <a:t>.</a:t>
            </a:r>
            <a:endParaRPr lang="en-US" sz="2400" dirty="0">
              <a:solidFill>
                <a:srgbClr val="FF0000"/>
              </a:solidFill>
              <a:latin typeface="Trebuchet MS" panose="020B0603020202020204" pitchFamily="34" charset="0"/>
            </a:endParaRPr>
          </a:p>
        </p:txBody>
      </p:sp>
    </p:spTree>
    <p:extLst>
      <p:ext uri="{BB962C8B-B14F-4D97-AF65-F5344CB8AC3E}">
        <p14:creationId xmlns:p14="http://schemas.microsoft.com/office/powerpoint/2010/main" val="107007358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a:defRPr/>
            </a:pPr>
            <a:r>
              <a:rPr lang="en-IN" sz="2800" b="1" kern="1200" dirty="0">
                <a:solidFill>
                  <a:schemeClr val="bg1"/>
                </a:solidFill>
                <a:latin typeface="Corbel" panose="020B0503020204020204" pitchFamily="34" charset="0"/>
              </a:rPr>
              <a:t>Longest Common Subsequence</a:t>
            </a:r>
            <a:r>
              <a:rPr lang="en-US" sz="2800" b="1" kern="1200" dirty="0">
                <a:solidFill>
                  <a:schemeClr val="bg1"/>
                </a:solidFill>
                <a:latin typeface="Corbel" panose="020B0503020204020204" pitchFamily="34" charset="0"/>
              </a:rPr>
              <a:t>(LCS)</a:t>
            </a:r>
            <a:endParaRPr lang="en-IN" sz="2800" b="1" dirty="0">
              <a:solidFill>
                <a:schemeClr val="bg1"/>
              </a:solidFill>
              <a:latin typeface="Corbel" panose="020B0503020204020204" pitchFamily="34" charset="0"/>
            </a:endParaRPr>
          </a:p>
        </p:txBody>
      </p:sp>
      <p:sp>
        <p:nvSpPr>
          <p:cNvPr id="2" name="Rectangle 1"/>
          <p:cNvSpPr/>
          <p:nvPr/>
        </p:nvSpPr>
        <p:spPr>
          <a:xfrm>
            <a:off x="261405" y="934193"/>
            <a:ext cx="8303861" cy="3785652"/>
          </a:xfrm>
          <a:prstGeom prst="rect">
            <a:avLst/>
          </a:prstGeom>
        </p:spPr>
        <p:txBody>
          <a:bodyPr wrap="square">
            <a:spAutoFit/>
          </a:bodyPr>
          <a:lstStyle/>
          <a:p>
            <a:pPr marL="457200" lvl="0" indent="-342900">
              <a:lnSpc>
                <a:spcPct val="150000"/>
              </a:lnSpc>
              <a:buClr>
                <a:schemeClr val="tx1"/>
              </a:buClr>
              <a:buSzPct val="70000"/>
              <a:buFont typeface="Arial"/>
              <a:buChar char="●"/>
            </a:pPr>
            <a:r>
              <a:rPr lang="en-US" sz="2000" dirty="0">
                <a:latin typeface="Trebuchet MS" panose="020B0603020202020204" pitchFamily="34" charset="0"/>
              </a:rPr>
              <a:t>The </a:t>
            </a:r>
            <a:r>
              <a:rPr lang="en-US" sz="2000" dirty="0">
                <a:solidFill>
                  <a:srgbClr val="0070C0"/>
                </a:solidFill>
                <a:latin typeface="Trebuchet MS" panose="020B0603020202020204" pitchFamily="34" charset="0"/>
              </a:rPr>
              <a:t>Longest Common Subsequence (LCS) </a:t>
            </a:r>
            <a:r>
              <a:rPr lang="en-US" sz="2000" dirty="0">
                <a:latin typeface="Trebuchet MS" panose="020B0603020202020204" pitchFamily="34" charset="0"/>
              </a:rPr>
              <a:t>is a classic problem </a:t>
            </a:r>
            <a:r>
              <a:rPr lang="en-US" sz="2000" dirty="0" smtClean="0">
                <a:latin typeface="Trebuchet MS" panose="020B0603020202020204" pitchFamily="34" charset="0"/>
              </a:rPr>
              <a:t>that </a:t>
            </a:r>
            <a:r>
              <a:rPr lang="en-US" sz="2000" dirty="0">
                <a:latin typeface="Trebuchet MS" panose="020B0603020202020204" pitchFamily="34" charset="0"/>
              </a:rPr>
              <a:t>deals with </a:t>
            </a:r>
            <a:r>
              <a:rPr lang="en-US" sz="2000" dirty="0">
                <a:solidFill>
                  <a:srgbClr val="0070C0"/>
                </a:solidFill>
                <a:latin typeface="Trebuchet MS" panose="020B0603020202020204" pitchFamily="34" charset="0"/>
              </a:rPr>
              <a:t>finding the longest subsequence</a:t>
            </a:r>
            <a:r>
              <a:rPr lang="en-US" sz="2000" dirty="0">
                <a:latin typeface="Trebuchet MS" panose="020B0603020202020204" pitchFamily="34" charset="0"/>
              </a:rPr>
              <a:t> common to two sequences. </a:t>
            </a:r>
            <a:endParaRPr lang="en-US" sz="2000" dirty="0" smtClean="0">
              <a:latin typeface="Trebuchet MS" panose="020B0603020202020204" pitchFamily="34" charset="0"/>
            </a:endParaRPr>
          </a:p>
          <a:p>
            <a:pPr marL="457200" lvl="0" indent="-342900">
              <a:lnSpc>
                <a:spcPct val="150000"/>
              </a:lnSpc>
              <a:buClr>
                <a:schemeClr val="tx1"/>
              </a:buClr>
              <a:buSzPct val="70000"/>
              <a:buFont typeface="Arial"/>
              <a:buChar char="●"/>
            </a:pPr>
            <a:r>
              <a:rPr lang="en-US" sz="2000" dirty="0" smtClean="0">
                <a:latin typeface="Trebuchet MS" panose="020B0603020202020204" pitchFamily="34" charset="0"/>
              </a:rPr>
              <a:t>A </a:t>
            </a:r>
            <a:r>
              <a:rPr lang="en-US" sz="2000" dirty="0">
                <a:latin typeface="Trebuchet MS" panose="020B0603020202020204" pitchFamily="34" charset="0"/>
              </a:rPr>
              <a:t>subsequence is a sequence that appears in the same relative order but not necessarily consecutively. </a:t>
            </a:r>
            <a:endParaRPr lang="en-US" sz="2000" dirty="0" smtClean="0">
              <a:latin typeface="Trebuchet MS" panose="020B0603020202020204" pitchFamily="34" charset="0"/>
            </a:endParaRPr>
          </a:p>
          <a:p>
            <a:pPr marL="457200" lvl="0" indent="-342900">
              <a:lnSpc>
                <a:spcPct val="150000"/>
              </a:lnSpc>
              <a:buClr>
                <a:schemeClr val="tx1"/>
              </a:buClr>
              <a:buSzPct val="70000"/>
              <a:buFont typeface="Arial"/>
              <a:buChar char="●"/>
            </a:pPr>
            <a:r>
              <a:rPr lang="en-US" sz="2000" dirty="0" smtClean="0">
                <a:latin typeface="Trebuchet MS" panose="020B0603020202020204" pitchFamily="34" charset="0"/>
              </a:rPr>
              <a:t>LCS </a:t>
            </a:r>
            <a:r>
              <a:rPr lang="en-US" sz="2000" dirty="0">
                <a:latin typeface="Trebuchet MS" panose="020B0603020202020204" pitchFamily="34" charset="0"/>
              </a:rPr>
              <a:t>is widely used in fields such as </a:t>
            </a:r>
            <a:r>
              <a:rPr lang="en-US" sz="2000" dirty="0">
                <a:solidFill>
                  <a:srgbClr val="0070C0"/>
                </a:solidFill>
                <a:latin typeface="Trebuchet MS" panose="020B0603020202020204" pitchFamily="34" charset="0"/>
              </a:rPr>
              <a:t>bioinformatics</a:t>
            </a:r>
            <a:r>
              <a:rPr lang="en-US" sz="2000" dirty="0">
                <a:latin typeface="Trebuchet MS" panose="020B0603020202020204" pitchFamily="34" charset="0"/>
              </a:rPr>
              <a:t> for </a:t>
            </a:r>
            <a:r>
              <a:rPr lang="en-US" sz="2000" dirty="0">
                <a:solidFill>
                  <a:srgbClr val="0070C0"/>
                </a:solidFill>
                <a:latin typeface="Trebuchet MS" panose="020B0603020202020204" pitchFamily="34" charset="0"/>
              </a:rPr>
              <a:t>sequence alignment</a:t>
            </a:r>
            <a:r>
              <a:rPr lang="en-US" sz="2000" dirty="0">
                <a:latin typeface="Trebuchet MS" panose="020B0603020202020204" pitchFamily="34" charset="0"/>
              </a:rPr>
              <a:t>, in </a:t>
            </a:r>
            <a:r>
              <a:rPr lang="en-US" sz="2000" dirty="0" smtClean="0">
                <a:latin typeface="Trebuchet MS" panose="020B0603020202020204" pitchFamily="34" charset="0"/>
              </a:rPr>
              <a:t>different </a:t>
            </a:r>
            <a:r>
              <a:rPr lang="en-US" sz="2000" dirty="0">
                <a:latin typeface="Trebuchet MS" panose="020B0603020202020204" pitchFamily="34" charset="0"/>
              </a:rPr>
              <a:t>tools to show differences between files, and in version control systems.</a:t>
            </a:r>
          </a:p>
        </p:txBody>
      </p:sp>
    </p:spTree>
    <p:extLst>
      <p:ext uri="{BB962C8B-B14F-4D97-AF65-F5344CB8AC3E}">
        <p14:creationId xmlns:p14="http://schemas.microsoft.com/office/powerpoint/2010/main" val="392832915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a:defRPr/>
            </a:pPr>
            <a:r>
              <a:rPr lang="en-IN" sz="2800" b="1" kern="1200" dirty="0">
                <a:solidFill>
                  <a:schemeClr val="bg1"/>
                </a:solidFill>
                <a:latin typeface="Corbel" panose="020B0503020204020204" pitchFamily="34" charset="0"/>
              </a:rPr>
              <a:t>Longest Common Subsequence</a:t>
            </a:r>
            <a:r>
              <a:rPr lang="en-US" sz="2800" b="1" kern="1200" dirty="0">
                <a:solidFill>
                  <a:schemeClr val="bg1"/>
                </a:solidFill>
                <a:latin typeface="Corbel" panose="020B0503020204020204" pitchFamily="34" charset="0"/>
              </a:rPr>
              <a:t>(LCS)</a:t>
            </a:r>
            <a:endParaRPr lang="en-IN" sz="2800" b="1" dirty="0">
              <a:solidFill>
                <a:schemeClr val="bg1"/>
              </a:solidFill>
              <a:latin typeface="Corbel" panose="020B0503020204020204" pitchFamily="34" charset="0"/>
            </a:endParaRPr>
          </a:p>
        </p:txBody>
      </p:sp>
      <p:sp>
        <p:nvSpPr>
          <p:cNvPr id="2" name="Rectangle 1"/>
          <p:cNvSpPr/>
          <p:nvPr/>
        </p:nvSpPr>
        <p:spPr>
          <a:xfrm>
            <a:off x="261405" y="934193"/>
            <a:ext cx="8303861" cy="3785652"/>
          </a:xfrm>
          <a:prstGeom prst="rect">
            <a:avLst/>
          </a:prstGeom>
        </p:spPr>
        <p:txBody>
          <a:bodyPr wrap="square">
            <a:spAutoFit/>
          </a:bodyPr>
          <a:lstStyle/>
          <a:p>
            <a:pPr marL="457200" lvl="0" indent="-342900">
              <a:lnSpc>
                <a:spcPct val="150000"/>
              </a:lnSpc>
              <a:buClr>
                <a:schemeClr val="tx1"/>
              </a:buClr>
              <a:buSzPct val="70000"/>
              <a:buFont typeface="Arial"/>
              <a:buChar char="●"/>
            </a:pPr>
            <a:r>
              <a:rPr lang="en-US" sz="2000" dirty="0">
                <a:latin typeface="Trebuchet MS" panose="020B0603020202020204" pitchFamily="34" charset="0"/>
              </a:rPr>
              <a:t>A </a:t>
            </a:r>
            <a:r>
              <a:rPr lang="en-US" sz="2000" dirty="0">
                <a:solidFill>
                  <a:srgbClr val="0070C0"/>
                </a:solidFill>
                <a:latin typeface="Trebuchet MS" panose="020B0603020202020204" pitchFamily="34" charset="0"/>
              </a:rPr>
              <a:t>subsequence of a string</a:t>
            </a:r>
            <a:r>
              <a:rPr lang="en-US" sz="2000" dirty="0">
                <a:latin typeface="Trebuchet MS" panose="020B0603020202020204" pitchFamily="34" charset="0"/>
              </a:rPr>
              <a:t> is a </a:t>
            </a:r>
            <a:r>
              <a:rPr lang="en-US" sz="2000" dirty="0">
                <a:solidFill>
                  <a:srgbClr val="0070C0"/>
                </a:solidFill>
                <a:latin typeface="Trebuchet MS" panose="020B0603020202020204" pitchFamily="34" charset="0"/>
              </a:rPr>
              <a:t>new string generated</a:t>
            </a:r>
            <a:r>
              <a:rPr lang="en-US" sz="2000" dirty="0">
                <a:latin typeface="Trebuchet MS" panose="020B0603020202020204" pitchFamily="34" charset="0"/>
              </a:rPr>
              <a:t> from the original string with some characters (can be none) deleted without changing the relative order of the remaining characters.</a:t>
            </a:r>
          </a:p>
          <a:p>
            <a:pPr marL="457200" lvl="0" indent="-342900">
              <a:lnSpc>
                <a:spcPct val="150000"/>
              </a:lnSpc>
              <a:buClr>
                <a:schemeClr val="tx1"/>
              </a:buClr>
              <a:buSzPct val="70000"/>
              <a:buFont typeface="Arial"/>
              <a:buChar char="●"/>
            </a:pPr>
            <a:r>
              <a:rPr lang="en-US" sz="2000" dirty="0" smtClean="0">
                <a:latin typeface="Trebuchet MS" panose="020B0603020202020204" pitchFamily="34" charset="0"/>
              </a:rPr>
              <a:t>For Example, In Given </a:t>
            </a:r>
            <a:r>
              <a:rPr lang="en-US" sz="2000" dirty="0">
                <a:latin typeface="Trebuchet MS" panose="020B0603020202020204" pitchFamily="34" charset="0"/>
              </a:rPr>
              <a:t>two strings text1 and text2, return the length of their longest common subsequence. If there is no common subsequence, return 0.</a:t>
            </a:r>
          </a:p>
          <a:p>
            <a:pPr marL="457200" lvl="0" indent="-342900">
              <a:lnSpc>
                <a:spcPct val="150000"/>
              </a:lnSpc>
              <a:buClr>
                <a:schemeClr val="tx1"/>
              </a:buClr>
              <a:buSzPct val="70000"/>
              <a:buFont typeface="Arial"/>
              <a:buChar char="●"/>
            </a:pPr>
            <a:r>
              <a:rPr lang="en-US" sz="2000" dirty="0">
                <a:latin typeface="Trebuchet MS" panose="020B0603020202020204" pitchFamily="34" charset="0"/>
              </a:rPr>
              <a:t>A subsequence is a sequence that appears in the same relative order, </a:t>
            </a:r>
            <a:r>
              <a:rPr lang="en-US" sz="2000" b="1" dirty="0">
                <a:solidFill>
                  <a:srgbClr val="0070C0"/>
                </a:solidFill>
                <a:latin typeface="Trebuchet MS" panose="020B0603020202020204" pitchFamily="34" charset="0"/>
              </a:rPr>
              <a:t>but not necessarily contiguous</a:t>
            </a:r>
            <a:r>
              <a:rPr lang="en-US" sz="2000" dirty="0" smtClean="0">
                <a:solidFill>
                  <a:srgbClr val="0070C0"/>
                </a:solidFill>
                <a:latin typeface="Trebuchet MS" panose="020B0603020202020204" pitchFamily="34" charset="0"/>
              </a:rPr>
              <a:t>.</a:t>
            </a:r>
            <a:endParaRPr lang="en-US" sz="2000" dirty="0">
              <a:solidFill>
                <a:srgbClr val="0070C0"/>
              </a:solidFill>
              <a:latin typeface="Trebuchet MS" panose="020B0603020202020204" pitchFamily="34" charset="0"/>
            </a:endParaRPr>
          </a:p>
        </p:txBody>
      </p:sp>
    </p:spTree>
    <p:extLst>
      <p:ext uri="{BB962C8B-B14F-4D97-AF65-F5344CB8AC3E}">
        <p14:creationId xmlns:p14="http://schemas.microsoft.com/office/powerpoint/2010/main" val="400508762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a:defRPr/>
            </a:pPr>
            <a:r>
              <a:rPr lang="en-IN" sz="2800" b="1" kern="1200" dirty="0">
                <a:solidFill>
                  <a:schemeClr val="bg1"/>
                </a:solidFill>
                <a:latin typeface="Corbel" panose="020B0503020204020204" pitchFamily="34" charset="0"/>
              </a:rPr>
              <a:t>Longest Common Subsequence</a:t>
            </a:r>
            <a:r>
              <a:rPr lang="en-US" sz="2800" b="1" kern="1200" dirty="0">
                <a:solidFill>
                  <a:schemeClr val="bg1"/>
                </a:solidFill>
                <a:latin typeface="Corbel" panose="020B0503020204020204" pitchFamily="34" charset="0"/>
              </a:rPr>
              <a:t>(LCS)</a:t>
            </a:r>
            <a:endParaRPr lang="en-IN" sz="2800" b="1" dirty="0">
              <a:solidFill>
                <a:schemeClr val="bg1"/>
              </a:solidFill>
              <a:latin typeface="Corbel" panose="020B0503020204020204" pitchFamily="34" charset="0"/>
            </a:endParaRPr>
          </a:p>
        </p:txBody>
      </p:sp>
      <p:sp>
        <p:nvSpPr>
          <p:cNvPr id="2" name="Rectangle 1"/>
          <p:cNvSpPr/>
          <p:nvPr/>
        </p:nvSpPr>
        <p:spPr>
          <a:xfrm>
            <a:off x="524422" y="928846"/>
            <a:ext cx="8162377" cy="3323987"/>
          </a:xfrm>
          <a:prstGeom prst="rect">
            <a:avLst/>
          </a:prstGeom>
        </p:spPr>
        <p:txBody>
          <a:bodyPr wrap="square">
            <a:spAutoFit/>
          </a:bodyPr>
          <a:lstStyle/>
          <a:p>
            <a:pPr marL="457200" lvl="0" indent="-342900">
              <a:lnSpc>
                <a:spcPct val="150000"/>
              </a:lnSpc>
              <a:buClr>
                <a:schemeClr val="tx1"/>
              </a:buClr>
              <a:buSzPct val="70000"/>
              <a:buFont typeface="Arial"/>
              <a:buChar char="●"/>
            </a:pPr>
            <a:r>
              <a:rPr lang="en-US" sz="2000" dirty="0">
                <a:latin typeface="Trebuchet MS" panose="020B0603020202020204" pitchFamily="34" charset="0"/>
              </a:rPr>
              <a:t>We use dynamic programming technique to find </a:t>
            </a:r>
            <a:r>
              <a:rPr lang="en-US" sz="2000" b="1" dirty="0">
                <a:latin typeface="Trebuchet MS" panose="020B0603020202020204" pitchFamily="34" charset="0"/>
              </a:rPr>
              <a:t>the longest common subsequence (LCS).</a:t>
            </a:r>
          </a:p>
          <a:p>
            <a:pPr marL="457200" lvl="0" indent="-342900">
              <a:lnSpc>
                <a:spcPct val="150000"/>
              </a:lnSpc>
              <a:buClr>
                <a:schemeClr val="tx1"/>
              </a:buClr>
              <a:buSzPct val="70000"/>
              <a:buFont typeface="Arial"/>
              <a:buChar char="●"/>
            </a:pPr>
            <a:r>
              <a:rPr lang="en-IN" sz="2000" dirty="0" smtClean="0">
                <a:latin typeface="Trebuchet MS" panose="020B0603020202020204" pitchFamily="34" charset="0"/>
              </a:rPr>
              <a:t>Let </a:t>
            </a:r>
            <a:r>
              <a:rPr lang="en-IN" sz="2000" dirty="0">
                <a:latin typeface="Trebuchet MS" panose="020B0603020202020204" pitchFamily="34" charset="0"/>
              </a:rPr>
              <a:t>A = &lt; a1, a2, a3 …an&gt; and B = &lt; b1, b2, b3 …</a:t>
            </a:r>
            <a:r>
              <a:rPr lang="en-IN" sz="2000" dirty="0" err="1">
                <a:latin typeface="Trebuchet MS" panose="020B0603020202020204" pitchFamily="34" charset="0"/>
              </a:rPr>
              <a:t>bm</a:t>
            </a:r>
            <a:r>
              <a:rPr lang="en-IN" sz="2000" dirty="0">
                <a:latin typeface="Trebuchet MS" panose="020B0603020202020204" pitchFamily="34" charset="0"/>
              </a:rPr>
              <a:t>&gt; be two strings over an alphabets. Then B is subsequence of A, if B can be generated by striking out some elements from A.</a:t>
            </a:r>
          </a:p>
          <a:p>
            <a:pPr marL="457200" lvl="0" indent="-342900">
              <a:lnSpc>
                <a:spcPct val="150000"/>
              </a:lnSpc>
              <a:buClr>
                <a:schemeClr val="tx1"/>
              </a:buClr>
              <a:buSzPct val="70000"/>
              <a:buFont typeface="Arial"/>
              <a:buChar char="●"/>
            </a:pPr>
            <a:r>
              <a:rPr lang="en-IN" sz="2000" dirty="0">
                <a:latin typeface="Trebuchet MS" panose="020B0603020202020204" pitchFamily="34" charset="0"/>
              </a:rPr>
              <a:t>By subsequence, we mean that the values must occur in the order of the sequence, but they need not be consecutive</a:t>
            </a:r>
            <a:r>
              <a:rPr lang="en-IN" sz="2000" dirty="0">
                <a:solidFill>
                  <a:srgbClr val="595959"/>
                </a:solidFill>
                <a:latin typeface="Trebuchet MS" panose="020B0603020202020204" pitchFamily="34" charset="0"/>
              </a:rPr>
              <a:t>.</a:t>
            </a:r>
            <a:endParaRPr lang="en-US" sz="2000" dirty="0">
              <a:solidFill>
                <a:srgbClr val="595959"/>
              </a:solidFill>
              <a:latin typeface="Trebuchet MS" panose="020B0603020202020204" pitchFamily="34" charset="0"/>
            </a:endParaRPr>
          </a:p>
        </p:txBody>
      </p:sp>
    </p:spTree>
    <p:extLst>
      <p:ext uri="{BB962C8B-B14F-4D97-AF65-F5344CB8AC3E}">
        <p14:creationId xmlns:p14="http://schemas.microsoft.com/office/powerpoint/2010/main" val="264973764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a:defRPr/>
            </a:pPr>
            <a:r>
              <a:rPr lang="en-IN" sz="2800" b="1" kern="1200" dirty="0">
                <a:solidFill>
                  <a:schemeClr val="bg1"/>
                </a:solidFill>
                <a:latin typeface="Corbel" panose="020B0503020204020204" pitchFamily="34" charset="0"/>
              </a:rPr>
              <a:t>Longest Common Subsequence</a:t>
            </a:r>
            <a:r>
              <a:rPr lang="en-US" sz="2800" b="1" kern="1200" dirty="0">
                <a:solidFill>
                  <a:schemeClr val="bg1"/>
                </a:solidFill>
                <a:latin typeface="Corbel" panose="020B0503020204020204" pitchFamily="34" charset="0"/>
              </a:rPr>
              <a:t>(LCS)</a:t>
            </a:r>
            <a:endParaRPr lang="en-IN" sz="2800" b="1" dirty="0">
              <a:solidFill>
                <a:schemeClr val="bg1"/>
              </a:solidFill>
              <a:latin typeface="Corbel" panose="020B0503020204020204" pitchFamily="34" charset="0"/>
            </a:endParaRPr>
          </a:p>
        </p:txBody>
      </p:sp>
      <p:sp>
        <p:nvSpPr>
          <p:cNvPr id="7" name="Content Placeholder 2"/>
          <p:cNvSpPr txBox="1">
            <a:spLocks/>
          </p:cNvSpPr>
          <p:nvPr/>
        </p:nvSpPr>
        <p:spPr>
          <a:xfrm>
            <a:off x="261405" y="752475"/>
            <a:ext cx="8484010" cy="4089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269875" indent="-269875" algn="just">
              <a:lnSpc>
                <a:spcPts val="3000"/>
              </a:lnSpc>
              <a:buClrTx/>
              <a:buSzPct val="70000"/>
            </a:pPr>
            <a:r>
              <a:rPr lang="en-IN" sz="2000" dirty="0" smtClean="0">
                <a:solidFill>
                  <a:schemeClr val="tx1"/>
                </a:solidFill>
                <a:latin typeface="Trebuchet MS" panose="020B0603020202020204" pitchFamily="34" charset="0"/>
              </a:rPr>
              <a:t>The common subsequence of A and B is the subsequence that can be generated by striking some characters from A and B both. </a:t>
            </a:r>
          </a:p>
          <a:p>
            <a:pPr marL="269875" indent="-269875" algn="just">
              <a:lnSpc>
                <a:spcPts val="3000"/>
              </a:lnSpc>
              <a:buClrTx/>
              <a:buSzPct val="70000"/>
            </a:pPr>
            <a:r>
              <a:rPr lang="en-IN" sz="2000" dirty="0" smtClean="0">
                <a:solidFill>
                  <a:schemeClr val="tx1"/>
                </a:solidFill>
                <a:latin typeface="Trebuchet MS" panose="020B0603020202020204" pitchFamily="34" charset="0"/>
              </a:rPr>
              <a:t>If </a:t>
            </a:r>
            <a:r>
              <a:rPr lang="en-IN" sz="2000" dirty="0" smtClean="0">
                <a:solidFill>
                  <a:srgbClr val="0070C0"/>
                </a:solidFill>
                <a:latin typeface="Trebuchet MS" panose="020B0603020202020204" pitchFamily="34" charset="0"/>
              </a:rPr>
              <a:t>A = {a, b, a, c, b, c, b} </a:t>
            </a:r>
            <a:r>
              <a:rPr lang="en-IN" sz="2000" dirty="0" smtClean="0">
                <a:solidFill>
                  <a:schemeClr val="tx1"/>
                </a:solidFill>
                <a:latin typeface="Trebuchet MS" panose="020B0603020202020204" pitchFamily="34" charset="0"/>
              </a:rPr>
              <a:t>and </a:t>
            </a:r>
            <a:r>
              <a:rPr lang="en-IN" sz="2000" dirty="0" smtClean="0">
                <a:solidFill>
                  <a:srgbClr val="0070C0"/>
                </a:solidFill>
                <a:latin typeface="Trebuchet MS" panose="020B0603020202020204" pitchFamily="34" charset="0"/>
              </a:rPr>
              <a:t>B = {a, b, c, b, b, a, c}, </a:t>
            </a:r>
            <a:r>
              <a:rPr lang="en-IN" sz="2000" dirty="0" smtClean="0">
                <a:solidFill>
                  <a:schemeClr val="tx1"/>
                </a:solidFill>
                <a:latin typeface="Trebuchet MS" panose="020B0603020202020204" pitchFamily="34" charset="0"/>
              </a:rPr>
              <a:t>then the sequence </a:t>
            </a:r>
            <a:r>
              <a:rPr lang="en-IN" sz="2000" dirty="0" smtClean="0">
                <a:solidFill>
                  <a:srgbClr val="CC0099"/>
                </a:solidFill>
                <a:latin typeface="Trebuchet MS" panose="020B0603020202020204" pitchFamily="34" charset="0"/>
              </a:rPr>
              <a:t>{a, c}, {a, b, c}, {a, c, c}, {a, b, c, b} </a:t>
            </a:r>
            <a:r>
              <a:rPr lang="en-IN" sz="2000" dirty="0" smtClean="0">
                <a:solidFill>
                  <a:schemeClr val="tx1"/>
                </a:solidFill>
                <a:latin typeface="Trebuchet MS" panose="020B0603020202020204" pitchFamily="34" charset="0"/>
              </a:rPr>
              <a:t>etc. are common subsequence's of A and B, but </a:t>
            </a:r>
            <a:r>
              <a:rPr lang="en-IN" sz="2000" dirty="0" smtClean="0">
                <a:solidFill>
                  <a:srgbClr val="CC0099"/>
                </a:solidFill>
                <a:latin typeface="Trebuchet MS" panose="020B0603020202020204" pitchFamily="34" charset="0"/>
              </a:rPr>
              <a:t>{a, b, c, b, a} </a:t>
            </a:r>
            <a:r>
              <a:rPr lang="en-IN" sz="2000" dirty="0" smtClean="0">
                <a:solidFill>
                  <a:schemeClr val="tx1"/>
                </a:solidFill>
                <a:latin typeface="Trebuchet MS" panose="020B0603020202020204" pitchFamily="34" charset="0"/>
              </a:rPr>
              <a:t>is not. </a:t>
            </a:r>
            <a:r>
              <a:rPr lang="en-IN" sz="2000" dirty="0" smtClean="0">
                <a:solidFill>
                  <a:srgbClr val="CC0099"/>
                </a:solidFill>
                <a:latin typeface="Trebuchet MS" panose="020B0603020202020204" pitchFamily="34" charset="0"/>
              </a:rPr>
              <a:t>{a, b, c, b, a} </a:t>
            </a:r>
            <a:r>
              <a:rPr lang="en-IN" sz="2000" dirty="0" smtClean="0">
                <a:solidFill>
                  <a:schemeClr val="tx1"/>
                </a:solidFill>
                <a:latin typeface="Trebuchet MS" panose="020B0603020202020204" pitchFamily="34" charset="0"/>
              </a:rPr>
              <a:t>is a subsequence of B but it is not a subsequence of A.</a:t>
            </a:r>
          </a:p>
          <a:p>
            <a:pPr marL="269875" indent="-269875" algn="just">
              <a:lnSpc>
                <a:spcPts val="3000"/>
              </a:lnSpc>
              <a:buClrTx/>
              <a:buSzPct val="70000"/>
            </a:pPr>
            <a:r>
              <a:rPr lang="en-IN" sz="2000" dirty="0" smtClean="0">
                <a:solidFill>
                  <a:schemeClr val="tx1"/>
                </a:solidFill>
                <a:latin typeface="Trebuchet MS" panose="020B0603020202020204" pitchFamily="34" charset="0"/>
              </a:rPr>
              <a:t> String of length m has 2m subsequence's. So finding the longest common subsequence's using the brute force approach takes exponential time. Such algorithms are practically not useful for long sequences.</a:t>
            </a:r>
            <a:endParaRPr lang="en-US" sz="2000"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203316144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a:defRPr/>
            </a:pPr>
            <a:r>
              <a:rPr lang="en-IN" sz="2800" b="1" kern="1200" dirty="0">
                <a:solidFill>
                  <a:schemeClr val="bg1"/>
                </a:solidFill>
                <a:latin typeface="Corbel" panose="020B0503020204020204" pitchFamily="34" charset="0"/>
              </a:rPr>
              <a:t>Longest Common Subsequence</a:t>
            </a:r>
            <a:r>
              <a:rPr lang="en-US" sz="2800" b="1" kern="1200" dirty="0">
                <a:solidFill>
                  <a:schemeClr val="bg1"/>
                </a:solidFill>
                <a:latin typeface="Corbel" panose="020B0503020204020204" pitchFamily="34" charset="0"/>
              </a:rPr>
              <a:t>(LCS)</a:t>
            </a:r>
            <a:endParaRPr lang="en-IN" sz="2800" b="1" dirty="0">
              <a:solidFill>
                <a:schemeClr val="bg1"/>
              </a:solidFill>
              <a:latin typeface="Corbel" panose="020B0503020204020204" pitchFamily="34" charset="0"/>
            </a:endParaRPr>
          </a:p>
        </p:txBody>
      </p:sp>
      <p:sp>
        <p:nvSpPr>
          <p:cNvPr id="6" name="Content Placeholder 2"/>
          <p:cNvSpPr txBox="1">
            <a:spLocks/>
          </p:cNvSpPr>
          <p:nvPr/>
        </p:nvSpPr>
        <p:spPr>
          <a:xfrm>
            <a:off x="115748" y="671808"/>
            <a:ext cx="5069710" cy="4127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81000" indent="0">
              <a:buFont typeface="Arial"/>
              <a:buNone/>
            </a:pPr>
            <a:r>
              <a:rPr lang="en-US" sz="1600" dirty="0" smtClean="0">
                <a:solidFill>
                  <a:srgbClr val="CC0099"/>
                </a:solidFill>
                <a:latin typeface="Trebuchet MS" panose="020B0603020202020204" pitchFamily="34" charset="0"/>
              </a:rPr>
              <a:t>Algorithm</a:t>
            </a:r>
            <a:r>
              <a:rPr lang="en-US" sz="1600" dirty="0" smtClean="0">
                <a:solidFill>
                  <a:schemeClr val="tx1"/>
                </a:solidFill>
                <a:latin typeface="Trebuchet MS" panose="020B0603020202020204" pitchFamily="34" charset="0"/>
              </a:rPr>
              <a:t> </a:t>
            </a:r>
            <a:r>
              <a:rPr lang="en-US" sz="1600" dirty="0" smtClean="0">
                <a:solidFill>
                  <a:srgbClr val="0070C0"/>
                </a:solidFill>
                <a:latin typeface="Trebuchet MS" panose="020B0603020202020204" pitchFamily="34" charset="0"/>
              </a:rPr>
              <a:t>LONGEST_COMMON_SUBSEQUENCE(X, Y)</a:t>
            </a:r>
          </a:p>
          <a:p>
            <a:pPr marL="81000" indent="0">
              <a:lnSpc>
                <a:spcPct val="120000"/>
              </a:lnSpc>
              <a:buFont typeface="Arial"/>
              <a:buNone/>
            </a:pPr>
            <a:r>
              <a:rPr lang="en-US" sz="1600" dirty="0" smtClean="0">
                <a:solidFill>
                  <a:srgbClr val="0070C0"/>
                </a:solidFill>
                <a:latin typeface="Trebuchet MS" panose="020B0603020202020204" pitchFamily="34" charset="0"/>
              </a:rPr>
              <a:t>// X is string of length n</a:t>
            </a:r>
          </a:p>
          <a:p>
            <a:pPr marL="81000" indent="0">
              <a:lnSpc>
                <a:spcPct val="120000"/>
              </a:lnSpc>
              <a:buFont typeface="Arial"/>
              <a:buNone/>
            </a:pPr>
            <a:r>
              <a:rPr lang="en-US" sz="1600" dirty="0" smtClean="0">
                <a:solidFill>
                  <a:srgbClr val="0070C0"/>
                </a:solidFill>
                <a:latin typeface="Trebuchet MS" panose="020B0603020202020204" pitchFamily="34" charset="0"/>
              </a:rPr>
              <a:t>// Y is string of length m</a:t>
            </a:r>
          </a:p>
          <a:p>
            <a:pPr marL="81000" indent="0">
              <a:lnSpc>
                <a:spcPct val="120000"/>
              </a:lnSpc>
              <a:buFont typeface="Arial"/>
              <a:buNone/>
            </a:pPr>
            <a:r>
              <a:rPr lang="en-US" sz="1600" dirty="0" smtClean="0">
                <a:solidFill>
                  <a:schemeClr val="tx1"/>
                </a:solidFill>
                <a:latin typeface="Trebuchet MS" panose="020B0603020202020204" pitchFamily="34" charset="0"/>
              </a:rPr>
              <a:t>for </a:t>
            </a:r>
            <a:r>
              <a:rPr lang="en-US" sz="1600" dirty="0" err="1" smtClean="0">
                <a:solidFill>
                  <a:schemeClr val="tx1"/>
                </a:solidFill>
                <a:latin typeface="Trebuchet MS" panose="020B0603020202020204" pitchFamily="34" charset="0"/>
              </a:rPr>
              <a:t>i</a:t>
            </a:r>
            <a:r>
              <a:rPr lang="en-US" sz="1600" dirty="0" smtClean="0">
                <a:solidFill>
                  <a:schemeClr val="tx1"/>
                </a:solidFill>
                <a:latin typeface="Trebuchet MS" panose="020B0603020202020204" pitchFamily="34" charset="0"/>
              </a:rPr>
              <a:t> ← 1 to m do</a:t>
            </a:r>
          </a:p>
          <a:p>
            <a:pPr marL="81000" indent="0">
              <a:lnSpc>
                <a:spcPct val="120000"/>
              </a:lnSpc>
              <a:buFont typeface="Arial"/>
              <a:buNone/>
            </a:pPr>
            <a:r>
              <a:rPr lang="en-US" sz="1600" dirty="0" smtClean="0">
                <a:solidFill>
                  <a:schemeClr val="tx1"/>
                </a:solidFill>
                <a:latin typeface="Trebuchet MS" panose="020B0603020202020204" pitchFamily="34" charset="0"/>
              </a:rPr>
              <a:t>    LCS [</a:t>
            </a:r>
            <a:r>
              <a:rPr lang="en-US" sz="1600" dirty="0" err="1" smtClean="0">
                <a:solidFill>
                  <a:schemeClr val="tx1"/>
                </a:solidFill>
                <a:latin typeface="Trebuchet MS" panose="020B0603020202020204" pitchFamily="34" charset="0"/>
              </a:rPr>
              <a:t>i</a:t>
            </a:r>
            <a:r>
              <a:rPr lang="en-US" sz="1600" dirty="0" smtClean="0">
                <a:solidFill>
                  <a:schemeClr val="tx1"/>
                </a:solidFill>
                <a:latin typeface="Trebuchet MS" panose="020B0603020202020204" pitchFamily="34" charset="0"/>
              </a:rPr>
              <a:t>, 0] ← 0</a:t>
            </a:r>
          </a:p>
          <a:p>
            <a:pPr marL="81000" indent="0">
              <a:lnSpc>
                <a:spcPct val="120000"/>
              </a:lnSpc>
              <a:buFont typeface="Arial"/>
              <a:buNone/>
            </a:pPr>
            <a:r>
              <a:rPr lang="en-US" sz="1600" dirty="0" smtClean="0">
                <a:solidFill>
                  <a:schemeClr val="tx1"/>
                </a:solidFill>
                <a:latin typeface="Trebuchet MS" panose="020B0603020202020204" pitchFamily="34" charset="0"/>
              </a:rPr>
              <a:t>end</a:t>
            </a:r>
          </a:p>
          <a:p>
            <a:pPr marL="81000" indent="0">
              <a:lnSpc>
                <a:spcPct val="120000"/>
              </a:lnSpc>
              <a:buFont typeface="Arial"/>
              <a:buNone/>
            </a:pPr>
            <a:endParaRPr lang="en-US" sz="1600" dirty="0" smtClean="0">
              <a:solidFill>
                <a:schemeClr val="tx1"/>
              </a:solidFill>
              <a:latin typeface="Trebuchet MS" panose="020B0603020202020204" pitchFamily="34" charset="0"/>
            </a:endParaRPr>
          </a:p>
          <a:p>
            <a:pPr marL="81000" indent="0">
              <a:lnSpc>
                <a:spcPct val="120000"/>
              </a:lnSpc>
              <a:buFont typeface="Arial"/>
              <a:buNone/>
            </a:pPr>
            <a:r>
              <a:rPr lang="en-US" sz="1600" dirty="0" smtClean="0">
                <a:solidFill>
                  <a:schemeClr val="tx1"/>
                </a:solidFill>
                <a:latin typeface="Trebuchet MS" panose="020B0603020202020204" pitchFamily="34" charset="0"/>
              </a:rPr>
              <a:t>for j ← 0 to n </a:t>
            </a:r>
          </a:p>
          <a:p>
            <a:pPr marL="81000" indent="0">
              <a:lnSpc>
                <a:spcPct val="120000"/>
              </a:lnSpc>
              <a:buFont typeface="Arial"/>
              <a:buNone/>
            </a:pPr>
            <a:r>
              <a:rPr lang="en-US" sz="1600" dirty="0" smtClean="0">
                <a:solidFill>
                  <a:schemeClr val="tx1"/>
                </a:solidFill>
                <a:latin typeface="Trebuchet MS" panose="020B0603020202020204" pitchFamily="34" charset="0"/>
              </a:rPr>
              <a:t>do</a:t>
            </a:r>
          </a:p>
          <a:p>
            <a:pPr marL="81000" indent="0">
              <a:lnSpc>
                <a:spcPct val="120000"/>
              </a:lnSpc>
              <a:buFont typeface="Arial"/>
              <a:buNone/>
            </a:pPr>
            <a:r>
              <a:rPr lang="en-US" sz="1600" dirty="0" smtClean="0">
                <a:solidFill>
                  <a:schemeClr val="tx1"/>
                </a:solidFill>
                <a:latin typeface="Trebuchet MS" panose="020B0603020202020204" pitchFamily="34" charset="0"/>
              </a:rPr>
              <a:t>    LCS [0, j] ← 0</a:t>
            </a:r>
          </a:p>
          <a:p>
            <a:pPr marL="81000" indent="0">
              <a:lnSpc>
                <a:spcPct val="120000"/>
              </a:lnSpc>
              <a:buFont typeface="Arial"/>
              <a:buNone/>
            </a:pPr>
            <a:r>
              <a:rPr lang="en-US" sz="1600" dirty="0" smtClean="0">
                <a:solidFill>
                  <a:schemeClr val="tx1"/>
                </a:solidFill>
                <a:latin typeface="Trebuchet MS" panose="020B0603020202020204" pitchFamily="34" charset="0"/>
              </a:rPr>
              <a:t>end</a:t>
            </a:r>
          </a:p>
          <a:p>
            <a:pPr marL="81000" indent="0">
              <a:lnSpc>
                <a:spcPct val="120000"/>
              </a:lnSpc>
              <a:buFont typeface="Arial"/>
              <a:buNone/>
            </a:pPr>
            <a:r>
              <a:rPr lang="en-US" sz="1600" dirty="0" smtClean="0">
                <a:solidFill>
                  <a:schemeClr val="tx1"/>
                </a:solidFill>
                <a:latin typeface="Trebuchet MS" panose="020B0603020202020204" pitchFamily="34" charset="0"/>
              </a:rPr>
              <a:t>for </a:t>
            </a:r>
            <a:r>
              <a:rPr lang="en-US" sz="1600" dirty="0" err="1" smtClean="0">
                <a:solidFill>
                  <a:schemeClr val="tx1"/>
                </a:solidFill>
                <a:latin typeface="Trebuchet MS" panose="020B0603020202020204" pitchFamily="34" charset="0"/>
              </a:rPr>
              <a:t>i</a:t>
            </a:r>
            <a:r>
              <a:rPr lang="en-US" sz="1600" dirty="0" smtClean="0">
                <a:solidFill>
                  <a:schemeClr val="tx1"/>
                </a:solidFill>
                <a:latin typeface="Trebuchet MS" panose="020B0603020202020204" pitchFamily="34" charset="0"/>
              </a:rPr>
              <a:t>  ← 1 to m do</a:t>
            </a:r>
          </a:p>
          <a:p>
            <a:pPr marL="81000" indent="0">
              <a:lnSpc>
                <a:spcPct val="120000"/>
              </a:lnSpc>
              <a:buFont typeface="Arial"/>
              <a:buNone/>
            </a:pPr>
            <a:r>
              <a:rPr lang="en-US" sz="1600" dirty="0" smtClean="0">
                <a:solidFill>
                  <a:schemeClr val="tx1"/>
                </a:solidFill>
                <a:latin typeface="Trebuchet MS" panose="020B0603020202020204" pitchFamily="34" charset="0"/>
              </a:rPr>
              <a:t>    for j ← 1 to n do</a:t>
            </a:r>
          </a:p>
          <a:p>
            <a:pPr marL="81000" indent="0">
              <a:lnSpc>
                <a:spcPct val="120000"/>
              </a:lnSpc>
              <a:buFont typeface="Arial"/>
              <a:buNone/>
            </a:pPr>
            <a:r>
              <a:rPr lang="en-US" sz="1600" dirty="0" smtClean="0">
                <a:solidFill>
                  <a:schemeClr val="tx1"/>
                </a:solidFill>
                <a:latin typeface="Trebuchet MS" panose="020B0603020202020204" pitchFamily="34" charset="0"/>
              </a:rPr>
              <a:t>        if  Xi = = </a:t>
            </a:r>
            <a:r>
              <a:rPr lang="en-US" sz="1600" dirty="0" err="1" smtClean="0">
                <a:solidFill>
                  <a:schemeClr val="tx1"/>
                </a:solidFill>
                <a:latin typeface="Trebuchet MS" panose="020B0603020202020204" pitchFamily="34" charset="0"/>
              </a:rPr>
              <a:t>Yj</a:t>
            </a:r>
            <a:r>
              <a:rPr lang="en-US" sz="1600" dirty="0" smtClean="0">
                <a:solidFill>
                  <a:schemeClr val="tx1"/>
                </a:solidFill>
                <a:latin typeface="Trebuchet MS" panose="020B0603020202020204" pitchFamily="34" charset="0"/>
              </a:rPr>
              <a:t>  then</a:t>
            </a:r>
          </a:p>
          <a:p>
            <a:pPr marL="81000" indent="0">
              <a:lnSpc>
                <a:spcPct val="120000"/>
              </a:lnSpc>
              <a:buFont typeface="Arial"/>
              <a:buNone/>
            </a:pPr>
            <a:endParaRPr lang="en-US" sz="1600" dirty="0">
              <a:latin typeface="Trebuchet MS" panose="020B0603020202020204" pitchFamily="34" charset="0"/>
            </a:endParaRPr>
          </a:p>
        </p:txBody>
      </p:sp>
      <p:sp>
        <p:nvSpPr>
          <p:cNvPr id="7" name="TextBox 6">
            <a:extLst>
              <a:ext uri="{FF2B5EF4-FFF2-40B4-BE49-F238E27FC236}">
                <a16:creationId xmlns:a16="http://schemas.microsoft.com/office/drawing/2014/main" id="{C36FE881-F312-3CC8-C895-1A759348AB4A}"/>
              </a:ext>
            </a:extLst>
          </p:cNvPr>
          <p:cNvSpPr txBox="1"/>
          <p:nvPr/>
        </p:nvSpPr>
        <p:spPr>
          <a:xfrm>
            <a:off x="4962502" y="877293"/>
            <a:ext cx="4394929" cy="3379387"/>
          </a:xfrm>
          <a:prstGeom prst="rect">
            <a:avLst/>
          </a:prstGeom>
          <a:noFill/>
        </p:spPr>
        <p:txBody>
          <a:bodyPr wrap="square">
            <a:spAutoFit/>
          </a:bodyPr>
          <a:lstStyle/>
          <a:p>
            <a:pPr marL="81000" lvl="0" defTabSz="914378">
              <a:lnSpc>
                <a:spcPct val="120000"/>
              </a:lnSpc>
              <a:buSzPct val="45000"/>
              <a:defRPr/>
            </a:pPr>
            <a:r>
              <a:rPr kumimoji="0" lang="en-US" sz="1800" b="0" i="0" u="none" strike="noStrike" kern="1200" cap="none" spc="0" normalizeH="0" baseline="0" noProof="0" dirty="0">
                <a:ln>
                  <a:noFill/>
                </a:ln>
                <a:solidFill>
                  <a:prstClr val="black"/>
                </a:solidFill>
                <a:effectLst/>
                <a:uLnTx/>
                <a:uFillTx/>
                <a:latin typeface="Arial"/>
              </a:rPr>
              <a:t> </a:t>
            </a:r>
            <a:r>
              <a:rPr lang="en-US" sz="1600" dirty="0">
                <a:solidFill>
                  <a:schemeClr val="tx1"/>
                </a:solidFill>
                <a:latin typeface="Trebuchet MS" panose="020B0603020202020204" pitchFamily="34" charset="0"/>
              </a:rPr>
              <a:t> LCS[</a:t>
            </a:r>
            <a:r>
              <a:rPr lang="en-US" sz="1600" dirty="0" err="1">
                <a:solidFill>
                  <a:schemeClr val="tx1"/>
                </a:solidFill>
                <a:latin typeface="Trebuchet MS" panose="020B0603020202020204" pitchFamily="34" charset="0"/>
              </a:rPr>
              <a:t>i</a:t>
            </a:r>
            <a:r>
              <a:rPr lang="en-US" sz="1600" dirty="0">
                <a:solidFill>
                  <a:schemeClr val="tx1"/>
                </a:solidFill>
                <a:latin typeface="Trebuchet MS" panose="020B0603020202020204" pitchFamily="34" charset="0"/>
              </a:rPr>
              <a:t>, j] ← LCS[</a:t>
            </a:r>
            <a:r>
              <a:rPr lang="en-US" sz="1600" dirty="0" err="1">
                <a:solidFill>
                  <a:schemeClr val="tx1"/>
                </a:solidFill>
                <a:latin typeface="Trebuchet MS" panose="020B0603020202020204" pitchFamily="34" charset="0"/>
              </a:rPr>
              <a:t>i</a:t>
            </a:r>
            <a:r>
              <a:rPr lang="en-US" sz="1600" dirty="0">
                <a:solidFill>
                  <a:schemeClr val="tx1"/>
                </a:solidFill>
                <a:latin typeface="Trebuchet MS" panose="020B0603020202020204" pitchFamily="34" charset="0"/>
              </a:rPr>
              <a:t> – 1, j – 1] + </a:t>
            </a:r>
            <a:r>
              <a:rPr lang="en-US" sz="1600" dirty="0" smtClean="0">
                <a:solidFill>
                  <a:schemeClr val="tx1"/>
                </a:solidFill>
                <a:latin typeface="Trebuchet MS" panose="020B0603020202020204" pitchFamily="34" charset="0"/>
              </a:rPr>
              <a:t>1</a:t>
            </a:r>
          </a:p>
          <a:p>
            <a:pPr marL="81000" lvl="0" defTabSz="914378">
              <a:lnSpc>
                <a:spcPct val="120000"/>
              </a:lnSpc>
              <a:buSzPct val="45000"/>
              <a:defRPr/>
            </a:pPr>
            <a:r>
              <a:rPr kumimoji="0" lang="en-US" sz="1600" b="0" i="0" u="none" strike="noStrike" kern="1200" cap="none" spc="0" normalizeH="0" baseline="0" noProof="0" dirty="0">
                <a:ln>
                  <a:noFill/>
                </a:ln>
                <a:solidFill>
                  <a:schemeClr val="tx1"/>
                </a:solidFill>
                <a:effectLst/>
                <a:uLnTx/>
                <a:uFillTx/>
                <a:latin typeface="Trebuchet MS" panose="020B0603020202020204" pitchFamily="34" charset="0"/>
              </a:rPr>
              <a:t> </a:t>
            </a:r>
            <a:r>
              <a:rPr kumimoji="0" lang="en-US" sz="1600" b="0" i="0" u="none" strike="noStrike" kern="1200" cap="none" spc="0" normalizeH="0" baseline="0" noProof="0" dirty="0" smtClean="0">
                <a:ln>
                  <a:noFill/>
                </a:ln>
                <a:solidFill>
                  <a:schemeClr val="tx1"/>
                </a:solidFill>
                <a:effectLst/>
                <a:uLnTx/>
                <a:uFillTx/>
                <a:latin typeface="Trebuchet MS" panose="020B0603020202020204" pitchFamily="34" charset="0"/>
              </a:rPr>
              <a:t> </a:t>
            </a:r>
            <a:r>
              <a:rPr kumimoji="0" lang="en-US" sz="1600" b="0" i="0" u="none" strike="noStrike" kern="1200" cap="none" spc="0" normalizeH="0" baseline="0" noProof="0" dirty="0" smtClean="0">
                <a:ln>
                  <a:noFill/>
                </a:ln>
                <a:solidFill>
                  <a:prstClr val="black"/>
                </a:solidFill>
                <a:effectLst/>
                <a:uLnTx/>
                <a:uFillTx/>
                <a:latin typeface="Trebuchet MS" panose="020B0603020202020204" pitchFamily="34" charset="0"/>
              </a:rPr>
              <a:t>else</a:t>
            </a:r>
            <a:endPar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endParaRPr>
          </a:p>
          <a:p>
            <a:pPr marL="81000" marR="0" lvl="0" indent="0" algn="l" defTabSz="914378" rtl="0" eaLnBrk="1" fontAlgn="auto" latinLnBrk="0" hangingPunct="1">
              <a:lnSpc>
                <a:spcPct val="120000"/>
              </a:lnSpc>
              <a:spcBef>
                <a:spcPts val="0"/>
              </a:spcBef>
              <a:spcAft>
                <a:spcPts val="0"/>
              </a:spcAft>
              <a:buClr>
                <a:srgbClr val="000000"/>
              </a:buClr>
              <a:buSzPct val="45000"/>
              <a:buFont typeface="Wingdings" charset="2"/>
              <a:buNone/>
              <a:tabLst/>
              <a:defRPr/>
            </a:pP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if LCS[</a:t>
            </a:r>
            <a:r>
              <a:rPr kumimoji="0" lang="en-US" sz="1600" b="0" i="0" u="none" strike="noStrike" kern="1200" cap="none" spc="0" normalizeH="0" baseline="0" noProof="0" dirty="0" err="1">
                <a:ln>
                  <a:noFill/>
                </a:ln>
                <a:solidFill>
                  <a:prstClr val="black"/>
                </a:solidFill>
                <a:effectLst/>
                <a:uLnTx/>
                <a:uFillTx/>
                <a:latin typeface="Trebuchet MS" panose="020B0603020202020204" pitchFamily="34" charset="0"/>
              </a:rPr>
              <a:t>i</a:t>
            </a: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 1, j] ≥ LCS[</a:t>
            </a:r>
            <a:r>
              <a:rPr kumimoji="0" lang="en-US" sz="1600" b="0" i="0" u="none" strike="noStrike" kern="1200" cap="none" spc="0" normalizeH="0" baseline="0" noProof="0" dirty="0" err="1">
                <a:ln>
                  <a:noFill/>
                </a:ln>
                <a:solidFill>
                  <a:prstClr val="black"/>
                </a:solidFill>
                <a:effectLst/>
                <a:uLnTx/>
                <a:uFillTx/>
                <a:latin typeface="Trebuchet MS" panose="020B0603020202020204" pitchFamily="34" charset="0"/>
              </a:rPr>
              <a:t>i</a:t>
            </a: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j – 1] then</a:t>
            </a:r>
          </a:p>
          <a:p>
            <a:pPr marL="81000" marR="0" lvl="0" indent="0" algn="l" defTabSz="914378" rtl="0" eaLnBrk="1" fontAlgn="auto" latinLnBrk="0" hangingPunct="1">
              <a:lnSpc>
                <a:spcPct val="120000"/>
              </a:lnSpc>
              <a:spcBef>
                <a:spcPts val="0"/>
              </a:spcBef>
              <a:spcAft>
                <a:spcPts val="0"/>
              </a:spcAft>
              <a:buClr>
                <a:srgbClr val="000000"/>
              </a:buClr>
              <a:buSzPct val="45000"/>
              <a:buFont typeface="Wingdings" charset="2"/>
              <a:buNone/>
              <a:tabLst/>
              <a:defRPr/>
            </a:pP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LCS[</a:t>
            </a:r>
            <a:r>
              <a:rPr kumimoji="0" lang="en-US" sz="1600" b="0" i="0" u="none" strike="noStrike" kern="1200" cap="none" spc="0" normalizeH="0" baseline="0" noProof="0" dirty="0" err="1">
                <a:ln>
                  <a:noFill/>
                </a:ln>
                <a:solidFill>
                  <a:prstClr val="black"/>
                </a:solidFill>
                <a:effectLst/>
                <a:uLnTx/>
                <a:uFillTx/>
                <a:latin typeface="Trebuchet MS" panose="020B0603020202020204" pitchFamily="34" charset="0"/>
              </a:rPr>
              <a:t>i</a:t>
            </a: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j] ← LCS[</a:t>
            </a:r>
            <a:r>
              <a:rPr kumimoji="0" lang="en-US" sz="1600" b="0" i="0" u="none" strike="noStrike" kern="1200" cap="none" spc="0" normalizeH="0" baseline="0" noProof="0" dirty="0" err="1">
                <a:ln>
                  <a:noFill/>
                </a:ln>
                <a:solidFill>
                  <a:prstClr val="black"/>
                </a:solidFill>
                <a:effectLst/>
                <a:uLnTx/>
                <a:uFillTx/>
                <a:latin typeface="Trebuchet MS" panose="020B0603020202020204" pitchFamily="34" charset="0"/>
              </a:rPr>
              <a:t>i</a:t>
            </a: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 1, j]</a:t>
            </a:r>
          </a:p>
          <a:p>
            <a:pPr marL="81000" marR="0" lvl="0" indent="0" algn="l" defTabSz="914378" rtl="0" eaLnBrk="1" fontAlgn="auto" latinLnBrk="0" hangingPunct="1">
              <a:lnSpc>
                <a:spcPct val="120000"/>
              </a:lnSpc>
              <a:spcBef>
                <a:spcPts val="0"/>
              </a:spcBef>
              <a:spcAft>
                <a:spcPts val="0"/>
              </a:spcAft>
              <a:buClr>
                <a:srgbClr val="000000"/>
              </a:buClr>
              <a:buSzPct val="45000"/>
              <a:buFont typeface="Wingdings" charset="2"/>
              <a:buNone/>
              <a:tabLst/>
              <a:defRPr/>
            </a:pP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else</a:t>
            </a:r>
          </a:p>
          <a:p>
            <a:pPr marL="81000" marR="0" lvl="0" indent="0" algn="l" defTabSz="914378" rtl="0" eaLnBrk="1" fontAlgn="auto" latinLnBrk="0" hangingPunct="1">
              <a:lnSpc>
                <a:spcPct val="120000"/>
              </a:lnSpc>
              <a:spcBef>
                <a:spcPts val="0"/>
              </a:spcBef>
              <a:spcAft>
                <a:spcPts val="0"/>
              </a:spcAft>
              <a:buClr>
                <a:srgbClr val="000000"/>
              </a:buClr>
              <a:buSzPct val="45000"/>
              <a:buFont typeface="Wingdings" charset="2"/>
              <a:buNone/>
              <a:tabLst/>
              <a:defRPr/>
            </a:pP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LCS[</a:t>
            </a:r>
            <a:r>
              <a:rPr kumimoji="0" lang="en-US" sz="1600" b="0" i="0" u="none" strike="noStrike" kern="1200" cap="none" spc="0" normalizeH="0" baseline="0" noProof="0" dirty="0" err="1">
                <a:ln>
                  <a:noFill/>
                </a:ln>
                <a:solidFill>
                  <a:prstClr val="black"/>
                </a:solidFill>
                <a:effectLst/>
                <a:uLnTx/>
                <a:uFillTx/>
                <a:latin typeface="Trebuchet MS" panose="020B0603020202020204" pitchFamily="34" charset="0"/>
              </a:rPr>
              <a:t>i</a:t>
            </a: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j] ← LCS[</a:t>
            </a:r>
            <a:r>
              <a:rPr kumimoji="0" lang="en-US" sz="1600" b="0" i="0" u="none" strike="noStrike" kern="1200" cap="none" spc="0" normalizeH="0" baseline="0" noProof="0" dirty="0" err="1">
                <a:ln>
                  <a:noFill/>
                </a:ln>
                <a:solidFill>
                  <a:prstClr val="black"/>
                </a:solidFill>
                <a:effectLst/>
                <a:uLnTx/>
                <a:uFillTx/>
                <a:latin typeface="Trebuchet MS" panose="020B0603020202020204" pitchFamily="34" charset="0"/>
              </a:rPr>
              <a:t>i</a:t>
            </a: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j – 1]</a:t>
            </a:r>
          </a:p>
          <a:p>
            <a:pPr marL="81000" marR="0" lvl="0" indent="0" algn="l" defTabSz="914378" rtl="0" eaLnBrk="1" fontAlgn="auto" latinLnBrk="0" hangingPunct="1">
              <a:lnSpc>
                <a:spcPct val="120000"/>
              </a:lnSpc>
              <a:spcBef>
                <a:spcPts val="0"/>
              </a:spcBef>
              <a:spcAft>
                <a:spcPts val="0"/>
              </a:spcAft>
              <a:buClr>
                <a:srgbClr val="000000"/>
              </a:buClr>
              <a:buSzPct val="45000"/>
              <a:buFont typeface="Wingdings" charset="2"/>
              <a:buNone/>
              <a:tabLst/>
              <a:defRPr/>
            </a:pP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end</a:t>
            </a:r>
          </a:p>
          <a:p>
            <a:pPr marL="81000" marR="0" lvl="0" indent="0" algn="l" defTabSz="914378" rtl="0" eaLnBrk="1" fontAlgn="auto" latinLnBrk="0" hangingPunct="1">
              <a:lnSpc>
                <a:spcPct val="120000"/>
              </a:lnSpc>
              <a:spcBef>
                <a:spcPts val="0"/>
              </a:spcBef>
              <a:spcAft>
                <a:spcPts val="0"/>
              </a:spcAft>
              <a:buClr>
                <a:srgbClr val="000000"/>
              </a:buClr>
              <a:buSzPct val="45000"/>
              <a:buFont typeface="Wingdings" charset="2"/>
              <a:buNone/>
              <a:tabLst/>
              <a:defRPr/>
            </a:pP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end</a:t>
            </a:r>
          </a:p>
          <a:p>
            <a:pPr marL="81000" marR="0" lvl="0" indent="0" algn="l" defTabSz="914378" rtl="0" eaLnBrk="1" fontAlgn="auto" latinLnBrk="0" hangingPunct="1">
              <a:lnSpc>
                <a:spcPct val="120000"/>
              </a:lnSpc>
              <a:spcBef>
                <a:spcPts val="0"/>
              </a:spcBef>
              <a:spcAft>
                <a:spcPts val="0"/>
              </a:spcAft>
              <a:buClr>
                <a:srgbClr val="000000"/>
              </a:buClr>
              <a:buSzPct val="45000"/>
              <a:buFont typeface="Wingdings" charset="2"/>
              <a:buNone/>
              <a:tabLst/>
              <a:defRPr/>
            </a:pP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    end</a:t>
            </a:r>
          </a:p>
          <a:p>
            <a:pPr marL="81000" marR="0" lvl="0" indent="0" algn="l" defTabSz="914378" rtl="0" eaLnBrk="1" fontAlgn="auto" latinLnBrk="0" hangingPunct="1">
              <a:lnSpc>
                <a:spcPct val="120000"/>
              </a:lnSpc>
              <a:spcBef>
                <a:spcPts val="0"/>
              </a:spcBef>
              <a:spcAft>
                <a:spcPts val="0"/>
              </a:spcAft>
              <a:buClr>
                <a:srgbClr val="000000"/>
              </a:buClr>
              <a:buSzPct val="45000"/>
              <a:buFont typeface="Wingdings" charset="2"/>
              <a:buNone/>
              <a:tabLst/>
              <a:defRPr/>
            </a:pP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end</a:t>
            </a:r>
          </a:p>
          <a:p>
            <a:pPr marL="81000" marR="0" lvl="0" indent="0" algn="l" defTabSz="914378" rtl="0" eaLnBrk="1" fontAlgn="auto" latinLnBrk="0" hangingPunct="1">
              <a:lnSpc>
                <a:spcPct val="120000"/>
              </a:lnSpc>
              <a:spcBef>
                <a:spcPts val="0"/>
              </a:spcBef>
              <a:spcAft>
                <a:spcPts val="0"/>
              </a:spcAft>
              <a:buClr>
                <a:srgbClr val="000000"/>
              </a:buClr>
              <a:buSzPct val="45000"/>
              <a:buFont typeface="Wingdings" charset="2"/>
              <a:buNone/>
              <a:tabLst/>
              <a:defRPr/>
            </a:pPr>
            <a:r>
              <a:rPr kumimoji="0" lang="en-US" sz="1600" b="0" i="0" u="none" strike="noStrike" kern="1200" cap="none" spc="0" normalizeH="0" baseline="0" noProof="0" dirty="0">
                <a:ln>
                  <a:noFill/>
                </a:ln>
                <a:solidFill>
                  <a:prstClr val="black"/>
                </a:solidFill>
                <a:effectLst/>
                <a:uLnTx/>
                <a:uFillTx/>
                <a:latin typeface="Trebuchet MS" panose="020B0603020202020204" pitchFamily="34" charset="0"/>
              </a:rPr>
              <a:t>return LCS</a:t>
            </a:r>
            <a:endParaRPr lang="en-IN" sz="1600" dirty="0">
              <a:latin typeface="Trebuchet MS" panose="020B0603020202020204" pitchFamily="34" charset="0"/>
            </a:endParaRPr>
          </a:p>
        </p:txBody>
      </p:sp>
      <p:cxnSp>
        <p:nvCxnSpPr>
          <p:cNvPr id="3" name="Straight Connector 2"/>
          <p:cNvCxnSpPr/>
          <p:nvPr/>
        </p:nvCxnSpPr>
        <p:spPr>
          <a:xfrm>
            <a:off x="4962502" y="743727"/>
            <a:ext cx="0" cy="4390248"/>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0278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fade">
                                      <p:cBhvr>
                                        <p:cTn id="37" dur="500"/>
                                        <p:tgtEl>
                                          <p:spTgt spid="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8" end="8"/>
                                            </p:txEl>
                                          </p:spTgt>
                                        </p:tgtEl>
                                        <p:attrNameLst>
                                          <p:attrName>style.visibility</p:attrName>
                                        </p:attrNameLst>
                                      </p:cBhvr>
                                      <p:to>
                                        <p:strVal val="visible"/>
                                      </p:to>
                                    </p:set>
                                    <p:animEffect transition="in" filter="fade">
                                      <p:cBhvr>
                                        <p:cTn id="42" dur="500"/>
                                        <p:tgtEl>
                                          <p:spTgt spid="6">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9" end="9"/>
                                            </p:txEl>
                                          </p:spTgt>
                                        </p:tgtEl>
                                        <p:attrNameLst>
                                          <p:attrName>style.visibility</p:attrName>
                                        </p:attrNameLst>
                                      </p:cBhvr>
                                      <p:to>
                                        <p:strVal val="visible"/>
                                      </p:to>
                                    </p:set>
                                    <p:animEffect transition="in" filter="fade">
                                      <p:cBhvr>
                                        <p:cTn id="47" dur="500"/>
                                        <p:tgtEl>
                                          <p:spTgt spid="6">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10" end="10"/>
                                            </p:txEl>
                                          </p:spTgt>
                                        </p:tgtEl>
                                        <p:attrNameLst>
                                          <p:attrName>style.visibility</p:attrName>
                                        </p:attrNameLst>
                                      </p:cBhvr>
                                      <p:to>
                                        <p:strVal val="visible"/>
                                      </p:to>
                                    </p:set>
                                    <p:animEffect transition="in" filter="fade">
                                      <p:cBhvr>
                                        <p:cTn id="52" dur="500"/>
                                        <p:tgtEl>
                                          <p:spTgt spid="6">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xEl>
                                              <p:pRg st="11" end="11"/>
                                            </p:txEl>
                                          </p:spTgt>
                                        </p:tgtEl>
                                        <p:attrNameLst>
                                          <p:attrName>style.visibility</p:attrName>
                                        </p:attrNameLst>
                                      </p:cBhvr>
                                      <p:to>
                                        <p:strVal val="visible"/>
                                      </p:to>
                                    </p:set>
                                    <p:animEffect transition="in" filter="fade">
                                      <p:cBhvr>
                                        <p:cTn id="57" dur="500"/>
                                        <p:tgtEl>
                                          <p:spTgt spid="6">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
                                            <p:txEl>
                                              <p:pRg st="12" end="12"/>
                                            </p:txEl>
                                          </p:spTgt>
                                        </p:tgtEl>
                                        <p:attrNameLst>
                                          <p:attrName>style.visibility</p:attrName>
                                        </p:attrNameLst>
                                      </p:cBhvr>
                                      <p:to>
                                        <p:strVal val="visible"/>
                                      </p:to>
                                    </p:set>
                                    <p:animEffect transition="in" filter="fade">
                                      <p:cBhvr>
                                        <p:cTn id="62" dur="500"/>
                                        <p:tgtEl>
                                          <p:spTgt spid="6">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
                                            <p:txEl>
                                              <p:pRg st="13" end="13"/>
                                            </p:txEl>
                                          </p:spTgt>
                                        </p:tgtEl>
                                        <p:attrNameLst>
                                          <p:attrName>style.visibility</p:attrName>
                                        </p:attrNameLst>
                                      </p:cBhvr>
                                      <p:to>
                                        <p:strVal val="visible"/>
                                      </p:to>
                                    </p:set>
                                    <p:animEffect transition="in" filter="fade">
                                      <p:cBhvr>
                                        <p:cTn id="67" dur="500"/>
                                        <p:tgtEl>
                                          <p:spTgt spid="6">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 name="TextBox 8">
            <a:extLst>
              <a:ext uri="{FF2B5EF4-FFF2-40B4-BE49-F238E27FC236}">
                <a16:creationId xmlns:a16="http://schemas.microsoft.com/office/drawing/2014/main" id="{292616E1-056D-E94A-F5AB-9C9A00289B65}"/>
              </a:ext>
            </a:extLst>
          </p:cNvPr>
          <p:cNvSpPr txBox="1"/>
          <p:nvPr/>
        </p:nvSpPr>
        <p:spPr>
          <a:xfrm>
            <a:off x="261405" y="76669"/>
            <a:ext cx="6590238" cy="523220"/>
          </a:xfrm>
          <a:prstGeom prst="rect">
            <a:avLst/>
          </a:prstGeom>
          <a:noFill/>
        </p:spPr>
        <p:txBody>
          <a:bodyPr wrap="square">
            <a:spAutoFit/>
          </a:bodyPr>
          <a:lstStyle/>
          <a:p>
            <a:pPr lvl="0">
              <a:defRPr/>
            </a:pPr>
            <a:r>
              <a:rPr lang="en-IN" sz="2800" b="1" kern="1200" dirty="0">
                <a:solidFill>
                  <a:schemeClr val="bg1"/>
                </a:solidFill>
                <a:latin typeface="+mj-lt"/>
              </a:rPr>
              <a:t>Longest Common Subsequence</a:t>
            </a:r>
            <a:r>
              <a:rPr lang="en-US" sz="2800" b="1" kern="1200" dirty="0">
                <a:solidFill>
                  <a:schemeClr val="bg1"/>
                </a:solidFill>
                <a:latin typeface="+mj-lt"/>
              </a:rPr>
              <a:t>(LCS)</a:t>
            </a:r>
            <a:endParaRPr lang="en-IN" sz="2800" b="1" dirty="0">
              <a:solidFill>
                <a:schemeClr val="bg1"/>
              </a:solidFill>
              <a:latin typeface="+mj-lt"/>
            </a:endParaRPr>
          </a:p>
        </p:txBody>
      </p:sp>
      <p:sp>
        <p:nvSpPr>
          <p:cNvPr id="6" name="Title 1"/>
          <p:cNvSpPr txBox="1">
            <a:spLocks/>
          </p:cNvSpPr>
          <p:nvPr/>
        </p:nvSpPr>
        <p:spPr>
          <a:xfrm>
            <a:off x="261405" y="616913"/>
            <a:ext cx="9017000" cy="533400"/>
          </a:xfrm>
          <a:prstGeom prst="rect">
            <a:avLst/>
          </a:prstGeom>
          <a:noFill/>
          <a:ln>
            <a:noFill/>
          </a:ln>
        </p:spPr>
        <p:txBody>
          <a:bodyPr spcFirstLastPara="1" wrap="square" lIns="91425" tIns="91440" rIns="91425" bIns="91440" anchor="b" anchorCtr="0">
            <a:normAutofit fontScale="90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smtClean="0">
                <a:solidFill>
                  <a:srgbClr val="0070C0"/>
                </a:solidFill>
                <a:latin typeface="Corbel" panose="020B0503020204020204" pitchFamily="34" charset="0"/>
              </a:rPr>
              <a:t>LCS – Optimal Sub-structure</a:t>
            </a:r>
            <a:endParaRPr lang="en-US" b="1" dirty="0">
              <a:solidFill>
                <a:srgbClr val="0070C0"/>
              </a:solidFill>
              <a:latin typeface="Corbel" panose="020B0503020204020204" pitchFamily="34" charset="0"/>
            </a:endParaRPr>
          </a:p>
        </p:txBody>
      </p:sp>
      <mc:AlternateContent xmlns:mc="http://schemas.openxmlformats.org/markup-compatibility/2006" xmlns:a14="http://schemas.microsoft.com/office/drawing/2010/main">
        <mc:Choice Requires="a14">
          <p:sp>
            <p:nvSpPr>
              <p:cNvPr id="7" name="Content Placeholder 2"/>
              <p:cNvSpPr txBox="1">
                <a:spLocks/>
              </p:cNvSpPr>
              <p:nvPr/>
            </p:nvSpPr>
            <p:spPr>
              <a:xfrm>
                <a:off x="373063" y="1150313"/>
                <a:ext cx="8032383" cy="41275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176213">
                  <a:buClr>
                    <a:schemeClr val="tx1"/>
                  </a:buClr>
                  <a:buSzPct val="70000"/>
                </a:pPr>
                <a:r>
                  <a:rPr lang="en-US" sz="2000" dirty="0" smtClean="0">
                    <a:solidFill>
                      <a:schemeClr val="tx1"/>
                    </a:solidFill>
                    <a:latin typeface="Trebuchet MS" panose="020B0603020202020204" pitchFamily="34" charset="0"/>
                  </a:rPr>
                  <a:t>We need to generate table </a:t>
                </a:r>
                <a14:m>
                  <m:oMath xmlns:m="http://schemas.openxmlformats.org/officeDocument/2006/math">
                    <m:r>
                      <a:rPr lang="en-US" sz="2000" b="1" i="1" smtClean="0">
                        <a:solidFill>
                          <a:srgbClr val="CC0099"/>
                        </a:solidFill>
                        <a:latin typeface="Cambria Math" panose="02040503050406030204" pitchFamily="18" charset="0"/>
                      </a:rPr>
                      <m:t>𝒄</m:t>
                    </m:r>
                    <m:d>
                      <m:dPr>
                        <m:ctrlPr>
                          <a:rPr lang="en-US" sz="2000" b="1" i="1">
                            <a:solidFill>
                              <a:srgbClr val="CC0099"/>
                            </a:solidFill>
                            <a:latin typeface="Cambria Math" panose="02040503050406030204" pitchFamily="18" charset="0"/>
                          </a:rPr>
                        </m:ctrlPr>
                      </m:dPr>
                      <m:e>
                        <m:r>
                          <a:rPr lang="en-US" sz="2000" b="1" i="1">
                            <a:solidFill>
                              <a:srgbClr val="CC0099"/>
                            </a:solidFill>
                            <a:latin typeface="Cambria Math" panose="02040503050406030204" pitchFamily="18" charset="0"/>
                          </a:rPr>
                          <m:t>𝟏</m:t>
                        </m:r>
                        <m:r>
                          <a:rPr lang="en-US" sz="2000" b="1" i="1">
                            <a:solidFill>
                              <a:srgbClr val="CC0099"/>
                            </a:solidFill>
                            <a:latin typeface="Cambria Math" panose="02040503050406030204" pitchFamily="18" charset="0"/>
                          </a:rPr>
                          <m:t>..</m:t>
                        </m:r>
                        <m:r>
                          <a:rPr lang="en-US" sz="2000" b="1" i="1">
                            <a:solidFill>
                              <a:srgbClr val="CC0099"/>
                            </a:solidFill>
                            <a:latin typeface="Cambria Math" panose="02040503050406030204" pitchFamily="18" charset="0"/>
                          </a:rPr>
                          <m:t>𝒎</m:t>
                        </m:r>
                        <m:r>
                          <a:rPr lang="en-US" sz="2000" b="1" i="1">
                            <a:solidFill>
                              <a:srgbClr val="CC0099"/>
                            </a:solidFill>
                            <a:latin typeface="Cambria Math" panose="02040503050406030204" pitchFamily="18" charset="0"/>
                          </a:rPr>
                          <m:t>, </m:t>
                        </m:r>
                        <m:r>
                          <a:rPr lang="en-US" sz="2000" b="1" i="1">
                            <a:solidFill>
                              <a:srgbClr val="CC0099"/>
                            </a:solidFill>
                            <a:latin typeface="Cambria Math" panose="02040503050406030204" pitchFamily="18" charset="0"/>
                          </a:rPr>
                          <m:t>𝟏</m:t>
                        </m:r>
                        <m:r>
                          <a:rPr lang="en-US" sz="2000" b="1" i="1">
                            <a:solidFill>
                              <a:srgbClr val="CC0099"/>
                            </a:solidFill>
                            <a:latin typeface="Cambria Math" panose="02040503050406030204" pitchFamily="18" charset="0"/>
                          </a:rPr>
                          <m:t>..</m:t>
                        </m:r>
                        <m:r>
                          <a:rPr lang="en-US" sz="2000" b="1" i="1">
                            <a:solidFill>
                              <a:srgbClr val="CC0099"/>
                            </a:solidFill>
                            <a:latin typeface="Cambria Math" panose="02040503050406030204" pitchFamily="18" charset="0"/>
                          </a:rPr>
                          <m:t>𝒏</m:t>
                        </m:r>
                      </m:e>
                    </m:d>
                  </m:oMath>
                </a14:m>
                <a:endParaRPr lang="en-US" sz="2000" b="1" dirty="0" smtClean="0">
                  <a:solidFill>
                    <a:schemeClr val="tx1"/>
                  </a:solidFill>
                  <a:latin typeface="Trebuchet MS" panose="020B0603020202020204" pitchFamily="34" charset="0"/>
                </a:endParaRPr>
              </a:p>
              <a:p>
                <a:pPr marL="0" indent="176213">
                  <a:buNone/>
                </a:pPr>
                <a:r>
                  <a:rPr lang="en-US" sz="2000" dirty="0" smtClean="0">
                    <a:solidFill>
                      <a:schemeClr val="tx1"/>
                    </a:solidFill>
                    <a:latin typeface="Trebuchet MS" panose="020B0603020202020204" pitchFamily="34" charset="0"/>
                  </a:rPr>
                  <a:t> where </a:t>
                </a:r>
                <a14:m>
                  <m:oMath xmlns:m="http://schemas.openxmlformats.org/officeDocument/2006/math">
                    <m:r>
                      <a:rPr lang="en-US" sz="2000" b="1" i="1" smtClean="0">
                        <a:solidFill>
                          <a:srgbClr val="CC0099"/>
                        </a:solidFill>
                        <a:latin typeface="Cambria Math" panose="02040503050406030204" pitchFamily="18" charset="0"/>
                      </a:rPr>
                      <m:t>𝒎</m:t>
                    </m:r>
                    <m:r>
                      <a:rPr lang="en-US" sz="2000" i="1">
                        <a:solidFill>
                          <a:srgbClr val="CC0099"/>
                        </a:solidFill>
                        <a:latin typeface="Cambria Math" panose="02040503050406030204" pitchFamily="18" charset="0"/>
                      </a:rPr>
                      <m:t>= </m:t>
                    </m:r>
                  </m:oMath>
                </a14:m>
                <a:r>
                  <a:rPr lang="en-US" sz="2000" dirty="0">
                    <a:solidFill>
                      <a:srgbClr val="CC0099"/>
                    </a:solidFill>
                    <a:latin typeface="Trebuchet MS" panose="020B0603020202020204" pitchFamily="34" charset="0"/>
                  </a:rPr>
                  <a:t>length </a:t>
                </a:r>
                <a:r>
                  <a:rPr lang="en-US" sz="2000" dirty="0">
                    <a:solidFill>
                      <a:schemeClr val="tx1"/>
                    </a:solidFill>
                    <a:latin typeface="Trebuchet MS" panose="020B0603020202020204" pitchFamily="34" charset="0"/>
                  </a:rPr>
                  <a:t>of string </a:t>
                </a:r>
                <a14:m>
                  <m:oMath xmlns:m="http://schemas.openxmlformats.org/officeDocument/2006/math">
                    <m:r>
                      <a:rPr lang="en-US" sz="2000" b="1" i="1" smtClean="0">
                        <a:solidFill>
                          <a:srgbClr val="CC0099"/>
                        </a:solidFill>
                        <a:latin typeface="Cambria Math" panose="02040503050406030204" pitchFamily="18" charset="0"/>
                      </a:rPr>
                      <m:t>𝑺</m:t>
                    </m:r>
                    <m:r>
                      <a:rPr lang="en-US" sz="2000" b="1" i="1" smtClean="0">
                        <a:solidFill>
                          <a:srgbClr val="CC0099"/>
                        </a:solidFill>
                        <a:latin typeface="Cambria Math" panose="02040503050406030204" pitchFamily="18" charset="0"/>
                      </a:rPr>
                      <m:t>𝟏</m:t>
                    </m:r>
                  </m:oMath>
                </a14:m>
                <a:r>
                  <a:rPr lang="en-US" sz="2000" dirty="0">
                    <a:solidFill>
                      <a:schemeClr val="tx1"/>
                    </a:solidFill>
                    <a:latin typeface="Trebuchet MS" panose="020B0603020202020204" pitchFamily="34" charset="0"/>
                  </a:rPr>
                  <a:t> and </a:t>
                </a:r>
                <a14:m>
                  <m:oMath xmlns:m="http://schemas.openxmlformats.org/officeDocument/2006/math">
                    <m:r>
                      <a:rPr lang="en-US" sz="2000" b="1" i="1" smtClean="0">
                        <a:solidFill>
                          <a:srgbClr val="CC0099"/>
                        </a:solidFill>
                        <a:latin typeface="Cambria Math" panose="02040503050406030204" pitchFamily="18" charset="0"/>
                      </a:rPr>
                      <m:t>𝒏</m:t>
                    </m:r>
                    <m:r>
                      <a:rPr lang="en-US" sz="2000" i="1">
                        <a:solidFill>
                          <a:srgbClr val="CC0099"/>
                        </a:solidFill>
                        <a:latin typeface="Cambria Math" panose="02040503050406030204" pitchFamily="18" charset="0"/>
                      </a:rPr>
                      <m:t>=</m:t>
                    </m:r>
                  </m:oMath>
                </a14:m>
                <a:r>
                  <a:rPr lang="en-US" sz="2000" dirty="0">
                    <a:solidFill>
                      <a:srgbClr val="CC0099"/>
                    </a:solidFill>
                    <a:latin typeface="Trebuchet MS" panose="020B0603020202020204" pitchFamily="34" charset="0"/>
                  </a:rPr>
                  <a:t> length </a:t>
                </a:r>
                <a:r>
                  <a:rPr lang="en-US" sz="2000" dirty="0">
                    <a:solidFill>
                      <a:schemeClr val="tx1"/>
                    </a:solidFill>
                    <a:latin typeface="Trebuchet MS" panose="020B0603020202020204" pitchFamily="34" charset="0"/>
                  </a:rPr>
                  <a:t>of string </a:t>
                </a:r>
                <a14:m>
                  <m:oMath xmlns:m="http://schemas.openxmlformats.org/officeDocument/2006/math">
                    <m:r>
                      <a:rPr lang="en-US" sz="2000" b="1" i="1" smtClean="0">
                        <a:solidFill>
                          <a:srgbClr val="CC0099"/>
                        </a:solidFill>
                        <a:latin typeface="Cambria Math" panose="02040503050406030204" pitchFamily="18" charset="0"/>
                      </a:rPr>
                      <m:t>𝑺</m:t>
                    </m:r>
                    <m:r>
                      <a:rPr lang="en-US" sz="2000" b="1" i="1" smtClean="0">
                        <a:solidFill>
                          <a:srgbClr val="CC0099"/>
                        </a:solidFill>
                        <a:latin typeface="Cambria Math" panose="02040503050406030204" pitchFamily="18" charset="0"/>
                      </a:rPr>
                      <m:t>𝟐</m:t>
                    </m:r>
                  </m:oMath>
                </a14:m>
                <a:r>
                  <a:rPr lang="en-US" sz="2000" dirty="0">
                    <a:solidFill>
                      <a:schemeClr val="tx1"/>
                    </a:solidFill>
                    <a:latin typeface="Trebuchet MS" panose="020B0603020202020204" pitchFamily="34" charset="0"/>
                  </a:rPr>
                  <a:t>.</a:t>
                </a:r>
              </a:p>
              <a:p>
                <a:endParaRPr lang="en-US" sz="2000" dirty="0">
                  <a:latin typeface="Trebuchet MS" panose="020B0603020202020204" pitchFamily="34" charset="0"/>
                </a:endParaRPr>
              </a:p>
              <a:p>
                <a:endParaRPr lang="en-US" dirty="0"/>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373063" y="1150313"/>
                <a:ext cx="8032383" cy="4127500"/>
              </a:xfrm>
              <a:prstGeom prst="rect">
                <a:avLst/>
              </a:prstGeom>
              <a:blipFill>
                <a:blip r:embed="rId6"/>
                <a:stretch>
                  <a:fillRect l="-76"/>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782666" y="2179863"/>
                <a:ext cx="7328496" cy="19245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spcBef>
                    <a:spcPts val="450"/>
                  </a:spcBef>
                  <a:spcAft>
                    <a:spcPts val="450"/>
                  </a:spcAft>
                  <a:buClrTx/>
                </a:pPr>
                <a:r>
                  <a:rPr lang="en-US" sz="2000" kern="1200" dirty="0">
                    <a:solidFill>
                      <a:prstClr val="black"/>
                    </a:solidFill>
                    <a:latin typeface="Trebuchet MS" panose="020B0603020202020204" pitchFamily="34" charset="0"/>
                  </a:rPr>
                  <a:t>To generate table </a:t>
                </a:r>
                <a14:m>
                  <m:oMath xmlns:m="http://schemas.openxmlformats.org/officeDocument/2006/math">
                    <m:r>
                      <a:rPr lang="en-US" sz="2000" b="1" i="1" kern="1200">
                        <a:solidFill>
                          <a:srgbClr val="AD1457"/>
                        </a:solidFill>
                        <a:latin typeface="Cambria Math" panose="02040503050406030204" pitchFamily="18" charset="0"/>
                      </a:rPr>
                      <m:t>𝒄</m:t>
                    </m:r>
                    <m:r>
                      <a:rPr lang="en-US" sz="2000" b="1" i="1" kern="1200">
                        <a:solidFill>
                          <a:srgbClr val="AD1457"/>
                        </a:solidFill>
                        <a:latin typeface="Cambria Math" panose="02040503050406030204" pitchFamily="18" charset="0"/>
                      </a:rPr>
                      <m:t>[</m:t>
                    </m:r>
                    <m:r>
                      <a:rPr lang="en-US" sz="2000" b="1" i="1" kern="1200" err="1">
                        <a:solidFill>
                          <a:srgbClr val="AD1457"/>
                        </a:solidFill>
                        <a:latin typeface="Cambria Math" panose="02040503050406030204" pitchFamily="18" charset="0"/>
                      </a:rPr>
                      <m:t>𝒊</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𝒋</m:t>
                    </m:r>
                    <m:r>
                      <a:rPr lang="en-US" sz="2000" b="1" i="1" kern="1200">
                        <a:solidFill>
                          <a:srgbClr val="AD1457"/>
                        </a:solidFill>
                        <a:latin typeface="Cambria Math" panose="02040503050406030204" pitchFamily="18" charset="0"/>
                      </a:rPr>
                      <m:t>] </m:t>
                    </m:r>
                  </m:oMath>
                </a14:m>
                <a:r>
                  <a:rPr lang="en-US" sz="2000" kern="1200" dirty="0">
                    <a:solidFill>
                      <a:prstClr val="black"/>
                    </a:solidFill>
                    <a:latin typeface="Trebuchet MS" panose="020B0603020202020204" pitchFamily="34" charset="0"/>
                  </a:rPr>
                  <a:t>use following steps:</a:t>
                </a:r>
              </a:p>
              <a:p>
                <a:pPr marL="300038" lvl="1" defTabSz="685800">
                  <a:spcBef>
                    <a:spcPts val="450"/>
                  </a:spcBef>
                  <a:spcAft>
                    <a:spcPts val="450"/>
                  </a:spcAft>
                  <a:buClrTx/>
                </a:pPr>
                <a:r>
                  <a:rPr lang="en-US" sz="2000" kern="1200" dirty="0">
                    <a:solidFill>
                      <a:prstClr val="black"/>
                    </a:solidFill>
                    <a:latin typeface="Trebuchet MS" panose="020B0603020202020204" pitchFamily="34" charset="0"/>
                  </a:rPr>
                  <a:t>	Step-1: Make </a:t>
                </a:r>
                <a14:m>
                  <m:oMath xmlns:m="http://schemas.openxmlformats.org/officeDocument/2006/math">
                    <m:r>
                      <a:rPr lang="en-US" sz="2000" b="1" i="1" kern="1200">
                        <a:solidFill>
                          <a:srgbClr val="AD1457"/>
                        </a:solidFill>
                        <a:latin typeface="Cambria Math" panose="02040503050406030204" pitchFamily="18" charset="0"/>
                      </a:rPr>
                      <m:t>𝒄</m:t>
                    </m:r>
                    <m:r>
                      <a:rPr lang="en-US" sz="2000" b="1" i="1" kern="1200">
                        <a:solidFill>
                          <a:srgbClr val="AD1457"/>
                        </a:solidFill>
                        <a:latin typeface="Cambria Math" panose="02040503050406030204" pitchFamily="18" charset="0"/>
                      </a:rPr>
                      <m:t>[</m:t>
                    </m:r>
                    <m:r>
                      <a:rPr lang="en-US" sz="2000" b="1" i="1" kern="1200" err="1">
                        <a:solidFill>
                          <a:srgbClr val="AD1457"/>
                        </a:solidFill>
                        <a:latin typeface="Cambria Math" panose="02040503050406030204" pitchFamily="18" charset="0"/>
                      </a:rPr>
                      <m:t>𝒊</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𝟎</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𝟎</m:t>
                    </m:r>
                    <m:r>
                      <a:rPr lang="en-US" sz="2000" b="1" i="1" kern="1200">
                        <a:solidFill>
                          <a:srgbClr val="AD1457"/>
                        </a:solidFill>
                        <a:latin typeface="Cambria Math" panose="02040503050406030204" pitchFamily="18" charset="0"/>
                      </a:rPr>
                      <m:t> </m:t>
                    </m:r>
                  </m:oMath>
                </a14:m>
                <a:r>
                  <a:rPr lang="en-US" sz="2000" kern="1200" dirty="0">
                    <a:solidFill>
                      <a:prstClr val="black"/>
                    </a:solidFill>
                    <a:latin typeface="Trebuchet MS" panose="020B0603020202020204" pitchFamily="34" charset="0"/>
                  </a:rPr>
                  <a:t>and </a:t>
                </a:r>
                <a14:m>
                  <m:oMath xmlns:m="http://schemas.openxmlformats.org/officeDocument/2006/math">
                    <m:r>
                      <a:rPr lang="en-US" sz="2000" b="1" i="1" kern="1200">
                        <a:solidFill>
                          <a:srgbClr val="AD1457"/>
                        </a:solidFill>
                        <a:latin typeface="Cambria Math" panose="02040503050406030204" pitchFamily="18" charset="0"/>
                      </a:rPr>
                      <m:t>𝒄</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𝟎</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𝒋</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𝟎</m:t>
                    </m:r>
                  </m:oMath>
                </a14:m>
                <a:endParaRPr lang="en-US" sz="2000" b="1" kern="1200" dirty="0">
                  <a:solidFill>
                    <a:srgbClr val="AD1457"/>
                  </a:solidFill>
                  <a:latin typeface="Trebuchet MS" panose="020B0603020202020204" pitchFamily="34" charset="0"/>
                </a:endParaRPr>
              </a:p>
              <a:p>
                <a:pPr marL="300038" lvl="1" defTabSz="685800">
                  <a:spcBef>
                    <a:spcPts val="450"/>
                  </a:spcBef>
                  <a:spcAft>
                    <a:spcPts val="450"/>
                  </a:spcAft>
                  <a:buClrTx/>
                </a:pPr>
                <a:r>
                  <a:rPr lang="en-US" sz="2000" kern="1200" dirty="0">
                    <a:solidFill>
                      <a:prstClr val="black"/>
                    </a:solidFill>
                    <a:latin typeface="Trebuchet MS" panose="020B0603020202020204" pitchFamily="34" charset="0"/>
                  </a:rPr>
                  <a:t>	Step-2: if </a:t>
                </a:r>
                <a14:m>
                  <m:oMath xmlns:m="http://schemas.openxmlformats.org/officeDocument/2006/math">
                    <m:sSub>
                      <m:sSubPr>
                        <m:ctrlPr>
                          <a:rPr lang="en-US" sz="2000" b="1" i="1" kern="1200">
                            <a:solidFill>
                              <a:srgbClr val="AD1457"/>
                            </a:solidFill>
                            <a:latin typeface="Cambria Math" panose="02040503050406030204" pitchFamily="18" charset="0"/>
                          </a:rPr>
                        </m:ctrlPr>
                      </m:sSubPr>
                      <m:e>
                        <m:r>
                          <a:rPr lang="en-US" sz="2000" b="1" i="1" kern="1200">
                            <a:solidFill>
                              <a:srgbClr val="AD1457"/>
                            </a:solidFill>
                            <a:latin typeface="Cambria Math" panose="02040503050406030204" pitchFamily="18" charset="0"/>
                          </a:rPr>
                          <m:t>𝒙</m:t>
                        </m:r>
                      </m:e>
                      <m:sub>
                        <m:r>
                          <a:rPr lang="en-US" sz="2000" b="1" i="1" kern="1200">
                            <a:solidFill>
                              <a:srgbClr val="AD1457"/>
                            </a:solidFill>
                            <a:latin typeface="Cambria Math" panose="02040503050406030204" pitchFamily="18" charset="0"/>
                          </a:rPr>
                          <m:t>𝒊</m:t>
                        </m:r>
                      </m:sub>
                    </m:sSub>
                    <m:r>
                      <a:rPr lang="en-US" sz="2000" b="1" i="1" kern="1200">
                        <a:solidFill>
                          <a:srgbClr val="AD1457"/>
                        </a:solidFill>
                        <a:latin typeface="Cambria Math" panose="02040503050406030204" pitchFamily="18" charset="0"/>
                      </a:rPr>
                      <m:t>= </m:t>
                    </m:r>
                    <m:sSub>
                      <m:sSubPr>
                        <m:ctrlPr>
                          <a:rPr lang="en-US" sz="2000" b="1" i="1" kern="1200">
                            <a:solidFill>
                              <a:srgbClr val="AD1457"/>
                            </a:solidFill>
                            <a:latin typeface="Cambria Math" panose="02040503050406030204" pitchFamily="18" charset="0"/>
                          </a:rPr>
                        </m:ctrlPr>
                      </m:sSubPr>
                      <m:e>
                        <m:r>
                          <a:rPr lang="en-US" sz="2000" b="1" i="1" kern="1200">
                            <a:solidFill>
                              <a:srgbClr val="AD1457"/>
                            </a:solidFill>
                            <a:latin typeface="Cambria Math" panose="02040503050406030204" pitchFamily="18" charset="0"/>
                          </a:rPr>
                          <m:t>𝒚</m:t>
                        </m:r>
                      </m:e>
                      <m:sub>
                        <m:r>
                          <a:rPr lang="en-US" sz="2000" b="1" i="1" kern="1200">
                            <a:solidFill>
                              <a:srgbClr val="AD1457"/>
                            </a:solidFill>
                            <a:latin typeface="Cambria Math" panose="02040503050406030204" pitchFamily="18" charset="0"/>
                          </a:rPr>
                          <m:t>𝒋</m:t>
                        </m:r>
                      </m:sub>
                    </m:sSub>
                    <m:r>
                      <a:rPr lang="en-US" sz="2000" i="1" kern="1200">
                        <a:solidFill>
                          <a:prstClr val="black"/>
                        </a:solidFill>
                        <a:latin typeface="Cambria Math" panose="02040503050406030204" pitchFamily="18" charset="0"/>
                      </a:rPr>
                      <m:t> </m:t>
                    </m:r>
                  </m:oMath>
                </a14:m>
                <a:r>
                  <a:rPr lang="en-US" sz="2000" kern="1200" dirty="0">
                    <a:solidFill>
                      <a:prstClr val="black"/>
                    </a:solidFill>
                    <a:latin typeface="Trebuchet MS" panose="020B0603020202020204" pitchFamily="34" charset="0"/>
                  </a:rPr>
                  <a:t>then </a:t>
                </a:r>
                <a14:m>
                  <m:oMath xmlns:m="http://schemas.openxmlformats.org/officeDocument/2006/math">
                    <m:r>
                      <a:rPr lang="en-US" sz="2000" b="1" i="1" kern="1200">
                        <a:solidFill>
                          <a:srgbClr val="AD1457"/>
                        </a:solidFill>
                        <a:latin typeface="Cambria Math" panose="02040503050406030204" pitchFamily="18" charset="0"/>
                      </a:rPr>
                      <m:t>𝒄</m:t>
                    </m:r>
                    <m:r>
                      <a:rPr lang="en-US" sz="2000" b="1" i="1" kern="1200">
                        <a:solidFill>
                          <a:srgbClr val="AD1457"/>
                        </a:solidFill>
                        <a:latin typeface="Cambria Math" panose="02040503050406030204" pitchFamily="18" charset="0"/>
                      </a:rPr>
                      <m:t>[</m:t>
                    </m:r>
                    <m:r>
                      <a:rPr lang="en-US" sz="2000" b="1" i="1" kern="1200" err="1">
                        <a:solidFill>
                          <a:srgbClr val="AD1457"/>
                        </a:solidFill>
                        <a:latin typeface="Cambria Math" panose="02040503050406030204" pitchFamily="18" charset="0"/>
                      </a:rPr>
                      <m:t>𝒊</m:t>
                    </m:r>
                    <m:r>
                      <a:rPr lang="en-US" sz="2000" b="1" i="1" kern="1200" err="1">
                        <a:solidFill>
                          <a:srgbClr val="AD1457"/>
                        </a:solidFill>
                        <a:latin typeface="Cambria Math" panose="02040503050406030204" pitchFamily="18" charset="0"/>
                      </a:rPr>
                      <m:t>,</m:t>
                    </m:r>
                    <m:r>
                      <a:rPr lang="en-US" sz="2000" b="1" i="1" kern="1200" err="1">
                        <a:solidFill>
                          <a:srgbClr val="AD1457"/>
                        </a:solidFill>
                        <a:latin typeface="Cambria Math" panose="02040503050406030204" pitchFamily="18" charset="0"/>
                      </a:rPr>
                      <m:t>𝒋</m:t>
                    </m:r>
                    <m:r>
                      <a:rPr lang="en-US" sz="2000" b="1" i="1" kern="1200">
                        <a:solidFill>
                          <a:srgbClr val="AD1457"/>
                        </a:solidFill>
                        <a:latin typeface="Cambria Math" panose="02040503050406030204" pitchFamily="18" charset="0"/>
                      </a:rPr>
                      <m:t>] ← </m:t>
                    </m:r>
                    <m:r>
                      <a:rPr lang="en-US" sz="2000" b="1" i="1" kern="1200">
                        <a:solidFill>
                          <a:srgbClr val="AD1457"/>
                        </a:solidFill>
                        <a:latin typeface="Cambria Math" panose="02040503050406030204" pitchFamily="18" charset="0"/>
                      </a:rPr>
                      <m:t>𝒄</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𝒊</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𝟏</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𝒋</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𝟏</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𝟏</m:t>
                    </m:r>
                    <m:r>
                      <a:rPr lang="en-US" sz="2000" b="1" i="1" kern="1200">
                        <a:solidFill>
                          <a:srgbClr val="AD1457"/>
                        </a:solidFill>
                        <a:latin typeface="Cambria Math" panose="02040503050406030204" pitchFamily="18" charset="0"/>
                      </a:rPr>
                      <m:t> </m:t>
                    </m:r>
                  </m:oMath>
                </a14:m>
                <a:endParaRPr lang="en-US" sz="2000" b="1" kern="1200" dirty="0">
                  <a:solidFill>
                    <a:srgbClr val="AD1457"/>
                  </a:solidFill>
                  <a:latin typeface="Trebuchet MS" panose="020B0603020202020204" pitchFamily="34" charset="0"/>
                </a:endParaRPr>
              </a:p>
              <a:p>
                <a:pPr marL="300038" lvl="1" defTabSz="685800">
                  <a:spcBef>
                    <a:spcPts val="450"/>
                  </a:spcBef>
                  <a:spcAft>
                    <a:spcPts val="450"/>
                  </a:spcAft>
                  <a:buClrTx/>
                </a:pPr>
                <a:r>
                  <a:rPr lang="en-US" sz="2000" kern="1200" dirty="0">
                    <a:solidFill>
                      <a:prstClr val="black"/>
                    </a:solidFill>
                    <a:latin typeface="Trebuchet MS" panose="020B0603020202020204" pitchFamily="34" charset="0"/>
                  </a:rPr>
                  <a:t>	Step-3: else </a:t>
                </a:r>
                <a14:m>
                  <m:oMath xmlns:m="http://schemas.openxmlformats.org/officeDocument/2006/math">
                    <m:r>
                      <a:rPr lang="en-US" sz="2000" b="1" i="1" kern="1200">
                        <a:solidFill>
                          <a:srgbClr val="AD1457"/>
                        </a:solidFill>
                        <a:latin typeface="Cambria Math" panose="02040503050406030204" pitchFamily="18" charset="0"/>
                      </a:rPr>
                      <m:t>𝒄</m:t>
                    </m:r>
                    <m:r>
                      <a:rPr lang="en-US" sz="2000" b="1" i="1" kern="1200">
                        <a:solidFill>
                          <a:srgbClr val="AD1457"/>
                        </a:solidFill>
                        <a:latin typeface="Cambria Math" panose="02040503050406030204" pitchFamily="18" charset="0"/>
                      </a:rPr>
                      <m:t>[</m:t>
                    </m:r>
                    <m:r>
                      <a:rPr lang="en-US" sz="2000" b="1" i="1" kern="1200" err="1">
                        <a:solidFill>
                          <a:srgbClr val="AD1457"/>
                        </a:solidFill>
                        <a:latin typeface="Cambria Math" panose="02040503050406030204" pitchFamily="18" charset="0"/>
                      </a:rPr>
                      <m:t>𝒊</m:t>
                    </m:r>
                    <m:r>
                      <a:rPr lang="en-US" sz="2000" b="1" i="1" kern="1200" err="1">
                        <a:solidFill>
                          <a:srgbClr val="AD1457"/>
                        </a:solidFill>
                        <a:latin typeface="Cambria Math" panose="02040503050406030204" pitchFamily="18" charset="0"/>
                      </a:rPr>
                      <m:t>,</m:t>
                    </m:r>
                    <m:r>
                      <a:rPr lang="en-US" sz="2000" b="1" i="1" kern="1200" err="1">
                        <a:solidFill>
                          <a:srgbClr val="AD1457"/>
                        </a:solidFill>
                        <a:latin typeface="Cambria Math" panose="02040503050406030204" pitchFamily="18" charset="0"/>
                      </a:rPr>
                      <m:t>𝒋</m:t>
                    </m:r>
                    <m:r>
                      <a:rPr lang="en-US" sz="2000" b="1" i="1" kern="1200">
                        <a:solidFill>
                          <a:srgbClr val="AD1457"/>
                        </a:solidFill>
                        <a:latin typeface="Cambria Math" panose="02040503050406030204" pitchFamily="18" charset="0"/>
                      </a:rPr>
                      <m:t>] ← </m:t>
                    </m:r>
                    <m:r>
                      <a:rPr lang="en-US" sz="2000" b="1" kern="1200">
                        <a:solidFill>
                          <a:srgbClr val="AD1457"/>
                        </a:solidFill>
                        <a:latin typeface="Cambria Math" panose="02040503050406030204" pitchFamily="18" charset="0"/>
                      </a:rPr>
                      <m:t>𝐦𝐚𝐱</m:t>
                    </m:r>
                    <m:r>
                      <a:rPr lang="en-US" sz="2000" b="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𝒄</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𝒊</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𝟏</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𝒋</m:t>
                    </m:r>
                    <m:r>
                      <a:rPr lang="en-US" sz="2000" b="1" i="1" kern="1200">
                        <a:solidFill>
                          <a:srgbClr val="AD1457"/>
                        </a:solidFill>
                        <a:latin typeface="Cambria Math" panose="02040503050406030204" pitchFamily="18" charset="0"/>
                      </a:rPr>
                      <m:t>]</m:t>
                    </m:r>
                  </m:oMath>
                </a14:m>
                <a:r>
                  <a:rPr lang="en-US" sz="2000" b="1" kern="1200" dirty="0">
                    <a:solidFill>
                      <a:srgbClr val="AD1457"/>
                    </a:solidFill>
                    <a:latin typeface="Trebuchet MS" panose="020B0603020202020204" pitchFamily="34" charset="0"/>
                  </a:rPr>
                  <a:t>, </a:t>
                </a:r>
                <a14:m>
                  <m:oMath xmlns:m="http://schemas.openxmlformats.org/officeDocument/2006/math">
                    <m:r>
                      <a:rPr lang="en-US" sz="2000" b="1" i="1" kern="1200">
                        <a:solidFill>
                          <a:srgbClr val="AD1457"/>
                        </a:solidFill>
                        <a:latin typeface="Cambria Math" panose="02040503050406030204" pitchFamily="18" charset="0"/>
                      </a:rPr>
                      <m:t>𝒄</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𝒊</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𝒋</m:t>
                    </m:r>
                    <m:r>
                      <a:rPr lang="en-US" sz="2000" b="1" i="1" kern="1200">
                        <a:solidFill>
                          <a:srgbClr val="AD1457"/>
                        </a:solidFill>
                        <a:latin typeface="Cambria Math" panose="02040503050406030204" pitchFamily="18" charset="0"/>
                      </a:rPr>
                      <m:t>−</m:t>
                    </m:r>
                    <m:r>
                      <a:rPr lang="en-US" sz="2000" b="1" i="1" kern="1200">
                        <a:solidFill>
                          <a:srgbClr val="AD1457"/>
                        </a:solidFill>
                        <a:latin typeface="Cambria Math" panose="02040503050406030204" pitchFamily="18" charset="0"/>
                      </a:rPr>
                      <m:t>𝟏</m:t>
                    </m:r>
                    <m:r>
                      <a:rPr lang="en-US" sz="2000" b="1" i="1" kern="1200">
                        <a:solidFill>
                          <a:srgbClr val="AD1457"/>
                        </a:solidFill>
                        <a:latin typeface="Cambria Math" panose="02040503050406030204" pitchFamily="18" charset="0"/>
                      </a:rPr>
                      <m:t>])</m:t>
                    </m:r>
                  </m:oMath>
                </a14:m>
                <a:endParaRPr lang="en-US" sz="2000" kern="1200" dirty="0">
                  <a:solidFill>
                    <a:prstClr val="black"/>
                  </a:solidFill>
                  <a:latin typeface="Trebuchet MS" panose="020B0603020202020204" pitchFamily="34"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782666" y="2179863"/>
                <a:ext cx="7328496" cy="1924562"/>
              </a:xfrm>
              <a:prstGeom prst="rect">
                <a:avLst/>
              </a:prstGeom>
              <a:blipFill>
                <a:blip r:embed="rId7"/>
                <a:stretch>
                  <a:fillRect l="-663"/>
                </a:stretch>
              </a:blipFill>
            </p:spPr>
            <p:txBody>
              <a:bodyPr/>
              <a:lstStyle/>
              <a:p>
                <a:r>
                  <a:rPr lang="en-IN">
                    <a:noFill/>
                  </a:rPr>
                  <a:t> </a:t>
                </a:r>
              </a:p>
            </p:txBody>
          </p:sp>
        </mc:Fallback>
      </mc:AlternateContent>
    </p:spTree>
    <p:extLst>
      <p:ext uri="{BB962C8B-B14F-4D97-AF65-F5344CB8AC3E}">
        <p14:creationId xmlns:p14="http://schemas.microsoft.com/office/powerpoint/2010/main" val="3760539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dur="125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250"/>
                                        <p:tgtEl>
                                          <p:spTgt spid="8"/>
                                        </p:tgtEl>
                                      </p:cBhvr>
                                    </p:animEffect>
                                  </p:childTnLst>
                                </p:cTn>
                              </p:par>
                              <p:par>
                                <p:cTn id="8" presetID="10" presetClass="entr" presetSubtype="0" dur="500" fill="hold"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dur="50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500"/>
                                        <p:tgtEl>
                                          <p:spTgt spid="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dur="500" fill="hold" nodeType="clickEffect">
                                  <p:stCondLst>
                                    <p:cond delay="0"/>
                                  </p:stCondLst>
                                  <p:childTnLst>
                                    <p:set>
                                      <p:cBhvr>
                                        <p:cTn id="19" dur="1" fill="hold">
                                          <p:stCondLst>
                                            <p:cond delay="0"/>
                                          </p:stCondLst>
                                        </p:cTn>
                                        <p:tgtEl>
                                          <p:spTgt spid="8">
                                            <p:txEl>
                                              <p:pRg st="2" end="2"/>
                                            </p:txEl>
                                          </p:spTgt>
                                        </p:tgtEl>
                                        <p:attrNameLst>
                                          <p:attrName>style.visibility</p:attrName>
                                        </p:attrNameLst>
                                      </p:cBhvr>
                                      <p:to>
                                        <p:strVal val="visible"/>
                                      </p:to>
                                    </p:set>
                                    <p:animEffect transition="in" filter="fade">
                                      <p:cBhvr>
                                        <p:cTn id="20" dur="500"/>
                                        <p:tgtEl>
                                          <p:spTgt spid="8">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dur="500"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Effect transition="in" filter="fade">
                                      <p:cBhvr>
                                        <p:cTn id="25"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4" name="TextBox 3">
            <a:extLst>
              <a:ext uri="{FF2B5EF4-FFF2-40B4-BE49-F238E27FC236}">
                <a16:creationId xmlns:a16="http://schemas.microsoft.com/office/drawing/2014/main" id="{DE720F74-3716-2B84-0C45-B7C2CC80F43C}"/>
              </a:ext>
            </a:extLst>
          </p:cNvPr>
          <p:cNvSpPr txBox="1"/>
          <p:nvPr/>
        </p:nvSpPr>
        <p:spPr>
          <a:xfrm>
            <a:off x="381986" y="617209"/>
            <a:ext cx="8370501" cy="3308598"/>
          </a:xfrm>
          <a:prstGeom prst="rect">
            <a:avLst/>
          </a:prstGeom>
          <a:noFill/>
        </p:spPr>
        <p:txBody>
          <a:bodyPr wrap="square">
            <a:spAutoFit/>
          </a:bodyPr>
          <a:lstStyle/>
          <a:p>
            <a:pPr algn="l" fontAlgn="base">
              <a:lnSpc>
                <a:spcPct val="150000"/>
              </a:lnSpc>
              <a:spcBef>
                <a:spcPts val="600"/>
              </a:spcBef>
            </a:pPr>
            <a:r>
              <a:rPr lang="en-IN" sz="1800" b="1" kern="1200" dirty="0" smtClean="0">
                <a:solidFill>
                  <a:srgbClr val="0070C0"/>
                </a:solidFill>
                <a:latin typeface="Trebuchet MS" panose="020B0603020202020204" pitchFamily="34" charset="0"/>
                <a:ea typeface="+mj-ea"/>
                <a:cs typeface="+mj-cs"/>
              </a:rPr>
              <a:t>Problem</a:t>
            </a:r>
            <a:r>
              <a:rPr lang="en-IN" sz="1800" b="1" kern="1200" dirty="0">
                <a:solidFill>
                  <a:srgbClr val="0070C0"/>
                </a:solidFill>
                <a:latin typeface="Trebuchet MS" panose="020B0603020202020204" pitchFamily="34" charset="0"/>
                <a:ea typeface="+mj-ea"/>
                <a:cs typeface="+mj-cs"/>
              </a:rPr>
              <a:t>:</a:t>
            </a:r>
          </a:p>
          <a:p>
            <a:pPr algn="l" fontAlgn="base">
              <a:lnSpc>
                <a:spcPct val="150000"/>
              </a:lnSpc>
              <a:spcBef>
                <a:spcPts val="600"/>
              </a:spcBef>
            </a:pPr>
            <a:r>
              <a:rPr lang="en-IN" sz="1800" kern="1200" dirty="0">
                <a:solidFill>
                  <a:schemeClr val="tx1"/>
                </a:solidFill>
                <a:latin typeface="Trebuchet MS" panose="020B0603020202020204" pitchFamily="34" charset="0"/>
                <a:ea typeface="+mj-ea"/>
                <a:cs typeface="+mj-cs"/>
              </a:rPr>
              <a:t>Given two sequences of characters, </a:t>
            </a:r>
            <a:r>
              <a:rPr lang="en-IN" sz="1800" kern="1200" dirty="0" smtClean="0">
                <a:solidFill>
                  <a:schemeClr val="tx1"/>
                </a:solidFill>
                <a:latin typeface="Trebuchet MS" panose="020B0603020202020204" pitchFamily="34" charset="0"/>
                <a:ea typeface="+mj-ea"/>
                <a:cs typeface="+mj-cs"/>
              </a:rPr>
              <a:t>P=MLNOM</a:t>
            </a:r>
            <a:r>
              <a:rPr lang="en-IN" sz="1800" kern="1200" dirty="0">
                <a:solidFill>
                  <a:schemeClr val="tx1"/>
                </a:solidFill>
                <a:latin typeface="Trebuchet MS" panose="020B0603020202020204" pitchFamily="34" charset="0"/>
                <a:ea typeface="+mj-ea"/>
                <a:cs typeface="+mj-cs"/>
              </a:rPr>
              <a:t>,</a:t>
            </a:r>
            <a:r>
              <a:rPr lang="en-IN" sz="1800" kern="1200" dirty="0" smtClean="0">
                <a:solidFill>
                  <a:schemeClr val="tx1"/>
                </a:solidFill>
                <a:latin typeface="Trebuchet MS" panose="020B0603020202020204" pitchFamily="34" charset="0"/>
                <a:ea typeface="+mj-ea"/>
                <a:cs typeface="+mj-cs"/>
              </a:rPr>
              <a:t> Q=MNOM. </a:t>
            </a:r>
            <a:r>
              <a:rPr lang="en-IN" sz="1800" kern="1200" dirty="0">
                <a:solidFill>
                  <a:schemeClr val="tx1"/>
                </a:solidFill>
                <a:latin typeface="Trebuchet MS" panose="020B0603020202020204" pitchFamily="34" charset="0"/>
                <a:ea typeface="+mj-ea"/>
                <a:cs typeface="+mj-cs"/>
              </a:rPr>
              <a:t>Obtain the longest common subsequence.</a:t>
            </a:r>
          </a:p>
          <a:p>
            <a:pPr algn="l" fontAlgn="base">
              <a:lnSpc>
                <a:spcPct val="150000"/>
              </a:lnSpc>
              <a:spcBef>
                <a:spcPts val="600"/>
              </a:spcBef>
            </a:pPr>
            <a:r>
              <a:rPr lang="en-IN" sz="1800" b="1" kern="1200" dirty="0">
                <a:solidFill>
                  <a:srgbClr val="0070C0"/>
                </a:solidFill>
                <a:latin typeface="Trebuchet MS" panose="020B0603020202020204" pitchFamily="34" charset="0"/>
                <a:ea typeface="+mj-ea"/>
                <a:cs typeface="+mj-cs"/>
              </a:rPr>
              <a:t>Solution:</a:t>
            </a:r>
          </a:p>
          <a:p>
            <a:pPr algn="l" fontAlgn="base">
              <a:lnSpc>
                <a:spcPct val="150000"/>
              </a:lnSpc>
              <a:spcBef>
                <a:spcPts val="600"/>
              </a:spcBef>
            </a:pPr>
            <a:r>
              <a:rPr lang="en-IN" sz="1800" kern="1200" dirty="0">
                <a:solidFill>
                  <a:schemeClr val="tx1"/>
                </a:solidFill>
                <a:latin typeface="Trebuchet MS" panose="020B0603020202020204" pitchFamily="34" charset="0"/>
                <a:ea typeface="+mj-ea"/>
                <a:cs typeface="+mj-cs"/>
              </a:rPr>
              <a:t>Given two strings are P = </a:t>
            </a:r>
            <a:r>
              <a:rPr lang="en-IN" sz="1800" kern="1200" dirty="0" smtClean="0">
                <a:solidFill>
                  <a:schemeClr val="tx1"/>
                </a:solidFill>
                <a:latin typeface="Trebuchet MS" panose="020B0603020202020204" pitchFamily="34" charset="0"/>
                <a:ea typeface="+mj-ea"/>
                <a:cs typeface="+mj-cs"/>
              </a:rPr>
              <a:t>MLNOM </a:t>
            </a:r>
            <a:r>
              <a:rPr lang="en-IN" sz="1800" kern="1200" dirty="0">
                <a:solidFill>
                  <a:schemeClr val="tx1"/>
                </a:solidFill>
                <a:latin typeface="Trebuchet MS" panose="020B0603020202020204" pitchFamily="34" charset="0"/>
                <a:ea typeface="+mj-ea"/>
                <a:cs typeface="+mj-cs"/>
              </a:rPr>
              <a:t>and Q = </a:t>
            </a:r>
            <a:r>
              <a:rPr lang="en-IN" sz="1800" kern="1200" dirty="0" smtClean="0">
                <a:solidFill>
                  <a:schemeClr val="tx1"/>
                </a:solidFill>
                <a:latin typeface="Trebuchet MS" panose="020B0603020202020204" pitchFamily="34" charset="0"/>
                <a:ea typeface="+mj-ea"/>
                <a:cs typeface="+mj-cs"/>
              </a:rPr>
              <a:t>MNOM</a:t>
            </a:r>
            <a:endParaRPr lang="en-IN" sz="1800" kern="1200" dirty="0">
              <a:solidFill>
                <a:schemeClr val="tx1"/>
              </a:solidFill>
              <a:latin typeface="Trebuchet MS" panose="020B0603020202020204" pitchFamily="34" charset="0"/>
              <a:ea typeface="+mj-ea"/>
              <a:cs typeface="+mj-cs"/>
            </a:endParaRPr>
          </a:p>
          <a:p>
            <a:pPr algn="l" fontAlgn="base">
              <a:lnSpc>
                <a:spcPct val="150000"/>
              </a:lnSpc>
              <a:spcBef>
                <a:spcPts val="600"/>
              </a:spcBef>
            </a:pPr>
            <a:r>
              <a:rPr lang="en-IN" sz="1800" kern="1200" dirty="0">
                <a:solidFill>
                  <a:schemeClr val="tx1"/>
                </a:solidFill>
                <a:latin typeface="Trebuchet MS" panose="020B0603020202020204" pitchFamily="34" charset="0"/>
                <a:ea typeface="+mj-ea"/>
                <a:cs typeface="+mj-cs"/>
              </a:rPr>
              <a:t>The optimal substructure of LCS problem using dynamic programming is given as,</a:t>
            </a:r>
          </a:p>
        </p:txBody>
      </p:sp>
      <p:sp>
        <p:nvSpPr>
          <p:cNvPr id="6" name="TextBox 5">
            <a:extLst>
              <a:ext uri="{FF2B5EF4-FFF2-40B4-BE49-F238E27FC236}">
                <a16:creationId xmlns:a16="http://schemas.microsoft.com/office/drawing/2014/main" id="{45F6657F-B297-038B-4D96-5C8B3214C8A3}"/>
              </a:ext>
            </a:extLst>
          </p:cNvPr>
          <p:cNvSpPr txBox="1"/>
          <p:nvPr/>
        </p:nvSpPr>
        <p:spPr>
          <a:xfrm>
            <a:off x="4738" y="148588"/>
            <a:ext cx="7353973" cy="461665"/>
          </a:xfrm>
          <a:prstGeom prst="rect">
            <a:avLst/>
          </a:prstGeom>
          <a:noFill/>
        </p:spPr>
        <p:txBody>
          <a:bodyPr wrap="square">
            <a:spAutoFit/>
          </a:bodyPr>
          <a:lstStyle/>
          <a:p>
            <a:pPr>
              <a:defRPr/>
            </a:pPr>
            <a:r>
              <a:rPr lang="en-IN" sz="2400" b="1" kern="1200" dirty="0">
                <a:solidFill>
                  <a:schemeClr val="bg1"/>
                </a:solidFill>
              </a:rPr>
              <a:t>Longest Common Subsequence</a:t>
            </a:r>
            <a:r>
              <a:rPr lang="en-US" sz="2400" b="1" kern="1200" dirty="0">
                <a:solidFill>
                  <a:schemeClr val="bg1"/>
                </a:solidFill>
              </a:rPr>
              <a:t>(LCS</a:t>
            </a:r>
            <a:r>
              <a:rPr lang="en-US" sz="2400" b="1" kern="1200" dirty="0" smtClean="0">
                <a:solidFill>
                  <a:schemeClr val="bg1"/>
                </a:solidFill>
              </a:rPr>
              <a:t>) -Example</a:t>
            </a:r>
            <a:endParaRPr lang="en-IN" sz="2400" b="1" dirty="0">
              <a:solidFill>
                <a:schemeClr val="bg1"/>
              </a:solidFill>
            </a:endParaRPr>
          </a:p>
        </p:txBody>
      </p:sp>
      <p:pic>
        <p:nvPicPr>
          <p:cNvPr id="10" name="Picture 9">
            <a:extLst>
              <a:ext uri="{FF2B5EF4-FFF2-40B4-BE49-F238E27FC236}">
                <a16:creationId xmlns:a16="http://schemas.microsoft.com/office/drawing/2014/main" id="{FBD8FF30-7B0B-6D69-CCBF-BC7AFB931A6D}"/>
              </a:ext>
            </a:extLst>
          </p:cNvPr>
          <p:cNvPicPr>
            <a:picLocks noChangeAspect="1"/>
          </p:cNvPicPr>
          <p:nvPr/>
        </p:nvPicPr>
        <p:blipFill>
          <a:blip r:embed="rId6"/>
          <a:stretch>
            <a:fillRect/>
          </a:stretch>
        </p:blipFill>
        <p:spPr>
          <a:xfrm>
            <a:off x="819281" y="3930557"/>
            <a:ext cx="6648342" cy="1028700"/>
          </a:xfrm>
          <a:prstGeom prst="rect">
            <a:avLst/>
          </a:prstGeom>
          <a:solidFill>
            <a:srgbClr val="6600FF"/>
          </a:solidFill>
          <a:ln w="19050">
            <a:solidFill>
              <a:srgbClr val="0033CC"/>
            </a:solidFill>
          </a:ln>
        </p:spPr>
      </p:pic>
    </p:spTree>
    <p:extLst>
      <p:ext uri="{BB962C8B-B14F-4D97-AF65-F5344CB8AC3E}">
        <p14:creationId xmlns:p14="http://schemas.microsoft.com/office/powerpoint/2010/main" val="242073631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pic>
        <p:nvPicPr>
          <p:cNvPr id="3" name="Picture 2">
            <a:extLst>
              <a:ext uri="{FF2B5EF4-FFF2-40B4-BE49-F238E27FC236}">
                <a16:creationId xmlns:a16="http://schemas.microsoft.com/office/drawing/2014/main" id="{3566FEA8-B729-1C1E-E694-123D1CCD4928}"/>
              </a:ext>
            </a:extLst>
          </p:cNvPr>
          <p:cNvPicPr>
            <a:picLocks noChangeAspect="1"/>
          </p:cNvPicPr>
          <p:nvPr/>
        </p:nvPicPr>
        <p:blipFill>
          <a:blip r:embed="rId6"/>
          <a:stretch>
            <a:fillRect/>
          </a:stretch>
        </p:blipFill>
        <p:spPr>
          <a:xfrm>
            <a:off x="1289538" y="1423825"/>
            <a:ext cx="4654062" cy="2987187"/>
          </a:xfrm>
          <a:prstGeom prst="rect">
            <a:avLst/>
          </a:prstGeom>
        </p:spPr>
      </p:pic>
      <p:sp>
        <p:nvSpPr>
          <p:cNvPr id="5" name="TextBox 4">
            <a:extLst>
              <a:ext uri="{FF2B5EF4-FFF2-40B4-BE49-F238E27FC236}">
                <a16:creationId xmlns:a16="http://schemas.microsoft.com/office/drawing/2014/main" id="{783F7A93-3882-A1F6-8315-0F25ED0D4A7E}"/>
              </a:ext>
            </a:extLst>
          </p:cNvPr>
          <p:cNvSpPr txBox="1"/>
          <p:nvPr/>
        </p:nvSpPr>
        <p:spPr>
          <a:xfrm>
            <a:off x="474784" y="1023715"/>
            <a:ext cx="4654062" cy="400110"/>
          </a:xfrm>
          <a:prstGeom prst="rect">
            <a:avLst/>
          </a:prstGeom>
          <a:noFill/>
        </p:spPr>
        <p:txBody>
          <a:bodyPr wrap="square">
            <a:spAutoFit/>
          </a:bodyPr>
          <a:lstStyle/>
          <a:p>
            <a:r>
              <a:rPr lang="en-IN" sz="2000" kern="1200" dirty="0">
                <a:solidFill>
                  <a:schemeClr val="tx1"/>
                </a:solidFill>
                <a:latin typeface="Trebuchet MS" panose="020B0603020202020204" pitchFamily="34" charset="0"/>
                <a:ea typeface="+mj-ea"/>
                <a:cs typeface="+mj-cs"/>
              </a:rPr>
              <a:t>Initially, the table looks like,</a:t>
            </a:r>
          </a:p>
        </p:txBody>
      </p:sp>
      <p:sp>
        <p:nvSpPr>
          <p:cNvPr id="6" name="TextBox 5">
            <a:extLst>
              <a:ext uri="{FF2B5EF4-FFF2-40B4-BE49-F238E27FC236}">
                <a16:creationId xmlns:a16="http://schemas.microsoft.com/office/drawing/2014/main" id="{68A3FC36-37B5-8EF3-ECC1-6BBB9E132DB9}"/>
              </a:ext>
            </a:extLst>
          </p:cNvPr>
          <p:cNvSpPr txBox="1"/>
          <p:nvPr/>
        </p:nvSpPr>
        <p:spPr>
          <a:xfrm>
            <a:off x="181707" y="148588"/>
            <a:ext cx="4654062" cy="477054"/>
          </a:xfrm>
          <a:prstGeom prst="rect">
            <a:avLst/>
          </a:prstGeom>
          <a:noFill/>
        </p:spPr>
        <p:txBody>
          <a:bodyPr wrap="square">
            <a:spAutoFit/>
          </a:bodyPr>
          <a:lstStyle/>
          <a:p>
            <a:r>
              <a:rPr kumimoji="0" lang="en-US" sz="2500" b="1" i="0" u="none" strike="noStrike" kern="1200" cap="none" spc="0" normalizeH="0" baseline="0" noProof="0" dirty="0">
                <a:ln>
                  <a:noFill/>
                </a:ln>
                <a:solidFill>
                  <a:prstClr val="black"/>
                </a:solidFill>
                <a:effectLst/>
                <a:uLnTx/>
                <a:uFillTx/>
                <a:latin typeface="Corbel" panose="020B0503020204020204" pitchFamily="34" charset="0"/>
              </a:rPr>
              <a:t>LCS- Example </a:t>
            </a:r>
            <a:endParaRPr lang="en-IN" dirty="0"/>
          </a:p>
        </p:txBody>
      </p:sp>
    </p:spTree>
    <p:extLst>
      <p:ext uri="{BB962C8B-B14F-4D97-AF65-F5344CB8AC3E}">
        <p14:creationId xmlns:p14="http://schemas.microsoft.com/office/powerpoint/2010/main" val="141453902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50" y="9525"/>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6" name="TextBox 5">
            <a:extLst>
              <a:ext uri="{FF2B5EF4-FFF2-40B4-BE49-F238E27FC236}">
                <a16:creationId xmlns:a16="http://schemas.microsoft.com/office/drawing/2014/main" id="{94C2A3E9-ABE2-F9F2-F6DD-B6513DD5BC37}"/>
              </a:ext>
            </a:extLst>
          </p:cNvPr>
          <p:cNvSpPr txBox="1"/>
          <p:nvPr/>
        </p:nvSpPr>
        <p:spPr>
          <a:xfrm>
            <a:off x="130677" y="1120610"/>
            <a:ext cx="4546831" cy="3539430"/>
          </a:xfrm>
          <a:prstGeom prst="rect">
            <a:avLst/>
          </a:prstGeom>
          <a:noFill/>
        </p:spPr>
        <p:txBody>
          <a:bodyPr wrap="square">
            <a:spAutoFit/>
          </a:bodyPr>
          <a:lstStyle/>
          <a:p>
            <a:pPr>
              <a:spcBef>
                <a:spcPts val="600"/>
              </a:spcBef>
            </a:pPr>
            <a:r>
              <a:rPr lang="en-IN" sz="2400" b="1" dirty="0">
                <a:solidFill>
                  <a:srgbClr val="0070C0"/>
                </a:solidFill>
                <a:latin typeface="Corbel" panose="020B0503020204020204" pitchFamily="34" charset="0"/>
              </a:rPr>
              <a:t>Computation for row 1 :</a:t>
            </a:r>
          </a:p>
          <a:p>
            <a:pPr>
              <a:spcBef>
                <a:spcPts val="600"/>
              </a:spcBef>
            </a:pPr>
            <a:endParaRPr lang="en-IN" sz="1000" b="1" dirty="0">
              <a:solidFill>
                <a:srgbClr val="0070C0"/>
              </a:solidFill>
              <a:latin typeface="Corbel" panose="020B0503020204020204" pitchFamily="34" charset="0"/>
            </a:endParaRPr>
          </a:p>
          <a:p>
            <a:pPr>
              <a:spcBef>
                <a:spcPts val="600"/>
              </a:spcBef>
            </a:pPr>
            <a:r>
              <a:rPr lang="en-IN" sz="1600" b="1" dirty="0">
                <a:solidFill>
                  <a:srgbClr val="FF0000"/>
                </a:solidFill>
                <a:latin typeface="Calibri" panose="020F0502020204030204" pitchFamily="34" charset="0"/>
                <a:cs typeface="Calibri" panose="020F0502020204030204" pitchFamily="34" charset="0"/>
              </a:rPr>
              <a:t>LCS [1, 1]  </a:t>
            </a:r>
            <a:r>
              <a:rPr lang="en-IN" sz="1600" b="1" dirty="0">
                <a:latin typeface="Calibri" panose="020F0502020204030204" pitchFamily="34" charset="0"/>
                <a:cs typeface="Calibri" panose="020F0502020204030204" pitchFamily="34" charset="0"/>
              </a:rPr>
              <a:t>⇒  i = 1, j = 1, Pi = M, </a:t>
            </a:r>
            <a:r>
              <a:rPr lang="en-IN" sz="1600" b="1" dirty="0" err="1">
                <a:latin typeface="Calibri" panose="020F0502020204030204" pitchFamily="34" charset="0"/>
                <a:cs typeface="Calibri" panose="020F0502020204030204" pitchFamily="34" charset="0"/>
              </a:rPr>
              <a:t>Qj</a:t>
            </a:r>
            <a:r>
              <a:rPr lang="en-IN" sz="1600" b="1" dirty="0">
                <a:latin typeface="Calibri" panose="020F0502020204030204" pitchFamily="34" charset="0"/>
                <a:cs typeface="Calibri" panose="020F0502020204030204" pitchFamily="34" charset="0"/>
              </a:rPr>
              <a:t> = M</a:t>
            </a:r>
          </a:p>
          <a:p>
            <a:pPr>
              <a:spcBef>
                <a:spcPts val="600"/>
              </a:spcBef>
            </a:pPr>
            <a:r>
              <a:rPr lang="en-IN" sz="1600" b="1" dirty="0">
                <a:latin typeface="Calibri" panose="020F0502020204030204" pitchFamily="34" charset="0"/>
                <a:cs typeface="Calibri" panose="020F0502020204030204" pitchFamily="34" charset="0"/>
              </a:rPr>
              <a:t>Pi = </a:t>
            </a:r>
            <a:r>
              <a:rPr lang="en-IN" sz="1600" b="1" dirty="0" err="1">
                <a:latin typeface="Calibri" panose="020F0502020204030204" pitchFamily="34" charset="0"/>
                <a:cs typeface="Calibri" panose="020F0502020204030204" pitchFamily="34" charset="0"/>
              </a:rPr>
              <a:t>Qj</a:t>
            </a:r>
            <a:r>
              <a:rPr lang="en-IN" sz="1600" b="1" dirty="0">
                <a:latin typeface="Calibri" panose="020F0502020204030204" pitchFamily="34" charset="0"/>
                <a:cs typeface="Calibri" panose="020F0502020204030204" pitchFamily="34" charset="0"/>
              </a:rPr>
              <a:t> ⇒ LCS [i, j] = 1 + LCS[i – 1, j – 1]</a:t>
            </a:r>
          </a:p>
          <a:p>
            <a:pPr>
              <a:spcBef>
                <a:spcPts val="600"/>
              </a:spcBef>
            </a:pPr>
            <a:r>
              <a:rPr lang="en-IN" sz="1600" b="1" dirty="0">
                <a:latin typeface="Calibri" panose="020F0502020204030204" pitchFamily="34" charset="0"/>
                <a:cs typeface="Calibri" panose="020F0502020204030204" pitchFamily="34" charset="0"/>
              </a:rPr>
              <a:t>LCS [1, 1] = 1 + LCS[0, 0] = 1 + 0 = 1</a:t>
            </a:r>
          </a:p>
          <a:p>
            <a:pPr>
              <a:spcBef>
                <a:spcPts val="600"/>
              </a:spcBef>
            </a:pPr>
            <a:endParaRPr lang="en-IN" sz="1600" b="1" dirty="0">
              <a:latin typeface="Calibri" panose="020F0502020204030204" pitchFamily="34" charset="0"/>
              <a:cs typeface="Calibri" panose="020F0502020204030204" pitchFamily="34" charset="0"/>
            </a:endParaRPr>
          </a:p>
          <a:p>
            <a:pPr>
              <a:spcBef>
                <a:spcPts val="600"/>
              </a:spcBef>
            </a:pPr>
            <a:r>
              <a:rPr lang="en-IN" sz="1600" b="1" dirty="0">
                <a:solidFill>
                  <a:srgbClr val="FF0000"/>
                </a:solidFill>
                <a:latin typeface="Calibri" panose="020F0502020204030204" pitchFamily="34" charset="0"/>
                <a:cs typeface="Calibri" panose="020F0502020204030204" pitchFamily="34" charset="0"/>
              </a:rPr>
              <a:t>LCS [1, 2] </a:t>
            </a:r>
            <a:r>
              <a:rPr lang="en-IN" sz="1600" b="1" dirty="0">
                <a:latin typeface="Calibri" panose="020F0502020204030204" pitchFamily="34" charset="0"/>
                <a:cs typeface="Calibri" panose="020F0502020204030204" pitchFamily="34" charset="0"/>
              </a:rPr>
              <a:t>⇒ i = 1,   j = 2,   Pi = M,   </a:t>
            </a:r>
            <a:r>
              <a:rPr lang="en-IN" sz="1600" b="1" dirty="0" err="1">
                <a:latin typeface="Calibri" panose="020F0502020204030204" pitchFamily="34" charset="0"/>
                <a:cs typeface="Calibri" panose="020F0502020204030204" pitchFamily="34" charset="0"/>
              </a:rPr>
              <a:t>Qj</a:t>
            </a:r>
            <a:r>
              <a:rPr lang="en-IN" sz="1600" b="1" dirty="0">
                <a:latin typeface="Calibri" panose="020F0502020204030204" pitchFamily="34" charset="0"/>
                <a:cs typeface="Calibri" panose="020F0502020204030204" pitchFamily="34" charset="0"/>
              </a:rPr>
              <a:t> = N</a:t>
            </a:r>
          </a:p>
          <a:p>
            <a:pPr>
              <a:spcBef>
                <a:spcPts val="600"/>
              </a:spcBef>
            </a:pPr>
            <a:r>
              <a:rPr lang="en-IN" sz="1600" b="1" dirty="0">
                <a:latin typeface="Calibri" panose="020F0502020204030204" pitchFamily="34" charset="0"/>
                <a:cs typeface="Calibri" panose="020F0502020204030204" pitchFamily="34" charset="0"/>
              </a:rPr>
              <a:t>Pi ≠ </a:t>
            </a:r>
            <a:r>
              <a:rPr lang="en-IN" sz="1600" b="1" dirty="0" err="1">
                <a:latin typeface="Calibri" panose="020F0502020204030204" pitchFamily="34" charset="0"/>
                <a:cs typeface="Calibri" panose="020F0502020204030204" pitchFamily="34" charset="0"/>
              </a:rPr>
              <a:t>Qj</a:t>
            </a:r>
            <a:r>
              <a:rPr lang="en-IN" sz="1600" b="1" dirty="0">
                <a:latin typeface="Calibri" panose="020F0502020204030204" pitchFamily="34" charset="0"/>
                <a:cs typeface="Calibri" panose="020F0502020204030204" pitchFamily="34" charset="0"/>
              </a:rPr>
              <a:t> ⇒ LCS [i, j] = max (LCS [i – 1 , j], LCS [i, j – 1])</a:t>
            </a:r>
          </a:p>
          <a:p>
            <a:pPr>
              <a:spcBef>
                <a:spcPts val="600"/>
              </a:spcBef>
            </a:pPr>
            <a:r>
              <a:rPr lang="en-IN" sz="1600" b="1" dirty="0">
                <a:latin typeface="Calibri" panose="020F0502020204030204" pitchFamily="34" charset="0"/>
                <a:cs typeface="Calibri" panose="020F0502020204030204" pitchFamily="34" charset="0"/>
              </a:rPr>
              <a:t>LCS [1, 2] = max (LCS [0, 2], LCS [1, 1]) = max (0, 1)  =  1</a:t>
            </a:r>
          </a:p>
          <a:p>
            <a:pPr>
              <a:spcBef>
                <a:spcPts val="600"/>
              </a:spcBef>
            </a:pPr>
            <a:endParaRPr lang="en-IN" sz="1700" dirty="0">
              <a:latin typeface="Corbel" panose="020B0503020204020204" pitchFamily="34" charset="0"/>
            </a:endParaRPr>
          </a:p>
        </p:txBody>
      </p:sp>
      <p:sp>
        <p:nvSpPr>
          <p:cNvPr id="7" name="TextBox 6">
            <a:extLst>
              <a:ext uri="{FF2B5EF4-FFF2-40B4-BE49-F238E27FC236}">
                <a16:creationId xmlns:a16="http://schemas.microsoft.com/office/drawing/2014/main" id="{B3759E1C-9A44-BEDF-992B-FFC5A8BD3E04}"/>
              </a:ext>
            </a:extLst>
          </p:cNvPr>
          <p:cNvSpPr txBox="1"/>
          <p:nvPr/>
        </p:nvSpPr>
        <p:spPr>
          <a:xfrm>
            <a:off x="181707" y="148588"/>
            <a:ext cx="4654062" cy="477054"/>
          </a:xfrm>
          <a:prstGeom prst="rect">
            <a:avLst/>
          </a:prstGeom>
          <a:noFill/>
        </p:spPr>
        <p:txBody>
          <a:bodyPr wrap="square">
            <a:spAutoFit/>
          </a:bodyPr>
          <a:lstStyle/>
          <a:p>
            <a:r>
              <a:rPr kumimoji="0" lang="en-US" sz="2500" b="1" i="0" u="none" strike="noStrike" kern="1200" cap="none" spc="0" normalizeH="0" baseline="0" noProof="0" dirty="0">
                <a:ln>
                  <a:noFill/>
                </a:ln>
                <a:solidFill>
                  <a:prstClr val="black"/>
                </a:solidFill>
                <a:effectLst/>
                <a:uLnTx/>
                <a:uFillTx/>
                <a:latin typeface="Corbel" panose="020B0503020204020204" pitchFamily="34" charset="0"/>
              </a:rPr>
              <a:t>LCS- Example </a:t>
            </a:r>
            <a:endParaRPr lang="en-IN" dirty="0"/>
          </a:p>
        </p:txBody>
      </p:sp>
      <p:sp>
        <p:nvSpPr>
          <p:cNvPr id="9" name="TextBox 8">
            <a:extLst>
              <a:ext uri="{FF2B5EF4-FFF2-40B4-BE49-F238E27FC236}">
                <a16:creationId xmlns:a16="http://schemas.microsoft.com/office/drawing/2014/main" id="{EAA72ADB-9CAF-6E5C-598B-7B5E375CC370}"/>
              </a:ext>
            </a:extLst>
          </p:cNvPr>
          <p:cNvSpPr txBox="1"/>
          <p:nvPr/>
        </p:nvSpPr>
        <p:spPr>
          <a:xfrm>
            <a:off x="130677" y="688460"/>
            <a:ext cx="798048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IN" sz="1800" b="1" i="0" u="none" strike="noStrike" kern="0" cap="none" spc="0" normalizeH="0" baseline="0" noProof="0" dirty="0">
                <a:ln>
                  <a:noFill/>
                </a:ln>
                <a:solidFill>
                  <a:srgbClr val="000000"/>
                </a:solidFill>
                <a:effectLst/>
                <a:uLnTx/>
                <a:uFillTx/>
                <a:latin typeface="Corbel" panose="020B0503020204020204" pitchFamily="34" charset="0"/>
                <a:cs typeface="Arial"/>
                <a:sym typeface="Arial"/>
              </a:rPr>
              <a:t>Let’s compute the remaining cell values row by row :</a:t>
            </a:r>
          </a:p>
        </p:txBody>
      </p:sp>
      <p:sp>
        <p:nvSpPr>
          <p:cNvPr id="10" name="TextBox 9">
            <a:extLst>
              <a:ext uri="{FF2B5EF4-FFF2-40B4-BE49-F238E27FC236}">
                <a16:creationId xmlns:a16="http://schemas.microsoft.com/office/drawing/2014/main" id="{30A6D311-6A1E-6FC0-4250-86D16A19BD4E}"/>
              </a:ext>
            </a:extLst>
          </p:cNvPr>
          <p:cNvSpPr txBox="1"/>
          <p:nvPr/>
        </p:nvSpPr>
        <p:spPr>
          <a:xfrm>
            <a:off x="4619966" y="1728653"/>
            <a:ext cx="4572001" cy="2739211"/>
          </a:xfrm>
          <a:prstGeom prst="rect">
            <a:avLst/>
          </a:prstGeom>
          <a:noFill/>
        </p:spPr>
        <p:txBody>
          <a:bodyPr wrap="square">
            <a:spAutoFit/>
          </a:bodyPr>
          <a:lstStyle/>
          <a:p>
            <a:pPr algn="l" fontAlgn="base">
              <a:spcBef>
                <a:spcPts val="600"/>
              </a:spcBef>
              <a:spcAft>
                <a:spcPts val="600"/>
              </a:spcAft>
            </a:pPr>
            <a:r>
              <a:rPr lang="en-IN" sz="1600" b="1" i="0" dirty="0">
                <a:solidFill>
                  <a:srgbClr val="FF0000"/>
                </a:solidFill>
                <a:effectLst/>
                <a:latin typeface="Calibri" panose="020F0502020204030204" pitchFamily="34" charset="0"/>
                <a:cs typeface="Calibri" panose="020F0502020204030204" pitchFamily="34" charset="0"/>
              </a:rPr>
              <a:t>LCS [1, 3] </a:t>
            </a:r>
            <a:r>
              <a:rPr lang="en-IN" sz="1600" b="1" i="0" dirty="0">
                <a:solidFill>
                  <a:schemeClr val="tx1"/>
                </a:solidFill>
                <a:effectLst/>
                <a:latin typeface="Calibri" panose="020F0502020204030204" pitchFamily="34" charset="0"/>
                <a:cs typeface="Calibri" panose="020F0502020204030204" pitchFamily="34" charset="0"/>
              </a:rPr>
              <a:t>⇒ i = 1,   j = 3,   P</a:t>
            </a:r>
            <a:r>
              <a:rPr lang="en-IN" sz="1600" b="1" i="0" baseline="-25000" dirty="0">
                <a:solidFill>
                  <a:schemeClr val="tx1"/>
                </a:solidFill>
                <a:effectLst/>
                <a:latin typeface="Calibri" panose="020F0502020204030204" pitchFamily="34" charset="0"/>
                <a:cs typeface="Calibri" panose="020F0502020204030204" pitchFamily="34" charset="0"/>
              </a:rPr>
              <a:t>i</a:t>
            </a:r>
            <a:r>
              <a:rPr lang="en-IN" sz="1600" b="1" i="0" dirty="0">
                <a:solidFill>
                  <a:schemeClr val="tx1"/>
                </a:solidFill>
                <a:effectLst/>
                <a:latin typeface="Calibri" panose="020F0502020204030204" pitchFamily="34" charset="0"/>
                <a:cs typeface="Calibri" panose="020F0502020204030204" pitchFamily="34" charset="0"/>
              </a:rPr>
              <a:t> = M,   </a:t>
            </a:r>
            <a:r>
              <a:rPr lang="en-IN" sz="1600" b="1" i="0" dirty="0" err="1">
                <a:solidFill>
                  <a:schemeClr val="tx1"/>
                </a:solidFill>
                <a:effectLst/>
                <a:latin typeface="Calibri" panose="020F0502020204030204" pitchFamily="34" charset="0"/>
                <a:cs typeface="Calibri" panose="020F0502020204030204" pitchFamily="34" charset="0"/>
              </a:rPr>
              <a:t>Q</a:t>
            </a:r>
            <a:r>
              <a:rPr lang="en-IN" sz="1600" b="1" i="0" baseline="-25000" dirty="0" err="1">
                <a:solidFill>
                  <a:schemeClr val="tx1"/>
                </a:solidFill>
                <a:effectLst/>
                <a:latin typeface="Calibri" panose="020F0502020204030204" pitchFamily="34" charset="0"/>
                <a:cs typeface="Calibri" panose="020F0502020204030204" pitchFamily="34" charset="0"/>
              </a:rPr>
              <a:t>j</a:t>
            </a:r>
            <a:r>
              <a:rPr lang="en-IN" sz="1600" b="1" i="0" dirty="0">
                <a:solidFill>
                  <a:schemeClr val="tx1"/>
                </a:solidFill>
                <a:effectLst/>
                <a:latin typeface="Calibri" panose="020F0502020204030204" pitchFamily="34" charset="0"/>
                <a:cs typeface="Calibri" panose="020F0502020204030204" pitchFamily="34" charset="0"/>
              </a:rPr>
              <a:t> = O</a:t>
            </a:r>
          </a:p>
          <a:p>
            <a:pPr algn="l" fontAlgn="base">
              <a:spcBef>
                <a:spcPts val="600"/>
              </a:spcBef>
              <a:spcAft>
                <a:spcPts val="600"/>
              </a:spcAft>
            </a:pPr>
            <a:r>
              <a:rPr lang="en-IN" sz="1600" b="1" i="0" dirty="0">
                <a:solidFill>
                  <a:schemeClr val="tx1"/>
                </a:solidFill>
                <a:effectLst/>
                <a:latin typeface="Calibri" panose="020F0502020204030204" pitchFamily="34" charset="0"/>
                <a:cs typeface="Calibri" panose="020F0502020204030204" pitchFamily="34" charset="0"/>
              </a:rPr>
              <a:t>P</a:t>
            </a:r>
            <a:r>
              <a:rPr lang="en-IN" sz="1600" b="1" i="0" baseline="-25000" dirty="0">
                <a:solidFill>
                  <a:schemeClr val="tx1"/>
                </a:solidFill>
                <a:effectLst/>
                <a:latin typeface="Calibri" panose="020F0502020204030204" pitchFamily="34" charset="0"/>
                <a:cs typeface="Calibri" panose="020F0502020204030204" pitchFamily="34" charset="0"/>
              </a:rPr>
              <a:t>i</a:t>
            </a:r>
            <a:r>
              <a:rPr lang="en-IN" sz="1600" b="1" i="0" dirty="0">
                <a:solidFill>
                  <a:schemeClr val="tx1"/>
                </a:solidFill>
                <a:effectLst/>
                <a:latin typeface="Calibri" panose="020F0502020204030204" pitchFamily="34" charset="0"/>
                <a:cs typeface="Calibri" panose="020F0502020204030204" pitchFamily="34" charset="0"/>
              </a:rPr>
              <a:t> ≠ </a:t>
            </a:r>
            <a:r>
              <a:rPr lang="en-IN" sz="1600" b="1" i="0" dirty="0" err="1">
                <a:solidFill>
                  <a:schemeClr val="tx1"/>
                </a:solidFill>
                <a:effectLst/>
                <a:latin typeface="Calibri" panose="020F0502020204030204" pitchFamily="34" charset="0"/>
                <a:cs typeface="Calibri" panose="020F0502020204030204" pitchFamily="34" charset="0"/>
              </a:rPr>
              <a:t>Q</a:t>
            </a:r>
            <a:r>
              <a:rPr lang="en-IN" sz="1600" b="1" i="0" baseline="-25000" dirty="0" err="1">
                <a:solidFill>
                  <a:schemeClr val="tx1"/>
                </a:solidFill>
                <a:effectLst/>
                <a:latin typeface="Calibri" panose="020F0502020204030204" pitchFamily="34" charset="0"/>
                <a:cs typeface="Calibri" panose="020F0502020204030204" pitchFamily="34" charset="0"/>
              </a:rPr>
              <a:t>j</a:t>
            </a:r>
            <a:r>
              <a:rPr lang="en-IN" sz="1600" b="1" i="0" dirty="0">
                <a:solidFill>
                  <a:schemeClr val="tx1"/>
                </a:solidFill>
                <a:effectLst/>
                <a:latin typeface="Calibri" panose="020F0502020204030204" pitchFamily="34" charset="0"/>
                <a:cs typeface="Calibri" panose="020F0502020204030204" pitchFamily="34" charset="0"/>
              </a:rPr>
              <a:t> ⇒ LCS [i, j] = max (LCS [i – 1 , j], LCS [i, j – 1])</a:t>
            </a:r>
          </a:p>
          <a:p>
            <a:pPr algn="l" fontAlgn="base">
              <a:spcBef>
                <a:spcPts val="600"/>
              </a:spcBef>
              <a:spcAft>
                <a:spcPts val="600"/>
              </a:spcAft>
            </a:pPr>
            <a:r>
              <a:rPr lang="en-IN" sz="1600" b="1" i="0" dirty="0">
                <a:solidFill>
                  <a:schemeClr val="tx1"/>
                </a:solidFill>
                <a:effectLst/>
                <a:latin typeface="Calibri" panose="020F0502020204030204" pitchFamily="34" charset="0"/>
                <a:cs typeface="Calibri" panose="020F0502020204030204" pitchFamily="34" charset="0"/>
              </a:rPr>
              <a:t>LCS [1, 3] = max(LCS[0, 3], LCS[1, 2]) =  max(0, 1) = 1</a:t>
            </a:r>
          </a:p>
          <a:p>
            <a:pPr algn="l" fontAlgn="base">
              <a:spcBef>
                <a:spcPts val="600"/>
              </a:spcBef>
              <a:spcAft>
                <a:spcPts val="600"/>
              </a:spcAft>
            </a:pPr>
            <a:endParaRPr lang="en-IN" sz="1600" b="1" i="0" dirty="0" smtClean="0">
              <a:solidFill>
                <a:srgbClr val="FF0000"/>
              </a:solidFill>
              <a:effectLst/>
              <a:latin typeface="Calibri" panose="020F0502020204030204" pitchFamily="34" charset="0"/>
              <a:cs typeface="Calibri" panose="020F0502020204030204" pitchFamily="34" charset="0"/>
            </a:endParaRPr>
          </a:p>
          <a:p>
            <a:pPr algn="l" fontAlgn="base">
              <a:spcBef>
                <a:spcPts val="600"/>
              </a:spcBef>
              <a:spcAft>
                <a:spcPts val="600"/>
              </a:spcAft>
            </a:pPr>
            <a:r>
              <a:rPr lang="en-IN" sz="1600" b="1" i="0" dirty="0" smtClean="0">
                <a:solidFill>
                  <a:srgbClr val="FF0000"/>
                </a:solidFill>
                <a:effectLst/>
                <a:latin typeface="Calibri" panose="020F0502020204030204" pitchFamily="34" charset="0"/>
                <a:cs typeface="Calibri" panose="020F0502020204030204" pitchFamily="34" charset="0"/>
              </a:rPr>
              <a:t>LCS </a:t>
            </a:r>
            <a:r>
              <a:rPr lang="en-IN" sz="1600" b="1" i="0" dirty="0">
                <a:solidFill>
                  <a:srgbClr val="FF0000"/>
                </a:solidFill>
                <a:effectLst/>
                <a:latin typeface="Calibri" panose="020F0502020204030204" pitchFamily="34" charset="0"/>
                <a:cs typeface="Calibri" panose="020F0502020204030204" pitchFamily="34" charset="0"/>
              </a:rPr>
              <a:t>[1, 4] </a:t>
            </a:r>
            <a:r>
              <a:rPr lang="en-IN" sz="1600" b="1" i="0" dirty="0">
                <a:solidFill>
                  <a:schemeClr val="tx1"/>
                </a:solidFill>
                <a:effectLst/>
                <a:latin typeface="Calibri" panose="020F0502020204030204" pitchFamily="34" charset="0"/>
                <a:cs typeface="Calibri" panose="020F0502020204030204" pitchFamily="34" charset="0"/>
              </a:rPr>
              <a:t>⇒ i = 1,   j = 4,   P</a:t>
            </a:r>
            <a:r>
              <a:rPr lang="en-IN" sz="1600" b="1" i="0" baseline="-25000" dirty="0">
                <a:solidFill>
                  <a:schemeClr val="tx1"/>
                </a:solidFill>
                <a:effectLst/>
                <a:latin typeface="Calibri" panose="020F0502020204030204" pitchFamily="34" charset="0"/>
                <a:cs typeface="Calibri" panose="020F0502020204030204" pitchFamily="34" charset="0"/>
              </a:rPr>
              <a:t>i</a:t>
            </a:r>
            <a:r>
              <a:rPr lang="en-IN" sz="1600" b="1" i="0" dirty="0">
                <a:solidFill>
                  <a:schemeClr val="tx1"/>
                </a:solidFill>
                <a:effectLst/>
                <a:latin typeface="Calibri" panose="020F0502020204030204" pitchFamily="34" charset="0"/>
                <a:cs typeface="Calibri" panose="020F0502020204030204" pitchFamily="34" charset="0"/>
              </a:rPr>
              <a:t> = M,   </a:t>
            </a:r>
            <a:r>
              <a:rPr lang="en-IN" sz="1600" b="1" i="0" dirty="0" err="1">
                <a:solidFill>
                  <a:schemeClr val="tx1"/>
                </a:solidFill>
                <a:effectLst/>
                <a:latin typeface="Calibri" panose="020F0502020204030204" pitchFamily="34" charset="0"/>
                <a:cs typeface="Calibri" panose="020F0502020204030204" pitchFamily="34" charset="0"/>
              </a:rPr>
              <a:t>Q</a:t>
            </a:r>
            <a:r>
              <a:rPr lang="en-IN" sz="1600" b="1" i="0" baseline="-25000" dirty="0" err="1">
                <a:solidFill>
                  <a:schemeClr val="tx1"/>
                </a:solidFill>
                <a:effectLst/>
                <a:latin typeface="Calibri" panose="020F0502020204030204" pitchFamily="34" charset="0"/>
                <a:cs typeface="Calibri" panose="020F0502020204030204" pitchFamily="34" charset="0"/>
              </a:rPr>
              <a:t>j</a:t>
            </a:r>
            <a:r>
              <a:rPr lang="en-IN" sz="1600" b="1" i="0" dirty="0">
                <a:solidFill>
                  <a:schemeClr val="tx1"/>
                </a:solidFill>
                <a:effectLst/>
                <a:latin typeface="Calibri" panose="020F0502020204030204" pitchFamily="34" charset="0"/>
                <a:cs typeface="Calibri" panose="020F0502020204030204" pitchFamily="34" charset="0"/>
              </a:rPr>
              <a:t> = M</a:t>
            </a:r>
          </a:p>
          <a:p>
            <a:pPr algn="l" fontAlgn="base">
              <a:spcBef>
                <a:spcPts val="600"/>
              </a:spcBef>
              <a:spcAft>
                <a:spcPts val="600"/>
              </a:spcAft>
            </a:pPr>
            <a:r>
              <a:rPr lang="en-IN" sz="1600" b="1" i="0" dirty="0">
                <a:solidFill>
                  <a:schemeClr val="tx1"/>
                </a:solidFill>
                <a:effectLst/>
                <a:latin typeface="Calibri" panose="020F0502020204030204" pitchFamily="34" charset="0"/>
                <a:cs typeface="Calibri" panose="020F0502020204030204" pitchFamily="34" charset="0"/>
              </a:rPr>
              <a:t>P</a:t>
            </a:r>
            <a:r>
              <a:rPr lang="en-IN" sz="1600" b="1" i="0" baseline="-25000" dirty="0">
                <a:solidFill>
                  <a:schemeClr val="tx1"/>
                </a:solidFill>
                <a:effectLst/>
                <a:latin typeface="Calibri" panose="020F0502020204030204" pitchFamily="34" charset="0"/>
                <a:cs typeface="Calibri" panose="020F0502020204030204" pitchFamily="34" charset="0"/>
              </a:rPr>
              <a:t>i</a:t>
            </a:r>
            <a:r>
              <a:rPr lang="en-IN" sz="1600" b="1" i="0" dirty="0">
                <a:solidFill>
                  <a:schemeClr val="tx1"/>
                </a:solidFill>
                <a:effectLst/>
                <a:latin typeface="Calibri" panose="020F0502020204030204" pitchFamily="34" charset="0"/>
                <a:cs typeface="Calibri" panose="020F0502020204030204" pitchFamily="34" charset="0"/>
              </a:rPr>
              <a:t> = </a:t>
            </a:r>
            <a:r>
              <a:rPr lang="en-IN" sz="1600" b="1" i="0" dirty="0" err="1">
                <a:solidFill>
                  <a:schemeClr val="tx1"/>
                </a:solidFill>
                <a:effectLst/>
                <a:latin typeface="Calibri" panose="020F0502020204030204" pitchFamily="34" charset="0"/>
                <a:cs typeface="Calibri" panose="020F0502020204030204" pitchFamily="34" charset="0"/>
              </a:rPr>
              <a:t>Q</a:t>
            </a:r>
            <a:r>
              <a:rPr lang="en-IN" sz="1600" b="1" i="0" baseline="-25000" dirty="0" err="1">
                <a:solidFill>
                  <a:schemeClr val="tx1"/>
                </a:solidFill>
                <a:effectLst/>
                <a:latin typeface="Calibri" panose="020F0502020204030204" pitchFamily="34" charset="0"/>
                <a:cs typeface="Calibri" panose="020F0502020204030204" pitchFamily="34" charset="0"/>
              </a:rPr>
              <a:t>j</a:t>
            </a:r>
            <a:r>
              <a:rPr lang="en-IN" sz="1600" b="1" i="0" dirty="0">
                <a:solidFill>
                  <a:schemeClr val="tx1"/>
                </a:solidFill>
                <a:effectLst/>
                <a:latin typeface="Calibri" panose="020F0502020204030204" pitchFamily="34" charset="0"/>
                <a:cs typeface="Calibri" panose="020F0502020204030204" pitchFamily="34" charset="0"/>
              </a:rPr>
              <a:t>  ⇒  LCS [i, j] = 1 + LCS[i – 1, j – 1]</a:t>
            </a:r>
          </a:p>
          <a:p>
            <a:pPr algn="l" fontAlgn="base">
              <a:spcBef>
                <a:spcPts val="600"/>
              </a:spcBef>
              <a:spcAft>
                <a:spcPts val="600"/>
              </a:spcAft>
            </a:pPr>
            <a:r>
              <a:rPr lang="en-IN" sz="1600" b="1" i="0" dirty="0">
                <a:solidFill>
                  <a:schemeClr val="tx1"/>
                </a:solidFill>
                <a:effectLst/>
                <a:latin typeface="Calibri" panose="020F0502020204030204" pitchFamily="34" charset="0"/>
                <a:cs typeface="Calibri" panose="020F0502020204030204" pitchFamily="34" charset="0"/>
              </a:rPr>
              <a:t>LCS [1, 4] = 1 + LCS[0, 3] = 1 + 0 = 1</a:t>
            </a:r>
          </a:p>
        </p:txBody>
      </p:sp>
      <p:cxnSp>
        <p:nvCxnSpPr>
          <p:cNvPr id="12" name="Straight Connector 11">
            <a:extLst>
              <a:ext uri="{FF2B5EF4-FFF2-40B4-BE49-F238E27FC236}">
                <a16:creationId xmlns:a16="http://schemas.microsoft.com/office/drawing/2014/main" id="{4558B64C-92E5-D373-ACB3-BDD69D103BC6}"/>
              </a:ext>
            </a:extLst>
          </p:cNvPr>
          <p:cNvCxnSpPr/>
          <p:nvPr/>
        </p:nvCxnSpPr>
        <p:spPr>
          <a:xfrm>
            <a:off x="4571975" y="1120610"/>
            <a:ext cx="0" cy="3697575"/>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397028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B7988613-0B71-C4D5-068C-6D1E42D490CE}"/>
              </a:ext>
            </a:extLst>
          </p:cNvPr>
          <p:cNvSpPr txBox="1"/>
          <p:nvPr/>
        </p:nvSpPr>
        <p:spPr>
          <a:xfrm>
            <a:off x="181707" y="148588"/>
            <a:ext cx="4654062" cy="477054"/>
          </a:xfrm>
          <a:prstGeom prst="rect">
            <a:avLst/>
          </a:prstGeom>
          <a:noFill/>
        </p:spPr>
        <p:txBody>
          <a:bodyPr wrap="square">
            <a:spAutoFit/>
          </a:bodyPr>
          <a:lstStyle/>
          <a:p>
            <a:r>
              <a:rPr kumimoji="0" lang="en-US" sz="2500" b="1" i="0" u="none" strike="noStrike" kern="1200" cap="none" spc="0" normalizeH="0" baseline="0" noProof="0" dirty="0">
                <a:ln>
                  <a:noFill/>
                </a:ln>
                <a:solidFill>
                  <a:prstClr val="black"/>
                </a:solidFill>
                <a:effectLst/>
                <a:uLnTx/>
                <a:uFillTx/>
                <a:latin typeface="Corbel" panose="020B0503020204020204" pitchFamily="34" charset="0"/>
              </a:rPr>
              <a:t>LCS- Example </a:t>
            </a:r>
            <a:endParaRPr lang="en-IN" dirty="0"/>
          </a:p>
        </p:txBody>
      </p:sp>
      <p:sp>
        <p:nvSpPr>
          <p:cNvPr id="9" name="TextBox 8">
            <a:extLst>
              <a:ext uri="{FF2B5EF4-FFF2-40B4-BE49-F238E27FC236}">
                <a16:creationId xmlns:a16="http://schemas.microsoft.com/office/drawing/2014/main" id="{FF9B0662-2381-D535-CE32-FDD84058FA76}"/>
              </a:ext>
            </a:extLst>
          </p:cNvPr>
          <p:cNvSpPr txBox="1"/>
          <p:nvPr/>
        </p:nvSpPr>
        <p:spPr>
          <a:xfrm>
            <a:off x="181707" y="1266631"/>
            <a:ext cx="4812349" cy="2954655"/>
          </a:xfrm>
          <a:prstGeom prst="rect">
            <a:avLst/>
          </a:prstGeom>
          <a:noFill/>
        </p:spPr>
        <p:txBody>
          <a:bodyPr wrap="square">
            <a:spAutoFit/>
          </a:bodyPr>
          <a:lstStyle/>
          <a:p>
            <a:pPr marL="0" marR="0" lvl="0" indent="0" algn="l" defTabSz="914400" rtl="0" eaLnBrk="1" fontAlgn="base" latinLnBrk="0" hangingPunct="1">
              <a:lnSpc>
                <a:spcPct val="100000"/>
              </a:lnSpc>
              <a:spcBef>
                <a:spcPts val="60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33CC"/>
              </a:solidFill>
              <a:effectLst/>
              <a:uLnTx/>
              <a:uFillTx/>
              <a:latin typeface="Corbel" panose="020B0503020204020204" pitchFamily="34" charset="0"/>
              <a:cs typeface="Arial"/>
              <a:sym typeface="Arial"/>
            </a:endParaRP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500" b="1"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sym typeface="Arial"/>
              </a:rPr>
              <a:t>LCS [2, 1]  </a:t>
            </a: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i = 2,   j = 1,   P</a:t>
            </a:r>
            <a:r>
              <a:rPr kumimoji="0" lang="en-IN" sz="1500" b="1" i="0" u="none" strike="noStrike" kern="0" cap="none" spc="0" normalizeH="0" baseline="-25000" noProof="0" dirty="0">
                <a:ln>
                  <a:noFill/>
                </a:ln>
                <a:solidFill>
                  <a:srgbClr val="000000"/>
                </a:solidFill>
                <a:effectLst/>
                <a:uLnTx/>
                <a:uFillTx/>
                <a:latin typeface="Calibri" panose="020F0502020204030204" pitchFamily="34" charset="0"/>
                <a:cs typeface="Calibri" panose="020F0502020204030204" pitchFamily="34" charset="0"/>
                <a:sym typeface="Arial"/>
              </a:rPr>
              <a:t>i</a:t>
            </a: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L,   </a:t>
            </a:r>
            <a:r>
              <a:rPr kumimoji="0" lang="en-IN" sz="15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Q</a:t>
            </a:r>
            <a:r>
              <a:rPr kumimoji="0" lang="en-IN" sz="1500" b="1" i="0" u="none" strike="noStrike" kern="0" cap="none" spc="0" normalizeH="0" baseline="-25000" noProof="0" dirty="0" err="1">
                <a:ln>
                  <a:noFill/>
                </a:ln>
                <a:solidFill>
                  <a:srgbClr val="000000"/>
                </a:solidFill>
                <a:effectLst/>
                <a:uLnTx/>
                <a:uFillTx/>
                <a:latin typeface="Calibri" panose="020F0502020204030204" pitchFamily="34" charset="0"/>
                <a:cs typeface="Calibri" panose="020F0502020204030204" pitchFamily="34" charset="0"/>
                <a:sym typeface="Arial"/>
              </a:rPr>
              <a:t>j</a:t>
            </a: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M</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P</a:t>
            </a:r>
            <a:r>
              <a:rPr kumimoji="0" lang="en-IN" sz="1500" b="1" i="0" u="none" strike="noStrike" kern="0" cap="none" spc="0" normalizeH="0" baseline="-25000" noProof="0" dirty="0">
                <a:ln>
                  <a:noFill/>
                </a:ln>
                <a:solidFill>
                  <a:srgbClr val="000000"/>
                </a:solidFill>
                <a:effectLst/>
                <a:uLnTx/>
                <a:uFillTx/>
                <a:latin typeface="Calibri" panose="020F0502020204030204" pitchFamily="34" charset="0"/>
                <a:cs typeface="Calibri" panose="020F0502020204030204" pitchFamily="34" charset="0"/>
                <a:sym typeface="Arial"/>
              </a:rPr>
              <a:t>i</a:t>
            </a: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a:t>
            </a:r>
            <a:r>
              <a:rPr kumimoji="0" lang="en-IN" sz="15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Q</a:t>
            </a:r>
            <a:r>
              <a:rPr kumimoji="0" lang="en-IN" sz="1500" b="1" i="0" u="none" strike="noStrike" kern="0" cap="none" spc="0" normalizeH="0" baseline="-25000" noProof="0" dirty="0" err="1">
                <a:ln>
                  <a:noFill/>
                </a:ln>
                <a:solidFill>
                  <a:srgbClr val="000000"/>
                </a:solidFill>
                <a:effectLst/>
                <a:uLnTx/>
                <a:uFillTx/>
                <a:latin typeface="Calibri" panose="020F0502020204030204" pitchFamily="34" charset="0"/>
                <a:cs typeface="Calibri" panose="020F0502020204030204" pitchFamily="34" charset="0"/>
                <a:sym typeface="Arial"/>
              </a:rPr>
              <a:t>j</a:t>
            </a: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LCS [i, j] = max (LCS [i – 1 , j], LCS [i, j – 1])</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LCS [2, 1] = max (LCS [1, 1], LCS [2, 0]) = max (1, 0)  =  1</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endPar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500" b="1"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sym typeface="Arial"/>
              </a:rPr>
              <a:t>LCS [2, 2] </a:t>
            </a: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i = 2,   j = 2,   P</a:t>
            </a:r>
            <a:r>
              <a:rPr kumimoji="0" lang="en-IN" sz="1500" b="1" i="0" u="none" strike="noStrike" kern="0" cap="none" spc="0" normalizeH="0" baseline="-25000" noProof="0" dirty="0">
                <a:ln>
                  <a:noFill/>
                </a:ln>
                <a:solidFill>
                  <a:srgbClr val="000000"/>
                </a:solidFill>
                <a:effectLst/>
                <a:uLnTx/>
                <a:uFillTx/>
                <a:latin typeface="Calibri" panose="020F0502020204030204" pitchFamily="34" charset="0"/>
                <a:cs typeface="Calibri" panose="020F0502020204030204" pitchFamily="34" charset="0"/>
                <a:sym typeface="Arial"/>
              </a:rPr>
              <a:t>i</a:t>
            </a: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L,   </a:t>
            </a:r>
            <a:r>
              <a:rPr kumimoji="0" lang="en-IN" sz="15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Q</a:t>
            </a:r>
            <a:r>
              <a:rPr kumimoji="0" lang="en-IN" sz="1500" b="1" i="0" u="none" strike="noStrike" kern="0" cap="none" spc="0" normalizeH="0" baseline="-25000" noProof="0" dirty="0" err="1">
                <a:ln>
                  <a:noFill/>
                </a:ln>
                <a:solidFill>
                  <a:srgbClr val="000000"/>
                </a:solidFill>
                <a:effectLst/>
                <a:uLnTx/>
                <a:uFillTx/>
                <a:latin typeface="Calibri" panose="020F0502020204030204" pitchFamily="34" charset="0"/>
                <a:cs typeface="Calibri" panose="020F0502020204030204" pitchFamily="34" charset="0"/>
                <a:sym typeface="Arial"/>
              </a:rPr>
              <a:t>j</a:t>
            </a: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N</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P</a:t>
            </a:r>
            <a:r>
              <a:rPr kumimoji="0" lang="en-IN" sz="1500" b="1" i="0" u="none" strike="noStrike" kern="0" cap="none" spc="0" normalizeH="0" baseline="-25000" noProof="0" dirty="0">
                <a:ln>
                  <a:noFill/>
                </a:ln>
                <a:solidFill>
                  <a:srgbClr val="000000"/>
                </a:solidFill>
                <a:effectLst/>
                <a:uLnTx/>
                <a:uFillTx/>
                <a:latin typeface="Calibri" panose="020F0502020204030204" pitchFamily="34" charset="0"/>
                <a:cs typeface="Calibri" panose="020F0502020204030204" pitchFamily="34" charset="0"/>
                <a:sym typeface="Arial"/>
              </a:rPr>
              <a:t>i</a:t>
            </a: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a:t>
            </a:r>
            <a:r>
              <a:rPr kumimoji="0" lang="en-IN" sz="15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Q</a:t>
            </a:r>
            <a:r>
              <a:rPr kumimoji="0" lang="en-IN" sz="1500" b="1" i="0" u="none" strike="noStrike" kern="0" cap="none" spc="0" normalizeH="0" baseline="-25000" noProof="0" dirty="0" err="1">
                <a:ln>
                  <a:noFill/>
                </a:ln>
                <a:solidFill>
                  <a:srgbClr val="000000"/>
                </a:solidFill>
                <a:effectLst/>
                <a:uLnTx/>
                <a:uFillTx/>
                <a:latin typeface="Calibri" panose="020F0502020204030204" pitchFamily="34" charset="0"/>
                <a:cs typeface="Calibri" panose="020F0502020204030204" pitchFamily="34" charset="0"/>
                <a:sym typeface="Arial"/>
              </a:rPr>
              <a:t>j</a:t>
            </a: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LCS [i, j] = max (LCS [i – 1 , j], LCS [i, j – 1])</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5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LCS [2, 2] = max (LCS [1, 2], LCS [2, 1]) = max (1, 1)  =  1</a:t>
            </a:r>
          </a:p>
        </p:txBody>
      </p:sp>
      <p:sp>
        <p:nvSpPr>
          <p:cNvPr id="10" name="TextBox 9">
            <a:extLst>
              <a:ext uri="{FF2B5EF4-FFF2-40B4-BE49-F238E27FC236}">
                <a16:creationId xmlns:a16="http://schemas.microsoft.com/office/drawing/2014/main" id="{6BC74FB8-205B-8A7E-E240-9F56BC9554E5}"/>
              </a:ext>
            </a:extLst>
          </p:cNvPr>
          <p:cNvSpPr txBox="1"/>
          <p:nvPr/>
        </p:nvSpPr>
        <p:spPr>
          <a:xfrm>
            <a:off x="4593627" y="1418184"/>
            <a:ext cx="4941277" cy="2631490"/>
          </a:xfrm>
          <a:prstGeom prst="rect">
            <a:avLst/>
          </a:prstGeom>
          <a:noFill/>
        </p:spPr>
        <p:txBody>
          <a:bodyPr wrap="square">
            <a:spAutoFit/>
          </a:bodyPr>
          <a:lstStyle/>
          <a:p>
            <a:pPr algn="l" fontAlgn="base">
              <a:spcBef>
                <a:spcPts val="600"/>
              </a:spcBef>
              <a:spcAft>
                <a:spcPts val="600"/>
              </a:spcAft>
            </a:pPr>
            <a:r>
              <a:rPr lang="en-IN" sz="1500" b="1" i="0" dirty="0">
                <a:solidFill>
                  <a:srgbClr val="FF0000"/>
                </a:solidFill>
                <a:effectLst/>
                <a:latin typeface="Calibri" panose="020F0502020204030204" pitchFamily="34" charset="0"/>
                <a:cs typeface="Calibri" panose="020F0502020204030204" pitchFamily="34" charset="0"/>
              </a:rPr>
              <a:t>LCS [2, 3]  </a:t>
            </a:r>
            <a:r>
              <a:rPr lang="en-IN" sz="1500" b="1" i="0" dirty="0">
                <a:solidFill>
                  <a:schemeClr val="tx1"/>
                </a:solidFill>
                <a:effectLst/>
                <a:latin typeface="Calibri" panose="020F0502020204030204" pitchFamily="34" charset="0"/>
                <a:cs typeface="Calibri" panose="020F0502020204030204" pitchFamily="34" charset="0"/>
              </a:rPr>
              <a:t>⇒ i = 2,   j = 3,   P</a:t>
            </a:r>
            <a:r>
              <a:rPr lang="en-IN" sz="1500" b="1" i="0" baseline="-25000" dirty="0">
                <a:solidFill>
                  <a:schemeClr val="tx1"/>
                </a:solidFill>
                <a:effectLst/>
                <a:latin typeface="Calibri" panose="020F0502020204030204" pitchFamily="34" charset="0"/>
                <a:cs typeface="Calibri" panose="020F0502020204030204" pitchFamily="34" charset="0"/>
              </a:rPr>
              <a:t>i</a:t>
            </a:r>
            <a:r>
              <a:rPr lang="en-IN" sz="1500" b="1" i="0" dirty="0">
                <a:solidFill>
                  <a:schemeClr val="tx1"/>
                </a:solidFill>
                <a:effectLst/>
                <a:latin typeface="Calibri" panose="020F0502020204030204" pitchFamily="34" charset="0"/>
                <a:cs typeface="Calibri" panose="020F0502020204030204" pitchFamily="34" charset="0"/>
              </a:rPr>
              <a:t> = L,   </a:t>
            </a:r>
            <a:r>
              <a:rPr lang="en-IN" sz="1500" b="1" i="0" dirty="0" err="1">
                <a:solidFill>
                  <a:schemeClr val="tx1"/>
                </a:solidFill>
                <a:effectLst/>
                <a:latin typeface="Calibri" panose="020F0502020204030204" pitchFamily="34" charset="0"/>
                <a:cs typeface="Calibri" panose="020F0502020204030204" pitchFamily="34" charset="0"/>
              </a:rPr>
              <a:t>Q</a:t>
            </a:r>
            <a:r>
              <a:rPr lang="en-IN" sz="1500" b="1" i="0" baseline="-25000" dirty="0" err="1">
                <a:solidFill>
                  <a:schemeClr val="tx1"/>
                </a:solidFill>
                <a:effectLst/>
                <a:latin typeface="Calibri" panose="020F0502020204030204" pitchFamily="34" charset="0"/>
                <a:cs typeface="Calibri" panose="020F0502020204030204" pitchFamily="34" charset="0"/>
              </a:rPr>
              <a:t>j</a:t>
            </a:r>
            <a:r>
              <a:rPr lang="en-IN" sz="1500" b="1" i="0" dirty="0">
                <a:solidFill>
                  <a:schemeClr val="tx1"/>
                </a:solidFill>
                <a:effectLst/>
                <a:latin typeface="Calibri" panose="020F0502020204030204" pitchFamily="34" charset="0"/>
                <a:cs typeface="Calibri" panose="020F0502020204030204" pitchFamily="34" charset="0"/>
              </a:rPr>
              <a:t> = O</a:t>
            </a:r>
          </a:p>
          <a:p>
            <a:pPr algn="l" fontAlgn="base">
              <a:spcBef>
                <a:spcPts val="600"/>
              </a:spcBef>
              <a:spcAft>
                <a:spcPts val="600"/>
              </a:spcAft>
            </a:pPr>
            <a:r>
              <a:rPr lang="en-IN" sz="1500" b="1" i="0" dirty="0">
                <a:solidFill>
                  <a:schemeClr val="tx1"/>
                </a:solidFill>
                <a:effectLst/>
                <a:latin typeface="Calibri" panose="020F0502020204030204" pitchFamily="34" charset="0"/>
                <a:cs typeface="Calibri" panose="020F0502020204030204" pitchFamily="34" charset="0"/>
              </a:rPr>
              <a:t>P</a:t>
            </a:r>
            <a:r>
              <a:rPr lang="en-IN" sz="1500" b="1" i="0" baseline="-25000" dirty="0">
                <a:solidFill>
                  <a:schemeClr val="tx1"/>
                </a:solidFill>
                <a:effectLst/>
                <a:latin typeface="Calibri" panose="020F0502020204030204" pitchFamily="34" charset="0"/>
                <a:cs typeface="Calibri" panose="020F0502020204030204" pitchFamily="34" charset="0"/>
              </a:rPr>
              <a:t>i</a:t>
            </a:r>
            <a:r>
              <a:rPr lang="en-IN" sz="1500" b="1" i="0" dirty="0">
                <a:solidFill>
                  <a:schemeClr val="tx1"/>
                </a:solidFill>
                <a:effectLst/>
                <a:latin typeface="Calibri" panose="020F0502020204030204" pitchFamily="34" charset="0"/>
                <a:cs typeface="Calibri" panose="020F0502020204030204" pitchFamily="34" charset="0"/>
              </a:rPr>
              <a:t> ≠ </a:t>
            </a:r>
            <a:r>
              <a:rPr lang="en-IN" sz="1500" b="1" i="0" dirty="0" err="1">
                <a:solidFill>
                  <a:schemeClr val="tx1"/>
                </a:solidFill>
                <a:effectLst/>
                <a:latin typeface="Calibri" panose="020F0502020204030204" pitchFamily="34" charset="0"/>
                <a:cs typeface="Calibri" panose="020F0502020204030204" pitchFamily="34" charset="0"/>
              </a:rPr>
              <a:t>Q</a:t>
            </a:r>
            <a:r>
              <a:rPr lang="en-IN" sz="1500" b="1" i="0" baseline="-25000" dirty="0" err="1">
                <a:solidFill>
                  <a:schemeClr val="tx1"/>
                </a:solidFill>
                <a:effectLst/>
                <a:latin typeface="Calibri" panose="020F0502020204030204" pitchFamily="34" charset="0"/>
                <a:cs typeface="Calibri" panose="020F0502020204030204" pitchFamily="34" charset="0"/>
              </a:rPr>
              <a:t>j</a:t>
            </a:r>
            <a:r>
              <a:rPr lang="en-IN" sz="1500" b="1" i="0" dirty="0">
                <a:solidFill>
                  <a:schemeClr val="tx1"/>
                </a:solidFill>
                <a:effectLst/>
                <a:latin typeface="Calibri" panose="020F0502020204030204" pitchFamily="34" charset="0"/>
                <a:cs typeface="Calibri" panose="020F0502020204030204" pitchFamily="34" charset="0"/>
              </a:rPr>
              <a:t>  ⇒ LCS [i, j] = max (LCS [i – 1 , j], LCS [i, j – 1])</a:t>
            </a:r>
          </a:p>
          <a:p>
            <a:pPr algn="l" fontAlgn="base">
              <a:spcBef>
                <a:spcPts val="600"/>
              </a:spcBef>
              <a:spcAft>
                <a:spcPts val="600"/>
              </a:spcAft>
            </a:pPr>
            <a:r>
              <a:rPr lang="en-IN" sz="1500" b="1" i="0" dirty="0">
                <a:solidFill>
                  <a:schemeClr val="tx1"/>
                </a:solidFill>
                <a:effectLst/>
                <a:latin typeface="Calibri" panose="020F0502020204030204" pitchFamily="34" charset="0"/>
                <a:cs typeface="Calibri" panose="020F0502020204030204" pitchFamily="34" charset="0"/>
              </a:rPr>
              <a:t>LCS [2, 3] = max(LCS[1, 3], LCS[2, 2]) =  max(1, 1) = 1</a:t>
            </a:r>
          </a:p>
          <a:p>
            <a:pPr algn="l" fontAlgn="base">
              <a:spcBef>
                <a:spcPts val="600"/>
              </a:spcBef>
              <a:spcAft>
                <a:spcPts val="600"/>
              </a:spcAft>
            </a:pPr>
            <a:endParaRPr lang="en-IN" sz="1500" b="1" i="0" dirty="0">
              <a:solidFill>
                <a:srgbClr val="FF0000"/>
              </a:solidFill>
              <a:effectLst/>
              <a:latin typeface="Calibri" panose="020F0502020204030204" pitchFamily="34" charset="0"/>
              <a:cs typeface="Calibri" panose="020F0502020204030204" pitchFamily="34" charset="0"/>
            </a:endParaRPr>
          </a:p>
          <a:p>
            <a:pPr algn="l" fontAlgn="base">
              <a:spcBef>
                <a:spcPts val="600"/>
              </a:spcBef>
              <a:spcAft>
                <a:spcPts val="600"/>
              </a:spcAft>
            </a:pPr>
            <a:r>
              <a:rPr lang="en-IN" sz="1500" b="1" i="0" dirty="0">
                <a:solidFill>
                  <a:srgbClr val="FF0000"/>
                </a:solidFill>
                <a:effectLst/>
                <a:latin typeface="Calibri" panose="020F0502020204030204" pitchFamily="34" charset="0"/>
                <a:cs typeface="Calibri" panose="020F0502020204030204" pitchFamily="34" charset="0"/>
              </a:rPr>
              <a:t>LCS [2, 4] </a:t>
            </a:r>
            <a:r>
              <a:rPr lang="en-IN" sz="1500" b="1" i="0" dirty="0">
                <a:solidFill>
                  <a:schemeClr val="tx1"/>
                </a:solidFill>
                <a:effectLst/>
                <a:latin typeface="Calibri" panose="020F0502020204030204" pitchFamily="34" charset="0"/>
                <a:cs typeface="Calibri" panose="020F0502020204030204" pitchFamily="34" charset="0"/>
              </a:rPr>
              <a:t>⇒ i = 2,   j = 4,   P</a:t>
            </a:r>
            <a:r>
              <a:rPr lang="en-IN" sz="1500" b="1" i="0" baseline="-25000" dirty="0">
                <a:solidFill>
                  <a:schemeClr val="tx1"/>
                </a:solidFill>
                <a:effectLst/>
                <a:latin typeface="Calibri" panose="020F0502020204030204" pitchFamily="34" charset="0"/>
                <a:cs typeface="Calibri" panose="020F0502020204030204" pitchFamily="34" charset="0"/>
              </a:rPr>
              <a:t>i</a:t>
            </a:r>
            <a:r>
              <a:rPr lang="en-IN" sz="1500" b="1" i="0" dirty="0">
                <a:solidFill>
                  <a:schemeClr val="tx1"/>
                </a:solidFill>
                <a:effectLst/>
                <a:latin typeface="Calibri" panose="020F0502020204030204" pitchFamily="34" charset="0"/>
                <a:cs typeface="Calibri" panose="020F0502020204030204" pitchFamily="34" charset="0"/>
              </a:rPr>
              <a:t> = L,   </a:t>
            </a:r>
            <a:r>
              <a:rPr lang="en-IN" sz="1500" b="1" i="0" dirty="0" err="1">
                <a:solidFill>
                  <a:schemeClr val="tx1"/>
                </a:solidFill>
                <a:effectLst/>
                <a:latin typeface="Calibri" panose="020F0502020204030204" pitchFamily="34" charset="0"/>
                <a:cs typeface="Calibri" panose="020F0502020204030204" pitchFamily="34" charset="0"/>
              </a:rPr>
              <a:t>Q</a:t>
            </a:r>
            <a:r>
              <a:rPr lang="en-IN" sz="1500" b="1" i="0" baseline="-25000" dirty="0" err="1">
                <a:solidFill>
                  <a:schemeClr val="tx1"/>
                </a:solidFill>
                <a:effectLst/>
                <a:latin typeface="Calibri" panose="020F0502020204030204" pitchFamily="34" charset="0"/>
                <a:cs typeface="Calibri" panose="020F0502020204030204" pitchFamily="34" charset="0"/>
              </a:rPr>
              <a:t>j</a:t>
            </a:r>
            <a:r>
              <a:rPr lang="en-IN" sz="1500" b="1" i="0" dirty="0">
                <a:solidFill>
                  <a:schemeClr val="tx1"/>
                </a:solidFill>
                <a:effectLst/>
                <a:latin typeface="Calibri" panose="020F0502020204030204" pitchFamily="34" charset="0"/>
                <a:cs typeface="Calibri" panose="020F0502020204030204" pitchFamily="34" charset="0"/>
              </a:rPr>
              <a:t> = M</a:t>
            </a:r>
          </a:p>
          <a:p>
            <a:pPr algn="l" fontAlgn="base">
              <a:spcBef>
                <a:spcPts val="600"/>
              </a:spcBef>
              <a:spcAft>
                <a:spcPts val="600"/>
              </a:spcAft>
            </a:pPr>
            <a:r>
              <a:rPr lang="en-IN" sz="1500" b="1" i="0" dirty="0">
                <a:solidFill>
                  <a:schemeClr val="tx1"/>
                </a:solidFill>
                <a:effectLst/>
                <a:latin typeface="Calibri" panose="020F0502020204030204" pitchFamily="34" charset="0"/>
                <a:cs typeface="Calibri" panose="020F0502020204030204" pitchFamily="34" charset="0"/>
              </a:rPr>
              <a:t>P</a:t>
            </a:r>
            <a:r>
              <a:rPr lang="en-IN" sz="1500" b="1" i="0" baseline="-25000" dirty="0">
                <a:solidFill>
                  <a:schemeClr val="tx1"/>
                </a:solidFill>
                <a:effectLst/>
                <a:latin typeface="Calibri" panose="020F0502020204030204" pitchFamily="34" charset="0"/>
                <a:cs typeface="Calibri" panose="020F0502020204030204" pitchFamily="34" charset="0"/>
              </a:rPr>
              <a:t>i</a:t>
            </a:r>
            <a:r>
              <a:rPr lang="en-IN" sz="1500" b="1" i="0" dirty="0">
                <a:solidFill>
                  <a:schemeClr val="tx1"/>
                </a:solidFill>
                <a:effectLst/>
                <a:latin typeface="Calibri" panose="020F0502020204030204" pitchFamily="34" charset="0"/>
                <a:cs typeface="Calibri" panose="020F0502020204030204" pitchFamily="34" charset="0"/>
              </a:rPr>
              <a:t> ≠ </a:t>
            </a:r>
            <a:r>
              <a:rPr lang="en-IN" sz="1500" b="1" i="0" dirty="0" err="1">
                <a:solidFill>
                  <a:schemeClr val="tx1"/>
                </a:solidFill>
                <a:effectLst/>
                <a:latin typeface="Calibri" panose="020F0502020204030204" pitchFamily="34" charset="0"/>
                <a:cs typeface="Calibri" panose="020F0502020204030204" pitchFamily="34" charset="0"/>
              </a:rPr>
              <a:t>Q</a:t>
            </a:r>
            <a:r>
              <a:rPr lang="en-IN" sz="1500" b="1" i="0" baseline="-25000" dirty="0" err="1">
                <a:solidFill>
                  <a:schemeClr val="tx1"/>
                </a:solidFill>
                <a:effectLst/>
                <a:latin typeface="Calibri" panose="020F0502020204030204" pitchFamily="34" charset="0"/>
                <a:cs typeface="Calibri" panose="020F0502020204030204" pitchFamily="34" charset="0"/>
              </a:rPr>
              <a:t>j</a:t>
            </a:r>
            <a:r>
              <a:rPr lang="en-IN" sz="1500" b="1" i="0" dirty="0">
                <a:solidFill>
                  <a:schemeClr val="tx1"/>
                </a:solidFill>
                <a:effectLst/>
                <a:latin typeface="Calibri" panose="020F0502020204030204" pitchFamily="34" charset="0"/>
                <a:cs typeface="Calibri" panose="020F0502020204030204" pitchFamily="34" charset="0"/>
              </a:rPr>
              <a:t>  ⇒ LCS [i, j] = max (LCS [i – 1 , j], LCS [i, j – 1])</a:t>
            </a:r>
          </a:p>
          <a:p>
            <a:pPr algn="l" fontAlgn="base">
              <a:spcBef>
                <a:spcPts val="600"/>
              </a:spcBef>
              <a:spcAft>
                <a:spcPts val="600"/>
              </a:spcAft>
            </a:pPr>
            <a:r>
              <a:rPr lang="en-IN" sz="1500" b="1" i="0" dirty="0">
                <a:solidFill>
                  <a:schemeClr val="tx1"/>
                </a:solidFill>
                <a:effectLst/>
                <a:latin typeface="Calibri" panose="020F0502020204030204" pitchFamily="34" charset="0"/>
                <a:cs typeface="Calibri" panose="020F0502020204030204" pitchFamily="34" charset="0"/>
              </a:rPr>
              <a:t>LCS [2, 4] = max (LCS [1, 4], LCS [2, 3]) = max (1, 1)  =  1</a:t>
            </a:r>
          </a:p>
        </p:txBody>
      </p:sp>
      <p:sp>
        <p:nvSpPr>
          <p:cNvPr id="12" name="TextBox 11">
            <a:extLst>
              <a:ext uri="{FF2B5EF4-FFF2-40B4-BE49-F238E27FC236}">
                <a16:creationId xmlns:a16="http://schemas.microsoft.com/office/drawing/2014/main" id="{04D3FBCC-26C9-0C44-CF33-5016A1F01586}"/>
              </a:ext>
            </a:extLst>
          </p:cNvPr>
          <p:cNvSpPr txBox="1"/>
          <p:nvPr/>
        </p:nvSpPr>
        <p:spPr>
          <a:xfrm>
            <a:off x="181707" y="797292"/>
            <a:ext cx="4958862" cy="461665"/>
          </a:xfrm>
          <a:prstGeom prst="rect">
            <a:avLst/>
          </a:prstGeom>
          <a:noFill/>
        </p:spPr>
        <p:txBody>
          <a:bodyPr wrap="square">
            <a:spAutoFit/>
          </a:bodyPr>
          <a:lstStyle/>
          <a:p>
            <a:pPr marL="0" marR="0" lvl="0" indent="0" algn="l" defTabSz="914400" rtl="0" eaLnBrk="1" fontAlgn="base" latinLnBrk="0" hangingPunct="1">
              <a:lnSpc>
                <a:spcPct val="100000"/>
              </a:lnSpc>
              <a:spcBef>
                <a:spcPts val="600"/>
              </a:spcBef>
              <a:spcAft>
                <a:spcPts val="0"/>
              </a:spcAft>
              <a:buClr>
                <a:srgbClr val="000000"/>
              </a:buClr>
              <a:buSzTx/>
              <a:buFont typeface="Arial"/>
              <a:buNone/>
              <a:tabLst/>
              <a:defRPr/>
            </a:pPr>
            <a:r>
              <a:rPr lang="en-IN" sz="2400" b="1" dirty="0">
                <a:solidFill>
                  <a:srgbClr val="0070C0"/>
                </a:solidFill>
                <a:latin typeface="Corbel" panose="020B0503020204020204" pitchFamily="34" charset="0"/>
              </a:rPr>
              <a:t>Computation for row 2 :</a:t>
            </a:r>
          </a:p>
        </p:txBody>
      </p:sp>
      <p:cxnSp>
        <p:nvCxnSpPr>
          <p:cNvPr id="14" name="Straight Connector 13">
            <a:extLst>
              <a:ext uri="{FF2B5EF4-FFF2-40B4-BE49-F238E27FC236}">
                <a16:creationId xmlns:a16="http://schemas.microsoft.com/office/drawing/2014/main" id="{1440D3EC-A32C-DD93-94D6-B1F34DC4D6C9}"/>
              </a:ext>
            </a:extLst>
          </p:cNvPr>
          <p:cNvCxnSpPr/>
          <p:nvPr/>
        </p:nvCxnSpPr>
        <p:spPr>
          <a:xfrm>
            <a:off x="4571975" y="1028124"/>
            <a:ext cx="21652" cy="3836953"/>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739589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38" y="32971"/>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B7988613-0B71-C4D5-068C-6D1E42D490CE}"/>
              </a:ext>
            </a:extLst>
          </p:cNvPr>
          <p:cNvSpPr txBox="1"/>
          <p:nvPr/>
        </p:nvSpPr>
        <p:spPr>
          <a:xfrm>
            <a:off x="181707" y="148588"/>
            <a:ext cx="4654062" cy="477054"/>
          </a:xfrm>
          <a:prstGeom prst="rect">
            <a:avLst/>
          </a:prstGeom>
          <a:noFill/>
        </p:spPr>
        <p:txBody>
          <a:bodyPr wrap="square">
            <a:spAutoFit/>
          </a:bodyPr>
          <a:lstStyle/>
          <a:p>
            <a:r>
              <a:rPr kumimoji="0" lang="en-US" sz="2500" b="1" i="0" u="none" strike="noStrike" kern="1200" cap="none" spc="0" normalizeH="0" baseline="0" noProof="0" dirty="0">
                <a:ln>
                  <a:noFill/>
                </a:ln>
                <a:solidFill>
                  <a:prstClr val="black"/>
                </a:solidFill>
                <a:effectLst/>
                <a:uLnTx/>
                <a:uFillTx/>
                <a:latin typeface="Corbel" panose="020B0503020204020204" pitchFamily="34" charset="0"/>
              </a:rPr>
              <a:t>LCS- Example </a:t>
            </a:r>
            <a:endParaRPr lang="en-IN" dirty="0"/>
          </a:p>
        </p:txBody>
      </p:sp>
      <p:sp>
        <p:nvSpPr>
          <p:cNvPr id="6" name="TextBox 5">
            <a:extLst>
              <a:ext uri="{FF2B5EF4-FFF2-40B4-BE49-F238E27FC236}">
                <a16:creationId xmlns:a16="http://schemas.microsoft.com/office/drawing/2014/main" id="{E4D3D03E-D73A-BCEA-D371-4BA9C61D1C46}"/>
              </a:ext>
            </a:extLst>
          </p:cNvPr>
          <p:cNvSpPr txBox="1"/>
          <p:nvPr/>
        </p:nvSpPr>
        <p:spPr>
          <a:xfrm>
            <a:off x="181707" y="1453410"/>
            <a:ext cx="4191001" cy="2893100"/>
          </a:xfrm>
          <a:prstGeom prst="rect">
            <a:avLst/>
          </a:prstGeom>
          <a:noFill/>
        </p:spPr>
        <p:txBody>
          <a:bodyPr wrap="square">
            <a:spAutoFit/>
          </a:bodyPr>
          <a:lstStyle/>
          <a:p>
            <a:pPr algn="l" fontAlgn="base">
              <a:spcBef>
                <a:spcPts val="600"/>
              </a:spcBef>
              <a:spcAft>
                <a:spcPts val="600"/>
              </a:spcAft>
            </a:pPr>
            <a:r>
              <a:rPr lang="en-IN" b="1" i="0" dirty="0">
                <a:solidFill>
                  <a:srgbClr val="FF0000"/>
                </a:solidFill>
                <a:effectLst/>
                <a:latin typeface="Calibri" panose="020F0502020204030204" pitchFamily="34" charset="0"/>
                <a:cs typeface="Calibri" panose="020F0502020204030204" pitchFamily="34" charset="0"/>
              </a:rPr>
              <a:t>LCS [3, 1] ⇒</a:t>
            </a:r>
            <a:r>
              <a:rPr lang="en-IN" b="1" i="0" dirty="0">
                <a:solidFill>
                  <a:schemeClr val="tx1"/>
                </a:solidFill>
                <a:effectLst/>
                <a:latin typeface="Calibri" panose="020F0502020204030204" pitchFamily="34" charset="0"/>
                <a:cs typeface="Calibri" panose="020F0502020204030204" pitchFamily="34" charset="0"/>
              </a:rPr>
              <a:t> i = 3, j = 1, P</a:t>
            </a:r>
            <a:r>
              <a:rPr lang="en-IN" b="1" i="0" baseline="-25000" dirty="0">
                <a:solidFill>
                  <a:schemeClr val="tx1"/>
                </a:solidFill>
                <a:effectLst/>
                <a:latin typeface="Calibri" panose="020F0502020204030204" pitchFamily="34" charset="0"/>
                <a:cs typeface="Calibri" panose="020F0502020204030204" pitchFamily="34" charset="0"/>
              </a:rPr>
              <a:t>i</a:t>
            </a:r>
            <a:r>
              <a:rPr lang="en-IN" b="1" i="0" dirty="0">
                <a:solidFill>
                  <a:schemeClr val="tx1"/>
                </a:solidFill>
                <a:effectLst/>
                <a:latin typeface="Calibri" panose="020F0502020204030204" pitchFamily="34" charset="0"/>
                <a:cs typeface="Calibri" panose="020F0502020204030204" pitchFamily="34" charset="0"/>
              </a:rPr>
              <a:t> = N, </a:t>
            </a:r>
            <a:r>
              <a:rPr lang="en-IN" b="1" i="0" dirty="0" err="1">
                <a:solidFill>
                  <a:schemeClr val="tx1"/>
                </a:solidFill>
                <a:effectLst/>
                <a:latin typeface="Calibri" panose="020F0502020204030204" pitchFamily="34" charset="0"/>
                <a:cs typeface="Calibri" panose="020F0502020204030204" pitchFamily="34" charset="0"/>
              </a:rPr>
              <a:t>Q</a:t>
            </a:r>
            <a:r>
              <a:rPr lang="en-IN" b="1" i="0" baseline="-25000" dirty="0" err="1">
                <a:solidFill>
                  <a:schemeClr val="tx1"/>
                </a:solidFill>
                <a:effectLst/>
                <a:latin typeface="Calibri" panose="020F0502020204030204" pitchFamily="34" charset="0"/>
                <a:cs typeface="Calibri" panose="020F0502020204030204" pitchFamily="34" charset="0"/>
              </a:rPr>
              <a:t>j</a:t>
            </a:r>
            <a:r>
              <a:rPr lang="en-IN" b="1" i="0" dirty="0">
                <a:solidFill>
                  <a:schemeClr val="tx1"/>
                </a:solidFill>
                <a:effectLst/>
                <a:latin typeface="Calibri" panose="020F0502020204030204" pitchFamily="34" charset="0"/>
                <a:cs typeface="Calibri" panose="020F0502020204030204" pitchFamily="34" charset="0"/>
              </a:rPr>
              <a:t> = M</a:t>
            </a:r>
          </a:p>
          <a:p>
            <a:pPr algn="l" fontAlgn="base">
              <a:spcBef>
                <a:spcPts val="600"/>
              </a:spcBef>
              <a:spcAft>
                <a:spcPts val="600"/>
              </a:spcAft>
            </a:pPr>
            <a:r>
              <a:rPr lang="en-IN" b="1" i="0" dirty="0">
                <a:solidFill>
                  <a:schemeClr val="tx1"/>
                </a:solidFill>
                <a:effectLst/>
                <a:latin typeface="Calibri" panose="020F0502020204030204" pitchFamily="34" charset="0"/>
                <a:cs typeface="Calibri" panose="020F0502020204030204" pitchFamily="34" charset="0"/>
              </a:rPr>
              <a:t>P</a:t>
            </a:r>
            <a:r>
              <a:rPr lang="en-IN" b="1" i="0" baseline="-25000" dirty="0">
                <a:solidFill>
                  <a:schemeClr val="tx1"/>
                </a:solidFill>
                <a:effectLst/>
                <a:latin typeface="Calibri" panose="020F0502020204030204" pitchFamily="34" charset="0"/>
                <a:cs typeface="Calibri" panose="020F0502020204030204" pitchFamily="34" charset="0"/>
              </a:rPr>
              <a:t>i</a:t>
            </a:r>
            <a:r>
              <a:rPr lang="en-IN" b="1" i="0" dirty="0">
                <a:solidFill>
                  <a:schemeClr val="tx1"/>
                </a:solidFill>
                <a:effectLst/>
                <a:latin typeface="Calibri" panose="020F0502020204030204" pitchFamily="34" charset="0"/>
                <a:cs typeface="Calibri" panose="020F0502020204030204" pitchFamily="34" charset="0"/>
              </a:rPr>
              <a:t> ≠ </a:t>
            </a:r>
            <a:r>
              <a:rPr lang="en-IN" b="1" i="0" dirty="0" err="1">
                <a:solidFill>
                  <a:schemeClr val="tx1"/>
                </a:solidFill>
                <a:effectLst/>
                <a:latin typeface="Calibri" panose="020F0502020204030204" pitchFamily="34" charset="0"/>
                <a:cs typeface="Calibri" panose="020F0502020204030204" pitchFamily="34" charset="0"/>
              </a:rPr>
              <a:t>Q</a:t>
            </a:r>
            <a:r>
              <a:rPr lang="en-IN" b="1" i="0" baseline="-25000" dirty="0" err="1">
                <a:solidFill>
                  <a:schemeClr val="tx1"/>
                </a:solidFill>
                <a:effectLst/>
                <a:latin typeface="Calibri" panose="020F0502020204030204" pitchFamily="34" charset="0"/>
                <a:cs typeface="Calibri" panose="020F0502020204030204" pitchFamily="34" charset="0"/>
              </a:rPr>
              <a:t>j</a:t>
            </a:r>
            <a:r>
              <a:rPr lang="en-IN" b="1" i="0" dirty="0">
                <a:solidFill>
                  <a:schemeClr val="tx1"/>
                </a:solidFill>
                <a:effectLst/>
                <a:latin typeface="Calibri" panose="020F0502020204030204" pitchFamily="34" charset="0"/>
                <a:cs typeface="Calibri" panose="020F0502020204030204" pitchFamily="34" charset="0"/>
              </a:rPr>
              <a:t> ⇒ LCS [i, j] = max (LCS [i – 1 , j], LCS [i, j – 1])</a:t>
            </a:r>
          </a:p>
          <a:p>
            <a:pPr algn="l" fontAlgn="base">
              <a:spcBef>
                <a:spcPts val="600"/>
              </a:spcBef>
              <a:spcAft>
                <a:spcPts val="600"/>
              </a:spcAft>
            </a:pPr>
            <a:r>
              <a:rPr lang="en-IN" b="1" i="0" dirty="0">
                <a:solidFill>
                  <a:schemeClr val="tx1"/>
                </a:solidFill>
                <a:effectLst/>
                <a:latin typeface="Calibri" panose="020F0502020204030204" pitchFamily="34" charset="0"/>
                <a:cs typeface="Calibri" panose="020F0502020204030204" pitchFamily="34" charset="0"/>
              </a:rPr>
              <a:t>LCS [3, 1] = max (LCS [2, 1], LCS [3, 0]) = max (1, 0)  =  1</a:t>
            </a:r>
          </a:p>
          <a:p>
            <a:pPr algn="l" fontAlgn="base">
              <a:spcBef>
                <a:spcPts val="600"/>
              </a:spcBef>
              <a:spcAft>
                <a:spcPts val="600"/>
              </a:spcAft>
            </a:pPr>
            <a:endParaRPr lang="en-IN" b="1" i="0" dirty="0">
              <a:solidFill>
                <a:srgbClr val="FF0000"/>
              </a:solidFill>
              <a:effectLst/>
              <a:latin typeface="Calibri" panose="020F0502020204030204" pitchFamily="34" charset="0"/>
              <a:cs typeface="Calibri" panose="020F0502020204030204" pitchFamily="34" charset="0"/>
            </a:endParaRPr>
          </a:p>
          <a:p>
            <a:pPr algn="l" fontAlgn="base">
              <a:spcBef>
                <a:spcPts val="600"/>
              </a:spcBef>
              <a:spcAft>
                <a:spcPts val="600"/>
              </a:spcAft>
            </a:pPr>
            <a:r>
              <a:rPr lang="en-IN" b="1" i="0" dirty="0">
                <a:solidFill>
                  <a:srgbClr val="FF0000"/>
                </a:solidFill>
                <a:effectLst/>
                <a:latin typeface="Calibri" panose="020F0502020204030204" pitchFamily="34" charset="0"/>
                <a:cs typeface="Calibri" panose="020F0502020204030204" pitchFamily="34" charset="0"/>
              </a:rPr>
              <a:t>LCS [3, 2] ⇒ </a:t>
            </a:r>
            <a:r>
              <a:rPr lang="en-IN" b="1" i="0" dirty="0">
                <a:solidFill>
                  <a:schemeClr val="tx1"/>
                </a:solidFill>
                <a:effectLst/>
                <a:latin typeface="Calibri" panose="020F0502020204030204" pitchFamily="34" charset="0"/>
                <a:cs typeface="Calibri" panose="020F0502020204030204" pitchFamily="34" charset="0"/>
              </a:rPr>
              <a:t>i = 3, j = 2, P</a:t>
            </a:r>
            <a:r>
              <a:rPr lang="en-IN" b="1" i="0" baseline="-25000" dirty="0">
                <a:solidFill>
                  <a:schemeClr val="tx1"/>
                </a:solidFill>
                <a:effectLst/>
                <a:latin typeface="Calibri" panose="020F0502020204030204" pitchFamily="34" charset="0"/>
                <a:cs typeface="Calibri" panose="020F0502020204030204" pitchFamily="34" charset="0"/>
              </a:rPr>
              <a:t>i</a:t>
            </a:r>
            <a:r>
              <a:rPr lang="en-IN" b="1" i="0" dirty="0">
                <a:solidFill>
                  <a:schemeClr val="tx1"/>
                </a:solidFill>
                <a:effectLst/>
                <a:latin typeface="Calibri" panose="020F0502020204030204" pitchFamily="34" charset="0"/>
                <a:cs typeface="Calibri" panose="020F0502020204030204" pitchFamily="34" charset="0"/>
              </a:rPr>
              <a:t> = N, </a:t>
            </a:r>
            <a:r>
              <a:rPr lang="en-IN" b="1" i="0" dirty="0" err="1">
                <a:solidFill>
                  <a:schemeClr val="tx1"/>
                </a:solidFill>
                <a:effectLst/>
                <a:latin typeface="Calibri" panose="020F0502020204030204" pitchFamily="34" charset="0"/>
                <a:cs typeface="Calibri" panose="020F0502020204030204" pitchFamily="34" charset="0"/>
              </a:rPr>
              <a:t>Q</a:t>
            </a:r>
            <a:r>
              <a:rPr lang="en-IN" b="1" i="0" baseline="-25000" dirty="0" err="1">
                <a:solidFill>
                  <a:schemeClr val="tx1"/>
                </a:solidFill>
                <a:effectLst/>
                <a:latin typeface="Calibri" panose="020F0502020204030204" pitchFamily="34" charset="0"/>
                <a:cs typeface="Calibri" panose="020F0502020204030204" pitchFamily="34" charset="0"/>
              </a:rPr>
              <a:t>j</a:t>
            </a:r>
            <a:r>
              <a:rPr lang="en-IN" b="1" i="0" dirty="0">
                <a:solidFill>
                  <a:schemeClr val="tx1"/>
                </a:solidFill>
                <a:effectLst/>
                <a:latin typeface="Calibri" panose="020F0502020204030204" pitchFamily="34" charset="0"/>
                <a:cs typeface="Calibri" panose="020F0502020204030204" pitchFamily="34" charset="0"/>
              </a:rPr>
              <a:t> = N</a:t>
            </a:r>
          </a:p>
          <a:p>
            <a:pPr algn="l" fontAlgn="base">
              <a:spcBef>
                <a:spcPts val="600"/>
              </a:spcBef>
              <a:spcAft>
                <a:spcPts val="600"/>
              </a:spcAft>
            </a:pPr>
            <a:r>
              <a:rPr lang="en-IN" b="1" i="0" dirty="0">
                <a:solidFill>
                  <a:schemeClr val="tx1"/>
                </a:solidFill>
                <a:effectLst/>
                <a:latin typeface="Calibri" panose="020F0502020204030204" pitchFamily="34" charset="0"/>
                <a:cs typeface="Calibri" panose="020F0502020204030204" pitchFamily="34" charset="0"/>
              </a:rPr>
              <a:t>P</a:t>
            </a:r>
            <a:r>
              <a:rPr lang="en-IN" b="1" i="0" baseline="-25000" dirty="0">
                <a:solidFill>
                  <a:schemeClr val="tx1"/>
                </a:solidFill>
                <a:effectLst/>
                <a:latin typeface="Calibri" panose="020F0502020204030204" pitchFamily="34" charset="0"/>
                <a:cs typeface="Calibri" panose="020F0502020204030204" pitchFamily="34" charset="0"/>
              </a:rPr>
              <a:t>i</a:t>
            </a:r>
            <a:r>
              <a:rPr lang="en-IN" b="1" i="0" dirty="0">
                <a:solidFill>
                  <a:schemeClr val="tx1"/>
                </a:solidFill>
                <a:effectLst/>
                <a:latin typeface="Calibri" panose="020F0502020204030204" pitchFamily="34" charset="0"/>
                <a:cs typeface="Calibri" panose="020F0502020204030204" pitchFamily="34" charset="0"/>
              </a:rPr>
              <a:t> = </a:t>
            </a:r>
            <a:r>
              <a:rPr lang="en-IN" b="1" i="0" dirty="0" err="1">
                <a:solidFill>
                  <a:schemeClr val="tx1"/>
                </a:solidFill>
                <a:effectLst/>
                <a:latin typeface="Calibri" panose="020F0502020204030204" pitchFamily="34" charset="0"/>
                <a:cs typeface="Calibri" panose="020F0502020204030204" pitchFamily="34" charset="0"/>
              </a:rPr>
              <a:t>Q</a:t>
            </a:r>
            <a:r>
              <a:rPr lang="en-IN" b="1" i="0" baseline="-25000" dirty="0" err="1">
                <a:solidFill>
                  <a:schemeClr val="tx1"/>
                </a:solidFill>
                <a:effectLst/>
                <a:latin typeface="Calibri" panose="020F0502020204030204" pitchFamily="34" charset="0"/>
                <a:cs typeface="Calibri" panose="020F0502020204030204" pitchFamily="34" charset="0"/>
              </a:rPr>
              <a:t>j</a:t>
            </a:r>
            <a:r>
              <a:rPr lang="en-IN" b="1" i="0" dirty="0">
                <a:solidFill>
                  <a:schemeClr val="tx1"/>
                </a:solidFill>
                <a:effectLst/>
                <a:latin typeface="Calibri" panose="020F0502020204030204" pitchFamily="34" charset="0"/>
                <a:cs typeface="Calibri" panose="020F0502020204030204" pitchFamily="34" charset="0"/>
              </a:rPr>
              <a:t> ⇒ LCS [i, j] = 1 + LCS[i – 1, j – 1]</a:t>
            </a:r>
          </a:p>
          <a:p>
            <a:pPr algn="l" fontAlgn="base">
              <a:spcBef>
                <a:spcPts val="600"/>
              </a:spcBef>
              <a:spcAft>
                <a:spcPts val="600"/>
              </a:spcAft>
            </a:pPr>
            <a:r>
              <a:rPr lang="en-IN" b="1" i="0" dirty="0">
                <a:solidFill>
                  <a:schemeClr val="tx1"/>
                </a:solidFill>
                <a:effectLst/>
                <a:latin typeface="Calibri" panose="020F0502020204030204" pitchFamily="34" charset="0"/>
                <a:cs typeface="Calibri" panose="020F0502020204030204" pitchFamily="34" charset="0"/>
              </a:rPr>
              <a:t>LCS [3, 2] = 1 + LCS[2, 1] = 1 + 1  =  2</a:t>
            </a:r>
          </a:p>
          <a:p>
            <a:pPr algn="l" fontAlgn="base">
              <a:spcBef>
                <a:spcPts val="600"/>
              </a:spcBef>
              <a:spcAft>
                <a:spcPts val="600"/>
              </a:spcAft>
            </a:pPr>
            <a:endParaRPr lang="en-IN" b="1" i="0" dirty="0">
              <a:solidFill>
                <a:schemeClr val="tx1"/>
              </a:solidFill>
              <a:effectLst/>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8B65DFB0-B16D-26B6-2642-2E41840F4510}"/>
              </a:ext>
            </a:extLst>
          </p:cNvPr>
          <p:cNvSpPr txBox="1"/>
          <p:nvPr/>
        </p:nvSpPr>
        <p:spPr>
          <a:xfrm>
            <a:off x="4571975" y="1494519"/>
            <a:ext cx="4654062" cy="2523768"/>
          </a:xfrm>
          <a:prstGeom prst="rect">
            <a:avLst/>
          </a:prstGeom>
          <a:noFill/>
        </p:spPr>
        <p:txBody>
          <a:bodyPr wrap="square">
            <a:spAutoFit/>
          </a:bodyPr>
          <a:lstStyle/>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sym typeface="Arial"/>
              </a:rPr>
              <a:t>LCS [3, 3]  </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i = 3, j = 3, P</a:t>
            </a:r>
            <a:r>
              <a:rPr kumimoji="0" lang="en-IN" sz="1400" b="1" i="0" u="none" strike="noStrike" kern="0" cap="none" spc="0" normalizeH="0" baseline="-25000" noProof="0" dirty="0">
                <a:ln>
                  <a:noFill/>
                </a:ln>
                <a:solidFill>
                  <a:srgbClr val="000000"/>
                </a:solidFill>
                <a:effectLst/>
                <a:uLnTx/>
                <a:uFillTx/>
                <a:latin typeface="Calibri" panose="020F0502020204030204" pitchFamily="34" charset="0"/>
                <a:cs typeface="Calibri" panose="020F0502020204030204" pitchFamily="34" charset="0"/>
                <a:sym typeface="Arial"/>
              </a:rPr>
              <a:t>i</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N, </a:t>
            </a:r>
            <a:r>
              <a:rPr kumimoji="0" lang="en-IN" sz="14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Q</a:t>
            </a:r>
            <a:r>
              <a:rPr kumimoji="0" lang="en-IN" sz="1400" b="1" i="0" u="none" strike="noStrike" kern="0" cap="none" spc="0" normalizeH="0" baseline="-25000" noProof="0" dirty="0" err="1">
                <a:ln>
                  <a:noFill/>
                </a:ln>
                <a:solidFill>
                  <a:srgbClr val="000000"/>
                </a:solidFill>
                <a:effectLst/>
                <a:uLnTx/>
                <a:uFillTx/>
                <a:latin typeface="Calibri" panose="020F0502020204030204" pitchFamily="34" charset="0"/>
                <a:cs typeface="Calibri" panose="020F0502020204030204" pitchFamily="34" charset="0"/>
                <a:sym typeface="Arial"/>
              </a:rPr>
              <a:t>j</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O</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P</a:t>
            </a:r>
            <a:r>
              <a:rPr kumimoji="0" lang="en-IN" sz="1400" b="1" i="0" u="none" strike="noStrike" kern="0" cap="none" spc="0" normalizeH="0" baseline="-25000" noProof="0" dirty="0">
                <a:ln>
                  <a:noFill/>
                </a:ln>
                <a:solidFill>
                  <a:srgbClr val="000000"/>
                </a:solidFill>
                <a:effectLst/>
                <a:uLnTx/>
                <a:uFillTx/>
                <a:latin typeface="Calibri" panose="020F0502020204030204" pitchFamily="34" charset="0"/>
                <a:cs typeface="Calibri" panose="020F0502020204030204" pitchFamily="34" charset="0"/>
                <a:sym typeface="Arial"/>
              </a:rPr>
              <a:t>i</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a:t>
            </a:r>
            <a:r>
              <a:rPr kumimoji="0" lang="en-IN" sz="14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Q</a:t>
            </a:r>
            <a:r>
              <a:rPr kumimoji="0" lang="en-IN" sz="1400" b="1" i="0" u="none" strike="noStrike" kern="0" cap="none" spc="0" normalizeH="0" baseline="-25000" noProof="0" dirty="0" err="1">
                <a:ln>
                  <a:noFill/>
                </a:ln>
                <a:solidFill>
                  <a:srgbClr val="000000"/>
                </a:solidFill>
                <a:effectLst/>
                <a:uLnTx/>
                <a:uFillTx/>
                <a:latin typeface="Calibri" panose="020F0502020204030204" pitchFamily="34" charset="0"/>
                <a:cs typeface="Calibri" panose="020F0502020204030204" pitchFamily="34" charset="0"/>
                <a:sym typeface="Arial"/>
              </a:rPr>
              <a:t>j</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LCS [i, j] = max (LCS [i – 1 , j], LCS [i, j – 1])</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LCS [3, 3] = max(LCS[2, 3], LCS[3, 2]) = max(1, 2) = 2</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endParaRPr kumimoji="0" lang="en-IN" sz="1400" b="1"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sym typeface="Arial"/>
              </a:rPr>
              <a:t>LCS [3, 4]  </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i = 3, j = 4, P</a:t>
            </a:r>
            <a:r>
              <a:rPr kumimoji="0" lang="en-IN" sz="1400" b="1" i="0" u="none" strike="noStrike" kern="0" cap="none" spc="0" normalizeH="0" baseline="-25000" noProof="0" dirty="0">
                <a:ln>
                  <a:noFill/>
                </a:ln>
                <a:solidFill>
                  <a:srgbClr val="000000"/>
                </a:solidFill>
                <a:effectLst/>
                <a:uLnTx/>
                <a:uFillTx/>
                <a:latin typeface="Calibri" panose="020F0502020204030204" pitchFamily="34" charset="0"/>
                <a:cs typeface="Calibri" panose="020F0502020204030204" pitchFamily="34" charset="0"/>
                <a:sym typeface="Arial"/>
              </a:rPr>
              <a:t>i</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N, </a:t>
            </a:r>
            <a:r>
              <a:rPr kumimoji="0" lang="en-IN" sz="14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Q</a:t>
            </a:r>
            <a:r>
              <a:rPr kumimoji="0" lang="en-IN" sz="1400" b="1" i="0" u="none" strike="noStrike" kern="0" cap="none" spc="0" normalizeH="0" baseline="-25000" noProof="0" dirty="0" err="1">
                <a:ln>
                  <a:noFill/>
                </a:ln>
                <a:solidFill>
                  <a:srgbClr val="000000"/>
                </a:solidFill>
                <a:effectLst/>
                <a:uLnTx/>
                <a:uFillTx/>
                <a:latin typeface="Calibri" panose="020F0502020204030204" pitchFamily="34" charset="0"/>
                <a:cs typeface="Calibri" panose="020F0502020204030204" pitchFamily="34" charset="0"/>
                <a:sym typeface="Arial"/>
              </a:rPr>
              <a:t>j</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M</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P</a:t>
            </a:r>
            <a:r>
              <a:rPr kumimoji="0" lang="en-IN" sz="1400" b="1" i="0" u="none" strike="noStrike" kern="0" cap="none" spc="0" normalizeH="0" baseline="-25000" noProof="0" dirty="0">
                <a:ln>
                  <a:noFill/>
                </a:ln>
                <a:solidFill>
                  <a:srgbClr val="000000"/>
                </a:solidFill>
                <a:effectLst/>
                <a:uLnTx/>
                <a:uFillTx/>
                <a:latin typeface="Calibri" panose="020F0502020204030204" pitchFamily="34" charset="0"/>
                <a:cs typeface="Calibri" panose="020F0502020204030204" pitchFamily="34" charset="0"/>
                <a:sym typeface="Arial"/>
              </a:rPr>
              <a:t>i</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a:t>
            </a:r>
            <a:r>
              <a:rPr kumimoji="0" lang="en-IN" sz="14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Q</a:t>
            </a:r>
            <a:r>
              <a:rPr kumimoji="0" lang="en-IN" sz="1400" b="1" i="0" u="none" strike="noStrike" kern="0" cap="none" spc="0" normalizeH="0" baseline="-25000" noProof="0" dirty="0" err="1">
                <a:ln>
                  <a:noFill/>
                </a:ln>
                <a:solidFill>
                  <a:srgbClr val="000000"/>
                </a:solidFill>
                <a:effectLst/>
                <a:uLnTx/>
                <a:uFillTx/>
                <a:latin typeface="Calibri" panose="020F0502020204030204" pitchFamily="34" charset="0"/>
                <a:cs typeface="Calibri" panose="020F0502020204030204" pitchFamily="34" charset="0"/>
                <a:sym typeface="Arial"/>
              </a:rPr>
              <a:t>j</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LCS [i, j]  = max (LCS [i – 1 , j], LCS [i, j – 1])</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LCS [3, 4] = max (LCS [2, 4], LCS [3, 3]) = max (1, 2)  =  2</a:t>
            </a:r>
            <a:endParaRPr lang="en-IN" dirty="0"/>
          </a:p>
        </p:txBody>
      </p:sp>
      <p:sp>
        <p:nvSpPr>
          <p:cNvPr id="10" name="TextBox 9">
            <a:extLst>
              <a:ext uri="{FF2B5EF4-FFF2-40B4-BE49-F238E27FC236}">
                <a16:creationId xmlns:a16="http://schemas.microsoft.com/office/drawing/2014/main" id="{EB888FBA-B381-EE48-BA71-625389982691}"/>
              </a:ext>
            </a:extLst>
          </p:cNvPr>
          <p:cNvSpPr txBox="1"/>
          <p:nvPr/>
        </p:nvSpPr>
        <p:spPr>
          <a:xfrm>
            <a:off x="181707" y="766212"/>
            <a:ext cx="4654062" cy="461665"/>
          </a:xfrm>
          <a:prstGeom prst="rect">
            <a:avLst/>
          </a:prstGeom>
          <a:noFill/>
        </p:spPr>
        <p:txBody>
          <a:bodyPr wrap="square">
            <a:spAutoFit/>
          </a:bodyPr>
          <a:lstStyle/>
          <a:p>
            <a:pPr fontAlgn="base">
              <a:spcBef>
                <a:spcPts val="600"/>
              </a:spcBef>
              <a:defRPr/>
            </a:pPr>
            <a:r>
              <a:rPr lang="en-IN" sz="2400" b="1" dirty="0">
                <a:solidFill>
                  <a:srgbClr val="0070C0"/>
                </a:solidFill>
                <a:latin typeface="Corbel" panose="020B0503020204020204" pitchFamily="34" charset="0"/>
              </a:rPr>
              <a:t>Computation for row 3 :</a:t>
            </a:r>
          </a:p>
        </p:txBody>
      </p:sp>
      <p:cxnSp>
        <p:nvCxnSpPr>
          <p:cNvPr id="12" name="Straight Connector 11">
            <a:extLst>
              <a:ext uri="{FF2B5EF4-FFF2-40B4-BE49-F238E27FC236}">
                <a16:creationId xmlns:a16="http://schemas.microsoft.com/office/drawing/2014/main" id="{65C4FC77-EC0C-D186-4B75-B1AAF9094B64}"/>
              </a:ext>
            </a:extLst>
          </p:cNvPr>
          <p:cNvCxnSpPr/>
          <p:nvPr/>
        </p:nvCxnSpPr>
        <p:spPr>
          <a:xfrm>
            <a:off x="4372708" y="855785"/>
            <a:ext cx="0" cy="3739661"/>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9296292"/>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9525"/>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B7988613-0B71-C4D5-068C-6D1E42D490CE}"/>
              </a:ext>
            </a:extLst>
          </p:cNvPr>
          <p:cNvSpPr txBox="1"/>
          <p:nvPr/>
        </p:nvSpPr>
        <p:spPr>
          <a:xfrm>
            <a:off x="181707" y="148588"/>
            <a:ext cx="4654062" cy="477054"/>
          </a:xfrm>
          <a:prstGeom prst="rect">
            <a:avLst/>
          </a:prstGeom>
          <a:noFill/>
        </p:spPr>
        <p:txBody>
          <a:bodyPr wrap="square">
            <a:spAutoFit/>
          </a:bodyPr>
          <a:lstStyle/>
          <a:p>
            <a:r>
              <a:rPr kumimoji="0" lang="en-US" sz="2500" b="1" i="0" u="none" strike="noStrike" kern="1200" cap="none" spc="0" normalizeH="0" baseline="0" noProof="0" dirty="0">
                <a:ln>
                  <a:noFill/>
                </a:ln>
                <a:solidFill>
                  <a:prstClr val="black"/>
                </a:solidFill>
                <a:effectLst/>
                <a:uLnTx/>
                <a:uFillTx/>
                <a:latin typeface="Corbel" panose="020B0503020204020204" pitchFamily="34" charset="0"/>
              </a:rPr>
              <a:t>LCS- Example </a:t>
            </a:r>
            <a:endParaRPr lang="en-IN" dirty="0"/>
          </a:p>
        </p:txBody>
      </p:sp>
      <p:sp>
        <p:nvSpPr>
          <p:cNvPr id="6" name="TextBox 5">
            <a:extLst>
              <a:ext uri="{FF2B5EF4-FFF2-40B4-BE49-F238E27FC236}">
                <a16:creationId xmlns:a16="http://schemas.microsoft.com/office/drawing/2014/main" id="{7E21E716-C6CB-3571-3B49-607314680F24}"/>
              </a:ext>
            </a:extLst>
          </p:cNvPr>
          <p:cNvSpPr txBox="1"/>
          <p:nvPr/>
        </p:nvSpPr>
        <p:spPr>
          <a:xfrm>
            <a:off x="187570" y="1552871"/>
            <a:ext cx="4237112" cy="2523768"/>
          </a:xfrm>
          <a:prstGeom prst="rect">
            <a:avLst/>
          </a:prstGeom>
          <a:noFill/>
        </p:spPr>
        <p:txBody>
          <a:bodyPr wrap="square">
            <a:spAutoFit/>
          </a:bodyPr>
          <a:lstStyle/>
          <a:p>
            <a:pPr algn="l" fontAlgn="base">
              <a:spcBef>
                <a:spcPts val="600"/>
              </a:spcBef>
              <a:spcAft>
                <a:spcPts val="600"/>
              </a:spcAft>
            </a:pPr>
            <a:r>
              <a:rPr lang="en-IN" b="1" i="0" dirty="0">
                <a:solidFill>
                  <a:srgbClr val="FF0000"/>
                </a:solidFill>
                <a:effectLst/>
                <a:latin typeface="Calibri" panose="020F0502020204030204" pitchFamily="34" charset="0"/>
                <a:cs typeface="Calibri" panose="020F0502020204030204" pitchFamily="34" charset="0"/>
              </a:rPr>
              <a:t>LCS [4, 1] ⇒</a:t>
            </a:r>
            <a:r>
              <a:rPr lang="en-IN" b="1" i="0" dirty="0">
                <a:solidFill>
                  <a:schemeClr val="tx1"/>
                </a:solidFill>
                <a:effectLst/>
                <a:latin typeface="Calibri" panose="020F0502020204030204" pitchFamily="34" charset="0"/>
                <a:cs typeface="Calibri" panose="020F0502020204030204" pitchFamily="34" charset="0"/>
              </a:rPr>
              <a:t> i = 4, j = 1, P</a:t>
            </a:r>
            <a:r>
              <a:rPr lang="en-IN" b="1" i="0" baseline="-25000" dirty="0">
                <a:solidFill>
                  <a:schemeClr val="tx1"/>
                </a:solidFill>
                <a:effectLst/>
                <a:latin typeface="Calibri" panose="020F0502020204030204" pitchFamily="34" charset="0"/>
                <a:cs typeface="Calibri" panose="020F0502020204030204" pitchFamily="34" charset="0"/>
              </a:rPr>
              <a:t>i</a:t>
            </a:r>
            <a:r>
              <a:rPr lang="en-IN" b="1" i="0" dirty="0">
                <a:solidFill>
                  <a:schemeClr val="tx1"/>
                </a:solidFill>
                <a:effectLst/>
                <a:latin typeface="Calibri" panose="020F0502020204030204" pitchFamily="34" charset="0"/>
                <a:cs typeface="Calibri" panose="020F0502020204030204" pitchFamily="34" charset="0"/>
              </a:rPr>
              <a:t> = O, </a:t>
            </a:r>
            <a:r>
              <a:rPr lang="en-IN" b="1" i="0" dirty="0" err="1">
                <a:solidFill>
                  <a:schemeClr val="tx1"/>
                </a:solidFill>
                <a:effectLst/>
                <a:latin typeface="Calibri" panose="020F0502020204030204" pitchFamily="34" charset="0"/>
                <a:cs typeface="Calibri" panose="020F0502020204030204" pitchFamily="34" charset="0"/>
              </a:rPr>
              <a:t>Q</a:t>
            </a:r>
            <a:r>
              <a:rPr lang="en-IN" b="1" i="0" baseline="-25000" dirty="0" err="1">
                <a:solidFill>
                  <a:schemeClr val="tx1"/>
                </a:solidFill>
                <a:effectLst/>
                <a:latin typeface="Calibri" panose="020F0502020204030204" pitchFamily="34" charset="0"/>
                <a:cs typeface="Calibri" panose="020F0502020204030204" pitchFamily="34" charset="0"/>
              </a:rPr>
              <a:t>j</a:t>
            </a:r>
            <a:r>
              <a:rPr lang="en-IN" b="1" i="0" dirty="0">
                <a:solidFill>
                  <a:schemeClr val="tx1"/>
                </a:solidFill>
                <a:effectLst/>
                <a:latin typeface="Calibri" panose="020F0502020204030204" pitchFamily="34" charset="0"/>
                <a:cs typeface="Calibri" panose="020F0502020204030204" pitchFamily="34" charset="0"/>
              </a:rPr>
              <a:t> = M</a:t>
            </a:r>
          </a:p>
          <a:p>
            <a:pPr algn="l" fontAlgn="base">
              <a:spcBef>
                <a:spcPts val="600"/>
              </a:spcBef>
              <a:spcAft>
                <a:spcPts val="600"/>
              </a:spcAft>
            </a:pPr>
            <a:r>
              <a:rPr lang="en-IN" b="1" i="0" dirty="0">
                <a:solidFill>
                  <a:schemeClr val="tx1"/>
                </a:solidFill>
                <a:effectLst/>
                <a:latin typeface="Calibri" panose="020F0502020204030204" pitchFamily="34" charset="0"/>
                <a:cs typeface="Calibri" panose="020F0502020204030204" pitchFamily="34" charset="0"/>
              </a:rPr>
              <a:t>P</a:t>
            </a:r>
            <a:r>
              <a:rPr lang="en-IN" b="1" i="0" baseline="-25000" dirty="0">
                <a:solidFill>
                  <a:schemeClr val="tx1"/>
                </a:solidFill>
                <a:effectLst/>
                <a:latin typeface="Calibri" panose="020F0502020204030204" pitchFamily="34" charset="0"/>
                <a:cs typeface="Calibri" panose="020F0502020204030204" pitchFamily="34" charset="0"/>
              </a:rPr>
              <a:t>i</a:t>
            </a:r>
            <a:r>
              <a:rPr lang="en-IN" b="1" i="0" dirty="0">
                <a:solidFill>
                  <a:schemeClr val="tx1"/>
                </a:solidFill>
                <a:effectLst/>
                <a:latin typeface="Calibri" panose="020F0502020204030204" pitchFamily="34" charset="0"/>
                <a:cs typeface="Calibri" panose="020F0502020204030204" pitchFamily="34" charset="0"/>
              </a:rPr>
              <a:t> ≠ </a:t>
            </a:r>
            <a:r>
              <a:rPr lang="en-IN" b="1" i="0" dirty="0" err="1">
                <a:solidFill>
                  <a:schemeClr val="tx1"/>
                </a:solidFill>
                <a:effectLst/>
                <a:latin typeface="Calibri" panose="020F0502020204030204" pitchFamily="34" charset="0"/>
                <a:cs typeface="Calibri" panose="020F0502020204030204" pitchFamily="34" charset="0"/>
              </a:rPr>
              <a:t>Q</a:t>
            </a:r>
            <a:r>
              <a:rPr lang="en-IN" b="1" i="0" baseline="-25000" dirty="0" err="1">
                <a:solidFill>
                  <a:schemeClr val="tx1"/>
                </a:solidFill>
                <a:effectLst/>
                <a:latin typeface="Calibri" panose="020F0502020204030204" pitchFamily="34" charset="0"/>
                <a:cs typeface="Calibri" panose="020F0502020204030204" pitchFamily="34" charset="0"/>
              </a:rPr>
              <a:t>j</a:t>
            </a:r>
            <a:r>
              <a:rPr lang="en-IN" b="1" i="0" dirty="0">
                <a:solidFill>
                  <a:schemeClr val="tx1"/>
                </a:solidFill>
                <a:effectLst/>
                <a:latin typeface="Calibri" panose="020F0502020204030204" pitchFamily="34" charset="0"/>
                <a:cs typeface="Calibri" panose="020F0502020204030204" pitchFamily="34" charset="0"/>
              </a:rPr>
              <a:t> ⇒ LCS [i, j] = max (LCS [i – 1 , j], LCS [i, j – 1])</a:t>
            </a:r>
          </a:p>
          <a:p>
            <a:pPr algn="l" fontAlgn="base">
              <a:spcBef>
                <a:spcPts val="600"/>
              </a:spcBef>
              <a:spcAft>
                <a:spcPts val="600"/>
              </a:spcAft>
            </a:pPr>
            <a:r>
              <a:rPr lang="en-IN" b="1" i="0" dirty="0">
                <a:solidFill>
                  <a:schemeClr val="tx1"/>
                </a:solidFill>
                <a:effectLst/>
                <a:latin typeface="Calibri" panose="020F0502020204030204" pitchFamily="34" charset="0"/>
                <a:cs typeface="Calibri" panose="020F0502020204030204" pitchFamily="34" charset="0"/>
              </a:rPr>
              <a:t>LCS [4, 1] = max (LCS [3, 1], LCS [4, 0]) = max (1, 0)  =  1</a:t>
            </a:r>
          </a:p>
          <a:p>
            <a:pPr algn="l" fontAlgn="base">
              <a:spcBef>
                <a:spcPts val="600"/>
              </a:spcBef>
              <a:spcAft>
                <a:spcPts val="600"/>
              </a:spcAft>
            </a:pPr>
            <a:endParaRPr lang="en-IN" b="1" i="0" dirty="0">
              <a:solidFill>
                <a:srgbClr val="FF0000"/>
              </a:solidFill>
              <a:effectLst/>
              <a:latin typeface="Calibri" panose="020F0502020204030204" pitchFamily="34" charset="0"/>
              <a:cs typeface="Calibri" panose="020F0502020204030204" pitchFamily="34" charset="0"/>
            </a:endParaRPr>
          </a:p>
          <a:p>
            <a:pPr algn="l" fontAlgn="base">
              <a:spcBef>
                <a:spcPts val="600"/>
              </a:spcBef>
              <a:spcAft>
                <a:spcPts val="600"/>
              </a:spcAft>
            </a:pPr>
            <a:r>
              <a:rPr lang="en-IN" b="1" i="0" dirty="0">
                <a:solidFill>
                  <a:srgbClr val="FF0000"/>
                </a:solidFill>
                <a:effectLst/>
                <a:latin typeface="Calibri" panose="020F0502020204030204" pitchFamily="34" charset="0"/>
                <a:cs typeface="Calibri" panose="020F0502020204030204" pitchFamily="34" charset="0"/>
              </a:rPr>
              <a:t>LCS [4, 2] ⇒ </a:t>
            </a:r>
            <a:r>
              <a:rPr lang="en-IN" b="1" i="0" dirty="0">
                <a:solidFill>
                  <a:schemeClr val="tx1"/>
                </a:solidFill>
                <a:effectLst/>
                <a:latin typeface="Calibri" panose="020F0502020204030204" pitchFamily="34" charset="0"/>
                <a:cs typeface="Calibri" panose="020F0502020204030204" pitchFamily="34" charset="0"/>
              </a:rPr>
              <a:t>i = 4, j = 2, P</a:t>
            </a:r>
            <a:r>
              <a:rPr lang="en-IN" b="1" i="0" baseline="-25000" dirty="0">
                <a:solidFill>
                  <a:schemeClr val="tx1"/>
                </a:solidFill>
                <a:effectLst/>
                <a:latin typeface="Calibri" panose="020F0502020204030204" pitchFamily="34" charset="0"/>
                <a:cs typeface="Calibri" panose="020F0502020204030204" pitchFamily="34" charset="0"/>
              </a:rPr>
              <a:t>i</a:t>
            </a:r>
            <a:r>
              <a:rPr lang="en-IN" b="1" i="0" dirty="0">
                <a:solidFill>
                  <a:schemeClr val="tx1"/>
                </a:solidFill>
                <a:effectLst/>
                <a:latin typeface="Calibri" panose="020F0502020204030204" pitchFamily="34" charset="0"/>
                <a:cs typeface="Calibri" panose="020F0502020204030204" pitchFamily="34" charset="0"/>
              </a:rPr>
              <a:t> = O, </a:t>
            </a:r>
            <a:r>
              <a:rPr lang="en-IN" b="1" i="0" dirty="0" err="1">
                <a:solidFill>
                  <a:schemeClr val="tx1"/>
                </a:solidFill>
                <a:effectLst/>
                <a:latin typeface="Calibri" panose="020F0502020204030204" pitchFamily="34" charset="0"/>
                <a:cs typeface="Calibri" panose="020F0502020204030204" pitchFamily="34" charset="0"/>
              </a:rPr>
              <a:t>Q</a:t>
            </a:r>
            <a:r>
              <a:rPr lang="en-IN" b="1" i="0" baseline="-25000" dirty="0" err="1">
                <a:solidFill>
                  <a:schemeClr val="tx1"/>
                </a:solidFill>
                <a:effectLst/>
                <a:latin typeface="Calibri" panose="020F0502020204030204" pitchFamily="34" charset="0"/>
                <a:cs typeface="Calibri" panose="020F0502020204030204" pitchFamily="34" charset="0"/>
              </a:rPr>
              <a:t>j</a:t>
            </a:r>
            <a:r>
              <a:rPr lang="en-IN" b="1" i="0" dirty="0">
                <a:solidFill>
                  <a:schemeClr val="tx1"/>
                </a:solidFill>
                <a:effectLst/>
                <a:latin typeface="Calibri" panose="020F0502020204030204" pitchFamily="34" charset="0"/>
                <a:cs typeface="Calibri" panose="020F0502020204030204" pitchFamily="34" charset="0"/>
              </a:rPr>
              <a:t> = N</a:t>
            </a:r>
          </a:p>
          <a:p>
            <a:pPr algn="l" fontAlgn="base">
              <a:spcBef>
                <a:spcPts val="600"/>
              </a:spcBef>
              <a:spcAft>
                <a:spcPts val="600"/>
              </a:spcAft>
            </a:pPr>
            <a:r>
              <a:rPr lang="en-IN" b="1" i="0" dirty="0">
                <a:solidFill>
                  <a:schemeClr val="tx1"/>
                </a:solidFill>
                <a:effectLst/>
                <a:latin typeface="Calibri" panose="020F0502020204030204" pitchFamily="34" charset="0"/>
                <a:cs typeface="Calibri" panose="020F0502020204030204" pitchFamily="34" charset="0"/>
              </a:rPr>
              <a:t>P</a:t>
            </a:r>
            <a:r>
              <a:rPr lang="en-IN" b="1" i="0" baseline="-25000" dirty="0">
                <a:solidFill>
                  <a:schemeClr val="tx1"/>
                </a:solidFill>
                <a:effectLst/>
                <a:latin typeface="Calibri" panose="020F0502020204030204" pitchFamily="34" charset="0"/>
                <a:cs typeface="Calibri" panose="020F0502020204030204" pitchFamily="34" charset="0"/>
              </a:rPr>
              <a:t>i</a:t>
            </a:r>
            <a:r>
              <a:rPr lang="en-IN" b="1" i="0" dirty="0">
                <a:solidFill>
                  <a:schemeClr val="tx1"/>
                </a:solidFill>
                <a:effectLst/>
                <a:latin typeface="Calibri" panose="020F0502020204030204" pitchFamily="34" charset="0"/>
                <a:cs typeface="Calibri" panose="020F0502020204030204" pitchFamily="34" charset="0"/>
              </a:rPr>
              <a:t> ≠ </a:t>
            </a:r>
            <a:r>
              <a:rPr lang="en-IN" b="1" i="0" dirty="0" err="1">
                <a:solidFill>
                  <a:schemeClr val="tx1"/>
                </a:solidFill>
                <a:effectLst/>
                <a:latin typeface="Calibri" panose="020F0502020204030204" pitchFamily="34" charset="0"/>
                <a:cs typeface="Calibri" panose="020F0502020204030204" pitchFamily="34" charset="0"/>
              </a:rPr>
              <a:t>Q</a:t>
            </a:r>
            <a:r>
              <a:rPr lang="en-IN" b="1" i="0" baseline="-25000" dirty="0" err="1">
                <a:solidFill>
                  <a:schemeClr val="tx1"/>
                </a:solidFill>
                <a:effectLst/>
                <a:latin typeface="Calibri" panose="020F0502020204030204" pitchFamily="34" charset="0"/>
                <a:cs typeface="Calibri" panose="020F0502020204030204" pitchFamily="34" charset="0"/>
              </a:rPr>
              <a:t>j</a:t>
            </a:r>
            <a:r>
              <a:rPr lang="en-IN" b="1" i="0" dirty="0">
                <a:solidFill>
                  <a:schemeClr val="tx1"/>
                </a:solidFill>
                <a:effectLst/>
                <a:latin typeface="Calibri" panose="020F0502020204030204" pitchFamily="34" charset="0"/>
                <a:cs typeface="Calibri" panose="020F0502020204030204" pitchFamily="34" charset="0"/>
              </a:rPr>
              <a:t> ⇒ LCS [i, j] = max (LCS [i – 1 , j], LCS [i, j – 1])</a:t>
            </a:r>
          </a:p>
          <a:p>
            <a:pPr algn="l" fontAlgn="base">
              <a:spcBef>
                <a:spcPts val="600"/>
              </a:spcBef>
              <a:spcAft>
                <a:spcPts val="600"/>
              </a:spcAft>
            </a:pPr>
            <a:r>
              <a:rPr lang="en-IN" b="1" i="0" dirty="0">
                <a:solidFill>
                  <a:schemeClr val="tx1"/>
                </a:solidFill>
                <a:effectLst/>
                <a:latin typeface="Calibri" panose="020F0502020204030204" pitchFamily="34" charset="0"/>
                <a:cs typeface="Calibri" panose="020F0502020204030204" pitchFamily="34" charset="0"/>
              </a:rPr>
              <a:t>LCS [4, 2] = max (LCS [3, 2], LCS [4, 1]) = max (2, 1) =  2</a:t>
            </a:r>
          </a:p>
        </p:txBody>
      </p:sp>
      <p:sp>
        <p:nvSpPr>
          <p:cNvPr id="8" name="TextBox 7">
            <a:extLst>
              <a:ext uri="{FF2B5EF4-FFF2-40B4-BE49-F238E27FC236}">
                <a16:creationId xmlns:a16="http://schemas.microsoft.com/office/drawing/2014/main" id="{0EA67E5F-47A0-312F-906E-C66E0D041E16}"/>
              </a:ext>
            </a:extLst>
          </p:cNvPr>
          <p:cNvSpPr txBox="1"/>
          <p:nvPr/>
        </p:nvSpPr>
        <p:spPr>
          <a:xfrm>
            <a:off x="181707" y="764705"/>
            <a:ext cx="4648200" cy="461665"/>
          </a:xfrm>
          <a:prstGeom prst="rect">
            <a:avLst/>
          </a:prstGeom>
          <a:noFill/>
        </p:spPr>
        <p:txBody>
          <a:bodyPr wrap="square">
            <a:spAutoFit/>
          </a:bodyPr>
          <a:lstStyle/>
          <a:p>
            <a:pPr fontAlgn="base">
              <a:spcBef>
                <a:spcPts val="600"/>
              </a:spcBef>
              <a:defRPr/>
            </a:pPr>
            <a:r>
              <a:rPr lang="en-IN" sz="2400" b="1" dirty="0">
                <a:solidFill>
                  <a:srgbClr val="0070C0"/>
                </a:solidFill>
                <a:latin typeface="Corbel" panose="020B0503020204020204" pitchFamily="34" charset="0"/>
              </a:rPr>
              <a:t>Computation for row 4 :</a:t>
            </a:r>
          </a:p>
        </p:txBody>
      </p:sp>
      <p:sp>
        <p:nvSpPr>
          <p:cNvPr id="10" name="TextBox 9">
            <a:extLst>
              <a:ext uri="{FF2B5EF4-FFF2-40B4-BE49-F238E27FC236}">
                <a16:creationId xmlns:a16="http://schemas.microsoft.com/office/drawing/2014/main" id="{12DDC869-1545-D6E2-999C-E6BC0F695176}"/>
              </a:ext>
            </a:extLst>
          </p:cNvPr>
          <p:cNvSpPr txBox="1"/>
          <p:nvPr/>
        </p:nvSpPr>
        <p:spPr>
          <a:xfrm>
            <a:off x="4668716" y="1562374"/>
            <a:ext cx="4190159" cy="2523768"/>
          </a:xfrm>
          <a:prstGeom prst="rect">
            <a:avLst/>
          </a:prstGeom>
          <a:noFill/>
        </p:spPr>
        <p:txBody>
          <a:bodyPr wrap="square">
            <a:spAutoFit/>
          </a:bodyPr>
          <a:lstStyle/>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sym typeface="Arial"/>
              </a:rPr>
              <a:t>LCS [4, 3] ⇒ </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i = 4, j = 3, P</a:t>
            </a:r>
            <a:r>
              <a:rPr kumimoji="0" lang="en-IN" sz="1400" b="1" i="0" u="none" strike="noStrike" kern="0" cap="none" spc="0" normalizeH="0" baseline="-25000" noProof="0" dirty="0">
                <a:ln>
                  <a:noFill/>
                </a:ln>
                <a:solidFill>
                  <a:srgbClr val="000000"/>
                </a:solidFill>
                <a:effectLst/>
                <a:uLnTx/>
                <a:uFillTx/>
                <a:latin typeface="Calibri" panose="020F0502020204030204" pitchFamily="34" charset="0"/>
                <a:cs typeface="Calibri" panose="020F0502020204030204" pitchFamily="34" charset="0"/>
                <a:sym typeface="Arial"/>
              </a:rPr>
              <a:t>i</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O, </a:t>
            </a:r>
            <a:r>
              <a:rPr kumimoji="0" lang="en-IN" sz="14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Q</a:t>
            </a:r>
            <a:r>
              <a:rPr kumimoji="0" lang="en-IN" sz="1400" b="1" i="0" u="none" strike="noStrike" kern="0" cap="none" spc="0" normalizeH="0" baseline="-25000" noProof="0" dirty="0" err="1">
                <a:ln>
                  <a:noFill/>
                </a:ln>
                <a:solidFill>
                  <a:srgbClr val="000000"/>
                </a:solidFill>
                <a:effectLst/>
                <a:uLnTx/>
                <a:uFillTx/>
                <a:latin typeface="Calibri" panose="020F0502020204030204" pitchFamily="34" charset="0"/>
                <a:cs typeface="Calibri" panose="020F0502020204030204" pitchFamily="34" charset="0"/>
                <a:sym typeface="Arial"/>
              </a:rPr>
              <a:t>j</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O</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P</a:t>
            </a:r>
            <a:r>
              <a:rPr kumimoji="0" lang="en-IN" sz="1400" b="1" i="0" u="none" strike="noStrike" kern="0" cap="none" spc="0" normalizeH="0" baseline="-25000" noProof="0" dirty="0">
                <a:ln>
                  <a:noFill/>
                </a:ln>
                <a:solidFill>
                  <a:srgbClr val="000000"/>
                </a:solidFill>
                <a:effectLst/>
                <a:uLnTx/>
                <a:uFillTx/>
                <a:latin typeface="Calibri" panose="020F0502020204030204" pitchFamily="34" charset="0"/>
                <a:cs typeface="Calibri" panose="020F0502020204030204" pitchFamily="34" charset="0"/>
                <a:sym typeface="Arial"/>
              </a:rPr>
              <a:t>i</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a:t>
            </a:r>
            <a:r>
              <a:rPr kumimoji="0" lang="en-IN" sz="14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Q</a:t>
            </a:r>
            <a:r>
              <a:rPr kumimoji="0" lang="en-IN" sz="1400" b="1" i="0" u="none" strike="noStrike" kern="0" cap="none" spc="0" normalizeH="0" baseline="-25000" noProof="0" dirty="0" err="1">
                <a:ln>
                  <a:noFill/>
                </a:ln>
                <a:solidFill>
                  <a:srgbClr val="000000"/>
                </a:solidFill>
                <a:effectLst/>
                <a:uLnTx/>
                <a:uFillTx/>
                <a:latin typeface="Calibri" panose="020F0502020204030204" pitchFamily="34" charset="0"/>
                <a:cs typeface="Calibri" panose="020F0502020204030204" pitchFamily="34" charset="0"/>
                <a:sym typeface="Arial"/>
              </a:rPr>
              <a:t>j</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LCS [i, j] = 1 + LCS[i – 1, j – 1]</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LCS [4, 3] = 1 + LCS[3, 2] =  1 + 2 = 3</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endParaRPr kumimoji="0" lang="en-IN" sz="1400" b="1"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sym typeface="Arial"/>
              </a:rPr>
              <a:t>LCS [4, 4] ⇒ </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i = 4, j = 4, P</a:t>
            </a:r>
            <a:r>
              <a:rPr kumimoji="0" lang="en-IN" sz="1400" b="1" i="0" u="none" strike="noStrike" kern="0" cap="none" spc="0" normalizeH="0" baseline="-25000" noProof="0" dirty="0">
                <a:ln>
                  <a:noFill/>
                </a:ln>
                <a:solidFill>
                  <a:srgbClr val="000000"/>
                </a:solidFill>
                <a:effectLst/>
                <a:uLnTx/>
                <a:uFillTx/>
                <a:latin typeface="Calibri" panose="020F0502020204030204" pitchFamily="34" charset="0"/>
                <a:cs typeface="Calibri" panose="020F0502020204030204" pitchFamily="34" charset="0"/>
                <a:sym typeface="Arial"/>
              </a:rPr>
              <a:t>i</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O, </a:t>
            </a:r>
            <a:r>
              <a:rPr kumimoji="0" lang="en-IN" sz="14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Q</a:t>
            </a:r>
            <a:r>
              <a:rPr kumimoji="0" lang="en-IN" sz="1400" b="1" i="0" u="none" strike="noStrike" kern="0" cap="none" spc="0" normalizeH="0" baseline="-25000" noProof="0" dirty="0" err="1">
                <a:ln>
                  <a:noFill/>
                </a:ln>
                <a:solidFill>
                  <a:srgbClr val="000000"/>
                </a:solidFill>
                <a:effectLst/>
                <a:uLnTx/>
                <a:uFillTx/>
                <a:latin typeface="Calibri" panose="020F0502020204030204" pitchFamily="34" charset="0"/>
                <a:cs typeface="Calibri" panose="020F0502020204030204" pitchFamily="34" charset="0"/>
                <a:sym typeface="Arial"/>
              </a:rPr>
              <a:t>j</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M</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P</a:t>
            </a:r>
            <a:r>
              <a:rPr kumimoji="0" lang="en-IN" sz="1400" b="1" i="0" u="none" strike="noStrike" kern="0" cap="none" spc="0" normalizeH="0" baseline="-25000" noProof="0" dirty="0">
                <a:ln>
                  <a:noFill/>
                </a:ln>
                <a:solidFill>
                  <a:srgbClr val="000000"/>
                </a:solidFill>
                <a:effectLst/>
                <a:uLnTx/>
                <a:uFillTx/>
                <a:latin typeface="Calibri" panose="020F0502020204030204" pitchFamily="34" charset="0"/>
                <a:cs typeface="Calibri" panose="020F0502020204030204" pitchFamily="34" charset="0"/>
                <a:sym typeface="Arial"/>
              </a:rPr>
              <a:t>i</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a:t>
            </a:r>
            <a:r>
              <a:rPr kumimoji="0" lang="en-IN" sz="14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Q</a:t>
            </a:r>
            <a:r>
              <a:rPr kumimoji="0" lang="en-IN" sz="1400" b="1" i="0" u="none" strike="noStrike" kern="0" cap="none" spc="0" normalizeH="0" baseline="-25000" noProof="0" dirty="0" err="1">
                <a:ln>
                  <a:noFill/>
                </a:ln>
                <a:solidFill>
                  <a:srgbClr val="000000"/>
                </a:solidFill>
                <a:effectLst/>
                <a:uLnTx/>
                <a:uFillTx/>
                <a:latin typeface="Calibri" panose="020F0502020204030204" pitchFamily="34" charset="0"/>
                <a:cs typeface="Calibri" panose="020F0502020204030204" pitchFamily="34" charset="0"/>
                <a:sym typeface="Arial"/>
              </a:rPr>
              <a:t>j</a:t>
            </a: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 LCS [i, j] = max (LCS [i – 1 , j], LCS [i, j – 1])</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LCS [4, 4] = max (LCS [3, 4], LCS [4, 3]) = max (2, 3)  =  3</a:t>
            </a:r>
          </a:p>
        </p:txBody>
      </p:sp>
      <p:cxnSp>
        <p:nvCxnSpPr>
          <p:cNvPr id="12" name="Straight Connector 11">
            <a:extLst>
              <a:ext uri="{FF2B5EF4-FFF2-40B4-BE49-F238E27FC236}">
                <a16:creationId xmlns:a16="http://schemas.microsoft.com/office/drawing/2014/main" id="{CB6F719C-F0E7-4115-2285-94F3DFFFFBD5}"/>
              </a:ext>
            </a:extLst>
          </p:cNvPr>
          <p:cNvCxnSpPr/>
          <p:nvPr/>
        </p:nvCxnSpPr>
        <p:spPr>
          <a:xfrm>
            <a:off x="4546698" y="870212"/>
            <a:ext cx="0" cy="4030033"/>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365672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411537"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411537"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540783" cy="371475"/>
          </a:xfrm>
          <a:prstGeom prst="rect">
            <a:avLst/>
          </a:prstGeom>
          <a:noFill/>
          <a:ln>
            <a:noFill/>
          </a:ln>
        </p:spPr>
      </p:pic>
      <p:sp>
        <p:nvSpPr>
          <p:cNvPr id="3" name="TextBox 2">
            <a:extLst>
              <a:ext uri="{FF2B5EF4-FFF2-40B4-BE49-F238E27FC236}">
                <a16:creationId xmlns:a16="http://schemas.microsoft.com/office/drawing/2014/main" id="{B7988613-0B71-C4D5-068C-6D1E42D490CE}"/>
              </a:ext>
            </a:extLst>
          </p:cNvPr>
          <p:cNvSpPr txBox="1"/>
          <p:nvPr/>
        </p:nvSpPr>
        <p:spPr>
          <a:xfrm>
            <a:off x="181706" y="148588"/>
            <a:ext cx="4795227" cy="477054"/>
          </a:xfrm>
          <a:prstGeom prst="rect">
            <a:avLst/>
          </a:prstGeom>
          <a:noFill/>
        </p:spPr>
        <p:txBody>
          <a:bodyPr wrap="square">
            <a:spAutoFit/>
          </a:bodyPr>
          <a:lstStyle/>
          <a:p>
            <a:r>
              <a:rPr kumimoji="0" lang="en-US" sz="2500" b="1" i="0" u="none" strike="noStrike" kern="1200" cap="none" spc="0" normalizeH="0" baseline="0" noProof="0" dirty="0">
                <a:ln>
                  <a:noFill/>
                </a:ln>
                <a:solidFill>
                  <a:prstClr val="black"/>
                </a:solidFill>
                <a:effectLst/>
                <a:uLnTx/>
                <a:uFillTx/>
                <a:latin typeface="Trebuchet MS" panose="020B0603020202020204" pitchFamily="34" charset="0"/>
              </a:rPr>
              <a:t>LCS- Example </a:t>
            </a:r>
            <a:endParaRPr lang="en-IN" dirty="0">
              <a:latin typeface="Trebuchet MS" panose="020B0603020202020204" pitchFamily="34" charset="0"/>
            </a:endParaRPr>
          </a:p>
        </p:txBody>
      </p:sp>
      <p:sp>
        <p:nvSpPr>
          <p:cNvPr id="4" name="TextBox 3">
            <a:extLst>
              <a:ext uri="{FF2B5EF4-FFF2-40B4-BE49-F238E27FC236}">
                <a16:creationId xmlns:a16="http://schemas.microsoft.com/office/drawing/2014/main" id="{68DA4F54-170A-3F12-32C6-714E51D5A8F6}"/>
              </a:ext>
            </a:extLst>
          </p:cNvPr>
          <p:cNvSpPr txBox="1"/>
          <p:nvPr/>
        </p:nvSpPr>
        <p:spPr>
          <a:xfrm>
            <a:off x="181707" y="1372849"/>
            <a:ext cx="4293963" cy="2954655"/>
          </a:xfrm>
          <a:prstGeom prst="rect">
            <a:avLst/>
          </a:prstGeom>
          <a:noFill/>
        </p:spPr>
        <p:txBody>
          <a:bodyPr wrap="square">
            <a:spAutoFit/>
          </a:bodyPr>
          <a:lstStyle/>
          <a:p>
            <a:pPr algn="l" fontAlgn="base">
              <a:spcBef>
                <a:spcPts val="600"/>
              </a:spcBef>
              <a:spcAft>
                <a:spcPts val="600"/>
              </a:spcAft>
            </a:pPr>
            <a:r>
              <a:rPr lang="en-IN" b="1" i="0" dirty="0">
                <a:solidFill>
                  <a:srgbClr val="FF0000"/>
                </a:solidFill>
                <a:effectLst/>
                <a:latin typeface="Trebuchet MS" panose="020B0603020202020204" pitchFamily="34" charset="0"/>
                <a:cs typeface="Calibri" panose="020F0502020204030204" pitchFamily="34" charset="0"/>
              </a:rPr>
              <a:t>LCS [5, 1] ⇒</a:t>
            </a:r>
            <a:r>
              <a:rPr lang="en-IN" b="1" i="0" dirty="0">
                <a:solidFill>
                  <a:schemeClr val="tx1"/>
                </a:solidFill>
                <a:effectLst/>
                <a:latin typeface="Trebuchet MS" panose="020B0603020202020204" pitchFamily="34" charset="0"/>
                <a:cs typeface="Calibri" panose="020F0502020204030204" pitchFamily="34" charset="0"/>
              </a:rPr>
              <a:t> i = 5, j = 1, P</a:t>
            </a:r>
            <a:r>
              <a:rPr lang="en-IN" b="1" i="0" baseline="-25000" dirty="0">
                <a:solidFill>
                  <a:schemeClr val="tx1"/>
                </a:solidFill>
                <a:effectLst/>
                <a:latin typeface="Trebuchet MS" panose="020B0603020202020204" pitchFamily="34" charset="0"/>
                <a:cs typeface="Calibri" panose="020F0502020204030204" pitchFamily="34" charset="0"/>
              </a:rPr>
              <a:t>i</a:t>
            </a:r>
            <a:r>
              <a:rPr lang="en-IN" b="1" i="0" dirty="0">
                <a:solidFill>
                  <a:schemeClr val="tx1"/>
                </a:solidFill>
                <a:effectLst/>
                <a:latin typeface="Trebuchet MS" panose="020B0603020202020204" pitchFamily="34" charset="0"/>
                <a:cs typeface="Calibri" panose="020F0502020204030204" pitchFamily="34" charset="0"/>
              </a:rPr>
              <a:t> = M, </a:t>
            </a:r>
            <a:r>
              <a:rPr lang="en-IN" b="1" i="0" dirty="0" err="1">
                <a:solidFill>
                  <a:schemeClr val="tx1"/>
                </a:solidFill>
                <a:effectLst/>
                <a:latin typeface="Trebuchet MS" panose="020B0603020202020204" pitchFamily="34" charset="0"/>
                <a:cs typeface="Calibri" panose="020F0502020204030204" pitchFamily="34" charset="0"/>
              </a:rPr>
              <a:t>Q</a:t>
            </a:r>
            <a:r>
              <a:rPr lang="en-IN" b="1" i="0" baseline="-25000" dirty="0" err="1">
                <a:solidFill>
                  <a:schemeClr val="tx1"/>
                </a:solidFill>
                <a:effectLst/>
                <a:latin typeface="Trebuchet MS" panose="020B0603020202020204" pitchFamily="34" charset="0"/>
                <a:cs typeface="Calibri" panose="020F0502020204030204" pitchFamily="34" charset="0"/>
              </a:rPr>
              <a:t>j</a:t>
            </a:r>
            <a:r>
              <a:rPr lang="en-IN" b="1" i="0" dirty="0">
                <a:solidFill>
                  <a:schemeClr val="tx1"/>
                </a:solidFill>
                <a:effectLst/>
                <a:latin typeface="Trebuchet MS" panose="020B0603020202020204" pitchFamily="34" charset="0"/>
                <a:cs typeface="Calibri" panose="020F0502020204030204" pitchFamily="34" charset="0"/>
              </a:rPr>
              <a:t> = M</a:t>
            </a:r>
          </a:p>
          <a:p>
            <a:pPr algn="l" fontAlgn="base">
              <a:spcBef>
                <a:spcPts val="600"/>
              </a:spcBef>
              <a:spcAft>
                <a:spcPts val="600"/>
              </a:spcAft>
            </a:pPr>
            <a:r>
              <a:rPr lang="en-IN" b="1" i="0" dirty="0">
                <a:solidFill>
                  <a:schemeClr val="tx1"/>
                </a:solidFill>
                <a:effectLst/>
                <a:latin typeface="Trebuchet MS" panose="020B0603020202020204" pitchFamily="34" charset="0"/>
                <a:cs typeface="Calibri" panose="020F0502020204030204" pitchFamily="34" charset="0"/>
              </a:rPr>
              <a:t>P</a:t>
            </a:r>
            <a:r>
              <a:rPr lang="en-IN" b="1" i="0" baseline="-25000" dirty="0">
                <a:solidFill>
                  <a:schemeClr val="tx1"/>
                </a:solidFill>
                <a:effectLst/>
                <a:latin typeface="Trebuchet MS" panose="020B0603020202020204" pitchFamily="34" charset="0"/>
                <a:cs typeface="Calibri" panose="020F0502020204030204" pitchFamily="34" charset="0"/>
              </a:rPr>
              <a:t>i</a:t>
            </a:r>
            <a:r>
              <a:rPr lang="en-IN" b="1" i="0" dirty="0">
                <a:solidFill>
                  <a:schemeClr val="tx1"/>
                </a:solidFill>
                <a:effectLst/>
                <a:latin typeface="Trebuchet MS" panose="020B0603020202020204" pitchFamily="34" charset="0"/>
                <a:cs typeface="Calibri" panose="020F0502020204030204" pitchFamily="34" charset="0"/>
              </a:rPr>
              <a:t> = </a:t>
            </a:r>
            <a:r>
              <a:rPr lang="en-IN" b="1" i="0" dirty="0" err="1">
                <a:solidFill>
                  <a:schemeClr val="tx1"/>
                </a:solidFill>
                <a:effectLst/>
                <a:latin typeface="Trebuchet MS" panose="020B0603020202020204" pitchFamily="34" charset="0"/>
                <a:cs typeface="Calibri" panose="020F0502020204030204" pitchFamily="34" charset="0"/>
              </a:rPr>
              <a:t>Q</a:t>
            </a:r>
            <a:r>
              <a:rPr lang="en-IN" b="1" i="0" baseline="-25000" dirty="0" err="1">
                <a:solidFill>
                  <a:schemeClr val="tx1"/>
                </a:solidFill>
                <a:effectLst/>
                <a:latin typeface="Trebuchet MS" panose="020B0603020202020204" pitchFamily="34" charset="0"/>
                <a:cs typeface="Calibri" panose="020F0502020204030204" pitchFamily="34" charset="0"/>
              </a:rPr>
              <a:t>j</a:t>
            </a:r>
            <a:r>
              <a:rPr lang="en-IN" b="1" i="0" dirty="0">
                <a:solidFill>
                  <a:schemeClr val="tx1"/>
                </a:solidFill>
                <a:effectLst/>
                <a:latin typeface="Trebuchet MS" panose="020B0603020202020204" pitchFamily="34" charset="0"/>
                <a:cs typeface="Calibri" panose="020F0502020204030204" pitchFamily="34" charset="0"/>
              </a:rPr>
              <a:t> ⇒ LCS [i, j] = 1 + LCS[i – 1, j – 1]</a:t>
            </a:r>
          </a:p>
          <a:p>
            <a:pPr algn="l" fontAlgn="base">
              <a:spcBef>
                <a:spcPts val="600"/>
              </a:spcBef>
              <a:spcAft>
                <a:spcPts val="600"/>
              </a:spcAft>
            </a:pPr>
            <a:r>
              <a:rPr lang="en-IN" b="1" i="0" dirty="0">
                <a:solidFill>
                  <a:schemeClr val="tx1"/>
                </a:solidFill>
                <a:effectLst/>
                <a:latin typeface="Trebuchet MS" panose="020B0603020202020204" pitchFamily="34" charset="0"/>
                <a:cs typeface="Calibri" panose="020F0502020204030204" pitchFamily="34" charset="0"/>
              </a:rPr>
              <a:t>LCS [5, 1] = 1 + LCS[4, 0] =  1 + 0 = 1</a:t>
            </a:r>
          </a:p>
          <a:p>
            <a:pPr algn="l" fontAlgn="base">
              <a:spcBef>
                <a:spcPts val="600"/>
              </a:spcBef>
              <a:spcAft>
                <a:spcPts val="600"/>
              </a:spcAft>
            </a:pPr>
            <a:endParaRPr lang="en-IN" b="1" i="0" dirty="0">
              <a:solidFill>
                <a:srgbClr val="FF0000"/>
              </a:solidFill>
              <a:effectLst/>
              <a:latin typeface="Trebuchet MS" panose="020B0603020202020204" pitchFamily="34" charset="0"/>
              <a:cs typeface="Calibri" panose="020F0502020204030204" pitchFamily="34" charset="0"/>
            </a:endParaRPr>
          </a:p>
          <a:p>
            <a:pPr algn="l" fontAlgn="base">
              <a:spcBef>
                <a:spcPts val="600"/>
              </a:spcBef>
              <a:spcAft>
                <a:spcPts val="600"/>
              </a:spcAft>
            </a:pPr>
            <a:r>
              <a:rPr lang="en-IN" b="1" i="0" dirty="0">
                <a:solidFill>
                  <a:srgbClr val="FF0000"/>
                </a:solidFill>
                <a:effectLst/>
                <a:latin typeface="Trebuchet MS" panose="020B0603020202020204" pitchFamily="34" charset="0"/>
                <a:cs typeface="Calibri" panose="020F0502020204030204" pitchFamily="34" charset="0"/>
              </a:rPr>
              <a:t>LCS [5, 2]  ⇒ </a:t>
            </a:r>
            <a:r>
              <a:rPr lang="en-IN" b="1" i="0" dirty="0">
                <a:solidFill>
                  <a:schemeClr val="tx1"/>
                </a:solidFill>
                <a:effectLst/>
                <a:latin typeface="Trebuchet MS" panose="020B0603020202020204" pitchFamily="34" charset="0"/>
                <a:cs typeface="Calibri" panose="020F0502020204030204" pitchFamily="34" charset="0"/>
              </a:rPr>
              <a:t>i = 5, j = 2, P</a:t>
            </a:r>
            <a:r>
              <a:rPr lang="en-IN" b="1" i="0" baseline="-25000" dirty="0">
                <a:solidFill>
                  <a:schemeClr val="tx1"/>
                </a:solidFill>
                <a:effectLst/>
                <a:latin typeface="Trebuchet MS" panose="020B0603020202020204" pitchFamily="34" charset="0"/>
                <a:cs typeface="Calibri" panose="020F0502020204030204" pitchFamily="34" charset="0"/>
              </a:rPr>
              <a:t>i</a:t>
            </a:r>
            <a:r>
              <a:rPr lang="en-IN" b="1" i="0" dirty="0">
                <a:solidFill>
                  <a:schemeClr val="tx1"/>
                </a:solidFill>
                <a:effectLst/>
                <a:latin typeface="Trebuchet MS" panose="020B0603020202020204" pitchFamily="34" charset="0"/>
                <a:cs typeface="Calibri" panose="020F0502020204030204" pitchFamily="34" charset="0"/>
              </a:rPr>
              <a:t> = M, </a:t>
            </a:r>
            <a:r>
              <a:rPr lang="en-IN" b="1" i="0" dirty="0" err="1">
                <a:solidFill>
                  <a:schemeClr val="tx1"/>
                </a:solidFill>
                <a:effectLst/>
                <a:latin typeface="Trebuchet MS" panose="020B0603020202020204" pitchFamily="34" charset="0"/>
                <a:cs typeface="Calibri" panose="020F0502020204030204" pitchFamily="34" charset="0"/>
              </a:rPr>
              <a:t>Q</a:t>
            </a:r>
            <a:r>
              <a:rPr lang="en-IN" b="1" i="0" baseline="-25000" dirty="0" err="1">
                <a:solidFill>
                  <a:schemeClr val="tx1"/>
                </a:solidFill>
                <a:effectLst/>
                <a:latin typeface="Trebuchet MS" panose="020B0603020202020204" pitchFamily="34" charset="0"/>
                <a:cs typeface="Calibri" panose="020F0502020204030204" pitchFamily="34" charset="0"/>
              </a:rPr>
              <a:t>j</a:t>
            </a:r>
            <a:r>
              <a:rPr lang="en-IN" b="1" i="0" dirty="0">
                <a:solidFill>
                  <a:schemeClr val="tx1"/>
                </a:solidFill>
                <a:effectLst/>
                <a:latin typeface="Trebuchet MS" panose="020B0603020202020204" pitchFamily="34" charset="0"/>
                <a:cs typeface="Calibri" panose="020F0502020204030204" pitchFamily="34" charset="0"/>
              </a:rPr>
              <a:t> = N</a:t>
            </a:r>
          </a:p>
          <a:p>
            <a:pPr algn="l" fontAlgn="base">
              <a:spcBef>
                <a:spcPts val="600"/>
              </a:spcBef>
              <a:spcAft>
                <a:spcPts val="600"/>
              </a:spcAft>
            </a:pPr>
            <a:r>
              <a:rPr lang="en-IN" b="1" i="0" dirty="0">
                <a:solidFill>
                  <a:schemeClr val="tx1"/>
                </a:solidFill>
                <a:effectLst/>
                <a:latin typeface="Trebuchet MS" panose="020B0603020202020204" pitchFamily="34" charset="0"/>
                <a:cs typeface="Calibri" panose="020F0502020204030204" pitchFamily="34" charset="0"/>
              </a:rPr>
              <a:t>P</a:t>
            </a:r>
            <a:r>
              <a:rPr lang="en-IN" b="1" i="0" baseline="-25000" dirty="0">
                <a:solidFill>
                  <a:schemeClr val="tx1"/>
                </a:solidFill>
                <a:effectLst/>
                <a:latin typeface="Trebuchet MS" panose="020B0603020202020204" pitchFamily="34" charset="0"/>
                <a:cs typeface="Calibri" panose="020F0502020204030204" pitchFamily="34" charset="0"/>
              </a:rPr>
              <a:t>i</a:t>
            </a:r>
            <a:r>
              <a:rPr lang="en-IN" b="1" i="0" dirty="0">
                <a:solidFill>
                  <a:schemeClr val="tx1"/>
                </a:solidFill>
                <a:effectLst/>
                <a:latin typeface="Trebuchet MS" panose="020B0603020202020204" pitchFamily="34" charset="0"/>
                <a:cs typeface="Calibri" panose="020F0502020204030204" pitchFamily="34" charset="0"/>
              </a:rPr>
              <a:t> ≠ </a:t>
            </a:r>
            <a:r>
              <a:rPr lang="en-IN" b="1" i="0" dirty="0" err="1">
                <a:solidFill>
                  <a:schemeClr val="tx1"/>
                </a:solidFill>
                <a:effectLst/>
                <a:latin typeface="Trebuchet MS" panose="020B0603020202020204" pitchFamily="34" charset="0"/>
                <a:cs typeface="Calibri" panose="020F0502020204030204" pitchFamily="34" charset="0"/>
              </a:rPr>
              <a:t>Q</a:t>
            </a:r>
            <a:r>
              <a:rPr lang="en-IN" b="1" i="0" baseline="-25000" dirty="0" err="1">
                <a:solidFill>
                  <a:schemeClr val="tx1"/>
                </a:solidFill>
                <a:effectLst/>
                <a:latin typeface="Trebuchet MS" panose="020B0603020202020204" pitchFamily="34" charset="0"/>
                <a:cs typeface="Calibri" panose="020F0502020204030204" pitchFamily="34" charset="0"/>
              </a:rPr>
              <a:t>j</a:t>
            </a:r>
            <a:r>
              <a:rPr lang="en-IN" b="1" i="0" dirty="0">
                <a:solidFill>
                  <a:schemeClr val="tx1"/>
                </a:solidFill>
                <a:effectLst/>
                <a:latin typeface="Trebuchet MS" panose="020B0603020202020204" pitchFamily="34" charset="0"/>
                <a:cs typeface="Calibri" panose="020F0502020204030204" pitchFamily="34" charset="0"/>
              </a:rPr>
              <a:t> ⇒ LCS [i, j] = max (LCS [i – 1 , j], LCS [i, j – 1])</a:t>
            </a:r>
          </a:p>
          <a:p>
            <a:pPr algn="l" fontAlgn="base">
              <a:spcBef>
                <a:spcPts val="600"/>
              </a:spcBef>
              <a:spcAft>
                <a:spcPts val="600"/>
              </a:spcAft>
            </a:pPr>
            <a:r>
              <a:rPr lang="en-IN" b="1" i="0" dirty="0">
                <a:solidFill>
                  <a:schemeClr val="tx1"/>
                </a:solidFill>
                <a:effectLst/>
                <a:latin typeface="Trebuchet MS" panose="020B0603020202020204" pitchFamily="34" charset="0"/>
                <a:cs typeface="Calibri" panose="020F0502020204030204" pitchFamily="34" charset="0"/>
              </a:rPr>
              <a:t>LCS [5, 2] = max (LCS [4, 2], LCS [5, 1]) = max (2, 1)  =  2</a:t>
            </a:r>
          </a:p>
        </p:txBody>
      </p:sp>
      <p:sp>
        <p:nvSpPr>
          <p:cNvPr id="6" name="TextBox 5">
            <a:extLst>
              <a:ext uri="{FF2B5EF4-FFF2-40B4-BE49-F238E27FC236}">
                <a16:creationId xmlns:a16="http://schemas.microsoft.com/office/drawing/2014/main" id="{DD91ECFB-591E-A1EB-3805-1B96CADD0D19}"/>
              </a:ext>
            </a:extLst>
          </p:cNvPr>
          <p:cNvSpPr txBox="1"/>
          <p:nvPr/>
        </p:nvSpPr>
        <p:spPr>
          <a:xfrm>
            <a:off x="181706" y="722265"/>
            <a:ext cx="4795227" cy="461665"/>
          </a:xfrm>
          <a:prstGeom prst="rect">
            <a:avLst/>
          </a:prstGeom>
          <a:noFill/>
        </p:spPr>
        <p:txBody>
          <a:bodyPr wrap="square">
            <a:spAutoFit/>
          </a:bodyPr>
          <a:lstStyle/>
          <a:p>
            <a:pPr fontAlgn="base">
              <a:spcBef>
                <a:spcPts val="600"/>
              </a:spcBef>
              <a:defRPr/>
            </a:pPr>
            <a:r>
              <a:rPr lang="en-IN" sz="2400" b="1" dirty="0">
                <a:solidFill>
                  <a:srgbClr val="0070C0"/>
                </a:solidFill>
                <a:latin typeface="Trebuchet MS" panose="020B0603020202020204" pitchFamily="34" charset="0"/>
              </a:rPr>
              <a:t>Computation for row 5 :</a:t>
            </a:r>
          </a:p>
        </p:txBody>
      </p:sp>
      <p:sp>
        <p:nvSpPr>
          <p:cNvPr id="8" name="TextBox 7">
            <a:extLst>
              <a:ext uri="{FF2B5EF4-FFF2-40B4-BE49-F238E27FC236}">
                <a16:creationId xmlns:a16="http://schemas.microsoft.com/office/drawing/2014/main" id="{08152978-D716-2DBA-9883-5EB44BB5A6CC}"/>
              </a:ext>
            </a:extLst>
          </p:cNvPr>
          <p:cNvSpPr txBox="1"/>
          <p:nvPr/>
        </p:nvSpPr>
        <p:spPr>
          <a:xfrm>
            <a:off x="4571975" y="1385877"/>
            <a:ext cx="4386830" cy="2954655"/>
          </a:xfrm>
          <a:prstGeom prst="rect">
            <a:avLst/>
          </a:prstGeom>
          <a:noFill/>
          <a:ln>
            <a:solidFill>
              <a:srgbClr val="FFFFFF"/>
            </a:solidFill>
          </a:ln>
        </p:spPr>
        <p:txBody>
          <a:bodyPr wrap="square">
            <a:spAutoFit/>
          </a:bodyPr>
          <a:lstStyle/>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FF0000"/>
                </a:solidFill>
                <a:effectLst/>
                <a:uLnTx/>
                <a:uFillTx/>
                <a:latin typeface="Trebuchet MS" panose="020B0603020202020204" pitchFamily="34" charset="0"/>
                <a:cs typeface="Calibri" panose="020F0502020204030204" pitchFamily="34" charset="0"/>
                <a:sym typeface="Arial"/>
              </a:rPr>
              <a:t>LCS [5, 3] ⇒</a:t>
            </a: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 i = 5, j = 3, P</a:t>
            </a:r>
            <a:r>
              <a:rPr kumimoji="0" lang="en-IN" sz="1400" b="1" i="0" u="none" strike="noStrike" kern="0" cap="none" spc="0" normalizeH="0" baseline="-25000" noProof="0" dirty="0">
                <a:ln>
                  <a:noFill/>
                </a:ln>
                <a:solidFill>
                  <a:srgbClr val="000000"/>
                </a:solidFill>
                <a:effectLst/>
                <a:uLnTx/>
                <a:uFillTx/>
                <a:latin typeface="Trebuchet MS" panose="020B0603020202020204" pitchFamily="34" charset="0"/>
                <a:cs typeface="Calibri" panose="020F0502020204030204" pitchFamily="34" charset="0"/>
                <a:sym typeface="Arial"/>
              </a:rPr>
              <a:t>i</a:t>
            </a: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 = M, </a:t>
            </a:r>
            <a:r>
              <a:rPr kumimoji="0" lang="en-IN" sz="1400" b="1" i="0" u="none" strike="noStrike" kern="0" cap="none" spc="0" normalizeH="0" baseline="0" noProof="0" dirty="0" err="1">
                <a:ln>
                  <a:noFill/>
                </a:ln>
                <a:solidFill>
                  <a:srgbClr val="000000"/>
                </a:solidFill>
                <a:effectLst/>
                <a:uLnTx/>
                <a:uFillTx/>
                <a:latin typeface="Trebuchet MS" panose="020B0603020202020204" pitchFamily="34" charset="0"/>
                <a:cs typeface="Calibri" panose="020F0502020204030204" pitchFamily="34" charset="0"/>
                <a:sym typeface="Arial"/>
              </a:rPr>
              <a:t>Q</a:t>
            </a:r>
            <a:r>
              <a:rPr kumimoji="0" lang="en-IN" sz="1400" b="1" i="0" u="none" strike="noStrike" kern="0" cap="none" spc="0" normalizeH="0" baseline="-25000" noProof="0" dirty="0" err="1">
                <a:ln>
                  <a:noFill/>
                </a:ln>
                <a:solidFill>
                  <a:srgbClr val="000000"/>
                </a:solidFill>
                <a:effectLst/>
                <a:uLnTx/>
                <a:uFillTx/>
                <a:latin typeface="Trebuchet MS" panose="020B0603020202020204" pitchFamily="34" charset="0"/>
                <a:cs typeface="Calibri" panose="020F0502020204030204" pitchFamily="34" charset="0"/>
                <a:sym typeface="Arial"/>
              </a:rPr>
              <a:t>j</a:t>
            </a: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 = O</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P</a:t>
            </a:r>
            <a:r>
              <a:rPr kumimoji="0" lang="en-IN" sz="1400" b="1" i="0" u="none" strike="noStrike" kern="0" cap="none" spc="0" normalizeH="0" baseline="-25000" noProof="0" dirty="0">
                <a:ln>
                  <a:noFill/>
                </a:ln>
                <a:solidFill>
                  <a:srgbClr val="000000"/>
                </a:solidFill>
                <a:effectLst/>
                <a:uLnTx/>
                <a:uFillTx/>
                <a:latin typeface="Trebuchet MS" panose="020B0603020202020204" pitchFamily="34" charset="0"/>
                <a:cs typeface="Calibri" panose="020F0502020204030204" pitchFamily="34" charset="0"/>
                <a:sym typeface="Arial"/>
              </a:rPr>
              <a:t>i</a:t>
            </a: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 ≠ </a:t>
            </a:r>
            <a:r>
              <a:rPr kumimoji="0" lang="en-IN" sz="1400" b="1" i="0" u="none" strike="noStrike" kern="0" cap="none" spc="0" normalizeH="0" baseline="0" noProof="0" dirty="0" err="1">
                <a:ln>
                  <a:noFill/>
                </a:ln>
                <a:solidFill>
                  <a:srgbClr val="000000"/>
                </a:solidFill>
                <a:effectLst/>
                <a:uLnTx/>
                <a:uFillTx/>
                <a:latin typeface="Trebuchet MS" panose="020B0603020202020204" pitchFamily="34" charset="0"/>
                <a:cs typeface="Calibri" panose="020F0502020204030204" pitchFamily="34" charset="0"/>
                <a:sym typeface="Arial"/>
              </a:rPr>
              <a:t>Q</a:t>
            </a:r>
            <a:r>
              <a:rPr kumimoji="0" lang="en-IN" sz="1400" b="1" i="0" u="none" strike="noStrike" kern="0" cap="none" spc="0" normalizeH="0" baseline="-25000" noProof="0" dirty="0" err="1">
                <a:ln>
                  <a:noFill/>
                </a:ln>
                <a:solidFill>
                  <a:srgbClr val="000000"/>
                </a:solidFill>
                <a:effectLst/>
                <a:uLnTx/>
                <a:uFillTx/>
                <a:latin typeface="Trebuchet MS" panose="020B0603020202020204" pitchFamily="34" charset="0"/>
                <a:cs typeface="Calibri" panose="020F0502020204030204" pitchFamily="34" charset="0"/>
                <a:sym typeface="Arial"/>
              </a:rPr>
              <a:t>j</a:t>
            </a: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  ⇒   LCS [i, j] = max (LCS [i – 1 , j], LCS [i, j – 1])</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LCS [5, 3] = max (LCS [4, 3], LCS [5, 2]) = max (3, 2)  =  3</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endParaRPr kumimoji="0" lang="en-IN" sz="1400" b="1" i="0" u="none" strike="noStrike" kern="0" cap="none" spc="0" normalizeH="0" baseline="0" noProof="0" dirty="0">
              <a:ln>
                <a:noFill/>
              </a:ln>
              <a:solidFill>
                <a:srgbClr val="FF0000"/>
              </a:solidFill>
              <a:effectLst/>
              <a:uLnTx/>
              <a:uFillTx/>
              <a:latin typeface="Trebuchet MS" panose="020B0603020202020204" pitchFamily="34" charset="0"/>
              <a:cs typeface="Calibri" panose="020F0502020204030204" pitchFamily="34" charset="0"/>
              <a:sym typeface="Arial"/>
            </a:endParaRP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FF0000"/>
                </a:solidFill>
                <a:effectLst/>
                <a:uLnTx/>
                <a:uFillTx/>
                <a:latin typeface="Trebuchet MS" panose="020B0603020202020204" pitchFamily="34" charset="0"/>
                <a:cs typeface="Calibri" panose="020F0502020204030204" pitchFamily="34" charset="0"/>
                <a:sym typeface="Arial"/>
              </a:rPr>
              <a:t>LCS [5, 4]  ⇒ </a:t>
            </a: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i = 5,   j = 4,   P</a:t>
            </a:r>
            <a:r>
              <a:rPr kumimoji="0" lang="en-IN" sz="1400" b="1" i="0" u="none" strike="noStrike" kern="0" cap="none" spc="0" normalizeH="0" baseline="-25000" noProof="0" dirty="0">
                <a:ln>
                  <a:noFill/>
                </a:ln>
                <a:solidFill>
                  <a:srgbClr val="000000"/>
                </a:solidFill>
                <a:effectLst/>
                <a:uLnTx/>
                <a:uFillTx/>
                <a:latin typeface="Trebuchet MS" panose="020B0603020202020204" pitchFamily="34" charset="0"/>
                <a:cs typeface="Calibri" panose="020F0502020204030204" pitchFamily="34" charset="0"/>
                <a:sym typeface="Arial"/>
              </a:rPr>
              <a:t>i</a:t>
            </a: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 = M,   </a:t>
            </a:r>
            <a:r>
              <a:rPr kumimoji="0" lang="en-IN" sz="1400" b="1" i="0" u="none" strike="noStrike" kern="0" cap="none" spc="0" normalizeH="0" baseline="0" noProof="0" dirty="0" err="1">
                <a:ln>
                  <a:noFill/>
                </a:ln>
                <a:solidFill>
                  <a:srgbClr val="000000"/>
                </a:solidFill>
                <a:effectLst/>
                <a:uLnTx/>
                <a:uFillTx/>
                <a:latin typeface="Trebuchet MS" panose="020B0603020202020204" pitchFamily="34" charset="0"/>
                <a:cs typeface="Calibri" panose="020F0502020204030204" pitchFamily="34" charset="0"/>
                <a:sym typeface="Arial"/>
              </a:rPr>
              <a:t>Q</a:t>
            </a:r>
            <a:r>
              <a:rPr kumimoji="0" lang="en-IN" sz="1400" b="1" i="0" u="none" strike="noStrike" kern="0" cap="none" spc="0" normalizeH="0" baseline="-25000" noProof="0" dirty="0" err="1">
                <a:ln>
                  <a:noFill/>
                </a:ln>
                <a:solidFill>
                  <a:srgbClr val="000000"/>
                </a:solidFill>
                <a:effectLst/>
                <a:uLnTx/>
                <a:uFillTx/>
                <a:latin typeface="Trebuchet MS" panose="020B0603020202020204" pitchFamily="34" charset="0"/>
                <a:cs typeface="Calibri" panose="020F0502020204030204" pitchFamily="34" charset="0"/>
                <a:sym typeface="Arial"/>
              </a:rPr>
              <a:t>j</a:t>
            </a: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 = M</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P</a:t>
            </a:r>
            <a:r>
              <a:rPr kumimoji="0" lang="en-IN" sz="1400" b="1" i="0" u="none" strike="noStrike" kern="0" cap="none" spc="0" normalizeH="0" baseline="-25000" noProof="0" dirty="0">
                <a:ln>
                  <a:noFill/>
                </a:ln>
                <a:solidFill>
                  <a:srgbClr val="000000"/>
                </a:solidFill>
                <a:effectLst/>
                <a:uLnTx/>
                <a:uFillTx/>
                <a:latin typeface="Trebuchet MS" panose="020B0603020202020204" pitchFamily="34" charset="0"/>
                <a:cs typeface="Calibri" panose="020F0502020204030204" pitchFamily="34" charset="0"/>
                <a:sym typeface="Arial"/>
              </a:rPr>
              <a:t>i</a:t>
            </a: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 = </a:t>
            </a:r>
            <a:r>
              <a:rPr kumimoji="0" lang="en-IN" sz="1400" b="1" i="0" u="none" strike="noStrike" kern="0" cap="none" spc="0" normalizeH="0" baseline="0" noProof="0" dirty="0" err="1">
                <a:ln>
                  <a:noFill/>
                </a:ln>
                <a:solidFill>
                  <a:srgbClr val="000000"/>
                </a:solidFill>
                <a:effectLst/>
                <a:uLnTx/>
                <a:uFillTx/>
                <a:latin typeface="Trebuchet MS" panose="020B0603020202020204" pitchFamily="34" charset="0"/>
                <a:cs typeface="Calibri" panose="020F0502020204030204" pitchFamily="34" charset="0"/>
                <a:sym typeface="Arial"/>
              </a:rPr>
              <a:t>Q</a:t>
            </a:r>
            <a:r>
              <a:rPr kumimoji="0" lang="en-IN" sz="1400" b="1" i="0" u="none" strike="noStrike" kern="0" cap="none" spc="0" normalizeH="0" baseline="-25000" noProof="0" dirty="0" err="1">
                <a:ln>
                  <a:noFill/>
                </a:ln>
                <a:solidFill>
                  <a:srgbClr val="000000"/>
                </a:solidFill>
                <a:effectLst/>
                <a:uLnTx/>
                <a:uFillTx/>
                <a:latin typeface="Trebuchet MS" panose="020B0603020202020204" pitchFamily="34" charset="0"/>
                <a:cs typeface="Calibri" panose="020F0502020204030204" pitchFamily="34" charset="0"/>
                <a:sym typeface="Arial"/>
              </a:rPr>
              <a:t>j</a:t>
            </a: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  ⇒   LCS [i, j] = 1 + LCS[i – 1, j – 1]</a:t>
            </a:r>
          </a:p>
          <a:p>
            <a:pPr marL="0" marR="0" lvl="0" indent="0" algn="l" defTabSz="914400" rtl="0" eaLnBrk="1" fontAlgn="base" latinLnBrk="0" hangingPunct="1">
              <a:lnSpc>
                <a:spcPct val="100000"/>
              </a:lnSpc>
              <a:spcBef>
                <a:spcPts val="600"/>
              </a:spcBef>
              <a:spcAft>
                <a:spcPts val="60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Trebuchet MS" panose="020B0603020202020204" pitchFamily="34" charset="0"/>
                <a:cs typeface="Calibri" panose="020F0502020204030204" pitchFamily="34" charset="0"/>
                <a:sym typeface="Arial"/>
              </a:rPr>
              <a:t>LCS [5, 4] = 1 + LCS[5, 3] =  1 + 3 = 4</a:t>
            </a:r>
          </a:p>
        </p:txBody>
      </p:sp>
      <p:cxnSp>
        <p:nvCxnSpPr>
          <p:cNvPr id="10" name="Straight Connector 9">
            <a:extLst>
              <a:ext uri="{FF2B5EF4-FFF2-40B4-BE49-F238E27FC236}">
                <a16:creationId xmlns:a16="http://schemas.microsoft.com/office/drawing/2014/main" id="{ABA5B29D-DC7F-6012-2B7E-F5F3096FC689}"/>
              </a:ext>
            </a:extLst>
          </p:cNvPr>
          <p:cNvCxnSpPr>
            <a:cxnSpLocks/>
          </p:cNvCxnSpPr>
          <p:nvPr/>
        </p:nvCxnSpPr>
        <p:spPr>
          <a:xfrm>
            <a:off x="4417206" y="876153"/>
            <a:ext cx="0" cy="3977201"/>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924531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4" name="TextBox 3">
            <a:extLst>
              <a:ext uri="{FF2B5EF4-FFF2-40B4-BE49-F238E27FC236}">
                <a16:creationId xmlns:a16="http://schemas.microsoft.com/office/drawing/2014/main" id="{F86DF762-2C86-50B6-F2D6-98F2A0ED43A5}"/>
              </a:ext>
            </a:extLst>
          </p:cNvPr>
          <p:cNvSpPr txBox="1"/>
          <p:nvPr/>
        </p:nvSpPr>
        <p:spPr>
          <a:xfrm>
            <a:off x="374063" y="902154"/>
            <a:ext cx="8769937" cy="3960058"/>
          </a:xfrm>
          <a:prstGeom prst="rect">
            <a:avLst/>
          </a:prstGeom>
          <a:noFill/>
        </p:spPr>
        <p:txBody>
          <a:bodyPr wrap="square">
            <a:spAutoFit/>
          </a:bodyPr>
          <a:lstStyle/>
          <a:p>
            <a:r>
              <a:rPr lang="en-IN" sz="2000" b="1" i="0" dirty="0">
                <a:solidFill>
                  <a:schemeClr val="tx1"/>
                </a:solidFill>
                <a:effectLst/>
                <a:latin typeface="Trebuchet MS" panose="020B0603020202020204" pitchFamily="34" charset="0"/>
              </a:rPr>
              <a:t>So finally, table would be</a:t>
            </a:r>
            <a:r>
              <a:rPr lang="en-IN" sz="2000" b="1" i="0" dirty="0" smtClean="0">
                <a:solidFill>
                  <a:schemeClr val="tx1"/>
                </a:solidFill>
                <a:effectLst/>
                <a:latin typeface="Trebuchet MS" panose="020B0603020202020204" pitchFamily="34" charset="0"/>
              </a:rPr>
              <a:t>,</a:t>
            </a:r>
          </a:p>
          <a:p>
            <a:r>
              <a:rPr lang="en-US" sz="2000" b="1" dirty="0" smtClean="0">
                <a:solidFill>
                  <a:schemeClr val="tx1"/>
                </a:solidFill>
                <a:latin typeface="Trebuchet MS" panose="020B0603020202020204" pitchFamily="34" charset="0"/>
              </a:rPr>
              <a:t>	           </a:t>
            </a:r>
            <a:r>
              <a:rPr lang="en-US" sz="1600" dirty="0">
                <a:latin typeface="Trebuchet MS" panose="020B0603020202020204" pitchFamily="34" charset="0"/>
                <a:ea typeface="Calibri" panose="020F0502020204030204" pitchFamily="34" charset="0"/>
                <a:cs typeface="Times New Roman" panose="02020603050405020304" pitchFamily="18" charset="0"/>
              </a:rPr>
              <a:t>Q</a:t>
            </a:r>
            <a:r>
              <a:rPr lang="en-US" sz="1600" baseline="-25000" dirty="0">
                <a:latin typeface="Trebuchet MS" panose="020B0603020202020204" pitchFamily="34" charset="0"/>
                <a:ea typeface="Calibri" panose="020F0502020204030204" pitchFamily="34" charset="0"/>
                <a:cs typeface="Times New Roman" panose="02020603050405020304" pitchFamily="18" charset="0"/>
              </a:rPr>
              <a:t>j</a:t>
            </a:r>
            <a:endParaRPr lang="en-US" sz="2400" b="1" dirty="0">
              <a:solidFill>
                <a:schemeClr val="tx1"/>
              </a:solidFill>
              <a:latin typeface="Trebuchet MS" panose="020B0603020202020204" pitchFamily="34" charset="0"/>
            </a:endParaRPr>
          </a:p>
          <a:p>
            <a:endParaRPr lang="en-US" sz="2000" b="1" dirty="0" smtClean="0">
              <a:solidFill>
                <a:schemeClr val="tx1"/>
              </a:solidFill>
              <a:latin typeface="Trebuchet MS" panose="020B0603020202020204" pitchFamily="34" charset="0"/>
            </a:endParaRPr>
          </a:p>
          <a:p>
            <a:pPr>
              <a:lnSpc>
                <a:spcPct val="115000"/>
              </a:lnSpc>
              <a:spcAft>
                <a:spcPts val="1000"/>
              </a:spcAft>
            </a:pPr>
            <a:r>
              <a:rPr lang="en-US" sz="2000" b="1" dirty="0">
                <a:solidFill>
                  <a:schemeClr val="tx1"/>
                </a:solidFill>
                <a:latin typeface="Trebuchet MS" panose="020B0603020202020204" pitchFamily="34" charset="0"/>
              </a:rPr>
              <a:t> </a:t>
            </a:r>
            <a:r>
              <a:rPr lang="en-US" sz="2000" b="1" dirty="0" smtClean="0">
                <a:solidFill>
                  <a:schemeClr val="tx1"/>
                </a:solidFill>
                <a:latin typeface="Trebuchet MS" panose="020B0603020202020204" pitchFamily="34" charset="0"/>
              </a:rPr>
              <a:t>       </a:t>
            </a:r>
            <a:r>
              <a:rPr lang="en-US" sz="2000" dirty="0">
                <a:latin typeface="Calibri" panose="020F0502020204030204" pitchFamily="34" charset="0"/>
                <a:ea typeface="Calibri" panose="020F0502020204030204" pitchFamily="34" charset="0"/>
                <a:cs typeface="Times New Roman" panose="02020603050405020304" pitchFamily="18" charset="0"/>
              </a:rPr>
              <a:t>P</a:t>
            </a:r>
            <a:r>
              <a:rPr lang="en-US" sz="2000" baseline="-25000" dirty="0">
                <a:latin typeface="Calibri" panose="020F0502020204030204" pitchFamily="34" charset="0"/>
                <a:ea typeface="Calibri" panose="020F0502020204030204" pitchFamily="34" charset="0"/>
                <a:cs typeface="Times New Roman" panose="02020603050405020304" pitchFamily="18" charset="0"/>
              </a:rPr>
              <a:t>i</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endParaRPr lang="en-US" sz="2000" b="1" dirty="0">
              <a:solidFill>
                <a:schemeClr val="tx1"/>
              </a:solidFill>
              <a:latin typeface="Trebuchet MS" panose="020B0603020202020204" pitchFamily="34" charset="0"/>
            </a:endParaRPr>
          </a:p>
          <a:p>
            <a:endParaRPr lang="en-US" sz="2000" b="1" dirty="0" smtClean="0">
              <a:solidFill>
                <a:schemeClr val="tx1"/>
              </a:solidFill>
              <a:latin typeface="Trebuchet MS" panose="020B0603020202020204" pitchFamily="34" charset="0"/>
            </a:endParaRPr>
          </a:p>
          <a:p>
            <a:endParaRPr lang="en-US" sz="2000" b="1" dirty="0">
              <a:solidFill>
                <a:schemeClr val="tx1"/>
              </a:solidFill>
              <a:latin typeface="Trebuchet MS" panose="020B0603020202020204" pitchFamily="34" charset="0"/>
            </a:endParaRPr>
          </a:p>
          <a:p>
            <a:endParaRPr lang="en-US" sz="2000" b="1" dirty="0" smtClean="0">
              <a:solidFill>
                <a:schemeClr val="tx1"/>
              </a:solidFill>
              <a:latin typeface="Trebuchet MS" panose="020B0603020202020204" pitchFamily="34" charset="0"/>
            </a:endParaRPr>
          </a:p>
          <a:p>
            <a:endParaRPr lang="en-US" sz="2000" b="1" dirty="0">
              <a:solidFill>
                <a:schemeClr val="tx1"/>
              </a:solidFill>
              <a:latin typeface="Trebuchet MS" panose="020B0603020202020204" pitchFamily="34" charset="0"/>
            </a:endParaRPr>
          </a:p>
          <a:p>
            <a:endParaRPr lang="en-US" sz="2000" b="1" dirty="0" smtClean="0">
              <a:solidFill>
                <a:schemeClr val="tx1"/>
              </a:solidFill>
              <a:latin typeface="Trebuchet MS" panose="020B0603020202020204" pitchFamily="34" charset="0"/>
            </a:endParaRPr>
          </a:p>
          <a:p>
            <a:endParaRPr lang="en-US" sz="2000" b="1" dirty="0">
              <a:solidFill>
                <a:schemeClr val="tx1"/>
              </a:solidFill>
              <a:latin typeface="Trebuchet MS" panose="020B0603020202020204" pitchFamily="34" charset="0"/>
            </a:endParaRPr>
          </a:p>
          <a:p>
            <a:endParaRPr lang="en-IN" sz="2000" b="1" dirty="0">
              <a:solidFill>
                <a:schemeClr val="tx1"/>
              </a:solidFill>
              <a:latin typeface="Trebuchet MS" panose="020B0603020202020204" pitchFamily="34" charset="0"/>
            </a:endParaRPr>
          </a:p>
        </p:txBody>
      </p:sp>
      <p:sp>
        <p:nvSpPr>
          <p:cNvPr id="9" name="TextBox 8">
            <a:extLst>
              <a:ext uri="{FF2B5EF4-FFF2-40B4-BE49-F238E27FC236}">
                <a16:creationId xmlns:a16="http://schemas.microsoft.com/office/drawing/2014/main" id="{62AF0743-6413-A6BE-3A56-63F635A7EA81}"/>
              </a:ext>
            </a:extLst>
          </p:cNvPr>
          <p:cNvSpPr txBox="1"/>
          <p:nvPr/>
        </p:nvSpPr>
        <p:spPr>
          <a:xfrm>
            <a:off x="181707" y="148588"/>
            <a:ext cx="4654062" cy="477054"/>
          </a:xfrm>
          <a:prstGeom prst="rect">
            <a:avLst/>
          </a:prstGeom>
          <a:noFill/>
        </p:spPr>
        <p:txBody>
          <a:bodyPr wrap="square">
            <a:spAutoFit/>
          </a:bodyPr>
          <a:lstStyle/>
          <a:p>
            <a:r>
              <a:rPr kumimoji="0" lang="en-US" sz="2500" b="1" i="0" u="none" strike="noStrike" kern="1200" cap="none" spc="0" normalizeH="0" baseline="0" noProof="0" dirty="0">
                <a:ln>
                  <a:noFill/>
                </a:ln>
                <a:solidFill>
                  <a:prstClr val="black"/>
                </a:solidFill>
                <a:effectLst/>
                <a:uLnTx/>
                <a:uFillTx/>
                <a:latin typeface="Corbel" panose="020B0503020204020204" pitchFamily="34" charset="0"/>
              </a:rPr>
              <a:t>LCS- Example </a:t>
            </a:r>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2546653496"/>
              </p:ext>
            </p:extLst>
          </p:nvPr>
        </p:nvGraphicFramePr>
        <p:xfrm>
          <a:off x="1395536" y="1727129"/>
          <a:ext cx="5439017" cy="2598687"/>
        </p:xfrm>
        <a:graphic>
          <a:graphicData uri="http://schemas.openxmlformats.org/drawingml/2006/table">
            <a:tbl>
              <a:tblPr/>
              <a:tblGrid>
                <a:gridCol w="703700">
                  <a:extLst>
                    <a:ext uri="{9D8B030D-6E8A-4147-A177-3AD203B41FA5}">
                      <a16:colId xmlns:a16="http://schemas.microsoft.com/office/drawing/2014/main" val="1433683048"/>
                    </a:ext>
                  </a:extLst>
                </a:gridCol>
                <a:gridCol w="938267">
                  <a:extLst>
                    <a:ext uri="{9D8B030D-6E8A-4147-A177-3AD203B41FA5}">
                      <a16:colId xmlns:a16="http://schemas.microsoft.com/office/drawing/2014/main" val="2961310706"/>
                    </a:ext>
                  </a:extLst>
                </a:gridCol>
                <a:gridCol w="894286">
                  <a:extLst>
                    <a:ext uri="{9D8B030D-6E8A-4147-A177-3AD203B41FA5}">
                      <a16:colId xmlns:a16="http://schemas.microsoft.com/office/drawing/2014/main" val="3823317369"/>
                    </a:ext>
                  </a:extLst>
                </a:gridCol>
                <a:gridCol w="938267">
                  <a:extLst>
                    <a:ext uri="{9D8B030D-6E8A-4147-A177-3AD203B41FA5}">
                      <a16:colId xmlns:a16="http://schemas.microsoft.com/office/drawing/2014/main" val="2426626165"/>
                    </a:ext>
                  </a:extLst>
                </a:gridCol>
                <a:gridCol w="1260797">
                  <a:extLst>
                    <a:ext uri="{9D8B030D-6E8A-4147-A177-3AD203B41FA5}">
                      <a16:colId xmlns:a16="http://schemas.microsoft.com/office/drawing/2014/main" val="1965130051"/>
                    </a:ext>
                  </a:extLst>
                </a:gridCol>
                <a:gridCol w="703700">
                  <a:extLst>
                    <a:ext uri="{9D8B030D-6E8A-4147-A177-3AD203B41FA5}">
                      <a16:colId xmlns:a16="http://schemas.microsoft.com/office/drawing/2014/main" val="4111427575"/>
                    </a:ext>
                  </a:extLst>
                </a:gridCol>
              </a:tblGrid>
              <a:tr h="371241">
                <a:tc>
                  <a:txBody>
                    <a:bodyPr/>
                    <a:lstStyle/>
                    <a:p>
                      <a:pPr algn="ctr" fontAlgn="b"/>
                      <a:r>
                        <a:rPr lang="en-IN" sz="1600" b="1" i="0" u="none" strike="noStrike" dirty="0">
                          <a:solidFill>
                            <a:srgbClr val="000000"/>
                          </a:solidFill>
                          <a:effectLst/>
                          <a:latin typeface="Trebuchet MS" panose="020B0603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600" b="1" i="0" u="none" strike="noStrike">
                          <a:solidFill>
                            <a:srgbClr val="000000"/>
                          </a:solidFill>
                          <a:effectLst/>
                          <a:latin typeface="Trebuchet MS" panose="020B0603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600" b="1" i="0" u="none" strike="noStrike" dirty="0">
                          <a:solidFill>
                            <a:srgbClr val="000000"/>
                          </a:solidFill>
                          <a:effectLst/>
                          <a:latin typeface="Trebuchet MS" panose="020B0603020202020204" pitchFamily="34" charset="0"/>
                        </a:rPr>
                        <a:t>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600" b="1" i="0" u="none" strike="noStrike">
                          <a:solidFill>
                            <a:srgbClr val="000000"/>
                          </a:solidFill>
                          <a:effectLst/>
                          <a:latin typeface="Trebuchet MS" panose="020B0603020202020204" pitchFamily="34" charset="0"/>
                        </a:rPr>
                        <a:t>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600" b="1" i="0" u="none" strike="noStrike">
                          <a:solidFill>
                            <a:srgbClr val="000000"/>
                          </a:solidFill>
                          <a:effectLst/>
                          <a:latin typeface="Trebuchet MS" panose="020B0603020202020204" pitchFamily="34" charset="0"/>
                        </a:rPr>
                        <a:t>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600" b="1" i="0" u="none" strike="noStrike">
                          <a:solidFill>
                            <a:srgbClr val="000000"/>
                          </a:solidFill>
                          <a:effectLst/>
                          <a:latin typeface="Trebuchet MS" panose="020B0603020202020204" pitchFamily="34" charset="0"/>
                        </a:rPr>
                        <a:t>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extLst>
                  <a:ext uri="{0D108BD9-81ED-4DB2-BD59-A6C34878D82A}">
                    <a16:rowId xmlns:a16="http://schemas.microsoft.com/office/drawing/2014/main" val="27442427"/>
                  </a:ext>
                </a:extLst>
              </a:tr>
              <a:tr h="371241">
                <a:tc>
                  <a:txBody>
                    <a:bodyPr/>
                    <a:lstStyle/>
                    <a:p>
                      <a:pPr algn="ctr" fontAlgn="b"/>
                      <a:r>
                        <a:rPr lang="en-IN" sz="1600" b="1" i="0" u="none" strike="noStrike" dirty="0">
                          <a:solidFill>
                            <a:srgbClr val="000000"/>
                          </a:solidFill>
                          <a:effectLst/>
                          <a:latin typeface="Trebuchet MS" panose="020B0603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600" b="0" i="0" u="none" strike="noStrike" dirty="0">
                          <a:solidFill>
                            <a:srgbClr val="000000"/>
                          </a:solidFill>
                          <a:effectLst/>
                          <a:latin typeface="Trebuchet MS" panose="020B0603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a:solidFill>
                            <a:srgbClr val="000000"/>
                          </a:solidFill>
                          <a:effectLst/>
                          <a:latin typeface="Trebuchet MS" panose="020B0603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a:solidFill>
                            <a:srgbClr val="000000"/>
                          </a:solidFill>
                          <a:effectLst/>
                          <a:latin typeface="Trebuchet MS" panose="020B0603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8422804"/>
                  </a:ext>
                </a:extLst>
              </a:tr>
              <a:tr h="371241">
                <a:tc>
                  <a:txBody>
                    <a:bodyPr/>
                    <a:lstStyle/>
                    <a:p>
                      <a:pPr algn="ctr" fontAlgn="b"/>
                      <a:r>
                        <a:rPr lang="en-IN" sz="1600" b="1" i="0" u="none" strike="noStrike">
                          <a:solidFill>
                            <a:srgbClr val="000000"/>
                          </a:solidFill>
                          <a:effectLst/>
                          <a:latin typeface="Trebuchet MS" panose="020B0603020202020204" pitchFamily="34" charset="0"/>
                        </a:rPr>
                        <a:t>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600" b="0" i="0" u="none" strike="noStrike" dirty="0">
                          <a:solidFill>
                            <a:srgbClr val="000000"/>
                          </a:solidFill>
                          <a:effectLst/>
                          <a:latin typeface="Trebuchet MS" panose="020B0603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9378926"/>
                  </a:ext>
                </a:extLst>
              </a:tr>
              <a:tr h="371241">
                <a:tc>
                  <a:txBody>
                    <a:bodyPr/>
                    <a:lstStyle/>
                    <a:p>
                      <a:pPr algn="ctr" fontAlgn="b"/>
                      <a:r>
                        <a:rPr lang="en-IN" sz="1600" b="1" i="0" u="none" strike="noStrike">
                          <a:solidFill>
                            <a:srgbClr val="000000"/>
                          </a:solidFill>
                          <a:effectLst/>
                          <a:latin typeface="Trebuchet MS" panose="020B0603020202020204" pitchFamily="34" charset="0"/>
                        </a:rPr>
                        <a:t>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600" b="0" i="0" u="none" strike="noStrike">
                          <a:solidFill>
                            <a:srgbClr val="000000"/>
                          </a:solidFill>
                          <a:effectLst/>
                          <a:latin typeface="Trebuchet MS" panose="020B0603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a:solidFill>
                            <a:srgbClr val="000000"/>
                          </a:solidFill>
                          <a:effectLst/>
                          <a:latin typeface="Trebuchet MS" panose="020B0603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14867039"/>
                  </a:ext>
                </a:extLst>
              </a:tr>
              <a:tr h="371241">
                <a:tc>
                  <a:txBody>
                    <a:bodyPr/>
                    <a:lstStyle/>
                    <a:p>
                      <a:pPr algn="ctr" fontAlgn="b"/>
                      <a:r>
                        <a:rPr lang="en-IN" sz="1600" b="1" i="0" u="none" strike="noStrike">
                          <a:solidFill>
                            <a:srgbClr val="000000"/>
                          </a:solidFill>
                          <a:effectLst/>
                          <a:latin typeface="Trebuchet MS" panose="020B0603020202020204" pitchFamily="34" charset="0"/>
                        </a:rPr>
                        <a:t>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600" b="0" i="0" u="none" strike="noStrike">
                          <a:solidFill>
                            <a:srgbClr val="000000"/>
                          </a:solidFill>
                          <a:effectLst/>
                          <a:latin typeface="Trebuchet MS" panose="020B0603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a:solidFill>
                            <a:srgbClr val="000000"/>
                          </a:solidFill>
                          <a:effectLst/>
                          <a:latin typeface="Trebuchet MS" panose="020B0603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5352774"/>
                  </a:ext>
                </a:extLst>
              </a:tr>
              <a:tr h="371241">
                <a:tc>
                  <a:txBody>
                    <a:bodyPr/>
                    <a:lstStyle/>
                    <a:p>
                      <a:pPr algn="ctr" fontAlgn="b"/>
                      <a:r>
                        <a:rPr lang="en-IN" sz="1600" b="1" i="0" u="none" strike="noStrike">
                          <a:solidFill>
                            <a:srgbClr val="000000"/>
                          </a:solidFill>
                          <a:effectLst/>
                          <a:latin typeface="Trebuchet MS" panose="020B0603020202020204" pitchFamily="34" charset="0"/>
                        </a:rPr>
                        <a:t>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600" b="0" i="0" u="none" strike="noStrike">
                          <a:solidFill>
                            <a:srgbClr val="000000"/>
                          </a:solidFill>
                          <a:effectLst/>
                          <a:latin typeface="Trebuchet MS" panose="020B0603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a:solidFill>
                            <a:srgbClr val="000000"/>
                          </a:solidFill>
                          <a:effectLst/>
                          <a:latin typeface="Trebuchet MS" panose="020B0603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a:solidFill>
                            <a:srgbClr val="000000"/>
                          </a:solidFill>
                          <a:effectLst/>
                          <a:latin typeface="Trebuchet MS" panose="020B0603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3062734"/>
                  </a:ext>
                </a:extLst>
              </a:tr>
              <a:tr h="371241">
                <a:tc>
                  <a:txBody>
                    <a:bodyPr/>
                    <a:lstStyle/>
                    <a:p>
                      <a:pPr algn="ctr" fontAlgn="b"/>
                      <a:r>
                        <a:rPr lang="en-IN" sz="1600" b="1" i="0" u="none" strike="noStrike">
                          <a:solidFill>
                            <a:srgbClr val="000000"/>
                          </a:solidFill>
                          <a:effectLst/>
                          <a:latin typeface="Trebuchet MS" panose="020B0603020202020204" pitchFamily="34" charset="0"/>
                        </a:rPr>
                        <a:t>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600" b="0" i="0" u="none" strike="noStrike">
                          <a:solidFill>
                            <a:srgbClr val="000000"/>
                          </a:solidFill>
                          <a:effectLst/>
                          <a:latin typeface="Trebuchet MS" panose="020B0603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a:solidFill>
                            <a:srgbClr val="000000"/>
                          </a:solidFill>
                          <a:effectLst/>
                          <a:latin typeface="Trebuchet MS" panose="020B0603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a:solidFill>
                            <a:srgbClr val="000000"/>
                          </a:solidFill>
                          <a:effectLst/>
                          <a:latin typeface="Trebuchet MS" panose="020B0603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Trebuchet MS" panose="020B060302020202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8484141"/>
                  </a:ext>
                </a:extLst>
              </a:tr>
            </a:tbl>
          </a:graphicData>
        </a:graphic>
      </p:graphicFrame>
      <p:cxnSp>
        <p:nvCxnSpPr>
          <p:cNvPr id="7" name="Straight Arrow Connector 6"/>
          <p:cNvCxnSpPr/>
          <p:nvPr/>
        </p:nvCxnSpPr>
        <p:spPr>
          <a:xfrm>
            <a:off x="1101969" y="2321169"/>
            <a:ext cx="0" cy="102982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543908" y="1477108"/>
            <a:ext cx="161778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87980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4">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5">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6">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71A30FA2-A1F9-8502-C845-D048D2F541A5}"/>
              </a:ext>
            </a:extLst>
          </p:cNvPr>
          <p:cNvSpPr txBox="1"/>
          <p:nvPr/>
        </p:nvSpPr>
        <p:spPr>
          <a:xfrm>
            <a:off x="334106" y="769480"/>
            <a:ext cx="8669217" cy="3954929"/>
          </a:xfrm>
          <a:prstGeom prst="rect">
            <a:avLst/>
          </a:prstGeom>
          <a:noFill/>
        </p:spPr>
        <p:txBody>
          <a:bodyPr wrap="square">
            <a:spAutoFit/>
          </a:bodyPr>
          <a:lstStyle/>
          <a:p>
            <a:pPr>
              <a:spcBef>
                <a:spcPts val="600"/>
              </a:spcBef>
              <a:spcAft>
                <a:spcPts val="600"/>
              </a:spcAft>
            </a:pPr>
            <a:r>
              <a:rPr lang="en-IN" sz="1800" b="1" dirty="0">
                <a:solidFill>
                  <a:srgbClr val="0070C0"/>
                </a:solidFill>
                <a:latin typeface="Trebuchet MS" panose="020B0603020202020204" pitchFamily="34" charset="0"/>
              </a:rPr>
              <a:t>Trace the solution:</a:t>
            </a:r>
          </a:p>
          <a:p>
            <a:pPr>
              <a:spcBef>
                <a:spcPts val="600"/>
              </a:spcBef>
              <a:spcAft>
                <a:spcPts val="600"/>
              </a:spcAft>
            </a:pPr>
            <a:r>
              <a:rPr lang="en-IN" sz="1800" dirty="0">
                <a:solidFill>
                  <a:schemeClr val="tx1"/>
                </a:solidFill>
                <a:latin typeface="Trebuchet MS" panose="020B0603020202020204" pitchFamily="34" charset="0"/>
              </a:rPr>
              <a:t>Longest common subsequence for given strings is of length 4. Let us find LCS of P and Q :</a:t>
            </a:r>
          </a:p>
          <a:p>
            <a:pPr>
              <a:spcBef>
                <a:spcPts val="600"/>
              </a:spcBef>
              <a:spcAft>
                <a:spcPts val="600"/>
              </a:spcAft>
            </a:pPr>
            <a:r>
              <a:rPr lang="en-IN" sz="1800" b="1" dirty="0">
                <a:solidFill>
                  <a:srgbClr val="0070C0"/>
                </a:solidFill>
                <a:latin typeface="Trebuchet MS" panose="020B0603020202020204" pitchFamily="34" charset="0"/>
              </a:rPr>
              <a:t>Step 1:   </a:t>
            </a:r>
            <a:r>
              <a:rPr lang="en-IN" sz="1800" dirty="0">
                <a:solidFill>
                  <a:schemeClr val="tx1"/>
                </a:solidFill>
                <a:latin typeface="Trebuchet MS" panose="020B0603020202020204" pitchFamily="34" charset="0"/>
              </a:rPr>
              <a:t>i = 5, j = 4, Pi = M, </a:t>
            </a:r>
            <a:r>
              <a:rPr lang="en-IN" sz="1800" dirty="0" err="1">
                <a:solidFill>
                  <a:schemeClr val="tx1"/>
                </a:solidFill>
                <a:latin typeface="Trebuchet MS" panose="020B0603020202020204" pitchFamily="34" charset="0"/>
              </a:rPr>
              <a:t>Qj</a:t>
            </a:r>
            <a:r>
              <a:rPr lang="en-IN" sz="1800" dirty="0">
                <a:solidFill>
                  <a:schemeClr val="tx1"/>
                </a:solidFill>
                <a:latin typeface="Trebuchet MS" panose="020B0603020202020204" pitchFamily="34" charset="0"/>
              </a:rPr>
              <a:t> = M</a:t>
            </a:r>
          </a:p>
          <a:p>
            <a:pPr>
              <a:spcBef>
                <a:spcPts val="600"/>
              </a:spcBef>
              <a:spcAft>
                <a:spcPts val="600"/>
              </a:spcAft>
            </a:pPr>
            <a:r>
              <a:rPr lang="en-IN" sz="1800" dirty="0">
                <a:solidFill>
                  <a:schemeClr val="tx1"/>
                </a:solidFill>
                <a:latin typeface="Trebuchet MS" panose="020B0603020202020204" pitchFamily="34" charset="0"/>
              </a:rPr>
              <a:t>Pi = Qi, so add Pi to solution set. And move diagonally back.</a:t>
            </a:r>
          </a:p>
          <a:p>
            <a:pPr>
              <a:spcBef>
                <a:spcPts val="600"/>
              </a:spcBef>
              <a:spcAft>
                <a:spcPts val="600"/>
              </a:spcAft>
            </a:pPr>
            <a:r>
              <a:rPr lang="en-IN" sz="1800" dirty="0">
                <a:solidFill>
                  <a:schemeClr val="tx1"/>
                </a:solidFill>
                <a:latin typeface="Trebuchet MS" panose="020B0603020202020204" pitchFamily="34" charset="0"/>
              </a:rPr>
              <a:t>Solution set S = {M }</a:t>
            </a:r>
          </a:p>
          <a:p>
            <a:pPr>
              <a:spcBef>
                <a:spcPts val="600"/>
              </a:spcBef>
              <a:spcAft>
                <a:spcPts val="600"/>
              </a:spcAft>
            </a:pPr>
            <a:r>
              <a:rPr lang="en-IN" sz="1800" b="1" dirty="0">
                <a:solidFill>
                  <a:srgbClr val="0070C0"/>
                </a:solidFill>
                <a:latin typeface="Trebuchet MS" panose="020B0603020202020204" pitchFamily="34" charset="0"/>
              </a:rPr>
              <a:t>Step 2:   </a:t>
            </a:r>
            <a:r>
              <a:rPr lang="en-IN" sz="1800" dirty="0">
                <a:solidFill>
                  <a:schemeClr val="tx1"/>
                </a:solidFill>
                <a:latin typeface="Trebuchet MS" panose="020B0603020202020204" pitchFamily="34" charset="0"/>
              </a:rPr>
              <a:t>i = 4, j = 3, Pi = O, </a:t>
            </a:r>
            <a:r>
              <a:rPr lang="en-IN" sz="1800" dirty="0" err="1">
                <a:solidFill>
                  <a:schemeClr val="tx1"/>
                </a:solidFill>
                <a:latin typeface="Trebuchet MS" panose="020B0603020202020204" pitchFamily="34" charset="0"/>
              </a:rPr>
              <a:t>Qj</a:t>
            </a:r>
            <a:r>
              <a:rPr lang="en-IN" sz="1800" dirty="0">
                <a:solidFill>
                  <a:schemeClr val="tx1"/>
                </a:solidFill>
                <a:latin typeface="Trebuchet MS" panose="020B0603020202020204" pitchFamily="34" charset="0"/>
              </a:rPr>
              <a:t> = O</a:t>
            </a:r>
          </a:p>
          <a:p>
            <a:pPr>
              <a:spcBef>
                <a:spcPts val="600"/>
              </a:spcBef>
              <a:spcAft>
                <a:spcPts val="600"/>
              </a:spcAft>
            </a:pPr>
            <a:r>
              <a:rPr lang="en-IN" sz="1800" dirty="0">
                <a:solidFill>
                  <a:schemeClr val="tx1"/>
                </a:solidFill>
                <a:latin typeface="Trebuchet MS" panose="020B0603020202020204" pitchFamily="34" charset="0"/>
              </a:rPr>
              <a:t>Pi = Qi, so add Pi to solution set. And move diagonally back.</a:t>
            </a:r>
          </a:p>
          <a:p>
            <a:pPr>
              <a:spcBef>
                <a:spcPts val="600"/>
              </a:spcBef>
              <a:spcAft>
                <a:spcPts val="600"/>
              </a:spcAft>
            </a:pPr>
            <a:r>
              <a:rPr lang="en-IN" sz="1800" dirty="0">
                <a:solidFill>
                  <a:schemeClr val="tx1"/>
                </a:solidFill>
                <a:latin typeface="Trebuchet MS" panose="020B0603020202020204" pitchFamily="34" charset="0"/>
              </a:rPr>
              <a:t>Solution set S = { M, O }</a:t>
            </a:r>
          </a:p>
          <a:p>
            <a:endParaRPr lang="en-IN" dirty="0">
              <a:latin typeface="Trebuchet MS" panose="020B0603020202020204" pitchFamily="34" charset="0"/>
            </a:endParaRPr>
          </a:p>
        </p:txBody>
      </p:sp>
      <p:sp>
        <p:nvSpPr>
          <p:cNvPr id="6" name="TextBox 5">
            <a:extLst>
              <a:ext uri="{FF2B5EF4-FFF2-40B4-BE49-F238E27FC236}">
                <a16:creationId xmlns:a16="http://schemas.microsoft.com/office/drawing/2014/main" id="{32C3DC83-42B1-6EEB-A645-0B26F5D54B47}"/>
              </a:ext>
            </a:extLst>
          </p:cNvPr>
          <p:cNvSpPr txBox="1"/>
          <p:nvPr/>
        </p:nvSpPr>
        <p:spPr>
          <a:xfrm>
            <a:off x="181707" y="148588"/>
            <a:ext cx="4654062" cy="477054"/>
          </a:xfrm>
          <a:prstGeom prst="rect">
            <a:avLst/>
          </a:prstGeom>
          <a:noFill/>
        </p:spPr>
        <p:txBody>
          <a:bodyPr wrap="square">
            <a:spAutoFit/>
          </a:bodyPr>
          <a:lstStyle/>
          <a:p>
            <a:r>
              <a:rPr kumimoji="0" lang="en-US" sz="2500" b="1" i="0" u="none" strike="noStrike" kern="1200" cap="none" spc="0" normalizeH="0" baseline="0" noProof="0" dirty="0">
                <a:ln>
                  <a:noFill/>
                </a:ln>
                <a:solidFill>
                  <a:prstClr val="black"/>
                </a:solidFill>
                <a:effectLst/>
                <a:uLnTx/>
                <a:uFillTx/>
                <a:latin typeface="Corbel" panose="020B0503020204020204" pitchFamily="34" charset="0"/>
              </a:rPr>
              <a:t>LCS- Example </a:t>
            </a:r>
            <a:endParaRPr lang="en-IN" dirty="0"/>
          </a:p>
        </p:txBody>
      </p:sp>
    </p:spTree>
    <p:extLst>
      <p:ext uri="{BB962C8B-B14F-4D97-AF65-F5344CB8AC3E}">
        <p14:creationId xmlns:p14="http://schemas.microsoft.com/office/powerpoint/2010/main" val="2135163569"/>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4E5E29D-779C-4C98-06F2-D7837C668ECC}"/>
              </a:ext>
            </a:extLst>
          </p:cNvPr>
          <p:cNvSpPr txBox="1"/>
          <p:nvPr/>
        </p:nvSpPr>
        <p:spPr>
          <a:xfrm>
            <a:off x="181707" y="148588"/>
            <a:ext cx="4654062" cy="477054"/>
          </a:xfrm>
          <a:prstGeom prst="rect">
            <a:avLst/>
          </a:prstGeom>
          <a:noFill/>
        </p:spPr>
        <p:txBody>
          <a:bodyPr wrap="square">
            <a:spAutoFit/>
          </a:bodyPr>
          <a:lstStyle/>
          <a:p>
            <a:r>
              <a:rPr kumimoji="0" lang="en-US" sz="2500" b="1" i="0" u="none" strike="noStrike" kern="1200" cap="none" spc="0" normalizeH="0" baseline="0" noProof="0">
                <a:ln>
                  <a:noFill/>
                </a:ln>
                <a:solidFill>
                  <a:prstClr val="black"/>
                </a:solidFill>
                <a:effectLst/>
                <a:uLnTx/>
                <a:uFillTx/>
                <a:latin typeface="Corbel" panose="020B0503020204020204" pitchFamily="34" charset="0"/>
              </a:rPr>
              <a:t>LCS- Example</a:t>
            </a:r>
            <a:endParaRPr lang="en-IN" dirty="0"/>
          </a:p>
        </p:txBody>
      </p:sp>
      <p:sp>
        <p:nvSpPr>
          <p:cNvPr id="7" name="Rectangle 6">
            <a:extLst>
              <a:ext uri="{FF2B5EF4-FFF2-40B4-BE49-F238E27FC236}">
                <a16:creationId xmlns:a16="http://schemas.microsoft.com/office/drawing/2014/main" id="{A3125038-116F-9546-AFA7-5898BF45DDA5}"/>
              </a:ext>
            </a:extLst>
          </p:cNvPr>
          <p:cNvSpPr/>
          <p:nvPr/>
        </p:nvSpPr>
        <p:spPr>
          <a:xfrm>
            <a:off x="2320872" y="4271721"/>
            <a:ext cx="3470032" cy="372831"/>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5" name="TextBox 4">
            <a:extLst>
              <a:ext uri="{FF2B5EF4-FFF2-40B4-BE49-F238E27FC236}">
                <a16:creationId xmlns:a16="http://schemas.microsoft.com/office/drawing/2014/main" id="{6F22979B-55D6-FF42-797C-C1879804E102}"/>
              </a:ext>
            </a:extLst>
          </p:cNvPr>
          <p:cNvSpPr txBox="1"/>
          <p:nvPr/>
        </p:nvSpPr>
        <p:spPr>
          <a:xfrm>
            <a:off x="392698" y="828123"/>
            <a:ext cx="8358553" cy="3816429"/>
          </a:xfrm>
          <a:prstGeom prst="rect">
            <a:avLst/>
          </a:prstGeom>
          <a:noFill/>
        </p:spPr>
        <p:txBody>
          <a:bodyPr wrap="square">
            <a:spAutoFit/>
          </a:bodyPr>
          <a:lstStyle/>
          <a:p>
            <a:pPr fontAlgn="base">
              <a:spcBef>
                <a:spcPts val="600"/>
              </a:spcBef>
              <a:spcAft>
                <a:spcPts val="600"/>
              </a:spcAft>
            </a:pPr>
            <a:r>
              <a:rPr lang="en-IN" sz="1800" b="1" dirty="0">
                <a:solidFill>
                  <a:srgbClr val="0070C0"/>
                </a:solidFill>
                <a:latin typeface="Trebuchet MS" panose="020B0603020202020204" pitchFamily="34" charset="0"/>
              </a:rPr>
              <a:t>Step 3:</a:t>
            </a:r>
            <a:r>
              <a:rPr lang="en-IN" sz="1800" dirty="0">
                <a:solidFill>
                  <a:schemeClr val="tx1"/>
                </a:solidFill>
                <a:latin typeface="Trebuchet MS" panose="020B0603020202020204" pitchFamily="34" charset="0"/>
              </a:rPr>
              <a:t>   i = 3, j = 2, Pi = N, </a:t>
            </a:r>
            <a:r>
              <a:rPr lang="en-IN" sz="1800" dirty="0" err="1">
                <a:solidFill>
                  <a:schemeClr val="tx1"/>
                </a:solidFill>
                <a:latin typeface="Trebuchet MS" panose="020B0603020202020204" pitchFamily="34" charset="0"/>
              </a:rPr>
              <a:t>Qj</a:t>
            </a:r>
            <a:r>
              <a:rPr lang="en-IN" sz="1800" dirty="0">
                <a:solidFill>
                  <a:schemeClr val="tx1"/>
                </a:solidFill>
                <a:latin typeface="Trebuchet MS" panose="020B0603020202020204" pitchFamily="34" charset="0"/>
              </a:rPr>
              <a:t> = N</a:t>
            </a:r>
          </a:p>
          <a:p>
            <a:pPr algn="l" fontAlgn="base">
              <a:spcBef>
                <a:spcPts val="600"/>
              </a:spcBef>
              <a:spcAft>
                <a:spcPts val="600"/>
              </a:spcAft>
            </a:pPr>
            <a:r>
              <a:rPr lang="en-IN" sz="1800" b="0" i="0" dirty="0">
                <a:solidFill>
                  <a:schemeClr val="tx1"/>
                </a:solidFill>
                <a:effectLst/>
                <a:latin typeface="Trebuchet MS" panose="020B0603020202020204" pitchFamily="34" charset="0"/>
              </a:rPr>
              <a:t>P</a:t>
            </a:r>
            <a:r>
              <a:rPr lang="en-IN" sz="1800" b="0" i="0" baseline="-25000" dirty="0">
                <a:solidFill>
                  <a:schemeClr val="tx1"/>
                </a:solidFill>
                <a:effectLst/>
                <a:latin typeface="Trebuchet MS" panose="020B0603020202020204" pitchFamily="34" charset="0"/>
              </a:rPr>
              <a:t>i</a:t>
            </a:r>
            <a:r>
              <a:rPr lang="en-IN" sz="1800" b="0" i="0" dirty="0">
                <a:solidFill>
                  <a:schemeClr val="tx1"/>
                </a:solidFill>
                <a:effectLst/>
                <a:latin typeface="Trebuchet MS" panose="020B0603020202020204" pitchFamily="34" charset="0"/>
              </a:rPr>
              <a:t> = Q</a:t>
            </a:r>
            <a:r>
              <a:rPr lang="en-IN" sz="1800" b="0" i="0" baseline="-25000" dirty="0">
                <a:solidFill>
                  <a:schemeClr val="tx1"/>
                </a:solidFill>
                <a:effectLst/>
                <a:latin typeface="Trebuchet MS" panose="020B0603020202020204" pitchFamily="34" charset="0"/>
              </a:rPr>
              <a:t>i</a:t>
            </a:r>
            <a:r>
              <a:rPr lang="en-IN" sz="1800" b="0" i="0" dirty="0">
                <a:solidFill>
                  <a:schemeClr val="tx1"/>
                </a:solidFill>
                <a:effectLst/>
                <a:latin typeface="Trebuchet MS" panose="020B0603020202020204" pitchFamily="34" charset="0"/>
              </a:rPr>
              <a:t>, so add Pi to solution set. And move diagonally back.</a:t>
            </a:r>
          </a:p>
          <a:p>
            <a:pPr algn="l" fontAlgn="base">
              <a:spcBef>
                <a:spcPts val="600"/>
              </a:spcBef>
              <a:spcAft>
                <a:spcPts val="600"/>
              </a:spcAft>
            </a:pPr>
            <a:r>
              <a:rPr lang="en-IN" sz="1800" b="0" i="0" dirty="0">
                <a:solidFill>
                  <a:schemeClr val="tx1"/>
                </a:solidFill>
                <a:effectLst/>
                <a:latin typeface="Trebuchet MS" panose="020B0603020202020204" pitchFamily="34" charset="0"/>
              </a:rPr>
              <a:t>Solution set S = { M, O, N }</a:t>
            </a:r>
          </a:p>
          <a:p>
            <a:pPr algn="l" fontAlgn="base">
              <a:spcBef>
                <a:spcPts val="600"/>
              </a:spcBef>
              <a:spcAft>
                <a:spcPts val="600"/>
              </a:spcAft>
            </a:pPr>
            <a:r>
              <a:rPr lang="en-IN" sz="1800" b="1" i="0" dirty="0">
                <a:solidFill>
                  <a:srgbClr val="0070C0"/>
                </a:solidFill>
                <a:effectLst/>
                <a:latin typeface="Trebuchet MS" panose="020B0603020202020204" pitchFamily="34" charset="0"/>
              </a:rPr>
              <a:t>Step 4:</a:t>
            </a:r>
            <a:r>
              <a:rPr lang="en-IN" sz="1800" b="0" i="0" dirty="0">
                <a:solidFill>
                  <a:srgbClr val="0070C0"/>
                </a:solidFill>
                <a:effectLst/>
                <a:latin typeface="Trebuchet MS" panose="020B0603020202020204" pitchFamily="34" charset="0"/>
              </a:rPr>
              <a:t> </a:t>
            </a:r>
            <a:r>
              <a:rPr lang="en-IN" sz="1800" b="0" i="0" dirty="0">
                <a:solidFill>
                  <a:schemeClr val="tx1"/>
                </a:solidFill>
                <a:effectLst/>
                <a:latin typeface="Trebuchet MS" panose="020B0603020202020204" pitchFamily="34" charset="0"/>
              </a:rPr>
              <a:t>  i = 2, j = 1, P</a:t>
            </a:r>
            <a:r>
              <a:rPr lang="en-IN" sz="1800" b="0" i="0" baseline="-25000" dirty="0">
                <a:solidFill>
                  <a:schemeClr val="tx1"/>
                </a:solidFill>
                <a:effectLst/>
                <a:latin typeface="Trebuchet MS" panose="020B0603020202020204" pitchFamily="34" charset="0"/>
              </a:rPr>
              <a:t>i</a:t>
            </a:r>
            <a:r>
              <a:rPr lang="en-IN" sz="1800" b="0" i="0" dirty="0">
                <a:solidFill>
                  <a:schemeClr val="tx1"/>
                </a:solidFill>
                <a:effectLst/>
                <a:latin typeface="Trebuchet MS" panose="020B0603020202020204" pitchFamily="34" charset="0"/>
              </a:rPr>
              <a:t> = L, </a:t>
            </a:r>
            <a:r>
              <a:rPr lang="en-IN" sz="1800" b="0" i="0" dirty="0" err="1">
                <a:solidFill>
                  <a:schemeClr val="tx1"/>
                </a:solidFill>
                <a:effectLst/>
                <a:latin typeface="Trebuchet MS" panose="020B0603020202020204" pitchFamily="34" charset="0"/>
              </a:rPr>
              <a:t>Q</a:t>
            </a:r>
            <a:r>
              <a:rPr lang="en-IN" sz="1800" b="0" i="0" baseline="-25000" dirty="0" err="1">
                <a:solidFill>
                  <a:schemeClr val="tx1"/>
                </a:solidFill>
                <a:effectLst/>
                <a:latin typeface="Trebuchet MS" panose="020B0603020202020204" pitchFamily="34" charset="0"/>
              </a:rPr>
              <a:t>j</a:t>
            </a:r>
            <a:r>
              <a:rPr lang="en-IN" sz="1800" b="0" i="0" dirty="0">
                <a:solidFill>
                  <a:schemeClr val="tx1"/>
                </a:solidFill>
                <a:effectLst/>
                <a:latin typeface="Trebuchet MS" panose="020B0603020202020204" pitchFamily="34" charset="0"/>
              </a:rPr>
              <a:t> = M</a:t>
            </a:r>
          </a:p>
          <a:p>
            <a:pPr algn="l" fontAlgn="base">
              <a:spcBef>
                <a:spcPts val="600"/>
              </a:spcBef>
              <a:spcAft>
                <a:spcPts val="600"/>
              </a:spcAft>
            </a:pPr>
            <a:r>
              <a:rPr lang="en-IN" sz="1800" b="0" i="0" dirty="0">
                <a:solidFill>
                  <a:schemeClr val="tx1"/>
                </a:solidFill>
                <a:effectLst/>
                <a:latin typeface="Trebuchet MS" panose="020B0603020202020204" pitchFamily="34" charset="0"/>
              </a:rPr>
              <a:t>P</a:t>
            </a:r>
            <a:r>
              <a:rPr lang="en-IN" sz="1800" b="0" i="0" baseline="-25000" dirty="0">
                <a:solidFill>
                  <a:schemeClr val="tx1"/>
                </a:solidFill>
                <a:effectLst/>
                <a:latin typeface="Trebuchet MS" panose="020B0603020202020204" pitchFamily="34" charset="0"/>
              </a:rPr>
              <a:t>i</a:t>
            </a:r>
            <a:r>
              <a:rPr lang="en-IN" sz="1800" b="0" i="0" dirty="0">
                <a:solidFill>
                  <a:schemeClr val="tx1"/>
                </a:solidFill>
                <a:effectLst/>
                <a:latin typeface="Trebuchet MS" panose="020B0603020202020204" pitchFamily="34" charset="0"/>
              </a:rPr>
              <a:t> ≠ </a:t>
            </a:r>
            <a:r>
              <a:rPr lang="en-IN" sz="1800" b="0" i="0" dirty="0" err="1">
                <a:solidFill>
                  <a:schemeClr val="tx1"/>
                </a:solidFill>
                <a:effectLst/>
                <a:latin typeface="Trebuchet MS" panose="020B0603020202020204" pitchFamily="34" charset="0"/>
              </a:rPr>
              <a:t>Q</a:t>
            </a:r>
            <a:r>
              <a:rPr lang="en-IN" sz="1800" b="0" i="0" baseline="-25000" dirty="0" err="1">
                <a:solidFill>
                  <a:schemeClr val="tx1"/>
                </a:solidFill>
                <a:effectLst/>
                <a:latin typeface="Trebuchet MS" panose="020B0603020202020204" pitchFamily="34" charset="0"/>
              </a:rPr>
              <a:t>j</a:t>
            </a:r>
            <a:r>
              <a:rPr lang="en-IN" sz="1800" b="0" i="0" dirty="0">
                <a:solidFill>
                  <a:schemeClr val="tx1"/>
                </a:solidFill>
                <a:effectLst/>
                <a:latin typeface="Trebuchet MS" panose="020B0603020202020204" pitchFamily="34" charset="0"/>
              </a:rPr>
              <a:t>, and LCS[</a:t>
            </a:r>
            <a:r>
              <a:rPr lang="en-IN" sz="1800" b="0" i="0" dirty="0" err="1">
                <a:solidFill>
                  <a:schemeClr val="tx1"/>
                </a:solidFill>
                <a:effectLst/>
                <a:latin typeface="Trebuchet MS" panose="020B0603020202020204" pitchFamily="34" charset="0"/>
              </a:rPr>
              <a:t>i</a:t>
            </a:r>
            <a:r>
              <a:rPr lang="en-IN" sz="1800" b="0" i="0" dirty="0">
                <a:solidFill>
                  <a:schemeClr val="tx1"/>
                </a:solidFill>
                <a:effectLst/>
                <a:latin typeface="Trebuchet MS" panose="020B0603020202020204" pitchFamily="34" charset="0"/>
              </a:rPr>
              <a:t>, j] is derived from LCS[</a:t>
            </a:r>
            <a:r>
              <a:rPr lang="en-IN" sz="1800" b="0" i="0" dirty="0" err="1">
                <a:solidFill>
                  <a:schemeClr val="tx1"/>
                </a:solidFill>
                <a:effectLst/>
                <a:latin typeface="Trebuchet MS" panose="020B0603020202020204" pitchFamily="34" charset="0"/>
              </a:rPr>
              <a:t>i</a:t>
            </a:r>
            <a:r>
              <a:rPr lang="en-IN" sz="1800" b="0" i="0" dirty="0">
                <a:solidFill>
                  <a:schemeClr val="tx1"/>
                </a:solidFill>
                <a:effectLst/>
                <a:latin typeface="Trebuchet MS" panose="020B0603020202020204" pitchFamily="34" charset="0"/>
              </a:rPr>
              <a:t> – 1, j]. So move in vertical direction.</a:t>
            </a:r>
          </a:p>
          <a:p>
            <a:pPr algn="l" fontAlgn="base">
              <a:spcBef>
                <a:spcPts val="600"/>
              </a:spcBef>
              <a:spcAft>
                <a:spcPts val="600"/>
              </a:spcAft>
            </a:pPr>
            <a:r>
              <a:rPr lang="en-IN" sz="1800" b="0" i="0" dirty="0">
                <a:solidFill>
                  <a:schemeClr val="tx1"/>
                </a:solidFill>
                <a:effectLst/>
                <a:latin typeface="Trebuchet MS" panose="020B0603020202020204" pitchFamily="34" charset="0"/>
              </a:rPr>
              <a:t>Solution set S = { M, O, N }</a:t>
            </a:r>
          </a:p>
          <a:p>
            <a:pPr algn="l" fontAlgn="base">
              <a:spcBef>
                <a:spcPts val="600"/>
              </a:spcBef>
              <a:spcAft>
                <a:spcPts val="600"/>
              </a:spcAft>
            </a:pPr>
            <a:r>
              <a:rPr lang="en-IN" sz="1800" b="1" i="0" dirty="0">
                <a:solidFill>
                  <a:srgbClr val="0070C0"/>
                </a:solidFill>
                <a:effectLst/>
                <a:latin typeface="Trebuchet MS" panose="020B0603020202020204" pitchFamily="34" charset="0"/>
              </a:rPr>
              <a:t>Step 5:</a:t>
            </a:r>
            <a:r>
              <a:rPr lang="en-IN" sz="1800" b="0" i="0" dirty="0">
                <a:solidFill>
                  <a:srgbClr val="0070C0"/>
                </a:solidFill>
                <a:effectLst/>
                <a:latin typeface="Trebuchet MS" panose="020B0603020202020204" pitchFamily="34" charset="0"/>
              </a:rPr>
              <a:t> </a:t>
            </a:r>
            <a:r>
              <a:rPr lang="en-IN" sz="1800" b="0" i="0" dirty="0">
                <a:solidFill>
                  <a:schemeClr val="tx1"/>
                </a:solidFill>
                <a:effectLst/>
                <a:latin typeface="Trebuchet MS" panose="020B0603020202020204" pitchFamily="34" charset="0"/>
              </a:rPr>
              <a:t>  i = 1, j = 1, P</a:t>
            </a:r>
            <a:r>
              <a:rPr lang="en-IN" sz="1800" b="0" i="0" baseline="-25000" dirty="0">
                <a:solidFill>
                  <a:schemeClr val="tx1"/>
                </a:solidFill>
                <a:effectLst/>
                <a:latin typeface="Trebuchet MS" panose="020B0603020202020204" pitchFamily="34" charset="0"/>
              </a:rPr>
              <a:t>i</a:t>
            </a:r>
            <a:r>
              <a:rPr lang="en-IN" sz="1800" b="0" i="0" dirty="0">
                <a:solidFill>
                  <a:schemeClr val="tx1"/>
                </a:solidFill>
                <a:effectLst/>
                <a:latin typeface="Trebuchet MS" panose="020B0603020202020204" pitchFamily="34" charset="0"/>
              </a:rPr>
              <a:t> = M, </a:t>
            </a:r>
            <a:r>
              <a:rPr lang="en-IN" sz="1800" b="0" i="0" dirty="0" err="1">
                <a:solidFill>
                  <a:schemeClr val="tx1"/>
                </a:solidFill>
                <a:effectLst/>
                <a:latin typeface="Trebuchet MS" panose="020B0603020202020204" pitchFamily="34" charset="0"/>
              </a:rPr>
              <a:t>Q</a:t>
            </a:r>
            <a:r>
              <a:rPr lang="en-IN" sz="1800" b="0" i="0" baseline="-25000" dirty="0" err="1">
                <a:solidFill>
                  <a:schemeClr val="tx1"/>
                </a:solidFill>
                <a:effectLst/>
                <a:latin typeface="Trebuchet MS" panose="020B0603020202020204" pitchFamily="34" charset="0"/>
              </a:rPr>
              <a:t>j</a:t>
            </a:r>
            <a:r>
              <a:rPr lang="en-IN" sz="1800" b="0" i="0" dirty="0">
                <a:solidFill>
                  <a:schemeClr val="tx1"/>
                </a:solidFill>
                <a:effectLst/>
                <a:latin typeface="Trebuchet MS" panose="020B0603020202020204" pitchFamily="34" charset="0"/>
              </a:rPr>
              <a:t> = M</a:t>
            </a:r>
          </a:p>
          <a:p>
            <a:pPr algn="l" fontAlgn="base">
              <a:spcBef>
                <a:spcPts val="600"/>
              </a:spcBef>
              <a:spcAft>
                <a:spcPts val="600"/>
              </a:spcAft>
            </a:pPr>
            <a:r>
              <a:rPr lang="en-IN" sz="1800" b="0" i="0" dirty="0">
                <a:solidFill>
                  <a:schemeClr val="tx1"/>
                </a:solidFill>
                <a:effectLst/>
                <a:latin typeface="Trebuchet MS" panose="020B0603020202020204" pitchFamily="34" charset="0"/>
              </a:rPr>
              <a:t>P</a:t>
            </a:r>
            <a:r>
              <a:rPr lang="en-IN" sz="1800" b="0" i="0" baseline="-25000" dirty="0">
                <a:solidFill>
                  <a:schemeClr val="tx1"/>
                </a:solidFill>
                <a:effectLst/>
                <a:latin typeface="Trebuchet MS" panose="020B0603020202020204" pitchFamily="34" charset="0"/>
              </a:rPr>
              <a:t>i</a:t>
            </a:r>
            <a:r>
              <a:rPr lang="en-IN" sz="1800" b="0" i="0" dirty="0">
                <a:solidFill>
                  <a:schemeClr val="tx1"/>
                </a:solidFill>
                <a:effectLst/>
                <a:latin typeface="Trebuchet MS" panose="020B0603020202020204" pitchFamily="34" charset="0"/>
              </a:rPr>
              <a:t> = Q</a:t>
            </a:r>
            <a:r>
              <a:rPr lang="en-IN" sz="1800" b="0" i="0" baseline="-25000" dirty="0">
                <a:solidFill>
                  <a:schemeClr val="tx1"/>
                </a:solidFill>
                <a:effectLst/>
                <a:latin typeface="Trebuchet MS" panose="020B0603020202020204" pitchFamily="34" charset="0"/>
              </a:rPr>
              <a:t>i</a:t>
            </a:r>
            <a:r>
              <a:rPr lang="en-IN" sz="1800" b="0" i="0" dirty="0">
                <a:solidFill>
                  <a:schemeClr val="tx1"/>
                </a:solidFill>
                <a:effectLst/>
                <a:latin typeface="Trebuchet MS" panose="020B0603020202020204" pitchFamily="34" charset="0"/>
              </a:rPr>
              <a:t>, so add Pi to solution set. And move diagonally back.</a:t>
            </a:r>
          </a:p>
          <a:p>
            <a:pPr algn="l" fontAlgn="base">
              <a:spcBef>
                <a:spcPts val="600"/>
              </a:spcBef>
              <a:spcAft>
                <a:spcPts val="600"/>
              </a:spcAft>
            </a:pPr>
            <a:r>
              <a:rPr lang="en-IN" sz="1800" b="1" dirty="0">
                <a:solidFill>
                  <a:srgbClr val="D60093"/>
                </a:solidFill>
                <a:latin typeface="Corbel" panose="020B0503020204020204" pitchFamily="34" charset="0"/>
              </a:rPr>
              <a:t>		        </a:t>
            </a:r>
            <a:r>
              <a:rPr lang="en-IN" sz="1800" b="1" i="0" dirty="0" smtClean="0">
                <a:solidFill>
                  <a:srgbClr val="D60093"/>
                </a:solidFill>
                <a:effectLst/>
                <a:latin typeface="Corbel" panose="020B0503020204020204" pitchFamily="34" charset="0"/>
              </a:rPr>
              <a:t>Solution set S = { M, O, N, M }</a:t>
            </a:r>
            <a:endParaRPr lang="en-IN" sz="1800" b="1" i="0" dirty="0">
              <a:solidFill>
                <a:srgbClr val="D60093"/>
              </a:solidFill>
              <a:effectLst/>
              <a:latin typeface="Corbel" panose="020B0503020204020204" pitchFamily="34" charset="0"/>
            </a:endParaRPr>
          </a:p>
        </p:txBody>
      </p:sp>
    </p:spTree>
    <p:extLst>
      <p:ext uri="{BB962C8B-B14F-4D97-AF65-F5344CB8AC3E}">
        <p14:creationId xmlns:p14="http://schemas.microsoft.com/office/powerpoint/2010/main" val="300791312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750" y="4750"/>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2" name="Google Shape;97;p17">
            <a:extLst>
              <a:ext uri="{FF2B5EF4-FFF2-40B4-BE49-F238E27FC236}">
                <a16:creationId xmlns:a16="http://schemas.microsoft.com/office/drawing/2014/main" id="{EB0739F1-5B37-EDBF-8649-AA1C8C3AEBC3}"/>
              </a:ext>
            </a:extLst>
          </p:cNvPr>
          <p:cNvSpPr txBox="1"/>
          <p:nvPr/>
        </p:nvSpPr>
        <p:spPr>
          <a:xfrm>
            <a:off x="829240" y="1925421"/>
            <a:ext cx="6906784" cy="1292631"/>
          </a:xfrm>
          <a:prstGeom prst="rect">
            <a:avLst/>
          </a:prstGeom>
          <a:noFill/>
          <a:ln>
            <a:noFill/>
          </a:ln>
        </p:spPr>
        <p:txBody>
          <a:bodyPr spcFirstLastPara="1" wrap="square" lIns="91425" tIns="91425" rIns="91425" bIns="91425" anchor="t" anchorCtr="0">
            <a:spAutoFit/>
          </a:bodyPr>
          <a:lstStyle/>
          <a:p>
            <a:pPr algn="ctr" fontAlgn="base"/>
            <a:r>
              <a:rPr kumimoji="0" lang="en-IN" sz="7200" b="1" i="0" u="none" strike="noStrike" kern="0" cap="none" spc="0" normalizeH="0" baseline="0" noProof="0" dirty="0">
                <a:ln>
                  <a:noFill/>
                </a:ln>
                <a:solidFill>
                  <a:schemeClr val="tx1"/>
                </a:solidFill>
                <a:effectLst/>
                <a:uLnTx/>
                <a:uFillTx/>
                <a:latin typeface="Corbel" panose="020B0503020204020204" pitchFamily="34" charset="0"/>
                <a:sym typeface="Arial"/>
              </a:rPr>
              <a:t>Thank you!! </a:t>
            </a:r>
            <a:endParaRPr kumimoji="0" lang="en-IN" sz="7200" b="1" i="0" u="none" strike="noStrike" kern="0" cap="none" spc="0" normalizeH="0" baseline="0" noProof="0" dirty="0">
              <a:ln>
                <a:noFill/>
              </a:ln>
              <a:solidFill>
                <a:schemeClr val="tx1"/>
              </a:solidFill>
              <a:effectLst/>
              <a:uLnTx/>
              <a:uFillTx/>
              <a:latin typeface="Proxima Nova" panose="020B0604020202020204" charset="0"/>
              <a:cs typeface="Arial"/>
              <a:sym typeface="Arial"/>
            </a:endParaRPr>
          </a:p>
        </p:txBody>
      </p:sp>
    </p:spTree>
    <p:extLst>
      <p:ext uri="{BB962C8B-B14F-4D97-AF65-F5344CB8AC3E}">
        <p14:creationId xmlns:p14="http://schemas.microsoft.com/office/powerpoint/2010/main" val="2977448058"/>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PT Templat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PPT Templat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20357</TotalTime>
  <Words>14084</Words>
  <Application>Microsoft Office PowerPoint</Application>
  <PresentationFormat>On-screen Show (16:9)</PresentationFormat>
  <Paragraphs>1154</Paragraphs>
  <Slides>113</Slides>
  <Notes>113</Notes>
  <HiddenSlides>0</HiddenSlides>
  <MMClips>0</MMClips>
  <ScaleCrop>false</ScaleCrop>
  <HeadingPairs>
    <vt:vector size="8" baseType="variant">
      <vt:variant>
        <vt:lpstr>Fonts Used</vt:lpstr>
      </vt:variant>
      <vt:variant>
        <vt:i4>14</vt:i4>
      </vt:variant>
      <vt:variant>
        <vt:lpstr>Theme</vt:lpstr>
      </vt:variant>
      <vt:variant>
        <vt:i4>4</vt:i4>
      </vt:variant>
      <vt:variant>
        <vt:lpstr>Embedded OLE Servers</vt:lpstr>
      </vt:variant>
      <vt:variant>
        <vt:i4>1</vt:i4>
      </vt:variant>
      <vt:variant>
        <vt:lpstr>Slide Titles</vt:lpstr>
      </vt:variant>
      <vt:variant>
        <vt:i4>113</vt:i4>
      </vt:variant>
    </vt:vector>
  </HeadingPairs>
  <TitlesOfParts>
    <vt:vector size="132" baseType="lpstr">
      <vt:lpstr>Wingdings</vt:lpstr>
      <vt:lpstr>Roboto Condensed Light</vt:lpstr>
      <vt:lpstr>Arial</vt:lpstr>
      <vt:lpstr>Calibri</vt:lpstr>
      <vt:lpstr>Proxima Nova</vt:lpstr>
      <vt:lpstr>Times New Roman</vt:lpstr>
      <vt:lpstr>Corbel</vt:lpstr>
      <vt:lpstr>Segoe UI Black</vt:lpstr>
      <vt:lpstr>Cambria Math</vt:lpstr>
      <vt:lpstr>Calibri Light</vt:lpstr>
      <vt:lpstr>Symbol</vt:lpstr>
      <vt:lpstr>Wingdings 3</vt:lpstr>
      <vt:lpstr>Trebuchet MS</vt:lpstr>
      <vt:lpstr>DejaVu Sans</vt:lpstr>
      <vt:lpstr>Simple Light</vt:lpstr>
      <vt:lpstr>1_PPT Template</vt:lpstr>
      <vt:lpstr>Custom Design</vt:lpstr>
      <vt:lpstr>PPT Template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tourist</cp:lastModifiedBy>
  <cp:revision>705</cp:revision>
  <dcterms:modified xsi:type="dcterms:W3CDTF">2026-06-27T09:31:13Z</dcterms:modified>
</cp:coreProperties>
</file>