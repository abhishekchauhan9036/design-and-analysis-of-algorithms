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80"/>
  </p:notesMasterIdLst>
  <p:sldIdLst>
    <p:sldId id="257" r:id="rId3"/>
    <p:sldId id="258" r:id="rId4"/>
    <p:sldId id="302" r:id="rId5"/>
    <p:sldId id="303" r:id="rId6"/>
    <p:sldId id="406" r:id="rId7"/>
    <p:sldId id="266" r:id="rId8"/>
    <p:sldId id="267" r:id="rId9"/>
    <p:sldId id="268" r:id="rId10"/>
    <p:sldId id="259" r:id="rId11"/>
    <p:sldId id="260" r:id="rId12"/>
    <p:sldId id="261" r:id="rId13"/>
    <p:sldId id="262" r:id="rId14"/>
    <p:sldId id="263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407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6" r:id="rId37"/>
    <p:sldId id="367" r:id="rId38"/>
    <p:sldId id="368" r:id="rId39"/>
    <p:sldId id="269" r:id="rId40"/>
    <p:sldId id="270" r:id="rId41"/>
    <p:sldId id="279" r:id="rId42"/>
    <p:sldId id="287" r:id="rId43"/>
    <p:sldId id="371" r:id="rId44"/>
    <p:sldId id="372" r:id="rId45"/>
    <p:sldId id="375" r:id="rId46"/>
    <p:sldId id="376" r:id="rId47"/>
    <p:sldId id="377" r:id="rId48"/>
    <p:sldId id="378" r:id="rId49"/>
    <p:sldId id="379" r:id="rId50"/>
    <p:sldId id="275" r:id="rId51"/>
    <p:sldId id="282" r:id="rId52"/>
    <p:sldId id="283" r:id="rId53"/>
    <p:sldId id="284" r:id="rId54"/>
    <p:sldId id="285" r:id="rId55"/>
    <p:sldId id="286" r:id="rId56"/>
    <p:sldId id="274" r:id="rId57"/>
    <p:sldId id="277" r:id="rId58"/>
    <p:sldId id="278" r:id="rId59"/>
    <p:sldId id="380" r:id="rId60"/>
    <p:sldId id="381" r:id="rId61"/>
    <p:sldId id="410" r:id="rId62"/>
    <p:sldId id="411" r:id="rId63"/>
    <p:sldId id="412" r:id="rId64"/>
    <p:sldId id="413" r:id="rId65"/>
    <p:sldId id="414" r:id="rId66"/>
    <p:sldId id="390" r:id="rId67"/>
    <p:sldId id="391" r:id="rId68"/>
    <p:sldId id="392" r:id="rId69"/>
    <p:sldId id="393" r:id="rId70"/>
    <p:sldId id="395" r:id="rId71"/>
    <p:sldId id="396" r:id="rId72"/>
    <p:sldId id="398" r:id="rId73"/>
    <p:sldId id="402" r:id="rId74"/>
    <p:sldId id="289" r:id="rId75"/>
    <p:sldId id="290" r:id="rId76"/>
    <p:sldId id="291" r:id="rId77"/>
    <p:sldId id="292" r:id="rId78"/>
    <p:sldId id="293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F4268-CA1A-AB4B-951C-B2DC28F1BE7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49BC6-DE88-E042-830F-CB4E93DE0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92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857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168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09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08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829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7591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074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119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361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6743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7298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601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77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0745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7937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66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745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9526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4143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1104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83694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088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2438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606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3575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7039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9150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637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042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112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08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63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00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75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36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32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88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531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69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963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dirty="0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15680" y="1151520"/>
            <a:ext cx="11360160" cy="455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267" b="0" strike="noStrike" spc="-1">
                <a:latin typeface="Arial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68277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1136016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2949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0560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3127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15680" y="98400"/>
            <a:ext cx="11360160" cy="3539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267" b="0" strike="noStrike" spc="-1">
                <a:latin typeface="Arial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4123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15680" y="353088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918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7120" y="353088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89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15680" y="3530880"/>
            <a:ext cx="1136016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80111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1136016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15680" y="3530880"/>
            <a:ext cx="1136016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81796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15680" y="353088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7120" y="353088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24669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256640" y="115152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97600" y="115152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15680" y="353088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256640" y="353088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97600" y="353088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7991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8110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A372-BE42-451E-B14C-5FF9C6C0F46F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042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;p1"/>
          <p:cNvPicPr/>
          <p:nvPr/>
        </p:nvPicPr>
        <p:blipFill>
          <a:blip r:embed="rId15"/>
          <a:stretch/>
        </p:blipFill>
        <p:spPr>
          <a:xfrm>
            <a:off x="7680" y="2880"/>
            <a:ext cx="12176160" cy="6852000"/>
          </a:xfrm>
          <a:prstGeom prst="rect">
            <a:avLst/>
          </a:prstGeom>
          <a:ln>
            <a:noFill/>
          </a:ln>
        </p:spPr>
      </p:pic>
      <p:pic>
        <p:nvPicPr>
          <p:cNvPr id="6" name="Google Shape;7;p1"/>
          <p:cNvPicPr/>
          <p:nvPr/>
        </p:nvPicPr>
        <p:blipFill>
          <a:blip r:embed="rId16"/>
          <a:stretch/>
        </p:blipFill>
        <p:spPr>
          <a:xfrm>
            <a:off x="-17280" y="-2880"/>
            <a:ext cx="12201600" cy="6857760"/>
          </a:xfrm>
          <a:prstGeom prst="rect">
            <a:avLst/>
          </a:prstGeom>
          <a:ln>
            <a:noFill/>
          </a:ln>
        </p:spPr>
      </p:pic>
      <p:pic>
        <p:nvPicPr>
          <p:cNvPr id="2" name="Google Shape;10;p1"/>
          <p:cNvPicPr/>
          <p:nvPr/>
        </p:nvPicPr>
        <p:blipFill>
          <a:blip r:embed="rId17"/>
          <a:stretch/>
        </p:blipFill>
        <p:spPr>
          <a:xfrm>
            <a:off x="9817920" y="198240"/>
            <a:ext cx="1993440" cy="494880"/>
          </a:xfrm>
          <a:prstGeom prst="rect">
            <a:avLst/>
          </a:prstGeom>
          <a:ln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680" y="992640"/>
            <a:ext cx="11360160" cy="2736480"/>
          </a:xfrm>
          <a:prstGeom prst="rect">
            <a:avLst/>
          </a:prstGeom>
        </p:spPr>
        <p:txBody>
          <a:bodyPr tIns="91440" bIns="91440" anchor="b">
            <a:normAutofit/>
          </a:bodyPr>
          <a:lstStyle/>
          <a:p>
            <a:pPr algn="ctr"/>
            <a:r>
              <a:rPr lang="en-US" sz="6933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1151942" lvl="1" indent="-43197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727914" lvl="2" indent="-383981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2303885" lvl="3" indent="-287986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879856" lvl="4" indent="-287986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3455828" lvl="5" indent="-287986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4031798" lvl="6" indent="-287986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621041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121914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4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7.png"/><Relationship Id="rId5" Type="http://schemas.openxmlformats.org/officeDocument/2006/relationships/image" Target="../media/image20.png"/><Relationship Id="rId10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7.png"/><Relationship Id="rId4" Type="http://schemas.openxmlformats.org/officeDocument/2006/relationships/image" Target="../media/image32.png"/><Relationship Id="rId9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7.png"/><Relationship Id="rId5" Type="http://schemas.openxmlformats.org/officeDocument/2006/relationships/image" Target="../media/image33.png"/><Relationship Id="rId10" Type="http://schemas.openxmlformats.org/officeDocument/2006/relationships/image" Target="../media/image5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05368F-791B-37F5-F0D4-2768D6815538}"/>
              </a:ext>
            </a:extLst>
          </p:cNvPr>
          <p:cNvSpPr txBox="1"/>
          <p:nvPr/>
        </p:nvSpPr>
        <p:spPr>
          <a:xfrm>
            <a:off x="654831" y="576193"/>
            <a:ext cx="80341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DESIGN </a:t>
            </a:r>
            <a:r>
              <a:rPr lang="en-IN" sz="3200" b="1" noProof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ANALYSIS </a:t>
            </a:r>
            <a:r>
              <a:rPr lang="en-IN" sz="3200" b="1" noProof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ALGORITHMS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(01AI0506)</a:t>
            </a:r>
          </a:p>
        </p:txBody>
      </p:sp>
    </p:spTree>
    <p:extLst>
      <p:ext uri="{BB962C8B-B14F-4D97-AF65-F5344CB8AC3E}">
        <p14:creationId xmlns:p14="http://schemas.microsoft.com/office/powerpoint/2010/main" val="333742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70D4-BC2D-88BA-B50F-B8694A63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6B4DE-2C5A-AD60-1C96-5DF35781D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85745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Def. 1:</a:t>
            </a:r>
          </a:p>
          <a:p>
            <a:pPr algn="just"/>
            <a:r>
              <a:rPr lang="en-IN" dirty="0">
                <a:latin typeface="Aptos" panose="020B0004020202020204" pitchFamily="34" charset="0"/>
              </a:rPr>
              <a:t>It is a combination (or sequence) of </a:t>
            </a:r>
            <a:r>
              <a:rPr lang="en-IN" b="1" dirty="0">
                <a:latin typeface="Aptos" panose="020B0004020202020204" pitchFamily="34" charset="0"/>
              </a:rPr>
              <a:t>finite steps</a:t>
            </a:r>
            <a:r>
              <a:rPr lang="en-IN" dirty="0">
                <a:latin typeface="Aptos" panose="020B0004020202020204" pitchFamily="34" charset="0"/>
              </a:rPr>
              <a:t> to solve a particular problem.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Def. 2:</a:t>
            </a:r>
          </a:p>
          <a:p>
            <a:pPr algn="just"/>
            <a:r>
              <a:rPr lang="en-IN" dirty="0">
                <a:latin typeface="Aptos" panose="020B0004020202020204" pitchFamily="34" charset="0"/>
              </a:rPr>
              <a:t>It is a </a:t>
            </a:r>
            <a:r>
              <a:rPr lang="en-IN" b="1" dirty="0">
                <a:latin typeface="Aptos" panose="020B0004020202020204" pitchFamily="34" charset="0"/>
              </a:rPr>
              <a:t>well-defined procedure</a:t>
            </a:r>
            <a:r>
              <a:rPr lang="en-IN" dirty="0">
                <a:latin typeface="Aptos" panose="020B0004020202020204" pitchFamily="34" charset="0"/>
              </a:rPr>
              <a:t> which will take a set of values as input and which will produce a set of values as output.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Def. 3:</a:t>
            </a:r>
          </a:p>
          <a:p>
            <a:pPr algn="just"/>
            <a:r>
              <a:rPr lang="en-IN" dirty="0">
                <a:latin typeface="Aptos" panose="020B0004020202020204" pitchFamily="34" charset="0"/>
              </a:rPr>
              <a:t>You can also view an algorithm as a tool for solving a well-specified </a:t>
            </a:r>
            <a:r>
              <a:rPr lang="en-IN" b="1" dirty="0">
                <a:latin typeface="Aptos" panose="020B0004020202020204" pitchFamily="34" charset="0"/>
              </a:rPr>
              <a:t>computational problem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  <a:p>
            <a:pPr algn="just"/>
            <a:endParaRPr lang="en-IN" dirty="0">
              <a:latin typeface="Aptos" panose="020B0004020202020204" pitchFamily="34" charset="0"/>
            </a:endParaRPr>
          </a:p>
          <a:p>
            <a:pPr algn="just"/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65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348601" y="39592"/>
            <a:ext cx="8970359" cy="82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IN" sz="3733" b="1" kern="0" dirty="0">
                <a:solidFill>
                  <a:prstClr val="black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- </a:t>
            </a:r>
            <a:r>
              <a:rPr lang="en" sz="3733" b="1" kern="0" dirty="0">
                <a:solidFill>
                  <a:prstClr val="black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Example 1</a:t>
            </a:r>
            <a:endParaRPr lang="en-IN" sz="3733" b="1" kern="0" dirty="0">
              <a:solidFill>
                <a:prstClr val="black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75432" y="860961"/>
            <a:ext cx="11578675" cy="524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 defTabSz="1219170">
              <a:buClr>
                <a:srgbClr val="000000"/>
              </a:buClr>
            </a:pPr>
            <a:r>
              <a:rPr lang="en-US" sz="2500" b="1" kern="0" dirty="0">
                <a:solidFill>
                  <a:srgbClr val="FF0000"/>
                </a:solidFill>
                <a:latin typeface="Aptos" panose="020B0004020202020204" pitchFamily="34" charset="0"/>
                <a:cs typeface="Arial"/>
                <a:sym typeface="Arial"/>
              </a:rPr>
              <a:t>Input</a:t>
            </a:r>
            <a:r>
              <a:rPr lang="en-US" sz="2500" kern="0" dirty="0">
                <a:solidFill>
                  <a:srgbClr val="FF0000"/>
                </a:solidFill>
                <a:latin typeface="Aptos" panose="020B0004020202020204" pitchFamily="34" charset="0"/>
                <a:cs typeface="Arial"/>
                <a:sym typeface="Arial"/>
              </a:rPr>
              <a:t>:</a:t>
            </a: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 Ingredients(water/milk, sugar, coffee powder)</a:t>
            </a:r>
          </a:p>
          <a:p>
            <a:pPr algn="just" defTabSz="1219170">
              <a:buClr>
                <a:srgbClr val="000000"/>
              </a:buClr>
            </a:pPr>
            <a:r>
              <a:rPr lang="en-US" sz="2500" b="1" kern="0" dirty="0">
                <a:solidFill>
                  <a:srgbClr val="FF0000"/>
                </a:solidFill>
                <a:latin typeface="Aptos" panose="020B0004020202020204" pitchFamily="34" charset="0"/>
                <a:cs typeface="Arial"/>
                <a:sym typeface="Arial"/>
              </a:rPr>
              <a:t>Output:</a:t>
            </a: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 A cup of coffee</a:t>
            </a:r>
          </a:p>
          <a:p>
            <a:pPr algn="just" defTabSz="1219170">
              <a:buClr>
                <a:srgbClr val="000000"/>
              </a:buClr>
            </a:pPr>
            <a:r>
              <a:rPr lang="en-US" sz="2500" b="1" kern="0" dirty="0">
                <a:solidFill>
                  <a:srgbClr val="0070C0"/>
                </a:solidFill>
                <a:latin typeface="Aptos" panose="020B0004020202020204" pitchFamily="34" charset="0"/>
                <a:cs typeface="Arial"/>
                <a:sym typeface="Arial"/>
              </a:rPr>
              <a:t>Steps: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Pour drinking water into electric kettle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Plug electric kettle and wait for it to boil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While waiting, prepare coffee cup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Add instant coffee powder into cup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Check boiling water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If water is boiled, unplug kettle and pour water into cup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If water is not boiled, press the “on” switch to continue and wait until boiled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Refer back to step 6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Stir coffee mix</a:t>
            </a:r>
          </a:p>
          <a:p>
            <a:pPr marL="609585" lvl="4" indent="-609585" algn="just" defTabSz="1219170">
              <a:buClr>
                <a:srgbClr val="000000"/>
              </a:buClr>
              <a:buFont typeface="Arial"/>
              <a:buAutoNum type="arabicPeriod"/>
            </a:pPr>
            <a:r>
              <a:rPr lang="en-US" sz="25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Arial"/>
              </a:rPr>
              <a:t>Drink!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6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" y="-21063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47847" y="54035"/>
            <a:ext cx="5831596" cy="82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IN" sz="3733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- </a:t>
            </a:r>
            <a:r>
              <a:rPr lang="en" sz="3733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Example 2</a:t>
            </a:r>
            <a:endParaRPr lang="en-IN" sz="3733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5906" y="1217986"/>
            <a:ext cx="1038392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Write down the steps for making peanut butter and jelly sandwich.</a:t>
            </a:r>
          </a:p>
          <a:p>
            <a:endParaRPr lang="en-US" sz="32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Steps for making a peanut butter and jelly sandwich:</a:t>
            </a:r>
            <a:br>
              <a:rPr lang="en-US" sz="3200" dirty="0">
                <a:latin typeface="Aptos" panose="020B0004020202020204" pitchFamily="34" charset="0"/>
              </a:rPr>
            </a:b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</a:rPr>
              <a:t>Step 1: </a:t>
            </a:r>
            <a:r>
              <a:rPr lang="en-US" sz="3200" dirty="0">
                <a:latin typeface="Aptos" panose="020B0004020202020204" pitchFamily="34" charset="0"/>
              </a:rPr>
              <a:t>Take 2 slices of bread.</a:t>
            </a:r>
            <a:br>
              <a:rPr lang="en-US" sz="3200" dirty="0">
                <a:latin typeface="Aptos" panose="020B0004020202020204" pitchFamily="34" charset="0"/>
              </a:rPr>
            </a:b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</a:rPr>
              <a:t>Step 2:</a:t>
            </a:r>
            <a:r>
              <a:rPr lang="en-US" sz="3200" dirty="0">
                <a:latin typeface="Aptos" panose="020B0004020202020204" pitchFamily="34" charset="0"/>
              </a:rPr>
              <a:t> Apply peanut butter on one side of a slice.</a:t>
            </a:r>
            <a:br>
              <a:rPr lang="en-US" sz="3200" dirty="0">
                <a:latin typeface="Aptos" panose="020B0004020202020204" pitchFamily="34" charset="0"/>
              </a:rPr>
            </a:b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</a:rPr>
              <a:t>Step 3:</a:t>
            </a:r>
            <a:r>
              <a:rPr lang="en-US" sz="3200" dirty="0">
                <a:latin typeface="Aptos" panose="020B0004020202020204" pitchFamily="34" charset="0"/>
              </a:rPr>
              <a:t> Apply jelly on one side of the other slice.</a:t>
            </a:r>
            <a:br>
              <a:rPr lang="en-US" sz="3200" dirty="0">
                <a:latin typeface="Aptos" panose="020B0004020202020204" pitchFamily="34" charset="0"/>
              </a:rPr>
            </a:b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</a:rPr>
              <a:t>Step 4: </a:t>
            </a:r>
            <a:r>
              <a:rPr lang="en-US" sz="3200" dirty="0">
                <a:latin typeface="Aptos" panose="020B0004020202020204" pitchFamily="34" charset="0"/>
              </a:rPr>
              <a:t>Press both the slices of bread together.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7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" y="-21063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452425" y="1067139"/>
            <a:ext cx="11287084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 defTabSz="1219170">
              <a:buClr>
                <a:srgbClr val="000000"/>
              </a:buClr>
              <a:defRPr/>
            </a:pPr>
            <a:r>
              <a:rPr lang="en-US" sz="3000" kern="0" dirty="0">
                <a:solidFill>
                  <a:srgbClr val="FF0000"/>
                </a:solidFill>
                <a:latin typeface="Aptos" panose="020B0004020202020204" pitchFamily="34" charset="0"/>
                <a:cs typeface="Arial"/>
                <a:sym typeface="Arial"/>
              </a:rPr>
              <a:t>Algorithm </a:t>
            </a:r>
            <a:r>
              <a:rPr lang="en-US" sz="3000" kern="0" dirty="0">
                <a:solidFill>
                  <a:prstClr val="black"/>
                </a:solidFill>
                <a:latin typeface="Aptos" panose="020B0004020202020204" pitchFamily="34" charset="0"/>
                <a:cs typeface="Arial"/>
                <a:sym typeface="Arial"/>
              </a:rPr>
              <a:t>is a branch of computer science that consists of designing and analyzing computer algorithms.</a:t>
            </a:r>
          </a:p>
          <a:p>
            <a:pPr algn="just" defTabSz="1219170">
              <a:buClr>
                <a:srgbClr val="000000"/>
              </a:buClr>
              <a:defRPr/>
            </a:pPr>
            <a:endParaRPr lang="en-US" sz="3000" kern="0" dirty="0">
              <a:solidFill>
                <a:prstClr val="black"/>
              </a:solidFill>
              <a:latin typeface="Aptos" panose="020B0004020202020204" pitchFamily="34" charset="0"/>
              <a:cs typeface="Arial"/>
              <a:sym typeface="Arial"/>
            </a:endParaRPr>
          </a:p>
          <a:p>
            <a:pPr marL="357708" indent="-357708" algn="just" defTabSz="1219170"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3000" kern="0" dirty="0">
                <a:solidFill>
                  <a:prstClr val="black"/>
                </a:solidFill>
                <a:latin typeface="Aptos" panose="020B0004020202020204" pitchFamily="34" charset="0"/>
                <a:cs typeface="Arial"/>
                <a:sym typeface="Arial"/>
              </a:rPr>
              <a:t>The “</a:t>
            </a:r>
            <a:r>
              <a:rPr lang="en-US" sz="3000" b="1" kern="0" dirty="0">
                <a:solidFill>
                  <a:srgbClr val="FF0000"/>
                </a:solidFill>
                <a:latin typeface="Aptos" panose="020B0004020202020204" pitchFamily="34" charset="0"/>
                <a:cs typeface="Arial"/>
                <a:sym typeface="Arial"/>
              </a:rPr>
              <a:t>design</a:t>
            </a:r>
            <a:r>
              <a:rPr lang="en-US" sz="3000" kern="0" dirty="0">
                <a:solidFill>
                  <a:prstClr val="black"/>
                </a:solidFill>
                <a:latin typeface="Aptos" panose="020B0004020202020204" pitchFamily="34" charset="0"/>
                <a:cs typeface="Arial"/>
                <a:sym typeface="Arial"/>
              </a:rPr>
              <a:t>” pertain to</a:t>
            </a:r>
          </a:p>
          <a:p>
            <a:pPr marL="713300" lvl="1" indent="-476239" algn="just" defTabSz="121917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476239" algn="l"/>
              </a:tabLst>
              <a:defRPr/>
            </a:pPr>
            <a:r>
              <a:rPr lang="en-US" sz="3000" kern="0" dirty="0">
                <a:solidFill>
                  <a:prstClr val="black"/>
                </a:solidFill>
                <a:latin typeface="Aptos" panose="020B0004020202020204" pitchFamily="34" charset="0"/>
                <a:cs typeface="Arial"/>
                <a:sym typeface="Arial"/>
              </a:rPr>
              <a:t>The description of algorithm at an abstract level by means of a pseudo language</a:t>
            </a:r>
          </a:p>
          <a:p>
            <a:pPr marL="713300" lvl="1" indent="-476239" algn="just" defTabSz="121917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476239" algn="l"/>
              </a:tabLst>
              <a:defRPr/>
            </a:pPr>
            <a:r>
              <a:rPr lang="en-US" sz="3000" kern="0" dirty="0">
                <a:solidFill>
                  <a:prstClr val="black"/>
                </a:solidFill>
                <a:latin typeface="Aptos" panose="020B0004020202020204" pitchFamily="34" charset="0"/>
                <a:cs typeface="Arial"/>
                <a:sym typeface="Arial"/>
              </a:rPr>
              <a:t>Proof of correctness that is, the algorithm solves the given problem in all cases.</a:t>
            </a:r>
          </a:p>
          <a:p>
            <a:pPr marL="357708" indent="-357708" algn="just" defTabSz="121917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3000" kern="0" dirty="0">
                <a:solidFill>
                  <a:prstClr val="black"/>
                </a:solidFill>
                <a:latin typeface="Aptos" panose="020B0004020202020204" pitchFamily="34" charset="0"/>
                <a:cs typeface="Arial"/>
                <a:sym typeface="Arial"/>
              </a:rPr>
              <a:t>The “</a:t>
            </a:r>
            <a:r>
              <a:rPr lang="en-US" sz="3000" b="1" kern="0" dirty="0">
                <a:solidFill>
                  <a:srgbClr val="FF0000"/>
                </a:solidFill>
                <a:latin typeface="Aptos" panose="020B0004020202020204" pitchFamily="34" charset="0"/>
                <a:cs typeface="Arial"/>
                <a:sym typeface="Arial"/>
              </a:rPr>
              <a:t>analysis</a:t>
            </a:r>
            <a:r>
              <a:rPr lang="en-US" sz="3000" kern="0" dirty="0">
                <a:solidFill>
                  <a:prstClr val="black"/>
                </a:solidFill>
                <a:latin typeface="Aptos" panose="020B0004020202020204" pitchFamily="34" charset="0"/>
                <a:cs typeface="Arial"/>
                <a:sym typeface="Arial"/>
              </a:rPr>
              <a:t>” deals with performance evaluation (complexity analysis).</a:t>
            </a:r>
          </a:p>
        </p:txBody>
      </p:sp>
      <p:sp>
        <p:nvSpPr>
          <p:cNvPr id="7" name="Google Shape;97;p17"/>
          <p:cNvSpPr txBox="1"/>
          <p:nvPr/>
        </p:nvSpPr>
        <p:spPr>
          <a:xfrm>
            <a:off x="452424" y="110132"/>
            <a:ext cx="8629437" cy="82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IN" sz="3733" b="1" kern="0" dirty="0">
                <a:solidFill>
                  <a:prstClr val="black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Design and Analysis </a:t>
            </a:r>
            <a:endParaRPr lang="en-IN" sz="3733" b="1" kern="0" dirty="0">
              <a:solidFill>
                <a:prstClr val="black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5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642E-8150-E64B-69E7-EFD10FA1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4627-A1E6-0C82-E075-56280765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F4B4B-20FA-A736-5141-A3E27618B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974" y="1690688"/>
            <a:ext cx="11082052" cy="4586192"/>
          </a:xfrm>
        </p:spPr>
        <p:txBody>
          <a:bodyPr>
            <a:normAutofit/>
          </a:bodyPr>
          <a:lstStyle/>
          <a:p>
            <a:pPr algn="just"/>
            <a:r>
              <a:rPr lang="en-IN" sz="3200" dirty="0">
                <a:latin typeface="Aptos" panose="020B0004020202020204" pitchFamily="34" charset="0"/>
              </a:rPr>
              <a:t>Suppose that you need to 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sort a sequence of numbers </a:t>
            </a:r>
            <a:r>
              <a:rPr lang="en-IN" sz="3200" dirty="0">
                <a:latin typeface="Aptos" panose="020B0004020202020204" pitchFamily="34" charset="0"/>
              </a:rPr>
              <a:t>into monotonically 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increasing</a:t>
            </a:r>
            <a:r>
              <a:rPr lang="en-IN" sz="3200" dirty="0">
                <a:latin typeface="Aptos" panose="020B0004020202020204" pitchFamily="34" charset="0"/>
              </a:rPr>
              <a:t> order. </a:t>
            </a:r>
          </a:p>
          <a:p>
            <a:pPr algn="just"/>
            <a:r>
              <a:rPr lang="en-IN" sz="3200" dirty="0">
                <a:latin typeface="Aptos" panose="020B0004020202020204" pitchFamily="34" charset="0"/>
              </a:rPr>
              <a:t>This problem arises frequently in practice and introducing many standard design techniques. </a:t>
            </a:r>
          </a:p>
          <a:p>
            <a:pPr algn="just"/>
            <a:r>
              <a:rPr lang="en-IN" sz="3200" dirty="0">
                <a:latin typeface="Aptos" panose="020B0004020202020204" pitchFamily="34" charset="0"/>
              </a:rPr>
              <a:t>Here is how we formally define the</a:t>
            </a:r>
            <a:r>
              <a:rPr lang="en-IN" sz="3200" i="1" dirty="0">
                <a:latin typeface="Aptos" panose="020B0004020202020204" pitchFamily="34" charset="0"/>
              </a:rPr>
              <a:t> sorting problem</a:t>
            </a:r>
            <a:r>
              <a:rPr lang="en-IN" sz="3200" dirty="0">
                <a:latin typeface="Aptos" panose="020B0004020202020204" pitchFamily="34" charset="0"/>
              </a:rPr>
              <a:t>:</a:t>
            </a:r>
          </a:p>
          <a:p>
            <a:r>
              <a:rPr lang="en-IN" sz="3200" b="1" dirty="0">
                <a:latin typeface="Aptos" panose="020B0004020202020204" pitchFamily="34" charset="0"/>
              </a:rPr>
              <a:t>Input: </a:t>
            </a:r>
            <a:r>
              <a:rPr lang="en-IN" sz="3200" dirty="0">
                <a:latin typeface="Aptos" panose="020B0004020202020204" pitchFamily="34" charset="0"/>
              </a:rPr>
              <a:t>A sequence of </a:t>
            </a:r>
            <a:r>
              <a:rPr lang="en-IN" sz="3200" i="1" dirty="0">
                <a:latin typeface="Aptos" panose="020B0004020202020204" pitchFamily="34" charset="0"/>
              </a:rPr>
              <a:t>n</a:t>
            </a:r>
            <a:r>
              <a:rPr lang="en-IN" sz="3200" dirty="0">
                <a:latin typeface="Aptos" panose="020B0004020202020204" pitchFamily="34" charset="0"/>
              </a:rPr>
              <a:t> numbers 〈</a:t>
            </a:r>
            <a:r>
              <a:rPr lang="en-IN" sz="3200" i="1" dirty="0">
                <a:latin typeface="Aptos" panose="020B0004020202020204" pitchFamily="34" charset="0"/>
              </a:rPr>
              <a:t>a</a:t>
            </a:r>
            <a:r>
              <a:rPr lang="en-IN" sz="3200" baseline="-25000" dirty="0">
                <a:latin typeface="Aptos" panose="020B0004020202020204" pitchFamily="34" charset="0"/>
              </a:rPr>
              <a:t>1</a:t>
            </a:r>
            <a:r>
              <a:rPr lang="en-IN" sz="3200" dirty="0">
                <a:latin typeface="Aptos" panose="020B0004020202020204" pitchFamily="34" charset="0"/>
              </a:rPr>
              <a:t>, </a:t>
            </a:r>
            <a:r>
              <a:rPr lang="en-IN" sz="3200" i="1" dirty="0">
                <a:latin typeface="Aptos" panose="020B0004020202020204" pitchFamily="34" charset="0"/>
              </a:rPr>
              <a:t>a</a:t>
            </a:r>
            <a:r>
              <a:rPr lang="en-IN" sz="3200" baseline="-25000" dirty="0">
                <a:latin typeface="Aptos" panose="020B0004020202020204" pitchFamily="34" charset="0"/>
              </a:rPr>
              <a:t>2</a:t>
            </a:r>
            <a:r>
              <a:rPr lang="en-IN" sz="3200" dirty="0">
                <a:latin typeface="Aptos" panose="020B0004020202020204" pitchFamily="34" charset="0"/>
              </a:rPr>
              <a:t>, … , </a:t>
            </a:r>
            <a:r>
              <a:rPr lang="en-IN" sz="3200" i="1" dirty="0">
                <a:latin typeface="Aptos" panose="020B0004020202020204" pitchFamily="34" charset="0"/>
              </a:rPr>
              <a:t>a</a:t>
            </a:r>
            <a:r>
              <a:rPr lang="en-IN" sz="3200" i="1" baseline="-25000" dirty="0">
                <a:latin typeface="Aptos" panose="020B0004020202020204" pitchFamily="34" charset="0"/>
              </a:rPr>
              <a:t>n</a:t>
            </a:r>
            <a:r>
              <a:rPr lang="en-IN" sz="3200" dirty="0">
                <a:latin typeface="Aptos" panose="020B0004020202020204" pitchFamily="34" charset="0"/>
              </a:rPr>
              <a:t>〉</a:t>
            </a:r>
          </a:p>
          <a:p>
            <a:r>
              <a:rPr lang="en-IN" sz="3200" b="1" dirty="0">
                <a:latin typeface="Aptos" panose="020B0004020202020204" pitchFamily="34" charset="0"/>
              </a:rPr>
              <a:t>Output: </a:t>
            </a:r>
            <a:r>
              <a:rPr lang="en-IN" sz="3200" dirty="0">
                <a:latin typeface="Aptos" panose="020B0004020202020204" pitchFamily="34" charset="0"/>
              </a:rPr>
              <a:t>A permutation (reordering) </a:t>
            </a:r>
            <a:r>
              <a:rPr lang="en-IN" sz="3200" b="1" dirty="0">
                <a:solidFill>
                  <a:srgbClr val="00B050"/>
                </a:solidFill>
                <a:latin typeface="Aptos" panose="020B0004020202020204" pitchFamily="34" charset="0"/>
              </a:rPr>
              <a:t>〈</a:t>
            </a:r>
            <a:r>
              <a:rPr lang="en-IN" sz="3200" b="1" i="1" dirty="0">
                <a:solidFill>
                  <a:srgbClr val="00B050"/>
                </a:solidFill>
                <a:latin typeface="Aptos" panose="020B0004020202020204" pitchFamily="34" charset="0"/>
              </a:rPr>
              <a:t>a’</a:t>
            </a:r>
            <a:r>
              <a:rPr lang="en-IN" sz="3200" b="1" baseline="-25000" dirty="0">
                <a:solidFill>
                  <a:srgbClr val="00B050"/>
                </a:solidFill>
                <a:latin typeface="Aptos" panose="020B0004020202020204" pitchFamily="34" charset="0"/>
              </a:rPr>
              <a:t>1</a:t>
            </a:r>
            <a:r>
              <a:rPr lang="en-IN" sz="3200" b="1" dirty="0">
                <a:solidFill>
                  <a:srgbClr val="00B050"/>
                </a:solidFill>
                <a:latin typeface="Aptos" panose="020B0004020202020204" pitchFamily="34" charset="0"/>
              </a:rPr>
              <a:t>, </a:t>
            </a:r>
            <a:r>
              <a:rPr lang="en-IN" sz="3200" b="1" i="1" dirty="0">
                <a:solidFill>
                  <a:srgbClr val="00B050"/>
                </a:solidFill>
                <a:latin typeface="Aptos" panose="020B0004020202020204" pitchFamily="34" charset="0"/>
              </a:rPr>
              <a:t>a’</a:t>
            </a:r>
            <a:r>
              <a:rPr lang="en-IN" sz="3200" b="1" baseline="-25000" dirty="0">
                <a:solidFill>
                  <a:srgbClr val="00B050"/>
                </a:solidFill>
                <a:latin typeface="Aptos" panose="020B0004020202020204" pitchFamily="34" charset="0"/>
              </a:rPr>
              <a:t>2</a:t>
            </a:r>
            <a:r>
              <a:rPr lang="en-IN" sz="3200" b="1" dirty="0">
                <a:solidFill>
                  <a:srgbClr val="00B050"/>
                </a:solidFill>
                <a:latin typeface="Aptos" panose="020B0004020202020204" pitchFamily="34" charset="0"/>
              </a:rPr>
              <a:t>, … , </a:t>
            </a:r>
            <a:r>
              <a:rPr lang="en-IN" sz="3200" b="1" i="1" dirty="0" err="1">
                <a:solidFill>
                  <a:srgbClr val="00B050"/>
                </a:solidFill>
                <a:latin typeface="Aptos" panose="020B0004020202020204" pitchFamily="34" charset="0"/>
              </a:rPr>
              <a:t>a’</a:t>
            </a:r>
            <a:r>
              <a:rPr lang="en-IN" sz="3200" b="1" i="1" baseline="-25000" dirty="0" err="1">
                <a:solidFill>
                  <a:srgbClr val="00B050"/>
                </a:solidFill>
                <a:latin typeface="Aptos" panose="020B0004020202020204" pitchFamily="34" charset="0"/>
              </a:rPr>
              <a:t>n</a:t>
            </a:r>
            <a:r>
              <a:rPr lang="en-IN" sz="3200" b="1" dirty="0">
                <a:solidFill>
                  <a:srgbClr val="00B050"/>
                </a:solidFill>
                <a:latin typeface="Aptos" panose="020B0004020202020204" pitchFamily="34" charset="0"/>
              </a:rPr>
              <a:t>〉</a:t>
            </a:r>
            <a:r>
              <a:rPr lang="en-IN" sz="3200" dirty="0">
                <a:latin typeface="Aptos" panose="020B0004020202020204" pitchFamily="34" charset="0"/>
              </a:rPr>
              <a:t> of the input sequence such that </a:t>
            </a:r>
            <a:r>
              <a:rPr lang="en-IN" sz="3200" b="1" i="1" dirty="0">
                <a:solidFill>
                  <a:srgbClr val="FF0000"/>
                </a:solidFill>
                <a:latin typeface="Aptos" panose="020B0004020202020204" pitchFamily="34" charset="0"/>
              </a:rPr>
              <a:t>a’</a:t>
            </a:r>
            <a:r>
              <a:rPr lang="en-IN" sz="3200" b="1" baseline="-25000" dirty="0">
                <a:solidFill>
                  <a:srgbClr val="FF0000"/>
                </a:solidFill>
                <a:latin typeface="Aptos" panose="020B0004020202020204" pitchFamily="34" charset="0"/>
              </a:rPr>
              <a:t>1</a:t>
            </a:r>
            <a:r>
              <a:rPr lang="en-IN" sz="3200" b="1" i="1" dirty="0">
                <a:solidFill>
                  <a:srgbClr val="FF0000"/>
                </a:solidFill>
                <a:latin typeface="Aptos" panose="020B0004020202020204" pitchFamily="34" charset="0"/>
              </a:rPr>
              <a:t> &lt;= a’</a:t>
            </a:r>
            <a:r>
              <a:rPr lang="en-IN" sz="3200" b="1" baseline="-25000" dirty="0">
                <a:solidFill>
                  <a:srgbClr val="FF0000"/>
                </a:solidFill>
                <a:latin typeface="Aptos" panose="020B0004020202020204" pitchFamily="34" charset="0"/>
              </a:rPr>
              <a:t>2 </a:t>
            </a:r>
            <a:r>
              <a:rPr lang="en-IN" sz="3200" b="1" i="1" dirty="0">
                <a:solidFill>
                  <a:srgbClr val="FF0000"/>
                </a:solidFill>
                <a:latin typeface="Aptos" panose="020B0004020202020204" pitchFamily="34" charset="0"/>
              </a:rPr>
              <a:t>&lt;= 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…</a:t>
            </a:r>
            <a:r>
              <a:rPr lang="en-IN" sz="3200" b="1" i="1" dirty="0">
                <a:solidFill>
                  <a:srgbClr val="FF0000"/>
                </a:solidFill>
                <a:latin typeface="Aptos" panose="020B0004020202020204" pitchFamily="34" charset="0"/>
              </a:rPr>
              <a:t> &lt;=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IN" sz="3200" b="1" i="1" dirty="0" err="1">
                <a:solidFill>
                  <a:srgbClr val="FF0000"/>
                </a:solidFill>
                <a:latin typeface="Aptos" panose="020B0004020202020204" pitchFamily="34" charset="0"/>
              </a:rPr>
              <a:t>a’</a:t>
            </a:r>
            <a:r>
              <a:rPr lang="en-IN" sz="3200" b="1" i="1" baseline="-25000" dirty="0" err="1">
                <a:solidFill>
                  <a:srgbClr val="FF0000"/>
                </a:solidFill>
                <a:latin typeface="Aptos" panose="020B0004020202020204" pitchFamily="34" charset="0"/>
              </a:rPr>
              <a:t>n</a:t>
            </a:r>
            <a:endParaRPr lang="en-IN" sz="32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186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278B4-7514-EDE5-5B49-E0968FCA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0DCA-2A56-4609-020C-8C5522BE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9EA5-080C-5AA8-14E1-937FA53B9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0902" cy="4875800"/>
          </a:xfrm>
        </p:spPr>
        <p:txBody>
          <a:bodyPr>
            <a:normAutofit/>
          </a:bodyPr>
          <a:lstStyle/>
          <a:p>
            <a:pPr algn="just"/>
            <a:r>
              <a:rPr lang="en-IN" sz="3200" dirty="0">
                <a:latin typeface="Aptos" panose="020B0004020202020204" pitchFamily="34" charset="0"/>
              </a:rPr>
              <a:t>Thus, given the input sequence 〈</a:t>
            </a:r>
            <a:r>
              <a:rPr lang="en-IN" sz="3200" b="1" dirty="0">
                <a:latin typeface="Aptos" panose="020B0004020202020204" pitchFamily="34" charset="0"/>
              </a:rPr>
              <a:t>31, 41, 59, 26, 41, 58</a:t>
            </a:r>
            <a:r>
              <a:rPr lang="en-IN" sz="3200" dirty="0">
                <a:latin typeface="Aptos" panose="020B0004020202020204" pitchFamily="34" charset="0"/>
              </a:rPr>
              <a:t>〉, a correct sorting algorithm returns as output the sequence 〈</a:t>
            </a:r>
            <a:r>
              <a:rPr lang="en-IN" sz="3200" b="1" dirty="0">
                <a:solidFill>
                  <a:srgbClr val="00B050"/>
                </a:solidFill>
                <a:latin typeface="Aptos" panose="020B0004020202020204" pitchFamily="34" charset="0"/>
              </a:rPr>
              <a:t>26, 31, 41, 41, 58, 59</a:t>
            </a:r>
            <a:r>
              <a:rPr lang="en-IN" sz="3200" dirty="0">
                <a:latin typeface="Aptos" panose="020B0004020202020204" pitchFamily="34" charset="0"/>
              </a:rPr>
              <a:t>〉. </a:t>
            </a:r>
          </a:p>
          <a:p>
            <a:pPr algn="just"/>
            <a:r>
              <a:rPr lang="en-IN" sz="3200" dirty="0">
                <a:latin typeface="Aptos" panose="020B0004020202020204" pitchFamily="34" charset="0"/>
              </a:rPr>
              <a:t>Such an input sequence is called an </a:t>
            </a:r>
            <a:r>
              <a:rPr lang="en-IN" sz="3200" b="1" i="1" dirty="0">
                <a:solidFill>
                  <a:srgbClr val="FF0000"/>
                </a:solidFill>
                <a:latin typeface="Aptos" panose="020B0004020202020204" pitchFamily="34" charset="0"/>
              </a:rPr>
              <a:t>instance</a:t>
            </a:r>
            <a:r>
              <a:rPr lang="en-IN" sz="3200" dirty="0">
                <a:latin typeface="Aptos" panose="020B0004020202020204" pitchFamily="34" charset="0"/>
              </a:rPr>
              <a:t> of the sorting problem.</a:t>
            </a:r>
          </a:p>
          <a:p>
            <a:pPr algn="just"/>
            <a:r>
              <a:rPr lang="en-IN" sz="3200" dirty="0">
                <a:latin typeface="Aptos" panose="020B0004020202020204" pitchFamily="34" charset="0"/>
              </a:rPr>
              <a:t>In general, an </a:t>
            </a:r>
            <a:r>
              <a:rPr lang="en-IN" sz="3200" b="1" i="1" dirty="0">
                <a:solidFill>
                  <a:srgbClr val="FF0000"/>
                </a:solidFill>
                <a:latin typeface="Aptos" panose="020B0004020202020204" pitchFamily="34" charset="0"/>
              </a:rPr>
              <a:t>instance of a problem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IN" sz="3200" dirty="0">
                <a:latin typeface="Aptos" panose="020B0004020202020204" pitchFamily="34" charset="0"/>
              </a:rPr>
              <a:t>consists of the input (satisfying whatever constraints are imposed in the problem statement) needed to compute a solution to the problem.</a:t>
            </a:r>
          </a:p>
        </p:txBody>
      </p:sp>
    </p:spTree>
    <p:extLst>
      <p:ext uri="{BB962C8B-B14F-4D97-AF65-F5344CB8AC3E}">
        <p14:creationId xmlns:p14="http://schemas.microsoft.com/office/powerpoint/2010/main" val="2763613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687A-54C2-3255-F687-264F8D99F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E600-6E60-1E6A-4C6F-AF5ACB53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D9119-AC4C-D759-5981-608E6D26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41377" cy="4586192"/>
          </a:xfrm>
        </p:spPr>
        <p:txBody>
          <a:bodyPr>
            <a:normAutofit/>
          </a:bodyPr>
          <a:lstStyle/>
          <a:p>
            <a:pPr algn="just"/>
            <a:r>
              <a:rPr lang="en-IN" sz="3200" dirty="0">
                <a:latin typeface="Aptos" panose="020B0004020202020204" pitchFamily="34" charset="0"/>
              </a:rPr>
              <a:t>An algorithm for a computational problem is </a:t>
            </a:r>
            <a:r>
              <a:rPr lang="en-IN" sz="3200" b="1" i="1" dirty="0">
                <a:solidFill>
                  <a:srgbClr val="FF0000"/>
                </a:solidFill>
                <a:latin typeface="Aptos" panose="020B0004020202020204" pitchFamily="34" charset="0"/>
              </a:rPr>
              <a:t>correct</a:t>
            </a:r>
            <a:r>
              <a:rPr lang="en-IN" sz="3200" dirty="0">
                <a:latin typeface="Aptos" panose="020B0004020202020204" pitchFamily="34" charset="0"/>
              </a:rPr>
              <a:t> </a:t>
            </a:r>
          </a:p>
          <a:p>
            <a:pPr lvl="1" algn="just"/>
            <a:r>
              <a:rPr lang="en-IN" sz="3200" dirty="0">
                <a:solidFill>
                  <a:srgbClr val="00B050"/>
                </a:solidFill>
                <a:latin typeface="Aptos" panose="020B0004020202020204" pitchFamily="34" charset="0"/>
              </a:rPr>
              <a:t>if, for every problem instance provided as input, it </a:t>
            </a:r>
            <a:r>
              <a:rPr lang="en-IN" sz="3200" b="1" i="1" dirty="0">
                <a:latin typeface="Aptos" panose="020B0004020202020204" pitchFamily="34" charset="0"/>
              </a:rPr>
              <a:t>halts</a:t>
            </a:r>
            <a:r>
              <a:rPr lang="en-IN" sz="3200" dirty="0">
                <a:solidFill>
                  <a:srgbClr val="00B050"/>
                </a:solidFill>
                <a:latin typeface="Aptos" panose="020B0004020202020204" pitchFamily="34" charset="0"/>
              </a:rPr>
              <a:t>—finishes its computing in finite time—and outputs the correct solution to the problem instance</a:t>
            </a:r>
            <a:r>
              <a:rPr lang="en-IN" sz="3200" dirty="0">
                <a:latin typeface="Aptos" panose="020B0004020202020204" pitchFamily="34" charset="0"/>
              </a:rPr>
              <a:t>. </a:t>
            </a:r>
          </a:p>
          <a:p>
            <a:pPr algn="just"/>
            <a:r>
              <a:rPr lang="en-IN" sz="3200" dirty="0">
                <a:latin typeface="Aptos" panose="020B0004020202020204" pitchFamily="34" charset="0"/>
              </a:rPr>
              <a:t>A correct algorithm </a:t>
            </a:r>
            <a:r>
              <a:rPr lang="en-IN" sz="3200" b="1" i="1" dirty="0">
                <a:solidFill>
                  <a:srgbClr val="FF0000"/>
                </a:solidFill>
                <a:latin typeface="Aptos" panose="020B0004020202020204" pitchFamily="34" charset="0"/>
              </a:rPr>
              <a:t>solves</a:t>
            </a:r>
            <a:r>
              <a:rPr lang="en-IN" sz="3200" dirty="0">
                <a:latin typeface="Aptos" panose="020B0004020202020204" pitchFamily="34" charset="0"/>
              </a:rPr>
              <a:t> the given computational problem. </a:t>
            </a:r>
          </a:p>
          <a:p>
            <a:pPr algn="just"/>
            <a:r>
              <a:rPr lang="en-IN" sz="3200" dirty="0">
                <a:latin typeface="Aptos" panose="020B0004020202020204" pitchFamily="34" charset="0"/>
              </a:rPr>
              <a:t>An incorrect algorithm might </a:t>
            </a:r>
            <a:r>
              <a:rPr lang="en-IN" sz="3200" b="1" dirty="0">
                <a:latin typeface="Aptos" panose="020B0004020202020204" pitchFamily="34" charset="0"/>
              </a:rPr>
              <a:t>not halt </a:t>
            </a:r>
            <a:r>
              <a:rPr lang="en-IN" sz="3200" dirty="0">
                <a:latin typeface="Aptos" panose="020B0004020202020204" pitchFamily="34" charset="0"/>
              </a:rPr>
              <a:t>at all on some input instances, or it might halt with an </a:t>
            </a:r>
            <a:r>
              <a:rPr lang="en-IN" sz="3200" b="1" dirty="0">
                <a:latin typeface="Aptos" panose="020B0004020202020204" pitchFamily="34" charset="0"/>
              </a:rPr>
              <a:t>incorrect</a:t>
            </a:r>
            <a:r>
              <a:rPr lang="en-IN" sz="3200" dirty="0">
                <a:latin typeface="Aptos" panose="020B0004020202020204" pitchFamily="34" charset="0"/>
              </a:rPr>
              <a:t> answer. </a:t>
            </a:r>
          </a:p>
        </p:txBody>
      </p:sp>
    </p:spTree>
    <p:extLst>
      <p:ext uri="{BB962C8B-B14F-4D97-AF65-F5344CB8AC3E}">
        <p14:creationId xmlns:p14="http://schemas.microsoft.com/office/powerpoint/2010/main" val="293537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6B1D-9EA1-2DA7-C6DB-EE93CDB7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6223-BA8A-3A05-B429-B849DE20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ym typeface="Proxima Nova"/>
              </a:rPr>
              <a:t>Characteristics</a:t>
            </a:r>
            <a:r>
              <a:rPr lang="en-US" b="1" dirty="0"/>
              <a:t>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6FCD-2614-B1A1-7566-B028506D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019"/>
            <a:ext cx="10795612" cy="5311035"/>
          </a:xfrm>
        </p:spPr>
        <p:txBody>
          <a:bodyPr>
            <a:normAutofit/>
          </a:bodyPr>
          <a:lstStyle/>
          <a:p>
            <a:pPr marL="285750" indent="-285750" algn="just" defTabSz="268288" fontAlgn="auto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600" b="1" dirty="0">
                <a:solidFill>
                  <a:srgbClr val="FF0000"/>
                </a:solidFill>
                <a:latin typeface="Trebuchet MS" panose="020B0603020202020204" pitchFamily="34" charset="0"/>
              </a:rPr>
              <a:t>Unambiguous</a:t>
            </a:r>
            <a:r>
              <a:rPr lang="en-US" altLang="en-US" sz="2600" dirty="0">
                <a:latin typeface="Trebuchet MS" panose="020B0603020202020204" pitchFamily="34" charset="0"/>
              </a:rPr>
              <a:t> − Algorithm should be clear and unambiguous. Each step, and their input/outputs should be clear and 	only one meaning. </a:t>
            </a:r>
          </a:p>
          <a:p>
            <a:pPr marL="285750" indent="-285750" algn="just" fontAlgn="auto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600" b="1" dirty="0">
                <a:solidFill>
                  <a:srgbClr val="FF0000"/>
                </a:solidFill>
                <a:latin typeface="Trebuchet MS" panose="020B0603020202020204" pitchFamily="34" charset="0"/>
              </a:rPr>
              <a:t>Input</a:t>
            </a:r>
            <a:r>
              <a:rPr lang="en-US" altLang="en-US" sz="2600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600" dirty="0">
                <a:latin typeface="Trebuchet MS" panose="020B0603020202020204" pitchFamily="34" charset="0"/>
              </a:rPr>
              <a:t>− An algorithm should have 0 or more well defined inputs.</a:t>
            </a:r>
          </a:p>
          <a:p>
            <a:pPr marL="285750" indent="-285750" algn="just" fontAlgn="auto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600" b="1" dirty="0">
                <a:solidFill>
                  <a:srgbClr val="FF0000"/>
                </a:solidFill>
                <a:latin typeface="Trebuchet MS" panose="020B0603020202020204" pitchFamily="34" charset="0"/>
              </a:rPr>
              <a:t>Output</a:t>
            </a:r>
            <a:r>
              <a:rPr lang="en-US" altLang="en-US" sz="2600" b="1" dirty="0">
                <a:latin typeface="Trebuchet MS" panose="020B0603020202020204" pitchFamily="34" charset="0"/>
              </a:rPr>
              <a:t> </a:t>
            </a:r>
            <a:r>
              <a:rPr lang="en-US" altLang="en-US" sz="2600" dirty="0">
                <a:latin typeface="Trebuchet MS" panose="020B0603020202020204" pitchFamily="34" charset="0"/>
              </a:rPr>
              <a:t>− An algorithm should have 1 or more well defined outputs and should match the desired output. </a:t>
            </a:r>
          </a:p>
          <a:p>
            <a:pPr marL="285750" indent="-285750" algn="just" fontAlgn="auto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600" b="1" dirty="0">
                <a:solidFill>
                  <a:srgbClr val="FF0000"/>
                </a:solidFill>
                <a:latin typeface="Trebuchet MS" panose="020B0603020202020204" pitchFamily="34" charset="0"/>
              </a:rPr>
              <a:t>Finiteness</a:t>
            </a:r>
            <a:r>
              <a:rPr lang="en-US" altLang="en-US" sz="2600" dirty="0">
                <a:latin typeface="Trebuchet MS" panose="020B0603020202020204" pitchFamily="34" charset="0"/>
              </a:rPr>
              <a:t> − Algorithms must terminate after a finite number of steps. </a:t>
            </a:r>
          </a:p>
          <a:p>
            <a:pPr marL="285750" indent="-285750" algn="just" fontAlgn="auto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600" b="1" dirty="0">
                <a:solidFill>
                  <a:srgbClr val="FF0000"/>
                </a:solidFill>
                <a:latin typeface="Trebuchet MS" panose="020B0603020202020204" pitchFamily="34" charset="0"/>
              </a:rPr>
              <a:t>Feasibility</a:t>
            </a:r>
            <a:r>
              <a:rPr lang="en-US" altLang="en-US" sz="2600" b="1" dirty="0">
                <a:latin typeface="Trebuchet MS" panose="020B0603020202020204" pitchFamily="34" charset="0"/>
              </a:rPr>
              <a:t> </a:t>
            </a:r>
            <a:r>
              <a:rPr lang="en-US" altLang="en-US" sz="2600" dirty="0">
                <a:latin typeface="Trebuchet MS" panose="020B0603020202020204" pitchFamily="34" charset="0"/>
              </a:rPr>
              <a:t>− Should be feasible with the available resources.</a:t>
            </a:r>
          </a:p>
          <a:p>
            <a:pPr marL="285750" indent="-285750" algn="just" fontAlgn="auto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600" b="1" dirty="0">
                <a:solidFill>
                  <a:srgbClr val="FF0000"/>
                </a:solidFill>
                <a:latin typeface="Trebuchet MS" panose="020B0603020202020204" pitchFamily="34" charset="0"/>
              </a:rPr>
              <a:t>Independent</a:t>
            </a:r>
            <a:r>
              <a:rPr lang="en-US" altLang="en-US" sz="2600" dirty="0">
                <a:latin typeface="Trebuchet MS" panose="020B0603020202020204" pitchFamily="34" charset="0"/>
              </a:rPr>
              <a:t> − An algorithm should have step-by-step directions which should be independent of any programming code.</a:t>
            </a:r>
            <a:endParaRPr lang="en-US" sz="2600" dirty="0"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996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747C-D104-2059-6DDD-54D86BFC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45EF-16B1-E5F8-A2EE-7F5421511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ym typeface="Proxima Nova"/>
              </a:rPr>
              <a:t>Characteristics</a:t>
            </a:r>
            <a:r>
              <a:rPr lang="en-US" b="1" dirty="0"/>
              <a:t>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4AB24-FE60-F8AF-589C-E33283D0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Example 1: Finding the Largest of Two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Start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Read A and B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Print "A is the largest"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Stop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Incorrect Algorithm (Steps not properly related):</a:t>
            </a:r>
            <a:endParaRPr lang="en-IN" dirty="0">
              <a:latin typeface="Aptos" panose="020B0004020202020204" pitchFamily="34" charset="0"/>
            </a:endParaRP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Problem:</a:t>
            </a:r>
            <a:r>
              <a:rPr lang="en-IN" dirty="0">
                <a:solidFill>
                  <a:srgbClr val="0070C0"/>
                </a:solidFill>
                <a:latin typeface="Aptos" panose="020B0004020202020204" pitchFamily="34" charset="0"/>
              </a:rPr>
              <a:t> The algorithm prints that A is the largest without comparing A and B. Step 3 is not logically connected to the previous step.</a:t>
            </a:r>
          </a:p>
        </p:txBody>
      </p:sp>
    </p:spTree>
    <p:extLst>
      <p:ext uri="{BB962C8B-B14F-4D97-AF65-F5344CB8AC3E}">
        <p14:creationId xmlns:p14="http://schemas.microsoft.com/office/powerpoint/2010/main" val="57239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1CA70-110A-A94C-3F8F-1CE3F60A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A4A8-4C2D-F579-65F8-461B3B89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ym typeface="Proxima Nova"/>
              </a:rPr>
              <a:t>Characteristics</a:t>
            </a:r>
            <a:r>
              <a:rPr lang="en-US" b="1" dirty="0"/>
              <a:t>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3BF2-4503-A601-EAFC-E02989370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Example 1: Finding the Largest of Two Numbers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Correct Algorithm:</a:t>
            </a:r>
            <a:endParaRPr lang="en-IN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Start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Read A and B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Compare A and B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If </a:t>
            </a:r>
            <a:r>
              <a:rPr lang="en-IN" b="1" dirty="0">
                <a:latin typeface="Aptos" panose="020B0004020202020204" pitchFamily="34" charset="0"/>
              </a:rPr>
              <a:t>A &gt; B</a:t>
            </a:r>
            <a:r>
              <a:rPr lang="en-IN" dirty="0">
                <a:latin typeface="Aptos" panose="020B0004020202020204" pitchFamily="34" charset="0"/>
              </a:rPr>
              <a:t>, print "A is the largest"; otherwise, print "B is the largest"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Stop </a:t>
            </a:r>
          </a:p>
          <a:p>
            <a:pPr marL="0" indent="0">
              <a:buNone/>
            </a:pPr>
            <a:r>
              <a:rPr lang="en-IN" dirty="0">
                <a:latin typeface="Aptos" panose="020B0004020202020204" pitchFamily="34" charset="0"/>
              </a:rPr>
              <a:t>Here, each step naturally follows from the previous one.</a:t>
            </a:r>
          </a:p>
        </p:txBody>
      </p:sp>
    </p:spTree>
    <p:extLst>
      <p:ext uri="{BB962C8B-B14F-4D97-AF65-F5344CB8AC3E}">
        <p14:creationId xmlns:p14="http://schemas.microsoft.com/office/powerpoint/2010/main" val="191831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12BD8-D2B0-B83A-D117-94684713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701A-99F5-1AA7-6608-BC7E6AD8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ym typeface="Proxima Nova"/>
              </a:rPr>
              <a:t>Characteristics</a:t>
            </a:r>
            <a:r>
              <a:rPr lang="en-US" b="1" dirty="0"/>
              <a:t>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73D1B-3133-C1D5-28FA-69150971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Example 2: ATM Cash Withdrawal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Insert ATM card.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Enter PIN.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Dispense cash.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Stop.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Incorrect Algorithm:</a:t>
            </a:r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Problem:</a:t>
            </a:r>
            <a:r>
              <a:rPr lang="en-IN" dirty="0">
                <a:solidFill>
                  <a:srgbClr val="0070C0"/>
                </a:solidFill>
                <a:latin typeface="Aptos" panose="020B0004020202020204" pitchFamily="34" charset="0"/>
              </a:rPr>
              <a:t> The algorithm never verifies whether the PIN is correct or whether sufficient balance exists.</a:t>
            </a:r>
          </a:p>
        </p:txBody>
      </p:sp>
    </p:spTree>
    <p:extLst>
      <p:ext uri="{BB962C8B-B14F-4D97-AF65-F5344CB8AC3E}">
        <p14:creationId xmlns:p14="http://schemas.microsoft.com/office/powerpoint/2010/main" val="232040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014B-E675-1DC4-0A54-72084A79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869E-4C79-01AD-BCCB-7B342471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ym typeface="Proxima Nova"/>
              </a:rPr>
              <a:t>Characteristics</a:t>
            </a:r>
            <a:r>
              <a:rPr lang="en-US" b="1" dirty="0"/>
              <a:t>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9C53E-2C78-EC8C-71F5-C6F11280D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82052" cy="4586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Example 2: ATM Cash Withdrawal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Correct Algorithm:</a:t>
            </a:r>
            <a:endParaRPr lang="en-IN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Insert ATM card.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Enter PIN.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Verify PIN.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Check account balance.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If balance is sufficient, dispense cash; otherwise, display ”Low Bal."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Stop.</a:t>
            </a:r>
          </a:p>
        </p:txBody>
      </p:sp>
    </p:spTree>
    <p:extLst>
      <p:ext uri="{BB962C8B-B14F-4D97-AF65-F5344CB8AC3E}">
        <p14:creationId xmlns:p14="http://schemas.microsoft.com/office/powerpoint/2010/main" val="640286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" y="971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709232" y="1201108"/>
            <a:ext cx="10773471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Algorithms are used to find the best possible way to solve a problem, based on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</a:rPr>
              <a:t>data storage</a:t>
            </a:r>
            <a:r>
              <a:rPr lang="en-US" sz="3200" dirty="0">
                <a:latin typeface="Aptos" panose="020B0004020202020204" pitchFamily="34" charset="0"/>
              </a:rPr>
              <a:t>,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</a:rPr>
              <a:t>sorting</a:t>
            </a:r>
            <a:r>
              <a:rPr lang="en-US" sz="3200" dirty="0">
                <a:latin typeface="Aptos" panose="020B0004020202020204" pitchFamily="34" charset="0"/>
              </a:rPr>
              <a:t> and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</a:rPr>
              <a:t>processing</a:t>
            </a:r>
            <a:r>
              <a:rPr lang="en-US" sz="3200" dirty="0">
                <a:latin typeface="Aptos" panose="020B0004020202020204" pitchFamily="34" charset="0"/>
              </a:rPr>
              <a:t>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3200" dirty="0">
              <a:latin typeface="Aptos" panose="020B0004020202020204" pitchFamily="34" charset="0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Aptos" panose="020B0004020202020204" pitchFamily="34" charset="0"/>
              </a:rPr>
              <a:t>Algorithms play a crucial role in computing by providing a set of instructions for a computer </a:t>
            </a:r>
            <a:r>
              <a:rPr lang="en-IN" sz="3200" dirty="0">
                <a:solidFill>
                  <a:srgbClr val="0070C0"/>
                </a:solidFill>
                <a:latin typeface="Aptos" panose="020B0004020202020204" pitchFamily="34" charset="0"/>
              </a:rPr>
              <a:t>to perform a specific task</a:t>
            </a:r>
            <a:r>
              <a:rPr lang="en-IN" sz="3200" dirty="0">
                <a:latin typeface="Aptos" panose="020B0004020202020204" pitchFamily="34" charset="0"/>
              </a:rPr>
              <a:t>. 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IN" sz="3200" dirty="0">
              <a:latin typeface="Aptos" panose="020B0004020202020204" pitchFamily="34" charset="0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Aptos" panose="020B0004020202020204" pitchFamily="34" charset="0"/>
              </a:rPr>
              <a:t>They are used to solve problems and carry out tasks in computer systems.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7" name="Google Shape;97;p17"/>
          <p:cNvSpPr txBox="1"/>
          <p:nvPr/>
        </p:nvSpPr>
        <p:spPr>
          <a:xfrm>
            <a:off x="380167" y="135000"/>
            <a:ext cx="8546636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4000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Role of Algorithm in Computing</a:t>
            </a:r>
            <a:endParaRPr lang="en-IN"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1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" y="-21063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539867" y="1305344"/>
            <a:ext cx="10910371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Algorithms are widely used in </a:t>
            </a: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various industrial areas </a:t>
            </a:r>
            <a:r>
              <a:rPr lang="en-US" sz="3000" dirty="0">
                <a:latin typeface="Aptos" panose="020B0004020202020204" pitchFamily="34" charset="0"/>
              </a:rPr>
              <a:t>to improve efficiency, accuracy, and decision-making. 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Some of the key applications include:</a:t>
            </a:r>
          </a:p>
          <a:p>
            <a:pPr marL="97576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Manufacturing</a:t>
            </a:r>
          </a:p>
          <a:p>
            <a:pPr marL="97576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Finance</a:t>
            </a:r>
          </a:p>
          <a:p>
            <a:pPr marL="97576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Healthcare</a:t>
            </a:r>
          </a:p>
        </p:txBody>
      </p:sp>
      <p:sp>
        <p:nvSpPr>
          <p:cNvPr id="7" name="Google Shape;97;p17"/>
          <p:cNvSpPr txBox="1"/>
          <p:nvPr/>
        </p:nvSpPr>
        <p:spPr>
          <a:xfrm>
            <a:off x="539867" y="148891"/>
            <a:ext cx="8546636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4000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Role of Algorithm in Computing</a:t>
            </a:r>
            <a:endParaRPr lang="en-IN"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354238" y="3301406"/>
            <a:ext cx="6096000" cy="16825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97576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Retail </a:t>
            </a:r>
          </a:p>
          <a:p>
            <a:pPr marL="97576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Transportation</a:t>
            </a:r>
          </a:p>
          <a:p>
            <a:pPr marL="97576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Energy</a:t>
            </a:r>
          </a:p>
        </p:txBody>
      </p:sp>
    </p:spTree>
    <p:extLst>
      <p:ext uri="{BB962C8B-B14F-4D97-AF65-F5344CB8AC3E}">
        <p14:creationId xmlns:p14="http://schemas.microsoft.com/office/powerpoint/2010/main" val="1857165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" y="-21063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80167" y="1196336"/>
            <a:ext cx="11351851" cy="511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189" indent="-457189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Algorithms are fundamental to computing and play a </a:t>
            </a: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crucial role in many aspects of the field</a:t>
            </a:r>
            <a:r>
              <a:rPr lang="en-US" sz="3000" dirty="0">
                <a:latin typeface="Aptos" panose="020B0004020202020204" pitchFamily="34" charset="0"/>
              </a:rPr>
              <a:t>. </a:t>
            </a:r>
          </a:p>
          <a:p>
            <a:pPr marL="457189" indent="-457189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457189" indent="-457189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Some of the key needs and applications of algorithms in computing include:</a:t>
            </a:r>
          </a:p>
          <a:p>
            <a:pPr marL="109429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Data processing</a:t>
            </a:r>
          </a:p>
          <a:p>
            <a:pPr marL="109429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Problem solving</a:t>
            </a:r>
          </a:p>
          <a:p>
            <a:pPr marL="109429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Computer graphics</a:t>
            </a:r>
          </a:p>
          <a:p>
            <a:pPr marL="109429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N" sz="3000" dirty="0">
                <a:solidFill>
                  <a:srgbClr val="0070C0"/>
                </a:solidFill>
                <a:latin typeface="Aptos" panose="020B0004020202020204" pitchFamily="34" charset="0"/>
              </a:rPr>
              <a:t>Artificial Intelligence</a:t>
            </a:r>
          </a:p>
        </p:txBody>
      </p:sp>
      <p:sp>
        <p:nvSpPr>
          <p:cNvPr id="7" name="Google Shape;97;p17"/>
          <p:cNvSpPr txBox="1"/>
          <p:nvPr/>
        </p:nvSpPr>
        <p:spPr>
          <a:xfrm>
            <a:off x="380167" y="135000"/>
            <a:ext cx="8546636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4000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Role of Algorithm in Computing</a:t>
            </a:r>
            <a:endParaRPr lang="en-IN"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98240" y="3936082"/>
            <a:ext cx="6096000" cy="16825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9429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N" sz="3000" dirty="0">
                <a:solidFill>
                  <a:srgbClr val="0070C0"/>
                </a:solidFill>
                <a:latin typeface="Aptos" panose="020B0004020202020204" pitchFamily="34" charset="0"/>
              </a:rPr>
              <a:t>Database management</a:t>
            </a:r>
          </a:p>
          <a:p>
            <a:pPr marL="109429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N" sz="3000" dirty="0">
                <a:solidFill>
                  <a:srgbClr val="0070C0"/>
                </a:solidFill>
                <a:latin typeface="Aptos" panose="020B0004020202020204" pitchFamily="34" charset="0"/>
              </a:rPr>
              <a:t>Network communication</a:t>
            </a:r>
          </a:p>
          <a:p>
            <a:pPr marL="1094290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N" sz="3000" dirty="0">
                <a:solidFill>
                  <a:srgbClr val="0070C0"/>
                </a:solidFill>
                <a:latin typeface="Aptos" panose="020B0004020202020204" pitchFamily="34" charset="0"/>
              </a:rPr>
              <a:t>Operating systems</a:t>
            </a:r>
            <a:endParaRPr lang="en-US" sz="3000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10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" y="-21063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87542" y="1157630"/>
            <a:ext cx="11616915" cy="511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457189" indent="-457189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Algorithms play a critical role in </a:t>
            </a: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networking and communication systems</a:t>
            </a:r>
            <a:r>
              <a:rPr lang="en-US" sz="3000" dirty="0">
                <a:latin typeface="Aptos" panose="020B0004020202020204" pitchFamily="34" charset="0"/>
              </a:rPr>
              <a:t>, enabling efficient and reliable data transfer and communication. </a:t>
            </a:r>
          </a:p>
          <a:p>
            <a:pPr marL="457189" indent="-457189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457189" indent="-457189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Some of the key applications of algorithms in networking include:</a:t>
            </a:r>
          </a:p>
          <a:p>
            <a:pPr marL="1094290" lvl="1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Routing</a:t>
            </a:r>
          </a:p>
          <a:p>
            <a:pPr marL="1094290" lvl="1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Error correction</a:t>
            </a:r>
          </a:p>
          <a:p>
            <a:pPr marL="1094290" lvl="1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Data compression</a:t>
            </a:r>
          </a:p>
          <a:p>
            <a:pPr marL="1094290" lvl="1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Network security</a:t>
            </a:r>
          </a:p>
        </p:txBody>
      </p:sp>
      <p:sp>
        <p:nvSpPr>
          <p:cNvPr id="7" name="Google Shape;97;p17"/>
          <p:cNvSpPr txBox="1"/>
          <p:nvPr/>
        </p:nvSpPr>
        <p:spPr>
          <a:xfrm>
            <a:off x="380167" y="135000"/>
            <a:ext cx="8546636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4000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Role of Algorithm in Computing</a:t>
            </a:r>
            <a:endParaRPr lang="en-IN"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40335" y="3915386"/>
            <a:ext cx="6096000" cy="16825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94290" lvl="1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Quality of Service </a:t>
            </a:r>
          </a:p>
          <a:p>
            <a:pPr marL="1094290" lvl="1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Wireless networks</a:t>
            </a:r>
          </a:p>
          <a:p>
            <a:pPr marL="1094290" lvl="1" indent="-380990" algn="just">
              <a:spcBef>
                <a:spcPts val="400"/>
              </a:spcBef>
              <a:spcAft>
                <a:spcPts val="4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Network topology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09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08" y="-6192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3" y="135000"/>
            <a:ext cx="85997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</a:t>
            </a:r>
            <a:r>
              <a:rPr lang="en-IN" sz="4000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 Specification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27102" y="1125400"/>
            <a:ext cx="1153504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Aptos" panose="020B0004020202020204" pitchFamily="34" charset="0"/>
              </a:rPr>
              <a:t>Algorithm can be described in </a:t>
            </a:r>
            <a:r>
              <a:rPr lang="en-US" sz="3000" b="1" dirty="0">
                <a:solidFill>
                  <a:srgbClr val="0070C0"/>
                </a:solidFill>
                <a:latin typeface="Aptos" panose="020B0004020202020204" pitchFamily="34" charset="0"/>
              </a:rPr>
              <a:t>three</a:t>
            </a:r>
            <a:r>
              <a:rPr lang="en-US" sz="3000" dirty="0">
                <a:latin typeface="Aptos" panose="020B0004020202020204" pitchFamily="34" charset="0"/>
              </a:rPr>
              <a:t> ways.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Natural language like English:</a:t>
            </a:r>
          </a:p>
          <a:p>
            <a:pPr marL="713300" lvl="2" algn="just"/>
            <a:r>
              <a:rPr lang="en-US" sz="3000" dirty="0">
                <a:latin typeface="Aptos" panose="020B0004020202020204" pitchFamily="34" charset="0"/>
              </a:rPr>
              <a:t>In this case, a care should be taken, we should ensure that each &amp; every statement is definite.</a:t>
            </a:r>
          </a:p>
          <a:p>
            <a:pPr marL="713300" lvl="2" algn="just"/>
            <a:endParaRPr lang="en-US" sz="3000" dirty="0">
              <a:latin typeface="Aptos" panose="020B0004020202020204" pitchFamily="34" charset="0"/>
            </a:endParaRPr>
          </a:p>
          <a:p>
            <a:pPr marL="357708" lvl="2" indent="-357708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Graphic representation called flowchart:</a:t>
            </a:r>
          </a:p>
          <a:p>
            <a:pPr marL="713300" lvl="2" algn="just"/>
            <a:r>
              <a:rPr lang="en-US" sz="3000" dirty="0">
                <a:latin typeface="Aptos" panose="020B0004020202020204" pitchFamily="34" charset="0"/>
              </a:rPr>
              <a:t>This method will work well when the algorithm </a:t>
            </a:r>
            <a:r>
              <a:rPr lang="en-IN" sz="3000" dirty="0">
                <a:latin typeface="Aptos" panose="020B0004020202020204" pitchFamily="34" charset="0"/>
              </a:rPr>
              <a:t>is small &amp; simple.</a:t>
            </a:r>
          </a:p>
          <a:p>
            <a:pPr marL="713300" lvl="2" algn="just"/>
            <a:endParaRPr lang="en-IN" sz="3000" dirty="0">
              <a:latin typeface="Aptos" panose="020B0004020202020204" pitchFamily="34" charset="0"/>
            </a:endParaRPr>
          </a:p>
          <a:p>
            <a:pPr marL="357708" lvl="2" indent="-357708" algn="just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rgbClr val="FF0000"/>
                </a:solidFill>
                <a:latin typeface="Aptos" panose="020B0004020202020204" pitchFamily="34" charset="0"/>
              </a:rPr>
              <a:t>Pseudo-code Method:</a:t>
            </a:r>
          </a:p>
          <a:p>
            <a:pPr marL="713300" lvl="2" algn="just"/>
            <a:r>
              <a:rPr lang="en-US" sz="3000" dirty="0">
                <a:latin typeface="Aptos" panose="020B0004020202020204" pitchFamily="34" charset="0"/>
              </a:rPr>
              <a:t>In this method, we should typically describe algorithms as program, which resembles language like Pascal.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68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3" y="135000"/>
            <a:ext cx="9117047" cy="82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3733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Pseudo-Code Conventions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9970" y="990309"/>
            <a:ext cx="11151995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ptos" panose="020B0004020202020204" pitchFamily="34" charset="0"/>
              </a:rPr>
              <a:t>1. </a:t>
            </a:r>
            <a:r>
              <a:rPr lang="en-US" sz="2800" dirty="0">
                <a:solidFill>
                  <a:srgbClr val="0070C0"/>
                </a:solidFill>
                <a:latin typeface="Aptos" panose="020B0004020202020204" pitchFamily="34" charset="0"/>
              </a:rPr>
              <a:t>Comments </a:t>
            </a:r>
            <a:r>
              <a:rPr lang="en-US" sz="2800" dirty="0">
                <a:latin typeface="Aptos" panose="020B0004020202020204" pitchFamily="34" charset="0"/>
              </a:rPr>
              <a:t>begin with // and continue until the end of line.</a:t>
            </a:r>
          </a:p>
          <a:p>
            <a:r>
              <a:rPr lang="en-US" sz="2800" dirty="0">
                <a:latin typeface="Aptos" panose="020B0004020202020204" pitchFamily="34" charset="0"/>
              </a:rPr>
              <a:t>2</a:t>
            </a:r>
            <a:r>
              <a:rPr lang="en-US" sz="2800" dirty="0">
                <a:solidFill>
                  <a:srgbClr val="0070C0"/>
                </a:solidFill>
                <a:latin typeface="Aptos" panose="020B0004020202020204" pitchFamily="34" charset="0"/>
              </a:rPr>
              <a:t>. Blocks </a:t>
            </a:r>
            <a:r>
              <a:rPr lang="en-US" sz="2800" dirty="0">
                <a:latin typeface="Aptos" panose="020B0004020202020204" pitchFamily="34" charset="0"/>
              </a:rPr>
              <a:t>are indicated with matching braces {and}.</a:t>
            </a:r>
          </a:p>
          <a:p>
            <a:r>
              <a:rPr lang="en-US" sz="2800" dirty="0">
                <a:latin typeface="Aptos" panose="020B0004020202020204" pitchFamily="34" charset="0"/>
              </a:rPr>
              <a:t>3. An </a:t>
            </a:r>
            <a:r>
              <a:rPr lang="en-US" sz="2800" dirty="0">
                <a:solidFill>
                  <a:srgbClr val="0070C0"/>
                </a:solidFill>
                <a:latin typeface="Aptos" panose="020B0004020202020204" pitchFamily="34" charset="0"/>
              </a:rPr>
              <a:t>identifier </a:t>
            </a:r>
            <a:r>
              <a:rPr lang="en-US" sz="2800" dirty="0">
                <a:latin typeface="Aptos" panose="020B0004020202020204" pitchFamily="34" charset="0"/>
              </a:rPr>
              <a:t>begins with a letter. The data types of variables are not </a:t>
            </a:r>
          </a:p>
          <a:p>
            <a:r>
              <a:rPr lang="en-US" sz="2800" dirty="0">
                <a:latin typeface="Aptos" panose="020B0004020202020204" pitchFamily="34" charset="0"/>
              </a:rPr>
              <a:t>    explicitly declared.</a:t>
            </a:r>
          </a:p>
          <a:p>
            <a:r>
              <a:rPr lang="en-US" sz="2800" dirty="0">
                <a:latin typeface="Aptos" panose="020B0004020202020204" pitchFamily="34" charset="0"/>
              </a:rPr>
              <a:t>4. Compound </a:t>
            </a:r>
            <a:r>
              <a:rPr lang="en-US" sz="2800" dirty="0">
                <a:solidFill>
                  <a:srgbClr val="0070C0"/>
                </a:solidFill>
                <a:latin typeface="Aptos" panose="020B0004020202020204" pitchFamily="34" charset="0"/>
              </a:rPr>
              <a:t>data types </a:t>
            </a:r>
            <a:r>
              <a:rPr lang="en-US" sz="2800" dirty="0">
                <a:latin typeface="Aptos" panose="020B0004020202020204" pitchFamily="34" charset="0"/>
              </a:rPr>
              <a:t>can be formed with records.</a:t>
            </a:r>
          </a:p>
          <a:p>
            <a:r>
              <a:rPr lang="en-US" sz="2600" dirty="0">
                <a:solidFill>
                  <a:srgbClr val="0070C0"/>
                </a:solidFill>
                <a:latin typeface="Aptos" panose="020B0004020202020204" pitchFamily="34" charset="0"/>
              </a:rPr>
              <a:t>E</a:t>
            </a:r>
            <a:r>
              <a:rPr lang="en-IN" sz="2600" dirty="0" err="1">
                <a:solidFill>
                  <a:srgbClr val="0070C0"/>
                </a:solidFill>
                <a:latin typeface="Aptos" panose="020B0004020202020204" pitchFamily="34" charset="0"/>
              </a:rPr>
              <a:t>xample</a:t>
            </a:r>
            <a:r>
              <a:rPr lang="en-IN" sz="2600" dirty="0">
                <a:solidFill>
                  <a:srgbClr val="0070C0"/>
                </a:solidFill>
                <a:latin typeface="Aptos" panose="020B0004020202020204" pitchFamily="34" charset="0"/>
              </a:rPr>
              <a:t>:</a:t>
            </a:r>
          </a:p>
          <a:p>
            <a:pPr marL="713300" lvl="2"/>
            <a:r>
              <a:rPr lang="en-IN" sz="2600" dirty="0">
                <a:solidFill>
                  <a:srgbClr val="FF0000"/>
                </a:solidFill>
                <a:latin typeface="Aptos" panose="020B0004020202020204" pitchFamily="34" charset="0"/>
              </a:rPr>
              <a:t>Node. Record</a:t>
            </a:r>
          </a:p>
          <a:p>
            <a:pPr marL="713300" lvl="2"/>
            <a:r>
              <a:rPr lang="en-IN" sz="2600" dirty="0">
                <a:solidFill>
                  <a:srgbClr val="FF0000"/>
                </a:solidFill>
                <a:latin typeface="Aptos" panose="020B0004020202020204" pitchFamily="34" charset="0"/>
              </a:rPr>
              <a:t>{</a:t>
            </a:r>
          </a:p>
          <a:p>
            <a:pPr marL="713300" lvl="2"/>
            <a:r>
              <a:rPr lang="en-IN" sz="2600" dirty="0">
                <a:solidFill>
                  <a:srgbClr val="FF0000"/>
                </a:solidFill>
                <a:latin typeface="Aptos" panose="020B0004020202020204" pitchFamily="34" charset="0"/>
              </a:rPr>
              <a:t>data type – 1 data-1;</a:t>
            </a:r>
          </a:p>
          <a:p>
            <a:pPr marL="713300" lvl="2"/>
            <a:r>
              <a:rPr lang="en-IN" sz="2600" dirty="0">
                <a:solidFill>
                  <a:srgbClr val="FF0000"/>
                </a:solidFill>
                <a:latin typeface="Aptos" panose="020B0004020202020204" pitchFamily="34" charset="0"/>
              </a:rPr>
              <a:t>.</a:t>
            </a:r>
          </a:p>
          <a:p>
            <a:pPr marL="713300" lvl="2"/>
            <a:r>
              <a:rPr lang="en-IN" sz="2600" dirty="0">
                <a:solidFill>
                  <a:srgbClr val="FF0000"/>
                </a:solidFill>
                <a:latin typeface="Aptos" panose="020B0004020202020204" pitchFamily="34" charset="0"/>
              </a:rPr>
              <a:t>data type – n data – n;</a:t>
            </a:r>
          </a:p>
          <a:p>
            <a:pPr marL="713300" lvl="2"/>
            <a:r>
              <a:rPr lang="en-IN" sz="2600" dirty="0">
                <a:solidFill>
                  <a:srgbClr val="FF0000"/>
                </a:solidFill>
                <a:latin typeface="Aptos" panose="020B0004020202020204" pitchFamily="34" charset="0"/>
              </a:rPr>
              <a:t>node * link;</a:t>
            </a:r>
          </a:p>
          <a:p>
            <a:pPr marL="713300" lvl="2"/>
            <a:r>
              <a:rPr lang="en-IN" sz="2600" dirty="0">
                <a:solidFill>
                  <a:srgbClr val="FF0000"/>
                </a:solidFill>
                <a:latin typeface="Aptos" panose="020B0004020202020204" pitchFamily="34" charset="0"/>
              </a:rPr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84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13311" y="105534"/>
            <a:ext cx="9117047" cy="82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3733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Pseudo-Code Conventions</a:t>
            </a:r>
            <a:endParaRPr lang="en-IN" sz="3733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2304" y="1197586"/>
            <a:ext cx="1094732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5.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Assignment of values </a:t>
            </a:r>
            <a:r>
              <a:rPr lang="en-US" sz="3000" dirty="0">
                <a:latin typeface="Aptos" panose="020B0004020202020204" pitchFamily="34" charset="0"/>
              </a:rPr>
              <a:t>to variables is done using the assignment statement.</a:t>
            </a:r>
          </a:p>
          <a:p>
            <a:r>
              <a:rPr lang="en-IN" sz="3000" dirty="0">
                <a:latin typeface="Aptos" panose="020B0004020202020204" pitchFamily="34" charset="0"/>
              </a:rPr>
              <a:t>	</a:t>
            </a:r>
            <a:r>
              <a:rPr lang="en-IN" sz="3000" dirty="0">
                <a:solidFill>
                  <a:srgbClr val="FF0000"/>
                </a:solidFill>
                <a:latin typeface="Aptos" panose="020B0004020202020204" pitchFamily="34" charset="0"/>
              </a:rPr>
              <a:t>&lt;Variable&gt;= &lt;expression&gt;;</a:t>
            </a:r>
          </a:p>
          <a:p>
            <a:endParaRPr lang="en-IN" sz="3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3000" dirty="0">
                <a:latin typeface="Aptos" panose="020B0004020202020204" pitchFamily="34" charset="0"/>
              </a:rPr>
              <a:t>6. There are two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Boolean values </a:t>
            </a:r>
            <a:r>
              <a:rPr lang="en-US" sz="3000" dirty="0">
                <a:latin typeface="Aptos" panose="020B0004020202020204" pitchFamily="34" charset="0"/>
              </a:rPr>
              <a:t>TRUE and FALSE.</a:t>
            </a:r>
          </a:p>
          <a:p>
            <a:pPr marL="952476" lvl="2" indent="-476239"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Logical Operators AND, OR, NOT</a:t>
            </a:r>
          </a:p>
          <a:p>
            <a:pPr marL="952476" lvl="2" indent="-476239">
              <a:buFont typeface="Wingdings" panose="05000000000000000000" pitchFamily="2" charset="2"/>
              <a:buChar char="q"/>
            </a:pPr>
            <a:r>
              <a:rPr lang="en-IN" sz="3000" dirty="0">
                <a:solidFill>
                  <a:srgbClr val="FF0000"/>
                </a:solidFill>
                <a:latin typeface="Aptos" panose="020B0004020202020204" pitchFamily="34" charset="0"/>
              </a:rPr>
              <a:t>Relational Operators &lt;, &lt;=,&gt;,&gt;=, =, !=</a:t>
            </a:r>
          </a:p>
          <a:p>
            <a:pPr marL="476237" lvl="2"/>
            <a:endParaRPr lang="en-IN" sz="3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3000" dirty="0">
                <a:latin typeface="Aptos" panose="020B0004020202020204" pitchFamily="34" charset="0"/>
              </a:rPr>
              <a:t>7. The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looping statements</a:t>
            </a:r>
            <a:r>
              <a:rPr lang="en-US" sz="3000" dirty="0">
                <a:latin typeface="Aptos" panose="020B0004020202020204" pitchFamily="34" charset="0"/>
              </a:rPr>
              <a:t> are employed with algorithms.</a:t>
            </a:r>
          </a:p>
          <a:p>
            <a:pPr marL="476239" lvl="1"/>
            <a:r>
              <a:rPr lang="en-IN" sz="3000" dirty="0">
                <a:latin typeface="Aptos" panose="020B0004020202020204" pitchFamily="34" charset="0"/>
              </a:rPr>
              <a:t>Like </a:t>
            </a:r>
            <a:r>
              <a:rPr lang="en-IN" sz="3000" dirty="0">
                <a:solidFill>
                  <a:srgbClr val="FF0000"/>
                </a:solidFill>
                <a:latin typeface="Aptos" panose="020B0004020202020204" pitchFamily="34" charset="0"/>
              </a:rPr>
              <a:t>for, while </a:t>
            </a:r>
            <a:r>
              <a:rPr lang="en-IN" sz="3000" dirty="0">
                <a:latin typeface="Aptos" panose="020B0004020202020204" pitchFamily="34" charset="0"/>
              </a:rPr>
              <a:t>and</a:t>
            </a:r>
            <a:r>
              <a:rPr lang="en-IN" sz="3000" dirty="0">
                <a:solidFill>
                  <a:srgbClr val="FF0000"/>
                </a:solidFill>
                <a:latin typeface="Aptos" panose="020B0004020202020204" pitchFamily="34" charset="0"/>
              </a:rPr>
              <a:t> repeat-until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84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3" y="135000"/>
            <a:ext cx="9117047" cy="82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3733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Pseudo-Code Conventions</a:t>
            </a:r>
            <a:endParaRPr lang="en-IN" sz="3733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2610" y="1108904"/>
            <a:ext cx="11325443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67"/>
              </a:spcBef>
              <a:spcAft>
                <a:spcPts val="267"/>
              </a:spcAft>
            </a:pPr>
            <a:r>
              <a:rPr lang="en-US" sz="3000" dirty="0">
                <a:latin typeface="Aptos" panose="020B0004020202020204" pitchFamily="34" charset="0"/>
              </a:rPr>
              <a:t>8. A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conditional statement </a:t>
            </a:r>
            <a:r>
              <a:rPr lang="en-US" sz="3000" dirty="0">
                <a:latin typeface="Aptos" panose="020B0004020202020204" pitchFamily="34" charset="0"/>
              </a:rPr>
              <a:t>has the following forms.</a:t>
            </a:r>
          </a:p>
          <a:p>
            <a:pPr marL="952476" indent="-476239">
              <a:spcBef>
                <a:spcPts val="267"/>
              </a:spcBef>
              <a:spcAft>
                <a:spcPts val="267"/>
              </a:spcAft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If &lt;condition&gt; then &lt;statement&gt;</a:t>
            </a:r>
          </a:p>
          <a:p>
            <a:pPr marL="952476" indent="-476239">
              <a:spcBef>
                <a:spcPts val="267"/>
              </a:spcBef>
              <a:spcAft>
                <a:spcPts val="267"/>
              </a:spcAft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If &lt;condition&gt; then &lt;statement-1&gt;</a:t>
            </a:r>
          </a:p>
          <a:p>
            <a:pPr marL="476237">
              <a:spcBef>
                <a:spcPts val="267"/>
              </a:spcBef>
              <a:spcAft>
                <a:spcPts val="267"/>
              </a:spcAft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     Else &lt;statement-1&gt;</a:t>
            </a:r>
          </a:p>
          <a:p>
            <a:pPr marL="476237">
              <a:spcBef>
                <a:spcPts val="267"/>
              </a:spcBef>
              <a:spcAft>
                <a:spcPts val="267"/>
              </a:spcAft>
            </a:pPr>
            <a:endParaRPr lang="en-US" sz="3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>
              <a:spcBef>
                <a:spcPts val="267"/>
              </a:spcBef>
              <a:spcAft>
                <a:spcPts val="267"/>
              </a:spcAft>
            </a:pPr>
            <a:r>
              <a:rPr lang="en-US" sz="3000" dirty="0">
                <a:latin typeface="Aptos" panose="020B0004020202020204" pitchFamily="34" charset="0"/>
              </a:rPr>
              <a:t>9.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Input and output </a:t>
            </a:r>
            <a:r>
              <a:rPr lang="en-US" sz="3000" dirty="0">
                <a:latin typeface="Aptos" panose="020B0004020202020204" pitchFamily="34" charset="0"/>
              </a:rPr>
              <a:t>are done using the instructions read &amp; write.</a:t>
            </a:r>
          </a:p>
          <a:p>
            <a:pPr>
              <a:spcBef>
                <a:spcPts val="267"/>
              </a:spcBef>
              <a:spcAft>
                <a:spcPts val="267"/>
              </a:spcAft>
            </a:pPr>
            <a:endParaRPr lang="en-US" sz="3000" dirty="0">
              <a:latin typeface="Aptos" panose="020B0004020202020204" pitchFamily="34" charset="0"/>
            </a:endParaRPr>
          </a:p>
          <a:p>
            <a:pPr>
              <a:spcBef>
                <a:spcPts val="267"/>
              </a:spcBef>
              <a:spcAft>
                <a:spcPts val="267"/>
              </a:spcAft>
            </a:pPr>
            <a:r>
              <a:rPr lang="en-US" sz="3000" dirty="0">
                <a:latin typeface="Aptos" panose="020B0004020202020204" pitchFamily="34" charset="0"/>
              </a:rPr>
              <a:t>10. There is only one type of procedure:</a:t>
            </a:r>
          </a:p>
          <a:p>
            <a:pPr marL="476237">
              <a:spcBef>
                <a:spcPts val="267"/>
              </a:spcBef>
              <a:spcAft>
                <a:spcPts val="267"/>
              </a:spcAft>
            </a:pPr>
            <a:r>
              <a:rPr lang="en-US" sz="3000" dirty="0">
                <a:latin typeface="Aptos" panose="020B0004020202020204" pitchFamily="34" charset="0"/>
              </a:rPr>
              <a:t>Algorithm, the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heading</a:t>
            </a:r>
            <a:r>
              <a:rPr lang="en-US" sz="3000" dirty="0">
                <a:latin typeface="Aptos" panose="020B0004020202020204" pitchFamily="34" charset="0"/>
              </a:rPr>
              <a:t> takes the form,</a:t>
            </a:r>
          </a:p>
          <a:p>
            <a:pPr marL="476237">
              <a:spcBef>
                <a:spcPts val="267"/>
              </a:spcBef>
              <a:spcAft>
                <a:spcPts val="267"/>
              </a:spcAft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	</a:t>
            </a: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Algorithm Name (Parameter lists)</a:t>
            </a:r>
            <a:endParaRPr lang="en-IN" sz="3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3" y="135000"/>
            <a:ext cx="9117047" cy="82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3733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in description </a:t>
            </a:r>
            <a:endParaRPr lang="en-IN" sz="3733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9453" y="1384465"/>
            <a:ext cx="1126240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Euclid’s algorithm for computing </a:t>
            </a:r>
            <a:r>
              <a:rPr lang="en-US" sz="3000" dirty="0" err="1">
                <a:solidFill>
                  <a:srgbClr val="FF0000"/>
                </a:solidFill>
                <a:latin typeface="Aptos" panose="020B0004020202020204" pitchFamily="34" charset="0"/>
              </a:rPr>
              <a:t>gcd</a:t>
            </a: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(m, n)</a:t>
            </a:r>
          </a:p>
          <a:p>
            <a:endParaRPr lang="en-US" sz="3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Step 1:</a:t>
            </a:r>
            <a:r>
              <a:rPr lang="en-US" sz="3000" dirty="0">
                <a:latin typeface="Aptos" panose="020B0004020202020204" pitchFamily="34" charset="0"/>
              </a:rPr>
              <a:t> If n = 0, return the value of m as the answer and stop; otherwise, proceed to Step 2.</a:t>
            </a:r>
          </a:p>
          <a:p>
            <a:endParaRPr lang="en-US" sz="3000" dirty="0">
              <a:latin typeface="Aptos" panose="020B0004020202020204" pitchFamily="34" charset="0"/>
            </a:endParaRPr>
          </a:p>
          <a:p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Step 2:</a:t>
            </a:r>
            <a:r>
              <a:rPr lang="en-US" sz="3000" dirty="0">
                <a:latin typeface="Aptos" panose="020B0004020202020204" pitchFamily="34" charset="0"/>
              </a:rPr>
              <a:t> Divide m by n and assign the value of the remainder to r.</a:t>
            </a:r>
          </a:p>
          <a:p>
            <a:endParaRPr lang="en-US" sz="3000" dirty="0">
              <a:latin typeface="Aptos" panose="020B0004020202020204" pitchFamily="34" charset="0"/>
            </a:endParaRPr>
          </a:p>
          <a:p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Step 3: </a:t>
            </a:r>
            <a:r>
              <a:rPr lang="en-US" sz="3000" dirty="0">
                <a:latin typeface="Aptos" panose="020B0004020202020204" pitchFamily="34" charset="0"/>
              </a:rPr>
              <a:t>Assign the value of n to m and the value of r to n. Go to Step 1.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05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3" y="135000"/>
            <a:ext cx="9117047" cy="82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IN" sz="3733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in Pseudo-Code</a:t>
            </a:r>
            <a:endParaRPr lang="en-IN" sz="3733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4730" y="1084364"/>
            <a:ext cx="1002123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FF0000"/>
                </a:solidFill>
                <a:latin typeface="Aptos" panose="020B0004020202020204" pitchFamily="34" charset="0"/>
              </a:rPr>
              <a:t>ALGORITHM</a:t>
            </a:r>
            <a:r>
              <a:rPr lang="en-IN" sz="3000" b="1" dirty="0">
                <a:latin typeface="Aptos" panose="020B0004020202020204" pitchFamily="34" charset="0"/>
              </a:rPr>
              <a:t> </a:t>
            </a:r>
            <a:r>
              <a:rPr lang="en-IN" sz="3000" i="1" dirty="0">
                <a:solidFill>
                  <a:srgbClr val="0070C0"/>
                </a:solidFill>
                <a:latin typeface="Aptos" panose="020B0004020202020204" pitchFamily="34" charset="0"/>
              </a:rPr>
              <a:t>Euclid(m, n)</a:t>
            </a:r>
          </a:p>
          <a:p>
            <a:r>
              <a:rPr lang="en-IN" sz="3000" dirty="0">
                <a:solidFill>
                  <a:srgbClr val="939D33"/>
                </a:solidFill>
                <a:latin typeface="Aptos" panose="020B0004020202020204" pitchFamily="34" charset="0"/>
              </a:rPr>
              <a:t>//Computes </a:t>
            </a:r>
            <a:r>
              <a:rPr lang="en-IN" sz="3000" dirty="0" err="1">
                <a:solidFill>
                  <a:srgbClr val="939D33"/>
                </a:solidFill>
                <a:latin typeface="Aptos" panose="020B0004020202020204" pitchFamily="34" charset="0"/>
              </a:rPr>
              <a:t>gcd</a:t>
            </a:r>
            <a:r>
              <a:rPr lang="en-IN" sz="3000" i="1" dirty="0">
                <a:solidFill>
                  <a:srgbClr val="939D33"/>
                </a:solidFill>
                <a:latin typeface="Aptos" panose="020B0004020202020204" pitchFamily="34" charset="0"/>
              </a:rPr>
              <a:t>(m, n) </a:t>
            </a:r>
            <a:r>
              <a:rPr lang="en-IN" sz="3000" dirty="0">
                <a:solidFill>
                  <a:srgbClr val="939D33"/>
                </a:solidFill>
                <a:latin typeface="Aptos" panose="020B0004020202020204" pitchFamily="34" charset="0"/>
              </a:rPr>
              <a:t>by Euclid’s algorithm</a:t>
            </a:r>
          </a:p>
          <a:p>
            <a:r>
              <a:rPr lang="en-US" sz="3000" dirty="0">
                <a:solidFill>
                  <a:srgbClr val="939D33"/>
                </a:solidFill>
                <a:latin typeface="Aptos" panose="020B0004020202020204" pitchFamily="34" charset="0"/>
              </a:rPr>
              <a:t>//Input: Two nonnegative, not-both-zero integers </a:t>
            </a:r>
            <a:r>
              <a:rPr lang="en-US" sz="3000" i="1" dirty="0">
                <a:solidFill>
                  <a:srgbClr val="939D33"/>
                </a:solidFill>
                <a:latin typeface="Aptos" panose="020B0004020202020204" pitchFamily="34" charset="0"/>
              </a:rPr>
              <a:t>m </a:t>
            </a:r>
            <a:r>
              <a:rPr lang="en-US" sz="3000" dirty="0">
                <a:solidFill>
                  <a:srgbClr val="939D33"/>
                </a:solidFill>
                <a:latin typeface="Aptos" panose="020B0004020202020204" pitchFamily="34" charset="0"/>
              </a:rPr>
              <a:t>and </a:t>
            </a:r>
            <a:r>
              <a:rPr lang="en-US" sz="3000" i="1" dirty="0">
                <a:solidFill>
                  <a:srgbClr val="939D33"/>
                </a:solidFill>
                <a:latin typeface="Aptos" panose="020B0004020202020204" pitchFamily="34" charset="0"/>
              </a:rPr>
              <a:t>n</a:t>
            </a:r>
          </a:p>
          <a:p>
            <a:r>
              <a:rPr lang="en-US" sz="3000" dirty="0">
                <a:solidFill>
                  <a:srgbClr val="939D33"/>
                </a:solidFill>
                <a:latin typeface="Aptos" panose="020B0004020202020204" pitchFamily="34" charset="0"/>
              </a:rPr>
              <a:t>//Output: Greatest common divisor of </a:t>
            </a:r>
            <a:r>
              <a:rPr lang="en-US" sz="3000" i="1" dirty="0">
                <a:solidFill>
                  <a:srgbClr val="939D33"/>
                </a:solidFill>
                <a:latin typeface="Aptos" panose="020B0004020202020204" pitchFamily="34" charset="0"/>
              </a:rPr>
              <a:t>m </a:t>
            </a:r>
            <a:r>
              <a:rPr lang="en-US" sz="3000" dirty="0">
                <a:solidFill>
                  <a:srgbClr val="939D33"/>
                </a:solidFill>
                <a:latin typeface="Aptos" panose="020B0004020202020204" pitchFamily="34" charset="0"/>
              </a:rPr>
              <a:t>and </a:t>
            </a:r>
            <a:r>
              <a:rPr lang="en-US" sz="3000" i="1" dirty="0">
                <a:solidFill>
                  <a:srgbClr val="939D33"/>
                </a:solidFill>
                <a:latin typeface="Aptos" panose="020B0004020202020204" pitchFamily="34" charset="0"/>
              </a:rPr>
              <a:t>n</a:t>
            </a:r>
          </a:p>
          <a:p>
            <a:endParaRPr lang="en-IN" sz="30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IN" sz="3000" b="1" dirty="0">
                <a:solidFill>
                  <a:srgbClr val="0070C0"/>
                </a:solidFill>
                <a:latin typeface="Aptos" panose="020B0004020202020204" pitchFamily="34" charset="0"/>
              </a:rPr>
              <a:t>while</a:t>
            </a:r>
            <a:r>
              <a:rPr lang="en-IN" sz="3000" b="1" dirty="0">
                <a:latin typeface="Aptos" panose="020B0004020202020204" pitchFamily="34" charset="0"/>
              </a:rPr>
              <a:t> </a:t>
            </a:r>
            <a:r>
              <a:rPr lang="en-IN" sz="3000" i="1" dirty="0">
                <a:latin typeface="Aptos" panose="020B0004020202020204" pitchFamily="34" charset="0"/>
              </a:rPr>
              <a:t>n </a:t>
            </a:r>
            <a:r>
              <a:rPr lang="en-IN" sz="3000" dirty="0">
                <a:latin typeface="Aptos" panose="020B0004020202020204" pitchFamily="34" charset="0"/>
              </a:rPr>
              <a:t>= 0 </a:t>
            </a:r>
            <a:r>
              <a:rPr lang="en-IN" sz="3000" b="1" dirty="0">
                <a:solidFill>
                  <a:srgbClr val="0070C0"/>
                </a:solidFill>
                <a:latin typeface="Aptos" panose="020B0004020202020204" pitchFamily="34" charset="0"/>
              </a:rPr>
              <a:t>do</a:t>
            </a:r>
          </a:p>
          <a:p>
            <a:r>
              <a:rPr lang="en-IN" sz="3000" i="1" dirty="0">
                <a:latin typeface="Aptos" panose="020B0004020202020204" pitchFamily="34" charset="0"/>
              </a:rPr>
              <a:t>r </a:t>
            </a:r>
            <a:r>
              <a:rPr lang="en-IN" sz="3000" dirty="0">
                <a:latin typeface="Aptos" panose="020B0004020202020204" pitchFamily="34" charset="0"/>
              </a:rPr>
              <a:t>←</a:t>
            </a:r>
            <a:r>
              <a:rPr lang="en-IN" sz="3000" i="1" dirty="0">
                <a:latin typeface="Aptos" panose="020B0004020202020204" pitchFamily="34" charset="0"/>
              </a:rPr>
              <a:t>m </a:t>
            </a:r>
            <a:r>
              <a:rPr lang="en-IN" sz="3000" dirty="0">
                <a:latin typeface="Aptos" panose="020B0004020202020204" pitchFamily="34" charset="0"/>
              </a:rPr>
              <a:t>mod </a:t>
            </a:r>
            <a:r>
              <a:rPr lang="en-IN" sz="3000" i="1" dirty="0">
                <a:latin typeface="Aptos" panose="020B0004020202020204" pitchFamily="34" charset="0"/>
              </a:rPr>
              <a:t>n</a:t>
            </a:r>
          </a:p>
          <a:p>
            <a:r>
              <a:rPr lang="en-IN" sz="3000" i="1" dirty="0" err="1">
                <a:latin typeface="Aptos" panose="020B0004020202020204" pitchFamily="34" charset="0"/>
              </a:rPr>
              <a:t>m</a:t>
            </a:r>
            <a:r>
              <a:rPr lang="en-IN" sz="3000" dirty="0" err="1">
                <a:latin typeface="Aptos" panose="020B0004020202020204" pitchFamily="34" charset="0"/>
              </a:rPr>
              <a:t>←</a:t>
            </a:r>
            <a:r>
              <a:rPr lang="en-IN" sz="3000" i="1" dirty="0" err="1">
                <a:latin typeface="Aptos" panose="020B0004020202020204" pitchFamily="34" charset="0"/>
              </a:rPr>
              <a:t>n</a:t>
            </a:r>
            <a:endParaRPr lang="en-IN" sz="3000" i="1" dirty="0">
              <a:latin typeface="Aptos" panose="020B0004020202020204" pitchFamily="34" charset="0"/>
            </a:endParaRPr>
          </a:p>
          <a:p>
            <a:r>
              <a:rPr lang="en-IN" sz="3000" i="1" dirty="0" err="1">
                <a:latin typeface="Aptos" panose="020B0004020202020204" pitchFamily="34" charset="0"/>
              </a:rPr>
              <a:t>n</a:t>
            </a:r>
            <a:r>
              <a:rPr lang="en-IN" sz="3000" dirty="0" err="1">
                <a:latin typeface="Aptos" panose="020B0004020202020204" pitchFamily="34" charset="0"/>
              </a:rPr>
              <a:t>←</a:t>
            </a:r>
            <a:r>
              <a:rPr lang="en-IN" sz="3000" i="1" dirty="0" err="1">
                <a:latin typeface="Aptos" panose="020B0004020202020204" pitchFamily="34" charset="0"/>
              </a:rPr>
              <a:t>r</a:t>
            </a:r>
            <a:endParaRPr lang="en-IN" sz="3000" i="1" dirty="0">
              <a:latin typeface="Aptos" panose="020B0004020202020204" pitchFamily="34" charset="0"/>
            </a:endParaRPr>
          </a:p>
          <a:p>
            <a:r>
              <a:rPr lang="en-IN" sz="3000" b="1" dirty="0">
                <a:solidFill>
                  <a:srgbClr val="0070C0"/>
                </a:solidFill>
                <a:latin typeface="Aptos" panose="020B0004020202020204" pitchFamily="34" charset="0"/>
              </a:rPr>
              <a:t>return </a:t>
            </a:r>
            <a:r>
              <a:rPr lang="en-IN" sz="3000" i="1" dirty="0">
                <a:latin typeface="Aptos" panose="020B0004020202020204" pitchFamily="34" charset="0"/>
              </a:rPr>
              <a:t>m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84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-9333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67630" y="105410"/>
            <a:ext cx="8742556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US" sz="3600" b="1" dirty="0">
                <a:solidFill>
                  <a:schemeClr val="lt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 </a:t>
            </a:r>
            <a:r>
              <a:rPr lang="en-US" sz="3600" b="1" dirty="0"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Designing and analyzing an algorithm</a:t>
            </a:r>
            <a:endParaRPr lang="en-IN" sz="3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7630" y="1018815"/>
            <a:ext cx="11544204" cy="716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indent="-457189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7720" y="1083279"/>
            <a:ext cx="11224114" cy="545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A sequence of steps one typically goes through in designing and analyzing an algorithm for solving the problems.</a:t>
            </a:r>
          </a:p>
          <a:p>
            <a:pPr marL="831830" indent="-474121" algn="just">
              <a:buFont typeface="+mj-lt"/>
              <a:buAutoNum type="arabicParenR"/>
            </a:pPr>
            <a:r>
              <a:rPr lang="en-IN" sz="2800" b="1" dirty="0">
                <a:solidFill>
                  <a:srgbClr val="00B050"/>
                </a:solidFill>
                <a:latin typeface="Aptos" panose="020B0004020202020204" pitchFamily="34" charset="0"/>
              </a:rPr>
              <a:t>Understand</a:t>
            </a:r>
            <a:r>
              <a:rPr lang="en-IN" sz="2800" dirty="0">
                <a:latin typeface="Aptos" panose="020B0004020202020204" pitchFamily="34" charset="0"/>
              </a:rPr>
              <a:t> the problem</a:t>
            </a:r>
          </a:p>
          <a:p>
            <a:pPr marL="831830" indent="-474121" algn="just">
              <a:buFont typeface="+mj-lt"/>
              <a:buAutoNum type="arabicParenR"/>
            </a:pPr>
            <a:r>
              <a:rPr lang="en-IN" sz="2800" dirty="0">
                <a:latin typeface="Aptos" panose="020B0004020202020204" pitchFamily="34" charset="0"/>
              </a:rPr>
              <a:t>Decision making on: </a:t>
            </a:r>
          </a:p>
          <a:p>
            <a:pPr marL="1189537" lvl="1" indent="-476239" algn="just">
              <a:buClr>
                <a:srgbClr val="7030A0"/>
              </a:buClr>
              <a:buFont typeface="+mj-lt"/>
              <a:buAutoNum type="arabicParenR"/>
            </a:pPr>
            <a:r>
              <a:rPr lang="en-IN" sz="2800" b="1" dirty="0">
                <a:solidFill>
                  <a:srgbClr val="7030A0"/>
                </a:solidFill>
                <a:latin typeface="Aptos" panose="020B0004020202020204" pitchFamily="34" charset="0"/>
              </a:rPr>
              <a:t>Ascertaining the capabilities of a computational device</a:t>
            </a:r>
          </a:p>
          <a:p>
            <a:pPr marL="1189537" lvl="1" indent="-476239" algn="just">
              <a:buClr>
                <a:srgbClr val="7030A0"/>
              </a:buClr>
              <a:buFont typeface="+mj-lt"/>
              <a:buAutoNum type="arabicParenR"/>
            </a:pPr>
            <a:r>
              <a:rPr lang="en-IN" sz="2800" b="1" dirty="0">
                <a:solidFill>
                  <a:srgbClr val="7030A0"/>
                </a:solidFill>
                <a:latin typeface="Aptos" panose="020B0004020202020204" pitchFamily="34" charset="0"/>
              </a:rPr>
              <a:t>Choosing between exact and approximate problem solving</a:t>
            </a:r>
          </a:p>
          <a:p>
            <a:pPr marL="1189537" lvl="1" indent="-476239" algn="just">
              <a:buClr>
                <a:srgbClr val="7030A0"/>
              </a:buClr>
              <a:buFont typeface="+mj-lt"/>
              <a:buAutoNum type="arabicParenR"/>
            </a:pPr>
            <a:r>
              <a:rPr lang="en-IN" sz="2800" b="1" dirty="0">
                <a:solidFill>
                  <a:srgbClr val="7030A0"/>
                </a:solidFill>
                <a:latin typeface="Aptos" panose="020B0004020202020204" pitchFamily="34" charset="0"/>
              </a:rPr>
              <a:t>Deciding on appropriate data structures</a:t>
            </a:r>
          </a:p>
          <a:p>
            <a:pPr marL="831830" indent="-474121" algn="just">
              <a:buFont typeface="+mj-lt"/>
              <a:buAutoNum type="arabicParenR"/>
            </a:pPr>
            <a:r>
              <a:rPr lang="en-IN" sz="2800" dirty="0">
                <a:latin typeface="Aptos" panose="020B0004020202020204" pitchFamily="34" charset="0"/>
              </a:rPr>
              <a:t>Algorithm </a:t>
            </a:r>
            <a:r>
              <a:rPr lang="en-IN" sz="2800" b="1" dirty="0">
                <a:solidFill>
                  <a:srgbClr val="FF0000"/>
                </a:solidFill>
                <a:latin typeface="Aptos" panose="020B0004020202020204" pitchFamily="34" charset="0"/>
              </a:rPr>
              <a:t>design</a:t>
            </a:r>
            <a:r>
              <a:rPr lang="en-IN" sz="2800" dirty="0">
                <a:latin typeface="Aptos" panose="020B0004020202020204" pitchFamily="34" charset="0"/>
              </a:rPr>
              <a:t> techniques</a:t>
            </a:r>
          </a:p>
          <a:p>
            <a:pPr marL="831830" indent="-474121" algn="just">
              <a:buFont typeface="+mj-lt"/>
              <a:buAutoNum type="arabicParenR"/>
            </a:pPr>
            <a:r>
              <a:rPr lang="en-IN" sz="2800" dirty="0">
                <a:latin typeface="Aptos" panose="020B0004020202020204" pitchFamily="34" charset="0"/>
              </a:rPr>
              <a:t>Methods of </a:t>
            </a:r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specifying</a:t>
            </a:r>
            <a:r>
              <a:rPr lang="en-IN" sz="2800" dirty="0">
                <a:latin typeface="Aptos" panose="020B0004020202020204" pitchFamily="34" charset="0"/>
              </a:rPr>
              <a:t> an algorithm</a:t>
            </a:r>
          </a:p>
          <a:p>
            <a:pPr marL="357708">
              <a:spcBef>
                <a:spcPts val="267"/>
              </a:spcBef>
              <a:spcAft>
                <a:spcPts val="267"/>
              </a:spcAft>
            </a:pPr>
            <a:r>
              <a:rPr lang="en-IN" sz="2800" dirty="0">
                <a:latin typeface="Aptos" panose="020B0004020202020204" pitchFamily="34" charset="0"/>
              </a:rPr>
              <a:t>5) Proving an algorithm's </a:t>
            </a:r>
            <a:r>
              <a:rPr lang="en-IN" sz="2800" b="1" dirty="0">
                <a:latin typeface="Aptos" panose="020B0004020202020204" pitchFamily="34" charset="0"/>
              </a:rPr>
              <a:t>correctness</a:t>
            </a:r>
          </a:p>
          <a:p>
            <a:pPr marL="357708">
              <a:spcBef>
                <a:spcPts val="267"/>
              </a:spcBef>
              <a:spcAft>
                <a:spcPts val="267"/>
              </a:spcAft>
            </a:pPr>
            <a:r>
              <a:rPr lang="en-IN" sz="2800" dirty="0">
                <a:latin typeface="Aptos" panose="020B0004020202020204" pitchFamily="34" charset="0"/>
              </a:rPr>
              <a:t>6)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Analysing</a:t>
            </a:r>
            <a:r>
              <a:rPr lang="en-IN" sz="2800" dirty="0">
                <a:latin typeface="Aptos" panose="020B0004020202020204" pitchFamily="34" charset="0"/>
              </a:rPr>
              <a:t> an algorithm</a:t>
            </a:r>
          </a:p>
          <a:p>
            <a:pPr marL="357708">
              <a:spcBef>
                <a:spcPts val="267"/>
              </a:spcBef>
              <a:spcAft>
                <a:spcPts val="267"/>
              </a:spcAft>
            </a:pPr>
            <a:r>
              <a:rPr lang="en-IN" sz="2800" dirty="0">
                <a:latin typeface="Aptos" panose="020B0004020202020204" pitchFamily="34" charset="0"/>
              </a:rPr>
              <a:t>7) </a:t>
            </a:r>
            <a:r>
              <a:rPr lang="en-IN" sz="2800" b="1" dirty="0">
                <a:latin typeface="Aptos" panose="020B0004020202020204" pitchFamily="34" charset="0"/>
              </a:rPr>
              <a:t>Coding</a:t>
            </a:r>
            <a:r>
              <a:rPr lang="en-IN" sz="2800" dirty="0">
                <a:latin typeface="Aptos" panose="020B0004020202020204" pitchFamily="34" charset="0"/>
              </a:rPr>
              <a:t> an algorithm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52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3" y="-108211"/>
            <a:ext cx="9117047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1.Understanding the Problem </a:t>
            </a:r>
          </a:p>
        </p:txBody>
      </p:sp>
      <p:sp>
        <p:nvSpPr>
          <p:cNvPr id="2" name="Rectangle 1"/>
          <p:cNvSpPr/>
          <p:nvPr/>
        </p:nvSpPr>
        <p:spPr>
          <a:xfrm>
            <a:off x="350827" y="1107892"/>
            <a:ext cx="1149028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3300" indent="-355591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This is the first step in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designing </a:t>
            </a:r>
            <a:r>
              <a:rPr lang="en-US" sz="3000" dirty="0">
                <a:latin typeface="Aptos" panose="020B0004020202020204" pitchFamily="34" charset="0"/>
              </a:rPr>
              <a:t>of algorithm. </a:t>
            </a:r>
          </a:p>
          <a:p>
            <a:pPr marL="713300" indent="-355591" algn="just"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713300" indent="-355591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Read the problem’s description </a:t>
            </a:r>
            <a:r>
              <a:rPr lang="en-US" sz="3000" dirty="0">
                <a:latin typeface="Aptos" panose="020B0004020202020204" pitchFamily="34" charset="0"/>
              </a:rPr>
              <a:t>carefully to understand the problem statement completely.</a:t>
            </a:r>
          </a:p>
          <a:p>
            <a:pPr marL="357709" algn="just"/>
            <a:endParaRPr lang="en-US" sz="3000" dirty="0">
              <a:latin typeface="Aptos" panose="020B0004020202020204" pitchFamily="34" charset="0"/>
            </a:endParaRPr>
          </a:p>
          <a:p>
            <a:pPr marL="713300" indent="-355591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Ask question</a:t>
            </a:r>
            <a:r>
              <a:rPr lang="en-US" sz="3000" dirty="0">
                <a:latin typeface="Aptos" panose="020B0004020202020204" pitchFamily="34" charset="0"/>
              </a:rPr>
              <a:t>s for clarifying the doubts about the problem. </a:t>
            </a:r>
          </a:p>
          <a:p>
            <a:pPr marL="713300" indent="-355591" algn="just"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713300" indent="-355591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Identify the problem </a:t>
            </a:r>
            <a:r>
              <a:rPr lang="en-US" sz="3000" dirty="0">
                <a:latin typeface="Aptos" panose="020B0004020202020204" pitchFamily="34" charset="0"/>
              </a:rPr>
              <a:t>types and use existing algorithm to find solution. </a:t>
            </a:r>
          </a:p>
          <a:p>
            <a:pPr marL="713300" indent="-355591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713300" indent="-355591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I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nput (instance) </a:t>
            </a:r>
            <a:r>
              <a:rPr lang="en-US" sz="3000" dirty="0">
                <a:latin typeface="Aptos" panose="020B0004020202020204" pitchFamily="34" charset="0"/>
              </a:rPr>
              <a:t>to the problem and range of the input get fixed.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1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1" y="-78103"/>
            <a:ext cx="9117047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2. Decision making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497545" y="1233514"/>
            <a:ext cx="1119684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7061" indent="-237061" algn="just"/>
            <a:r>
              <a:rPr lang="en-US" sz="3000" dirty="0">
                <a:latin typeface="Aptos" panose="020B0004020202020204" pitchFamily="34" charset="0"/>
              </a:rPr>
              <a:t>The Decision making is done on the following</a:t>
            </a:r>
          </a:p>
          <a:p>
            <a:pPr marL="237061" indent="-237061" algn="just"/>
            <a:r>
              <a:rPr lang="en-US" sz="3000" b="1" u="sng" dirty="0">
                <a:solidFill>
                  <a:srgbClr val="FF0000"/>
                </a:solidFill>
                <a:latin typeface="Aptos" panose="020B0004020202020204" pitchFamily="34" charset="0"/>
              </a:rPr>
              <a:t>a) Ascertaining the Capabilities of the Computational Device</a:t>
            </a:r>
          </a:p>
          <a:p>
            <a:pPr marL="713300" indent="-355591" algn="just">
              <a:buFont typeface="Wingdings" panose="05000000000000000000" pitchFamily="2" charset="2"/>
              <a:buChar char="Ø"/>
              <a:tabLst>
                <a:tab pos="952476" algn="l"/>
              </a:tabLst>
            </a:pPr>
            <a:r>
              <a:rPr lang="en-US" sz="3000" dirty="0">
                <a:latin typeface="Aptos" panose="020B0004020202020204" pitchFamily="34" charset="0"/>
              </a:rPr>
              <a:t>In </a:t>
            </a:r>
            <a:r>
              <a:rPr lang="en-US" sz="3000" b="1" dirty="0">
                <a:latin typeface="Aptos" panose="020B0004020202020204" pitchFamily="34" charset="0"/>
              </a:rPr>
              <a:t>random-access machine (RAM)</a:t>
            </a:r>
            <a:r>
              <a:rPr lang="en-US" sz="3000" dirty="0">
                <a:latin typeface="Aptos" panose="020B0004020202020204" pitchFamily="34" charset="0"/>
              </a:rPr>
              <a:t>, instructions are executed one after another. Accordingly, algorithms designed to be executed on such machines are called </a:t>
            </a:r>
            <a:r>
              <a:rPr lang="en-US" sz="3000" b="1" u="sng" dirty="0">
                <a:solidFill>
                  <a:srgbClr val="0070C0"/>
                </a:solidFill>
                <a:latin typeface="Aptos" panose="020B0004020202020204" pitchFamily="34" charset="0"/>
              </a:rPr>
              <a:t>sequential algorithms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.</a:t>
            </a:r>
          </a:p>
          <a:p>
            <a:pPr marL="713300" indent="-355591" algn="just">
              <a:buFont typeface="Wingdings" panose="05000000000000000000" pitchFamily="2" charset="2"/>
              <a:buChar char="Ø"/>
              <a:tabLst>
                <a:tab pos="952476" algn="l"/>
              </a:tabLst>
            </a:pPr>
            <a:r>
              <a:rPr lang="en-US" sz="3000" dirty="0">
                <a:latin typeface="Aptos" panose="020B0004020202020204" pitchFamily="34" charset="0"/>
              </a:rPr>
              <a:t>In newer computers, operations are executed concurrently, i.e., in parallel. Algorithms that take advantage of this capability are called </a:t>
            </a:r>
            <a:r>
              <a:rPr lang="en-US" sz="3000" b="1" u="sng" dirty="0">
                <a:solidFill>
                  <a:srgbClr val="0070C0"/>
                </a:solidFill>
                <a:latin typeface="Aptos" panose="020B0004020202020204" pitchFamily="34" charset="0"/>
              </a:rPr>
              <a:t>parallel algorithms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.</a:t>
            </a:r>
          </a:p>
          <a:p>
            <a:pPr marL="713300" indent="-355591" algn="just">
              <a:buFont typeface="Wingdings" panose="05000000000000000000" pitchFamily="2" charset="2"/>
              <a:buChar char="Ø"/>
              <a:tabLst>
                <a:tab pos="952476" algn="l"/>
              </a:tabLst>
            </a:pPr>
            <a:r>
              <a:rPr lang="en-US" sz="3000" dirty="0">
                <a:latin typeface="Aptos" panose="020B0004020202020204" pitchFamily="34" charset="0"/>
              </a:rPr>
              <a:t>Choice of computational devices like Processor and memory is mainly based on space and time efficiency.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71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8" y="11018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1" y="-63108"/>
            <a:ext cx="9117047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2. Decision making (Conti…)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4243" y="1107893"/>
            <a:ext cx="1120278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000" b="1" u="sng" dirty="0">
                <a:solidFill>
                  <a:srgbClr val="FF0000"/>
                </a:solidFill>
                <a:latin typeface="Aptos" panose="020B0004020202020204" pitchFamily="34" charset="0"/>
              </a:rPr>
              <a:t>b) Choosing between Exact and Approximate Problem Solving:</a:t>
            </a:r>
          </a:p>
          <a:p>
            <a:pPr marL="476239" indent="-476239" algn="just">
              <a:buFont typeface="Wingdings" panose="05000000000000000000" pitchFamily="2" charset="2"/>
              <a:buChar char="Ø"/>
            </a:pPr>
            <a:r>
              <a:rPr lang="en-US" sz="3000" dirty="0">
                <a:latin typeface="Aptos" panose="020B0004020202020204" pitchFamily="34" charset="0"/>
              </a:rPr>
              <a:t>The next principal decision is to choose between solving the problem exactly or solving it approximately.</a:t>
            </a:r>
          </a:p>
          <a:p>
            <a:pPr marL="476239" indent="-476239" algn="just">
              <a:buFont typeface="Wingdings" panose="05000000000000000000" pitchFamily="2" charset="2"/>
              <a:buChar char="Ø"/>
            </a:pPr>
            <a:endParaRPr lang="en-US" sz="3000" dirty="0">
              <a:latin typeface="Aptos" panose="020B0004020202020204" pitchFamily="34" charset="0"/>
            </a:endParaRPr>
          </a:p>
          <a:p>
            <a:pPr marL="476239" indent="-476239" algn="just">
              <a:buFont typeface="Wingdings" panose="05000000000000000000" pitchFamily="2" charset="2"/>
              <a:buChar char="Ø"/>
            </a:pPr>
            <a:r>
              <a:rPr lang="en-US" sz="3000" dirty="0">
                <a:latin typeface="Aptos" panose="020B0004020202020204" pitchFamily="34" charset="0"/>
              </a:rPr>
              <a:t>An algorithm used to solve the problem exactly and produce correct result is called an </a:t>
            </a:r>
            <a:r>
              <a:rPr lang="en-US" sz="3000" b="1" dirty="0">
                <a:latin typeface="Aptos" panose="020B0004020202020204" pitchFamily="34" charset="0"/>
              </a:rPr>
              <a:t>exact algorithm</a:t>
            </a:r>
            <a:r>
              <a:rPr lang="en-US" sz="3000" dirty="0">
                <a:latin typeface="Aptos" panose="020B0004020202020204" pitchFamily="34" charset="0"/>
              </a:rPr>
              <a:t>.</a:t>
            </a:r>
          </a:p>
          <a:p>
            <a:pPr marL="476239" indent="-476239" algn="just">
              <a:buFont typeface="Wingdings" panose="05000000000000000000" pitchFamily="2" charset="2"/>
              <a:buChar char="Ø"/>
            </a:pPr>
            <a:endParaRPr lang="en-US" sz="3000" dirty="0">
              <a:latin typeface="Aptos" panose="020B0004020202020204" pitchFamily="34" charset="0"/>
            </a:endParaRPr>
          </a:p>
          <a:p>
            <a:pPr marL="476239" indent="-476239" algn="just">
              <a:buFont typeface="Wingdings" panose="05000000000000000000" pitchFamily="2" charset="2"/>
              <a:buChar char="Ø"/>
            </a:pPr>
            <a:r>
              <a:rPr lang="en-US" sz="3000" dirty="0">
                <a:latin typeface="Aptos" panose="020B0004020202020204" pitchFamily="34" charset="0"/>
              </a:rPr>
              <a:t>If the problem is so complex and not able to get exact solution, then we have to choose an algorithm called an </a:t>
            </a:r>
            <a:r>
              <a:rPr lang="en-US" sz="3000" b="1" dirty="0">
                <a:latin typeface="Aptos" panose="020B0004020202020204" pitchFamily="34" charset="0"/>
              </a:rPr>
              <a:t>approximation algorithm</a:t>
            </a:r>
            <a:r>
              <a:rPr lang="en-US" sz="3000" dirty="0">
                <a:latin typeface="Aptos" panose="020B0004020202020204" pitchFamily="34" charset="0"/>
              </a:rPr>
              <a:t>. i.e., produces an Approximate answer. </a:t>
            </a:r>
          </a:p>
          <a:p>
            <a:pPr marL="476239" indent="-476239" algn="just"/>
            <a:r>
              <a:rPr lang="en-US" sz="3000" dirty="0">
                <a:latin typeface="Aptos" panose="020B0004020202020204" pitchFamily="34" charset="0"/>
              </a:rPr>
              <a:t>	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E.g., </a:t>
            </a:r>
            <a:r>
              <a:rPr lang="en-US" sz="3000" dirty="0">
                <a:latin typeface="Aptos" panose="020B0004020202020204" pitchFamily="34" charset="0"/>
              </a:rPr>
              <a:t>extracting square roots, solving nonlinear equations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28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87552" y="3648028"/>
            <a:ext cx="6720468" cy="446049"/>
          </a:xfrm>
          <a:prstGeom prst="rect">
            <a:avLst/>
          </a:prstGeom>
          <a:ln>
            <a:solidFill>
              <a:srgbClr val="D335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27101" y="-108211"/>
            <a:ext cx="9117047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2. Decision making(Conti…)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7296" y="1293537"/>
            <a:ext cx="11017407" cy="517064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3000" b="1" u="sng" dirty="0">
                <a:solidFill>
                  <a:srgbClr val="FF0000"/>
                </a:solidFill>
                <a:latin typeface="Aptos" panose="020B0004020202020204" pitchFamily="34" charset="0"/>
              </a:rPr>
              <a:t>c) Algorithm Design Techniques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An </a:t>
            </a:r>
            <a:r>
              <a:rPr lang="en-US" sz="3000" b="1" dirty="0">
                <a:solidFill>
                  <a:srgbClr val="0070C0"/>
                </a:solidFill>
                <a:latin typeface="Aptos" panose="020B0004020202020204" pitchFamily="34" charset="0"/>
              </a:rPr>
              <a:t>algorithm design technique </a:t>
            </a:r>
            <a:r>
              <a:rPr lang="en-US" sz="3000" dirty="0">
                <a:latin typeface="Aptos" panose="020B0004020202020204" pitchFamily="34" charset="0"/>
              </a:rPr>
              <a:t>(or “strategy” or “paradigm”) is a general approach to solving problems algorithmically that is applicable to a variety of problems from different areas of computing.</a:t>
            </a:r>
          </a:p>
          <a:p>
            <a:pPr algn="just"/>
            <a:r>
              <a:rPr lang="en-US" sz="3000" dirty="0">
                <a:latin typeface="Aptos" panose="020B0004020202020204" pitchFamily="34" charset="0"/>
              </a:rPr>
              <a:t>             </a:t>
            </a:r>
            <a:r>
              <a:rPr lang="en-US" sz="3000" dirty="0">
                <a:solidFill>
                  <a:srgbClr val="FFFF00"/>
                </a:solidFill>
                <a:latin typeface="Aptos" panose="020B0004020202020204" pitchFamily="34" charset="0"/>
              </a:rPr>
              <a:t>Algorithms + Data Structures = Programs</a:t>
            </a:r>
          </a:p>
          <a:p>
            <a:pPr algn="just"/>
            <a:endParaRPr lang="en-US" sz="3000" dirty="0">
              <a:solidFill>
                <a:srgbClr val="FFFF00"/>
              </a:solidFill>
              <a:latin typeface="Aptos" panose="020B0004020202020204" pitchFamily="34" charset="0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Though Algorithms and Data Structures are independent, but they are combined together to develop program. Hence the choice of proper data structure is required before designing the algorithm.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58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7934" y="198118"/>
            <a:ext cx="19939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13309" y="-108211"/>
            <a:ext cx="9117047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2. Decision making(Conti…)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9167" y="1279600"/>
            <a:ext cx="1105360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u="sng" dirty="0">
                <a:solidFill>
                  <a:srgbClr val="FF0000"/>
                </a:solidFill>
                <a:latin typeface="Aptos" panose="020B0004020202020204" pitchFamily="34" charset="0"/>
              </a:rPr>
              <a:t>c) Algorithm Design Techniques(Conti…)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70C0"/>
                </a:solidFill>
                <a:latin typeface="Aptos" panose="020B0004020202020204" pitchFamily="34" charset="0"/>
              </a:rPr>
              <a:t>Implementation</a:t>
            </a:r>
            <a:r>
              <a:rPr lang="en-US" sz="3000" dirty="0">
                <a:latin typeface="Aptos" panose="020B0004020202020204" pitchFamily="34" charset="0"/>
              </a:rPr>
              <a:t> of algorithm is possible only with the help of Algorithms and Data Structures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70C0"/>
                </a:solidFill>
                <a:latin typeface="Aptos" panose="020B0004020202020204" pitchFamily="34" charset="0"/>
              </a:rPr>
              <a:t>Algorithmic strategy / technique / paradigm</a:t>
            </a:r>
            <a:r>
              <a:rPr lang="en-US" sz="3000" dirty="0">
                <a:latin typeface="Aptos" panose="020B0004020202020204" pitchFamily="34" charset="0"/>
              </a:rPr>
              <a:t> are a general approach by which many problems can be solved algorithmically. 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E.g., </a:t>
            </a:r>
            <a:r>
              <a:rPr lang="en-US" sz="3000" dirty="0">
                <a:latin typeface="Aptos" panose="020B0004020202020204" pitchFamily="34" charset="0"/>
              </a:rPr>
              <a:t>Brute Force, Divide and Conquer, Dynamic Programming, Greedy Technique and soon.</a:t>
            </a:r>
            <a:endParaRPr lang="en-IN" sz="3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230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6319" y="-108210"/>
            <a:ext cx="9088931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200" b="1" dirty="0">
                <a:latin typeface="Trebuchet MS" panose="020B0603020202020204" pitchFamily="34" charset="0"/>
              </a:rPr>
              <a:t>3.Designing an Algorithm and Data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356" y="1562249"/>
            <a:ext cx="10675469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4926" y="1161115"/>
            <a:ext cx="1142208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After deciding the design techniques, we need to decide the approaches. There are </a:t>
            </a: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two approaches for designing an algorithm</a:t>
            </a:r>
            <a:r>
              <a:rPr lang="en-US" sz="3000" dirty="0">
                <a:latin typeface="Aptos" panose="020B0004020202020204" pitchFamily="34" charset="0"/>
              </a:rPr>
              <a:t>. These approaches include 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952476" lvl="1" indent="-476239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Aptos" panose="020B0004020202020204" pitchFamily="34" charset="0"/>
              </a:rPr>
              <a:t>Top-Down Approach </a:t>
            </a:r>
          </a:p>
          <a:p>
            <a:pPr marL="952476" lvl="1" indent="-476239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Aptos" panose="020B0004020202020204" pitchFamily="34" charset="0"/>
              </a:rPr>
              <a:t>Bottom-up approach</a:t>
            </a:r>
          </a:p>
          <a:p>
            <a:pPr marL="952476" lvl="1" indent="-476239" algn="just">
              <a:buFont typeface="Wingdings" panose="05000000000000000000" pitchFamily="2" charset="2"/>
              <a:buChar char="ü"/>
            </a:pPr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Top-Down Approach: </a:t>
            </a:r>
            <a:r>
              <a:rPr lang="en-US" sz="3000" dirty="0">
                <a:latin typeface="Aptos" panose="020B0004020202020204" pitchFamily="34" charset="0"/>
              </a:rPr>
              <a:t>In the top-down approach, a large problem is divided into small sub-problem. and keep repeating the process of decomposing problems until the complex problem is solved.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75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33815" y="-108210"/>
            <a:ext cx="11062011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200" b="1" dirty="0">
                <a:latin typeface="Trebuchet MS" panose="020B0603020202020204" pitchFamily="34" charset="0"/>
              </a:rPr>
              <a:t>3.Designing an Algorithm and Data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356" y="1562249"/>
            <a:ext cx="10675469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144" y="749091"/>
            <a:ext cx="11932856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5568" y="1165418"/>
            <a:ext cx="1080079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Bottom-up approach: </a:t>
            </a:r>
            <a:r>
              <a:rPr lang="en-US" sz="3000" dirty="0">
                <a:latin typeface="Aptos" panose="020B0004020202020204" pitchFamily="34" charset="0"/>
              </a:rPr>
              <a:t>The bottom-up approach is also known as the </a:t>
            </a:r>
            <a:r>
              <a:rPr lang="en-US" sz="3000" b="1" dirty="0">
                <a:latin typeface="Aptos" panose="020B0004020202020204" pitchFamily="34" charset="0"/>
              </a:rPr>
              <a:t>reverse of top-down</a:t>
            </a:r>
            <a:r>
              <a:rPr lang="en-US" sz="3000" dirty="0">
                <a:latin typeface="Aptos" panose="020B0004020202020204" pitchFamily="34" charset="0"/>
              </a:rPr>
              <a:t> approach. In this approach, different parts of a complex program is solved and then this is combined into a complete program.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Methods of Specifying an Algorithm is also required. Those methods are,</a:t>
            </a:r>
          </a:p>
          <a:p>
            <a:pPr marL="831830" lvl="1" indent="-355591" algn="just"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Natural language like English</a:t>
            </a:r>
          </a:p>
          <a:p>
            <a:pPr marL="831830" lvl="1" indent="-355591" algn="just"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Graphic representation called flowchart</a:t>
            </a:r>
          </a:p>
          <a:p>
            <a:pPr marL="831830" lvl="1" indent="-355591" algn="just"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Pseudo-code Method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73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59145" y="-108211"/>
            <a:ext cx="10936681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4. Proving an Algorithm’s Correctness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356" y="1562249"/>
            <a:ext cx="10675469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144" y="749091"/>
            <a:ext cx="11932856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2236" y="1432515"/>
            <a:ext cx="1090140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Once an algorithm has been specified then its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correctness must be proved. 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An algorithm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must yield a required result </a:t>
            </a:r>
            <a:r>
              <a:rPr lang="en-US" sz="3000" dirty="0">
                <a:latin typeface="Aptos" panose="020B0004020202020204" pitchFamily="34" charset="0"/>
              </a:rPr>
              <a:t>for every legitimate input in a finite amount of time. 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For Example</a:t>
            </a:r>
            <a:r>
              <a:rPr lang="en-US" sz="3000" dirty="0">
                <a:latin typeface="Aptos" panose="020B0004020202020204" pitchFamily="34" charset="0"/>
              </a:rPr>
              <a:t>, the correctness of Euclid’s algorithm for computing the greatest common divisor stems from the correctness of the equality </a:t>
            </a:r>
            <a:r>
              <a:rPr lang="en-US" sz="3000" dirty="0" err="1">
                <a:latin typeface="Aptos" panose="020B0004020202020204" pitchFamily="34" charset="0"/>
              </a:rPr>
              <a:t>gcd</a:t>
            </a:r>
            <a:r>
              <a:rPr lang="en-US" sz="3000" dirty="0">
                <a:latin typeface="Aptos" panose="020B0004020202020204" pitchFamily="34" charset="0"/>
              </a:rPr>
              <a:t>(m, n) = </a:t>
            </a:r>
            <a:r>
              <a:rPr lang="en-US" sz="3000" dirty="0" err="1">
                <a:latin typeface="Aptos" panose="020B0004020202020204" pitchFamily="34" charset="0"/>
              </a:rPr>
              <a:t>gcd</a:t>
            </a:r>
            <a:r>
              <a:rPr lang="en-US" sz="3000" dirty="0">
                <a:latin typeface="Aptos" panose="020B0004020202020204" pitchFamily="34" charset="0"/>
              </a:rPr>
              <a:t>(n, m mod n).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43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59145" y="-108211"/>
            <a:ext cx="10936681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4. Proving an Algorithm’s Correctness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356" y="1562249"/>
            <a:ext cx="10675469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144" y="749091"/>
            <a:ext cx="11932856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7807" y="1562250"/>
            <a:ext cx="1100205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3475" indent="-353475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 A common technique for proving correctness is to use </a:t>
            </a:r>
            <a:r>
              <a:rPr lang="en-US" sz="3000" b="1" dirty="0">
                <a:solidFill>
                  <a:srgbClr val="FF0000"/>
                </a:solidFill>
                <a:latin typeface="Aptos" panose="020B0004020202020204" pitchFamily="34" charset="0"/>
              </a:rPr>
              <a:t>mathematical induction </a:t>
            </a:r>
            <a:r>
              <a:rPr lang="en-US" sz="3000" dirty="0">
                <a:latin typeface="Aptos" panose="020B0004020202020204" pitchFamily="34" charset="0"/>
              </a:rPr>
              <a:t>because an algorithm’s iterations provide a natural sequence of steps needed for such proofs.</a:t>
            </a:r>
          </a:p>
          <a:p>
            <a:pPr marL="353475" indent="-353475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353475" indent="-353475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The notion of correctness for approximation algorithms is less straightforward than it is for exact algorithms. </a:t>
            </a:r>
          </a:p>
          <a:p>
            <a:pPr marL="353475" indent="-353475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353475" indent="-353475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The </a:t>
            </a:r>
            <a:r>
              <a:rPr lang="en-US" sz="3000" b="1" dirty="0">
                <a:solidFill>
                  <a:srgbClr val="FF0000"/>
                </a:solidFill>
                <a:latin typeface="Aptos" panose="020B0004020202020204" pitchFamily="34" charset="0"/>
              </a:rPr>
              <a:t>error</a:t>
            </a:r>
            <a:r>
              <a:rPr lang="en-US" sz="3000" dirty="0">
                <a:latin typeface="Aptos" panose="020B0004020202020204" pitchFamily="34" charset="0"/>
              </a:rPr>
              <a:t> produced by the algorithm should not exceed a predefined limit.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6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59145" y="-108211"/>
            <a:ext cx="6431588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5. Analyzing an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356" y="1562249"/>
            <a:ext cx="10675469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144" y="749091"/>
            <a:ext cx="11932856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6737" y="1327583"/>
            <a:ext cx="1115767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For an algorithm the most important is </a:t>
            </a: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efficiency</a:t>
            </a:r>
            <a:r>
              <a:rPr lang="en-US" sz="3000" dirty="0">
                <a:latin typeface="Aptos" panose="020B0004020202020204" pitchFamily="34" charset="0"/>
              </a:rPr>
              <a:t>. In fact, there are </a:t>
            </a: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</a:rPr>
              <a:t>two kinds </a:t>
            </a:r>
            <a:r>
              <a:rPr lang="en-US" sz="3000" dirty="0">
                <a:latin typeface="Aptos" panose="020B0004020202020204" pitchFamily="34" charset="0"/>
              </a:rPr>
              <a:t>of algorithm efficiency.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They are:</a:t>
            </a:r>
          </a:p>
          <a:p>
            <a:pPr marL="952476" indent="-476239" algn="just"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Time efficiency</a:t>
            </a:r>
            <a:r>
              <a:rPr lang="en-US" sz="3000" dirty="0">
                <a:latin typeface="Aptos" panose="020B0004020202020204" pitchFamily="34" charset="0"/>
              </a:rPr>
              <a:t>, indicating how fast the algorithm runs.</a:t>
            </a:r>
          </a:p>
          <a:p>
            <a:pPr marL="952476" indent="-476239" algn="just"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Space efficiency</a:t>
            </a:r>
            <a:r>
              <a:rPr lang="en-US" sz="3000" dirty="0">
                <a:latin typeface="Aptos" panose="020B0004020202020204" pitchFamily="34" charset="0"/>
              </a:rPr>
              <a:t>, indicating how much extra memory it uses.</a:t>
            </a:r>
          </a:p>
          <a:p>
            <a:pPr marL="952476" indent="-476239" algn="just">
              <a:buFont typeface="Wingdings" panose="05000000000000000000" pitchFamily="2" charset="2"/>
              <a:buChar char="ü"/>
            </a:pPr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The efficiency of an algorithm is determined by measuring both time efficiency and space efficiency.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33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1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520356" y="-108211"/>
            <a:ext cx="10675469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5. Analyzing an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356" y="1562249"/>
            <a:ext cx="10675469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144" y="749091"/>
            <a:ext cx="11932856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2246" y="1327583"/>
            <a:ext cx="10371687" cy="4566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So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factors to analy</a:t>
            </a:r>
            <a:r>
              <a:rPr lang="en-US" sz="3000" dirty="0">
                <a:latin typeface="Aptos" panose="020B0004020202020204" pitchFamily="34" charset="0"/>
              </a:rPr>
              <a:t>ze an algorithm are:</a:t>
            </a:r>
          </a:p>
          <a:p>
            <a:pPr marL="952476" indent="-476239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latin typeface="Aptos" panose="020B0004020202020204" pitchFamily="34" charset="0"/>
              </a:rPr>
              <a:t>Time efficiency of an algorithm</a:t>
            </a:r>
          </a:p>
          <a:p>
            <a:pPr marL="952476" indent="-476239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latin typeface="Aptos" panose="020B0004020202020204" pitchFamily="34" charset="0"/>
              </a:rPr>
              <a:t>Space efficiency of an algorithm</a:t>
            </a:r>
          </a:p>
          <a:p>
            <a:pPr marL="952476" indent="-476239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latin typeface="Aptos" panose="020B0004020202020204" pitchFamily="34" charset="0"/>
              </a:rPr>
              <a:t>Simplicity of an algorithm</a:t>
            </a:r>
          </a:p>
          <a:p>
            <a:pPr marL="952476" indent="-476239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latin typeface="Aptos" panose="020B0004020202020204" pitchFamily="34" charset="0"/>
              </a:rPr>
              <a:t>Generality of an algorithm</a:t>
            </a:r>
            <a:endParaRPr lang="en-IN" sz="3000" dirty="0">
              <a:latin typeface="Aptos" panose="020B00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86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" y="1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59145" y="-108211"/>
            <a:ext cx="10936681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6. Coding an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356" y="1562249"/>
            <a:ext cx="10675469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144" y="749091"/>
            <a:ext cx="11932856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9144" y="1128074"/>
            <a:ext cx="11550937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The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coding / implementation </a:t>
            </a:r>
            <a:r>
              <a:rPr lang="en-US" sz="3000" dirty="0">
                <a:latin typeface="Aptos" panose="020B0004020202020204" pitchFamily="34" charset="0"/>
              </a:rPr>
              <a:t>of an algorithm is done by a suitable programming language like </a:t>
            </a:r>
            <a:r>
              <a:rPr lang="en-US" sz="3000" dirty="0">
                <a:solidFill>
                  <a:srgbClr val="EB2546"/>
                </a:solidFill>
                <a:latin typeface="Aptos" panose="020B0004020202020204" pitchFamily="34" charset="0"/>
              </a:rPr>
              <a:t>C, C++,etc.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The transition from an algorithm to a program can be done either incorrectly or very inefficiently. Implementing an algorithm correctly is necessary. The Algorithm power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should not reduce by in efficient implementation</a:t>
            </a:r>
            <a:r>
              <a:rPr lang="en-US" sz="3000" dirty="0">
                <a:latin typeface="Aptos" panose="020B0004020202020204" pitchFamily="34" charset="0"/>
              </a:rPr>
              <a:t>.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Standard tricks like computing a </a:t>
            </a:r>
            <a:r>
              <a:rPr lang="en-US" sz="3000" b="1" dirty="0">
                <a:latin typeface="Aptos" panose="020B0004020202020204" pitchFamily="34" charset="0"/>
              </a:rPr>
              <a:t>loop’s invariant </a:t>
            </a:r>
            <a:r>
              <a:rPr lang="en-US" sz="3000" dirty="0">
                <a:latin typeface="Aptos" panose="020B0004020202020204" pitchFamily="34" charset="0"/>
              </a:rPr>
              <a:t>(an expression that does not change its value) outside the loop, collecting common subexpressions, </a:t>
            </a:r>
            <a:r>
              <a:rPr lang="en-US" sz="3000" b="1" dirty="0">
                <a:latin typeface="Aptos" panose="020B0004020202020204" pitchFamily="34" charset="0"/>
              </a:rPr>
              <a:t>replacing expensive operations by cheap ones</a:t>
            </a:r>
            <a:r>
              <a:rPr lang="en-US" sz="3000" dirty="0">
                <a:latin typeface="Aptos" panose="020B0004020202020204" pitchFamily="34" charset="0"/>
              </a:rPr>
              <a:t>, selection of programming language and so on should be known to the programmer.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82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"/>
            <a:ext cx="12185617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440" y="-179432"/>
            <a:ext cx="10936681" cy="11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37061" indent="-237061">
              <a:lnSpc>
                <a:spcPct val="150000"/>
              </a:lnSpc>
            </a:pPr>
            <a:r>
              <a:rPr lang="en-US" sz="3733" b="1" dirty="0">
                <a:latin typeface="Trebuchet MS" panose="020B0603020202020204" pitchFamily="34" charset="0"/>
              </a:rPr>
              <a:t>6. Coding an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356" y="1562249"/>
            <a:ext cx="10675469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144" y="749091"/>
            <a:ext cx="11932856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8856" y="1101996"/>
            <a:ext cx="1146790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4705" algn="just"/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Typically, such improvements can speed up a program only by a constant factor, whereas a better algorithm can make a difference in running time by orders of magnitude. But once an algorithm is selected, a 10–50% speedup may be worth an effort.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US" sz="3000" dirty="0">
              <a:latin typeface="Aptos" panose="020B0004020202020204" pitchFamily="34" charset="0"/>
            </a:endParaRP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ptos" panose="020B0004020202020204" pitchFamily="34" charset="0"/>
              </a:rPr>
              <a:t>It is very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</a:rPr>
              <a:t>essential to write an optimized code </a:t>
            </a:r>
            <a:r>
              <a:rPr lang="en-US" sz="3000" dirty="0">
                <a:latin typeface="Aptos" panose="020B0004020202020204" pitchFamily="34" charset="0"/>
              </a:rPr>
              <a:t>(efficient code) to reduce the burden of compiler.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352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15BCE-8DF0-95A5-FBDC-D7E3EA89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C94B-35D4-E443-BB4E-F7FB7B01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1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8512B-D11A-77FE-EB93-067E76DFD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974" y="1615206"/>
            <a:ext cx="11082052" cy="5011062"/>
          </a:xfrm>
        </p:spPr>
        <p:txBody>
          <a:bodyPr>
            <a:noAutofit/>
          </a:bodyPr>
          <a:lstStyle/>
          <a:p>
            <a:pPr algn="just"/>
            <a:r>
              <a:rPr lang="en-IN" sz="3000" dirty="0">
                <a:latin typeface="Aptos" panose="020B0004020202020204" pitchFamily="34" charset="0"/>
              </a:rPr>
              <a:t>A doctor needs to determine whether an image represents a </a:t>
            </a:r>
            <a:r>
              <a:rPr lang="en-IN" sz="3000" b="1" dirty="0">
                <a:solidFill>
                  <a:srgbClr val="FF0000"/>
                </a:solidFill>
                <a:latin typeface="Aptos" panose="020B0004020202020204" pitchFamily="34" charset="0"/>
              </a:rPr>
              <a:t>cancerous tumour or a benign </a:t>
            </a:r>
            <a:r>
              <a:rPr lang="en-IN" sz="3000" dirty="0">
                <a:latin typeface="Aptos" panose="020B0004020202020204" pitchFamily="34" charset="0"/>
              </a:rPr>
              <a:t>one. </a:t>
            </a:r>
          </a:p>
          <a:p>
            <a:pPr algn="just"/>
            <a:r>
              <a:rPr lang="en-IN" sz="3000" dirty="0">
                <a:latin typeface="Aptos" panose="020B0004020202020204" pitchFamily="34" charset="0"/>
              </a:rPr>
              <a:t>The doctor has available images of many other tumours, some of which are known to be cancerous and some of which are known to be benign. </a:t>
            </a:r>
          </a:p>
          <a:p>
            <a:pPr algn="just"/>
            <a:r>
              <a:rPr lang="en-IN" sz="3000" dirty="0">
                <a:latin typeface="Aptos" panose="020B0004020202020204" pitchFamily="34" charset="0"/>
              </a:rPr>
              <a:t>A cancerous tumour is likely to be more similar to other cancerous tumour than to benign tumour, and a benign tumour is more likely to be similar to other benign tumours.</a:t>
            </a:r>
          </a:p>
          <a:p>
            <a:pPr algn="just"/>
            <a:r>
              <a:rPr lang="en-IN" sz="3000" dirty="0">
                <a:latin typeface="Aptos" panose="020B0004020202020204" pitchFamily="34" charset="0"/>
              </a:rPr>
              <a:t>By using a </a:t>
            </a:r>
            <a:r>
              <a:rPr lang="en-IN" sz="3000" b="1" dirty="0">
                <a:solidFill>
                  <a:srgbClr val="FF0000"/>
                </a:solidFill>
                <a:latin typeface="Aptos" panose="020B0004020202020204" pitchFamily="34" charset="0"/>
              </a:rPr>
              <a:t>clustering</a:t>
            </a:r>
            <a:r>
              <a:rPr lang="en-IN" sz="3000" dirty="0">
                <a:latin typeface="Aptos" panose="020B0004020202020204" pitchFamily="34" charset="0"/>
              </a:rPr>
              <a:t> algorithm, the doctor can identify which outcome is more likely</a:t>
            </a:r>
          </a:p>
        </p:txBody>
      </p:sp>
    </p:spTree>
    <p:extLst>
      <p:ext uri="{BB962C8B-B14F-4D97-AF65-F5344CB8AC3E}">
        <p14:creationId xmlns:p14="http://schemas.microsoft.com/office/powerpoint/2010/main" val="373176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DE76-AAFC-8841-5D6F-2890B387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D479-D86F-0052-EE11-B849EC44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2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3BA8E-AED7-8886-7754-AFE38F17F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90805"/>
            <a:ext cx="10735850" cy="511062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3200" dirty="0">
                <a:latin typeface="Aptos" panose="020B0004020202020204" pitchFamily="34" charset="0"/>
              </a:rPr>
              <a:t>You need to 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compress a large file </a:t>
            </a:r>
            <a:r>
              <a:rPr lang="en-IN" sz="3200" dirty="0">
                <a:latin typeface="Aptos" panose="020B0004020202020204" pitchFamily="34" charset="0"/>
              </a:rPr>
              <a:t>containing text so that it occupies less space. </a:t>
            </a:r>
          </a:p>
          <a:p>
            <a:pPr algn="just">
              <a:lnSpc>
                <a:spcPct val="100000"/>
              </a:lnSpc>
            </a:pPr>
            <a:r>
              <a:rPr lang="en-IN" sz="3200" dirty="0">
                <a:latin typeface="Aptos" panose="020B0004020202020204" pitchFamily="34" charset="0"/>
              </a:rPr>
              <a:t>Many ways to do so are known, including “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LZW compression</a:t>
            </a:r>
            <a:r>
              <a:rPr lang="en-IN" sz="3200" dirty="0">
                <a:latin typeface="Aptos" panose="020B0004020202020204" pitchFamily="34" charset="0"/>
              </a:rPr>
              <a:t>,” which looks for repeating character sequences. </a:t>
            </a:r>
          </a:p>
          <a:p>
            <a:pPr algn="just">
              <a:lnSpc>
                <a:spcPct val="100000"/>
              </a:lnSpc>
            </a:pPr>
            <a:r>
              <a:rPr lang="en-IN" sz="3200" dirty="0">
                <a:latin typeface="Aptos" panose="020B0004020202020204" pitchFamily="34" charset="0"/>
              </a:rPr>
              <a:t>Another approach is “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Huffman coding</a:t>
            </a:r>
            <a:r>
              <a:rPr lang="en-IN" sz="3200" dirty="0">
                <a:latin typeface="Aptos" panose="020B0004020202020204" pitchFamily="34" charset="0"/>
              </a:rPr>
              <a:t>”, which encodes characters by bit sequences of various lengths, with characters occurring more frequently encoded by shorter bit sequences.</a:t>
            </a:r>
          </a:p>
        </p:txBody>
      </p:sp>
    </p:spTree>
    <p:extLst>
      <p:ext uri="{BB962C8B-B14F-4D97-AF65-F5344CB8AC3E}">
        <p14:creationId xmlns:p14="http://schemas.microsoft.com/office/powerpoint/2010/main" val="264830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0FA7C-84C2-23B4-9322-B08DD92A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19AD-1055-9B03-A1F0-20FBE62DA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Analyzing Algorithm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B60A7-55BB-31AA-DBD9-AD698638E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175"/>
            <a:ext cx="10948792" cy="5098093"/>
          </a:xfrm>
        </p:spPr>
        <p:txBody>
          <a:bodyPr>
            <a:normAutofit/>
          </a:bodyPr>
          <a:lstStyle/>
          <a:p>
            <a:pPr marL="302400" algn="just">
              <a:lnSpc>
                <a:spcPct val="110000"/>
              </a:lnSpc>
              <a:spcAft>
                <a:spcPts val="600"/>
              </a:spcAft>
            </a:pP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Analyzing</a:t>
            </a:r>
            <a:r>
              <a:rPr lang="en-IN" sz="3200" dirty="0">
                <a:latin typeface="Aptos" panose="020B0004020202020204" pitchFamily="34" charset="0"/>
              </a:rPr>
              <a:t> an algorithm means predicting the resources that the algorithm requires. </a:t>
            </a:r>
          </a:p>
          <a:p>
            <a:pPr marL="302400" algn="just">
              <a:lnSpc>
                <a:spcPct val="110000"/>
              </a:lnSpc>
              <a:spcAft>
                <a:spcPts val="600"/>
              </a:spcAft>
            </a:pPr>
            <a:r>
              <a:rPr lang="en-IN" sz="3200" dirty="0">
                <a:latin typeface="Aptos" panose="020B0004020202020204" pitchFamily="34" charset="0"/>
              </a:rPr>
              <a:t>Most often, we want to measure </a:t>
            </a:r>
            <a:r>
              <a:rPr lang="en-IN" sz="3200" b="1" dirty="0">
                <a:latin typeface="Aptos" panose="020B0004020202020204" pitchFamily="34" charset="0"/>
              </a:rPr>
              <a:t>computational time</a:t>
            </a:r>
            <a:r>
              <a:rPr lang="en-IN" sz="3200" dirty="0">
                <a:latin typeface="Aptos" panose="020B0004020202020204" pitchFamily="34" charset="0"/>
              </a:rPr>
              <a:t>. </a:t>
            </a:r>
          </a:p>
          <a:p>
            <a:pPr marL="302400" algn="just">
              <a:lnSpc>
                <a:spcPct val="110000"/>
              </a:lnSpc>
              <a:spcAft>
                <a:spcPts val="600"/>
              </a:spcAft>
            </a:pPr>
            <a:r>
              <a:rPr lang="en-IN" sz="3200" dirty="0">
                <a:latin typeface="Aptos" panose="020B0004020202020204" pitchFamily="34" charset="0"/>
              </a:rPr>
              <a:t>If you analyze several candidate algorithms for a problem, you can identify the most efficient one. There might be more than just one viable candidate, but you can often rule out several inferior algorithms in the process.</a:t>
            </a:r>
          </a:p>
        </p:txBody>
      </p:sp>
    </p:spTree>
    <p:extLst>
      <p:ext uri="{BB962C8B-B14F-4D97-AF65-F5344CB8AC3E}">
        <p14:creationId xmlns:p14="http://schemas.microsoft.com/office/powerpoint/2010/main" val="39625082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0ED08-9079-27EE-21F8-4F4031B5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8F7F-28A4-C1D1-1708-1E2ADD9C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Analysis of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B518AE4-6AB5-CF25-8D35-A13119A1D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823532" cy="4550123"/>
              </a:xfrm>
            </p:spPr>
            <p:txBody>
              <a:bodyPr>
                <a:normAutofit/>
              </a:bodyPr>
              <a:lstStyle/>
              <a:p>
                <a:r>
                  <a:rPr lang="en-IN" dirty="0">
                    <a:latin typeface="Aptos" panose="020B0004020202020204" pitchFamily="34" charset="0"/>
                  </a:rPr>
                  <a:t>Time Complexity of Algorithm: </a:t>
                </a:r>
                <a:r>
                  <a:rPr lang="en-IN" dirty="0">
                    <a:latin typeface="Aptos" panose="020B0004020202020204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I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I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  <a:latin typeface="Aptos" panose="020B0004020202020204" pitchFamily="34" charset="0"/>
                </a:endParaRPr>
              </a:p>
              <a:p>
                <a:endParaRPr lang="en-IN" b="1" dirty="0">
                  <a:latin typeface="Aptos" panose="020B0004020202020204" pitchFamily="34" charset="0"/>
                </a:endParaRPr>
              </a:p>
              <a:p>
                <a:r>
                  <a:rPr lang="en-IN" b="1" dirty="0">
                    <a:latin typeface="Aptos" panose="020B0004020202020204" pitchFamily="34" charset="0"/>
                  </a:rPr>
                  <a:t>T(A)</a:t>
                </a:r>
                <a:r>
                  <a:rPr lang="en-IN" dirty="0">
                    <a:latin typeface="Aptos" panose="020B0004020202020204" pitchFamily="34" charset="0"/>
                  </a:rPr>
                  <a:t> = Time for Algorithm </a:t>
                </a:r>
                <a:r>
                  <a:rPr lang="en-IN" b="1" dirty="0">
                    <a:latin typeface="Aptos" panose="020B0004020202020204" pitchFamily="34" charset="0"/>
                  </a:rPr>
                  <a:t>A</a:t>
                </a:r>
                <a:r>
                  <a:rPr lang="en-IN" dirty="0">
                    <a:latin typeface="Aptos" panose="020B0004020202020204" pitchFamily="34" charset="0"/>
                  </a:rPr>
                  <a:t> </a:t>
                </a:r>
              </a:p>
              <a:p>
                <a:r>
                  <a:rPr lang="en-IN" b="1" dirty="0">
                    <a:latin typeface="Aptos" panose="020B0004020202020204" pitchFamily="34" charset="0"/>
                  </a:rPr>
                  <a:t>C(A)</a:t>
                </a:r>
                <a:r>
                  <a:rPr lang="en-IN" dirty="0">
                    <a:latin typeface="Aptos" panose="020B0004020202020204" pitchFamily="34" charset="0"/>
                  </a:rPr>
                  <a:t> = </a:t>
                </a:r>
                <a:r>
                  <a:rPr lang="en-IN" b="1" dirty="0">
                    <a:latin typeface="Aptos" panose="020B0004020202020204" pitchFamily="34" charset="0"/>
                  </a:rPr>
                  <a:t>Compile time</a:t>
                </a:r>
                <a:r>
                  <a:rPr lang="en-IN" dirty="0">
                    <a:latin typeface="Aptos" panose="020B0004020202020204" pitchFamily="34" charset="0"/>
                  </a:rPr>
                  <a:t> for Algorithm </a:t>
                </a:r>
                <a:r>
                  <a:rPr lang="en-IN" b="1" dirty="0">
                    <a:latin typeface="Aptos" panose="020B0004020202020204" pitchFamily="34" charset="0"/>
                  </a:rPr>
                  <a:t>A</a:t>
                </a:r>
                <a:r>
                  <a:rPr lang="en-IN" dirty="0">
                    <a:latin typeface="Aptos" panose="020B0004020202020204" pitchFamily="34" charset="0"/>
                  </a:rPr>
                  <a:t> </a:t>
                </a:r>
                <a:r>
                  <a:rPr lang="en-IN" i="1" dirty="0">
                    <a:latin typeface="Aptos" panose="020B0004020202020204" pitchFamily="34" charset="0"/>
                  </a:rPr>
                  <a:t>(Software)</a:t>
                </a:r>
                <a:r>
                  <a:rPr lang="en-IN" dirty="0">
                    <a:latin typeface="Aptos" panose="020B0004020202020204" pitchFamily="34" charset="0"/>
                  </a:rPr>
                  <a:t> </a:t>
                </a:r>
              </a:p>
              <a:p>
                <a:r>
                  <a:rPr lang="en-IN" b="1" dirty="0">
                    <a:latin typeface="Aptos" panose="020B0004020202020204" pitchFamily="34" charset="0"/>
                  </a:rPr>
                  <a:t>R(A)</a:t>
                </a:r>
                <a:r>
                  <a:rPr lang="en-IN" dirty="0">
                    <a:latin typeface="Aptos" panose="020B0004020202020204" pitchFamily="34" charset="0"/>
                  </a:rPr>
                  <a:t> = </a:t>
                </a:r>
                <a:r>
                  <a:rPr lang="en-IN" b="1" dirty="0">
                    <a:latin typeface="Aptos" panose="020B0004020202020204" pitchFamily="34" charset="0"/>
                  </a:rPr>
                  <a:t>Running time</a:t>
                </a:r>
                <a:r>
                  <a:rPr lang="en-IN" dirty="0">
                    <a:latin typeface="Aptos" panose="020B0004020202020204" pitchFamily="34" charset="0"/>
                  </a:rPr>
                  <a:t> for Algorithm </a:t>
                </a:r>
                <a:r>
                  <a:rPr lang="en-IN" b="1" dirty="0">
                    <a:latin typeface="Aptos" panose="020B0004020202020204" pitchFamily="34" charset="0"/>
                  </a:rPr>
                  <a:t>A</a:t>
                </a:r>
                <a:r>
                  <a:rPr lang="en-IN" dirty="0">
                    <a:latin typeface="Aptos" panose="020B0004020202020204" pitchFamily="34" charset="0"/>
                  </a:rPr>
                  <a:t> </a:t>
                </a:r>
                <a:r>
                  <a:rPr lang="en-IN" i="1" dirty="0">
                    <a:latin typeface="Aptos" panose="020B0004020202020204" pitchFamily="34" charset="0"/>
                  </a:rPr>
                  <a:t>(Processor time)</a:t>
                </a:r>
                <a:r>
                  <a:rPr lang="en-IN" dirty="0">
                    <a:latin typeface="Aptos" panose="020B0004020202020204" pitchFamily="34" charset="0"/>
                  </a:rPr>
                  <a:t> </a:t>
                </a:r>
              </a:p>
              <a:p>
                <a:r>
                  <a:rPr lang="en-IN" dirty="0">
                    <a:latin typeface="Aptos" panose="020B0004020202020204" pitchFamily="34" charset="0"/>
                  </a:rPr>
                  <a:t>Compile time depends on </a:t>
                </a:r>
                <a:r>
                  <a:rPr lang="en-IN" b="1" dirty="0">
                    <a:latin typeface="Aptos" panose="020B0004020202020204" pitchFamily="34" charset="0"/>
                  </a:rPr>
                  <a:t>software</a:t>
                </a:r>
                <a:r>
                  <a:rPr lang="en-IN" dirty="0">
                    <a:latin typeface="Aptos" panose="020B0004020202020204" pitchFamily="34" charset="0"/>
                  </a:rPr>
                  <a:t>. </a:t>
                </a:r>
              </a:p>
              <a:p>
                <a:r>
                  <a:rPr lang="en-IN" dirty="0">
                    <a:latin typeface="Aptos" panose="020B0004020202020204" pitchFamily="34" charset="0"/>
                  </a:rPr>
                  <a:t>Running time depends on </a:t>
                </a:r>
                <a:r>
                  <a:rPr lang="en-IN" b="1" dirty="0">
                    <a:latin typeface="Aptos" panose="020B0004020202020204" pitchFamily="34" charset="0"/>
                  </a:rPr>
                  <a:t>processor (hardware)</a:t>
                </a:r>
                <a:r>
                  <a:rPr lang="en-IN" dirty="0">
                    <a:latin typeface="Aptos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B518AE4-6AB5-CF25-8D35-A13119A1D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823532" cy="4550123"/>
              </a:xfrm>
              <a:blipFill>
                <a:blip r:embed="rId2"/>
                <a:stretch>
                  <a:fillRect l="-1055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74813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15823"/>
            <a:ext cx="12192000" cy="70434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0906" y="1494844"/>
            <a:ext cx="10790187" cy="451030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rgbClr val="FF000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The efficiency of an algorithm is a measure of the amount of resources consumed in solving a problem of size 𝑛.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rgbClr val="00B0F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An algorithm must be analyzed to determine its resource usage.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rgbClr val="7030A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Two major computational resources are execution time and memory space.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rgbClr val="00B05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Memory Space requirement can not be compared directly, so the important resource is computational time required by an algorithm.</a:t>
            </a:r>
            <a:endParaRPr lang="en-US" sz="3000" b="1" dirty="0">
              <a:solidFill>
                <a:srgbClr val="00B050"/>
              </a:solidFill>
              <a:latin typeface="Aptos" panose="020B0004020202020204" pitchFamily="34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499B719A-EC22-3029-B582-783315C89322}"/>
              </a:ext>
            </a:extLst>
          </p:cNvPr>
          <p:cNvSpPr txBox="1"/>
          <p:nvPr/>
        </p:nvSpPr>
        <p:spPr>
          <a:xfrm>
            <a:off x="287564" y="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 defTabSz="914377">
              <a:defRPr/>
            </a:pPr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  <a:sym typeface="Arial"/>
              </a:rPr>
              <a:t>Efficiency of algorithm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622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8128"/>
            <a:ext cx="12192000" cy="70434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54183" y="1636406"/>
            <a:ext cx="11101663" cy="450134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200" dirty="0">
                <a:latin typeface="Aptos" panose="020B0004020202020204" pitchFamily="34" charset="0"/>
                <a:ea typeface="Cambria" panose="02040503050406030204" pitchFamily="18" charset="0"/>
              </a:rPr>
              <a:t>To measure the </a:t>
            </a: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efficiency of an algorithm </a:t>
            </a:r>
            <a:r>
              <a:rPr lang="en-US" sz="3200" dirty="0">
                <a:latin typeface="Aptos" panose="020B0004020202020204" pitchFamily="34" charset="0"/>
                <a:ea typeface="Cambria" panose="02040503050406030204" pitchFamily="18" charset="0"/>
              </a:rPr>
              <a:t>requires to measure its execution time using any of the following approaches: </a:t>
            </a:r>
          </a:p>
          <a:p>
            <a:pPr marL="914377" lvl="1" indent="-457189"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Empirical Approach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: </a:t>
            </a:r>
            <a:r>
              <a:rPr lang="en-US" dirty="0">
                <a:latin typeface="Aptos" panose="020B0004020202020204" pitchFamily="34" charset="0"/>
                <a:ea typeface="Cambria" panose="02040503050406030204" pitchFamily="18" charset="0"/>
              </a:rPr>
              <a:t>To run it and measure how much processor time is needed.</a:t>
            </a:r>
          </a:p>
          <a:p>
            <a:pPr marL="914377" lvl="1" indent="-457189"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Theoretical Approach: </a:t>
            </a:r>
            <a:r>
              <a:rPr lang="en-US" dirty="0">
                <a:latin typeface="Aptos" panose="020B0004020202020204" pitchFamily="34" charset="0"/>
                <a:ea typeface="Cambria" panose="02040503050406030204" pitchFamily="18" charset="0"/>
              </a:rPr>
              <a:t>Mathematically computing how much time is needed as a function of input size.</a:t>
            </a: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499B719A-EC22-3029-B582-783315C89322}"/>
              </a:ext>
            </a:extLst>
          </p:cNvPr>
          <p:cNvSpPr txBox="1"/>
          <p:nvPr/>
        </p:nvSpPr>
        <p:spPr>
          <a:xfrm>
            <a:off x="286077" y="159567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 defTabSz="914377">
              <a:defRPr/>
            </a:pPr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Arial"/>
                <a:sym typeface="Arial"/>
              </a:rPr>
              <a:t>Efficiency of algorithm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974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1760" y="1392640"/>
            <a:ext cx="11498322" cy="471892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000" dirty="0">
                <a:latin typeface="Aptos" panose="020B0004020202020204" pitchFamily="34" charset="0"/>
                <a:ea typeface="Cambria" panose="02040503050406030204" pitchFamily="18" charset="0"/>
              </a:rPr>
              <a:t>Time complexity of an algorithm quantifies the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amount of time taken by an algorithm</a:t>
            </a:r>
            <a:r>
              <a:rPr lang="en-US" sz="3000" dirty="0">
                <a:solidFill>
                  <a:srgbClr val="A7116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Aptos" panose="020B0004020202020204" pitchFamily="34" charset="0"/>
                <a:ea typeface="Cambria" panose="02040503050406030204" pitchFamily="18" charset="0"/>
              </a:rPr>
              <a:t>to run as a function of the length of the input.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000" dirty="0">
                <a:latin typeface="Aptos" panose="020B0004020202020204" pitchFamily="34" charset="0"/>
                <a:ea typeface="Cambria" panose="02040503050406030204" pitchFamily="18" charset="0"/>
              </a:rPr>
              <a:t>Running time of an algorithm depends upon,</a:t>
            </a:r>
          </a:p>
          <a:p>
            <a:pPr marL="1001687" lvl="1" indent="-457189" algn="just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Input Size</a:t>
            </a:r>
          </a:p>
          <a:p>
            <a:pPr marL="1001687" lvl="1" indent="-457189" algn="just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Nature of Input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000" dirty="0">
                <a:latin typeface="Aptos" panose="020B0004020202020204" pitchFamily="34" charset="0"/>
                <a:ea typeface="Cambria" panose="02040503050406030204" pitchFamily="18" charset="0"/>
              </a:rPr>
              <a:t>Generally, time </a:t>
            </a:r>
            <a:r>
              <a:rPr lang="en-US" sz="3000" dirty="0">
                <a:solidFill>
                  <a:srgbClr val="A7116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grows</a:t>
            </a:r>
            <a:r>
              <a:rPr lang="en-US" sz="3000" dirty="0">
                <a:latin typeface="Aptos" panose="020B0004020202020204" pitchFamily="34" charset="0"/>
                <a:ea typeface="Cambria" panose="02040503050406030204" pitchFamily="18" charset="0"/>
              </a:rPr>
              <a:t> with the size of input, for example, sorting 100 numbers will take less time than sorting of 10,000 numbers</a:t>
            </a: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C7922E44-2EDE-3F82-1B0F-4983A8DB6BD0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 defTabSz="914377">
              <a:lnSpc>
                <a:spcPct val="120000"/>
              </a:lnSpc>
              <a:defRPr/>
            </a:pPr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  <a:sym typeface="Arial"/>
              </a:rPr>
              <a:t>Time complexity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35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26619" y="1164575"/>
            <a:ext cx="11222586" cy="539049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Aptos" panose="020B0004020202020204" pitchFamily="34" charset="0"/>
                <a:ea typeface="Cambria" panose="02040503050406030204" pitchFamily="18" charset="0"/>
              </a:rPr>
              <a:t>So, running time of an algorithm is usually measured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as a function of input size.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3200" dirty="0">
              <a:solidFill>
                <a:srgbClr val="0070C0"/>
              </a:solidFill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Aptos" panose="020B0004020202020204" pitchFamily="34" charset="0"/>
                <a:ea typeface="Cambria" panose="02040503050406030204" pitchFamily="18" charset="0"/>
              </a:rPr>
              <a:t>Instead of measuring actual time required in executing each statement in the code, we consider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how many times </a:t>
            </a:r>
            <a:r>
              <a:rPr lang="en-US" sz="3200" dirty="0">
                <a:latin typeface="Aptos" panose="020B0004020202020204" pitchFamily="34" charset="0"/>
                <a:ea typeface="Cambria" panose="02040503050406030204" pitchFamily="18" charset="0"/>
              </a:rPr>
              <a:t>each statement is executed.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3200" dirty="0"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Aptos" panose="020B0004020202020204" pitchFamily="34" charset="0"/>
                <a:ea typeface="Cambria" panose="02040503050406030204" pitchFamily="18" charset="0"/>
              </a:rPr>
              <a:t>So, in theoretical computation of time complexity, running time is measured in terms of number of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steps/primitive operations</a:t>
            </a:r>
            <a:r>
              <a:rPr lang="en-US" sz="3200" dirty="0">
                <a:solidFill>
                  <a:srgbClr val="A71160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 </a:t>
            </a:r>
            <a:r>
              <a:rPr lang="en-US" sz="3200" dirty="0">
                <a:latin typeface="Aptos" panose="020B0004020202020204" pitchFamily="34" charset="0"/>
                <a:ea typeface="Cambria" panose="02040503050406030204" pitchFamily="18" charset="0"/>
              </a:rPr>
              <a:t>performed.</a:t>
            </a: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C7922E44-2EDE-3F82-1B0F-4983A8DB6BD0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 defTabSz="914377">
              <a:lnSpc>
                <a:spcPct val="120000"/>
              </a:lnSpc>
              <a:defRPr/>
            </a:pPr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  <a:sym typeface="Arial"/>
              </a:rPr>
              <a:t>Time complexity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508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5924"/>
            <a:ext cx="12192000" cy="7061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162245-51B9-CEA2-FE98-53373EAECA49}"/>
              </a:ext>
            </a:extLst>
          </p:cNvPr>
          <p:cNvSpPr txBox="1"/>
          <p:nvPr/>
        </p:nvSpPr>
        <p:spPr>
          <a:xfrm>
            <a:off x="287610" y="1304415"/>
            <a:ext cx="116167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 algn="just" defTabSz="914377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00B050"/>
                </a:solidFill>
                <a:latin typeface="Aptos" panose="020B0004020202020204" pitchFamily="34" charset="0"/>
                <a:cs typeface="Arial"/>
                <a:sym typeface="Arial"/>
              </a:rPr>
              <a:t>Space complexity</a:t>
            </a:r>
            <a:r>
              <a:rPr lang="en-IN" sz="3200" dirty="0">
                <a:solidFill>
                  <a:srgbClr val="00B050"/>
                </a:solidFill>
                <a:latin typeface="Aptos" panose="020B0004020202020204" pitchFamily="34" charset="0"/>
                <a:cs typeface="Arial"/>
                <a:sym typeface="Arial"/>
              </a:rPr>
              <a:t>, also called </a:t>
            </a:r>
            <a:r>
              <a:rPr lang="en-IN" sz="3200" b="1" dirty="0">
                <a:solidFill>
                  <a:srgbClr val="00B050"/>
                </a:solidFill>
                <a:latin typeface="Aptos" panose="020B0004020202020204" pitchFamily="34" charset="0"/>
                <a:cs typeface="Arial"/>
                <a:sym typeface="Arial"/>
              </a:rPr>
              <a:t>Space efficiency</a:t>
            </a:r>
            <a:r>
              <a:rPr lang="en-IN" sz="3200" dirty="0">
                <a:solidFill>
                  <a:srgbClr val="00B050"/>
                </a:solidFill>
                <a:latin typeface="Aptos" panose="020B0004020202020204" pitchFamily="34" charset="0"/>
                <a:cs typeface="Arial"/>
                <a:sym typeface="Arial"/>
              </a:rPr>
              <a:t>, refers to the amount of memory units required by the algorithm in addition to the space needed for its input and output.</a:t>
            </a:r>
          </a:p>
          <a:p>
            <a:pPr marL="457189" indent="-457189" algn="just" defTabSz="914377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0070C0"/>
                </a:solidFill>
                <a:latin typeface="Aptos" panose="020B0004020202020204" pitchFamily="34" charset="0"/>
                <a:cs typeface="Arial"/>
                <a:sym typeface="Arial"/>
              </a:rPr>
              <a:t>When an algorithm is run on a computer, it necessitates a certain amount of memory space. </a:t>
            </a:r>
          </a:p>
          <a:p>
            <a:pPr marL="457189" indent="-457189" algn="just" defTabSz="914377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  <a:cs typeface="Arial"/>
                <a:sym typeface="Arial"/>
              </a:rPr>
              <a:t>The amount of memory used by a program to execute it is represented by its space complexity. </a:t>
            </a:r>
          </a:p>
          <a:p>
            <a:pPr marL="457189" indent="-457189" algn="just" defTabSz="914377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prstClr val="black"/>
                </a:solidFill>
                <a:latin typeface="Aptos" panose="020B0004020202020204" pitchFamily="34" charset="0"/>
                <a:cs typeface="Arial"/>
                <a:sym typeface="Arial"/>
              </a:rPr>
              <a:t>Because a program requires memory to store input data and temporal values while running, the space complexity is auxiliary and input space.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174E6-418D-7A55-80A2-D45E23245677}"/>
              </a:ext>
            </a:extLst>
          </p:cNvPr>
          <p:cNvSpPr txBox="1"/>
          <p:nvPr/>
        </p:nvSpPr>
        <p:spPr>
          <a:xfrm>
            <a:off x="430081" y="96953"/>
            <a:ext cx="6639792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en-IN" sz="3733" b="1" dirty="0">
                <a:solidFill>
                  <a:prstClr val="black"/>
                </a:solidFill>
                <a:latin typeface="Trebuchet MS" panose="020B0603020202020204" pitchFamily="34" charset="0"/>
                <a:cs typeface="Arial"/>
                <a:sym typeface="Arial"/>
              </a:rPr>
              <a:t>Space complexity</a:t>
            </a:r>
            <a:endParaRPr lang="en-IN" sz="2133" dirty="0">
              <a:solidFill>
                <a:prstClr val="black"/>
              </a:solidFill>
              <a:latin typeface="Trebuchet MS" panose="020B0603020202020204" pitchFamily="34" charset="0"/>
              <a:cs typeface="Arial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227" y="96953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990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/>
        </p:nvSpPr>
        <p:spPr>
          <a:xfrm>
            <a:off x="264011" y="1059658"/>
            <a:ext cx="1144782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just" defTabSz="914377">
              <a:buSzPct val="90000"/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4285F4">
                    <a:lumMod val="50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What is Analysis of an Algorithm?</a:t>
            </a:r>
          </a:p>
          <a:p>
            <a:pPr marL="720707" indent="-360354" algn="just" defTabSz="914377">
              <a:buSzPct val="900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Analyzing an algorithm means</a:t>
            </a:r>
            <a:r>
              <a:rPr lang="en-US" sz="2800" dirty="0">
                <a:solidFill>
                  <a:srgbClr val="212121">
                    <a:lumMod val="75000"/>
                    <a:lumOff val="25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calculating/predicting the resources 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that the algorithm requires. </a:t>
            </a:r>
          </a:p>
          <a:p>
            <a:pPr marL="720707" indent="-360354" algn="just" defTabSz="914377">
              <a:buSzPct val="900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Analysis provides </a:t>
            </a:r>
            <a:r>
              <a:rPr lang="en-US" sz="2800" dirty="0">
                <a:solidFill>
                  <a:srgbClr val="FF000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theoretical estimation 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for the required resources of an algorithm to solve a specific computational problem.</a:t>
            </a:r>
          </a:p>
          <a:p>
            <a:pPr marL="720707" indent="-360354" algn="just" defTabSz="914377">
              <a:buSzPct val="900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Two most important resources are </a:t>
            </a:r>
            <a:r>
              <a:rPr lang="en-US" sz="2800" dirty="0">
                <a:solidFill>
                  <a:srgbClr val="FF000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computing time 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(time complexity) and</a:t>
            </a:r>
            <a:r>
              <a:rPr lang="en-US" sz="2800" dirty="0">
                <a:solidFill>
                  <a:srgbClr val="212121">
                    <a:lumMod val="75000"/>
                    <a:lumOff val="25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storage space 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(space complexity). </a:t>
            </a:r>
          </a:p>
          <a:p>
            <a:pPr marL="720707" indent="-360354" algn="just" defTabSz="914377">
              <a:buSzPct val="90000"/>
              <a:buFont typeface="Wingdings" panose="05000000000000000000" pitchFamily="2" charset="2"/>
              <a:buChar char="ü"/>
            </a:pPr>
            <a:endParaRPr lang="en-US" sz="2800" dirty="0">
              <a:solidFill>
                <a:prstClr val="black"/>
              </a:solidFill>
              <a:latin typeface="Aptos" panose="020B0004020202020204" pitchFamily="34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342891" indent="-342891" algn="just" defTabSz="914377">
              <a:buSzPct val="9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285F4">
                    <a:lumMod val="50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Why is Analysis required?</a:t>
            </a:r>
          </a:p>
          <a:p>
            <a:pPr marL="720707" indent="-360354" algn="just" defTabSz="914377">
              <a:buSzPct val="900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By analyzing some of the candidate algorithms for a problem</a:t>
            </a:r>
            <a:r>
              <a:rPr lang="en-US" sz="2800" dirty="0">
                <a:solidFill>
                  <a:srgbClr val="212121">
                    <a:lumMod val="75000"/>
                    <a:lumOff val="25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, 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the</a:t>
            </a:r>
            <a:r>
              <a:rPr lang="en-US" sz="2800" dirty="0">
                <a:solidFill>
                  <a:srgbClr val="890E4F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most efficient 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one can be easily identified.</a:t>
            </a:r>
          </a:p>
        </p:txBody>
      </p:sp>
      <p:sp>
        <p:nvSpPr>
          <p:cNvPr id="8" name="TextShape 1">
            <a:extLst>
              <a:ext uri="{FF2B5EF4-FFF2-40B4-BE49-F238E27FC236}">
                <a16:creationId xmlns:a16="http://schemas.microsoft.com/office/drawing/2014/main" id="{362751D6-F840-582C-94A2-8AD5DE511B3F}"/>
              </a:ext>
            </a:extLst>
          </p:cNvPr>
          <p:cNvSpPr txBox="1"/>
          <p:nvPr/>
        </p:nvSpPr>
        <p:spPr>
          <a:xfrm>
            <a:off x="368192" y="198117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 defTabSz="914377"/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  <a:sym typeface="Arial"/>
              </a:rPr>
              <a:t>How to Analysis of Algorithms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997" y="53496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264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70615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0" y="-95081"/>
            <a:ext cx="11360160" cy="763200"/>
          </a:xfrm>
        </p:spPr>
        <p:txBody>
          <a:bodyPr/>
          <a:lstStyle/>
          <a:p>
            <a:pPr algn="just" defTabSz="914377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3733" b="1" dirty="0">
                <a:latin typeface="Trebuchet MS" panose="020B0603020202020204" pitchFamily="34" charset="0"/>
                <a:ea typeface="Cambria" panose="02040503050406030204" pitchFamily="18" charset="0"/>
                <a:sym typeface="Arial"/>
              </a:rPr>
              <a:t>How to Analysis of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4508" y="1162228"/>
            <a:ext cx="11462984" cy="4811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spcBef>
                <a:spcPts val="400"/>
              </a:spcBef>
              <a:spcAft>
                <a:spcPts val="400"/>
              </a:spcAft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600" b="1" dirty="0">
                <a:solidFill>
                  <a:srgbClr val="4285F4">
                    <a:lumMod val="50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sym typeface="Corbel"/>
              </a:rPr>
              <a:t>Goal of analysis of algorithms?</a:t>
            </a:r>
          </a:p>
          <a:p>
            <a:pPr marL="237061" algn="just" defTabSz="914377">
              <a:spcBef>
                <a:spcPts val="400"/>
              </a:spcBef>
              <a:spcAft>
                <a:spcPts val="400"/>
              </a:spcAft>
              <a:buSzPct val="80000"/>
              <a:defRPr sz="1800">
                <a:solidFill>
                  <a:srgbClr val="000000"/>
                </a:solidFill>
              </a:defRPr>
            </a:pPr>
            <a:r>
              <a:rPr lang="en-US" sz="2600" dirty="0">
                <a:solidFill>
                  <a:srgbClr val="000000"/>
                </a:solidFill>
                <a:latin typeface="Aptos" panose="020B0004020202020204" pitchFamily="34" charset="0"/>
                <a:ea typeface="Cambria" panose="02040503050406030204" pitchFamily="18" charset="0"/>
                <a:sym typeface="Corbel"/>
              </a:rPr>
              <a:t>To compare algorithms mainly in terms of running time but also in terms of other factors (e.g., memory requirements, programmer's effort etc.</a:t>
            </a:r>
            <a:r>
              <a:rPr lang="en-US" sz="2600" b="1" dirty="0">
                <a:solidFill>
                  <a:srgbClr val="000000"/>
                </a:solidFill>
                <a:latin typeface="Aptos" panose="020B0004020202020204" pitchFamily="34" charset="0"/>
                <a:ea typeface="Cambria" panose="02040503050406030204" pitchFamily="18" charset="0"/>
                <a:sym typeface="Corbel"/>
              </a:rPr>
              <a:t>) </a:t>
            </a:r>
          </a:p>
          <a:p>
            <a:pPr defTabSz="914377">
              <a:spcBef>
                <a:spcPts val="400"/>
              </a:spcBef>
              <a:spcAft>
                <a:spcPts val="400"/>
              </a:spcAft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600" b="1" dirty="0">
                <a:solidFill>
                  <a:srgbClr val="4285F4">
                    <a:lumMod val="50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sym typeface="Corbel"/>
              </a:rPr>
              <a:t>Running time analysis?</a:t>
            </a:r>
          </a:p>
          <a:p>
            <a:pPr marL="237061" defTabSz="914377">
              <a:spcBef>
                <a:spcPts val="400"/>
              </a:spcBef>
              <a:spcAft>
                <a:spcPts val="400"/>
              </a:spcAft>
              <a:buSzPct val="80000"/>
              <a:defRPr sz="1800">
                <a:solidFill>
                  <a:srgbClr val="000000"/>
                </a:solidFill>
              </a:defRPr>
            </a:pPr>
            <a:r>
              <a:rPr lang="en-US" sz="2600" dirty="0">
                <a:solidFill>
                  <a:srgbClr val="000000"/>
                </a:solidFill>
                <a:latin typeface="Aptos" panose="020B0004020202020204" pitchFamily="34" charset="0"/>
                <a:ea typeface="Cambria" panose="02040503050406030204" pitchFamily="18" charset="0"/>
                <a:sym typeface="Corbel"/>
              </a:rPr>
              <a:t>Determine how running time increases as the size of the problem increases</a:t>
            </a:r>
            <a:r>
              <a:rPr lang="en-US" sz="2600" b="1" dirty="0">
                <a:solidFill>
                  <a:srgbClr val="4285F4">
                    <a:lumMod val="50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sym typeface="Corbel"/>
              </a:rPr>
              <a:t>.</a:t>
            </a:r>
          </a:p>
          <a:p>
            <a:pPr defTabSz="914377">
              <a:spcBef>
                <a:spcPts val="400"/>
              </a:spcBef>
              <a:spcAft>
                <a:spcPts val="400"/>
              </a:spcAft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600" b="1" dirty="0">
                <a:solidFill>
                  <a:srgbClr val="4285F4">
                    <a:lumMod val="50000"/>
                  </a:srgbClr>
                </a:solidFill>
                <a:latin typeface="Aptos" panose="020B0004020202020204" pitchFamily="34" charset="0"/>
                <a:ea typeface="Cambria" panose="02040503050406030204" pitchFamily="18" charset="0"/>
                <a:sym typeface="Corbel"/>
              </a:rPr>
              <a:t>Input size</a:t>
            </a:r>
          </a:p>
          <a:p>
            <a:pPr marL="603236" lvl="1" indent="-368291" algn="just" defTabSz="914377">
              <a:spcBef>
                <a:spcPts val="400"/>
              </a:spcBef>
              <a:spcAft>
                <a:spcPts val="400"/>
              </a:spcAft>
              <a:buSzPct val="80000"/>
              <a:buFont typeface="Wingdings" panose="05000000000000000000" pitchFamily="2" charset="2"/>
              <a:buChar char="ü"/>
              <a:defRPr sz="1600">
                <a:solidFill>
                  <a:srgbClr val="000000"/>
                </a:solidFill>
              </a:defRPr>
            </a:pPr>
            <a:r>
              <a:rPr lang="en-IN" sz="26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Corbel"/>
              </a:rPr>
              <a:t>No. of elements in the array</a:t>
            </a:r>
          </a:p>
          <a:p>
            <a:pPr marL="603236" lvl="1" indent="-368291" algn="just" defTabSz="914377">
              <a:spcBef>
                <a:spcPts val="400"/>
              </a:spcBef>
              <a:spcAft>
                <a:spcPts val="400"/>
              </a:spcAft>
              <a:buSzPct val="80000"/>
              <a:buFont typeface="Wingdings" panose="05000000000000000000" pitchFamily="2" charset="2"/>
              <a:buChar char="ü"/>
              <a:defRPr sz="1600">
                <a:solidFill>
                  <a:srgbClr val="000000"/>
                </a:solidFill>
              </a:defRPr>
            </a:pPr>
            <a:r>
              <a:rPr lang="en-IN" sz="26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Corbel"/>
              </a:rPr>
              <a:t>No. of elements in a matrix</a:t>
            </a:r>
          </a:p>
          <a:p>
            <a:pPr marL="603236" lvl="1" indent="-368291" algn="just" defTabSz="914377">
              <a:spcBef>
                <a:spcPts val="400"/>
              </a:spcBef>
              <a:spcAft>
                <a:spcPts val="400"/>
              </a:spcAft>
              <a:buSzPct val="80000"/>
              <a:buFont typeface="Wingdings" panose="05000000000000000000" pitchFamily="2" charset="2"/>
              <a:buChar char="ü"/>
              <a:defRPr sz="1600">
                <a:solidFill>
                  <a:srgbClr val="000000"/>
                </a:solidFill>
              </a:defRPr>
            </a:pPr>
            <a:r>
              <a:rPr lang="en-IN" sz="26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Corbel"/>
              </a:rPr>
              <a:t>No. of bits in the binary representation of the input vertices and edges in a graph, etc.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620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72DC-65CF-7F5F-8829-F93F82EB7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448C-5650-02FA-AC46-2148580F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Analysis of Insertion Sort</a:t>
            </a:r>
            <a:endParaRPr lang="en-US" b="1" dirty="0"/>
          </a:p>
        </p:txBody>
      </p:sp>
      <p:pic>
        <p:nvPicPr>
          <p:cNvPr id="9" name="Content Placeholder 8" descr="Insertion-sorting">
            <a:extLst>
              <a:ext uri="{FF2B5EF4-FFF2-40B4-BE49-F238E27FC236}">
                <a16:creationId xmlns:a16="http://schemas.microsoft.com/office/drawing/2014/main" id="{00D30CCF-5ABE-99E1-4350-0A61B9B7E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10189" r="12267" b="12116"/>
          <a:stretch>
            <a:fillRect/>
          </a:stretch>
        </p:blipFill>
        <p:spPr>
          <a:xfrm>
            <a:off x="1918569" y="1605723"/>
            <a:ext cx="8354861" cy="488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702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DBF5F-9C2E-ABE0-5ED8-FD8AA340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92B7-D943-7465-6392-E15B8022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Analysis of Insertion Sort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D0ADB-26DC-5A8F-9DBB-AB3F0E24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501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en-IN" sz="3200" b="1" dirty="0">
                <a:latin typeface="Aptos" panose="020B0004020202020204" pitchFamily="34" charset="0"/>
              </a:rPr>
              <a:t>How long does the INSERTION-SORT procedure take?</a:t>
            </a:r>
          </a:p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en-IN" sz="3200" dirty="0">
                <a:latin typeface="Aptos" panose="020B0004020202020204" pitchFamily="34" charset="0"/>
              </a:rPr>
              <a:t>One way to tell would be for you to run it on your computer and note time how long it takes to run.</a:t>
            </a:r>
          </a:p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en-IN" sz="3200" dirty="0">
                <a:latin typeface="Aptos" panose="020B0004020202020204" pitchFamily="34" charset="0"/>
              </a:rPr>
              <a:t>For that, we need to implement it in some programming language, since you cannot run our pseudocode directly. </a:t>
            </a:r>
          </a:p>
          <a:p>
            <a:pPr algn="just">
              <a:lnSpc>
                <a:spcPct val="100000"/>
              </a:lnSpc>
              <a:spcAft>
                <a:spcPts val="600"/>
              </a:spcAft>
            </a:pPr>
            <a:endParaRPr lang="en-IN" sz="3200" dirty="0"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600"/>
              </a:spcAft>
            </a:pPr>
            <a:endParaRPr lang="en-IN" sz="3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4856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B43C-EE53-CB33-75EE-D90873E6B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9FDF-1BE2-5FFE-6B1C-9322CE735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Analysis of Insertion Sort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B200A-9EF3-7BB7-C5F2-6DF372C8E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378"/>
            <a:ext cx="10817646" cy="5133861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How long insertion sort takes to run on your particular computer, which depends on </a:t>
            </a:r>
          </a:p>
          <a:p>
            <a:pPr lvl="1" algn="just">
              <a:spcBef>
                <a:spcPts val="1200"/>
              </a:spcBef>
              <a:spcAft>
                <a:spcPts val="600"/>
              </a:spcAft>
            </a:pPr>
            <a:r>
              <a:rPr lang="en-IN" sz="2800" dirty="0">
                <a:latin typeface="Aptos" panose="020B0004020202020204" pitchFamily="34" charset="0"/>
              </a:rPr>
              <a:t>Particular </a:t>
            </a:r>
            <a:r>
              <a:rPr lang="en-IN" sz="2800" b="1" dirty="0">
                <a:latin typeface="Aptos" panose="020B0004020202020204" pitchFamily="34" charset="0"/>
              </a:rPr>
              <a:t>input</a:t>
            </a:r>
            <a:r>
              <a:rPr lang="en-IN" sz="2800" dirty="0">
                <a:latin typeface="Aptos" panose="020B0004020202020204" pitchFamily="34" charset="0"/>
              </a:rPr>
              <a:t>, </a:t>
            </a:r>
          </a:p>
          <a:p>
            <a:pPr lvl="1" algn="just">
              <a:spcBef>
                <a:spcPts val="1200"/>
              </a:spcBef>
              <a:spcAft>
                <a:spcPts val="600"/>
              </a:spcAft>
            </a:pPr>
            <a:r>
              <a:rPr lang="en-IN" sz="2800" dirty="0">
                <a:latin typeface="Aptos" panose="020B0004020202020204" pitchFamily="34" charset="0"/>
              </a:rPr>
              <a:t>Under the particular </a:t>
            </a:r>
            <a:r>
              <a:rPr lang="en-IN" sz="2800" b="1" dirty="0">
                <a:latin typeface="Aptos" panose="020B0004020202020204" pitchFamily="34" charset="0"/>
              </a:rPr>
              <a:t>implementation</a:t>
            </a:r>
            <a:r>
              <a:rPr lang="en-IN" sz="2800" dirty="0">
                <a:latin typeface="Aptos" panose="020B0004020202020204" pitchFamily="34" charset="0"/>
              </a:rPr>
              <a:t> that you created, </a:t>
            </a:r>
          </a:p>
          <a:p>
            <a:pPr lvl="1" algn="just">
              <a:spcBef>
                <a:spcPts val="1200"/>
              </a:spcBef>
              <a:spcAft>
                <a:spcPts val="600"/>
              </a:spcAft>
            </a:pPr>
            <a:r>
              <a:rPr lang="en-IN" sz="2800" dirty="0">
                <a:latin typeface="Aptos" panose="020B0004020202020204" pitchFamily="34" charset="0"/>
              </a:rPr>
              <a:t>With the particular </a:t>
            </a:r>
            <a:r>
              <a:rPr lang="en-IN" sz="2800" b="1" dirty="0">
                <a:latin typeface="Aptos" panose="020B0004020202020204" pitchFamily="34" charset="0"/>
              </a:rPr>
              <a:t>compiler or interpreter </a:t>
            </a:r>
            <a:r>
              <a:rPr lang="en-IN" sz="2800" dirty="0">
                <a:latin typeface="Aptos" panose="020B0004020202020204" pitchFamily="34" charset="0"/>
              </a:rPr>
              <a:t>that you ran, </a:t>
            </a:r>
          </a:p>
          <a:p>
            <a:pPr lvl="1" algn="just">
              <a:spcBef>
                <a:spcPts val="1200"/>
              </a:spcBef>
              <a:spcAft>
                <a:spcPts val="600"/>
              </a:spcAft>
            </a:pPr>
            <a:r>
              <a:rPr lang="en-IN" sz="2800" dirty="0">
                <a:latin typeface="Aptos" panose="020B0004020202020204" pitchFamily="34" charset="0"/>
              </a:rPr>
              <a:t>With the particular </a:t>
            </a:r>
            <a:r>
              <a:rPr lang="en-IN" sz="2800" b="1" dirty="0">
                <a:latin typeface="Aptos" panose="020B0004020202020204" pitchFamily="34" charset="0"/>
              </a:rPr>
              <a:t>libraries</a:t>
            </a:r>
            <a:r>
              <a:rPr lang="en-IN" sz="2800" dirty="0">
                <a:latin typeface="Aptos" panose="020B0004020202020204" pitchFamily="34" charset="0"/>
              </a:rPr>
              <a:t> that you linked in, and </a:t>
            </a:r>
          </a:p>
          <a:p>
            <a:pPr lvl="1" algn="just">
              <a:spcBef>
                <a:spcPts val="1200"/>
              </a:spcBef>
              <a:spcAft>
                <a:spcPts val="600"/>
              </a:spcAft>
            </a:pPr>
            <a:r>
              <a:rPr lang="en-IN" sz="2800" dirty="0">
                <a:latin typeface="Aptos" panose="020B0004020202020204" pitchFamily="34" charset="0"/>
              </a:rPr>
              <a:t>With the particular </a:t>
            </a:r>
            <a:r>
              <a:rPr lang="en-IN" sz="2800" b="1" dirty="0">
                <a:latin typeface="Aptos" panose="020B0004020202020204" pitchFamily="34" charset="0"/>
              </a:rPr>
              <a:t>background tasks </a:t>
            </a:r>
            <a:r>
              <a:rPr lang="en-IN" sz="2800" dirty="0">
                <a:latin typeface="Aptos" panose="020B0004020202020204" pitchFamily="34" charset="0"/>
              </a:rPr>
              <a:t>that were running on your computer concurrently with your timing test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IN" dirty="0"/>
              <a:t>If you run insertion sort again on your computer with the same input, you might even get a </a:t>
            </a:r>
            <a:r>
              <a:rPr lang="en-IN" b="1" dirty="0">
                <a:solidFill>
                  <a:srgbClr val="00B050"/>
                </a:solidFill>
              </a:rPr>
              <a:t>different timing result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38674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54F4-D74B-6527-80C3-E2A8D2A8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BE9E-C9EB-A3A9-D6D3-4A7C3447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Analysis of Insertion Sort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324B1-5CBF-21D4-455A-B6DB165A4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228"/>
            <a:ext cx="10515600" cy="5110620"/>
          </a:xfrm>
        </p:spPr>
        <p:txBody>
          <a:bodyPr>
            <a:normAutofit/>
          </a:bodyPr>
          <a:lstStyle/>
          <a:p>
            <a:pPr algn="just"/>
            <a:r>
              <a:rPr lang="en-IN" sz="3100" dirty="0">
                <a:latin typeface="Aptos" panose="020B0004020202020204" pitchFamily="34" charset="0"/>
              </a:rPr>
              <a:t>From running just one implementation of insertion sort on just </a:t>
            </a:r>
            <a:r>
              <a:rPr lang="en-IN" sz="3100" b="1" dirty="0">
                <a:solidFill>
                  <a:srgbClr val="00B050"/>
                </a:solidFill>
                <a:latin typeface="Aptos" panose="020B0004020202020204" pitchFamily="34" charset="0"/>
              </a:rPr>
              <a:t>one computer </a:t>
            </a:r>
            <a:r>
              <a:rPr lang="en-IN" sz="3100" dirty="0">
                <a:latin typeface="Aptos" panose="020B0004020202020204" pitchFamily="34" charset="0"/>
              </a:rPr>
              <a:t>and on just </a:t>
            </a:r>
            <a:r>
              <a:rPr lang="en-IN" sz="3100" b="1" dirty="0">
                <a:solidFill>
                  <a:srgbClr val="00B050"/>
                </a:solidFill>
                <a:latin typeface="Aptos" panose="020B0004020202020204" pitchFamily="34" charset="0"/>
              </a:rPr>
              <a:t>one input.</a:t>
            </a:r>
          </a:p>
          <a:p>
            <a:pPr algn="just"/>
            <a:r>
              <a:rPr lang="en-IN" sz="3100" dirty="0">
                <a:latin typeface="Aptos" panose="020B0004020202020204" pitchFamily="34" charset="0"/>
              </a:rPr>
              <a:t>How</a:t>
            </a:r>
            <a:r>
              <a:rPr lang="en-IN" sz="3100" b="1" dirty="0">
                <a:solidFill>
                  <a:srgbClr val="00B050"/>
                </a:solidFill>
                <a:latin typeface="Aptos" panose="020B0004020202020204" pitchFamily="34" charset="0"/>
              </a:rPr>
              <a:t> </a:t>
            </a:r>
            <a:r>
              <a:rPr lang="en-IN" sz="3100" dirty="0">
                <a:latin typeface="Aptos" panose="020B0004020202020204" pitchFamily="34" charset="0"/>
              </a:rPr>
              <a:t>would you be able to determine about insertion sort’s running time with </a:t>
            </a:r>
            <a:r>
              <a:rPr lang="en-IN" sz="3100" b="1" dirty="0">
                <a:solidFill>
                  <a:srgbClr val="0070C0"/>
                </a:solidFill>
                <a:latin typeface="Aptos" panose="020B0004020202020204" pitchFamily="34" charset="0"/>
              </a:rPr>
              <a:t>different inputs</a:t>
            </a:r>
            <a:r>
              <a:rPr lang="en-IN" sz="3100" dirty="0">
                <a:latin typeface="Aptos" panose="020B0004020202020204" pitchFamily="34" charset="0"/>
              </a:rPr>
              <a:t>, on </a:t>
            </a:r>
            <a:r>
              <a:rPr lang="en-IN" sz="3100" b="1" dirty="0">
                <a:solidFill>
                  <a:srgbClr val="0070C0"/>
                </a:solidFill>
                <a:latin typeface="Aptos" panose="020B0004020202020204" pitchFamily="34" charset="0"/>
              </a:rPr>
              <a:t>different computer</a:t>
            </a:r>
            <a:r>
              <a:rPr lang="en-IN" sz="3100" dirty="0">
                <a:latin typeface="Aptos" panose="020B0004020202020204" pitchFamily="34" charset="0"/>
              </a:rPr>
              <a:t>, and implement in a </a:t>
            </a:r>
            <a:r>
              <a:rPr lang="en-IN" sz="3100" b="1" dirty="0">
                <a:solidFill>
                  <a:srgbClr val="0070C0"/>
                </a:solidFill>
                <a:latin typeface="Aptos" panose="020B0004020202020204" pitchFamily="34" charset="0"/>
              </a:rPr>
              <a:t>different programming language</a:t>
            </a:r>
            <a:r>
              <a:rPr lang="en-IN" sz="3100" dirty="0">
                <a:latin typeface="Aptos" panose="020B0004020202020204" pitchFamily="34" charset="0"/>
              </a:rPr>
              <a:t>.</a:t>
            </a:r>
          </a:p>
          <a:p>
            <a:pPr algn="just"/>
            <a:r>
              <a:rPr lang="en-IN" sz="3100" dirty="0">
                <a:latin typeface="Aptos" panose="020B0004020202020204" pitchFamily="34" charset="0"/>
              </a:rPr>
              <a:t>We need a way to predict, given a new input, how long insertion sort will take.</a:t>
            </a:r>
          </a:p>
          <a:p>
            <a:pPr algn="just"/>
            <a:r>
              <a:rPr lang="en-IN" sz="3100" dirty="0"/>
              <a:t>Instead of timing a run, or even several runs, of insertion sort, we can determine how long it takes by </a:t>
            </a:r>
            <a:r>
              <a:rPr lang="en-IN" sz="3100" b="1" dirty="0">
                <a:solidFill>
                  <a:srgbClr val="00B050"/>
                </a:solidFill>
              </a:rPr>
              <a:t>analyzing the algorithm </a:t>
            </a:r>
            <a:r>
              <a:rPr lang="en-IN" sz="3100" dirty="0"/>
              <a:t>itself.</a:t>
            </a:r>
          </a:p>
        </p:txBody>
      </p:sp>
    </p:spTree>
    <p:extLst>
      <p:ext uri="{BB962C8B-B14F-4D97-AF65-F5344CB8AC3E}">
        <p14:creationId xmlns:p14="http://schemas.microsoft.com/office/powerpoint/2010/main" val="10069820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D4DF-DAC5-DAE9-D863-2A86BEEB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0838-0F19-C6A6-53FA-DF42FF81C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Analysis of Insertion Sort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57CC0-68A2-B6BF-7DEA-D20479D46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23532" cy="4550123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Aptos" panose="020B0004020202020204" pitchFamily="34" charset="0"/>
              </a:rPr>
              <a:t>We’ll examine how many times it executes each </a:t>
            </a: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line of pseudocode </a:t>
            </a:r>
            <a:r>
              <a:rPr lang="en-IN" dirty="0">
                <a:latin typeface="Aptos" panose="020B0004020202020204" pitchFamily="34" charset="0"/>
              </a:rPr>
              <a:t>and how long each line of pseudocode takes to run.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How do we analyze insertion sort? </a:t>
            </a:r>
          </a:p>
          <a:p>
            <a:pPr lvl="1" algn="just"/>
            <a:r>
              <a:rPr lang="en-IN" sz="2800" dirty="0">
                <a:latin typeface="Aptos" panose="020B0004020202020204" pitchFamily="34" charset="0"/>
              </a:rPr>
              <a:t>First, let’s acknowledge that the </a:t>
            </a:r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running time </a:t>
            </a:r>
            <a:r>
              <a:rPr lang="en-IN" sz="2800" dirty="0">
                <a:latin typeface="Aptos" panose="020B0004020202020204" pitchFamily="34" charset="0"/>
              </a:rPr>
              <a:t>depends on the input. </a:t>
            </a:r>
          </a:p>
          <a:p>
            <a:pPr lvl="1" algn="just"/>
            <a:r>
              <a:rPr lang="en-IN" sz="2800" dirty="0">
                <a:latin typeface="Aptos" panose="020B0004020202020204" pitchFamily="34" charset="0"/>
              </a:rPr>
              <a:t>You shouldn’t be terribly surprised that sorting a thousand numbers </a:t>
            </a:r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takes longer</a:t>
            </a:r>
            <a:r>
              <a:rPr lang="en-IN" sz="2800" dirty="0">
                <a:latin typeface="Aptos" panose="020B0004020202020204" pitchFamily="34" charset="0"/>
              </a:rPr>
              <a:t> than sorting three numbers. </a:t>
            </a:r>
          </a:p>
          <a:p>
            <a:pPr lvl="1" algn="just"/>
            <a:r>
              <a:rPr lang="en-IN" sz="2800" dirty="0">
                <a:latin typeface="Aptos" panose="020B0004020202020204" pitchFamily="34" charset="0"/>
              </a:rPr>
              <a:t>Moreover, insertion sort can take different amounts of time to sort two input arrays of the same size, depending on how </a:t>
            </a:r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nearly sorted</a:t>
            </a:r>
            <a:r>
              <a:rPr lang="en-IN" sz="2800" dirty="0">
                <a:latin typeface="Aptos" panose="020B0004020202020204" pitchFamily="34" charset="0"/>
              </a:rPr>
              <a:t> they already are.</a:t>
            </a:r>
          </a:p>
        </p:txBody>
      </p:sp>
    </p:spTree>
    <p:extLst>
      <p:ext uri="{BB962C8B-B14F-4D97-AF65-F5344CB8AC3E}">
        <p14:creationId xmlns:p14="http://schemas.microsoft.com/office/powerpoint/2010/main" val="18000760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4D49-FDD4-D7D0-56A4-376C358B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DBC1-697C-7A05-49DA-BA530763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Analysis of Insertion Sort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FC2F5-6947-53B4-004C-600EAE5A8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23532" cy="45501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IN" sz="3200" dirty="0">
                <a:latin typeface="Aptos" panose="020B0004020202020204" pitchFamily="34" charset="0"/>
              </a:rPr>
              <a:t>Even though the running time can depend on many features of the input, we’ll focus on the </a:t>
            </a:r>
            <a:r>
              <a:rPr lang="en-IN" sz="3200" b="1" dirty="0">
                <a:latin typeface="Aptos" panose="020B0004020202020204" pitchFamily="34" charset="0"/>
              </a:rPr>
              <a:t>size of the input</a:t>
            </a:r>
            <a:r>
              <a:rPr lang="en-IN" sz="3200" dirty="0">
                <a:latin typeface="Aptos" panose="020B0004020202020204" pitchFamily="34" charset="0"/>
              </a:rPr>
              <a:t>, and describe the running time of a program as a function of the size of its input. 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IN" sz="3200" dirty="0">
                <a:latin typeface="Aptos" panose="020B0004020202020204" pitchFamily="34" charset="0"/>
              </a:rPr>
              <a:t>To do so, we need to define the terms “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running time</a:t>
            </a:r>
            <a:r>
              <a:rPr lang="en-IN" sz="3200" dirty="0">
                <a:latin typeface="Aptos" panose="020B0004020202020204" pitchFamily="34" charset="0"/>
              </a:rPr>
              <a:t>” and “</a:t>
            </a:r>
            <a:r>
              <a:rPr lang="en-IN" sz="3200" b="1" dirty="0">
                <a:solidFill>
                  <a:srgbClr val="FF0000"/>
                </a:solidFill>
                <a:latin typeface="Aptos" panose="020B0004020202020204" pitchFamily="34" charset="0"/>
              </a:rPr>
              <a:t>input size</a:t>
            </a:r>
            <a:r>
              <a:rPr lang="en-IN" sz="3200" dirty="0">
                <a:latin typeface="Aptos" panose="020B0004020202020204" pitchFamily="34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42634634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4656-9A98-D5A3-77D3-18C7DAFD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F5EA-CE04-1012-6686-A635D532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Bubble Sort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936C45-133E-A7DF-110B-E166B6C609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2506" t="12515" r="3165" b="5438"/>
          <a:stretch>
            <a:fillRect/>
          </a:stretch>
        </p:blipFill>
        <p:spPr>
          <a:xfrm>
            <a:off x="1311057" y="1425037"/>
            <a:ext cx="9569885" cy="494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93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9393-F200-F174-28F9-2DC88982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18B2-5386-5D5F-ACFB-D9192CF6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Merge Sort</a:t>
            </a:r>
            <a:endParaRPr lang="en-US" b="1" dirty="0"/>
          </a:p>
        </p:txBody>
      </p:sp>
      <p:pic>
        <p:nvPicPr>
          <p:cNvPr id="5" name="Content Placeholder 4" descr="Visualizing, Designing, and Analyzing the Merge Sort Algorithm. | by  BaseCS101 | Javarevisited | Medium">
            <a:extLst>
              <a:ext uri="{FF2B5EF4-FFF2-40B4-BE49-F238E27FC236}">
                <a16:creationId xmlns:a16="http://schemas.microsoft.com/office/drawing/2014/main" id="{B015C0A9-2AEE-8FB6-C97B-E0101FFAE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33" t="2298" r="1602" b="2298"/>
          <a:stretch>
            <a:fillRect/>
          </a:stretch>
        </p:blipFill>
        <p:spPr>
          <a:xfrm>
            <a:off x="4045907" y="365126"/>
            <a:ext cx="7307893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73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2B49-0D42-A6A4-F483-61D86D18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A751-A0DA-991A-AAD5-8605BBA8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Quick Sort</a:t>
            </a:r>
            <a:endParaRPr lang="en-US" b="1" dirty="0"/>
          </a:p>
        </p:txBody>
      </p:sp>
      <p:pic>
        <p:nvPicPr>
          <p:cNvPr id="6" name="Content Placeholder 5" descr="A Quick Explanation of Quick Sort | by Karuna Sehgal | Karuna Sehgal |  Medium">
            <a:extLst>
              <a:ext uri="{FF2B5EF4-FFF2-40B4-BE49-F238E27FC236}">
                <a16:creationId xmlns:a16="http://schemas.microsoft.com/office/drawing/2014/main" id="{979E8C07-6C01-29BE-C98C-FBD706768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5328"/>
          <a:stretch>
            <a:fillRect/>
          </a:stretch>
        </p:blipFill>
        <p:spPr>
          <a:xfrm>
            <a:off x="495858" y="1940295"/>
            <a:ext cx="5438385" cy="3822264"/>
          </a:xfrm>
          <a:prstGeom prst="rect">
            <a:avLst/>
          </a:prstGeom>
        </p:spPr>
      </p:pic>
      <p:pic>
        <p:nvPicPr>
          <p:cNvPr id="7" name="Content Placeholder 5" descr="A Quick Explanation of Quick Sort | by Karuna Sehgal | Karuna Sehgal |  Medium">
            <a:extLst>
              <a:ext uri="{FF2B5EF4-FFF2-40B4-BE49-F238E27FC236}">
                <a16:creationId xmlns:a16="http://schemas.microsoft.com/office/drawing/2014/main" id="{817DE7E8-54DD-27DF-37BA-5A4DC4AB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292"/>
          <a:stretch>
            <a:fillRect/>
          </a:stretch>
        </p:blipFill>
        <p:spPr>
          <a:xfrm>
            <a:off x="6495753" y="1690688"/>
            <a:ext cx="5020686" cy="432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183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8BC4C-70EA-7F89-7AB5-9EB8AB8AD6F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45384" y="984786"/>
            <a:ext cx="10921089" cy="5569527"/>
          </a:xfrm>
        </p:spPr>
        <p:txBody>
          <a:bodyPr/>
          <a:lstStyle/>
          <a:p>
            <a:pPr defTabSz="914377">
              <a:lnSpc>
                <a:spcPct val="100000"/>
              </a:lnSpc>
              <a:spcBef>
                <a:spcPts val="0"/>
              </a:spcBef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3000" b="1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+mn-cs"/>
                <a:sym typeface="Corbel"/>
              </a:rPr>
              <a:t>Types of analysis:</a:t>
            </a:r>
          </a:p>
          <a:p>
            <a:pPr marL="920728" indent="-380990" defTabSz="914377">
              <a:lnSpc>
                <a:spcPct val="10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IN" sz="3000" kern="0" dirty="0">
                <a:solidFill>
                  <a:srgbClr val="000000"/>
                </a:solidFill>
                <a:latin typeface="Aptos" panose="020B0004020202020204" pitchFamily="34" charset="0"/>
                <a:sym typeface="Corbel"/>
              </a:rPr>
              <a:t>Best case Time complexity</a:t>
            </a:r>
          </a:p>
          <a:p>
            <a:pPr marL="920728" indent="-380990" defTabSz="914377">
              <a:lnSpc>
                <a:spcPct val="10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IN" sz="3000" kern="0" dirty="0">
                <a:latin typeface="Aptos" panose="020B0004020202020204" pitchFamily="34" charset="0"/>
                <a:sym typeface="Corbel"/>
              </a:rPr>
              <a:t>Worst case Time complexity</a:t>
            </a:r>
          </a:p>
          <a:p>
            <a:pPr marL="920728" indent="-380990" defTabSz="914377">
              <a:lnSpc>
                <a:spcPct val="10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IN" sz="3000" kern="0" dirty="0">
                <a:latin typeface="Aptos" panose="020B0004020202020204" pitchFamily="34" charset="0"/>
                <a:sym typeface="Corbel"/>
              </a:rPr>
              <a:t>Average case Time complexity</a:t>
            </a:r>
          </a:p>
          <a:p>
            <a:pPr marL="539738" defTabSz="914377">
              <a:lnSpc>
                <a:spcPct val="100000"/>
              </a:lnSpc>
              <a:spcBef>
                <a:spcPts val="0"/>
              </a:spcBef>
              <a:buSzPct val="80000"/>
              <a:defRPr sz="1800">
                <a:solidFill>
                  <a:srgbClr val="000000"/>
                </a:solidFill>
              </a:defRPr>
            </a:pPr>
            <a:endParaRPr lang="en-IN" sz="3000" kern="0" dirty="0">
              <a:latin typeface="Aptos" panose="020B0004020202020204" pitchFamily="34" charset="0"/>
              <a:sym typeface="Corbel"/>
            </a:endParaRPr>
          </a:p>
          <a:p>
            <a:pPr defTabSz="914377">
              <a:lnSpc>
                <a:spcPct val="100000"/>
              </a:lnSpc>
              <a:spcBef>
                <a:spcPts val="0"/>
              </a:spcBef>
              <a:buClr>
                <a:srgbClr val="40BAD2"/>
              </a:buClr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3000" b="1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+mn-cs"/>
                <a:sym typeface="Corbel"/>
              </a:rPr>
              <a:t>Best case Time complexity:</a:t>
            </a:r>
          </a:p>
          <a:p>
            <a:pPr marL="939788" lvl="1" indent="-457200" algn="just" defTabSz="914377" rtl="0"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IN" sz="3000" dirty="0">
                <a:solidFill>
                  <a:srgbClr val="000000"/>
                </a:solidFill>
                <a:latin typeface="Aptos" panose="020B0004020202020204" pitchFamily="34" charset="0"/>
                <a:sym typeface="Corbel"/>
              </a:rPr>
              <a:t>If an algorithm takes minimum amount of time to run to completion for a specific set of input is called best case time complexity.</a:t>
            </a:r>
          </a:p>
          <a:p>
            <a:pPr marL="939788" lvl="2" indent="-457200" algn="just" defTabSz="914377" rtl="0"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IN" sz="3000" dirty="0">
                <a:solidFill>
                  <a:srgbClr val="000000"/>
                </a:solidFill>
                <a:latin typeface="Aptos" panose="020B0004020202020204" pitchFamily="34" charset="0"/>
                <a:sym typeface="Corbel"/>
              </a:rPr>
              <a:t>Provides a lower bound on running time.</a:t>
            </a:r>
            <a:endParaRPr lang="en-IN" sz="3000" dirty="0"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9217" y="198117"/>
            <a:ext cx="7623080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3733" b="1" kern="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Arial"/>
                <a:sym typeface="Corbel"/>
              </a:rPr>
              <a:t>Types of analysis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248" y="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839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687" y="163973"/>
            <a:ext cx="7583461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3733" b="1" kern="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Arial"/>
                <a:sym typeface="Corbel"/>
              </a:rPr>
              <a:t>Types of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5680" y="1279748"/>
            <a:ext cx="1136016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>
              <a:buSzPct val="100000"/>
              <a:defRPr>
                <a:solidFill>
                  <a:srgbClr val="000000"/>
                </a:solidFill>
              </a:defRPr>
            </a:pPr>
            <a:r>
              <a:rPr lang="en-IN" sz="3000" b="1" kern="0" dirty="0">
                <a:solidFill>
                  <a:srgbClr val="0070C0"/>
                </a:solidFill>
                <a:latin typeface="Aptos" panose="020B0004020202020204" pitchFamily="34" charset="0"/>
                <a:cs typeface="Arial"/>
                <a:sym typeface="Corbel"/>
              </a:rPr>
              <a:t>Worst case Time complexity:</a:t>
            </a:r>
          </a:p>
          <a:p>
            <a:pPr marL="484705" indent="-249760" algn="just" defTabSz="914377"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IN" sz="30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Corbel"/>
              </a:rPr>
              <a:t>If an algorithm takes maximum amount of time to run to completion for a specific set of input is called worst case time complexity.</a:t>
            </a:r>
          </a:p>
          <a:p>
            <a:pPr marL="484705" lvl="1" indent="-249760" algn="just" defTabSz="914377"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IN" sz="30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Corbel"/>
              </a:rPr>
              <a:t>Provides an upper bound on running time.</a:t>
            </a:r>
          </a:p>
          <a:p>
            <a:pPr marL="234945" lvl="1" algn="just" defTabSz="914377">
              <a:buSzPct val="100000"/>
              <a:defRPr sz="1800">
                <a:solidFill>
                  <a:srgbClr val="000000"/>
                </a:solidFill>
              </a:defRPr>
            </a:pPr>
            <a:endParaRPr lang="en-IN" sz="3000" kern="0" dirty="0">
              <a:solidFill>
                <a:srgbClr val="000000"/>
              </a:solidFill>
              <a:latin typeface="Aptos" panose="020B0004020202020204" pitchFamily="34" charset="0"/>
              <a:cs typeface="Arial"/>
              <a:sym typeface="Corbel"/>
            </a:endParaRPr>
          </a:p>
          <a:p>
            <a:pPr algn="just" defTabSz="914377">
              <a:buSzPct val="100000"/>
              <a:defRPr>
                <a:solidFill>
                  <a:srgbClr val="000000"/>
                </a:solidFill>
              </a:defRPr>
            </a:pPr>
            <a:r>
              <a:rPr lang="en-IN" sz="3000" b="1" kern="0" dirty="0">
                <a:solidFill>
                  <a:srgbClr val="0070C0"/>
                </a:solidFill>
                <a:latin typeface="Aptos" panose="020B0004020202020204" pitchFamily="34" charset="0"/>
                <a:cs typeface="Arial"/>
                <a:sym typeface="Corbel"/>
              </a:rPr>
              <a:t>Average case Time complexity:</a:t>
            </a:r>
          </a:p>
          <a:p>
            <a:pPr marL="484705" indent="-249760" algn="just" defTabSz="914377"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IN" sz="30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Corbel"/>
              </a:rPr>
              <a:t>If an algorithm takes average amount of time to run to completion for a specific set of input is called average case time complexity.</a:t>
            </a:r>
          </a:p>
          <a:p>
            <a:pPr marL="484705" lvl="1" indent="-249760" algn="just" defTabSz="914377"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IN" sz="3000" kern="0" dirty="0">
                <a:solidFill>
                  <a:srgbClr val="000000"/>
                </a:solidFill>
                <a:latin typeface="Aptos" panose="020B0004020202020204" pitchFamily="34" charset="0"/>
                <a:cs typeface="Arial"/>
                <a:sym typeface="Corbel"/>
              </a:rPr>
              <a:t>Provides a prediction about the running time.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29" y="77863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690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0" y="-47561"/>
            <a:ext cx="12192000" cy="69055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687" y="163973"/>
            <a:ext cx="7583461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/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Arial"/>
                <a:sym typeface="Arial"/>
              </a:rPr>
              <a:t>Asymptotic Notations</a:t>
            </a:r>
            <a:endParaRPr lang="en-US" sz="1200" b="1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487" y="1156237"/>
            <a:ext cx="1136016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1989" indent="-323992" algn="just" defTabSz="121914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The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theoretical (priori) approach </a:t>
            </a:r>
            <a:r>
              <a:rPr lang="en-US" sz="30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of analyzing an algorithm to measure the efficiency does not depend on the implementation of the algorithm.   </a:t>
            </a:r>
          </a:p>
          <a:p>
            <a:pPr marL="431989" indent="-323992" algn="just" defTabSz="121914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000" dirty="0">
              <a:solidFill>
                <a:prstClr val="black"/>
              </a:solidFill>
              <a:latin typeface="Aptos" panose="020B0004020202020204" pitchFamily="34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431989" indent="-323992" algn="just" defTabSz="121914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In this approach, the running time of an algorithm describes as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Asymptotic Notations</a:t>
            </a:r>
            <a:r>
              <a:rPr lang="en-US" sz="3000" dirty="0">
                <a:solidFill>
                  <a:srgbClr val="A7116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. </a:t>
            </a:r>
          </a:p>
          <a:p>
            <a:pPr marL="431989" indent="-323992" algn="just" defTabSz="121914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000" dirty="0">
              <a:solidFill>
                <a:srgbClr val="A71160"/>
              </a:solidFill>
              <a:latin typeface="Aptos" panose="020B0004020202020204" pitchFamily="34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431989" indent="-323992" algn="just" defTabSz="121914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Computing the running time of algorithm’s operations in mathematical units of computation and defining the mathematical formula of its run-time performance is referred to as </a:t>
            </a:r>
            <a:r>
              <a:rPr lang="en-US" sz="30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Asymptotic Analysis. </a:t>
            </a:r>
          </a:p>
        </p:txBody>
      </p:sp>
    </p:spTree>
    <p:extLst>
      <p:ext uri="{BB962C8B-B14F-4D97-AF65-F5344CB8AC3E}">
        <p14:creationId xmlns:p14="http://schemas.microsoft.com/office/powerpoint/2010/main" val="10642410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9055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687" y="163973"/>
            <a:ext cx="7583461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/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Arial"/>
                <a:sym typeface="Arial"/>
              </a:rPr>
              <a:t>Asymptotic Notations</a:t>
            </a:r>
            <a:endParaRPr lang="en-US" sz="1200" b="1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5680" y="1194321"/>
            <a:ext cx="11151976" cy="4883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1989" indent="-323992" algn="just" defTabSz="12191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An algorithm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may not have </a:t>
            </a: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the same performance for different types of inputs. With the increase in the input size, the performance will change.</a:t>
            </a:r>
          </a:p>
          <a:p>
            <a:pPr marL="431989" indent="-323992" algn="just" defTabSz="12191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Asymptotic analysis accomplishes the study of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change in performance</a:t>
            </a:r>
            <a:r>
              <a:rPr lang="en-US" sz="3200" dirty="0">
                <a:solidFill>
                  <a:srgbClr val="A7116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 </a:t>
            </a: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of the algorithm with the change in the order of the input size.</a:t>
            </a:r>
          </a:p>
          <a:p>
            <a:pPr marL="431989" indent="-323992" algn="just" defTabSz="12191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Using Asymptotic analysis, we can very well define the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best case, average case, and worst case</a:t>
            </a: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 scenario of an algorithm.</a:t>
            </a:r>
          </a:p>
        </p:txBody>
      </p:sp>
    </p:spTree>
    <p:extLst>
      <p:ext uri="{BB962C8B-B14F-4D97-AF65-F5344CB8AC3E}">
        <p14:creationId xmlns:p14="http://schemas.microsoft.com/office/powerpoint/2010/main" val="4046218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0" y="-47561"/>
            <a:ext cx="12192000" cy="69055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687" y="163973"/>
            <a:ext cx="7583461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/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Arial"/>
                <a:sym typeface="Arial"/>
              </a:rPr>
              <a:t>Asymptotic Notations</a:t>
            </a:r>
            <a:endParaRPr lang="en-US" sz="1200" b="1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02832" y="1230551"/>
                <a:ext cx="10785856" cy="48756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1989" indent="-323992" algn="just" defTabSz="1219140">
                  <a:spcBef>
                    <a:spcPts val="1417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3000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Asymptotic notations are mathematical notations used to represent the time complexity of algorithms for Asymptotic analysis.</a:t>
                </a:r>
              </a:p>
              <a:p>
                <a:pPr marL="431989" indent="-323992" algn="just" defTabSz="1219140">
                  <a:spcBef>
                    <a:spcPts val="1417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3000" dirty="0">
                  <a:solidFill>
                    <a:prstClr val="black"/>
                  </a:solidFill>
                  <a:latin typeface="Aptos" panose="020B0004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431989" indent="-323992" algn="just" defTabSz="1219140">
                  <a:spcBef>
                    <a:spcPts val="1417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3000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Following are the commonly used asymptotic notations to calculate the running time complexity of an algorithm.</a:t>
                </a:r>
              </a:p>
              <a:p>
                <a:pPr marL="914377" lvl="1" indent="-457189" algn="just" defTabSz="1219140">
                  <a:spcBef>
                    <a:spcPts val="667"/>
                  </a:spcBef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Arial"/>
                      </a:rPr>
                      <m:t>Ο</m:t>
                    </m:r>
                  </m:oMath>
                </a14:m>
                <a:r>
                  <a:rPr lang="en-US" sz="3000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 Notation </a:t>
                </a:r>
                <a:r>
                  <a:rPr lang="en-US" sz="3000" dirty="0">
                    <a:solidFill>
                      <a:srgbClr val="0070C0"/>
                    </a:solidFill>
                    <a:latin typeface="Aptos" panose="020B0004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(Big 𝐎 notation)</a:t>
                </a:r>
              </a:p>
              <a:p>
                <a:pPr marL="914377" lvl="1" indent="-457189" algn="just" defTabSz="1219140">
                  <a:spcBef>
                    <a:spcPts val="667"/>
                  </a:spcBef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Arial"/>
                      </a:rPr>
                      <m:t>Ω</m:t>
                    </m:r>
                  </m:oMath>
                </a14:m>
                <a:r>
                  <a:rPr lang="en-US" sz="3000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 Notation </a:t>
                </a:r>
                <a:r>
                  <a:rPr lang="en-US" sz="3000" dirty="0">
                    <a:solidFill>
                      <a:srgbClr val="0070C0"/>
                    </a:solidFill>
                    <a:latin typeface="Aptos" panose="020B0004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(Omega notation)</a:t>
                </a:r>
              </a:p>
              <a:p>
                <a:pPr marL="914377" lvl="1" indent="-457189" algn="just" defTabSz="1219140">
                  <a:spcBef>
                    <a:spcPts val="667"/>
                  </a:spcBef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Arial"/>
                      </a:rPr>
                      <m:t>θ</m:t>
                    </m:r>
                  </m:oMath>
                </a14:m>
                <a:r>
                  <a:rPr lang="en-US" sz="3000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 Notation </a:t>
                </a:r>
                <a:r>
                  <a:rPr lang="en-US" sz="3000" dirty="0">
                    <a:solidFill>
                      <a:srgbClr val="0070C0"/>
                    </a:solidFill>
                    <a:latin typeface="Aptos" panose="020B0004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(Theta notation)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32" y="1230551"/>
                <a:ext cx="10785856" cy="4875694"/>
              </a:xfrm>
              <a:prstGeom prst="rect">
                <a:avLst/>
              </a:prstGeom>
              <a:blipFill>
                <a:blip r:embed="rId4"/>
                <a:stretch>
                  <a:fillRect t="-1299" r="-1294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5143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7561"/>
            <a:ext cx="12192000" cy="69055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687" y="163973"/>
            <a:ext cx="7583461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/>
            <a:r>
              <a:rPr lang="en-US" sz="3733" b="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Arial"/>
                <a:sym typeface="Arial"/>
              </a:rPr>
              <a:t>Asymptotic Notations</a:t>
            </a:r>
            <a:endParaRPr lang="en-US" sz="1200" b="1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0832" y="1756069"/>
            <a:ext cx="10314432" cy="2840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1989" indent="-323992" algn="just" defTabSz="121914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Asymptotic Notations are used,</a:t>
            </a:r>
          </a:p>
          <a:p>
            <a:pPr marL="914377" lvl="1" indent="-457189" algn="just" defTabSz="1219140">
              <a:lnSpc>
                <a:spcPct val="150000"/>
              </a:lnSpc>
              <a:spcBef>
                <a:spcPts val="667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To characterize the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complexity </a:t>
            </a: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of an algorithm.</a:t>
            </a:r>
          </a:p>
          <a:p>
            <a:pPr marL="914377" lvl="1" indent="-457189" algn="just" defTabSz="1219140">
              <a:lnSpc>
                <a:spcPct val="150000"/>
              </a:lnSpc>
              <a:spcBef>
                <a:spcPts val="667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To compare the </a:t>
            </a:r>
            <a:r>
              <a:rPr lang="en-US" sz="3200" dirty="0">
                <a:solidFill>
                  <a:srgbClr val="0070C0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performance</a:t>
            </a:r>
            <a:r>
              <a:rPr lang="en-US" sz="3200" dirty="0">
                <a:solidFill>
                  <a:prstClr val="black"/>
                </a:solidFill>
                <a:latin typeface="Aptos" panose="020B0004020202020204" pitchFamily="34" charset="0"/>
                <a:ea typeface="Cambria" panose="02040503050406030204" pitchFamily="18" charset="0"/>
                <a:cs typeface="Arial"/>
                <a:sym typeface="Arial"/>
              </a:rPr>
              <a:t> of two or more algorithms solving the same problem.</a:t>
            </a:r>
          </a:p>
        </p:txBody>
      </p:sp>
    </p:spTree>
    <p:extLst>
      <p:ext uri="{BB962C8B-B14F-4D97-AF65-F5344CB8AC3E}">
        <p14:creationId xmlns:p14="http://schemas.microsoft.com/office/powerpoint/2010/main" val="13950405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0" y="-47561"/>
            <a:ext cx="12192000" cy="69055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8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32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7721" y="163973"/>
            <a:ext cx="8890388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/>
            <a:r>
              <a:rPr lang="en-US" sz="3733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𝐎-Notation (Big 𝐎 notation)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207720" y="1007561"/>
                <a:ext cx="11726333" cy="5444067"/>
              </a:xfrm>
              <a:prstGeom prst="rect">
                <a:avLst/>
              </a:prstGeom>
            </p:spPr>
            <p:txBody>
              <a:bodyPr lIns="0" tIns="0" rIns="0" bIns="0">
                <a:normAutofit/>
              </a:bodyPr>
              <a:lstStyle>
                <a:lvl1pPr marL="324000" indent="-243000" algn="l" defTabSz="914378" rtl="0" eaLnBrk="1" latinLnBrk="0" hangingPunct="1">
                  <a:lnSpc>
                    <a:spcPct val="90000"/>
                  </a:lnSpc>
                  <a:spcBef>
                    <a:spcPts val="1063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2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8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5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31989" indent="-323992" algn="just" defTabSz="1219140">
                  <a:spcBef>
                    <a:spcPts val="1417"/>
                  </a:spcBef>
                </a:pPr>
                <a:r>
                  <a:rPr lang="en-US" sz="2667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The notation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Ο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 is the formal way to express the </a:t>
                </a:r>
                <a:r>
                  <a:rPr lang="en-US" sz="2667" dirty="0">
                    <a:solidFill>
                      <a:srgbClr val="0070C0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upper bound </a:t>
                </a:r>
                <a:r>
                  <a:rPr lang="en-US" sz="2667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of an algorithm's running time. </a:t>
                </a:r>
              </a:p>
              <a:p>
                <a:pPr marL="431989" indent="-323992" algn="just" defTabSz="1219140">
                  <a:spcBef>
                    <a:spcPts val="1417"/>
                  </a:spcBef>
                </a:pPr>
                <a:r>
                  <a:rPr lang="en-US" sz="2667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It measures the </a:t>
                </a:r>
                <a:r>
                  <a:rPr lang="en-US" sz="2667" dirty="0">
                    <a:solidFill>
                      <a:srgbClr val="0070C0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worst case time complexity </a:t>
                </a:r>
                <a:r>
                  <a:rPr lang="en-US" sz="2667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or the longest amount of time an algorithm can possibly take to complete.</a:t>
                </a:r>
              </a:p>
              <a:p>
                <a:pPr marL="431989" indent="-323992" algn="just" defTabSz="1219140">
                  <a:spcBef>
                    <a:spcPts val="1417"/>
                  </a:spcBef>
                </a:pPr>
                <a:r>
                  <a:rPr lang="en-US" sz="2667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For a given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g</m:t>
                    </m:r>
                    <m: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Ο</m:t>
                    </m:r>
                    <m: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g</m:t>
                    </m:r>
                    <m: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Aptos" panose="020B0004020202020204" pitchFamily="34" charset="0"/>
                    <a:ea typeface="Cambria" panose="02040503050406030204" pitchFamily="18" charset="0"/>
                    <a:sym typeface="Arial"/>
                  </a:rPr>
                  <a:t>the set of functions,</a:t>
                </a:r>
              </a:p>
              <a:p>
                <a:pPr marL="431989" indent="-323992" algn="just" defTabSz="1219140">
                  <a:spcBef>
                    <a:spcPts val="1417"/>
                  </a:spcBef>
                </a:pPr>
                <a:endParaRPr lang="en-US" sz="2667" dirty="0">
                  <a:solidFill>
                    <a:prstClr val="black"/>
                  </a:solidFill>
                  <a:latin typeface="Aptos" panose="020B0004020202020204" pitchFamily="34" charset="0"/>
                  <a:ea typeface="Cambria" panose="02040503050406030204" pitchFamily="18" charset="0"/>
                  <a:sym typeface="Arial"/>
                </a:endParaRPr>
              </a:p>
              <a:p>
                <a:pPr marL="431989" indent="-323992" algn="just" defTabSz="1219140">
                  <a:spcBef>
                    <a:spcPts val="1417"/>
                  </a:spcBef>
                </a:pPr>
                <a:endParaRPr lang="en-US" sz="2667" dirty="0">
                  <a:solidFill>
                    <a:prstClr val="black"/>
                  </a:solidFill>
                  <a:latin typeface="Aptos" panose="020B0004020202020204" pitchFamily="34" charset="0"/>
                  <a:ea typeface="Cambria" panose="02040503050406030204" pitchFamily="18" charset="0"/>
                  <a:sym typeface="Arial"/>
                </a:endParaRPr>
              </a:p>
              <a:p>
                <a:pPr marL="431989" indent="-323992" algn="just" defTabSz="1219140">
                  <a:spcBef>
                    <a:spcPts val="1417"/>
                  </a:spcBef>
                </a:pPr>
                <a:endParaRPr lang="en-US" sz="2667" dirty="0">
                  <a:solidFill>
                    <a:prstClr val="black"/>
                  </a:solidFill>
                  <a:latin typeface="Aptos" panose="020B0004020202020204" pitchFamily="34" charset="0"/>
                  <a:ea typeface="Cambria" panose="02040503050406030204" pitchFamily="18" charset="0"/>
                  <a:sym typeface="Arial"/>
                </a:endParaRPr>
              </a:p>
              <a:p>
                <a:pPr marL="431989" indent="-323992" algn="just" defTabSz="1219140">
                  <a:spcBef>
                    <a:spcPts val="1417"/>
                  </a:spcBef>
                </a:pPr>
                <a:endParaRPr lang="en-US" sz="2667" dirty="0">
                  <a:solidFill>
                    <a:prstClr val="black"/>
                  </a:solidFill>
                  <a:latin typeface="Aptos" panose="020B0004020202020204" pitchFamily="34" charset="0"/>
                  <a:ea typeface="Cambria" panose="02040503050406030204" pitchFamily="18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20" y="1007561"/>
                <a:ext cx="11726333" cy="5444067"/>
              </a:xfrm>
              <a:prstGeom prst="rect">
                <a:avLst/>
              </a:prstGeom>
              <a:blipFill>
                <a:blip r:embed="rId4"/>
                <a:stretch>
                  <a:fillRect t="-2564" r="-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18362" y="3388830"/>
                <a:ext cx="10823399" cy="851297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defTabSz="914377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Ο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g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=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f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c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200" baseline="-25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0≤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f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)≤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cg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) 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200" baseline="-25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}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62" y="3388830"/>
                <a:ext cx="10823399" cy="85129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300" y="4429250"/>
            <a:ext cx="5499069" cy="219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755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5400615" y="1107973"/>
                <a:ext cx="6437376" cy="55485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80990" indent="-380990" defTabSz="914377">
                  <a:spcBef>
                    <a:spcPts val="800"/>
                  </a:spcBef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 is an asymptotically </a:t>
                </a:r>
                <a:r>
                  <a:rPr lang="en-US" sz="2667" b="1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upper bound </a:t>
                </a:r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.</a:t>
                </a:r>
              </a:p>
              <a:p>
                <a:pPr marL="380990" indent="-380990" defTabSz="914377">
                  <a:spcBef>
                    <a:spcPts val="800"/>
                  </a:spcBef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)=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𝑂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implies:  </a:t>
                </a:r>
              </a:p>
              <a:p>
                <a:pPr defTabSz="914377">
                  <a:spcBef>
                    <a:spcPts val="8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𝒇</m:t>
                      </m:r>
                      <m:d>
                        <m:dPr>
                          <m:ctrlPr>
                            <a:rPr lang="en-US" sz="2667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667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𝒏</m:t>
                          </m:r>
                        </m:e>
                      </m:d>
                      <m:r>
                        <a:rPr lang="en-US" sz="2667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“≤” </m:t>
                      </m:r>
                      <m:r>
                        <a:rPr lang="en-US" sz="2667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𝒄</m:t>
                      </m:r>
                      <m:r>
                        <a:rPr lang="en-US" sz="2667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.</m:t>
                      </m:r>
                      <m:r>
                        <a:rPr lang="en-US" sz="2667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𝒈</m:t>
                      </m:r>
                      <m:r>
                        <a:rPr lang="en-US" sz="2667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667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2667" b="1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380990" indent="-380990" defTabSz="914377">
                  <a:spcBef>
                    <a:spcPts val="800"/>
                  </a:spcBef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An upper bound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 of an algorithm defines the maximum time required, we can always solve the problem in at most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 time. </a:t>
                </a:r>
              </a:p>
              <a:p>
                <a:pPr marL="380990" indent="-380990" defTabSz="914377">
                  <a:spcBef>
                    <a:spcPts val="800"/>
                  </a:spcBef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Time taken by a known algorithm to solve a problem with worse case input gives the upper bound.</a:t>
                </a:r>
              </a:p>
              <a:p>
                <a:pPr marL="342891" indent="-342891" defTabSz="914377">
                  <a:spcBef>
                    <a:spcPts val="800"/>
                  </a:spcBef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endParaRPr lang="en-US" sz="2667" dirty="0">
                  <a:solidFill>
                    <a:prstClr val="white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615" y="1107973"/>
                <a:ext cx="6437376" cy="5548544"/>
              </a:xfrm>
              <a:prstGeom prst="rect">
                <a:avLst/>
              </a:prstGeom>
              <a:blipFill>
                <a:blip r:embed="rId3"/>
                <a:stretch>
                  <a:fillRect l="-1575" t="-1142" r="-25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10" y="2102063"/>
            <a:ext cx="3943351" cy="2667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07CDAC7-72D0-A072-B7B8-0A5E4CD3E74A}"/>
              </a:ext>
            </a:extLst>
          </p:cNvPr>
          <p:cNvGrpSpPr/>
          <p:nvPr/>
        </p:nvGrpSpPr>
        <p:grpSpPr>
          <a:xfrm>
            <a:off x="757600" y="1468453"/>
            <a:ext cx="4590625" cy="4625915"/>
            <a:chOff x="985183" y="1435941"/>
            <a:chExt cx="5051020" cy="4625916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985183" y="1435941"/>
              <a:ext cx="0" cy="379538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85184" y="5218801"/>
              <a:ext cx="4572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997134" y="3636725"/>
              <a:ext cx="0" cy="16002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2523323" y="5239388"/>
                  <a:ext cx="2507672" cy="8224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377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𝒇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)=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𝑶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𝒈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  <m:r>
                          <a:rPr lang="en-US" sz="2400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))</m:t>
                        </m:r>
                      </m:oMath>
                    </m:oMathPara>
                  </a14:m>
                  <a:endParaRPr lang="en-US" sz="2400" b="1">
                    <a:solidFill>
                      <a:srgbClr val="A7116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3323" y="5239388"/>
                  <a:ext cx="2507672" cy="822469"/>
                </a:xfrm>
                <a:prstGeom prst="rect">
                  <a:avLst/>
                </a:prstGeom>
                <a:blipFill>
                  <a:blip r:embed="rId5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765130" y="5163094"/>
                  <a:ext cx="57011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377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2000" b="1" i="1">
                    <a:solidFill>
                      <a:prstClr val="black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130" y="5163094"/>
                  <a:ext cx="570117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466086" y="4976894"/>
                  <a:ext cx="57011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377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</m:oMath>
                    </m:oMathPara>
                  </a14:m>
                  <a:endParaRPr lang="en-US" sz="2000" b="1" i="1">
                    <a:solidFill>
                      <a:prstClr val="black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6086" y="4976894"/>
                  <a:ext cx="570117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126985" y="1587298"/>
                  <a:ext cx="9570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377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𝒄</m:t>
                        </m:r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.</m:t>
                        </m:r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𝒈</m:t>
                        </m:r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(</m:t>
                        </m:r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)</m:t>
                        </m:r>
                      </m:oMath>
                    </m:oMathPara>
                  </a14:m>
                  <a:endParaRPr lang="en-US" sz="2000" b="1" i="1">
                    <a:solidFill>
                      <a:prstClr val="black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985" y="1587298"/>
                  <a:ext cx="957065" cy="400110"/>
                </a:xfrm>
                <a:prstGeom prst="rect">
                  <a:avLst/>
                </a:prstGeom>
                <a:blipFill>
                  <a:blip r:embed="rId8"/>
                  <a:stretch>
                    <a:fillRect r="-13043"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167714" y="2683019"/>
                  <a:ext cx="9570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377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𝒇</m:t>
                        </m:r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(</m:t>
                        </m:r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  <m:r>
                          <a:rPr lang="en-US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)</m:t>
                        </m:r>
                      </m:oMath>
                    </m:oMathPara>
                  </a14:m>
                  <a:endParaRPr lang="en-US" sz="2000" b="1" i="1">
                    <a:solidFill>
                      <a:prstClr val="black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7714" y="2683019"/>
                  <a:ext cx="95706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Shape 1">
            <a:extLst>
              <a:ext uri="{FF2B5EF4-FFF2-40B4-BE49-F238E27FC236}">
                <a16:creationId xmlns:a16="http://schemas.microsoft.com/office/drawing/2014/main" id="{63A2289B-2D62-5707-2115-80E5B249785B}"/>
              </a:ext>
            </a:extLst>
          </p:cNvPr>
          <p:cNvSpPr txBox="1"/>
          <p:nvPr/>
        </p:nvSpPr>
        <p:spPr>
          <a:xfrm>
            <a:off x="259815" y="239081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 defTabSz="914377"/>
            <a:endParaRPr lang="en-US" sz="2300" spc="-1" dirty="0">
              <a:solidFill>
                <a:srgbClr val="000000"/>
              </a:solidFill>
              <a:latin typeface="Algerian" panose="04020705040A02060702" pitchFamily="82" charset="0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5" name="Google Shape;94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701" y="12913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7131" y="123253"/>
            <a:ext cx="8275016" cy="1020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/>
            <a:r>
              <a:rPr lang="en-US" sz="3733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𝐎-Notation (Big 𝐎 notation)</a:t>
            </a:r>
          </a:p>
          <a:p>
            <a:pPr algn="just" defTabSz="914377"/>
            <a:endParaRPr lang="en-US" sz="2300" spc="-1" dirty="0">
              <a:solidFill>
                <a:srgbClr val="000000"/>
              </a:solidFill>
              <a:latin typeface="Algerian" panose="04020705040A02060702" pitchFamily="82" charset="0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9687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432685" y="1121665"/>
                <a:ext cx="11482963" cy="551298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Big Omega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67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67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) is used to define the </a:t>
                </a:r>
                <a:r>
                  <a:rPr lang="en-US" sz="2667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lower bound</a:t>
                </a:r>
                <a:r>
                  <a:rPr lang="en-US" sz="2667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of any algorithm or we can say the best case of any algorithm.</a:t>
                </a:r>
              </a:p>
              <a:p>
                <a:pPr>
                  <a:lnSpc>
                    <a:spcPct val="100000"/>
                  </a:lnSpc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This always indicates the </a:t>
                </a:r>
                <a:r>
                  <a:rPr lang="en-US" sz="2667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minimum time required</a:t>
                </a: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for any algorithm for all input values, therefore the best case of any algorithm.</a:t>
                </a:r>
              </a:p>
              <a:p>
                <a:pPr>
                  <a:lnSpc>
                    <a:spcPct val="100000"/>
                  </a:lnSpc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When a time complexity for any algorithm is represented in the form of big-Ω, it means that the algorithm will take </a:t>
                </a:r>
                <a:r>
                  <a:rPr lang="en-US" sz="2667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at least this much time</a:t>
                </a:r>
                <a:r>
                  <a:rPr lang="en-US" sz="2667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to complete it's execution. It can definitely take more time than this too.</a:t>
                </a:r>
              </a:p>
              <a:p>
                <a:pPr>
                  <a:lnSpc>
                    <a:spcPct val="100000"/>
                  </a:lnSpc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For a given function 𝑔(𝑛),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67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67" i="1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𝑔(𝑛)) the set of functions,</a:t>
                </a:r>
              </a:p>
              <a:p>
                <a:endParaRPr lang="en-US" sz="2667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endParaRPr lang="en-US" sz="2667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32685" y="1121665"/>
                <a:ext cx="11482963" cy="5512985"/>
              </a:xfrm>
              <a:blipFill>
                <a:blip r:embed="rId2"/>
                <a:stretch>
                  <a:fillRect t="-1839" r="-1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3254" y="5512614"/>
                <a:ext cx="10829297" cy="85129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defTabSz="914377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Ω</m:t>
                    </m:r>
                    <m: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g</m:t>
                    </m:r>
                    <m: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))={</m:t>
                    </m:r>
                    <m:r>
                      <m:rPr>
                        <m:sty m:val="p"/>
                      </m:rP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f</m:t>
                    </m:r>
                    <m: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l-GR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):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c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0≤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cg</m:t>
                    </m:r>
                    <m:d>
                      <m:dPr>
                        <m:ctrlPr>
                          <a:rPr lang="en-US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n</m:t>
                        </m:r>
                      </m:e>
                    </m:d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f</m:t>
                    </m:r>
                    <m:d>
                      <m:dPr>
                        <m:ctrlPr>
                          <a:rPr lang="en-US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n</m:t>
                        </m:r>
                      </m:e>
                    </m:d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}</m:t>
                    </m:r>
                  </m:oMath>
                </a14:m>
                <a:endParaRPr lang="en-US" sz="2200" dirty="0">
                  <a:solidFill>
                    <a:srgbClr val="002060"/>
                  </a:solidFill>
                  <a:latin typeface="Trebuchet MS" panose="020B060302020202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54" y="5512614"/>
                <a:ext cx="10829297" cy="851297"/>
              </a:xfrm>
              <a:prstGeom prst="roundRect">
                <a:avLst/>
              </a:prstGeom>
              <a:blipFill>
                <a:blip r:embed="rId3"/>
                <a:stretch>
                  <a:fillRect l="-234" r="-584" b="-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1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815" y="0"/>
            <a:ext cx="2885691" cy="8616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6521" y="188407"/>
            <a:ext cx="85279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/>
            <a:r>
              <a:rPr lang="en-US" sz="3733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𝛀-Notation (Omega notation)</a:t>
            </a:r>
          </a:p>
        </p:txBody>
      </p:sp>
    </p:spTree>
    <p:extLst>
      <p:ext uri="{BB962C8B-B14F-4D97-AF65-F5344CB8AC3E}">
        <p14:creationId xmlns:p14="http://schemas.microsoft.com/office/powerpoint/2010/main" val="20811684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1003300"/>
                <a:ext cx="11601451" cy="5452533"/>
              </a:xfrm>
            </p:spPr>
            <p:txBody>
              <a:bodyPr>
                <a:normAutofit/>
              </a:bodyPr>
              <a:lstStyle/>
              <a:p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107997" indent="0" algn="ctr">
                  <a:buNone/>
                </a:pP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For a given function 𝑔(𝑛),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67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67" i="1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𝑔(𝑛)) the set of functions,</a:t>
                </a:r>
              </a:p>
              <a:p>
                <a:endParaRPr lang="en-US" sz="2667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107997" indent="0">
                  <a:buNone/>
                </a:pPr>
                <a:endParaRPr lang="en-US" sz="2133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1003300"/>
                <a:ext cx="11601451" cy="545253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11760" y="2016278"/>
                <a:ext cx="11338560" cy="91940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defTabSz="914377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Ω</m:t>
                    </m:r>
                    <m: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g</m:t>
                    </m:r>
                    <m: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))={</m:t>
                    </m:r>
                    <m:r>
                      <m:rPr>
                        <m:sty m:val="p"/>
                      </m:rP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f</m:t>
                    </m:r>
                    <m: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l-G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):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c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0≤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cg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n</m:t>
                        </m:r>
                      </m:e>
                    </m:d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f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n</m:t>
                        </m:r>
                      </m:e>
                    </m:d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Trebuchet MS" panose="020B0603020202020204" pitchFamily="34" charset="0"/>
                    <a:sym typeface="Arial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Arial"/>
                      </a:rPr>
                      <m:t>}</m:t>
                    </m:r>
                  </m:oMath>
                </a14:m>
                <a:endParaRPr lang="en-US" sz="2400" dirty="0">
                  <a:solidFill>
                    <a:srgbClr val="002060"/>
                  </a:solidFill>
                  <a:latin typeface="Trebuchet MS" panose="020B060302020202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60" y="2016278"/>
                <a:ext cx="11338560" cy="9194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707" y="3275752"/>
            <a:ext cx="5980695" cy="2889755"/>
          </a:xfrm>
          <a:prstGeom prst="rect">
            <a:avLst/>
          </a:prstGeom>
        </p:spPr>
      </p:pic>
      <p:pic>
        <p:nvPicPr>
          <p:cNvPr id="7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1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11761" y="188407"/>
            <a:ext cx="835268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/>
            <a:r>
              <a:rPr lang="en-US" sz="3733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𝛀-Notation (Omega notation)</a:t>
            </a:r>
          </a:p>
        </p:txBody>
      </p:sp>
    </p:spTree>
    <p:extLst>
      <p:ext uri="{BB962C8B-B14F-4D97-AF65-F5344CB8AC3E}">
        <p14:creationId xmlns:p14="http://schemas.microsoft.com/office/powerpoint/2010/main" val="23925688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5937085" y="1012055"/>
                <a:ext cx="5929796" cy="5486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just" defTabSz="914377"/>
                <a:endParaRPr lang="en-US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457189" indent="-457189" algn="just" defTabSz="914377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is an asymptotically </a:t>
                </a:r>
                <a:r>
                  <a:rPr lang="en-US" sz="2667" b="1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lower bound </a:t>
                </a:r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).</m:t>
                    </m:r>
                  </m:oMath>
                </a14:m>
                <a:endParaRPr lang="en-US" sz="2667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457189" indent="-457189" algn="just" defTabSz="914377">
                  <a:buFont typeface="Wingdings" panose="05000000000000000000" pitchFamily="2" charset="2"/>
                  <a:buChar char="Ø"/>
                </a:pPr>
                <a:endParaRPr lang="en-US" sz="2667" i="1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457189" indent="-457189" algn="just" defTabSz="914377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)= </m:t>
                    </m:r>
                    <m:r>
                      <m:rPr>
                        <m:sty m:val="p"/>
                      </m:rPr>
                      <a:rPr lang="el-GR" sz="2667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Ω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implies:  </a:t>
                </a:r>
              </a:p>
              <a:p>
                <a:pPr algn="ctr"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𝑓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𝑛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)“≥” 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𝑐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.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𝑔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𝑛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2667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457189" indent="-457189" algn="just" defTabSz="914377">
                  <a:buFont typeface="Wingdings" panose="05000000000000000000" pitchFamily="2" charset="2"/>
                  <a:buChar char="Ø"/>
                </a:pPr>
                <a:endParaRPr lang="en-US" sz="2667" i="1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457189" indent="-457189" algn="just" defTabSz="914377">
                  <a:buFont typeface="Wingdings" panose="05000000000000000000" pitchFamily="2" charset="2"/>
                  <a:buChar char="Ø"/>
                </a:pPr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A lower bound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of an algorithm defines the minimum time required, it is not possible to have any other algorithm (for the same problem) whose time complexity is less than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 for random input.</a:t>
                </a:r>
              </a:p>
              <a:p>
                <a:pPr marL="342891" indent="-342891" algn="just" defTabSz="914377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085" y="1012055"/>
                <a:ext cx="5929796" cy="5486400"/>
              </a:xfrm>
              <a:prstGeom prst="rect">
                <a:avLst/>
              </a:prstGeom>
              <a:blipFill>
                <a:blip r:embed="rId2"/>
                <a:stretch>
                  <a:fillRect l="-1709" r="-1923" b="-60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23323" y="5239389"/>
                <a:ext cx="25076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𝒇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)=</m:t>
                      </m:r>
                      <m:r>
                        <a:rPr lang="el-GR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𝜴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𝒈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))</m:t>
                      </m:r>
                    </m:oMath>
                  </m:oMathPara>
                </a14:m>
                <a:endParaRPr lang="en-US" sz="2400" b="1" i="1">
                  <a:solidFill>
                    <a:srgbClr val="A7116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23" y="5239389"/>
                <a:ext cx="2507672" cy="461665"/>
              </a:xfrm>
              <a:prstGeom prst="rect">
                <a:avLst/>
              </a:prstGeom>
              <a:blipFill>
                <a:blip r:embed="rId3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65131" y="5163093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131" y="5163093"/>
                <a:ext cx="57011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66087" y="4976893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7" y="4976893"/>
                <a:ext cx="57011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112" y="1836099"/>
            <a:ext cx="4572000" cy="24932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606435" y="2572504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𝒄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.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𝒈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435" y="2572504"/>
                <a:ext cx="957064" cy="400110"/>
              </a:xfrm>
              <a:prstGeom prst="rect">
                <a:avLst/>
              </a:prstGeom>
              <a:blipFill>
                <a:blip r:embed="rId7"/>
                <a:stretch>
                  <a:fillRect r="-1299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21845" y="1505976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𝒇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845" y="1505976"/>
                <a:ext cx="957064" cy="400110"/>
              </a:xfrm>
              <a:prstGeom prst="rect">
                <a:avLst/>
              </a:prstGeom>
              <a:blipFill>
                <a:blip r:embed="rId8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 flipH="1">
            <a:off x="2013984" y="3460677"/>
            <a:ext cx="0" cy="17373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747111" y="1412971"/>
            <a:ext cx="0" cy="37953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47112" y="5195831"/>
            <a:ext cx="47548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oogle Shape;9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" y="-42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7547" y="154967"/>
            <a:ext cx="7882669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/>
            <a:r>
              <a:rPr lang="en-US" sz="3733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𝛀-Notation (Omega notation)</a:t>
            </a:r>
          </a:p>
        </p:txBody>
      </p:sp>
    </p:spTree>
    <p:extLst>
      <p:ext uri="{BB962C8B-B14F-4D97-AF65-F5344CB8AC3E}">
        <p14:creationId xmlns:p14="http://schemas.microsoft.com/office/powerpoint/2010/main" val="12929326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296489" y="1036077"/>
                <a:ext cx="11561233" cy="5372100"/>
              </a:xfrm>
            </p:spPr>
            <p:txBody>
              <a:bodyPr>
                <a:normAutofit/>
              </a:bodyPr>
              <a:lstStyle/>
              <a:p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The notation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67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667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667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667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is the formal way </a:t>
                </a:r>
                <a:r>
                  <a:rPr lang="en-US" sz="2667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to enclose </a:t>
                </a: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both the lower bound and the upper bound of an algorithm's running time.</a:t>
                </a:r>
              </a:p>
              <a:p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Since it represents the upper and the lower bound of the running time of an algorithm, it is used for analyzing </a:t>
                </a:r>
                <a:r>
                  <a:rPr lang="en-US" sz="2667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the average case complexity </a:t>
                </a: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of an algorithm.</a:t>
                </a:r>
              </a:p>
              <a:p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The time complexity represented by the 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67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notation is the range within which </a:t>
                </a:r>
                <a:r>
                  <a:rPr lang="en-US" sz="2667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the actual running time </a:t>
                </a: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of the algorithm will be.</a:t>
                </a:r>
              </a:p>
              <a:p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So, it defines </a:t>
                </a:r>
                <a:r>
                  <a:rPr lang="en-US" sz="2667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the exact </a:t>
                </a:r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Asymptotic behavior of an algorithm.</a:t>
                </a:r>
              </a:p>
              <a:p>
                <a:r>
                  <a:rPr lang="en-US" sz="2667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For a given function 𝑔(𝑛), we denote by θ(𝑔(𝑛)) the set of functions,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96489" y="1036077"/>
                <a:ext cx="11561233" cy="5372100"/>
              </a:xfrm>
              <a:blipFill>
                <a:blip r:embed="rId2"/>
                <a:stretch>
                  <a:fillRect t="-2594" r="-1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05796" y="5310020"/>
                <a:ext cx="11142617" cy="74914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defTabSz="914377"/>
                <a14:m>
                  <m:oMath xmlns:m="http://schemas.openxmlformats.org/officeDocument/2006/math">
                    <m:r>
                      <a:rPr lang="el-GR" sz="19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𝜃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)) = {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 : </m:t>
                    </m:r>
                  </m:oMath>
                </a14:m>
                <a:r>
                  <a:rPr lang="en-US" sz="1900" dirty="0">
                    <a:solidFill>
                      <a:prstClr val="black"/>
                    </a:solidFill>
                    <a:latin typeface="Arial"/>
                    <a:sym typeface="Arial"/>
                  </a:rPr>
                  <a:t>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9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c</m:t>
                        </m:r>
                      </m:e>
                      <m:sub>
                        <m:r>
                          <a:rPr lang="en-US" sz="19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9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c</m:t>
                        </m:r>
                      </m:e>
                      <m:sub>
                        <m:r>
                          <a:rPr lang="en-US" sz="19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and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1900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such</m:t>
                    </m:r>
                    <m: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that</m:t>
                    </m:r>
                    <m: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0≤</m:t>
                    </m:r>
                    <m:sSub>
                      <m:sSubPr>
                        <m:ctrlP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d>
                      <m:dPr>
                        <m:ctrlP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</m:d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</m:d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d>
                      <m:dPr>
                        <m:ctrlP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</m:d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for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en-US" sz="19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all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1900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19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}</m:t>
                    </m:r>
                  </m:oMath>
                </a14:m>
                <a:endParaRPr lang="en-US" sz="1900" i="1" dirty="0">
                  <a:solidFill>
                    <a:prstClr val="black"/>
                  </a:solidFill>
                  <a:latin typeface="Arial"/>
                  <a:sym typeface="Arial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96" y="5310020"/>
                <a:ext cx="11142617" cy="74914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12701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621" y="12700"/>
            <a:ext cx="2885691" cy="861643"/>
          </a:xfrm>
          <a:prstGeom prst="rect">
            <a:avLst/>
          </a:prstGeom>
        </p:spPr>
      </p:pic>
      <p:sp>
        <p:nvSpPr>
          <p:cNvPr id="8" name="TextShape 1">
            <a:extLst>
              <a:ext uri="{FF2B5EF4-FFF2-40B4-BE49-F238E27FC236}">
                <a16:creationId xmlns:a16="http://schemas.microsoft.com/office/drawing/2014/main" id="{EB327E99-F49E-D7F5-B23D-A3042B8711F6}"/>
              </a:ext>
            </a:extLst>
          </p:cNvPr>
          <p:cNvSpPr txBox="1"/>
          <p:nvPr/>
        </p:nvSpPr>
        <p:spPr>
          <a:xfrm>
            <a:off x="12700" y="123668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 defTabSz="914377"/>
            <a:r>
              <a:rPr lang="en-US" sz="3733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𝛉-Notation (Theta notation)</a:t>
            </a:r>
          </a:p>
          <a:p>
            <a:pPr algn="just" defTabSz="914377"/>
            <a:endParaRPr lang="en-US" sz="3733" b="1" spc="-1" dirty="0">
              <a:solidFill>
                <a:srgbClr val="000000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60472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6548313" y="917054"/>
                <a:ext cx="5081435" cy="54482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42891" indent="-342891" algn="just" defTabSz="914377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342891" indent="-342891" algn="just" defTabSz="914377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𝜃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is a set, we can write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 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𝜖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𝜃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to indicate that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is a member of </a:t>
                </a:r>
                <a14:m>
                  <m:oMath xmlns:m="http://schemas.openxmlformats.org/officeDocument/2006/math"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𝜃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)).</m:t>
                    </m:r>
                  </m:oMath>
                </a14:m>
                <a:endParaRPr lang="el-GR" sz="2667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342891" indent="-342891" algn="just" defTabSz="914377">
                  <a:buFont typeface="Wingdings" panose="05000000000000000000" pitchFamily="2" charset="2"/>
                  <a:buChar char="§"/>
                </a:pPr>
                <a:endParaRPr lang="en-US" sz="2667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342891" indent="-342891" algn="just" defTabSz="914377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l-GR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is an asymptotically tight bound for </a:t>
                </a: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).</m:t>
                    </m:r>
                  </m:oMath>
                </a14:m>
                <a:endParaRPr lang="en-US" sz="2667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342891" indent="-342891" algn="just" defTabSz="914377">
                  <a:buFont typeface="Wingdings" panose="05000000000000000000" pitchFamily="2" charset="2"/>
                  <a:buChar char="§"/>
                </a:pPr>
                <a:endParaRPr lang="en-US" sz="2667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342891" indent="-342891" algn="just" defTabSz="914377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)=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𝜃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66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667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  <a:cs typeface="Arial"/>
                    <a:sym typeface="Arial"/>
                  </a:rPr>
                  <a:t>implies: </a:t>
                </a:r>
              </a:p>
              <a:p>
                <a:pPr algn="ctr"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𝑓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𝑛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)“=” 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𝑐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.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𝑔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𝑛</m:t>
                      </m:r>
                      <m:r>
                        <a:rPr lang="en-US" sz="2667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2667" dirty="0">
                  <a:solidFill>
                    <a:prstClr val="white"/>
                  </a:solidFill>
                  <a:latin typeface="Trebuchet MS" panose="020B0603020202020204" pitchFamily="34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313" y="917054"/>
                <a:ext cx="5081435" cy="5448236"/>
              </a:xfrm>
              <a:prstGeom prst="rect">
                <a:avLst/>
              </a:prstGeom>
              <a:blipFill>
                <a:blip r:embed="rId2"/>
                <a:stretch>
                  <a:fillRect l="-1995" r="-22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23323" y="5226326"/>
                <a:ext cx="25076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𝒇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)=</m:t>
                      </m:r>
                      <m:r>
                        <a:rPr lang="el-GR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𝜽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𝒈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))</m:t>
                      </m:r>
                    </m:oMath>
                  </m:oMathPara>
                </a14:m>
                <a:endParaRPr lang="en-US" sz="2400" b="1" i="1">
                  <a:solidFill>
                    <a:srgbClr val="A7116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23" y="5226326"/>
                <a:ext cx="2507672" cy="461665"/>
              </a:xfrm>
              <a:prstGeom prst="rect">
                <a:avLst/>
              </a:prstGeom>
              <a:blipFill>
                <a:blip r:embed="rId3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09639" y="5163093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639" y="5163093"/>
                <a:ext cx="57011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66087" y="4963447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7" y="4963447"/>
                <a:ext cx="57011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917" y="1149424"/>
            <a:ext cx="4333875" cy="40576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88281" y="2782880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𝟏</m:t>
                          </m:r>
                        </m:sub>
                      </m:sSub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.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𝒈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281" y="2782880"/>
                <a:ext cx="957064" cy="400110"/>
              </a:xfrm>
              <a:prstGeom prst="rect">
                <a:avLst/>
              </a:prstGeom>
              <a:blipFill>
                <a:blip r:embed="rId7"/>
                <a:stretch>
                  <a:fillRect r="-14286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788281" y="1923473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𝒇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281" y="1923473"/>
                <a:ext cx="957064" cy="400110"/>
              </a:xfrm>
              <a:prstGeom prst="rect">
                <a:avLst/>
              </a:prstGeom>
              <a:blipFill>
                <a:blip r:embed="rId8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>
            <a:off x="747111" y="1412971"/>
            <a:ext cx="0" cy="37953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47112" y="5195831"/>
            <a:ext cx="47548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832239" y="3346567"/>
            <a:ext cx="0" cy="18288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788281" y="917053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.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𝒈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𝒏</m:t>
                      </m:r>
                      <m:r>
                        <a:rPr lang="en-US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2000" b="1" i="1">
                  <a:solidFill>
                    <a:prstClr val="black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281" y="917053"/>
                <a:ext cx="957064" cy="400110"/>
              </a:xfrm>
              <a:prstGeom prst="rect">
                <a:avLst/>
              </a:prstGeom>
              <a:blipFill>
                <a:blip r:embed="rId9"/>
                <a:stretch>
                  <a:fillRect r="-14286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Google Shape;94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" y="12701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6448" y="118931"/>
            <a:ext cx="8012109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/>
            <a:r>
              <a:rPr lang="en-US" sz="3733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𝛉-Notation (Theta notation)</a:t>
            </a:r>
          </a:p>
        </p:txBody>
      </p:sp>
    </p:spTree>
    <p:extLst>
      <p:ext uri="{BB962C8B-B14F-4D97-AF65-F5344CB8AC3E}">
        <p14:creationId xmlns:p14="http://schemas.microsoft.com/office/powerpoint/2010/main" val="14000516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7917" y="994834"/>
            <a:ext cx="11504083" cy="5458884"/>
          </a:xfrm>
        </p:spPr>
        <p:txBody>
          <a:bodyPr>
            <a:normAutofit/>
          </a:bodyPr>
          <a:lstStyle/>
          <a:p>
            <a:pPr marL="457189" indent="-457189"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O-Notation (Big O notation) (Upper Bound)</a:t>
            </a:r>
          </a:p>
          <a:p>
            <a:pPr marL="457189" indent="-457189">
              <a:buSzPct val="100000"/>
              <a:buFont typeface="+mj-lt"/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buSzPct val="100000"/>
              <a:buFont typeface="+mj-lt"/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buSzPct val="100000"/>
              <a:buFont typeface="+mj-lt"/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Ω-Notation (Omega notation) (Lower Bound)</a:t>
            </a:r>
          </a:p>
          <a:p>
            <a:pPr marL="457189" indent="-457189">
              <a:buSzPct val="100000"/>
              <a:buFont typeface="+mj-lt"/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buSzPct val="100000"/>
              <a:buFont typeface="+mj-lt"/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189" indent="-457189">
              <a:buSzPct val="100000"/>
              <a:buFont typeface="+mj-lt"/>
              <a:buAutoNum type="arabicPeriod"/>
            </a:pPr>
            <a:endParaRPr lang="en-US" sz="2400" b="1" dirty="0">
              <a:solidFill>
                <a:srgbClr val="0070C0"/>
              </a:solidFill>
              <a:latin typeface="Trebuchet MS" panose="020B0603020202020204" pitchFamily="34" charset="0"/>
              <a:ea typeface="Cambria" panose="02040503050406030204" pitchFamily="18" charset="0"/>
            </a:endParaRPr>
          </a:p>
          <a:p>
            <a:pPr marL="457189" indent="-457189">
              <a:buSzPct val="100000"/>
              <a:buFont typeface="+mj-lt"/>
              <a:buAutoNum type="arabicPeriod"/>
            </a:pPr>
            <a:r>
              <a:rPr lang="el-GR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θ-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Notation (Theta notation) (Same order) </a:t>
            </a:r>
          </a:p>
          <a:p>
            <a:pPr marL="457189" indent="-457189">
              <a:buFont typeface="+mj-lt"/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2875" y="1534887"/>
                <a:ext cx="8138160" cy="830997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 defTabSz="914377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Ο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𝑔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400" dirty="0">
                    <a:solidFill>
                      <a:srgbClr val="424242"/>
                    </a:solidFill>
                    <a:latin typeface="Trebuchet MS" panose="020B0603020202020204" pitchFamily="34" charset="0"/>
                    <a:cs typeface="Arial"/>
                    <a:sym typeface="Arial"/>
                  </a:rPr>
                  <a:t>= {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424242"/>
                    </a:solidFill>
                    <a:latin typeface="Trebuchet MS" panose="020B0603020202020204" pitchFamily="34" charset="0"/>
                    <a:cs typeface="Arial"/>
                    <a:sym typeface="Arial"/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rgbClr val="424242"/>
                    </a:solidFill>
                    <a:latin typeface="Trebuchet MS" panose="020B0603020202020204" pitchFamily="34" charset="0"/>
                    <a:cs typeface="Arial"/>
                    <a:sym typeface="Arial"/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424242"/>
                    </a:solidFill>
                    <a:latin typeface="Trebuchet MS" panose="020B0603020202020204" pitchFamily="34" charset="0"/>
                    <a:cs typeface="Arial"/>
                    <a:sym typeface="Arial"/>
                  </a:rPr>
                  <a:t> such that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  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𝟎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𝒇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𝒏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)≤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𝒈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𝒏</m:t>
                    </m:r>
                    <m:r>
                      <a:rPr lang="en-US" sz="2400" b="1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) </m:t>
                    </m:r>
                  </m:oMath>
                </a14:m>
                <a:r>
                  <a:rPr lang="en-US" sz="2400" dirty="0">
                    <a:solidFill>
                      <a:srgbClr val="424242"/>
                    </a:solidFill>
                    <a:latin typeface="Trebuchet MS" panose="020B0603020202020204" pitchFamily="34" charset="0"/>
                    <a:cs typeface="Arial"/>
                    <a:sym typeface="Arial"/>
                  </a:rPr>
                  <a:t>for all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sz="2400" i="1" baseline="-25000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sz="24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424242"/>
                    </a:solidFill>
                    <a:latin typeface="Trebuchet MS" panose="020B0603020202020204" pitchFamily="34" charset="0"/>
                    <a:cs typeface="Arial"/>
                    <a:sym typeface="Arial"/>
                  </a:rPr>
                  <a:t>}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75" y="1534887"/>
                <a:ext cx="8138160" cy="830997"/>
              </a:xfrm>
              <a:prstGeom prst="rect">
                <a:avLst/>
              </a:prstGeom>
              <a:blipFill>
                <a:blip r:embed="rId2"/>
                <a:stretch>
                  <a:fillRect t="-4478" b="-16418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2875" y="3571168"/>
                <a:ext cx="8138160" cy="830997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200">
                    <a:solidFill>
                      <a:srgbClr val="424242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defTabSz="914377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>
                        <a:latin typeface="Cambria Math" panose="02040503050406030204" pitchFamily="18" charset="0"/>
                        <a:sym typeface="Arial"/>
                      </a:rPr>
                      <m:t>Ω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g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)) 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=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f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c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𝟎</m:t>
                    </m:r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𝒄𝒈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𝒇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}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75" y="3571168"/>
                <a:ext cx="8138160" cy="830997"/>
              </a:xfrm>
              <a:prstGeom prst="rect">
                <a:avLst/>
              </a:prstGeom>
              <a:blipFill>
                <a:blip r:embed="rId3"/>
                <a:stretch>
                  <a:fillRect t="-4412" b="-14706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92875" y="5227322"/>
                <a:ext cx="8138160" cy="120032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200">
                    <a:solidFill>
                      <a:srgbClr val="424242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defTabSz="914377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>
                        <a:latin typeface="Cambria Math" panose="02040503050406030204" pitchFamily="18" charset="0"/>
                        <a:sym typeface="Arial"/>
                      </a:rPr>
                      <m:t>θ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g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))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 =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f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 : 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sym typeface="Arial"/>
                          </a:rPr>
                          <m:t>c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sym typeface="Arial"/>
                          </a:rPr>
                          <m:t>c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such that 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𝟎</m:t>
                    </m:r>
                    <m:r>
                      <a:rPr lang="en-US" sz="2400" b="1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𝒈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</m:e>
                    </m:d>
                    <m:r>
                      <a:rPr lang="en-US" sz="2400" b="1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𝒇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</m:e>
                    </m:d>
                    <m:r>
                      <a:rPr lang="en-US" sz="2400" b="1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sym typeface="Arial"/>
                      </a:rPr>
                      <m:t>𝒈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sym typeface="Arial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 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sym typeface="Arial"/>
                      </a:rPr>
                      <m:t>n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cs typeface="Arial"/>
                    <a:sym typeface="Arial"/>
                  </a:rPr>
                  <a:t>}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75" y="5227322"/>
                <a:ext cx="8138160" cy="1200329"/>
              </a:xfrm>
              <a:prstGeom prst="rect">
                <a:avLst/>
              </a:prstGeom>
              <a:blipFill>
                <a:blip r:embed="rId4"/>
                <a:stretch>
                  <a:fillRect t="-4167" b="-10417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300752" y="1585841"/>
                <a:ext cx="2749376" cy="556252"/>
              </a:xfrm>
              <a:prstGeom prst="wedgeRoundRectCallout">
                <a:avLst>
                  <a:gd name="adj1" fmla="val -68749"/>
                  <a:gd name="adj2" fmla="val 3679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𝐟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𝐧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)=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𝐎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𝐠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𝐧</m:t>
                      </m:r>
                      <m:r>
                        <a:rPr lang="en-US" sz="2667" b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))</m:t>
                      </m:r>
                    </m:oMath>
                  </m:oMathPara>
                </a14:m>
                <a:endParaRPr lang="en-US" sz="2667" b="1" dirty="0">
                  <a:solidFill>
                    <a:srgbClr val="A71160"/>
                  </a:solidFill>
                  <a:latin typeface="Trebuchet MS" panose="020B0603020202020204" pitchFamily="34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752" y="1585841"/>
                <a:ext cx="2749376" cy="556252"/>
              </a:xfrm>
              <a:prstGeom prst="wedgeRoundRectCallout">
                <a:avLst>
                  <a:gd name="adj1" fmla="val -68749"/>
                  <a:gd name="adj2" fmla="val 3679"/>
                  <a:gd name="adj3" fmla="val 16667"/>
                </a:avLst>
              </a:prstGeom>
              <a:blipFill>
                <a:blip r:embed="rId5"/>
                <a:stretch>
                  <a:fillRect b="-15556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300754" y="3571168"/>
                <a:ext cx="2683045" cy="556252"/>
              </a:xfrm>
              <a:prstGeom prst="wedgeRoundRectCallout">
                <a:avLst>
                  <a:gd name="adj1" fmla="val -68537"/>
                  <a:gd name="adj2" fmla="val 6793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 i="1">
                    <a:solidFill>
                      <a:srgbClr val="A711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𝐟</m:t>
                      </m:r>
                      <m:d>
                        <m:dPr>
                          <m:ctrlPr>
                            <a:rPr lang="en-US" sz="2667" i="1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667" i="0">
                              <a:latin typeface="Cambria Math" panose="02040503050406030204" pitchFamily="18" charset="0"/>
                              <a:sym typeface="Arial"/>
                            </a:rPr>
                            <m:t>𝐧</m:t>
                          </m:r>
                        </m:e>
                      </m:d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667" i="0">
                          <a:latin typeface="Cambria Math" panose="02040503050406030204" pitchFamily="18" charset="0"/>
                          <a:sym typeface="Arial"/>
                        </a:rPr>
                        <m:t>Ω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𝐠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𝐧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))</m:t>
                      </m:r>
                    </m:oMath>
                  </m:oMathPara>
                </a14:m>
                <a:endParaRPr lang="en-US" sz="2667" i="0" dirty="0">
                  <a:latin typeface="Trebuchet MS" panose="020B0603020202020204" pitchFamily="34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754" y="3571168"/>
                <a:ext cx="2683045" cy="556252"/>
              </a:xfrm>
              <a:prstGeom prst="wedgeRoundRectCallout">
                <a:avLst>
                  <a:gd name="adj1" fmla="val -68537"/>
                  <a:gd name="adj2" fmla="val 6793"/>
                  <a:gd name="adj3" fmla="val 16667"/>
                </a:avLst>
              </a:prstGeom>
              <a:blipFill>
                <a:blip r:embed="rId6"/>
                <a:stretch>
                  <a:fillRect b="-13043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367082" y="5372327"/>
                <a:ext cx="2683047" cy="556252"/>
              </a:xfrm>
              <a:prstGeom prst="wedgeRoundRectCallout">
                <a:avLst>
                  <a:gd name="adj1" fmla="val -69151"/>
                  <a:gd name="adj2" fmla="val 11694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 i="1">
                    <a:solidFill>
                      <a:srgbClr val="A711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defTabSz="91437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𝐟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𝐧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)=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𝛉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𝐠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𝐧</m:t>
                      </m:r>
                      <m:r>
                        <a:rPr lang="en-US" sz="2667" i="0">
                          <a:latin typeface="Cambria Math" panose="02040503050406030204" pitchFamily="18" charset="0"/>
                          <a:sym typeface="Arial"/>
                        </a:rPr>
                        <m:t>))</m:t>
                      </m:r>
                    </m:oMath>
                  </m:oMathPara>
                </a14:m>
                <a:endParaRPr lang="en-US" sz="2667" i="0" dirty="0">
                  <a:latin typeface="Trebuchet MS" panose="020B0603020202020204" pitchFamily="34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082" y="5372327"/>
                <a:ext cx="2683047" cy="556252"/>
              </a:xfrm>
              <a:prstGeom prst="wedgeRoundRectCallout">
                <a:avLst>
                  <a:gd name="adj1" fmla="val -69151"/>
                  <a:gd name="adj2" fmla="val 11694"/>
                  <a:gd name="adj3" fmla="val 16667"/>
                </a:avLst>
              </a:prstGeom>
              <a:blipFill>
                <a:blip r:embed="rId7"/>
                <a:stretch>
                  <a:fillRect b="-13043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Shape 1">
            <a:extLst>
              <a:ext uri="{FF2B5EF4-FFF2-40B4-BE49-F238E27FC236}">
                <a16:creationId xmlns:a16="http://schemas.microsoft.com/office/drawing/2014/main" id="{206744F8-D0D8-F1D6-1D5D-A083787F27A9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 defTabSz="914377"/>
            <a:endParaRPr lang="en-US" sz="3733" b="1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1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00" y="0"/>
            <a:ext cx="12179300" cy="6899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0468" y="103210"/>
            <a:ext cx="8122704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/>
            <a:r>
              <a:rPr lang="en-US" sz="3733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Asymptotic notations – Cases </a:t>
            </a:r>
          </a:p>
        </p:txBody>
      </p:sp>
    </p:spTree>
    <p:extLst>
      <p:ext uri="{BB962C8B-B14F-4D97-AF65-F5344CB8AC3E}">
        <p14:creationId xmlns:p14="http://schemas.microsoft.com/office/powerpoint/2010/main" val="32387441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586443" y="1184447"/>
              <a:ext cx="10437224" cy="34290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949907">
                      <a:extLst>
                        <a:ext uri="{9D8B030D-6E8A-4147-A177-3AD203B41FA5}">
                          <a16:colId xmlns:a16="http://schemas.microsoft.com/office/drawing/2014/main" val="4290887919"/>
                        </a:ext>
                      </a:extLst>
                    </a:gridCol>
                    <a:gridCol w="1099892">
                      <a:extLst>
                        <a:ext uri="{9D8B030D-6E8A-4147-A177-3AD203B41FA5}">
                          <a16:colId xmlns:a16="http://schemas.microsoft.com/office/drawing/2014/main" val="1575911806"/>
                        </a:ext>
                      </a:extLst>
                    </a:gridCol>
                    <a:gridCol w="1376227">
                      <a:extLst>
                        <a:ext uri="{9D8B030D-6E8A-4147-A177-3AD203B41FA5}">
                          <a16:colId xmlns:a16="http://schemas.microsoft.com/office/drawing/2014/main" val="2769260205"/>
                        </a:ext>
                      </a:extLst>
                    </a:gridCol>
                    <a:gridCol w="1547927">
                      <a:extLst>
                        <a:ext uri="{9D8B030D-6E8A-4147-A177-3AD203B41FA5}">
                          <a16:colId xmlns:a16="http://schemas.microsoft.com/office/drawing/2014/main" val="2024315581"/>
                        </a:ext>
                      </a:extLst>
                    </a:gridCol>
                    <a:gridCol w="1865641">
                      <a:extLst>
                        <a:ext uri="{9D8B030D-6E8A-4147-A177-3AD203B41FA5}">
                          <a16:colId xmlns:a16="http://schemas.microsoft.com/office/drawing/2014/main" val="1293002562"/>
                        </a:ext>
                      </a:extLst>
                    </a:gridCol>
                    <a:gridCol w="1932707">
                      <a:extLst>
                        <a:ext uri="{9D8B030D-6E8A-4147-A177-3AD203B41FA5}">
                          <a16:colId xmlns:a16="http://schemas.microsoft.com/office/drawing/2014/main" val="959502218"/>
                        </a:ext>
                      </a:extLst>
                    </a:gridCol>
                    <a:gridCol w="1664923">
                      <a:extLst>
                        <a:ext uri="{9D8B030D-6E8A-4147-A177-3AD203B41FA5}">
                          <a16:colId xmlns:a16="http://schemas.microsoft.com/office/drawing/2014/main" val="3111579742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1" i="1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2400" b="1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fName>
                                  <m:e>
                                    <m:r>
                                      <a:rPr lang="en-US" sz="2400" b="1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2400" b="1" i="1" dirty="0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𝒏𝒍𝒐𝒈</m:t>
                                </m:r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baseline="3000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baseline="3000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baseline="30000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400" b="1" baseline="3000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2400" b="1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3770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8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07068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256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65536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2.09 x 10</a:t>
                          </a:r>
                          <a:r>
                            <a:rPr lang="en-US" sz="2400" b="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13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618943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384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262144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1.84 × 10</a:t>
                          </a:r>
                          <a:r>
                            <a:rPr lang="en-US" sz="24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19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1.26 x 10</a:t>
                          </a:r>
                          <a:r>
                            <a:rPr lang="en-US" sz="2400" b="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29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40873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256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8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2048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65536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16777216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1.15 × 10</a:t>
                          </a:r>
                          <a:r>
                            <a:rPr lang="en-US" sz="24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77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b="0" i="0" baseline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31908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1024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10240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1048576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1.07 × 10</a:t>
                          </a:r>
                          <a:r>
                            <a:rPr lang="en-US" sz="24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9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1.79 × 10</a:t>
                          </a:r>
                          <a:r>
                            <a:rPr lang="en-US" sz="24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308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b="0" i="0" baseline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05789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12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49152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16777216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6.87 × 10</a:t>
                          </a:r>
                          <a:r>
                            <a:rPr lang="en-US" sz="24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r>
                            <a:rPr lang="en-US" sz="24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1233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b="0" i="0" baseline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91844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586443" y="1184447"/>
              <a:ext cx="10437224" cy="34290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949907">
                      <a:extLst>
                        <a:ext uri="{9D8B030D-6E8A-4147-A177-3AD203B41FA5}">
                          <a16:colId xmlns:a16="http://schemas.microsoft.com/office/drawing/2014/main" val="4290887919"/>
                        </a:ext>
                      </a:extLst>
                    </a:gridCol>
                    <a:gridCol w="1099892">
                      <a:extLst>
                        <a:ext uri="{9D8B030D-6E8A-4147-A177-3AD203B41FA5}">
                          <a16:colId xmlns:a16="http://schemas.microsoft.com/office/drawing/2014/main" val="1575911806"/>
                        </a:ext>
                      </a:extLst>
                    </a:gridCol>
                    <a:gridCol w="1376227">
                      <a:extLst>
                        <a:ext uri="{9D8B030D-6E8A-4147-A177-3AD203B41FA5}">
                          <a16:colId xmlns:a16="http://schemas.microsoft.com/office/drawing/2014/main" val="2769260205"/>
                        </a:ext>
                      </a:extLst>
                    </a:gridCol>
                    <a:gridCol w="1547927">
                      <a:extLst>
                        <a:ext uri="{9D8B030D-6E8A-4147-A177-3AD203B41FA5}">
                          <a16:colId xmlns:a16="http://schemas.microsoft.com/office/drawing/2014/main" val="2024315581"/>
                        </a:ext>
                      </a:extLst>
                    </a:gridCol>
                    <a:gridCol w="1865641">
                      <a:extLst>
                        <a:ext uri="{9D8B030D-6E8A-4147-A177-3AD203B41FA5}">
                          <a16:colId xmlns:a16="http://schemas.microsoft.com/office/drawing/2014/main" val="1293002562"/>
                        </a:ext>
                      </a:extLst>
                    </a:gridCol>
                    <a:gridCol w="1932707">
                      <a:extLst>
                        <a:ext uri="{9D8B030D-6E8A-4147-A177-3AD203B41FA5}">
                          <a16:colId xmlns:a16="http://schemas.microsoft.com/office/drawing/2014/main" val="959502218"/>
                        </a:ext>
                      </a:extLst>
                    </a:gridCol>
                    <a:gridCol w="1664923">
                      <a:extLst>
                        <a:ext uri="{9D8B030D-6E8A-4147-A177-3AD203B41FA5}">
                          <a16:colId xmlns:a16="http://schemas.microsoft.com/office/drawing/2014/main" val="3111579742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33" t="-1852" r="-998667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7356" t="-1852" r="-760920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926" t="-1852" r="-512963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2131" t="-1852" r="-354098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7347" t="-1852" r="-193878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941" t="-1852" r="-86275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9008" t="-1852" r="-763" b="-4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3770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8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07068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256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65536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2.09 x 10</a:t>
                          </a:r>
                          <a:r>
                            <a:rPr lang="en-US" sz="2400" b="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13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618943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384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262144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1.84 × 10</a:t>
                          </a:r>
                          <a:r>
                            <a:rPr lang="en-US" sz="24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19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1.26 x 10</a:t>
                          </a:r>
                          <a:r>
                            <a:rPr lang="en-US" sz="2400" b="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29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40873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256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8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2048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65536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16777216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1.15 × 10</a:t>
                          </a:r>
                          <a:r>
                            <a:rPr lang="en-US" sz="24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77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9008" t="-455556" r="-763" b="-23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31908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1024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10240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1048576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1.07 × 10</a:t>
                          </a:r>
                          <a:r>
                            <a:rPr lang="en-US" sz="24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9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1.79 × 10</a:t>
                          </a:r>
                          <a:r>
                            <a:rPr lang="en-US" sz="24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308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9008" t="-555556" r="-763" b="-13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05789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12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49152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16777216</a:t>
                          </a:r>
                          <a:endParaRPr lang="en-US" sz="24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6.87 × 10</a:t>
                          </a:r>
                          <a:r>
                            <a:rPr lang="en-US" sz="24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endParaRPr lang="en-US" sz="24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r>
                            <a:rPr lang="en-US" sz="24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1233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9008" t="-655556" r="-763" b="-3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18449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ounded Rectangle 5"/>
          <p:cNvSpPr/>
          <p:nvPr/>
        </p:nvSpPr>
        <p:spPr>
          <a:xfrm>
            <a:off x="692723" y="2823791"/>
            <a:ext cx="10278289" cy="381000"/>
          </a:xfrm>
          <a:prstGeom prst="roundRect">
            <a:avLst/>
          </a:prstGeom>
          <a:solidFill>
            <a:schemeClr val="accent2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prstClr val="white"/>
              </a:solidFill>
              <a:latin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39037-7560-8DA3-4388-600B926490E8}"/>
              </a:ext>
            </a:extLst>
          </p:cNvPr>
          <p:cNvSpPr txBox="1"/>
          <p:nvPr/>
        </p:nvSpPr>
        <p:spPr>
          <a:xfrm>
            <a:off x="474518" y="4961818"/>
            <a:ext cx="6102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377">
              <a:defRPr/>
            </a:pPr>
            <a:r>
              <a:rPr lang="en-US" sz="3200" b="1" spc="-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Growth of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CA27784-F347-0803-0964-A4A0E21572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89334" y="5673554"/>
              <a:ext cx="7843521" cy="462449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624155">
                      <a:extLst>
                        <a:ext uri="{9D8B030D-6E8A-4147-A177-3AD203B41FA5}">
                          <a16:colId xmlns:a16="http://schemas.microsoft.com/office/drawing/2014/main" val="3352586213"/>
                        </a:ext>
                      </a:extLst>
                    </a:gridCol>
                    <a:gridCol w="6241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4155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926651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589688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824447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776135">
                      <a:extLst>
                        <a:ext uri="{9D8B030D-6E8A-4147-A177-3AD203B41FA5}">
                          <a16:colId xmlns:a16="http://schemas.microsoft.com/office/drawing/2014/main" val="1292681857"/>
                        </a:ext>
                      </a:extLst>
                    </a:gridCol>
                    <a:gridCol w="1177356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776779">
                      <a:extLst>
                        <a:ext uri="{9D8B030D-6E8A-4147-A177-3AD203B41FA5}">
                          <a16:colId xmlns:a16="http://schemas.microsoft.com/office/drawing/2014/main" val="2450183584"/>
                        </a:ext>
                      </a:extLst>
                    </a:gridCol>
                  </a:tblGrid>
                  <a:tr h="462449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aseline="30000" err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sz="2400" b="0" baseline="3000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aseline="300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2400" baseline="3000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IN" sz="2400" baseline="30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4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logn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4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baseline="0" smtClean="0">
                                    <a:latin typeface="Cambria Math" panose="02040503050406030204" pitchFamily="18" charset="0"/>
                                  </a:rPr>
                                  <m:t>logn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aseline="30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CA27784-F347-0803-0964-A4A0E21572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89334" y="5673554"/>
              <a:ext cx="7843521" cy="462449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624155">
                      <a:extLst>
                        <a:ext uri="{9D8B030D-6E8A-4147-A177-3AD203B41FA5}">
                          <a16:colId xmlns:a16="http://schemas.microsoft.com/office/drawing/2014/main" val="3352586213"/>
                        </a:ext>
                      </a:extLst>
                    </a:gridCol>
                    <a:gridCol w="6241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4155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926651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589688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824447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776135">
                      <a:extLst>
                        <a:ext uri="{9D8B030D-6E8A-4147-A177-3AD203B41FA5}">
                          <a16:colId xmlns:a16="http://schemas.microsoft.com/office/drawing/2014/main" val="1292681857"/>
                        </a:ext>
                      </a:extLst>
                    </a:gridCol>
                    <a:gridCol w="1177356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776779">
                      <a:extLst>
                        <a:ext uri="{9D8B030D-6E8A-4147-A177-3AD203B41FA5}">
                          <a16:colId xmlns:a16="http://schemas.microsoft.com/office/drawing/2014/main" val="2450183584"/>
                        </a:ext>
                      </a:extLst>
                    </a:gridCol>
                  </a:tblGrid>
                  <a:tr h="4624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10526" r="-1165306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041" t="-10526" r="-1065306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000" t="-10526" r="-944000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4110" t="-10526" r="-546575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2609" t="-10526" r="-767391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7465" t="-10526" r="-397183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1538" t="-10526" r="-333846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2295" t="-10526" r="-255738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10526" r="-67742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4754" t="-10526" r="-3279" b="-1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109" y="-43"/>
            <a:ext cx="2885691" cy="8616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7473" y="116613"/>
            <a:ext cx="58543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914377"/>
            <a:r>
              <a:rPr lang="en-US" sz="3200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Common orders of magnitude</a:t>
            </a:r>
          </a:p>
        </p:txBody>
      </p:sp>
    </p:spTree>
    <p:extLst>
      <p:ext uri="{BB962C8B-B14F-4D97-AF65-F5344CB8AC3E}">
        <p14:creationId xmlns:p14="http://schemas.microsoft.com/office/powerpoint/2010/main" val="19363966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6C6A-7A50-8062-F20D-689418282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43D09-1EE9-338B-0A24-15C92507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Examples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744F4-B89E-EAC7-485D-2EABA2D2F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23532" cy="45501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main()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{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    x = y + z;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}</a:t>
            </a:r>
          </a:p>
          <a:p>
            <a:pPr algn="just"/>
            <a:r>
              <a:rPr lang="en-IN" dirty="0"/>
              <a:t>This statement is executed </a:t>
            </a:r>
            <a:r>
              <a:rPr lang="en-IN" b="1" dirty="0"/>
              <a:t>once</a:t>
            </a:r>
            <a:r>
              <a:rPr lang="en-IN" dirty="0"/>
              <a:t>. </a:t>
            </a:r>
          </a:p>
          <a:p>
            <a:pPr algn="just"/>
            <a:r>
              <a:rPr lang="en-IN" b="1" dirty="0"/>
              <a:t>O(1)</a:t>
            </a:r>
            <a:r>
              <a:rPr lang="en-IN" dirty="0"/>
              <a:t> </a:t>
            </a:r>
          </a:p>
          <a:p>
            <a:pPr algn="just"/>
            <a:r>
              <a:rPr lang="en-IN" dirty="0"/>
              <a:t>Order of magnitude is </a:t>
            </a:r>
            <a:r>
              <a:rPr lang="en-IN" b="1" dirty="0"/>
              <a:t>one</a:t>
            </a:r>
            <a:r>
              <a:rPr lang="en-IN" dirty="0"/>
              <a:t>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88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E0473-7243-07C4-255E-6962B638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4E6D-94DC-36A1-6B62-4CFC624D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Examples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55A08-3223-C4B1-BB9D-099D1589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932104" cy="45501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main()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{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	For (</a:t>
            </a:r>
            <a:r>
              <a:rPr lang="en-IN" b="1" dirty="0" err="1">
                <a:solidFill>
                  <a:srgbClr val="FF0000"/>
                </a:solidFill>
                <a:latin typeface="Aptos" panose="020B0004020202020204" pitchFamily="34" charset="0"/>
              </a:rPr>
              <a:t>i</a:t>
            </a: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 = 1 to n)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    		x = y + z;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</a:rPr>
              <a:t>}</a:t>
            </a:r>
          </a:p>
          <a:p>
            <a:pPr marL="0" indent="0" algn="just">
              <a:buNone/>
            </a:pPr>
            <a:endParaRPr lang="en-IN" b="1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0" indent="0" algn="just">
              <a:buNone/>
            </a:pPr>
            <a:r>
              <a:rPr lang="en-IN" b="1" dirty="0"/>
              <a:t>O(n)</a:t>
            </a:r>
            <a:r>
              <a:rPr lang="en-IN" dirty="0"/>
              <a:t> 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2BCE9BA-8AC3-7236-47DB-CC464600B59A}"/>
              </a:ext>
            </a:extLst>
          </p:cNvPr>
          <p:cNvSpPr txBox="1">
            <a:spLocks/>
          </p:cNvSpPr>
          <p:nvPr/>
        </p:nvSpPr>
        <p:spPr>
          <a:xfrm>
            <a:off x="6554118" y="1690688"/>
            <a:ext cx="5101728" cy="4550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main()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{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For (</a:t>
            </a:r>
            <a:r>
              <a:rPr lang="en-IN" b="1" dirty="0" err="1">
                <a:solidFill>
                  <a:srgbClr val="0070C0"/>
                </a:solidFill>
                <a:latin typeface="Aptos" panose="020B0004020202020204" pitchFamily="34" charset="0"/>
              </a:rPr>
              <a:t>i</a:t>
            </a: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 = 1 to n)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    For (j = 1 to n)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	x = y + z;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}</a:t>
            </a:r>
          </a:p>
          <a:p>
            <a:pPr marL="0" indent="0" algn="just">
              <a:buNone/>
            </a:pPr>
            <a:r>
              <a:rPr lang="en-IN" b="1" dirty="0"/>
              <a:t>O(n</a:t>
            </a:r>
            <a:r>
              <a:rPr lang="en-IN" b="1" baseline="30000" dirty="0"/>
              <a:t>2</a:t>
            </a:r>
            <a:r>
              <a:rPr lang="en-IN" b="1" dirty="0"/>
              <a:t>)</a:t>
            </a:r>
            <a:r>
              <a:rPr lang="en-IN" dirty="0"/>
              <a:t>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12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6C275-A3DA-CE2B-D6CB-93F35005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D34F-68D1-FAB0-35C5-50FEB3B3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Examples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A90E0-6A67-351B-9257-10592661B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932104" cy="45501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  <a:latin typeface="Aptos" panose="020B0004020202020204" pitchFamily="34" charset="0"/>
              </a:rPr>
              <a:t>main()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  <a:latin typeface="Aptos" panose="020B0004020202020204" pitchFamily="34" charset="0"/>
              </a:rPr>
              <a:t>{             x = y + z; 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  <a:latin typeface="Aptos" panose="020B0004020202020204" pitchFamily="34" charset="0"/>
              </a:rPr>
              <a:t>	</a:t>
            </a:r>
            <a:r>
              <a:rPr lang="en-IN" sz="2400" b="1" dirty="0">
                <a:solidFill>
                  <a:srgbClr val="0070C0"/>
                </a:solidFill>
                <a:latin typeface="Aptos" panose="020B0004020202020204" pitchFamily="34" charset="0"/>
              </a:rPr>
              <a:t>For (</a:t>
            </a:r>
            <a:r>
              <a:rPr lang="en-IN" sz="2400" b="1" dirty="0" err="1">
                <a:solidFill>
                  <a:srgbClr val="0070C0"/>
                </a:solidFill>
                <a:latin typeface="Aptos" panose="020B0004020202020204" pitchFamily="34" charset="0"/>
              </a:rPr>
              <a:t>i</a:t>
            </a:r>
            <a:r>
              <a:rPr lang="en-IN" sz="2400" b="1" dirty="0">
                <a:solidFill>
                  <a:srgbClr val="0070C0"/>
                </a:solidFill>
                <a:latin typeface="Aptos" panose="020B0004020202020204" pitchFamily="34" charset="0"/>
              </a:rPr>
              <a:t> = 1 to n)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70C0"/>
                </a:solidFill>
                <a:latin typeface="Aptos" panose="020B0004020202020204" pitchFamily="34" charset="0"/>
              </a:rPr>
              <a:t>    	       x = y + z;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  <a:latin typeface="Aptos" panose="020B0004020202020204" pitchFamily="34" charset="0"/>
              </a:rPr>
              <a:t>	</a:t>
            </a:r>
            <a:r>
              <a:rPr lang="en-IN" sz="2400" b="1" dirty="0">
                <a:solidFill>
                  <a:srgbClr val="00B050"/>
                </a:solidFill>
                <a:latin typeface="Aptos" panose="020B0004020202020204" pitchFamily="34" charset="0"/>
              </a:rPr>
              <a:t>For (</a:t>
            </a:r>
            <a:r>
              <a:rPr lang="en-IN" sz="2400" b="1" dirty="0" err="1">
                <a:solidFill>
                  <a:srgbClr val="00B050"/>
                </a:solidFill>
                <a:latin typeface="Aptos" panose="020B0004020202020204" pitchFamily="34" charset="0"/>
              </a:rPr>
              <a:t>i</a:t>
            </a:r>
            <a:r>
              <a:rPr lang="en-IN" sz="2400" b="1" dirty="0">
                <a:solidFill>
                  <a:srgbClr val="00B050"/>
                </a:solidFill>
                <a:latin typeface="Aptos" panose="020B0004020202020204" pitchFamily="34" charset="0"/>
              </a:rPr>
              <a:t> = 1 to n)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  <a:latin typeface="Aptos" panose="020B0004020202020204" pitchFamily="34" charset="0"/>
              </a:rPr>
              <a:t>	      For (j = 1 to n)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  <a:latin typeface="Aptos" panose="020B0004020202020204" pitchFamily="34" charset="0"/>
              </a:rPr>
              <a:t>    	              x = y + z;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  <a:latin typeface="Aptos" panose="020B0004020202020204" pitchFamily="34" charset="0"/>
              </a:rPr>
              <a:t>}</a:t>
            </a:r>
          </a:p>
          <a:p>
            <a:pPr marL="0" indent="0" algn="just">
              <a:buNone/>
            </a:pPr>
            <a:r>
              <a:rPr lang="en-IN" b="1" dirty="0">
                <a:latin typeface="Aptos" panose="020B0004020202020204" pitchFamily="34" charset="0"/>
              </a:rPr>
              <a:t>O(n</a:t>
            </a:r>
            <a:r>
              <a:rPr lang="en-IN" b="1" baseline="30000" dirty="0">
                <a:latin typeface="Aptos" panose="020B0004020202020204" pitchFamily="34" charset="0"/>
              </a:rPr>
              <a:t>2</a:t>
            </a:r>
            <a:r>
              <a:rPr lang="en-IN" b="1" dirty="0">
                <a:latin typeface="Aptos" panose="020B0004020202020204" pitchFamily="34" charset="0"/>
              </a:rPr>
              <a:t> + n + 1)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dirty="0">
                <a:latin typeface="Aptos" panose="020B0004020202020204" pitchFamily="34" charset="0"/>
                <a:sym typeface="Wingdings" pitchFamily="2" charset="2"/>
              </a:rPr>
              <a:t> </a:t>
            </a: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  <a:sym typeface="Wingdings" pitchFamily="2" charset="2"/>
              </a:rPr>
              <a:t>O(n</a:t>
            </a:r>
            <a:r>
              <a:rPr lang="en-IN" b="1" baseline="30000" dirty="0">
                <a:solidFill>
                  <a:srgbClr val="FF0000"/>
                </a:solidFill>
                <a:latin typeface="Aptos" panose="020B0004020202020204" pitchFamily="34" charset="0"/>
                <a:sym typeface="Wingdings" pitchFamily="2" charset="2"/>
              </a:rPr>
              <a:t>2</a:t>
            </a:r>
            <a:r>
              <a:rPr lang="en-IN" b="1" dirty="0">
                <a:solidFill>
                  <a:srgbClr val="FF0000"/>
                </a:solidFill>
                <a:latin typeface="Aptos" panose="020B0004020202020204" pitchFamily="34" charset="0"/>
                <a:sym typeface="Wingdings" pitchFamily="2" charset="2"/>
              </a:rPr>
              <a:t>)</a:t>
            </a:r>
            <a:endParaRPr lang="en-IN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6845DB2-4F94-C1C0-B3EB-E40998113056}"/>
              </a:ext>
            </a:extLst>
          </p:cNvPr>
          <p:cNvSpPr txBox="1">
            <a:spLocks/>
          </p:cNvSpPr>
          <p:nvPr/>
        </p:nvSpPr>
        <p:spPr>
          <a:xfrm>
            <a:off x="6554118" y="1690688"/>
            <a:ext cx="5101728" cy="4550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main()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{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while (n&gt;1) {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        n = n/2;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}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0" indent="0" algn="just">
              <a:buNone/>
            </a:pPr>
            <a:r>
              <a:rPr lang="en-IN" sz="3200" b="1" dirty="0"/>
              <a:t>O(log</a:t>
            </a:r>
            <a:r>
              <a:rPr lang="en-IN" sz="3200" b="1" baseline="-25000" dirty="0"/>
              <a:t>2</a:t>
            </a:r>
            <a:r>
              <a:rPr lang="en-IN" sz="3200" b="1" dirty="0"/>
              <a:t>n)</a:t>
            </a:r>
            <a:r>
              <a:rPr lang="en-IN" sz="3200" dirty="0"/>
              <a:t>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30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0087-4A23-80AB-72F1-C0B9771A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9D24-2562-0055-D518-7F0D4162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Examples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950F5-6A40-2A1E-FB0F-E236F167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932104" cy="45501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main()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{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while (n &lt; 1) {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        n = n/2;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}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}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FF0000"/>
                </a:solidFill>
                <a:latin typeface="Aptos" panose="020B0004020202020204" pitchFamily="34" charset="0"/>
              </a:rPr>
              <a:t>*n is +</a:t>
            </a:r>
            <a:r>
              <a:rPr lang="en-IN" sz="2400" b="1" dirty="0" err="1">
                <a:solidFill>
                  <a:srgbClr val="FF0000"/>
                </a:solidFill>
                <a:latin typeface="Aptos" panose="020B0004020202020204" pitchFamily="34" charset="0"/>
              </a:rPr>
              <a:t>ve</a:t>
            </a:r>
            <a:r>
              <a:rPr lang="en-IN" sz="2400" b="1" dirty="0">
                <a:solidFill>
                  <a:srgbClr val="FF0000"/>
                </a:solidFill>
                <a:latin typeface="Aptos" panose="020B0004020202020204" pitchFamily="34" charset="0"/>
              </a:rPr>
              <a:t> integer</a:t>
            </a:r>
          </a:p>
          <a:p>
            <a:pPr marL="0" indent="0" algn="just">
              <a:buNone/>
            </a:pPr>
            <a:r>
              <a:rPr lang="en-IN" sz="3200" b="1" dirty="0"/>
              <a:t>O(1)</a:t>
            </a:r>
            <a:r>
              <a:rPr lang="en-IN" sz="4000" dirty="0"/>
              <a:t> 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F2AEA-7E19-2A4F-41E8-C2BC67D5CB03}"/>
              </a:ext>
            </a:extLst>
          </p:cNvPr>
          <p:cNvSpPr txBox="1">
            <a:spLocks/>
          </p:cNvSpPr>
          <p:nvPr/>
        </p:nvSpPr>
        <p:spPr>
          <a:xfrm>
            <a:off x="6554118" y="1690688"/>
            <a:ext cx="5101728" cy="4550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main()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{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	while (n&lt;=1) {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	        n = n/2;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	}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B050"/>
                </a:solidFill>
                <a:latin typeface="Aptos" panose="020B0004020202020204" pitchFamily="34" charset="0"/>
              </a:rPr>
              <a:t>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0" indent="0" algn="just">
              <a:buNone/>
            </a:pPr>
            <a:r>
              <a:rPr lang="en-IN" sz="3200" b="1" dirty="0"/>
              <a:t>Infinite</a:t>
            </a:r>
            <a:r>
              <a:rPr lang="en-IN" sz="3200" dirty="0"/>
              <a:t>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91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A1DE7-1B76-AE82-0FA3-5CD7063B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9D51-221D-A39D-F219-352133F7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Examples</a:t>
            </a:r>
            <a:endParaRPr lang="en-US" b="1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FA8B490-0575-C05A-7A31-81E6B653088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main()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{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For (</a:t>
            </a:r>
            <a:r>
              <a:rPr lang="en-IN" b="1" dirty="0" err="1">
                <a:solidFill>
                  <a:srgbClr val="0070C0"/>
                </a:solidFill>
                <a:latin typeface="Aptos" panose="020B0004020202020204" pitchFamily="34" charset="0"/>
              </a:rPr>
              <a:t>i</a:t>
            </a: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 = 1 to n)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    For (j = 1 to n/2)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		x = y + z;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70C0"/>
                </a:solidFill>
                <a:latin typeface="Aptos" panose="020B0004020202020204" pitchFamily="34" charset="0"/>
              </a:rPr>
              <a:t>}</a:t>
            </a:r>
          </a:p>
          <a:p>
            <a:pPr marL="0" indent="0" algn="just">
              <a:buNone/>
            </a:pPr>
            <a:r>
              <a:rPr lang="en-IN" b="1" dirty="0"/>
              <a:t>O(n</a:t>
            </a:r>
            <a:r>
              <a:rPr lang="en-IN" b="1" baseline="30000" dirty="0"/>
              <a:t>2</a:t>
            </a:r>
            <a:r>
              <a:rPr lang="en-IN" b="1" dirty="0"/>
              <a:t>)</a:t>
            </a:r>
            <a:r>
              <a:rPr lang="en-IN" dirty="0"/>
              <a:t>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9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 Templat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5550</Words>
  <Application>Microsoft Office PowerPoint</Application>
  <PresentationFormat>Widescreen</PresentationFormat>
  <Paragraphs>634</Paragraphs>
  <Slides>77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77</vt:i4>
      </vt:variant>
    </vt:vector>
  </HeadingPairs>
  <TitlesOfParts>
    <vt:vector size="93" baseType="lpstr">
      <vt:lpstr>Algerian</vt:lpstr>
      <vt:lpstr>Aptos</vt:lpstr>
      <vt:lpstr>Arial</vt:lpstr>
      <vt:lpstr>Calibri</vt:lpstr>
      <vt:lpstr>Calibri Light</vt:lpstr>
      <vt:lpstr>Cambria</vt:lpstr>
      <vt:lpstr>Cambria Math</vt:lpstr>
      <vt:lpstr>Corbel</vt:lpstr>
      <vt:lpstr>DejaVu Sans</vt:lpstr>
      <vt:lpstr>Proxima Nova</vt:lpstr>
      <vt:lpstr>Symbol</vt:lpstr>
      <vt:lpstr>Times New Roman</vt:lpstr>
      <vt:lpstr>Trebuchet MS</vt:lpstr>
      <vt:lpstr>Wingdings</vt:lpstr>
      <vt:lpstr>1_Office Theme</vt:lpstr>
      <vt:lpstr>PPT Template</vt:lpstr>
      <vt:lpstr>PowerPoint Presentation</vt:lpstr>
      <vt:lpstr>Algorithm</vt:lpstr>
      <vt:lpstr>PowerPoint Presentation</vt:lpstr>
      <vt:lpstr>PowerPoint Presentation</vt:lpstr>
      <vt:lpstr>PowerPoint Presentation</vt:lpstr>
      <vt:lpstr>Algorithm</vt:lpstr>
      <vt:lpstr>Algorithm</vt:lpstr>
      <vt:lpstr>Algorithm</vt:lpstr>
      <vt:lpstr>Characteristics of Algorithm</vt:lpstr>
      <vt:lpstr>Characteristics of Algorithm</vt:lpstr>
      <vt:lpstr>Characteristics of Algorithm</vt:lpstr>
      <vt:lpstr>Characteristics of Algorithm</vt:lpstr>
      <vt:lpstr>Characteristics of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</vt:lpstr>
      <vt:lpstr>Example 2</vt:lpstr>
      <vt:lpstr>Analyzing Algorithm</vt:lpstr>
      <vt:lpstr>Analysis of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How to Analysis of Algorithms</vt:lpstr>
      <vt:lpstr>Analysis of Insertion Sort</vt:lpstr>
      <vt:lpstr>Analysis of Insertion Sort</vt:lpstr>
      <vt:lpstr>Analysis of Insertion Sort</vt:lpstr>
      <vt:lpstr>Analysis of Insertion Sort</vt:lpstr>
      <vt:lpstr>Analysis of Insertion Sort</vt:lpstr>
      <vt:lpstr>Analysis of Insertion Sort</vt:lpstr>
      <vt:lpstr>Bubble Sort</vt:lpstr>
      <vt:lpstr>Merge Sort</vt:lpstr>
      <vt:lpstr>Quick Sort</vt:lpstr>
      <vt:lpstr>  </vt:lpstr>
      <vt:lpstr>   </vt:lpstr>
      <vt:lpstr>   </vt:lpstr>
      <vt:lpstr>   </vt:lpstr>
      <vt:lpstr>   </vt:lpstr>
      <vt:lpstr>   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Examples</vt:lpstr>
      <vt:lpstr>Examples</vt:lpstr>
      <vt:lpstr>Examples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rep5</dc:creator>
  <cp:lastModifiedBy>tourist</cp:lastModifiedBy>
  <cp:revision>342</cp:revision>
  <dcterms:created xsi:type="dcterms:W3CDTF">2026-07-01T04:25:31Z</dcterms:created>
  <dcterms:modified xsi:type="dcterms:W3CDTF">2026-07-03T04:59:41Z</dcterms:modified>
</cp:coreProperties>
</file>