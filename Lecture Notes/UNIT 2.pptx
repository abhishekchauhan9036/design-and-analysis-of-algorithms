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89" r:id="rId1"/>
    <p:sldMasterId id="2147483880" r:id="rId2"/>
  </p:sldMasterIdLst>
  <p:notesMasterIdLst>
    <p:notesMasterId r:id="rId131"/>
  </p:notesMasterIdLst>
  <p:sldIdLst>
    <p:sldId id="307" r:id="rId3"/>
    <p:sldId id="544" r:id="rId4"/>
    <p:sldId id="369" r:id="rId5"/>
    <p:sldId id="545" r:id="rId6"/>
    <p:sldId id="370" r:id="rId7"/>
    <p:sldId id="375" r:id="rId8"/>
    <p:sldId id="374" r:id="rId9"/>
    <p:sldId id="549" r:id="rId10"/>
    <p:sldId id="498" r:id="rId11"/>
    <p:sldId id="547" r:id="rId12"/>
    <p:sldId id="548" r:id="rId13"/>
    <p:sldId id="546" r:id="rId14"/>
    <p:sldId id="382" r:id="rId15"/>
    <p:sldId id="504" r:id="rId16"/>
    <p:sldId id="521" r:id="rId17"/>
    <p:sldId id="505" r:id="rId18"/>
    <p:sldId id="520" r:id="rId19"/>
    <p:sldId id="550" r:id="rId20"/>
    <p:sldId id="551" r:id="rId21"/>
    <p:sldId id="552" r:id="rId22"/>
    <p:sldId id="553" r:id="rId23"/>
    <p:sldId id="554" r:id="rId24"/>
    <p:sldId id="555" r:id="rId25"/>
    <p:sldId id="556" r:id="rId26"/>
    <p:sldId id="557" r:id="rId27"/>
    <p:sldId id="558" r:id="rId28"/>
    <p:sldId id="519" r:id="rId29"/>
    <p:sldId id="387" r:id="rId30"/>
    <p:sldId id="522" r:id="rId31"/>
    <p:sldId id="559" r:id="rId32"/>
    <p:sldId id="417" r:id="rId33"/>
    <p:sldId id="418" r:id="rId34"/>
    <p:sldId id="419" r:id="rId35"/>
    <p:sldId id="420" r:id="rId36"/>
    <p:sldId id="437" r:id="rId37"/>
    <p:sldId id="421" r:id="rId38"/>
    <p:sldId id="506" r:id="rId39"/>
    <p:sldId id="507" r:id="rId40"/>
    <p:sldId id="422" r:id="rId41"/>
    <p:sldId id="423" r:id="rId42"/>
    <p:sldId id="424" r:id="rId43"/>
    <p:sldId id="425" r:id="rId44"/>
    <p:sldId id="426" r:id="rId45"/>
    <p:sldId id="427" r:id="rId46"/>
    <p:sldId id="428" r:id="rId47"/>
    <p:sldId id="429" r:id="rId48"/>
    <p:sldId id="430" r:id="rId49"/>
    <p:sldId id="431" r:id="rId50"/>
    <p:sldId id="432" r:id="rId51"/>
    <p:sldId id="433" r:id="rId52"/>
    <p:sldId id="434" r:id="rId53"/>
    <p:sldId id="435" r:id="rId54"/>
    <p:sldId id="436" r:id="rId55"/>
    <p:sldId id="447" r:id="rId56"/>
    <p:sldId id="508" r:id="rId57"/>
    <p:sldId id="539" r:id="rId58"/>
    <p:sldId id="619" r:id="rId59"/>
    <p:sldId id="620" r:id="rId60"/>
    <p:sldId id="621" r:id="rId61"/>
    <p:sldId id="622" r:id="rId62"/>
    <p:sldId id="623" r:id="rId63"/>
    <p:sldId id="624" r:id="rId64"/>
    <p:sldId id="443" r:id="rId65"/>
    <p:sldId id="560" r:id="rId66"/>
    <p:sldId id="625" r:id="rId67"/>
    <p:sldId id="561" r:id="rId68"/>
    <p:sldId id="562" r:id="rId69"/>
    <p:sldId id="525" r:id="rId70"/>
    <p:sldId id="526" r:id="rId71"/>
    <p:sldId id="527" r:id="rId72"/>
    <p:sldId id="528" r:id="rId73"/>
    <p:sldId id="529" r:id="rId74"/>
    <p:sldId id="530" r:id="rId75"/>
    <p:sldId id="531" r:id="rId76"/>
    <p:sldId id="532" r:id="rId77"/>
    <p:sldId id="533" r:id="rId78"/>
    <p:sldId id="563" r:id="rId79"/>
    <p:sldId id="599" r:id="rId80"/>
    <p:sldId id="615" r:id="rId81"/>
    <p:sldId id="616" r:id="rId82"/>
    <p:sldId id="617" r:id="rId83"/>
    <p:sldId id="618" r:id="rId84"/>
    <p:sldId id="603" r:id="rId85"/>
    <p:sldId id="602" r:id="rId86"/>
    <p:sldId id="601" r:id="rId87"/>
    <p:sldId id="604" r:id="rId88"/>
    <p:sldId id="600" r:id="rId89"/>
    <p:sldId id="605" r:id="rId90"/>
    <p:sldId id="606" r:id="rId91"/>
    <p:sldId id="607" r:id="rId92"/>
    <p:sldId id="613" r:id="rId93"/>
    <p:sldId id="614" r:id="rId94"/>
    <p:sldId id="609" r:id="rId95"/>
    <p:sldId id="608" r:id="rId96"/>
    <p:sldId id="610" r:id="rId97"/>
    <p:sldId id="564" r:id="rId98"/>
    <p:sldId id="569" r:id="rId99"/>
    <p:sldId id="568" r:id="rId100"/>
    <p:sldId id="570" r:id="rId101"/>
    <p:sldId id="565" r:id="rId102"/>
    <p:sldId id="571" r:id="rId103"/>
    <p:sldId id="566" r:id="rId104"/>
    <p:sldId id="567" r:id="rId105"/>
    <p:sldId id="572" r:id="rId106"/>
    <p:sldId id="469" r:id="rId107"/>
    <p:sldId id="577" r:id="rId108"/>
    <p:sldId id="578" r:id="rId109"/>
    <p:sldId id="579" r:id="rId110"/>
    <p:sldId id="580" r:id="rId111"/>
    <p:sldId id="581" r:id="rId112"/>
    <p:sldId id="582" r:id="rId113"/>
    <p:sldId id="583" r:id="rId114"/>
    <p:sldId id="584" r:id="rId115"/>
    <p:sldId id="585" r:id="rId116"/>
    <p:sldId id="586" r:id="rId117"/>
    <p:sldId id="587" r:id="rId118"/>
    <p:sldId id="588" r:id="rId119"/>
    <p:sldId id="589" r:id="rId120"/>
    <p:sldId id="576" r:id="rId121"/>
    <p:sldId id="590" r:id="rId122"/>
    <p:sldId id="591" r:id="rId123"/>
    <p:sldId id="592" r:id="rId124"/>
    <p:sldId id="594" r:id="rId125"/>
    <p:sldId id="593" r:id="rId126"/>
    <p:sldId id="595" r:id="rId127"/>
    <p:sldId id="596" r:id="rId128"/>
    <p:sldId id="598" r:id="rId129"/>
    <p:sldId id="575" r:id="rId130"/>
  </p:sldIdLst>
  <p:sldSz cx="12192000" cy="6858000"/>
  <p:notesSz cx="6858000" cy="9144000"/>
  <p:embeddedFontLst>
    <p:embeddedFont>
      <p:font typeface="Cambria" panose="02040503050406030204" pitchFamily="18" charset="0"/>
      <p:regular r:id="rId132"/>
      <p:bold r:id="rId133"/>
      <p:italic r:id="rId134"/>
      <p:boldItalic r:id="rId135"/>
    </p:embeddedFont>
    <p:embeddedFont>
      <p:font typeface="Wingdings 2" panose="05020102010507070707" pitchFamily="18" charset="2"/>
      <p:regular r:id="rId136"/>
    </p:embeddedFont>
    <p:embeddedFont>
      <p:font typeface="Proxima Nova" panose="020B0604020202020204" charset="0"/>
      <p:regular r:id="rId137"/>
      <p:bold r:id="rId138"/>
      <p:italic r:id="rId139"/>
      <p:boldItalic r:id="rId140"/>
    </p:embeddedFont>
    <p:embeddedFont>
      <p:font typeface="Calibri" panose="020F0502020204030204" pitchFamily="34" charset="0"/>
      <p:regular r:id="rId141"/>
      <p:bold r:id="rId142"/>
      <p:italic r:id="rId143"/>
      <p:boldItalic r:id="rId144"/>
    </p:embeddedFont>
    <p:embeddedFont>
      <p:font typeface="Corbel" panose="020B0503020204020204" pitchFamily="34" charset="0"/>
      <p:regular r:id="rId145"/>
      <p:bold r:id="rId146"/>
      <p:italic r:id="rId147"/>
      <p:boldItalic r:id="rId148"/>
    </p:embeddedFont>
    <p:embeddedFont>
      <p:font typeface="Consolas" panose="020B0609020204030204" pitchFamily="49" charset="0"/>
      <p:regular r:id="rId149"/>
      <p:bold r:id="rId150"/>
      <p:italic r:id="rId151"/>
      <p:boldItalic r:id="rId152"/>
    </p:embeddedFont>
    <p:embeddedFont>
      <p:font typeface="Cambria Math" panose="02040503050406030204" pitchFamily="18" charset="0"/>
      <p:regular r:id="rId153"/>
    </p:embeddedFont>
    <p:embeddedFont>
      <p:font typeface="Times" panose="02020603050405020304" pitchFamily="18" charset="0"/>
      <p:regular r:id="rId154"/>
      <p:bold r:id="rId155"/>
      <p:italic r:id="rId156"/>
      <p:boldItalic r:id="rId157"/>
    </p:embeddedFont>
    <p:embeddedFont>
      <p:font typeface="Trebuchet MS" panose="020B0603020202020204" pitchFamily="34" charset="0"/>
      <p:regular r:id="rId158"/>
      <p:bold r:id="rId159"/>
      <p:italic r:id="rId160"/>
      <p:boldItalic r:id="rId161"/>
    </p:embeddedFont>
    <p:embeddedFont>
      <p:font typeface="Algerian" panose="04020705040A02060702" pitchFamily="82" charset="0"/>
      <p:regular r:id="rId162"/>
    </p:embeddedFont>
  </p:embeddedFontLst>
  <p:custDataLst>
    <p:tags r:id="rId16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CC0066"/>
    <a:srgbClr val="D60093"/>
    <a:srgbClr val="00FFFF"/>
    <a:srgbClr val="33CCCC"/>
    <a:srgbClr val="66FF33"/>
    <a:srgbClr val="99FF33"/>
    <a:srgbClr val="FF99CC"/>
    <a:srgbClr val="FF0066"/>
    <a:srgbClr val="31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/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font" Target="fonts/font7.fntdata"/><Relationship Id="rId159" Type="http://schemas.openxmlformats.org/officeDocument/2006/relationships/font" Target="fonts/font28.fntdata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font" Target="fonts/font18.fntdata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font" Target="fonts/font29.fntdata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font" Target="fonts/font8.fntdata"/><Relationship Id="rId85" Type="http://schemas.openxmlformats.org/officeDocument/2006/relationships/slide" Target="slides/slide83.xml"/><Relationship Id="rId150" Type="http://schemas.openxmlformats.org/officeDocument/2006/relationships/font" Target="fonts/font19.fntdata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font" Target="fonts/font9.fntdata"/><Relationship Id="rId145" Type="http://schemas.openxmlformats.org/officeDocument/2006/relationships/font" Target="fonts/font14.fntdata"/><Relationship Id="rId161" Type="http://schemas.openxmlformats.org/officeDocument/2006/relationships/font" Target="fonts/font30.fntdata"/><Relationship Id="rId16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font" Target="fonts/font4.fntdata"/><Relationship Id="rId151" Type="http://schemas.openxmlformats.org/officeDocument/2006/relationships/font" Target="fonts/font20.fntdata"/><Relationship Id="rId156" Type="http://schemas.openxmlformats.org/officeDocument/2006/relationships/font" Target="fonts/font25.fntdata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font" Target="fonts/font10.fntdata"/><Relationship Id="rId146" Type="http://schemas.openxmlformats.org/officeDocument/2006/relationships/font" Target="fonts/font15.fntdata"/><Relationship Id="rId167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font" Target="fonts/font31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notesMaster" Target="notesMasters/notesMaster1.xml"/><Relationship Id="rId136" Type="http://schemas.openxmlformats.org/officeDocument/2006/relationships/font" Target="fonts/font5.fntdata"/><Relationship Id="rId157" Type="http://schemas.openxmlformats.org/officeDocument/2006/relationships/font" Target="fonts/font26.fnt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font" Target="fonts/font21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font" Target="fonts/font16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font" Target="fonts/font11.fntdata"/><Relationship Id="rId163" Type="http://schemas.openxmlformats.org/officeDocument/2006/relationships/tags" Target="tags/tag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font" Target="fonts/font6.fntdata"/><Relationship Id="rId158" Type="http://schemas.openxmlformats.org/officeDocument/2006/relationships/font" Target="fonts/font27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font" Target="fonts/font1.fntdata"/><Relationship Id="rId153" Type="http://schemas.openxmlformats.org/officeDocument/2006/relationships/font" Target="fonts/font22.fntdata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font" Target="fonts/font12.fntdata"/><Relationship Id="rId148" Type="http://schemas.openxmlformats.org/officeDocument/2006/relationships/font" Target="fonts/font17.fntdata"/><Relationship Id="rId16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font" Target="fonts/font2.fntdata"/><Relationship Id="rId154" Type="http://schemas.openxmlformats.org/officeDocument/2006/relationships/font" Target="fonts/font23.fntdata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font" Target="fonts/font13.fntdata"/><Relationship Id="rId90" Type="http://schemas.openxmlformats.org/officeDocument/2006/relationships/slide" Target="slides/slide88.xml"/><Relationship Id="rId165" Type="http://schemas.openxmlformats.org/officeDocument/2006/relationships/viewProps" Target="viewProps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font" Target="fonts/font3.fntdata"/><Relationship Id="rId80" Type="http://schemas.openxmlformats.org/officeDocument/2006/relationships/slide" Target="slides/slide78.xml"/><Relationship Id="rId155" Type="http://schemas.openxmlformats.org/officeDocument/2006/relationships/font" Target="fonts/font2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363449-B7A3-4F7F-B695-455D73CB512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63BD807-DAC9-4F7C-A2CC-B88077408D65}">
      <dgm:prSet phldrT="[Text]"/>
      <dgm:spPr>
        <a:xfrm>
          <a:off x="3574641" y="186111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Recurrence equation</a:t>
          </a:r>
          <a:endParaRPr lang="en-IN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rebuchet MS" panose="020B0603020202020204" pitchFamily="34" charset="0"/>
            <a:ea typeface="+mn-ea"/>
            <a:cs typeface="+mn-cs"/>
          </a:endParaRPr>
        </a:p>
      </dgm:t>
    </dgm:pt>
    <dgm:pt modelId="{E1C60F02-859A-4EA4-816C-66F5FF9D8E36}" type="parTrans" cxnId="{AB8EA061-465F-4991-B618-CAF8B6890CAA}">
      <dgm:prSet/>
      <dgm:spPr/>
      <dgm:t>
        <a:bodyPr/>
        <a:lstStyle/>
        <a:p>
          <a:endParaRPr lang="en-IN"/>
        </a:p>
      </dgm:t>
    </dgm:pt>
    <dgm:pt modelId="{6FCBBF9E-3C65-4C06-8454-C0EEE76E3C99}" type="sibTrans" cxnId="{AB8EA061-465F-4991-B618-CAF8B6890CAA}">
      <dgm:prSet/>
      <dgm:spPr/>
      <dgm:t>
        <a:bodyPr/>
        <a:lstStyle/>
        <a:p>
          <a:endParaRPr lang="en-IN"/>
        </a:p>
      </dgm:t>
    </dgm:pt>
    <dgm:pt modelId="{A7D6D638-FB9F-423C-B424-967CDD29097E}">
      <dgm:prSet phldrT="[Text]"/>
      <dgm:spPr>
        <a:xfrm>
          <a:off x="1442530" y="1801185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Substitution method	</a:t>
          </a:r>
          <a:endParaRPr lang="en-IN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rebuchet MS" panose="020B0603020202020204" pitchFamily="34" charset="0"/>
            <a:ea typeface="+mn-ea"/>
            <a:cs typeface="+mn-cs"/>
          </a:endParaRPr>
        </a:p>
      </dgm:t>
    </dgm:pt>
    <dgm:pt modelId="{0825220F-41E1-40EE-92D5-855DA9853D69}" type="parTrans" cxnId="{DAE51156-8B52-43E1-8AAA-A51A8473F454}">
      <dgm:prSet/>
      <dgm:spPr>
        <a:xfrm>
          <a:off x="2120929" y="1109702"/>
          <a:ext cx="2132111" cy="507345"/>
        </a:xfrm>
        <a:custGeom>
          <a:avLst/>
          <a:gdLst/>
          <a:ahLst/>
          <a:cxnLst/>
          <a:rect l="0" t="0" r="0" b="0"/>
          <a:pathLst>
            <a:path>
              <a:moveTo>
                <a:pt x="2132111" y="0"/>
              </a:moveTo>
              <a:lnTo>
                <a:pt x="2132111" y="345741"/>
              </a:lnTo>
              <a:lnTo>
                <a:pt x="0" y="345741"/>
              </a:lnTo>
              <a:lnTo>
                <a:pt x="0" y="507345"/>
              </a:lnTo>
            </a:path>
          </a:pathLst>
        </a:custGeom>
        <a:noFill/>
        <a:ln w="10795" cap="flat" cmpd="sng" algn="ctr">
          <a:solidFill>
            <a:srgbClr val="40BAD2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IN"/>
        </a:p>
      </dgm:t>
    </dgm:pt>
    <dgm:pt modelId="{5101ACE4-FC89-4E34-A540-3E6BF264D8FC}" type="sibTrans" cxnId="{DAE51156-8B52-43E1-8AAA-A51A8473F454}">
      <dgm:prSet/>
      <dgm:spPr/>
      <dgm:t>
        <a:bodyPr/>
        <a:lstStyle/>
        <a:p>
          <a:endParaRPr lang="en-IN"/>
        </a:p>
      </dgm:t>
    </dgm:pt>
    <dgm:pt modelId="{6E7E8B23-8770-482D-B934-D36CC7DA144E}">
      <dgm:prSet phldrT="[Text]"/>
      <dgm:spPr>
        <a:xfrm>
          <a:off x="376474" y="3416260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Forward substitution</a:t>
          </a: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orbel"/>
              <a:ea typeface="+mn-ea"/>
              <a:cs typeface="+mn-cs"/>
            </a:rPr>
            <a:t>	</a:t>
          </a:r>
          <a:endParaRPr lang="en-IN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orbel"/>
            <a:ea typeface="+mn-ea"/>
            <a:cs typeface="+mn-cs"/>
          </a:endParaRPr>
        </a:p>
      </dgm:t>
    </dgm:pt>
    <dgm:pt modelId="{584C1F39-8D8D-4082-898F-018A6986CC6E}" type="parTrans" cxnId="{5E6FC0A0-2D9B-479A-86B8-2954AEB07293}">
      <dgm:prSet/>
      <dgm:spPr>
        <a:xfrm>
          <a:off x="1054873" y="2724777"/>
          <a:ext cx="1066055" cy="507345"/>
        </a:xfrm>
        <a:custGeom>
          <a:avLst/>
          <a:gdLst/>
          <a:ahLst/>
          <a:cxnLst/>
          <a:rect l="0" t="0" r="0" b="0"/>
          <a:pathLst>
            <a:path>
              <a:moveTo>
                <a:pt x="1066055" y="0"/>
              </a:moveTo>
              <a:lnTo>
                <a:pt x="1066055" y="345741"/>
              </a:lnTo>
              <a:lnTo>
                <a:pt x="0" y="345741"/>
              </a:lnTo>
              <a:lnTo>
                <a:pt x="0" y="507345"/>
              </a:lnTo>
            </a:path>
          </a:pathLst>
        </a:custGeom>
        <a:noFill/>
        <a:ln w="10795" cap="flat" cmpd="sng" algn="ctr">
          <a:solidFill>
            <a:srgbClr val="40BAD2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IN"/>
        </a:p>
      </dgm:t>
    </dgm:pt>
    <dgm:pt modelId="{00716B90-B991-4120-ACB0-D8877DFB36B0}" type="sibTrans" cxnId="{5E6FC0A0-2D9B-479A-86B8-2954AEB07293}">
      <dgm:prSet/>
      <dgm:spPr/>
      <dgm:t>
        <a:bodyPr/>
        <a:lstStyle/>
        <a:p>
          <a:endParaRPr lang="en-IN"/>
        </a:p>
      </dgm:t>
    </dgm:pt>
    <dgm:pt modelId="{E4CA86B2-1E9D-4659-BB77-FB67AB58559B}">
      <dgm:prSet phldrT="[Text]"/>
      <dgm:spPr>
        <a:xfrm>
          <a:off x="2508585" y="3416260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Backward substitution</a:t>
          </a:r>
          <a:endParaRPr lang="en-IN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rebuchet MS" panose="020B0603020202020204" pitchFamily="34" charset="0"/>
            <a:ea typeface="+mn-ea"/>
            <a:cs typeface="+mn-cs"/>
          </a:endParaRPr>
        </a:p>
      </dgm:t>
    </dgm:pt>
    <dgm:pt modelId="{33AAD10F-09E9-451E-8396-F85ED84FEDAE}" type="parTrans" cxnId="{B9C1CDDE-528C-4540-8FFD-1DC4A175888F}">
      <dgm:prSet/>
      <dgm:spPr>
        <a:xfrm>
          <a:off x="2120929" y="2724777"/>
          <a:ext cx="1066055" cy="507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741"/>
              </a:lnTo>
              <a:lnTo>
                <a:pt x="1066055" y="345741"/>
              </a:lnTo>
              <a:lnTo>
                <a:pt x="1066055" y="507345"/>
              </a:lnTo>
            </a:path>
          </a:pathLst>
        </a:custGeom>
        <a:noFill/>
        <a:ln w="10795" cap="flat" cmpd="sng" algn="ctr">
          <a:solidFill>
            <a:srgbClr val="40BAD2">
              <a:shade val="8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IN"/>
        </a:p>
      </dgm:t>
    </dgm:pt>
    <dgm:pt modelId="{5309A532-0A96-440E-9110-EFB037560A11}" type="sibTrans" cxnId="{B9C1CDDE-528C-4540-8FFD-1DC4A175888F}">
      <dgm:prSet/>
      <dgm:spPr/>
      <dgm:t>
        <a:bodyPr/>
        <a:lstStyle/>
        <a:p>
          <a:endParaRPr lang="en-IN"/>
        </a:p>
      </dgm:t>
    </dgm:pt>
    <dgm:pt modelId="{897156A2-A537-47C0-B05A-4FF65664DC0A}">
      <dgm:prSet phldrT="[Text]"/>
      <dgm:spPr>
        <a:xfrm>
          <a:off x="3574641" y="1801185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Master’s method</a:t>
          </a:r>
          <a:endParaRPr lang="en-IN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rebuchet MS" panose="020B0603020202020204" pitchFamily="34" charset="0"/>
            <a:ea typeface="+mn-ea"/>
            <a:cs typeface="+mn-cs"/>
          </a:endParaRPr>
        </a:p>
      </dgm:t>
    </dgm:pt>
    <dgm:pt modelId="{8A611D13-5AF7-4D50-BA93-203BBA6B8528}" type="parTrans" cxnId="{A47D63FD-15F5-4564-BAD0-E8C61E285928}">
      <dgm:prSet/>
      <dgm:spPr>
        <a:xfrm>
          <a:off x="4207320" y="1109702"/>
          <a:ext cx="91440" cy="5073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7345"/>
              </a:lnTo>
            </a:path>
          </a:pathLst>
        </a:custGeom>
        <a:noFill/>
        <a:ln w="10795" cap="flat" cmpd="sng" algn="ctr">
          <a:solidFill>
            <a:srgbClr val="40BAD2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IN"/>
        </a:p>
      </dgm:t>
    </dgm:pt>
    <dgm:pt modelId="{A8726441-99EE-49E4-A06C-21DB3D3433F8}" type="sibTrans" cxnId="{A47D63FD-15F5-4564-BAD0-E8C61E285928}">
      <dgm:prSet/>
      <dgm:spPr/>
      <dgm:t>
        <a:bodyPr/>
        <a:lstStyle/>
        <a:p>
          <a:endParaRPr lang="en-IN"/>
        </a:p>
      </dgm:t>
    </dgm:pt>
    <dgm:pt modelId="{D4313CAF-6BF7-41B3-AB84-73AE83F3193F}">
      <dgm:prSet/>
      <dgm:spPr>
        <a:xfrm>
          <a:off x="5706753" y="1801185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Recurrence tree method</a:t>
          </a:r>
          <a:endParaRPr lang="en-IN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rebuchet MS" panose="020B0603020202020204" pitchFamily="34" charset="0"/>
            <a:ea typeface="+mn-ea"/>
            <a:cs typeface="+mn-cs"/>
          </a:endParaRPr>
        </a:p>
      </dgm:t>
    </dgm:pt>
    <dgm:pt modelId="{84B1D299-E7D1-4623-9B7E-432188925442}" type="parTrans" cxnId="{CCD665A5-3720-437A-AC81-674615D33DA0}">
      <dgm:prSet/>
      <dgm:spPr>
        <a:xfrm>
          <a:off x="4253040" y="1109702"/>
          <a:ext cx="2132111" cy="507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741"/>
              </a:lnTo>
              <a:lnTo>
                <a:pt x="2132111" y="345741"/>
              </a:lnTo>
              <a:lnTo>
                <a:pt x="2132111" y="507345"/>
              </a:lnTo>
            </a:path>
          </a:pathLst>
        </a:custGeom>
        <a:noFill/>
        <a:ln w="10795" cap="flat" cmpd="sng" algn="ctr">
          <a:solidFill>
            <a:srgbClr val="40BAD2">
              <a:shade val="6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IN"/>
        </a:p>
      </dgm:t>
    </dgm:pt>
    <dgm:pt modelId="{D3FFBC6F-D580-4325-ABCB-FD0CE62587B2}" type="sibTrans" cxnId="{CCD665A5-3720-437A-AC81-674615D33DA0}">
      <dgm:prSet/>
      <dgm:spPr/>
      <dgm:t>
        <a:bodyPr/>
        <a:lstStyle/>
        <a:p>
          <a:endParaRPr lang="en-IN"/>
        </a:p>
      </dgm:t>
    </dgm:pt>
    <dgm:pt modelId="{EB4C889D-80C5-4804-84BF-AE4DF5399AFB}" type="pres">
      <dgm:prSet presAssocID="{1A363449-B7A3-4F7F-B695-455D73CB51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ACF6ECA-2981-4319-A9CE-1D4DD083EAD6}" type="pres">
      <dgm:prSet presAssocID="{563BD807-DAC9-4F7C-A2CC-B88077408D65}" presName="hierRoot1" presStyleCnt="0"/>
      <dgm:spPr/>
    </dgm:pt>
    <dgm:pt modelId="{030C0776-0C71-4E1C-B683-38F91D2CD597}" type="pres">
      <dgm:prSet presAssocID="{563BD807-DAC9-4F7C-A2CC-B88077408D65}" presName="composite" presStyleCnt="0"/>
      <dgm:spPr/>
    </dgm:pt>
    <dgm:pt modelId="{24D0CEDD-6451-465B-B323-6AD6C41515B2}" type="pres">
      <dgm:prSet presAssocID="{563BD807-DAC9-4F7C-A2CC-B88077408D65}" presName="background" presStyleLbl="node0" presStyleIdx="0" presStyleCnt="1"/>
      <dgm:spPr>
        <a:xfrm>
          <a:off x="3380813" y="1974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92E7B1FC-1388-4987-B75C-B78B97034FF7}" type="pres">
      <dgm:prSet presAssocID="{563BD807-DAC9-4F7C-A2CC-B88077408D65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B0A8483-A572-462C-90EB-2F7F4EA7E7FC}" type="pres">
      <dgm:prSet presAssocID="{563BD807-DAC9-4F7C-A2CC-B88077408D65}" presName="hierChild2" presStyleCnt="0"/>
      <dgm:spPr/>
    </dgm:pt>
    <dgm:pt modelId="{8271FCFF-B7E6-49F9-8947-2C5C43AEE123}" type="pres">
      <dgm:prSet presAssocID="{0825220F-41E1-40EE-92D5-855DA9853D69}" presName="Name10" presStyleLbl="parChTrans1D2" presStyleIdx="0" presStyleCnt="3"/>
      <dgm:spPr/>
      <dgm:t>
        <a:bodyPr/>
        <a:lstStyle/>
        <a:p>
          <a:endParaRPr lang="en-US"/>
        </a:p>
      </dgm:t>
    </dgm:pt>
    <dgm:pt modelId="{D6520FC1-3E06-44A5-83EC-3F06A03E68C5}" type="pres">
      <dgm:prSet presAssocID="{A7D6D638-FB9F-423C-B424-967CDD29097E}" presName="hierRoot2" presStyleCnt="0"/>
      <dgm:spPr/>
    </dgm:pt>
    <dgm:pt modelId="{AA9726E1-BE37-4AF0-9CAB-D3990D115B12}" type="pres">
      <dgm:prSet presAssocID="{A7D6D638-FB9F-423C-B424-967CDD29097E}" presName="composite2" presStyleCnt="0"/>
      <dgm:spPr/>
    </dgm:pt>
    <dgm:pt modelId="{AA3EACA2-BE17-4F40-8976-CD43840177DC}" type="pres">
      <dgm:prSet presAssocID="{A7D6D638-FB9F-423C-B424-967CDD29097E}" presName="background2" presStyleLbl="node2" presStyleIdx="0" presStyleCnt="3"/>
      <dgm:spPr>
        <a:xfrm>
          <a:off x="1248701" y="1617048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94474FE6-BAEF-403B-A581-56B2BC93E108}" type="pres">
      <dgm:prSet presAssocID="{A7D6D638-FB9F-423C-B424-967CDD29097E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0B26A58-F7B0-4C4F-80A1-9D5A6109CD04}" type="pres">
      <dgm:prSet presAssocID="{A7D6D638-FB9F-423C-B424-967CDD29097E}" presName="hierChild3" presStyleCnt="0"/>
      <dgm:spPr/>
    </dgm:pt>
    <dgm:pt modelId="{00368D00-99B5-4503-9F60-FB206076A971}" type="pres">
      <dgm:prSet presAssocID="{584C1F39-8D8D-4082-898F-018A6986CC6E}" presName="Name17" presStyleLbl="parChTrans1D3" presStyleIdx="0" presStyleCnt="2"/>
      <dgm:spPr/>
      <dgm:t>
        <a:bodyPr/>
        <a:lstStyle/>
        <a:p>
          <a:endParaRPr lang="en-US"/>
        </a:p>
      </dgm:t>
    </dgm:pt>
    <dgm:pt modelId="{9FBCA0A3-BE32-41AD-865C-11A560AB0342}" type="pres">
      <dgm:prSet presAssocID="{6E7E8B23-8770-482D-B934-D36CC7DA144E}" presName="hierRoot3" presStyleCnt="0"/>
      <dgm:spPr/>
    </dgm:pt>
    <dgm:pt modelId="{40252813-ED96-4800-9E08-E8FE9DAA4F74}" type="pres">
      <dgm:prSet presAssocID="{6E7E8B23-8770-482D-B934-D36CC7DA144E}" presName="composite3" presStyleCnt="0"/>
      <dgm:spPr/>
    </dgm:pt>
    <dgm:pt modelId="{31ED9F6E-DE41-4CAA-8971-5CFBF7FD38EB}" type="pres">
      <dgm:prSet presAssocID="{6E7E8B23-8770-482D-B934-D36CC7DA144E}" presName="background3" presStyleLbl="node3" presStyleIdx="0" presStyleCnt="2"/>
      <dgm:spPr>
        <a:xfrm>
          <a:off x="182645" y="3232123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83CD5C46-5293-49E5-A524-CE80DD7230C7}" type="pres">
      <dgm:prSet presAssocID="{6E7E8B23-8770-482D-B934-D36CC7DA144E}" presName="text3" presStyleLbl="fgAcc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D931014-F4DD-4BC4-8C9F-DBB267C85DEE}" type="pres">
      <dgm:prSet presAssocID="{6E7E8B23-8770-482D-B934-D36CC7DA144E}" presName="hierChild4" presStyleCnt="0"/>
      <dgm:spPr/>
    </dgm:pt>
    <dgm:pt modelId="{BF32105E-FFEB-45F2-A026-A33AD7EB5CE5}" type="pres">
      <dgm:prSet presAssocID="{33AAD10F-09E9-451E-8396-F85ED84FEDAE}" presName="Name17" presStyleLbl="parChTrans1D3" presStyleIdx="1" presStyleCnt="2"/>
      <dgm:spPr/>
      <dgm:t>
        <a:bodyPr/>
        <a:lstStyle/>
        <a:p>
          <a:endParaRPr lang="en-US"/>
        </a:p>
      </dgm:t>
    </dgm:pt>
    <dgm:pt modelId="{B0CEC118-B6AB-4CA6-8F73-BC2F95CDCD58}" type="pres">
      <dgm:prSet presAssocID="{E4CA86B2-1E9D-4659-BB77-FB67AB58559B}" presName="hierRoot3" presStyleCnt="0"/>
      <dgm:spPr/>
    </dgm:pt>
    <dgm:pt modelId="{74ECB68D-BF3A-469B-832A-D7B1EF51FE54}" type="pres">
      <dgm:prSet presAssocID="{E4CA86B2-1E9D-4659-BB77-FB67AB58559B}" presName="composite3" presStyleCnt="0"/>
      <dgm:spPr/>
    </dgm:pt>
    <dgm:pt modelId="{B270DDC9-41BB-434E-9154-30B064433373}" type="pres">
      <dgm:prSet presAssocID="{E4CA86B2-1E9D-4659-BB77-FB67AB58559B}" presName="background3" presStyleLbl="node3" presStyleIdx="1" presStyleCnt="2"/>
      <dgm:spPr>
        <a:xfrm>
          <a:off x="2314757" y="3232123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endParaRPr lang="en-US"/>
        </a:p>
      </dgm:t>
    </dgm:pt>
    <dgm:pt modelId="{0675EFED-F689-4CA3-A6A4-E7C67D048AE7}" type="pres">
      <dgm:prSet presAssocID="{E4CA86B2-1E9D-4659-BB77-FB67AB58559B}" presName="text3" presStyleLbl="fgAcc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39A67BA-1D1A-495E-B7CD-85FC98B3DFBB}" type="pres">
      <dgm:prSet presAssocID="{E4CA86B2-1E9D-4659-BB77-FB67AB58559B}" presName="hierChild4" presStyleCnt="0"/>
      <dgm:spPr/>
    </dgm:pt>
    <dgm:pt modelId="{E9E3A6DD-37E7-4C27-9E6B-0EB44E67EEED}" type="pres">
      <dgm:prSet presAssocID="{8A611D13-5AF7-4D50-BA93-203BBA6B8528}" presName="Name10" presStyleLbl="parChTrans1D2" presStyleIdx="1" presStyleCnt="3"/>
      <dgm:spPr/>
      <dgm:t>
        <a:bodyPr/>
        <a:lstStyle/>
        <a:p>
          <a:endParaRPr lang="en-US"/>
        </a:p>
      </dgm:t>
    </dgm:pt>
    <dgm:pt modelId="{545FDDFB-43A6-42A2-9890-613FDD02CBEC}" type="pres">
      <dgm:prSet presAssocID="{897156A2-A537-47C0-B05A-4FF65664DC0A}" presName="hierRoot2" presStyleCnt="0"/>
      <dgm:spPr/>
    </dgm:pt>
    <dgm:pt modelId="{F3DD9B66-A960-44AC-AC5C-A0C58CEAFBF3}" type="pres">
      <dgm:prSet presAssocID="{897156A2-A537-47C0-B05A-4FF65664DC0A}" presName="composite2" presStyleCnt="0"/>
      <dgm:spPr/>
    </dgm:pt>
    <dgm:pt modelId="{887D1759-F859-4220-8FCE-354D1C975217}" type="pres">
      <dgm:prSet presAssocID="{897156A2-A537-47C0-B05A-4FF65664DC0A}" presName="background2" presStyleLbl="node2" presStyleIdx="1" presStyleCnt="3"/>
      <dgm:spPr>
        <a:xfrm>
          <a:off x="3380813" y="1617048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E71D4B77-15EC-4470-8F65-BEA96B803535}" type="pres">
      <dgm:prSet presAssocID="{897156A2-A537-47C0-B05A-4FF65664DC0A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3463DF8-2D8E-4DD3-A5CD-0706353A2C6E}" type="pres">
      <dgm:prSet presAssocID="{897156A2-A537-47C0-B05A-4FF65664DC0A}" presName="hierChild3" presStyleCnt="0"/>
      <dgm:spPr/>
    </dgm:pt>
    <dgm:pt modelId="{AB0D5CE0-5415-44E8-9A0A-D8527404D5DD}" type="pres">
      <dgm:prSet presAssocID="{84B1D299-E7D1-4623-9B7E-432188925442}" presName="Name10" presStyleLbl="parChTrans1D2" presStyleIdx="2" presStyleCnt="3"/>
      <dgm:spPr/>
      <dgm:t>
        <a:bodyPr/>
        <a:lstStyle/>
        <a:p>
          <a:endParaRPr lang="en-US"/>
        </a:p>
      </dgm:t>
    </dgm:pt>
    <dgm:pt modelId="{29B3BF43-E177-4CCB-92BD-1DFDEF3E4C35}" type="pres">
      <dgm:prSet presAssocID="{D4313CAF-6BF7-41B3-AB84-73AE83F3193F}" presName="hierRoot2" presStyleCnt="0"/>
      <dgm:spPr/>
    </dgm:pt>
    <dgm:pt modelId="{08C29427-1883-42DD-8E05-240F921609AC}" type="pres">
      <dgm:prSet presAssocID="{D4313CAF-6BF7-41B3-AB84-73AE83F3193F}" presName="composite2" presStyleCnt="0"/>
      <dgm:spPr/>
    </dgm:pt>
    <dgm:pt modelId="{ADF15E3F-8D93-467C-8B0D-081326BEA203}" type="pres">
      <dgm:prSet presAssocID="{D4313CAF-6BF7-41B3-AB84-73AE83F3193F}" presName="background2" presStyleLbl="node2" presStyleIdx="2" presStyleCnt="3"/>
      <dgm:spPr>
        <a:xfrm>
          <a:off x="5512924" y="1617048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</dgm:pt>
    <dgm:pt modelId="{FAB28FAC-D7B9-4867-A50F-F82D31084DAA}" type="pres">
      <dgm:prSet presAssocID="{D4313CAF-6BF7-41B3-AB84-73AE83F3193F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51CAF22-5247-41C5-ADCD-3EA73D9B6381}" type="pres">
      <dgm:prSet presAssocID="{D4313CAF-6BF7-41B3-AB84-73AE83F3193F}" presName="hierChild3" presStyleCnt="0"/>
      <dgm:spPr/>
    </dgm:pt>
  </dgm:ptLst>
  <dgm:cxnLst>
    <dgm:cxn modelId="{5E6FC0A0-2D9B-479A-86B8-2954AEB07293}" srcId="{A7D6D638-FB9F-423C-B424-967CDD29097E}" destId="{6E7E8B23-8770-482D-B934-D36CC7DA144E}" srcOrd="0" destOrd="0" parTransId="{584C1F39-8D8D-4082-898F-018A6986CC6E}" sibTransId="{00716B90-B991-4120-ACB0-D8877DFB36B0}"/>
    <dgm:cxn modelId="{CCD665A5-3720-437A-AC81-674615D33DA0}" srcId="{563BD807-DAC9-4F7C-A2CC-B88077408D65}" destId="{D4313CAF-6BF7-41B3-AB84-73AE83F3193F}" srcOrd="2" destOrd="0" parTransId="{84B1D299-E7D1-4623-9B7E-432188925442}" sibTransId="{D3FFBC6F-D580-4325-ABCB-FD0CE62587B2}"/>
    <dgm:cxn modelId="{4A895E06-81F3-4C6A-8FE6-490D8A578388}" type="presOf" srcId="{A7D6D638-FB9F-423C-B424-967CDD29097E}" destId="{94474FE6-BAEF-403B-A581-56B2BC93E108}" srcOrd="0" destOrd="0" presId="urn:microsoft.com/office/officeart/2005/8/layout/hierarchy1"/>
    <dgm:cxn modelId="{DAE51156-8B52-43E1-8AAA-A51A8473F454}" srcId="{563BD807-DAC9-4F7C-A2CC-B88077408D65}" destId="{A7D6D638-FB9F-423C-B424-967CDD29097E}" srcOrd="0" destOrd="0" parTransId="{0825220F-41E1-40EE-92D5-855DA9853D69}" sibTransId="{5101ACE4-FC89-4E34-A540-3E6BF264D8FC}"/>
    <dgm:cxn modelId="{5CA198AC-0FE4-4303-91E7-DC366D080C60}" type="presOf" srcId="{897156A2-A537-47C0-B05A-4FF65664DC0A}" destId="{E71D4B77-15EC-4470-8F65-BEA96B803535}" srcOrd="0" destOrd="0" presId="urn:microsoft.com/office/officeart/2005/8/layout/hierarchy1"/>
    <dgm:cxn modelId="{5D13C98D-2B5A-4CDB-BCB5-925080822C5C}" type="presOf" srcId="{0825220F-41E1-40EE-92D5-855DA9853D69}" destId="{8271FCFF-B7E6-49F9-8947-2C5C43AEE123}" srcOrd="0" destOrd="0" presId="urn:microsoft.com/office/officeart/2005/8/layout/hierarchy1"/>
    <dgm:cxn modelId="{B9C1CDDE-528C-4540-8FFD-1DC4A175888F}" srcId="{A7D6D638-FB9F-423C-B424-967CDD29097E}" destId="{E4CA86B2-1E9D-4659-BB77-FB67AB58559B}" srcOrd="1" destOrd="0" parTransId="{33AAD10F-09E9-451E-8396-F85ED84FEDAE}" sibTransId="{5309A532-0A96-440E-9110-EFB037560A11}"/>
    <dgm:cxn modelId="{81CA4A86-E0AC-4436-B534-ECD8C86E6F8D}" type="presOf" srcId="{D4313CAF-6BF7-41B3-AB84-73AE83F3193F}" destId="{FAB28FAC-D7B9-4867-A50F-F82D31084DAA}" srcOrd="0" destOrd="0" presId="urn:microsoft.com/office/officeart/2005/8/layout/hierarchy1"/>
    <dgm:cxn modelId="{6F213763-8807-4D26-9282-AB68E4328D33}" type="presOf" srcId="{84B1D299-E7D1-4623-9B7E-432188925442}" destId="{AB0D5CE0-5415-44E8-9A0A-D8527404D5DD}" srcOrd="0" destOrd="0" presId="urn:microsoft.com/office/officeart/2005/8/layout/hierarchy1"/>
    <dgm:cxn modelId="{A47D63FD-15F5-4564-BAD0-E8C61E285928}" srcId="{563BD807-DAC9-4F7C-A2CC-B88077408D65}" destId="{897156A2-A537-47C0-B05A-4FF65664DC0A}" srcOrd="1" destOrd="0" parTransId="{8A611D13-5AF7-4D50-BA93-203BBA6B8528}" sibTransId="{A8726441-99EE-49E4-A06C-21DB3D3433F8}"/>
    <dgm:cxn modelId="{18CE6E85-270A-4BEB-AB63-8CB19338A708}" type="presOf" srcId="{1A363449-B7A3-4F7F-B695-455D73CB512F}" destId="{EB4C889D-80C5-4804-84BF-AE4DF5399AFB}" srcOrd="0" destOrd="0" presId="urn:microsoft.com/office/officeart/2005/8/layout/hierarchy1"/>
    <dgm:cxn modelId="{477B5E31-BBC3-4E7E-B9BD-E9E19C37965E}" type="presOf" srcId="{8A611D13-5AF7-4D50-BA93-203BBA6B8528}" destId="{E9E3A6DD-37E7-4C27-9E6B-0EB44E67EEED}" srcOrd="0" destOrd="0" presId="urn:microsoft.com/office/officeart/2005/8/layout/hierarchy1"/>
    <dgm:cxn modelId="{85D4B6D7-9FEE-41CD-BC92-2CF779DB1B98}" type="presOf" srcId="{33AAD10F-09E9-451E-8396-F85ED84FEDAE}" destId="{BF32105E-FFEB-45F2-A026-A33AD7EB5CE5}" srcOrd="0" destOrd="0" presId="urn:microsoft.com/office/officeart/2005/8/layout/hierarchy1"/>
    <dgm:cxn modelId="{1341DF72-9724-4852-AB54-F37E77A974E5}" type="presOf" srcId="{563BD807-DAC9-4F7C-A2CC-B88077408D65}" destId="{92E7B1FC-1388-4987-B75C-B78B97034FF7}" srcOrd="0" destOrd="0" presId="urn:microsoft.com/office/officeart/2005/8/layout/hierarchy1"/>
    <dgm:cxn modelId="{EFB0B6D8-BF28-4AD5-96A4-E481E3F72371}" type="presOf" srcId="{584C1F39-8D8D-4082-898F-018A6986CC6E}" destId="{00368D00-99B5-4503-9F60-FB206076A971}" srcOrd="0" destOrd="0" presId="urn:microsoft.com/office/officeart/2005/8/layout/hierarchy1"/>
    <dgm:cxn modelId="{AB8EA061-465F-4991-B618-CAF8B6890CAA}" srcId="{1A363449-B7A3-4F7F-B695-455D73CB512F}" destId="{563BD807-DAC9-4F7C-A2CC-B88077408D65}" srcOrd="0" destOrd="0" parTransId="{E1C60F02-859A-4EA4-816C-66F5FF9D8E36}" sibTransId="{6FCBBF9E-3C65-4C06-8454-C0EEE76E3C99}"/>
    <dgm:cxn modelId="{46B20864-81F3-4634-B17F-A74C86E8AD36}" type="presOf" srcId="{6E7E8B23-8770-482D-B934-D36CC7DA144E}" destId="{83CD5C46-5293-49E5-A524-CE80DD7230C7}" srcOrd="0" destOrd="0" presId="urn:microsoft.com/office/officeart/2005/8/layout/hierarchy1"/>
    <dgm:cxn modelId="{7D54EEE2-B6BE-47DE-8512-51E669CEBE15}" type="presOf" srcId="{E4CA86B2-1E9D-4659-BB77-FB67AB58559B}" destId="{0675EFED-F689-4CA3-A6A4-E7C67D048AE7}" srcOrd="0" destOrd="0" presId="urn:microsoft.com/office/officeart/2005/8/layout/hierarchy1"/>
    <dgm:cxn modelId="{3E2E2941-8CE4-4585-A582-BDAD92918F69}" type="presParOf" srcId="{EB4C889D-80C5-4804-84BF-AE4DF5399AFB}" destId="{8ACF6ECA-2981-4319-A9CE-1D4DD083EAD6}" srcOrd="0" destOrd="0" presId="urn:microsoft.com/office/officeart/2005/8/layout/hierarchy1"/>
    <dgm:cxn modelId="{C306EB07-C0E6-4049-984D-7E3088972C33}" type="presParOf" srcId="{8ACF6ECA-2981-4319-A9CE-1D4DD083EAD6}" destId="{030C0776-0C71-4E1C-B683-38F91D2CD597}" srcOrd="0" destOrd="0" presId="urn:microsoft.com/office/officeart/2005/8/layout/hierarchy1"/>
    <dgm:cxn modelId="{32758CC1-0BD8-4DCC-9777-0368C4DF08AC}" type="presParOf" srcId="{030C0776-0C71-4E1C-B683-38F91D2CD597}" destId="{24D0CEDD-6451-465B-B323-6AD6C41515B2}" srcOrd="0" destOrd="0" presId="urn:microsoft.com/office/officeart/2005/8/layout/hierarchy1"/>
    <dgm:cxn modelId="{1AD95305-FB3A-417B-A102-7757601E8202}" type="presParOf" srcId="{030C0776-0C71-4E1C-B683-38F91D2CD597}" destId="{92E7B1FC-1388-4987-B75C-B78B97034FF7}" srcOrd="1" destOrd="0" presId="urn:microsoft.com/office/officeart/2005/8/layout/hierarchy1"/>
    <dgm:cxn modelId="{73AAF6A2-92AB-4175-9AC2-F733099AB53C}" type="presParOf" srcId="{8ACF6ECA-2981-4319-A9CE-1D4DD083EAD6}" destId="{4B0A8483-A572-462C-90EB-2F7F4EA7E7FC}" srcOrd="1" destOrd="0" presId="urn:microsoft.com/office/officeart/2005/8/layout/hierarchy1"/>
    <dgm:cxn modelId="{AB37A6F0-A82F-43DF-9A25-B0AE25DA76F2}" type="presParOf" srcId="{4B0A8483-A572-462C-90EB-2F7F4EA7E7FC}" destId="{8271FCFF-B7E6-49F9-8947-2C5C43AEE123}" srcOrd="0" destOrd="0" presId="urn:microsoft.com/office/officeart/2005/8/layout/hierarchy1"/>
    <dgm:cxn modelId="{3E271160-B719-4D8B-AC4E-7A5BE4320F10}" type="presParOf" srcId="{4B0A8483-A572-462C-90EB-2F7F4EA7E7FC}" destId="{D6520FC1-3E06-44A5-83EC-3F06A03E68C5}" srcOrd="1" destOrd="0" presId="urn:microsoft.com/office/officeart/2005/8/layout/hierarchy1"/>
    <dgm:cxn modelId="{B3110E4F-7346-464B-A2B3-C13875CFC665}" type="presParOf" srcId="{D6520FC1-3E06-44A5-83EC-3F06A03E68C5}" destId="{AA9726E1-BE37-4AF0-9CAB-D3990D115B12}" srcOrd="0" destOrd="0" presId="urn:microsoft.com/office/officeart/2005/8/layout/hierarchy1"/>
    <dgm:cxn modelId="{8E11064D-9F0B-44DB-AD00-2BE112D61897}" type="presParOf" srcId="{AA9726E1-BE37-4AF0-9CAB-D3990D115B12}" destId="{AA3EACA2-BE17-4F40-8976-CD43840177DC}" srcOrd="0" destOrd="0" presId="urn:microsoft.com/office/officeart/2005/8/layout/hierarchy1"/>
    <dgm:cxn modelId="{F0AC71B2-E547-4DC2-BF6C-058E48719082}" type="presParOf" srcId="{AA9726E1-BE37-4AF0-9CAB-D3990D115B12}" destId="{94474FE6-BAEF-403B-A581-56B2BC93E108}" srcOrd="1" destOrd="0" presId="urn:microsoft.com/office/officeart/2005/8/layout/hierarchy1"/>
    <dgm:cxn modelId="{57F4E340-A690-4CD9-938C-12F667CD26BE}" type="presParOf" srcId="{D6520FC1-3E06-44A5-83EC-3F06A03E68C5}" destId="{00B26A58-F7B0-4C4F-80A1-9D5A6109CD04}" srcOrd="1" destOrd="0" presId="urn:microsoft.com/office/officeart/2005/8/layout/hierarchy1"/>
    <dgm:cxn modelId="{F6B5A75E-C7FE-47C6-AEF9-6856265CBF59}" type="presParOf" srcId="{00B26A58-F7B0-4C4F-80A1-9D5A6109CD04}" destId="{00368D00-99B5-4503-9F60-FB206076A971}" srcOrd="0" destOrd="0" presId="urn:microsoft.com/office/officeart/2005/8/layout/hierarchy1"/>
    <dgm:cxn modelId="{134DCEEE-FB5C-4A8C-86B8-ECE2F8F23713}" type="presParOf" srcId="{00B26A58-F7B0-4C4F-80A1-9D5A6109CD04}" destId="{9FBCA0A3-BE32-41AD-865C-11A560AB0342}" srcOrd="1" destOrd="0" presId="urn:microsoft.com/office/officeart/2005/8/layout/hierarchy1"/>
    <dgm:cxn modelId="{AE6540E3-FE4C-41B8-9643-E51FEEDB1266}" type="presParOf" srcId="{9FBCA0A3-BE32-41AD-865C-11A560AB0342}" destId="{40252813-ED96-4800-9E08-E8FE9DAA4F74}" srcOrd="0" destOrd="0" presId="urn:microsoft.com/office/officeart/2005/8/layout/hierarchy1"/>
    <dgm:cxn modelId="{95E71671-2D6A-44B3-BF2A-B0D505BFE50C}" type="presParOf" srcId="{40252813-ED96-4800-9E08-E8FE9DAA4F74}" destId="{31ED9F6E-DE41-4CAA-8971-5CFBF7FD38EB}" srcOrd="0" destOrd="0" presId="urn:microsoft.com/office/officeart/2005/8/layout/hierarchy1"/>
    <dgm:cxn modelId="{DA67222D-87C1-42C6-AC45-CCF82EF5D071}" type="presParOf" srcId="{40252813-ED96-4800-9E08-E8FE9DAA4F74}" destId="{83CD5C46-5293-49E5-A524-CE80DD7230C7}" srcOrd="1" destOrd="0" presId="urn:microsoft.com/office/officeart/2005/8/layout/hierarchy1"/>
    <dgm:cxn modelId="{5C7D8BAC-384D-437C-91C7-F866EFF89671}" type="presParOf" srcId="{9FBCA0A3-BE32-41AD-865C-11A560AB0342}" destId="{5D931014-F4DD-4BC4-8C9F-DBB267C85DEE}" srcOrd="1" destOrd="0" presId="urn:microsoft.com/office/officeart/2005/8/layout/hierarchy1"/>
    <dgm:cxn modelId="{88F37E0F-EF42-4344-9CA7-321979ED15A4}" type="presParOf" srcId="{00B26A58-F7B0-4C4F-80A1-9D5A6109CD04}" destId="{BF32105E-FFEB-45F2-A026-A33AD7EB5CE5}" srcOrd="2" destOrd="0" presId="urn:microsoft.com/office/officeart/2005/8/layout/hierarchy1"/>
    <dgm:cxn modelId="{EA18A9E4-F439-464F-8BA7-E18A327F2DFA}" type="presParOf" srcId="{00B26A58-F7B0-4C4F-80A1-9D5A6109CD04}" destId="{B0CEC118-B6AB-4CA6-8F73-BC2F95CDCD58}" srcOrd="3" destOrd="0" presId="urn:microsoft.com/office/officeart/2005/8/layout/hierarchy1"/>
    <dgm:cxn modelId="{AFC88871-4559-4F2A-B9D4-CDF2B0946476}" type="presParOf" srcId="{B0CEC118-B6AB-4CA6-8F73-BC2F95CDCD58}" destId="{74ECB68D-BF3A-469B-832A-D7B1EF51FE54}" srcOrd="0" destOrd="0" presId="urn:microsoft.com/office/officeart/2005/8/layout/hierarchy1"/>
    <dgm:cxn modelId="{A8E3BDEE-0C29-4A0C-8799-E6570E1F034A}" type="presParOf" srcId="{74ECB68D-BF3A-469B-832A-D7B1EF51FE54}" destId="{B270DDC9-41BB-434E-9154-30B064433373}" srcOrd="0" destOrd="0" presId="urn:microsoft.com/office/officeart/2005/8/layout/hierarchy1"/>
    <dgm:cxn modelId="{7B979B4D-45C9-4AE5-882A-890A5DFCAAD4}" type="presParOf" srcId="{74ECB68D-BF3A-469B-832A-D7B1EF51FE54}" destId="{0675EFED-F689-4CA3-A6A4-E7C67D048AE7}" srcOrd="1" destOrd="0" presId="urn:microsoft.com/office/officeart/2005/8/layout/hierarchy1"/>
    <dgm:cxn modelId="{F7B78328-7347-4C9B-B319-7E7A2293E7B1}" type="presParOf" srcId="{B0CEC118-B6AB-4CA6-8F73-BC2F95CDCD58}" destId="{E39A67BA-1D1A-495E-B7CD-85FC98B3DFBB}" srcOrd="1" destOrd="0" presId="urn:microsoft.com/office/officeart/2005/8/layout/hierarchy1"/>
    <dgm:cxn modelId="{F70CFE8F-31E6-4273-B478-4E27A5E0E8C4}" type="presParOf" srcId="{4B0A8483-A572-462C-90EB-2F7F4EA7E7FC}" destId="{E9E3A6DD-37E7-4C27-9E6B-0EB44E67EEED}" srcOrd="2" destOrd="0" presId="urn:microsoft.com/office/officeart/2005/8/layout/hierarchy1"/>
    <dgm:cxn modelId="{477B1443-BA29-4EAC-93E5-7E455A4EBE18}" type="presParOf" srcId="{4B0A8483-A572-462C-90EB-2F7F4EA7E7FC}" destId="{545FDDFB-43A6-42A2-9890-613FDD02CBEC}" srcOrd="3" destOrd="0" presId="urn:microsoft.com/office/officeart/2005/8/layout/hierarchy1"/>
    <dgm:cxn modelId="{64BF9423-03FA-4733-BD53-E5FB57D1A02E}" type="presParOf" srcId="{545FDDFB-43A6-42A2-9890-613FDD02CBEC}" destId="{F3DD9B66-A960-44AC-AC5C-A0C58CEAFBF3}" srcOrd="0" destOrd="0" presId="urn:microsoft.com/office/officeart/2005/8/layout/hierarchy1"/>
    <dgm:cxn modelId="{C3F4A12A-089D-423D-974A-854B2DC3C2B6}" type="presParOf" srcId="{F3DD9B66-A960-44AC-AC5C-A0C58CEAFBF3}" destId="{887D1759-F859-4220-8FCE-354D1C975217}" srcOrd="0" destOrd="0" presId="urn:microsoft.com/office/officeart/2005/8/layout/hierarchy1"/>
    <dgm:cxn modelId="{4D920B38-7025-472A-BA6F-1578C6F2B045}" type="presParOf" srcId="{F3DD9B66-A960-44AC-AC5C-A0C58CEAFBF3}" destId="{E71D4B77-15EC-4470-8F65-BEA96B803535}" srcOrd="1" destOrd="0" presId="urn:microsoft.com/office/officeart/2005/8/layout/hierarchy1"/>
    <dgm:cxn modelId="{DBAE6B5B-DD71-455A-B1A3-885535E48E19}" type="presParOf" srcId="{545FDDFB-43A6-42A2-9890-613FDD02CBEC}" destId="{53463DF8-2D8E-4DD3-A5CD-0706353A2C6E}" srcOrd="1" destOrd="0" presId="urn:microsoft.com/office/officeart/2005/8/layout/hierarchy1"/>
    <dgm:cxn modelId="{8C69DB84-9C58-4984-8438-0215F082699C}" type="presParOf" srcId="{4B0A8483-A572-462C-90EB-2F7F4EA7E7FC}" destId="{AB0D5CE0-5415-44E8-9A0A-D8527404D5DD}" srcOrd="4" destOrd="0" presId="urn:microsoft.com/office/officeart/2005/8/layout/hierarchy1"/>
    <dgm:cxn modelId="{A14DD0E5-A903-4C01-84DA-71D6D5C6BF4C}" type="presParOf" srcId="{4B0A8483-A572-462C-90EB-2F7F4EA7E7FC}" destId="{29B3BF43-E177-4CCB-92BD-1DFDEF3E4C35}" srcOrd="5" destOrd="0" presId="urn:microsoft.com/office/officeart/2005/8/layout/hierarchy1"/>
    <dgm:cxn modelId="{59DD5E1C-4069-4141-B4A9-DCC2779BD276}" type="presParOf" srcId="{29B3BF43-E177-4CCB-92BD-1DFDEF3E4C35}" destId="{08C29427-1883-42DD-8E05-240F921609AC}" srcOrd="0" destOrd="0" presId="urn:microsoft.com/office/officeart/2005/8/layout/hierarchy1"/>
    <dgm:cxn modelId="{0477F7A0-2EA2-4AE9-8C42-88971DA2BD85}" type="presParOf" srcId="{08C29427-1883-42DD-8E05-240F921609AC}" destId="{ADF15E3F-8D93-467C-8B0D-081326BEA203}" srcOrd="0" destOrd="0" presId="urn:microsoft.com/office/officeart/2005/8/layout/hierarchy1"/>
    <dgm:cxn modelId="{F9F132F0-2B57-4E32-8AA3-5CAE0AD9F6B5}" type="presParOf" srcId="{08C29427-1883-42DD-8E05-240F921609AC}" destId="{FAB28FAC-D7B9-4867-A50F-F82D31084DAA}" srcOrd="1" destOrd="0" presId="urn:microsoft.com/office/officeart/2005/8/layout/hierarchy1"/>
    <dgm:cxn modelId="{39CE0870-6167-4E41-B29A-BA6CA5EC3439}" type="presParOf" srcId="{29B3BF43-E177-4CCB-92BD-1DFDEF3E4C35}" destId="{951CAF22-5247-41C5-ADCD-3EA73D9B638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0D5CE0-5415-44E8-9A0A-D8527404D5DD}">
      <dsp:nvSpPr>
        <dsp:cNvPr id="0" name=""/>
        <dsp:cNvSpPr/>
      </dsp:nvSpPr>
      <dsp:spPr>
        <a:xfrm>
          <a:off x="4253040" y="1109702"/>
          <a:ext cx="2132111" cy="507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741"/>
              </a:lnTo>
              <a:lnTo>
                <a:pt x="2132111" y="345741"/>
              </a:lnTo>
              <a:lnTo>
                <a:pt x="2132111" y="507345"/>
              </a:lnTo>
            </a:path>
          </a:pathLst>
        </a:custGeom>
        <a:noFill/>
        <a:ln w="10795" cap="flat" cmpd="sng" algn="ctr">
          <a:solidFill>
            <a:srgbClr val="40BAD2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E3A6DD-37E7-4C27-9E6B-0EB44E67EEED}">
      <dsp:nvSpPr>
        <dsp:cNvPr id="0" name=""/>
        <dsp:cNvSpPr/>
      </dsp:nvSpPr>
      <dsp:spPr>
        <a:xfrm>
          <a:off x="4207320" y="1109702"/>
          <a:ext cx="91440" cy="5073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7345"/>
              </a:lnTo>
            </a:path>
          </a:pathLst>
        </a:custGeom>
        <a:noFill/>
        <a:ln w="10795" cap="flat" cmpd="sng" algn="ctr">
          <a:solidFill>
            <a:srgbClr val="40BAD2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32105E-FFEB-45F2-A026-A33AD7EB5CE5}">
      <dsp:nvSpPr>
        <dsp:cNvPr id="0" name=""/>
        <dsp:cNvSpPr/>
      </dsp:nvSpPr>
      <dsp:spPr>
        <a:xfrm>
          <a:off x="2120929" y="2724777"/>
          <a:ext cx="1066055" cy="507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741"/>
              </a:lnTo>
              <a:lnTo>
                <a:pt x="1066055" y="345741"/>
              </a:lnTo>
              <a:lnTo>
                <a:pt x="1066055" y="507345"/>
              </a:lnTo>
            </a:path>
          </a:pathLst>
        </a:custGeom>
        <a:noFill/>
        <a:ln w="10795" cap="flat" cmpd="sng" algn="ctr">
          <a:solidFill>
            <a:srgbClr val="40BAD2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368D00-99B5-4503-9F60-FB206076A971}">
      <dsp:nvSpPr>
        <dsp:cNvPr id="0" name=""/>
        <dsp:cNvSpPr/>
      </dsp:nvSpPr>
      <dsp:spPr>
        <a:xfrm>
          <a:off x="1054873" y="2724777"/>
          <a:ext cx="1066055" cy="507345"/>
        </a:xfrm>
        <a:custGeom>
          <a:avLst/>
          <a:gdLst/>
          <a:ahLst/>
          <a:cxnLst/>
          <a:rect l="0" t="0" r="0" b="0"/>
          <a:pathLst>
            <a:path>
              <a:moveTo>
                <a:pt x="1066055" y="0"/>
              </a:moveTo>
              <a:lnTo>
                <a:pt x="1066055" y="345741"/>
              </a:lnTo>
              <a:lnTo>
                <a:pt x="0" y="345741"/>
              </a:lnTo>
              <a:lnTo>
                <a:pt x="0" y="507345"/>
              </a:lnTo>
            </a:path>
          </a:pathLst>
        </a:custGeom>
        <a:noFill/>
        <a:ln w="10795" cap="flat" cmpd="sng" algn="ctr">
          <a:solidFill>
            <a:srgbClr val="40BAD2">
              <a:shade val="80000"/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71FCFF-B7E6-49F9-8947-2C5C43AEE123}">
      <dsp:nvSpPr>
        <dsp:cNvPr id="0" name=""/>
        <dsp:cNvSpPr/>
      </dsp:nvSpPr>
      <dsp:spPr>
        <a:xfrm>
          <a:off x="2120929" y="1109702"/>
          <a:ext cx="2132111" cy="507345"/>
        </a:xfrm>
        <a:custGeom>
          <a:avLst/>
          <a:gdLst/>
          <a:ahLst/>
          <a:cxnLst/>
          <a:rect l="0" t="0" r="0" b="0"/>
          <a:pathLst>
            <a:path>
              <a:moveTo>
                <a:pt x="2132111" y="0"/>
              </a:moveTo>
              <a:lnTo>
                <a:pt x="2132111" y="345741"/>
              </a:lnTo>
              <a:lnTo>
                <a:pt x="0" y="345741"/>
              </a:lnTo>
              <a:lnTo>
                <a:pt x="0" y="507345"/>
              </a:lnTo>
            </a:path>
          </a:pathLst>
        </a:custGeom>
        <a:noFill/>
        <a:ln w="10795" cap="flat" cmpd="sng" algn="ctr">
          <a:solidFill>
            <a:srgbClr val="40BAD2">
              <a:shade val="60000"/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D0CEDD-6451-465B-B323-6AD6C41515B2}">
      <dsp:nvSpPr>
        <dsp:cNvPr id="0" name=""/>
        <dsp:cNvSpPr/>
      </dsp:nvSpPr>
      <dsp:spPr>
        <a:xfrm>
          <a:off x="3380813" y="1974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7B1FC-1388-4987-B75C-B78B97034FF7}">
      <dsp:nvSpPr>
        <dsp:cNvPr id="0" name=""/>
        <dsp:cNvSpPr/>
      </dsp:nvSpPr>
      <dsp:spPr>
        <a:xfrm>
          <a:off x="3574641" y="186111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Recurrence equation</a:t>
          </a:r>
          <a:endParaRPr lang="en-IN" sz="21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rebuchet MS" panose="020B0603020202020204" pitchFamily="34" charset="0"/>
            <a:ea typeface="+mn-ea"/>
            <a:cs typeface="+mn-cs"/>
          </a:endParaRPr>
        </a:p>
      </dsp:txBody>
      <dsp:txXfrm>
        <a:off x="3607085" y="218555"/>
        <a:ext cx="1679566" cy="1042840"/>
      </dsp:txXfrm>
    </dsp:sp>
    <dsp:sp modelId="{AA3EACA2-BE17-4F40-8976-CD43840177DC}">
      <dsp:nvSpPr>
        <dsp:cNvPr id="0" name=""/>
        <dsp:cNvSpPr/>
      </dsp:nvSpPr>
      <dsp:spPr>
        <a:xfrm>
          <a:off x="1248701" y="1617048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74FE6-BAEF-403B-A581-56B2BC93E108}">
      <dsp:nvSpPr>
        <dsp:cNvPr id="0" name=""/>
        <dsp:cNvSpPr/>
      </dsp:nvSpPr>
      <dsp:spPr>
        <a:xfrm>
          <a:off x="1442530" y="1801185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Substitution method	</a:t>
          </a:r>
          <a:endParaRPr lang="en-IN" sz="21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rebuchet MS" panose="020B0603020202020204" pitchFamily="34" charset="0"/>
            <a:ea typeface="+mn-ea"/>
            <a:cs typeface="+mn-cs"/>
          </a:endParaRPr>
        </a:p>
      </dsp:txBody>
      <dsp:txXfrm>
        <a:off x="1474974" y="1833629"/>
        <a:ext cx="1679566" cy="1042840"/>
      </dsp:txXfrm>
    </dsp:sp>
    <dsp:sp modelId="{31ED9F6E-DE41-4CAA-8971-5CFBF7FD38EB}">
      <dsp:nvSpPr>
        <dsp:cNvPr id="0" name=""/>
        <dsp:cNvSpPr/>
      </dsp:nvSpPr>
      <dsp:spPr>
        <a:xfrm>
          <a:off x="182645" y="3232123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D5C46-5293-49E5-A524-CE80DD7230C7}">
      <dsp:nvSpPr>
        <dsp:cNvPr id="0" name=""/>
        <dsp:cNvSpPr/>
      </dsp:nvSpPr>
      <dsp:spPr>
        <a:xfrm>
          <a:off x="376474" y="3416260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Forward substitution</a:t>
          </a:r>
          <a:r>
            <a:rPr lang="en-US" sz="2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orbel"/>
              <a:ea typeface="+mn-ea"/>
              <a:cs typeface="+mn-cs"/>
            </a:rPr>
            <a:t>	</a:t>
          </a:r>
          <a:endParaRPr lang="en-IN" sz="21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Corbel"/>
            <a:ea typeface="+mn-ea"/>
            <a:cs typeface="+mn-cs"/>
          </a:endParaRPr>
        </a:p>
      </dsp:txBody>
      <dsp:txXfrm>
        <a:off x="408918" y="3448704"/>
        <a:ext cx="1679566" cy="1042840"/>
      </dsp:txXfrm>
    </dsp:sp>
    <dsp:sp modelId="{B270DDC9-41BB-434E-9154-30B064433373}">
      <dsp:nvSpPr>
        <dsp:cNvPr id="0" name=""/>
        <dsp:cNvSpPr/>
      </dsp:nvSpPr>
      <dsp:spPr>
        <a:xfrm>
          <a:off x="2314757" y="3232123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75EFED-F689-4CA3-A6A4-E7C67D048AE7}">
      <dsp:nvSpPr>
        <dsp:cNvPr id="0" name=""/>
        <dsp:cNvSpPr/>
      </dsp:nvSpPr>
      <dsp:spPr>
        <a:xfrm>
          <a:off x="2508585" y="3416260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Backward substitution</a:t>
          </a:r>
          <a:endParaRPr lang="en-IN" sz="21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rebuchet MS" panose="020B0603020202020204" pitchFamily="34" charset="0"/>
            <a:ea typeface="+mn-ea"/>
            <a:cs typeface="+mn-cs"/>
          </a:endParaRPr>
        </a:p>
      </dsp:txBody>
      <dsp:txXfrm>
        <a:off x="2541029" y="3448704"/>
        <a:ext cx="1679566" cy="1042840"/>
      </dsp:txXfrm>
    </dsp:sp>
    <dsp:sp modelId="{887D1759-F859-4220-8FCE-354D1C975217}">
      <dsp:nvSpPr>
        <dsp:cNvPr id="0" name=""/>
        <dsp:cNvSpPr/>
      </dsp:nvSpPr>
      <dsp:spPr>
        <a:xfrm>
          <a:off x="3380813" y="1617048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D4B77-15EC-4470-8F65-BEA96B803535}">
      <dsp:nvSpPr>
        <dsp:cNvPr id="0" name=""/>
        <dsp:cNvSpPr/>
      </dsp:nvSpPr>
      <dsp:spPr>
        <a:xfrm>
          <a:off x="3574641" y="1801185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Master’s method</a:t>
          </a:r>
          <a:endParaRPr lang="en-IN" sz="21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rebuchet MS" panose="020B0603020202020204" pitchFamily="34" charset="0"/>
            <a:ea typeface="+mn-ea"/>
            <a:cs typeface="+mn-cs"/>
          </a:endParaRPr>
        </a:p>
      </dsp:txBody>
      <dsp:txXfrm>
        <a:off x="3607085" y="1833629"/>
        <a:ext cx="1679566" cy="1042840"/>
      </dsp:txXfrm>
    </dsp:sp>
    <dsp:sp modelId="{ADF15E3F-8D93-467C-8B0D-081326BEA203}">
      <dsp:nvSpPr>
        <dsp:cNvPr id="0" name=""/>
        <dsp:cNvSpPr/>
      </dsp:nvSpPr>
      <dsp:spPr>
        <a:xfrm>
          <a:off x="5512924" y="1617048"/>
          <a:ext cx="1744454" cy="1107728"/>
        </a:xfrm>
        <a:prstGeom prst="roundRect">
          <a:avLst>
            <a:gd name="adj" fmla="val 10000"/>
          </a:avLst>
        </a:prstGeom>
        <a:solidFill>
          <a:srgbClr val="40BAD2"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28FAC-D7B9-4867-A50F-F82D31084DAA}">
      <dsp:nvSpPr>
        <dsp:cNvPr id="0" name=""/>
        <dsp:cNvSpPr/>
      </dsp:nvSpPr>
      <dsp:spPr>
        <a:xfrm>
          <a:off x="5706753" y="1801185"/>
          <a:ext cx="1744454" cy="1107728"/>
        </a:xfrm>
        <a:prstGeom prst="roundRect">
          <a:avLst>
            <a:gd name="adj" fmla="val 10000"/>
          </a:avLst>
        </a:prstGeom>
        <a:solidFill>
          <a:srgbClr val="FFFFFF">
            <a:alpha val="90000"/>
            <a:hueOff val="0"/>
            <a:satOff val="0"/>
            <a:lumOff val="0"/>
            <a:alphaOff val="0"/>
          </a:srgbClr>
        </a:solidFill>
        <a:ln w="10795" cap="flat" cmpd="sng" algn="ctr">
          <a:solidFill>
            <a:srgbClr val="40BAD2">
              <a:hueOff val="0"/>
              <a:satOff val="0"/>
              <a:lumOff val="0"/>
              <a:alphaOff val="0"/>
            </a:srgb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Trebuchet MS" panose="020B0603020202020204" pitchFamily="34" charset="0"/>
              <a:ea typeface="+mn-ea"/>
              <a:cs typeface="+mn-cs"/>
            </a:rPr>
            <a:t>Recurrence tree method</a:t>
          </a:r>
          <a:endParaRPr lang="en-IN" sz="21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Trebuchet MS" panose="020B0603020202020204" pitchFamily="34" charset="0"/>
            <a:ea typeface="+mn-ea"/>
            <a:cs typeface="+mn-cs"/>
          </a:endParaRPr>
        </a:p>
      </dsp:txBody>
      <dsp:txXfrm>
        <a:off x="5739197" y="1833629"/>
        <a:ext cx="1679566" cy="1042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b6c834fc22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b6c834fc22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9103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3988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1867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15680" y="1151520"/>
            <a:ext cx="11360160" cy="455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267" b="0" strike="noStrike" spc="-1" smtClean="0">
                <a:latin typeface="Arial"/>
              </a:rPr>
              <a:t>Click to edit Master subtitle style</a:t>
            </a:r>
            <a:endParaRPr lang="en-US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818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403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18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11360160" cy="4554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3862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18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5543520" cy="4554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7120" y="1151520"/>
            <a:ext cx="5543520" cy="4554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7241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1867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9936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15680" y="98400"/>
            <a:ext cx="11360160" cy="3539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267" b="0" strike="noStrike" spc="-1" smtClean="0">
                <a:latin typeface="Arial"/>
              </a:rPr>
              <a:t>Click to edit Master subtitle style</a:t>
            </a:r>
            <a:endParaRPr lang="en-US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1989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18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7120" y="1151520"/>
            <a:ext cx="5543520" cy="4554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15680" y="353088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2824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18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5543520" cy="4554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712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7120" y="353088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421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18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712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15680" y="3530880"/>
            <a:ext cx="1136016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895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18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1136016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15680" y="3530880"/>
            <a:ext cx="1136016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4299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18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7120" y="115152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15680" y="353088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7120" y="3530880"/>
            <a:ext cx="554352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5938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Click to edit Master title style</a:t>
            </a:r>
            <a:endParaRPr lang="en-US" sz="1867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15680" y="115152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256640" y="115152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97600" y="115152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15680" y="353088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256640" y="353088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97600" y="3530880"/>
            <a:ext cx="3657600" cy="2172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1867" b="0" strike="noStrike" spc="-1" smtClean="0">
                <a:solidFill>
                  <a:srgbClr val="000000"/>
                </a:solidFill>
                <a:latin typeface="Arial"/>
              </a:rPr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916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252919" y="1123837"/>
            <a:ext cx="2947483" cy="4601184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xfrm>
            <a:off x="3869269" y="864109"/>
            <a:ext cx="7315201" cy="51206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736D7D75-EC1F-426D-9AF7-70377ADC1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08954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333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80" y="1732869"/>
            <a:ext cx="11360160" cy="273648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479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4931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59946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1675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7250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15680" y="98400"/>
            <a:ext cx="11360160" cy="76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67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15680" y="1151520"/>
            <a:ext cx="11360160" cy="455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267" b="0" strike="noStrike" spc="-1">
                <a:latin typeface="Arial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3984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;p1"/>
          <p:cNvPicPr/>
          <p:nvPr userDrawn="1"/>
        </p:nvPicPr>
        <p:blipFill>
          <a:blip r:embed="rId18"/>
          <a:stretch/>
        </p:blipFill>
        <p:spPr>
          <a:xfrm>
            <a:off x="7680" y="2880"/>
            <a:ext cx="12176160" cy="6852000"/>
          </a:xfrm>
          <a:prstGeom prst="rect">
            <a:avLst/>
          </a:prstGeom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22378" y="2880"/>
            <a:ext cx="2885691" cy="8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30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879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</p:sldLayoutIdLst>
  <p:timing>
    <p:tnLst>
      <p:par>
        <p:cTn id="1" dur="indefinite" restart="never" nodeType="tmRoot"/>
      </p:par>
    </p:tnLst>
  </p:timing>
  <p:txStyles>
    <p:titleStyle>
      <a:lvl1pPr algn="l" defTabSz="121914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986" indent="-431989" algn="l" defTabSz="1219140" rtl="0" eaLnBrk="1" latinLnBrk="0" hangingPunct="1">
        <a:lnSpc>
          <a:spcPct val="90000"/>
        </a:lnSpc>
        <a:spcBef>
          <a:spcPts val="1889"/>
        </a:spcBef>
        <a:buClr>
          <a:srgbClr val="000000"/>
        </a:buClr>
        <a:buSzPct val="45000"/>
        <a:buFont typeface="Wingdings" charset="2"/>
        <a:buChar char="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‹#›</a:t>
            </a:fld>
            <a:endParaRPr lang="en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15093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yiSG5P0DQZLKwcCZDsvFTapkPl75lGEj/view?usp=drive_link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1.png"/><Relationship Id="rId3" Type="http://schemas.openxmlformats.org/officeDocument/2006/relationships/image" Target="../media/image1700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5" Type="http://schemas.openxmlformats.org/officeDocument/2006/relationships/image" Target="../media/image172.png"/><Relationship Id="rId10" Type="http://schemas.openxmlformats.org/officeDocument/2006/relationships/image" Target="../media/image177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Relationship Id="rId1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0.png"/><Relationship Id="rId7" Type="http://schemas.openxmlformats.org/officeDocument/2006/relationships/image" Target="../media/image38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" y="6334"/>
            <a:ext cx="12179300" cy="68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700"/>
            <a:ext cx="12179300" cy="68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71;p15"/>
          <p:cNvSpPr txBox="1"/>
          <p:nvPr/>
        </p:nvSpPr>
        <p:spPr>
          <a:xfrm>
            <a:off x="304800" y="2794392"/>
            <a:ext cx="6581486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Unit – 2</a:t>
            </a:r>
          </a:p>
          <a:p>
            <a:pPr lvl="0" defTabSz="1219170">
              <a:buClr>
                <a:srgbClr val="000000"/>
              </a:buClr>
              <a:defRPr/>
            </a:pPr>
            <a:r>
              <a:rPr lang="en-IN" sz="2800" b="1" kern="0" dirty="0">
                <a:solidFill>
                  <a:srgbClr val="000000"/>
                </a:solidFill>
                <a:latin typeface="Trebuchet MS" panose="020B0603020202020204" pitchFamily="34" charset="0"/>
                <a:ea typeface="Proxima Nova"/>
                <a:cs typeface="Proxima Nova"/>
              </a:rPr>
              <a:t>Algorithm Design Techniques</a:t>
            </a:r>
            <a:endParaRPr lang="en-IN" sz="2800" b="1" kern="0" dirty="0">
              <a:solidFill>
                <a:srgbClr val="000000"/>
              </a:solidFill>
              <a:latin typeface="Trebuchet MS" panose="020B0603020202020204" pitchFamily="3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3" name="Google Shape;71;p15"/>
          <p:cNvSpPr txBox="1"/>
          <p:nvPr/>
        </p:nvSpPr>
        <p:spPr>
          <a:xfrm>
            <a:off x="304800" y="1045965"/>
            <a:ext cx="8252345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01AI0506 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- </a:t>
            </a: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Proxima Nova"/>
                <a:cs typeface="Proxima Nova"/>
                <a:sym typeface="Arial"/>
              </a:rPr>
              <a:t>Design and Analysis of </a:t>
            </a:r>
            <a:r>
              <a:rPr kumimoji="0" lang="en-IN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Proxima Nova"/>
                <a:cs typeface="Proxima Nova"/>
                <a:sym typeface="Arial"/>
              </a:rPr>
              <a:t>Algorithms</a:t>
            </a:r>
            <a:endParaRPr kumimoji="0" lang="en-I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743" y="178999"/>
            <a:ext cx="2164268" cy="646232"/>
          </a:xfrm>
          <a:prstGeom prst="rect">
            <a:avLst/>
          </a:prstGeom>
        </p:spPr>
      </p:pic>
      <p:sp>
        <p:nvSpPr>
          <p:cNvPr id="9" name="Google Shape;73;p15"/>
          <p:cNvSpPr txBox="1"/>
          <p:nvPr/>
        </p:nvSpPr>
        <p:spPr>
          <a:xfrm>
            <a:off x="304800" y="4312817"/>
            <a:ext cx="3825165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defRPr/>
            </a:pPr>
            <a:r>
              <a:rPr lang="en-US" sz="2000" b="1" dirty="0">
                <a:latin typeface="Trebuchet MS" panose="020B0603020202020204" pitchFamily="34" charset="0"/>
              </a:rPr>
              <a:t>Prepared by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Prof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. </a:t>
            </a:r>
            <a:r>
              <a:rPr lang="en-US" sz="2000" b="1" kern="0" dirty="0" smtClean="0">
                <a:solidFill>
                  <a:srgbClr val="000000"/>
                </a:solidFill>
                <a:latin typeface="Trebuchet MS" panose="020B0603020202020204" pitchFamily="34" charset="0"/>
                <a:cs typeface="Arial"/>
                <a:sym typeface="Arial"/>
              </a:rPr>
              <a:t>Abhishek Chauhan</a:t>
            </a: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 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CSE- AI, ML &amp; DS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Arial"/>
                <a:sym typeface="Arial"/>
              </a:rPr>
              <a:t>Department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35621" y="171411"/>
            <a:ext cx="16001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1219170">
              <a:buClr>
                <a:srgbClr val="000000"/>
              </a:buClr>
              <a:defRPr/>
            </a:pPr>
            <a:r>
              <a:rPr lang="en-IN" sz="3200" b="1" kern="0" dirty="0">
                <a:latin typeface="Trebuchet MS" panose="020B0603020202020204" pitchFamily="34" charset="0"/>
                <a:ea typeface="Proxima Nova"/>
                <a:cs typeface="Proxima Nova"/>
                <a:sym typeface="Proxima Nova"/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143" y="1340123"/>
            <a:ext cx="10058400" cy="4825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0113" lvl="1" indent="-442913">
              <a:lnSpc>
                <a:spcPct val="150000"/>
              </a:lnSpc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Sorting and searching: 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rgbClr val="424242"/>
              </a:buClr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	Bubble sort, Selection sort, Insertion sort, Shell sort, 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rgbClr val="424242"/>
              </a:buClr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	Heap sort, Binary Search, Linear search </a:t>
            </a:r>
          </a:p>
          <a:p>
            <a:pPr marL="900113" lvl="1" indent="-442913">
              <a:lnSpc>
                <a:spcPct val="150000"/>
              </a:lnSpc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Divide and Conquer: 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rgbClr val="424242"/>
              </a:buClr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	Finding maximum and minimum, Merge sort, Quick sort</a:t>
            </a:r>
          </a:p>
          <a:p>
            <a:pPr marL="900113" lvl="1" indent="-442913">
              <a:lnSpc>
                <a:spcPct val="150000"/>
              </a:lnSpc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Recurrence relation: </a:t>
            </a:r>
          </a:p>
          <a:p>
            <a:pPr lvl="1">
              <a:lnSpc>
                <a:spcPct val="150000"/>
              </a:lnSpc>
              <a:spcBef>
                <a:spcPts val="1200"/>
              </a:spcBef>
              <a:buClr>
                <a:srgbClr val="424242"/>
              </a:buClr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	Introduction, methods to solve recurrence</a:t>
            </a:r>
          </a:p>
        </p:txBody>
      </p:sp>
    </p:spTree>
    <p:extLst>
      <p:ext uri="{BB962C8B-B14F-4D97-AF65-F5344CB8AC3E}">
        <p14:creationId xmlns:p14="http://schemas.microsoft.com/office/powerpoint/2010/main" val="64790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121970" y="3094979"/>
            <a:ext cx="6709910" cy="465138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lang="en-IN" sz="48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Sorting Algorithms</a:t>
            </a:r>
            <a:r>
              <a:rPr lang="en-IN" sz="44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/>
            </a:r>
            <a:br>
              <a:rPr lang="en-IN" sz="44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</a:br>
            <a:endParaRPr lang="en-US" sz="4400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6" name="TextShape 1">
            <a:extLst>
              <a:ext uri="{FF2B5EF4-FFF2-40B4-BE49-F238E27FC236}">
                <a16:creationId xmlns:a16="http://schemas.microsoft.com/office/drawing/2014/main" id="{EB178809-416A-6951-F029-9D149BBD98C7}"/>
              </a:ext>
            </a:extLst>
          </p:cNvPr>
          <p:cNvSpPr txBox="1"/>
          <p:nvPr/>
        </p:nvSpPr>
        <p:spPr>
          <a:xfrm>
            <a:off x="311760" y="738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>
              <a:lnSpc>
                <a:spcPct val="100000"/>
              </a:lnSpc>
            </a:pPr>
            <a:endParaRPr lang="en-US" sz="2300" b="0" strike="noStrike" spc="-1" dirty="0">
              <a:solidFill>
                <a:srgbClr val="000000"/>
              </a:solidFill>
              <a:latin typeface="Algerian" panose="04020705040A02060702" pitchFamily="82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87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4D203CCB-74FF-79E0-99B7-3871DE084688}"/>
              </a:ext>
            </a:extLst>
          </p:cNvPr>
          <p:cNvSpPr txBox="1"/>
          <p:nvPr/>
        </p:nvSpPr>
        <p:spPr>
          <a:xfrm>
            <a:off x="311760" y="738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Sorting Algorithms </a:t>
            </a:r>
            <a:endParaRPr lang="en-US" sz="3200" b="1" strike="noStrike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1760" y="893290"/>
            <a:ext cx="11531897" cy="596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5986" lvl="0" indent="-431989" defTabSz="12191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Sorting is any </a:t>
            </a:r>
            <a:r>
              <a:rPr lang="en-US" sz="2400" dirty="0">
                <a:latin typeface="Trebuchet MS" panose="020B0603020202020204" pitchFamily="34" charset="0"/>
                <a:ea typeface="Proxima Nova"/>
                <a:cs typeface="Proxima Nova"/>
                <a:sym typeface="Arial"/>
              </a:rPr>
              <a:t>process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of arranging items systematically or arranging items in a sequence ordered by some criterion.</a:t>
            </a:r>
          </a:p>
          <a:p>
            <a:pPr marL="143997" lvl="0" defTabSz="1219140"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Applications of Sorting</a:t>
            </a:r>
          </a:p>
          <a:p>
            <a:pPr marL="914400" lvl="1" indent="-457200" defTabSz="121914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Phone Bill: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 calls made are date wise sorted.</a:t>
            </a:r>
          </a:p>
          <a:p>
            <a:pPr marL="914400" lvl="1" indent="-457200" defTabSz="121914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Bank statement or Credit card Bill: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transactions made are date wise sorted.</a:t>
            </a:r>
          </a:p>
          <a:p>
            <a:pPr marL="914400" lvl="1" indent="-457200" defTabSz="121914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Filling forms online: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“select country” drop down box will have the name of countries sorted in Alphabetical order.</a:t>
            </a:r>
          </a:p>
          <a:p>
            <a:pPr marL="914400" lvl="1" indent="-457200" defTabSz="121914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Online shopping: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 items can be sorted price wise, date wise or relevance wise.</a:t>
            </a:r>
          </a:p>
          <a:p>
            <a:pPr marL="914400" lvl="1" indent="-457200" defTabSz="121914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Files or folders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on your desktop are sorted date wise.</a:t>
            </a:r>
          </a:p>
          <a:p>
            <a:pPr marL="575986" lvl="0" indent="-431989" defTabSz="121914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19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4D203CCB-74FF-79E0-99B7-3871DE084688}"/>
              </a:ext>
            </a:extLst>
          </p:cNvPr>
          <p:cNvSpPr txBox="1"/>
          <p:nvPr/>
        </p:nvSpPr>
        <p:spPr>
          <a:xfrm>
            <a:off x="311760" y="738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Sorting Algorithms </a:t>
            </a:r>
            <a:endParaRPr lang="en-US" sz="3200" b="1" strike="noStrike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1760" y="1138950"/>
            <a:ext cx="11493553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5986" lvl="0" indent="-431989" defTabSz="12191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There are so many sorting algorithms used for sorting process. Some of them listed below.</a:t>
            </a:r>
          </a:p>
          <a:p>
            <a:pPr marL="2286000" lvl="4" indent="-457200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Bubble sort</a:t>
            </a:r>
          </a:p>
          <a:p>
            <a:pPr marL="2286000" lvl="4" indent="-457200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Selection sort</a:t>
            </a:r>
          </a:p>
          <a:p>
            <a:pPr marL="2286000" lvl="4" indent="-457200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Insertion sort</a:t>
            </a:r>
          </a:p>
          <a:p>
            <a:pPr marL="2286000" lvl="4" indent="-457200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Shell sort</a:t>
            </a:r>
          </a:p>
          <a:p>
            <a:pPr marL="2286000" lvl="4" indent="-457200">
              <a:lnSpc>
                <a:spcPct val="150000"/>
              </a:lnSpc>
              <a:spcBef>
                <a:spcPts val="1200"/>
              </a:spcBef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Heap sort</a:t>
            </a:r>
          </a:p>
          <a:p>
            <a:pPr marL="575986" lvl="0" indent="-431989" defTabSz="12191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24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011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41444" y="1529544"/>
            <a:ext cx="10698707" cy="4489119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 smtClean="0">
                <a:latin typeface="Trebuchet MS" panose="020B0603020202020204" pitchFamily="34" charset="0"/>
                <a:ea typeface="Cambria" panose="02040503050406030204" pitchFamily="18" charset="0"/>
              </a:rPr>
              <a:t>It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is a simple sorting algorithm that works by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comparing each pair of adjacent items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and swapping them if they are in the wrong order.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The pass through the list is repeated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until no swaps are needed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,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which indicates that the list is sorted.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As it only uses comparisons to operate on elements, it is a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comparison sort.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Although the algorithm is simple, it is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too slow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for practical use.</a:t>
            </a:r>
          </a:p>
          <a:p>
            <a:pPr marL="143997" indent="0">
              <a:lnSpc>
                <a:spcPct val="110000"/>
              </a:lnSpc>
              <a:buNone/>
            </a:pPr>
            <a:endParaRPr lang="en-US" sz="2400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0901DB26-69FD-79E2-FABB-65A5C98FDA66}"/>
              </a:ext>
            </a:extLst>
          </p:cNvPr>
          <p:cNvSpPr txBox="1"/>
          <p:nvPr/>
        </p:nvSpPr>
        <p:spPr>
          <a:xfrm>
            <a:off x="200923" y="223116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Bubble sort algorithm </a:t>
            </a:r>
            <a:endParaRPr lang="en-US" sz="3200" b="1" strike="noStrike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04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Shape 1">
            <a:extLst>
              <a:ext uri="{FF2B5EF4-FFF2-40B4-BE49-F238E27FC236}">
                <a16:creationId xmlns:a16="http://schemas.microsoft.com/office/drawing/2014/main" id="{15170A16-A338-16D6-9358-C2F0E9900443}"/>
              </a:ext>
            </a:extLst>
          </p:cNvPr>
          <p:cNvSpPr txBox="1"/>
          <p:nvPr/>
        </p:nvSpPr>
        <p:spPr>
          <a:xfrm>
            <a:off x="311760" y="738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Bubble sort algorithm </a:t>
            </a:r>
            <a:endParaRPr lang="en-US" sz="3200" b="1" strike="noStrike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653A5-E74C-2D96-F533-B2DB959EDDE9}"/>
              </a:ext>
            </a:extLst>
          </p:cNvPr>
          <p:cNvSpPr txBox="1"/>
          <p:nvPr/>
        </p:nvSpPr>
        <p:spPr>
          <a:xfrm>
            <a:off x="654213" y="1544274"/>
            <a:ext cx="9636198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pt-BR" sz="2400" b="1" i="0" u="none" strike="noStrike" baseline="0" dirty="0">
                <a:solidFill>
                  <a:srgbClr val="D60093"/>
                </a:solidFill>
                <a:latin typeface="Trebuchet MS" panose="020B0603020202020204" pitchFamily="34" charset="0"/>
              </a:rPr>
              <a:t>ALGORITHM</a:t>
            </a:r>
            <a:r>
              <a:rPr lang="pt-BR" sz="2400" b="1" i="0" u="none" strike="noStrike" baseline="0" dirty="0">
                <a:latin typeface="Trebuchet MS" panose="020B0603020202020204" pitchFamily="34" charset="0"/>
              </a:rPr>
              <a:t> </a:t>
            </a:r>
            <a:r>
              <a:rPr lang="pt-BR" sz="2400" b="1" i="1" u="none" strike="noStrike" baseline="0" dirty="0">
                <a:solidFill>
                  <a:srgbClr val="0070C0"/>
                </a:solidFill>
                <a:latin typeface="Trebuchet MS" panose="020B0603020202020204" pitchFamily="34" charset="0"/>
              </a:rPr>
              <a:t>BubbleSort</a:t>
            </a:r>
            <a:r>
              <a:rPr lang="pt-BR" sz="2400" b="0" i="1" u="none" strike="noStrike" baseline="0" dirty="0">
                <a:latin typeface="Trebuchet MS" panose="020B0603020202020204" pitchFamily="34" charset="0"/>
              </a:rPr>
              <a:t>(A</a:t>
            </a:r>
            <a:r>
              <a:rPr lang="pt-BR" sz="2400" b="0" i="0" u="none" strike="noStrike" baseline="0" dirty="0">
                <a:latin typeface="Trebuchet MS" panose="020B0603020202020204" pitchFamily="34" charset="0"/>
              </a:rPr>
              <a:t>[0</a:t>
            </a:r>
            <a:r>
              <a:rPr lang="pt-BR" sz="2400" b="0" i="1" u="none" strike="noStrike" baseline="0" dirty="0">
                <a:latin typeface="Trebuchet MS" panose="020B0603020202020204" pitchFamily="34" charset="0"/>
              </a:rPr>
              <a:t>..n </a:t>
            </a:r>
            <a:r>
              <a:rPr lang="pt-BR" sz="2400" b="0" i="0" u="none" strike="noStrike" baseline="0" dirty="0">
                <a:latin typeface="Trebuchet MS" panose="020B0603020202020204" pitchFamily="34" charset="0"/>
              </a:rPr>
              <a:t>− 1]</a:t>
            </a:r>
            <a:r>
              <a:rPr lang="pt-BR" sz="2400" b="0" i="1" u="none" strike="noStrike" baseline="0" dirty="0">
                <a:latin typeface="Trebuchet MS" panose="020B0603020202020204" pitchFamily="34" charset="0"/>
              </a:rPr>
              <a:t>)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//Sorts a given array by bubble sort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IN" sz="2400" b="0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//Input: 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An array 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A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[0..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n 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− 1] of orderable elements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IN" sz="2400" b="0" i="0" u="none" strike="noStrike" baseline="0" dirty="0">
                <a:solidFill>
                  <a:srgbClr val="FF0000"/>
                </a:solidFill>
                <a:latin typeface="Trebuchet MS" panose="020B0603020202020204" pitchFamily="34" charset="0"/>
              </a:rPr>
              <a:t>//Output: 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Array 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A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[0..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n 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− 1] sorted in nondecreasing order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IN" sz="2400" b="1" i="0" u="none" strike="noStrike" baseline="0" dirty="0">
                <a:latin typeface="Trebuchet MS" panose="020B0603020202020204" pitchFamily="34" charset="0"/>
              </a:rPr>
              <a:t>for </a:t>
            </a:r>
            <a:r>
              <a:rPr lang="en-IN" sz="2400" b="0" i="1" u="none" strike="noStrike" baseline="0" dirty="0" err="1">
                <a:latin typeface="Trebuchet MS" panose="020B0603020202020204" pitchFamily="34" charset="0"/>
              </a:rPr>
              <a:t>i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 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←0 </a:t>
            </a:r>
            <a:r>
              <a:rPr lang="en-IN" sz="2400" b="1" i="0" u="none" strike="noStrike" baseline="0" dirty="0">
                <a:latin typeface="Trebuchet MS" panose="020B0603020202020204" pitchFamily="34" charset="0"/>
              </a:rPr>
              <a:t>to 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n 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− 2 </a:t>
            </a:r>
            <a:r>
              <a:rPr lang="en-IN" sz="2400" b="1" i="0" u="none" strike="noStrike" baseline="0" dirty="0">
                <a:latin typeface="Trebuchet MS" panose="020B0603020202020204" pitchFamily="34" charset="0"/>
              </a:rPr>
              <a:t>do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pt-BR" sz="2400" b="1" i="0" u="none" strike="noStrike" baseline="0" dirty="0">
                <a:latin typeface="Trebuchet MS" panose="020B0603020202020204" pitchFamily="34" charset="0"/>
              </a:rPr>
              <a:t>for </a:t>
            </a:r>
            <a:r>
              <a:rPr lang="pt-BR" sz="2400" b="0" i="1" u="none" strike="noStrike" baseline="0" dirty="0">
                <a:latin typeface="Trebuchet MS" panose="020B0603020202020204" pitchFamily="34" charset="0"/>
              </a:rPr>
              <a:t>j </a:t>
            </a:r>
            <a:r>
              <a:rPr lang="pt-BR" sz="2400" b="0" i="0" u="none" strike="noStrike" baseline="0" dirty="0">
                <a:latin typeface="Trebuchet MS" panose="020B0603020202020204" pitchFamily="34" charset="0"/>
              </a:rPr>
              <a:t>←0 </a:t>
            </a:r>
            <a:r>
              <a:rPr lang="pt-BR" sz="2400" b="1" i="0" u="none" strike="noStrike" baseline="0" dirty="0">
                <a:latin typeface="Trebuchet MS" panose="020B0603020202020204" pitchFamily="34" charset="0"/>
              </a:rPr>
              <a:t>to </a:t>
            </a:r>
            <a:r>
              <a:rPr lang="pt-BR" sz="2400" b="0" i="1" u="none" strike="noStrike" baseline="0" dirty="0">
                <a:latin typeface="Trebuchet MS" panose="020B0603020202020204" pitchFamily="34" charset="0"/>
              </a:rPr>
              <a:t>n </a:t>
            </a:r>
            <a:r>
              <a:rPr lang="pt-BR" sz="2400" b="0" i="0" u="none" strike="noStrike" baseline="0" dirty="0">
                <a:latin typeface="Trebuchet MS" panose="020B0603020202020204" pitchFamily="34" charset="0"/>
              </a:rPr>
              <a:t>− 2 − </a:t>
            </a:r>
            <a:r>
              <a:rPr lang="pt-BR" sz="2400" b="0" i="1" u="none" strike="noStrike" baseline="0" dirty="0">
                <a:latin typeface="Trebuchet MS" panose="020B0603020202020204" pitchFamily="34" charset="0"/>
              </a:rPr>
              <a:t>i </a:t>
            </a:r>
            <a:r>
              <a:rPr lang="pt-BR" sz="2400" b="1" i="0" u="none" strike="noStrike" baseline="0" dirty="0">
                <a:latin typeface="Trebuchet MS" panose="020B0603020202020204" pitchFamily="34" charset="0"/>
              </a:rPr>
              <a:t>do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IN" sz="2400" b="1" i="0" u="none" strike="noStrike" baseline="0" dirty="0">
                <a:latin typeface="Trebuchet MS" panose="020B0603020202020204" pitchFamily="34" charset="0"/>
              </a:rPr>
              <a:t>if 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A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[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j 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+ 1]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&lt;A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[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j 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] 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IN" sz="2400" dirty="0">
                <a:latin typeface="Trebuchet MS" panose="020B0603020202020204" pitchFamily="34" charset="0"/>
              </a:rPr>
              <a:t>	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swap 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A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[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j 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] and 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A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[</a:t>
            </a:r>
            <a:r>
              <a:rPr lang="en-IN" sz="2400" b="0" i="1" u="none" strike="noStrike" baseline="0" dirty="0">
                <a:latin typeface="Trebuchet MS" panose="020B0603020202020204" pitchFamily="34" charset="0"/>
              </a:rPr>
              <a:t>j </a:t>
            </a:r>
            <a:r>
              <a:rPr lang="en-IN" sz="2400" b="0" i="0" u="none" strike="noStrike" baseline="0" dirty="0">
                <a:latin typeface="Trebuchet MS" panose="020B0603020202020204" pitchFamily="34" charset="0"/>
              </a:rPr>
              <a:t>+ 1]</a:t>
            </a:r>
            <a:endParaRPr lang="en-IN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3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570A-E13D-A63D-EDE6-CF63ECD2E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/>
            </a:r>
            <a:b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</a:b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/>
            </a:r>
            <a:b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</a:b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Implementing Bubble Sort Algorithm</a:t>
            </a: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/>
            </a:r>
            <a:b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</a:br>
            <a:endParaRPr lang="en-IN" sz="3200" b="1" dirty="0"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8699" y="1431300"/>
            <a:ext cx="10777182" cy="4393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997" lvl="0" defTabSz="886968">
              <a:lnSpc>
                <a:spcPct val="150000"/>
              </a:lnSpc>
              <a:spcBef>
                <a:spcPts val="1100"/>
              </a:spcBef>
              <a:buClr>
                <a:srgbClr val="40BAD2"/>
              </a:buClr>
              <a:buSzPct val="100000"/>
              <a:defRPr sz="1940">
                <a:solidFill>
                  <a:srgbClr val="000000"/>
                </a:solidFill>
              </a:defRPr>
            </a:pPr>
            <a:r>
              <a:rPr lang="en-IN" sz="2400" b="1" kern="0" dirty="0">
                <a:solidFill>
                  <a:srgbClr val="0070C0"/>
                </a:solidFill>
                <a:latin typeface="Trebuchet MS" panose="020B0603020202020204" pitchFamily="34" charset="0"/>
                <a:sym typeface="Corbel"/>
              </a:rPr>
              <a:t>Following are the steps involved in bubble sort.</a:t>
            </a:r>
          </a:p>
          <a:p>
            <a:pPr marL="539750" lvl="0" indent="-360363" defTabSz="886968">
              <a:lnSpc>
                <a:spcPct val="150000"/>
              </a:lnSpc>
              <a:spcBef>
                <a:spcPts val="1100"/>
              </a:spcBef>
              <a:buSzPct val="100000"/>
              <a:buFont typeface="Arial" panose="020B0604020202020204" pitchFamily="34" charset="0"/>
              <a:buChar char="•"/>
              <a:defRPr sz="1940">
                <a:solidFill>
                  <a:srgbClr val="000000"/>
                </a:solidFill>
              </a:defRPr>
            </a:pPr>
            <a:r>
              <a:rPr lang="en-IN" sz="2400" kern="0" dirty="0">
                <a:solidFill>
                  <a:srgbClr val="000000"/>
                </a:solidFill>
                <a:latin typeface="Trebuchet MS" panose="020B0603020202020204" pitchFamily="34" charset="0"/>
                <a:sym typeface="Corbel"/>
              </a:rPr>
              <a:t>Starting with the first element(index = 0), compare the current element with the next element of the array.</a:t>
            </a:r>
          </a:p>
          <a:p>
            <a:pPr marL="539750" lvl="0" indent="-360363" defTabSz="886968">
              <a:lnSpc>
                <a:spcPct val="150000"/>
              </a:lnSpc>
              <a:spcBef>
                <a:spcPts val="1100"/>
              </a:spcBef>
              <a:buSzPct val="100000"/>
              <a:buFont typeface="Arial" panose="020B0604020202020204" pitchFamily="34" charset="0"/>
              <a:buChar char="•"/>
              <a:defRPr sz="1940">
                <a:solidFill>
                  <a:srgbClr val="000000"/>
                </a:solidFill>
              </a:defRPr>
            </a:pPr>
            <a:r>
              <a:rPr lang="en-IN" sz="2400" kern="0" dirty="0">
                <a:solidFill>
                  <a:srgbClr val="000000"/>
                </a:solidFill>
                <a:latin typeface="Trebuchet MS" panose="020B0603020202020204" pitchFamily="34" charset="0"/>
                <a:sym typeface="Corbel"/>
              </a:rPr>
              <a:t>If the current element is greater than the next element of the array, swap them.</a:t>
            </a:r>
          </a:p>
          <a:p>
            <a:pPr marL="539750" lvl="0" indent="-360363" defTabSz="886968">
              <a:lnSpc>
                <a:spcPct val="150000"/>
              </a:lnSpc>
              <a:spcBef>
                <a:spcPts val="1100"/>
              </a:spcBef>
              <a:buSzPct val="100000"/>
              <a:buFont typeface="Arial" panose="020B0604020202020204" pitchFamily="34" charset="0"/>
              <a:buChar char="•"/>
              <a:defRPr sz="1940">
                <a:solidFill>
                  <a:srgbClr val="000000"/>
                </a:solidFill>
              </a:defRPr>
            </a:pPr>
            <a:r>
              <a:rPr lang="en-IN" sz="2400" kern="0" dirty="0">
                <a:solidFill>
                  <a:srgbClr val="000000"/>
                </a:solidFill>
                <a:latin typeface="Trebuchet MS" panose="020B0603020202020204" pitchFamily="34" charset="0"/>
                <a:sym typeface="Corbel"/>
              </a:rPr>
              <a:t>If the current element is less than the next element, move to the next element. Repeat Step 1.</a:t>
            </a:r>
            <a:endParaRPr lang="en-IN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28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59051"/>
              </p:ext>
            </p:extLst>
          </p:nvPr>
        </p:nvGraphicFramePr>
        <p:xfrm>
          <a:off x="6914477" y="1044903"/>
          <a:ext cx="3810000" cy="457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61427" y="1092019"/>
            <a:ext cx="6453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Trebuchet MS" panose="020B0603020202020204" pitchFamily="34" charset="0"/>
                <a:ea typeface="Cambria" panose="02040503050406030204" pitchFamily="18" charset="0"/>
              </a:rPr>
              <a:t>Sort the following array in Ascending order 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1855348" y="1772969"/>
            <a:ext cx="838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7991" y="1781654"/>
            <a:ext cx="95808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Pass 1 :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Freeform 28"/>
          <p:cNvSpPr/>
          <p:nvPr/>
        </p:nvSpPr>
        <p:spPr>
          <a:xfrm rot="16200000" flipH="1">
            <a:off x="3685640" y="1887536"/>
            <a:ext cx="266765" cy="955963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 rot="16200000" flipV="1">
            <a:off x="3746315" y="1928753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8591048" y="1934630"/>
                <a:ext cx="3487221" cy="1246495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𝑖𝑓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 &gt; 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cs typeface="Consolas" pitchFamily="49" charset="0"/>
                </a:endParaRPr>
              </a:p>
              <a:p>
                <a:pPr marL="0" lvl="2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𝑠𝑤𝑎𝑝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],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000" dirty="0" smtClean="0">
                  <a:solidFill>
                    <a:srgbClr val="A71160"/>
                  </a:solidFill>
                  <a:cs typeface="Consolas" pitchFamily="49" charset="0"/>
                </a:endParaRPr>
              </a:p>
              <a:p>
                <a:pPr marL="0" lvl="2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 smtClean="0">
                    <a:solidFill>
                      <a:srgbClr val="A71160"/>
                    </a:solidFill>
                    <a:cs typeface="Consolas" pitchFamily="49" charset="0"/>
                  </a:rPr>
                  <a:t>Repeat this until last element </a:t>
                </a:r>
                <a:endParaRPr lang="en-US" sz="2000" dirty="0">
                  <a:solidFill>
                    <a:srgbClr val="A71160"/>
                  </a:solidFill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1048" y="1934630"/>
                <a:ext cx="3487221" cy="1246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Shape 1">
            <a:extLst>
              <a:ext uri="{FF2B5EF4-FFF2-40B4-BE49-F238E27FC236}">
                <a16:creationId xmlns:a16="http://schemas.microsoft.com/office/drawing/2014/main" id="{2DF26886-825E-173F-6130-81718B438D1B}"/>
              </a:ext>
            </a:extLst>
          </p:cNvPr>
          <p:cNvSpPr txBox="1"/>
          <p:nvPr/>
        </p:nvSpPr>
        <p:spPr>
          <a:xfrm>
            <a:off x="284463" y="179933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Bubble sort - </a:t>
            </a:r>
            <a:r>
              <a:rPr lang="en-IN" sz="3200" b="1" strike="noStrike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</a:t>
            </a:r>
            <a:endParaRPr lang="en-US" sz="3200" b="1" strike="noStrike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8881F6-A8F9-0625-5F2A-CAB88427C12B}"/>
              </a:ext>
            </a:extLst>
          </p:cNvPr>
          <p:cNvSpPr txBox="1"/>
          <p:nvPr/>
        </p:nvSpPr>
        <p:spPr>
          <a:xfrm>
            <a:off x="3014580" y="1878604"/>
            <a:ext cx="4577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0" dirty="0">
                <a:solidFill>
                  <a:prstClr val="black"/>
                </a:solidFill>
                <a:latin typeface="+mj-lt"/>
                <a:sym typeface="Corbel"/>
              </a:rPr>
              <a:t>4</a:t>
            </a:r>
            <a:r>
              <a:rPr lang="en-IN" sz="2400" kern="0" dirty="0">
                <a:solidFill>
                  <a:prstClr val="black"/>
                </a:solidFill>
                <a:latin typeface="+mj-lt"/>
                <a:sym typeface="Corbel"/>
              </a:rPr>
              <a:t>5 	34 	56 	23	 12 </a:t>
            </a:r>
            <a:endParaRPr lang="en-IN" sz="1400" dirty="0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AF4C64-AD2B-DA34-50CA-2E43D64207A8}"/>
              </a:ext>
            </a:extLst>
          </p:cNvPr>
          <p:cNvSpPr txBox="1"/>
          <p:nvPr/>
        </p:nvSpPr>
        <p:spPr>
          <a:xfrm>
            <a:off x="3080807" y="2826873"/>
            <a:ext cx="4415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34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sym typeface="Corbel"/>
              </a:rPr>
              <a:t>	45 	56 	23	 12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5" name="Freeform 27">
            <a:extLst>
              <a:ext uri="{FF2B5EF4-FFF2-40B4-BE49-F238E27FC236}">
                <a16:creationId xmlns:a16="http://schemas.microsoft.com/office/drawing/2014/main" id="{1B4D7861-D72C-37AD-E95A-7A9AB2BC543D}"/>
              </a:ext>
            </a:extLst>
          </p:cNvPr>
          <p:cNvSpPr/>
          <p:nvPr/>
        </p:nvSpPr>
        <p:spPr>
          <a:xfrm rot="16200000" flipH="1">
            <a:off x="4689278" y="2777613"/>
            <a:ext cx="171416" cy="955963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0F85462-0883-9329-CBC2-54D8658489D1}"/>
              </a:ext>
            </a:extLst>
          </p:cNvPr>
          <p:cNvSpPr txBox="1"/>
          <p:nvPr/>
        </p:nvSpPr>
        <p:spPr>
          <a:xfrm rot="16200000" flipV="1">
            <a:off x="5152537" y="2825628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No swap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890436-7AC3-9209-AEA7-78DA1DD87559}"/>
              </a:ext>
            </a:extLst>
          </p:cNvPr>
          <p:cNvSpPr txBox="1"/>
          <p:nvPr/>
        </p:nvSpPr>
        <p:spPr>
          <a:xfrm>
            <a:off x="3095864" y="3797242"/>
            <a:ext cx="4415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34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sym typeface="Corbel"/>
              </a:rPr>
              <a:t>	45 	56 	23	 12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8" name="Freeform 27">
            <a:extLst>
              <a:ext uri="{FF2B5EF4-FFF2-40B4-BE49-F238E27FC236}">
                <a16:creationId xmlns:a16="http://schemas.microsoft.com/office/drawing/2014/main" id="{3DB0D981-5BE7-E05E-1487-5F8A1D047B14}"/>
              </a:ext>
            </a:extLst>
          </p:cNvPr>
          <p:cNvSpPr/>
          <p:nvPr/>
        </p:nvSpPr>
        <p:spPr>
          <a:xfrm rot="16200000" flipH="1">
            <a:off x="5537892" y="3756388"/>
            <a:ext cx="221735" cy="955963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E95A97-BAEE-6BDD-44CE-599B84FAB54E}"/>
              </a:ext>
            </a:extLst>
          </p:cNvPr>
          <p:cNvSpPr txBox="1"/>
          <p:nvPr/>
        </p:nvSpPr>
        <p:spPr>
          <a:xfrm rot="16200000" flipV="1">
            <a:off x="5550120" y="3884272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5F2905-041A-14F8-DA98-0F18BAA9CBCC}"/>
              </a:ext>
            </a:extLst>
          </p:cNvPr>
          <p:cNvSpPr txBox="1"/>
          <p:nvPr/>
        </p:nvSpPr>
        <p:spPr>
          <a:xfrm>
            <a:off x="3109300" y="4798276"/>
            <a:ext cx="4415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34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sym typeface="Corbel"/>
              </a:rPr>
              <a:t>	45 	23 	56	 12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2A20F5-3246-5C17-D1C9-8B6C3C3F0014}"/>
              </a:ext>
            </a:extLst>
          </p:cNvPr>
          <p:cNvSpPr txBox="1"/>
          <p:nvPr/>
        </p:nvSpPr>
        <p:spPr>
          <a:xfrm rot="16200000" flipV="1">
            <a:off x="6623950" y="4971703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42" name="Freeform 27">
            <a:extLst>
              <a:ext uri="{FF2B5EF4-FFF2-40B4-BE49-F238E27FC236}">
                <a16:creationId xmlns:a16="http://schemas.microsoft.com/office/drawing/2014/main" id="{A053B772-E08C-DAA1-7BC2-CC78DB484B3D}"/>
              </a:ext>
            </a:extLst>
          </p:cNvPr>
          <p:cNvSpPr/>
          <p:nvPr/>
        </p:nvSpPr>
        <p:spPr>
          <a:xfrm rot="5400000">
            <a:off x="6540185" y="4858999"/>
            <a:ext cx="308129" cy="955963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22186E-3BF3-615C-52DA-B1C0436B91AD}"/>
              </a:ext>
            </a:extLst>
          </p:cNvPr>
          <p:cNvSpPr txBox="1"/>
          <p:nvPr/>
        </p:nvSpPr>
        <p:spPr>
          <a:xfrm>
            <a:off x="3158676" y="5971766"/>
            <a:ext cx="4415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34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sym typeface="Corbel"/>
              </a:rPr>
              <a:t>	45 	23 	12	 56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410323" y="5322444"/>
            <a:ext cx="3667946" cy="13234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2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rgbClr val="A71160"/>
                </a:solidFill>
                <a:cs typeface="Consolas" pitchFamily="49" charset="0"/>
              </a:rPr>
              <a:t>Now check entire array is sorted. If not repeat the same process from starting element, to last </a:t>
            </a:r>
            <a:r>
              <a:rPr lang="en-US" sz="2000" dirty="0">
                <a:solidFill>
                  <a:srgbClr val="A71160"/>
                </a:solidFill>
                <a:cs typeface="Consolas" pitchFamily="49" charset="0"/>
              </a:rPr>
              <a:t>element .</a:t>
            </a:r>
          </a:p>
        </p:txBody>
      </p:sp>
      <p:sp>
        <p:nvSpPr>
          <p:cNvPr id="3" name="Right Arrow 2"/>
          <p:cNvSpPr/>
          <p:nvPr/>
        </p:nvSpPr>
        <p:spPr>
          <a:xfrm flipH="1">
            <a:off x="7737663" y="5827595"/>
            <a:ext cx="672657" cy="6058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ight Arrow 3"/>
          <p:cNvSpPr/>
          <p:nvPr/>
        </p:nvSpPr>
        <p:spPr>
          <a:xfrm flipH="1">
            <a:off x="7822662" y="1992255"/>
            <a:ext cx="768386" cy="486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57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6316" y="1064088"/>
            <a:ext cx="95808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Pass 2 :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646657" y="1094864"/>
                <a:ext cx="3002863" cy="861774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𝑖𝑓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 &gt; 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cs typeface="Consolas" pitchFamily="49" charset="0"/>
                </a:endParaRPr>
              </a:p>
              <a:p>
                <a:pPr marL="0" lvl="2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𝑠𝑤𝑎𝑝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],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657" y="1094864"/>
                <a:ext cx="3002863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Shape 1">
            <a:extLst>
              <a:ext uri="{FF2B5EF4-FFF2-40B4-BE49-F238E27FC236}">
                <a16:creationId xmlns:a16="http://schemas.microsoft.com/office/drawing/2014/main" id="{2DF26886-825E-173F-6130-81718B438D1B}"/>
              </a:ext>
            </a:extLst>
          </p:cNvPr>
          <p:cNvSpPr txBox="1"/>
          <p:nvPr/>
        </p:nvSpPr>
        <p:spPr>
          <a:xfrm>
            <a:off x="311760" y="738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>
              <a:lnSpc>
                <a:spcPct val="100000"/>
              </a:lnSpc>
            </a:pPr>
            <a:endParaRPr lang="en-US" sz="2300" b="0" strike="noStrike" spc="-1" dirty="0">
              <a:solidFill>
                <a:srgbClr val="000000"/>
              </a:solidFill>
              <a:latin typeface="Algerian" panose="04020705040A02060702" pitchFamily="82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2186E-3BF3-615C-52DA-B1C0436B91AD}"/>
              </a:ext>
            </a:extLst>
          </p:cNvPr>
          <p:cNvSpPr txBox="1"/>
          <p:nvPr/>
        </p:nvSpPr>
        <p:spPr>
          <a:xfrm>
            <a:off x="2035838" y="1064088"/>
            <a:ext cx="4415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34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sym typeface="Corbel"/>
              </a:rPr>
              <a:t>	45 	23 	12	 56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9" name="Freeform 27">
            <a:extLst>
              <a:ext uri="{FF2B5EF4-FFF2-40B4-BE49-F238E27FC236}">
                <a16:creationId xmlns:a16="http://schemas.microsoft.com/office/drawing/2014/main" id="{1DF3240D-94FB-7737-DE4B-99E8B8B6C167}"/>
              </a:ext>
            </a:extLst>
          </p:cNvPr>
          <p:cNvSpPr/>
          <p:nvPr/>
        </p:nvSpPr>
        <p:spPr>
          <a:xfrm rot="16200000" flipH="1">
            <a:off x="2638186" y="1133478"/>
            <a:ext cx="171416" cy="955963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D5342A-DD03-D0DA-65C0-3F785AAB99AC}"/>
              </a:ext>
            </a:extLst>
          </p:cNvPr>
          <p:cNvSpPr txBox="1"/>
          <p:nvPr/>
        </p:nvSpPr>
        <p:spPr>
          <a:xfrm rot="16200000" flipV="1">
            <a:off x="3101445" y="1181493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No swap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A285E-148C-6D63-E362-7B7EF1D95398}"/>
              </a:ext>
            </a:extLst>
          </p:cNvPr>
          <p:cNvSpPr txBox="1"/>
          <p:nvPr/>
        </p:nvSpPr>
        <p:spPr>
          <a:xfrm>
            <a:off x="2060979" y="2339760"/>
            <a:ext cx="4415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34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sym typeface="Corbel"/>
              </a:rPr>
              <a:t>	45 	23 	12	 56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Freeform 27">
            <a:extLst>
              <a:ext uri="{FF2B5EF4-FFF2-40B4-BE49-F238E27FC236}">
                <a16:creationId xmlns:a16="http://schemas.microsoft.com/office/drawing/2014/main" id="{9D3E5EA0-C9A0-AAFD-F437-AB76A8A0022D}"/>
              </a:ext>
            </a:extLst>
          </p:cNvPr>
          <p:cNvSpPr/>
          <p:nvPr/>
        </p:nvSpPr>
        <p:spPr>
          <a:xfrm rot="16200000" flipH="1">
            <a:off x="3630643" y="2444266"/>
            <a:ext cx="320101" cy="869057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22493-118F-83F5-E7EE-B2C5D76FF28A}"/>
              </a:ext>
            </a:extLst>
          </p:cNvPr>
          <p:cNvSpPr txBox="1"/>
          <p:nvPr/>
        </p:nvSpPr>
        <p:spPr>
          <a:xfrm rot="16200000" flipV="1">
            <a:off x="3765346" y="2541637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CE79D1-E3E0-342D-687D-CA3015B42BB5}"/>
              </a:ext>
            </a:extLst>
          </p:cNvPr>
          <p:cNvSpPr txBox="1"/>
          <p:nvPr/>
        </p:nvSpPr>
        <p:spPr>
          <a:xfrm>
            <a:off x="2060979" y="3582024"/>
            <a:ext cx="4415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34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sym typeface="Corbel"/>
              </a:rPr>
              <a:t>	23 	45 	12	 56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073211B6-2AA2-338C-B842-C431712577E1}"/>
              </a:ext>
            </a:extLst>
          </p:cNvPr>
          <p:cNvSpPr/>
          <p:nvPr/>
        </p:nvSpPr>
        <p:spPr>
          <a:xfrm rot="16200000" flipH="1">
            <a:off x="4452592" y="3706480"/>
            <a:ext cx="171416" cy="955963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0C6BE-7FA0-7E81-7D78-7FEAA8F6B2FE}"/>
              </a:ext>
            </a:extLst>
          </p:cNvPr>
          <p:cNvSpPr txBox="1"/>
          <p:nvPr/>
        </p:nvSpPr>
        <p:spPr>
          <a:xfrm rot="16200000" flipV="1">
            <a:off x="4501151" y="3755582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646D3-3635-9750-700C-33B5D0F9CD27}"/>
              </a:ext>
            </a:extLst>
          </p:cNvPr>
          <p:cNvSpPr txBox="1"/>
          <p:nvPr/>
        </p:nvSpPr>
        <p:spPr>
          <a:xfrm>
            <a:off x="2060979" y="4635486"/>
            <a:ext cx="44153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34</a:t>
            </a:r>
            <a:r>
              <a:rPr kumimoji="0" lang="en-IN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sym typeface="Corbel"/>
              </a:rPr>
              <a:t>	23 	12 	45	 56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7195DDF0-EDC4-18F5-E669-CA38695E1806}"/>
              </a:ext>
            </a:extLst>
          </p:cNvPr>
          <p:cNvSpPr/>
          <p:nvPr/>
        </p:nvSpPr>
        <p:spPr>
          <a:xfrm rot="16200000" flipH="1">
            <a:off x="5532311" y="4661414"/>
            <a:ext cx="171416" cy="955963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70BC85-2B5A-5742-B7B7-45494ECD85C5}"/>
              </a:ext>
            </a:extLst>
          </p:cNvPr>
          <p:cNvSpPr txBox="1"/>
          <p:nvPr/>
        </p:nvSpPr>
        <p:spPr>
          <a:xfrm rot="16200000" flipV="1">
            <a:off x="5492358" y="4755943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No swap</a:t>
            </a:r>
          </a:p>
        </p:txBody>
      </p:sp>
      <p:sp>
        <p:nvSpPr>
          <p:cNvPr id="20" name="TextShape 1">
            <a:extLst>
              <a:ext uri="{FF2B5EF4-FFF2-40B4-BE49-F238E27FC236}">
                <a16:creationId xmlns:a16="http://schemas.microsoft.com/office/drawing/2014/main" id="{0263B2CA-E8D8-F1F2-1906-B48DD37DB8DA}"/>
              </a:ext>
            </a:extLst>
          </p:cNvPr>
          <p:cNvSpPr txBox="1"/>
          <p:nvPr/>
        </p:nvSpPr>
        <p:spPr>
          <a:xfrm>
            <a:off x="464160" y="2262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Bubble sort - </a:t>
            </a:r>
            <a:r>
              <a:rPr lang="en-IN" sz="3200" b="1" strike="noStrike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</a:t>
            </a:r>
            <a:endParaRPr lang="en-US" sz="3200" b="1" strike="noStrike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1" name="Right Arrow 20"/>
          <p:cNvSpPr/>
          <p:nvPr/>
        </p:nvSpPr>
        <p:spPr>
          <a:xfrm flipH="1">
            <a:off x="7878271" y="1094864"/>
            <a:ext cx="768386" cy="486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6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6316" y="1064088"/>
            <a:ext cx="95808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Pass 3 :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550449" y="1033554"/>
                <a:ext cx="3002863" cy="861774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𝑖𝑓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 &gt; 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cs typeface="Consolas" pitchFamily="49" charset="0"/>
                </a:endParaRPr>
              </a:p>
              <a:p>
                <a:pPr marL="0" lvl="2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𝑠𝑤𝑎𝑝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],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449" y="1033554"/>
                <a:ext cx="3002863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Shape 1">
            <a:extLst>
              <a:ext uri="{FF2B5EF4-FFF2-40B4-BE49-F238E27FC236}">
                <a16:creationId xmlns:a16="http://schemas.microsoft.com/office/drawing/2014/main" id="{2DF26886-825E-173F-6130-81718B438D1B}"/>
              </a:ext>
            </a:extLst>
          </p:cNvPr>
          <p:cNvSpPr txBox="1"/>
          <p:nvPr/>
        </p:nvSpPr>
        <p:spPr>
          <a:xfrm>
            <a:off x="311760" y="738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>
              <a:lnSpc>
                <a:spcPct val="100000"/>
              </a:lnSpc>
            </a:pPr>
            <a:endParaRPr lang="en-US" sz="2300" b="0" strike="noStrike" spc="-1" dirty="0">
              <a:solidFill>
                <a:srgbClr val="000000"/>
              </a:solidFill>
              <a:latin typeface="Algerian" panose="04020705040A02060702" pitchFamily="82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32345-BBB1-246D-17A0-B3500738ECD1}"/>
              </a:ext>
            </a:extLst>
          </p:cNvPr>
          <p:cNvSpPr txBox="1"/>
          <p:nvPr/>
        </p:nvSpPr>
        <p:spPr>
          <a:xfrm>
            <a:off x="2027908" y="1017921"/>
            <a:ext cx="5087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34</a:t>
            </a:r>
            <a:r>
              <a:rPr lang="en-IN" sz="2400" kern="0" dirty="0">
                <a:solidFill>
                  <a:prstClr val="black"/>
                </a:solidFill>
                <a:latin typeface="Arial"/>
                <a:sym typeface="Corbel"/>
              </a:rPr>
              <a:t>	23 	12 	45	 56</a:t>
            </a:r>
            <a:endParaRPr lang="en-IN" sz="24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9" name="TextShape 1">
            <a:extLst>
              <a:ext uri="{FF2B5EF4-FFF2-40B4-BE49-F238E27FC236}">
                <a16:creationId xmlns:a16="http://schemas.microsoft.com/office/drawing/2014/main" id="{0263B2CA-E8D8-F1F2-1906-B48DD37DB8DA}"/>
              </a:ext>
            </a:extLst>
          </p:cNvPr>
          <p:cNvSpPr txBox="1"/>
          <p:nvPr/>
        </p:nvSpPr>
        <p:spPr>
          <a:xfrm>
            <a:off x="450376" y="226200"/>
            <a:ext cx="865606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Bubble sort - </a:t>
            </a:r>
            <a:r>
              <a:rPr lang="en-IN" sz="3200" b="1" strike="noStrike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</a:t>
            </a:r>
            <a:endParaRPr lang="en-US" sz="3200" b="1" strike="noStrike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" name="Freeform 27">
            <a:extLst>
              <a:ext uri="{FF2B5EF4-FFF2-40B4-BE49-F238E27FC236}">
                <a16:creationId xmlns:a16="http://schemas.microsoft.com/office/drawing/2014/main" id="{6153569B-C340-3147-BD41-9C2C1D0D929C}"/>
              </a:ext>
            </a:extLst>
          </p:cNvPr>
          <p:cNvSpPr/>
          <p:nvPr/>
        </p:nvSpPr>
        <p:spPr>
          <a:xfrm rot="16200000" flipH="1">
            <a:off x="2646970" y="1104328"/>
            <a:ext cx="320101" cy="869057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BF4069-36F9-D1A6-6DE9-B51812824C4F}"/>
              </a:ext>
            </a:extLst>
          </p:cNvPr>
          <p:cNvSpPr txBox="1"/>
          <p:nvPr/>
        </p:nvSpPr>
        <p:spPr>
          <a:xfrm rot="16200000" flipV="1">
            <a:off x="2869701" y="1226381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12" name="Freeform 27">
            <a:extLst>
              <a:ext uri="{FF2B5EF4-FFF2-40B4-BE49-F238E27FC236}">
                <a16:creationId xmlns:a16="http://schemas.microsoft.com/office/drawing/2014/main" id="{93431E08-9849-0857-8DFE-95FCB57540FF}"/>
              </a:ext>
            </a:extLst>
          </p:cNvPr>
          <p:cNvSpPr/>
          <p:nvPr/>
        </p:nvSpPr>
        <p:spPr>
          <a:xfrm rot="16200000" flipH="1">
            <a:off x="3746156" y="2220553"/>
            <a:ext cx="229503" cy="869057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07F75-8827-C382-F961-F546B2A5B3F4}"/>
              </a:ext>
            </a:extLst>
          </p:cNvPr>
          <p:cNvSpPr txBox="1"/>
          <p:nvPr/>
        </p:nvSpPr>
        <p:spPr>
          <a:xfrm rot="16200000" flipV="1">
            <a:off x="3887502" y="2281139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14" name="Freeform 27">
            <a:extLst>
              <a:ext uri="{FF2B5EF4-FFF2-40B4-BE49-F238E27FC236}">
                <a16:creationId xmlns:a16="http://schemas.microsoft.com/office/drawing/2014/main" id="{DB09CE89-59F7-1E1F-4568-933C462C0419}"/>
              </a:ext>
            </a:extLst>
          </p:cNvPr>
          <p:cNvSpPr/>
          <p:nvPr/>
        </p:nvSpPr>
        <p:spPr>
          <a:xfrm rot="16200000" flipH="1">
            <a:off x="4516627" y="3375220"/>
            <a:ext cx="320101" cy="869057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4E3CE3-9892-0909-30C0-B39D3E957832}"/>
              </a:ext>
            </a:extLst>
          </p:cNvPr>
          <p:cNvSpPr txBox="1"/>
          <p:nvPr/>
        </p:nvSpPr>
        <p:spPr>
          <a:xfrm rot="16200000" flipV="1">
            <a:off x="4739358" y="3437557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No swap</a:t>
            </a:r>
          </a:p>
        </p:txBody>
      </p:sp>
      <p:sp>
        <p:nvSpPr>
          <p:cNvPr id="16" name="Freeform 27">
            <a:extLst>
              <a:ext uri="{FF2B5EF4-FFF2-40B4-BE49-F238E27FC236}">
                <a16:creationId xmlns:a16="http://schemas.microsoft.com/office/drawing/2014/main" id="{B77B6259-166C-2E97-0C04-D69F8D28FCEB}"/>
              </a:ext>
            </a:extLst>
          </p:cNvPr>
          <p:cNvSpPr/>
          <p:nvPr/>
        </p:nvSpPr>
        <p:spPr>
          <a:xfrm rot="16200000" flipH="1">
            <a:off x="5501421" y="4533655"/>
            <a:ext cx="320101" cy="869057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E5F105-96F2-57C0-DC6E-8D8BAB87EA6B}"/>
              </a:ext>
            </a:extLst>
          </p:cNvPr>
          <p:cNvSpPr txBox="1"/>
          <p:nvPr/>
        </p:nvSpPr>
        <p:spPr>
          <a:xfrm rot="16200000" flipV="1">
            <a:off x="5636124" y="4631026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No swap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FDC99A-6952-03EC-451A-8BCC5ECC8357}"/>
              </a:ext>
            </a:extLst>
          </p:cNvPr>
          <p:cNvSpPr txBox="1"/>
          <p:nvPr/>
        </p:nvSpPr>
        <p:spPr>
          <a:xfrm>
            <a:off x="2097000" y="2112790"/>
            <a:ext cx="5087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23</a:t>
            </a:r>
            <a:r>
              <a:rPr lang="en-IN" sz="2400" kern="0" dirty="0">
                <a:solidFill>
                  <a:prstClr val="black"/>
                </a:solidFill>
                <a:latin typeface="Arial"/>
                <a:sym typeface="Corbel"/>
              </a:rPr>
              <a:t>	34	12 	45	 56</a:t>
            </a:r>
            <a:endParaRPr lang="en-IN" sz="24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7EC9E5-AEFB-FC3B-0C62-C52CFE82766A}"/>
              </a:ext>
            </a:extLst>
          </p:cNvPr>
          <p:cNvSpPr txBox="1"/>
          <p:nvPr/>
        </p:nvSpPr>
        <p:spPr>
          <a:xfrm>
            <a:off x="2097000" y="3296857"/>
            <a:ext cx="50878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23</a:t>
            </a:r>
            <a:r>
              <a:rPr lang="en-IN" sz="2400" kern="0" dirty="0">
                <a:solidFill>
                  <a:prstClr val="black"/>
                </a:solidFill>
                <a:latin typeface="Arial"/>
                <a:sym typeface="Corbel"/>
              </a:rPr>
              <a:t>	12	34 	45	 56</a:t>
            </a:r>
            <a:endParaRPr lang="en-IN" sz="24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BF5A71-ED20-5C8B-474A-C3795732C0EC}"/>
              </a:ext>
            </a:extLst>
          </p:cNvPr>
          <p:cNvSpPr txBox="1"/>
          <p:nvPr/>
        </p:nvSpPr>
        <p:spPr>
          <a:xfrm>
            <a:off x="2175480" y="4417249"/>
            <a:ext cx="6102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23</a:t>
            </a:r>
            <a:r>
              <a:rPr lang="en-IN" sz="2400" kern="0" dirty="0">
                <a:solidFill>
                  <a:prstClr val="black"/>
                </a:solidFill>
                <a:latin typeface="Arial"/>
                <a:sym typeface="Corbel"/>
              </a:rPr>
              <a:t>	12	34 	45	 56</a:t>
            </a:r>
            <a:endParaRPr lang="en-IN" sz="24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21" name="Right Arrow 20"/>
          <p:cNvSpPr/>
          <p:nvPr/>
        </p:nvSpPr>
        <p:spPr>
          <a:xfrm flipH="1">
            <a:off x="7782063" y="1135566"/>
            <a:ext cx="768386" cy="486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21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6316" y="1064088"/>
            <a:ext cx="95808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Pass 4 :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503195" y="1002533"/>
                <a:ext cx="3002863" cy="861774"/>
              </a:xfrm>
              <a:prstGeom prst="rect">
                <a:avLst/>
              </a:prstGeom>
              <a:ln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𝑖𝑓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 &gt; 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cs typeface="Consolas" pitchFamily="49" charset="0"/>
                </a:endParaRPr>
              </a:p>
              <a:p>
                <a:pPr marL="0" lvl="2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𝑠𝑤𝑎𝑝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(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 smtClean="0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],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𝐴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[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𝑗</m:t>
                      </m:r>
                      <m:r>
                        <a:rPr lang="en-US" sz="2000" i="1">
                          <a:solidFill>
                            <a:srgbClr val="A71160"/>
                          </a:solidFill>
                          <a:latin typeface="Cambria Math" panose="02040503050406030204" pitchFamily="18" charset="0"/>
                          <a:cs typeface="Consolas" pitchFamily="49" charset="0"/>
                        </a:rPr>
                        <m:t>+1])</m:t>
                      </m:r>
                    </m:oMath>
                  </m:oMathPara>
                </a14:m>
                <a:endParaRPr lang="en-US" sz="2000" dirty="0">
                  <a:solidFill>
                    <a:srgbClr val="A71160"/>
                  </a:solidFill>
                  <a:cs typeface="Consolas" pitchFamily="49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195" y="1002533"/>
                <a:ext cx="3002863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Shape 1">
            <a:extLst>
              <a:ext uri="{FF2B5EF4-FFF2-40B4-BE49-F238E27FC236}">
                <a16:creationId xmlns:a16="http://schemas.microsoft.com/office/drawing/2014/main" id="{2DF26886-825E-173F-6130-81718B438D1B}"/>
              </a:ext>
            </a:extLst>
          </p:cNvPr>
          <p:cNvSpPr txBox="1"/>
          <p:nvPr/>
        </p:nvSpPr>
        <p:spPr>
          <a:xfrm>
            <a:off x="311760" y="7380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>
              <a:lnSpc>
                <a:spcPct val="100000"/>
              </a:lnSpc>
            </a:pPr>
            <a:endParaRPr lang="en-US" sz="2300" b="0" strike="noStrike" spc="-1" dirty="0">
              <a:solidFill>
                <a:srgbClr val="000000"/>
              </a:solidFill>
              <a:latin typeface="Algerian" panose="04020705040A02060702" pitchFamily="82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Shape 1">
            <a:extLst>
              <a:ext uri="{FF2B5EF4-FFF2-40B4-BE49-F238E27FC236}">
                <a16:creationId xmlns:a16="http://schemas.microsoft.com/office/drawing/2014/main" id="{0263B2CA-E8D8-F1F2-1906-B48DD37DB8DA}"/>
              </a:ext>
            </a:extLst>
          </p:cNvPr>
          <p:cNvSpPr txBox="1"/>
          <p:nvPr/>
        </p:nvSpPr>
        <p:spPr>
          <a:xfrm>
            <a:off x="311760" y="226200"/>
            <a:ext cx="8794676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600" b="1" strike="noStrike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Bubble sort - </a:t>
            </a:r>
            <a:r>
              <a:rPr lang="en-IN" sz="3600" b="1" strike="noStrike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</a:t>
            </a:r>
            <a:endParaRPr lang="en-US" sz="3600" b="1" strike="noStrike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9" name="Freeform 27">
            <a:extLst>
              <a:ext uri="{FF2B5EF4-FFF2-40B4-BE49-F238E27FC236}">
                <a16:creationId xmlns:a16="http://schemas.microsoft.com/office/drawing/2014/main" id="{B77B6259-166C-2E97-0C04-D69F8D28FCEB}"/>
              </a:ext>
            </a:extLst>
          </p:cNvPr>
          <p:cNvSpPr/>
          <p:nvPr/>
        </p:nvSpPr>
        <p:spPr>
          <a:xfrm rot="16200000" flipH="1">
            <a:off x="2370294" y="1123653"/>
            <a:ext cx="320101" cy="869057"/>
          </a:xfrm>
          <a:custGeom>
            <a:avLst/>
            <a:gdLst>
              <a:gd name="connsiteX0" fmla="*/ 0 w 272955"/>
              <a:gd name="connsiteY0" fmla="*/ 0 h 450376"/>
              <a:gd name="connsiteX1" fmla="*/ 272955 w 272955"/>
              <a:gd name="connsiteY1" fmla="*/ 0 h 450376"/>
              <a:gd name="connsiteX2" fmla="*/ 272955 w 272955"/>
              <a:gd name="connsiteY2" fmla="*/ 450376 h 450376"/>
              <a:gd name="connsiteX3" fmla="*/ 0 w 272955"/>
              <a:gd name="connsiteY3" fmla="*/ 450376 h 450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955" h="450376">
                <a:moveTo>
                  <a:pt x="0" y="0"/>
                </a:moveTo>
                <a:lnTo>
                  <a:pt x="272955" y="0"/>
                </a:lnTo>
                <a:lnTo>
                  <a:pt x="272955" y="450376"/>
                </a:lnTo>
                <a:lnTo>
                  <a:pt x="0" y="450376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E5F105-96F2-57C0-DC6E-8D8BAB87EA6B}"/>
              </a:ext>
            </a:extLst>
          </p:cNvPr>
          <p:cNvSpPr txBox="1"/>
          <p:nvPr/>
        </p:nvSpPr>
        <p:spPr>
          <a:xfrm rot="16200000" flipV="1">
            <a:off x="2593025" y="1221024"/>
            <a:ext cx="461665" cy="145608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F5A71-ED20-5C8B-474A-C3795732C0EC}"/>
              </a:ext>
            </a:extLst>
          </p:cNvPr>
          <p:cNvSpPr txBox="1"/>
          <p:nvPr/>
        </p:nvSpPr>
        <p:spPr>
          <a:xfrm>
            <a:off x="1794913" y="1064088"/>
            <a:ext cx="6102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23</a:t>
            </a:r>
            <a:r>
              <a:rPr lang="en-IN" sz="2400" kern="0" dirty="0">
                <a:solidFill>
                  <a:prstClr val="black"/>
                </a:solidFill>
                <a:latin typeface="Arial"/>
                <a:sym typeface="Corbel"/>
              </a:rPr>
              <a:t>	12	34 	45	 56</a:t>
            </a:r>
            <a:endParaRPr lang="en-IN" sz="24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D529A-3AEC-BB5F-4638-5B6DBFFB9A1E}"/>
              </a:ext>
            </a:extLst>
          </p:cNvPr>
          <p:cNvSpPr txBox="1"/>
          <p:nvPr/>
        </p:nvSpPr>
        <p:spPr>
          <a:xfrm>
            <a:off x="1869321" y="2317764"/>
            <a:ext cx="4408649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FF006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12</a:t>
            </a:r>
            <a:r>
              <a:rPr lang="en-IN" sz="2400" kern="0" dirty="0">
                <a:solidFill>
                  <a:prstClr val="black"/>
                </a:solidFill>
                <a:latin typeface="Arial"/>
                <a:sym typeface="Corbel"/>
              </a:rPr>
              <a:t>	23	34 	45	 56</a:t>
            </a:r>
            <a:endParaRPr lang="en-IN" sz="24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4F4C1A-987B-A14A-5126-F4DFD4CF2240}"/>
              </a:ext>
            </a:extLst>
          </p:cNvPr>
          <p:cNvSpPr txBox="1"/>
          <p:nvPr/>
        </p:nvSpPr>
        <p:spPr>
          <a:xfrm>
            <a:off x="1185313" y="4063489"/>
            <a:ext cx="863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The sorted array….. </a:t>
            </a:r>
            <a:r>
              <a:rPr lang="en-IN" sz="2400" kern="0" dirty="0">
                <a:solidFill>
                  <a:prstClr val="black"/>
                </a:solidFill>
                <a:latin typeface="Arial"/>
                <a:sym typeface="Corbel"/>
              </a:rPr>
              <a:t>12	 </a:t>
            </a:r>
            <a:r>
              <a:rPr lang="en-US" sz="2400" kern="0" dirty="0">
                <a:solidFill>
                  <a:prstClr val="black"/>
                </a:solidFill>
                <a:latin typeface="Arial"/>
                <a:sym typeface="Corbel"/>
              </a:rPr>
              <a:t>23 </a:t>
            </a:r>
            <a:r>
              <a:rPr lang="en-IN" sz="2400" kern="0" dirty="0">
                <a:solidFill>
                  <a:prstClr val="black"/>
                </a:solidFill>
                <a:latin typeface="Arial"/>
                <a:sym typeface="Corbel"/>
              </a:rPr>
              <a:t>	34 	45	 56</a:t>
            </a:r>
            <a:endParaRPr lang="en-IN" sz="2400" kern="0" dirty="0">
              <a:solidFill>
                <a:prstClr val="black"/>
              </a:solidFill>
              <a:latin typeface="Arial"/>
            </a:endParaRPr>
          </a:p>
        </p:txBody>
      </p:sp>
      <p:sp>
        <p:nvSpPr>
          <p:cNvPr id="15" name="Right Arrow 14"/>
          <p:cNvSpPr/>
          <p:nvPr/>
        </p:nvSpPr>
        <p:spPr>
          <a:xfrm flipH="1">
            <a:off x="7734809" y="1064088"/>
            <a:ext cx="768386" cy="486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8503195" y="2228444"/>
            <a:ext cx="3138345" cy="10156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2">
              <a:spcBef>
                <a:spcPts val="600"/>
              </a:spcBef>
              <a:spcAft>
                <a:spcPts val="600"/>
              </a:spcAft>
            </a:pPr>
            <a:r>
              <a:rPr lang="en-US" sz="2000" dirty="0" smtClean="0">
                <a:solidFill>
                  <a:srgbClr val="A71160"/>
                </a:solidFill>
                <a:cs typeface="Consolas" pitchFamily="49" charset="0"/>
              </a:rPr>
              <a:t>Now check entire array is sorted. If yes, stop the process.</a:t>
            </a:r>
            <a:endParaRPr lang="en-US" sz="2000" dirty="0">
              <a:solidFill>
                <a:srgbClr val="A71160"/>
              </a:solidFill>
              <a:cs typeface="Consolas" pitchFamily="49" charset="0"/>
            </a:endParaRPr>
          </a:p>
        </p:txBody>
      </p:sp>
      <p:sp>
        <p:nvSpPr>
          <p:cNvPr id="17" name="Right Arrow 16"/>
          <p:cNvSpPr/>
          <p:nvPr/>
        </p:nvSpPr>
        <p:spPr>
          <a:xfrm flipH="1">
            <a:off x="7734809" y="2391053"/>
            <a:ext cx="768386" cy="486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76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90618" y="1039813"/>
            <a:ext cx="11564822" cy="552608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Selection sort divides the array or list into two parts, </a:t>
            </a:r>
          </a:p>
          <a:p>
            <a:pPr marL="1001712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 sorted part at the left end </a:t>
            </a:r>
          </a:p>
          <a:p>
            <a:pPr marL="1001712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b="1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The unsorted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part at the right </a:t>
            </a:r>
            <a:r>
              <a:rPr lang="en-US" sz="2400" b="1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end </a:t>
            </a:r>
            <a:endParaRPr lang="en-US" sz="2400" b="1" dirty="0">
              <a:solidFill>
                <a:srgbClr val="0070C0"/>
              </a:solidFill>
              <a:latin typeface="Trebuchet MS" panose="020B0603020202020204" pitchFamily="34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Initially, the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sorted part is empty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and the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unsorted part is the entire list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The smallest element is selected from the unsorted array and swapped with the leftmost element, and that element becomes a part of the sorted array.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Then it finds the second smallest element and exchanges it with the element in the second leftmost position.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This process continues until the entire array is sorted.</a:t>
            </a:r>
          </a:p>
          <a:p>
            <a:pPr marL="143997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400" dirty="0">
              <a:latin typeface="Trebuchet MS" panose="020B0603020202020204" pitchFamily="34" charset="0"/>
              <a:ea typeface="Cambria" panose="02040503050406030204" pitchFamily="18" charset="0"/>
            </a:endParaRPr>
          </a:p>
          <a:p>
            <a:endParaRPr lang="en-US" sz="2400" dirty="0">
              <a:latin typeface="Trebuchet MS" panose="020B0603020202020204" pitchFamily="34" charset="0"/>
              <a:ea typeface="Cambria" panose="02040503050406030204" pitchFamily="18" charset="0"/>
            </a:endParaRP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CA483383-659D-43B6-7510-06A00F87BC58}"/>
              </a:ext>
            </a:extLst>
          </p:cNvPr>
          <p:cNvSpPr txBox="1"/>
          <p:nvPr/>
        </p:nvSpPr>
        <p:spPr>
          <a:xfrm>
            <a:off x="390618" y="127995"/>
            <a:ext cx="8520119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algorithm 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55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54050" y="1235075"/>
            <a:ext cx="11537950" cy="537210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143997" indent="0">
              <a:buNone/>
            </a:pPr>
            <a:r>
              <a:rPr lang="pt-BR" sz="2400" b="1" dirty="0">
                <a:solidFill>
                  <a:srgbClr val="FF0000"/>
                </a:solidFill>
                <a:latin typeface="Trebuchet MS" panose="020B0603020202020204" pitchFamily="34" charset="0"/>
              </a:rPr>
              <a:t>ALGORITHM</a:t>
            </a:r>
            <a:r>
              <a:rPr lang="pt-BR" sz="2400" b="1" dirty="0">
                <a:latin typeface="Trebuchet MS" panose="020B0603020202020204" pitchFamily="34" charset="0"/>
              </a:rPr>
              <a:t> </a:t>
            </a:r>
            <a:r>
              <a:rPr lang="pt-BR" sz="2400" b="1" i="1" dirty="0">
                <a:solidFill>
                  <a:srgbClr val="0070C0"/>
                </a:solidFill>
                <a:latin typeface="Trebuchet MS" panose="020B0603020202020204" pitchFamily="34" charset="0"/>
              </a:rPr>
              <a:t>SelectionSort</a:t>
            </a:r>
            <a:r>
              <a:rPr lang="pt-BR" sz="2400" i="1" dirty="0">
                <a:latin typeface="Trebuchet MS" panose="020B0603020202020204" pitchFamily="34" charset="0"/>
              </a:rPr>
              <a:t>(A</a:t>
            </a:r>
            <a:r>
              <a:rPr lang="pt-BR" sz="2400" dirty="0">
                <a:latin typeface="Trebuchet MS" panose="020B0603020202020204" pitchFamily="34" charset="0"/>
              </a:rPr>
              <a:t>[0</a:t>
            </a:r>
            <a:r>
              <a:rPr lang="pt-BR" sz="2400" i="1" dirty="0">
                <a:latin typeface="Trebuchet MS" panose="020B0603020202020204" pitchFamily="34" charset="0"/>
              </a:rPr>
              <a:t>..n </a:t>
            </a:r>
            <a:r>
              <a:rPr lang="pt-BR" sz="2400" dirty="0">
                <a:latin typeface="Trebuchet MS" panose="020B0603020202020204" pitchFamily="34" charset="0"/>
              </a:rPr>
              <a:t>− 1]</a:t>
            </a:r>
            <a:r>
              <a:rPr lang="pt-BR" sz="2400" i="1" dirty="0">
                <a:latin typeface="Trebuchet MS" panose="020B0603020202020204" pitchFamily="34" charset="0"/>
              </a:rPr>
              <a:t>)</a:t>
            </a:r>
          </a:p>
          <a:p>
            <a:pPr marL="143997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dirty="0">
                <a:latin typeface="Trebuchet MS" panose="020B0603020202020204" pitchFamily="34" charset="0"/>
              </a:rPr>
              <a:t>//Sorts a given array by selection sort</a:t>
            </a:r>
          </a:p>
          <a:p>
            <a:pPr marL="143997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//Input: </a:t>
            </a:r>
            <a:r>
              <a:rPr lang="en-IN" sz="2400" dirty="0">
                <a:latin typeface="Trebuchet MS" panose="020B0603020202020204" pitchFamily="34" charset="0"/>
              </a:rPr>
              <a:t>An array </a:t>
            </a:r>
            <a:r>
              <a:rPr lang="en-IN" sz="2400" i="1" dirty="0">
                <a:latin typeface="Trebuchet MS" panose="020B0603020202020204" pitchFamily="34" charset="0"/>
              </a:rPr>
              <a:t>A</a:t>
            </a:r>
            <a:r>
              <a:rPr lang="en-IN" sz="2400" dirty="0">
                <a:latin typeface="Trebuchet MS" panose="020B0603020202020204" pitchFamily="34" charset="0"/>
              </a:rPr>
              <a:t>[0..</a:t>
            </a:r>
            <a:r>
              <a:rPr lang="en-IN" sz="2400" i="1" dirty="0">
                <a:latin typeface="Trebuchet MS" panose="020B0603020202020204" pitchFamily="34" charset="0"/>
              </a:rPr>
              <a:t>n </a:t>
            </a:r>
            <a:r>
              <a:rPr lang="en-IN" sz="2400" dirty="0">
                <a:latin typeface="Trebuchet MS" panose="020B0603020202020204" pitchFamily="34" charset="0"/>
              </a:rPr>
              <a:t>− 1] of orderable elements</a:t>
            </a:r>
          </a:p>
          <a:p>
            <a:pPr marL="143997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//Output: </a:t>
            </a:r>
            <a:r>
              <a:rPr lang="en-IN" sz="2400" dirty="0">
                <a:latin typeface="Trebuchet MS" panose="020B0603020202020204" pitchFamily="34" charset="0"/>
              </a:rPr>
              <a:t>Array </a:t>
            </a:r>
            <a:r>
              <a:rPr lang="en-IN" sz="2400" i="1" dirty="0">
                <a:latin typeface="Trebuchet MS" panose="020B0603020202020204" pitchFamily="34" charset="0"/>
              </a:rPr>
              <a:t>A</a:t>
            </a:r>
            <a:r>
              <a:rPr lang="en-IN" sz="2400" dirty="0">
                <a:latin typeface="Trebuchet MS" panose="020B0603020202020204" pitchFamily="34" charset="0"/>
              </a:rPr>
              <a:t>[0..</a:t>
            </a:r>
            <a:r>
              <a:rPr lang="en-IN" sz="2400" i="1" dirty="0">
                <a:latin typeface="Trebuchet MS" panose="020B0603020202020204" pitchFamily="34" charset="0"/>
              </a:rPr>
              <a:t>n </a:t>
            </a:r>
            <a:r>
              <a:rPr lang="en-IN" sz="2400" dirty="0">
                <a:latin typeface="Trebuchet MS" panose="020B0603020202020204" pitchFamily="34" charset="0"/>
              </a:rPr>
              <a:t>− 1] sorted in nondecreasing order</a:t>
            </a:r>
          </a:p>
          <a:p>
            <a:pPr marL="482388" lvl="1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dirty="0">
                <a:latin typeface="Trebuchet MS" panose="020B0603020202020204" pitchFamily="34" charset="0"/>
              </a:rPr>
              <a:t>for </a:t>
            </a:r>
            <a:r>
              <a:rPr lang="en-IN" sz="2400" dirty="0" err="1">
                <a:latin typeface="Trebuchet MS" panose="020B0603020202020204" pitchFamily="34" charset="0"/>
              </a:rPr>
              <a:t>i</a:t>
            </a:r>
            <a:r>
              <a:rPr lang="en-IN" sz="2400" dirty="0">
                <a:latin typeface="Trebuchet MS" panose="020B0603020202020204" pitchFamily="34" charset="0"/>
              </a:rPr>
              <a:t> ←0 to n − 2 do</a:t>
            </a:r>
          </a:p>
          <a:p>
            <a:pPr marL="482388" lvl="1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dirty="0">
                <a:latin typeface="Trebuchet MS" panose="020B0603020202020204" pitchFamily="34" charset="0"/>
              </a:rPr>
              <a:t>	</a:t>
            </a:r>
            <a:r>
              <a:rPr lang="en-IN" sz="2400" dirty="0" err="1">
                <a:latin typeface="Trebuchet MS" panose="020B0603020202020204" pitchFamily="34" charset="0"/>
              </a:rPr>
              <a:t>min←i</a:t>
            </a:r>
            <a:endParaRPr lang="en-IN" sz="2400" dirty="0">
              <a:latin typeface="Trebuchet MS" panose="020B0603020202020204" pitchFamily="34" charset="0"/>
            </a:endParaRPr>
          </a:p>
          <a:p>
            <a:pPr marL="482388" lvl="1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dirty="0">
                <a:latin typeface="Trebuchet MS" panose="020B0603020202020204" pitchFamily="34" charset="0"/>
              </a:rPr>
              <a:t>	for j ←</a:t>
            </a:r>
            <a:r>
              <a:rPr lang="en-IN" sz="2400" dirty="0" err="1">
                <a:latin typeface="Trebuchet MS" panose="020B0603020202020204" pitchFamily="34" charset="0"/>
              </a:rPr>
              <a:t>i</a:t>
            </a:r>
            <a:r>
              <a:rPr lang="en-IN" sz="2400" dirty="0">
                <a:latin typeface="Trebuchet MS" panose="020B0603020202020204" pitchFamily="34" charset="0"/>
              </a:rPr>
              <a:t> + 1 to n − 1 do</a:t>
            </a:r>
          </a:p>
          <a:p>
            <a:pPr marL="482388" lvl="1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dirty="0">
                <a:latin typeface="Trebuchet MS" panose="020B0603020202020204" pitchFamily="34" charset="0"/>
              </a:rPr>
              <a:t>	      if A[j ]&lt;A[min] </a:t>
            </a:r>
            <a:endParaRPr lang="en-IN" sz="2400" dirty="0" smtClean="0">
              <a:latin typeface="Trebuchet MS" panose="020B0603020202020204" pitchFamily="34" charset="0"/>
            </a:endParaRPr>
          </a:p>
          <a:p>
            <a:pPr marL="482388" lvl="1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dirty="0">
                <a:latin typeface="Trebuchet MS" panose="020B0603020202020204" pitchFamily="34" charset="0"/>
              </a:rPr>
              <a:t>	 </a:t>
            </a:r>
            <a:r>
              <a:rPr lang="en-IN" sz="2400" dirty="0" smtClean="0">
                <a:latin typeface="Trebuchet MS" panose="020B0603020202020204" pitchFamily="34" charset="0"/>
              </a:rPr>
              <a:t>        </a:t>
            </a:r>
            <a:r>
              <a:rPr lang="en-IN" sz="2400" dirty="0" err="1" smtClean="0">
                <a:latin typeface="Trebuchet MS" panose="020B0603020202020204" pitchFamily="34" charset="0"/>
              </a:rPr>
              <a:t>min</a:t>
            </a:r>
            <a:r>
              <a:rPr lang="en-IN" sz="2400" dirty="0" err="1">
                <a:latin typeface="Trebuchet MS" panose="020B0603020202020204" pitchFamily="34" charset="0"/>
              </a:rPr>
              <a:t>←j</a:t>
            </a:r>
            <a:endParaRPr lang="en-IN" sz="2400" dirty="0">
              <a:latin typeface="Trebuchet MS" panose="020B0603020202020204" pitchFamily="34" charset="0"/>
            </a:endParaRPr>
          </a:p>
          <a:p>
            <a:pPr marL="482388" lvl="1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dirty="0">
                <a:latin typeface="Trebuchet MS" panose="020B0603020202020204" pitchFamily="34" charset="0"/>
              </a:rPr>
              <a:t>	swap A[</a:t>
            </a:r>
            <a:r>
              <a:rPr lang="en-IN" sz="2400" dirty="0" err="1">
                <a:latin typeface="Trebuchet MS" panose="020B0603020202020204" pitchFamily="34" charset="0"/>
              </a:rPr>
              <a:t>i</a:t>
            </a:r>
            <a:r>
              <a:rPr lang="en-IN" sz="2400" dirty="0">
                <a:latin typeface="Trebuchet MS" panose="020B0603020202020204" pitchFamily="34" charset="0"/>
              </a:rPr>
              <a:t>] and A[min]</a:t>
            </a:r>
            <a:endParaRPr lang="en-US" sz="2400" dirty="0">
              <a:latin typeface="Trebuchet MS" panose="020B0603020202020204" pitchFamily="34" charset="0"/>
            </a:endParaRP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CA483383-659D-43B6-7510-06A00F87BC58}"/>
              </a:ext>
            </a:extLst>
          </p:cNvPr>
          <p:cNvSpPr txBox="1"/>
          <p:nvPr/>
        </p:nvSpPr>
        <p:spPr>
          <a:xfrm>
            <a:off x="390617" y="25082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sort Algorithm 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47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CA483383-659D-43B6-7510-06A00F87BC58}"/>
              </a:ext>
            </a:extLst>
          </p:cNvPr>
          <p:cNvSpPr txBox="1"/>
          <p:nvPr/>
        </p:nvSpPr>
        <p:spPr>
          <a:xfrm>
            <a:off x="390617" y="25082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sort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Algorithm  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1198" y="2151681"/>
            <a:ext cx="795953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rebuchet MS" panose="020B0603020202020204" pitchFamily="34" charset="0"/>
              </a:rPr>
              <a:t>Step 1 </a:t>
            </a:r>
            <a:r>
              <a:rPr lang="en-US" sz="2400" dirty="0">
                <a:latin typeface="Trebuchet MS" panose="020B0603020202020204" pitchFamily="34" charset="0"/>
              </a:rPr>
              <a:t>− Set MIN to location 0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rebuchet MS" panose="020B0603020202020204" pitchFamily="34" charset="0"/>
              </a:rPr>
              <a:t>Step 2 </a:t>
            </a:r>
            <a:r>
              <a:rPr lang="en-US" sz="2400" dirty="0">
                <a:latin typeface="Trebuchet MS" panose="020B0603020202020204" pitchFamily="34" charset="0"/>
              </a:rPr>
              <a:t>− Search the minimum element in the list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rebuchet MS" panose="020B0603020202020204" pitchFamily="34" charset="0"/>
              </a:rPr>
              <a:t>Step 3 </a:t>
            </a:r>
            <a:r>
              <a:rPr lang="en-US" sz="2400" dirty="0">
                <a:latin typeface="Trebuchet MS" panose="020B0603020202020204" pitchFamily="34" charset="0"/>
              </a:rPr>
              <a:t>− Swap with value at location MIN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rebuchet MS" panose="020B0603020202020204" pitchFamily="34" charset="0"/>
              </a:rPr>
              <a:t>Step 4 </a:t>
            </a:r>
            <a:r>
              <a:rPr lang="en-US" sz="2400" dirty="0">
                <a:latin typeface="Trebuchet MS" panose="020B0603020202020204" pitchFamily="34" charset="0"/>
              </a:rPr>
              <a:t>− Increment MIN to point to next element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rebuchet MS" panose="020B0603020202020204" pitchFamily="34" charset="0"/>
              </a:rPr>
              <a:t>Step 5 </a:t>
            </a:r>
            <a:r>
              <a:rPr lang="en-US" sz="2400" dirty="0">
                <a:latin typeface="Trebuchet MS" panose="020B0603020202020204" pitchFamily="34" charset="0"/>
              </a:rPr>
              <a:t>− Repeat until the list is sorted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93142" y="1471502"/>
            <a:ext cx="28392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IN" sz="2800" b="1" spc="-1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Algorithm steps   </a:t>
            </a:r>
            <a:endParaRPr lang="en-US" sz="2800" b="1" spc="-1" dirty="0">
              <a:solidFill>
                <a:srgbClr val="0070C0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690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906900"/>
              </p:ext>
            </p:extLst>
          </p:nvPr>
        </p:nvGraphicFramePr>
        <p:xfrm>
          <a:off x="2867480" y="1207361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7801126"/>
              </p:ext>
            </p:extLst>
          </p:nvPr>
        </p:nvGraphicFramePr>
        <p:xfrm>
          <a:off x="2838299" y="2351983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8987540"/>
              </p:ext>
            </p:extLst>
          </p:nvPr>
        </p:nvGraphicFramePr>
        <p:xfrm>
          <a:off x="2815599" y="2848093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>
            <a:stCxn id="6" idx="1"/>
          </p:cNvCxnSpPr>
          <p:nvPr/>
        </p:nvCxnSpPr>
        <p:spPr>
          <a:xfrm>
            <a:off x="2838299" y="2580583"/>
            <a:ext cx="0" cy="94412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1111424" y="3343429"/>
            <a:ext cx="1756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Sorted Array </a:t>
            </a:r>
            <a:endParaRPr lang="en-US" b="1" dirty="0">
              <a:solidFill>
                <a:srgbClr val="0070C0"/>
              </a:solidFill>
              <a:latin typeface="Corbe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77224" y="3454770"/>
            <a:ext cx="1814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Array </a:t>
            </a:r>
            <a:endParaRPr lang="en-US" b="1" dirty="0">
              <a:solidFill>
                <a:srgbClr val="0070C0"/>
              </a:solidFill>
              <a:latin typeface="Corbel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0950999"/>
              </p:ext>
            </p:extLst>
          </p:nvPr>
        </p:nvGraphicFramePr>
        <p:xfrm>
          <a:off x="2753994" y="4342911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7700291"/>
              </p:ext>
            </p:extLst>
          </p:nvPr>
        </p:nvGraphicFramePr>
        <p:xfrm>
          <a:off x="2731294" y="4839021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Connector 13"/>
          <p:cNvCxnSpPr>
            <a:stCxn id="12" idx="1"/>
          </p:cNvCxnSpPr>
          <p:nvPr/>
        </p:nvCxnSpPr>
        <p:spPr>
          <a:xfrm>
            <a:off x="2753994" y="4571511"/>
            <a:ext cx="0" cy="94412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826214"/>
              </p:ext>
            </p:extLst>
          </p:nvPr>
        </p:nvGraphicFramePr>
        <p:xfrm>
          <a:off x="2838298" y="5697941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Up-Down Arrow 15"/>
          <p:cNvSpPr/>
          <p:nvPr/>
        </p:nvSpPr>
        <p:spPr>
          <a:xfrm>
            <a:off x="3188494" y="5285412"/>
            <a:ext cx="252919" cy="389106"/>
          </a:xfrm>
          <a:prstGeom prst="upDown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i="0" u="none" strike="noStrike" kern="0" normalizeH="0" baseline="0" noProof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orbel"/>
              <a:ea typeface="+mn-ea"/>
              <a:cs typeface="+mn-cs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6741139" y="3639436"/>
            <a:ext cx="240754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1" idx="1"/>
          </p:cNvCxnSpPr>
          <p:nvPr/>
        </p:nvCxnSpPr>
        <p:spPr>
          <a:xfrm flipH="1">
            <a:off x="2867480" y="3639436"/>
            <a:ext cx="2209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75238" y="1304285"/>
            <a:ext cx="1442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Given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465649" y="1443949"/>
            <a:ext cx="288345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415680" y="2037591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 smtClean="0">
                <a:solidFill>
                  <a:srgbClr val="FF0066"/>
                </a:solidFill>
              </a:rPr>
              <a:t>Pass: 1(n=5)</a:t>
            </a:r>
            <a:endParaRPr lang="en-IN" sz="2000" b="1" u="sng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51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7798" y="2178639"/>
            <a:ext cx="1755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Sorted Array </a:t>
            </a:r>
            <a:endParaRPr lang="en-US" b="1" dirty="0">
              <a:solidFill>
                <a:srgbClr val="0070C0"/>
              </a:solidFill>
              <a:latin typeface="Corbe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53519" y="4957189"/>
            <a:ext cx="207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Unsorted Array 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044142"/>
              </p:ext>
            </p:extLst>
          </p:nvPr>
        </p:nvGraphicFramePr>
        <p:xfrm>
          <a:off x="2344562" y="3985503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7074111"/>
              </p:ext>
            </p:extLst>
          </p:nvPr>
        </p:nvGraphicFramePr>
        <p:xfrm>
          <a:off x="2321862" y="4481613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marL="0" algn="l" defTabSz="121914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64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marL="0" algn="l" defTabSz="121914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25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marL="0" algn="l" defTabSz="121914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12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marL="0" algn="l" defTabSz="121914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22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pPr marL="0" algn="l" defTabSz="121914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11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Connector 8"/>
          <p:cNvCxnSpPr>
            <a:stCxn id="7" idx="1"/>
          </p:cNvCxnSpPr>
          <p:nvPr/>
        </p:nvCxnSpPr>
        <p:spPr>
          <a:xfrm>
            <a:off x="2344562" y="4214103"/>
            <a:ext cx="0" cy="94412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195779"/>
              </p:ext>
            </p:extLst>
          </p:nvPr>
        </p:nvGraphicFramePr>
        <p:xfrm>
          <a:off x="4908878" y="5515631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Up-Down Arrow 10"/>
          <p:cNvSpPr/>
          <p:nvPr/>
        </p:nvSpPr>
        <p:spPr>
          <a:xfrm>
            <a:off x="5249887" y="4963673"/>
            <a:ext cx="252919" cy="389106"/>
          </a:xfrm>
          <a:prstGeom prst="upDownArrow">
            <a:avLst/>
          </a:prstGeom>
          <a:solidFill>
            <a:srgbClr val="000000"/>
          </a:solidFill>
          <a:ln w="10795" cap="flat" cmpd="sng" algn="ctr">
            <a:solidFill>
              <a:srgbClr val="00000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0407739"/>
              </p:ext>
            </p:extLst>
          </p:nvPr>
        </p:nvGraphicFramePr>
        <p:xfrm>
          <a:off x="2185677" y="1375248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6365648"/>
              </p:ext>
            </p:extLst>
          </p:nvPr>
        </p:nvGraphicFramePr>
        <p:xfrm>
          <a:off x="2162977" y="1871358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Connector 13"/>
          <p:cNvCxnSpPr>
            <a:stCxn id="12" idx="1"/>
          </p:cNvCxnSpPr>
          <p:nvPr/>
        </p:nvCxnSpPr>
        <p:spPr>
          <a:xfrm>
            <a:off x="2185677" y="1603848"/>
            <a:ext cx="0" cy="94412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904184"/>
              </p:ext>
            </p:extLst>
          </p:nvPr>
        </p:nvGraphicFramePr>
        <p:xfrm>
          <a:off x="3485938" y="2862498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Up-Down Arrow 15"/>
          <p:cNvSpPr/>
          <p:nvPr/>
        </p:nvSpPr>
        <p:spPr>
          <a:xfrm>
            <a:off x="3661036" y="2353418"/>
            <a:ext cx="252919" cy="389106"/>
          </a:xfrm>
          <a:prstGeom prst="upDownArrow">
            <a:avLst/>
          </a:prstGeom>
          <a:solidFill>
            <a:srgbClr val="000000"/>
          </a:solidFill>
          <a:ln w="10795" cap="flat" cmpd="sng" algn="ctr">
            <a:solidFill>
              <a:srgbClr val="00000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2958" y="4788894"/>
            <a:ext cx="148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41896" y="2373192"/>
            <a:ext cx="207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Unsorted Array </a:t>
            </a:r>
          </a:p>
        </p:txBody>
      </p:sp>
    </p:spTree>
    <p:extLst>
      <p:ext uri="{BB962C8B-B14F-4D97-AF65-F5344CB8AC3E}">
        <p14:creationId xmlns:p14="http://schemas.microsoft.com/office/powerpoint/2010/main" val="4189693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3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6310498"/>
              </p:ext>
            </p:extLst>
          </p:nvPr>
        </p:nvGraphicFramePr>
        <p:xfrm>
          <a:off x="2685756" y="3930911"/>
          <a:ext cx="6394685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3417306"/>
              </p:ext>
            </p:extLst>
          </p:nvPr>
        </p:nvGraphicFramePr>
        <p:xfrm>
          <a:off x="2663056" y="4427021"/>
          <a:ext cx="637847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Straight Connector 35"/>
          <p:cNvCxnSpPr>
            <a:stCxn id="34" idx="1"/>
          </p:cNvCxnSpPr>
          <p:nvPr/>
        </p:nvCxnSpPr>
        <p:spPr>
          <a:xfrm>
            <a:off x="2685756" y="4159511"/>
            <a:ext cx="0" cy="9441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30919"/>
              </p:ext>
            </p:extLst>
          </p:nvPr>
        </p:nvGraphicFramePr>
        <p:xfrm>
          <a:off x="7915451" y="5656781"/>
          <a:ext cx="934936" cy="914400"/>
        </p:xfrm>
        <a:graphic>
          <a:graphicData uri="http://schemas.openxmlformats.org/drawingml/2006/table">
            <a:tbl>
              <a:tblPr bandRow="1">
                <a:tableStyleId>{327F97BB-C833-4FB7-BDE5-3F7075034690}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Up-Down Arrow 37"/>
          <p:cNvSpPr/>
          <p:nvPr/>
        </p:nvSpPr>
        <p:spPr>
          <a:xfrm>
            <a:off x="8159183" y="4990148"/>
            <a:ext cx="252919" cy="389106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6116161"/>
              </p:ext>
            </p:extLst>
          </p:nvPr>
        </p:nvGraphicFramePr>
        <p:xfrm>
          <a:off x="2526871" y="1320656"/>
          <a:ext cx="6394685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6404162"/>
              </p:ext>
            </p:extLst>
          </p:nvPr>
        </p:nvGraphicFramePr>
        <p:xfrm>
          <a:off x="2504171" y="1816766"/>
          <a:ext cx="637847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1" name="Straight Connector 40"/>
          <p:cNvCxnSpPr>
            <a:stCxn id="39" idx="1"/>
          </p:cNvCxnSpPr>
          <p:nvPr/>
        </p:nvCxnSpPr>
        <p:spPr>
          <a:xfrm>
            <a:off x="2526871" y="1549256"/>
            <a:ext cx="0" cy="9441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668104"/>
              </p:ext>
            </p:extLst>
          </p:nvPr>
        </p:nvGraphicFramePr>
        <p:xfrm>
          <a:off x="6439548" y="2853303"/>
          <a:ext cx="934936" cy="914400"/>
        </p:xfrm>
        <a:graphic>
          <a:graphicData uri="http://schemas.openxmlformats.org/drawingml/2006/table">
            <a:tbl>
              <a:tblPr bandRow="1">
                <a:tableStyleId>{327F97BB-C833-4FB7-BDE5-3F7075034690}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3" name="Up-Down Arrow 42"/>
          <p:cNvSpPr/>
          <p:nvPr/>
        </p:nvSpPr>
        <p:spPr>
          <a:xfrm>
            <a:off x="6708138" y="2298826"/>
            <a:ext cx="252919" cy="389106"/>
          </a:xfrm>
          <a:prstGeom prst="up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7385936" y="2333879"/>
            <a:ext cx="207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Unsorted Array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4086" y="4901169"/>
            <a:ext cx="207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Unsorted Array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29858" y="2089300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4" name="Rectangle 3"/>
          <p:cNvSpPr/>
          <p:nvPr/>
        </p:nvSpPr>
        <p:spPr>
          <a:xfrm>
            <a:off x="1191587" y="4844009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</p:spTree>
    <p:extLst>
      <p:ext uri="{BB962C8B-B14F-4D97-AF65-F5344CB8AC3E}">
        <p14:creationId xmlns:p14="http://schemas.microsoft.com/office/powerpoint/2010/main" val="10151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0276415"/>
              </p:ext>
            </p:extLst>
          </p:nvPr>
        </p:nvGraphicFramePr>
        <p:xfrm>
          <a:off x="2986006" y="3999150"/>
          <a:ext cx="6394685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9598628"/>
              </p:ext>
            </p:extLst>
          </p:nvPr>
        </p:nvGraphicFramePr>
        <p:xfrm>
          <a:off x="2963306" y="4495260"/>
          <a:ext cx="637847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H="1">
            <a:off x="4221418" y="4168199"/>
            <a:ext cx="1" cy="9873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5722889"/>
              </p:ext>
            </p:extLst>
          </p:nvPr>
        </p:nvGraphicFramePr>
        <p:xfrm>
          <a:off x="2827121" y="1388895"/>
          <a:ext cx="6394685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6129724"/>
              </p:ext>
            </p:extLst>
          </p:nvPr>
        </p:nvGraphicFramePr>
        <p:xfrm>
          <a:off x="2804421" y="1885005"/>
          <a:ext cx="637847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>
            <a:stCxn id="8" idx="1"/>
          </p:cNvCxnSpPr>
          <p:nvPr/>
        </p:nvCxnSpPr>
        <p:spPr>
          <a:xfrm>
            <a:off x="2827121" y="1617495"/>
            <a:ext cx="0" cy="94412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30369" y="1982127"/>
            <a:ext cx="165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3" name="Curved Up Arrow 12"/>
          <p:cNvSpPr/>
          <p:nvPr/>
        </p:nvSpPr>
        <p:spPr>
          <a:xfrm>
            <a:off x="3615058" y="2347772"/>
            <a:ext cx="4873557" cy="213845"/>
          </a:xfrm>
          <a:prstGeom prst="curvedUp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28062" y="2662997"/>
            <a:ext cx="162497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swap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30369" y="4583128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36725" y="2616679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Unsorted Array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84265" y="5139066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Unsorted Array 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4273880" y="5308979"/>
            <a:ext cx="2410385" cy="18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8397245" y="5308979"/>
            <a:ext cx="944536" cy="1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08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98583"/>
              </p:ext>
            </p:extLst>
          </p:nvPr>
        </p:nvGraphicFramePr>
        <p:xfrm>
          <a:off x="2904120" y="4162923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3341235"/>
              </p:ext>
            </p:extLst>
          </p:nvPr>
        </p:nvGraphicFramePr>
        <p:xfrm>
          <a:off x="2881420" y="4659033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H="1">
            <a:off x="4178443" y="4331972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144949"/>
              </p:ext>
            </p:extLst>
          </p:nvPr>
        </p:nvGraphicFramePr>
        <p:xfrm>
          <a:off x="5487892" y="5626150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Up-Down Arrow 8"/>
          <p:cNvSpPr/>
          <p:nvPr/>
        </p:nvSpPr>
        <p:spPr>
          <a:xfrm>
            <a:off x="5760806" y="5192975"/>
            <a:ext cx="252919" cy="38910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972940"/>
              </p:ext>
            </p:extLst>
          </p:nvPr>
        </p:nvGraphicFramePr>
        <p:xfrm>
          <a:off x="2745235" y="1552668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518257"/>
              </p:ext>
            </p:extLst>
          </p:nvPr>
        </p:nvGraphicFramePr>
        <p:xfrm>
          <a:off x="2722535" y="2048778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 flipH="1">
            <a:off x="3982266" y="1738088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15601"/>
              </p:ext>
            </p:extLst>
          </p:nvPr>
        </p:nvGraphicFramePr>
        <p:xfrm>
          <a:off x="3928767" y="2948172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Up-Down Arrow 13"/>
          <p:cNvSpPr/>
          <p:nvPr/>
        </p:nvSpPr>
        <p:spPr>
          <a:xfrm>
            <a:off x="4102465" y="2502736"/>
            <a:ext cx="252919" cy="38910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76648" y="2576270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76647" y="5172505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0571" y="2576270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6516" y="5172505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632" y="1270523"/>
            <a:ext cx="12634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u="sng" dirty="0">
                <a:solidFill>
                  <a:srgbClr val="FF0066"/>
                </a:solidFill>
              </a:rPr>
              <a:t>Pass: </a:t>
            </a:r>
            <a:r>
              <a:rPr lang="en-US" sz="2400" b="1" u="sng" dirty="0" smtClean="0">
                <a:solidFill>
                  <a:srgbClr val="FF0066"/>
                </a:solidFill>
              </a:rPr>
              <a:t>2</a:t>
            </a:r>
            <a:endParaRPr lang="en-IN" sz="2400" b="1" u="sng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59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0362838"/>
              </p:ext>
            </p:extLst>
          </p:nvPr>
        </p:nvGraphicFramePr>
        <p:xfrm>
          <a:off x="2576574" y="4149276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8616839"/>
              </p:ext>
            </p:extLst>
          </p:nvPr>
        </p:nvGraphicFramePr>
        <p:xfrm>
          <a:off x="2553874" y="4645386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H="1">
            <a:off x="3850897" y="4318325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528078"/>
              </p:ext>
            </p:extLst>
          </p:nvPr>
        </p:nvGraphicFramePr>
        <p:xfrm>
          <a:off x="7854908" y="5568434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Up-Down Arrow 8"/>
          <p:cNvSpPr/>
          <p:nvPr/>
        </p:nvSpPr>
        <p:spPr>
          <a:xfrm>
            <a:off x="8079184" y="5091462"/>
            <a:ext cx="252919" cy="38910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9484578"/>
              </p:ext>
            </p:extLst>
          </p:nvPr>
        </p:nvGraphicFramePr>
        <p:xfrm>
          <a:off x="2417689" y="1539021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4711722"/>
              </p:ext>
            </p:extLst>
          </p:nvPr>
        </p:nvGraphicFramePr>
        <p:xfrm>
          <a:off x="2394989" y="2035131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 flipH="1">
            <a:off x="3654720" y="1724441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415204"/>
              </p:ext>
            </p:extLst>
          </p:nvPr>
        </p:nvGraphicFramePr>
        <p:xfrm>
          <a:off x="6257948" y="3068425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939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Up-Down Arrow 13"/>
          <p:cNvSpPr/>
          <p:nvPr/>
        </p:nvSpPr>
        <p:spPr>
          <a:xfrm>
            <a:off x="6472497" y="2571524"/>
            <a:ext cx="252919" cy="38910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76648" y="2576270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53638" y="5116398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2625" y="2518750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33903" y="5141496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</p:spTree>
    <p:extLst>
      <p:ext uri="{BB962C8B-B14F-4D97-AF65-F5344CB8AC3E}">
        <p14:creationId xmlns:p14="http://schemas.microsoft.com/office/powerpoint/2010/main" val="297997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9347745"/>
              </p:ext>
            </p:extLst>
          </p:nvPr>
        </p:nvGraphicFramePr>
        <p:xfrm>
          <a:off x="2344562" y="4081036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649742"/>
              </p:ext>
            </p:extLst>
          </p:nvPr>
        </p:nvGraphicFramePr>
        <p:xfrm>
          <a:off x="2321862" y="4577146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H="1">
            <a:off x="4902936" y="4318179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1565468"/>
              </p:ext>
            </p:extLst>
          </p:nvPr>
        </p:nvGraphicFramePr>
        <p:xfrm>
          <a:off x="2185677" y="1470781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690800"/>
              </p:ext>
            </p:extLst>
          </p:nvPr>
        </p:nvGraphicFramePr>
        <p:xfrm>
          <a:off x="2162977" y="1966891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EB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 flipH="1">
            <a:off x="3422708" y="1656201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13" name="Curved Up Arrow 12"/>
          <p:cNvSpPr/>
          <p:nvPr/>
        </p:nvSpPr>
        <p:spPr>
          <a:xfrm>
            <a:off x="3797221" y="2406800"/>
            <a:ext cx="1238658" cy="184666"/>
          </a:xfrm>
          <a:prstGeom prst="curvedUp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26925" y="2776132"/>
            <a:ext cx="976011" cy="37969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457200"/>
            <a:r>
              <a:rPr lang="en-US" dirty="0" smtClean="0">
                <a:solidFill>
                  <a:srgbClr val="000000"/>
                </a:solidFill>
                <a:latin typeface="Corbel"/>
              </a:rPr>
              <a:t>swap</a:t>
            </a:r>
            <a:endParaRPr lang="en-US" dirty="0">
              <a:solidFill>
                <a:srgbClr val="000000"/>
              </a:solidFill>
              <a:latin typeface="Corbe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76648" y="2576270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4603" y="5207645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760" y="2518545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922" y="5207645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</p:spTree>
    <p:extLst>
      <p:ext uri="{BB962C8B-B14F-4D97-AF65-F5344CB8AC3E}">
        <p14:creationId xmlns:p14="http://schemas.microsoft.com/office/powerpoint/2010/main" val="374438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5056230"/>
              </p:ext>
            </p:extLst>
          </p:nvPr>
        </p:nvGraphicFramePr>
        <p:xfrm>
          <a:off x="2481039" y="4094684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7992748"/>
              </p:ext>
            </p:extLst>
          </p:nvPr>
        </p:nvGraphicFramePr>
        <p:xfrm>
          <a:off x="2458339" y="4590794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H="1">
            <a:off x="4955110" y="4229425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365660"/>
              </p:ext>
            </p:extLst>
          </p:nvPr>
        </p:nvGraphicFramePr>
        <p:xfrm>
          <a:off x="6366694" y="5572209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Up-Down Arrow 8"/>
          <p:cNvSpPr/>
          <p:nvPr/>
        </p:nvSpPr>
        <p:spPr>
          <a:xfrm>
            <a:off x="6581243" y="5066370"/>
            <a:ext cx="252919" cy="38910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5759929"/>
              </p:ext>
            </p:extLst>
          </p:nvPr>
        </p:nvGraphicFramePr>
        <p:xfrm>
          <a:off x="2322154" y="1484429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7325013"/>
              </p:ext>
            </p:extLst>
          </p:nvPr>
        </p:nvGraphicFramePr>
        <p:xfrm>
          <a:off x="2299454" y="1980539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 flipH="1">
            <a:off x="4818105" y="1547385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455511"/>
              </p:ext>
            </p:extLst>
          </p:nvPr>
        </p:nvGraphicFramePr>
        <p:xfrm>
          <a:off x="4955110" y="2789780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939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Up-Down Arrow 13"/>
          <p:cNvSpPr/>
          <p:nvPr/>
        </p:nvSpPr>
        <p:spPr>
          <a:xfrm>
            <a:off x="5345020" y="2390476"/>
            <a:ext cx="252919" cy="38910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81039" y="2526642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81039" y="5163277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54096" y="2506792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29182" y="5125435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539" y="1299763"/>
            <a:ext cx="12634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u="sng" dirty="0">
                <a:solidFill>
                  <a:srgbClr val="FF0066"/>
                </a:solidFill>
              </a:rPr>
              <a:t>Pass: </a:t>
            </a:r>
            <a:r>
              <a:rPr lang="en-US" sz="2400" b="1" u="sng" dirty="0" smtClean="0">
                <a:solidFill>
                  <a:srgbClr val="FF0066"/>
                </a:solidFill>
              </a:rPr>
              <a:t>3</a:t>
            </a:r>
            <a:endParaRPr lang="en-IN" sz="2400" b="1" u="sng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30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3264218"/>
              </p:ext>
            </p:extLst>
          </p:nvPr>
        </p:nvGraphicFramePr>
        <p:xfrm>
          <a:off x="2535631" y="4190218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1126731"/>
              </p:ext>
            </p:extLst>
          </p:nvPr>
        </p:nvGraphicFramePr>
        <p:xfrm>
          <a:off x="2512931" y="4686328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EB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EB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H="1">
            <a:off x="5009702" y="4324959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0158991"/>
              </p:ext>
            </p:extLst>
          </p:nvPr>
        </p:nvGraphicFramePr>
        <p:xfrm>
          <a:off x="2376746" y="1579963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4600908"/>
              </p:ext>
            </p:extLst>
          </p:nvPr>
        </p:nvGraphicFramePr>
        <p:xfrm>
          <a:off x="2354046" y="2076073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 flipH="1">
            <a:off x="4872697" y="1625163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344010"/>
              </p:ext>
            </p:extLst>
          </p:nvPr>
        </p:nvGraphicFramePr>
        <p:xfrm>
          <a:off x="7525925" y="3070455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172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Up-Down Arrow 11"/>
          <p:cNvSpPr/>
          <p:nvPr/>
        </p:nvSpPr>
        <p:spPr>
          <a:xfrm>
            <a:off x="7825037" y="2592221"/>
            <a:ext cx="252919" cy="38910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5" name="Curved Up Arrow 14"/>
          <p:cNvSpPr/>
          <p:nvPr/>
        </p:nvSpPr>
        <p:spPr>
          <a:xfrm>
            <a:off x="5650096" y="5161904"/>
            <a:ext cx="1238658" cy="184666"/>
          </a:xfrm>
          <a:prstGeom prst="curvedUp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79800" y="5531236"/>
            <a:ext cx="976011" cy="379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defTabSz="457200"/>
            <a:r>
              <a:rPr lang="en-US" dirty="0" smtClean="0">
                <a:solidFill>
                  <a:srgbClr val="000000"/>
                </a:solidFill>
                <a:latin typeface="Corbel"/>
              </a:rPr>
              <a:t>swap</a:t>
            </a:r>
            <a:endParaRPr lang="en-US" dirty="0">
              <a:solidFill>
                <a:srgbClr val="000000"/>
              </a:solidFill>
              <a:latin typeface="Corbe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76648" y="2576270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8230" y="5254237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47002" y="2551649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81421" y="5259771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</p:spTree>
    <p:extLst>
      <p:ext uri="{BB962C8B-B14F-4D97-AF65-F5344CB8AC3E}">
        <p14:creationId xmlns:p14="http://schemas.microsoft.com/office/powerpoint/2010/main" val="136499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769279"/>
              </p:ext>
            </p:extLst>
          </p:nvPr>
        </p:nvGraphicFramePr>
        <p:xfrm>
          <a:off x="2562926" y="3971854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421218"/>
              </p:ext>
            </p:extLst>
          </p:nvPr>
        </p:nvGraphicFramePr>
        <p:xfrm>
          <a:off x="2540226" y="4467964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H="1">
            <a:off x="6344544" y="4150790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347642"/>
              </p:ext>
            </p:extLst>
          </p:nvPr>
        </p:nvGraphicFramePr>
        <p:xfrm>
          <a:off x="6448581" y="5449379"/>
          <a:ext cx="934936" cy="914400"/>
        </p:xfrm>
        <a:graphic>
          <a:graphicData uri="http://schemas.openxmlformats.org/drawingml/2006/table">
            <a:tbl>
              <a:tblPr bandRow="1">
                <a:tableStyleId>{35758FB7-9AC5-4552-8A53-C91805E547FA}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Up-Down Arrow 8"/>
          <p:cNvSpPr/>
          <p:nvPr/>
        </p:nvSpPr>
        <p:spPr>
          <a:xfrm>
            <a:off x="6663130" y="4943540"/>
            <a:ext cx="252919" cy="389106"/>
          </a:xfrm>
          <a:prstGeom prst="upDown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0389623"/>
              </p:ext>
            </p:extLst>
          </p:nvPr>
        </p:nvGraphicFramePr>
        <p:xfrm>
          <a:off x="2404041" y="1361599"/>
          <a:ext cx="6394685" cy="457200"/>
        </p:xfrm>
        <a:graphic>
          <a:graphicData uri="http://schemas.openxmlformats.org/drawingml/2006/table">
            <a:tbl>
              <a:tblPr firstRow="1" bandRow="1"/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4647962"/>
              </p:ext>
            </p:extLst>
          </p:nvPr>
        </p:nvGraphicFramePr>
        <p:xfrm>
          <a:off x="2381341" y="1857709"/>
          <a:ext cx="6378475" cy="457200"/>
        </p:xfrm>
        <a:graphic>
          <a:graphicData uri="http://schemas.openxmlformats.org/drawingml/2006/table">
            <a:tbl>
              <a:tblPr firstRow="1" bandRow="1"/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Connector 11"/>
          <p:cNvCxnSpPr/>
          <p:nvPr/>
        </p:nvCxnSpPr>
        <p:spPr>
          <a:xfrm flipH="1">
            <a:off x="6203498" y="1494981"/>
            <a:ext cx="1" cy="98730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15" name="Rectangle 14"/>
          <p:cNvSpPr/>
          <p:nvPr/>
        </p:nvSpPr>
        <p:spPr>
          <a:xfrm>
            <a:off x="3477710" y="2334085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93879" y="4970839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6811" y="4919041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4611" y="2318901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459" y="1052158"/>
            <a:ext cx="12634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u="sng" dirty="0">
                <a:solidFill>
                  <a:srgbClr val="FF0066"/>
                </a:solidFill>
              </a:rPr>
              <a:t>Pass: </a:t>
            </a:r>
            <a:r>
              <a:rPr lang="en-US" sz="2400" b="1" u="sng" dirty="0" smtClean="0">
                <a:solidFill>
                  <a:srgbClr val="FF0066"/>
                </a:solidFill>
              </a:rPr>
              <a:t>4</a:t>
            </a:r>
            <a:endParaRPr lang="en-IN" sz="2400" b="1" u="sng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51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Selection </a:t>
            </a:r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</a:t>
            </a:r>
            <a:r>
              <a:rPr lang="en-US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– Example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8746025"/>
              </p:ext>
            </p:extLst>
          </p:nvPr>
        </p:nvGraphicFramePr>
        <p:xfrm>
          <a:off x="1392750" y="3164652"/>
          <a:ext cx="6394685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5043886"/>
              </p:ext>
            </p:extLst>
          </p:nvPr>
        </p:nvGraphicFramePr>
        <p:xfrm>
          <a:off x="1383021" y="3660762"/>
          <a:ext cx="637847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 flipH="1">
            <a:off x="6465558" y="3373128"/>
            <a:ext cx="1" cy="9873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9139844"/>
              </p:ext>
            </p:extLst>
          </p:nvPr>
        </p:nvGraphicFramePr>
        <p:xfrm>
          <a:off x="1366811" y="830115"/>
          <a:ext cx="6394685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8752241"/>
              </p:ext>
            </p:extLst>
          </p:nvPr>
        </p:nvGraphicFramePr>
        <p:xfrm>
          <a:off x="1344111" y="1326225"/>
          <a:ext cx="637847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 flipH="1">
            <a:off x="5166268" y="963497"/>
            <a:ext cx="1" cy="98730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195808"/>
              </p:ext>
            </p:extLst>
          </p:nvPr>
        </p:nvGraphicFramePr>
        <p:xfrm>
          <a:off x="6696240" y="2254675"/>
          <a:ext cx="934936" cy="914400"/>
        </p:xfrm>
        <a:graphic>
          <a:graphicData uri="http://schemas.openxmlformats.org/drawingml/2006/table">
            <a:tbl>
              <a:tblPr bandRow="1">
                <a:tableStyleId>{327F97BB-C833-4FB7-BDE5-3F7075034690}</a:tableStyleId>
              </a:tblPr>
              <a:tblGrid>
                <a:gridCol w="9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Up-Down Arrow 13"/>
          <p:cNvSpPr/>
          <p:nvPr/>
        </p:nvSpPr>
        <p:spPr>
          <a:xfrm>
            <a:off x="7037249" y="1815640"/>
            <a:ext cx="252919" cy="389106"/>
          </a:xfrm>
          <a:prstGeom prst="upDown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2480282"/>
              </p:ext>
            </p:extLst>
          </p:nvPr>
        </p:nvGraphicFramePr>
        <p:xfrm>
          <a:off x="1392750" y="4646667"/>
          <a:ext cx="6394685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8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754015"/>
              </p:ext>
            </p:extLst>
          </p:nvPr>
        </p:nvGraphicFramePr>
        <p:xfrm>
          <a:off x="1370050" y="5142777"/>
          <a:ext cx="6378475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5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5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2609951" y="1784654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21197" y="4091907"/>
            <a:ext cx="14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9703" y="5599977"/>
            <a:ext cx="19694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b="1" dirty="0">
                <a:solidFill>
                  <a:srgbClr val="0070C0"/>
                </a:solidFill>
                <a:latin typeface="Corbel"/>
              </a:rPr>
              <a:t>Sorted Array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7322" y="4114606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8780" y="1704132"/>
            <a:ext cx="1751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/>
            <a:r>
              <a:rPr lang="en-US" b="1" dirty="0" smtClean="0">
                <a:solidFill>
                  <a:srgbClr val="0070C0"/>
                </a:solidFill>
                <a:latin typeface="Corbel"/>
              </a:rPr>
              <a:t>Unsorted </a:t>
            </a:r>
            <a:r>
              <a:rPr lang="en-US" b="1" dirty="0">
                <a:solidFill>
                  <a:srgbClr val="0070C0"/>
                </a:solidFill>
                <a:latin typeface="Corbel"/>
              </a:rPr>
              <a:t>Array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5238" y="6128682"/>
            <a:ext cx="756826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dirty="0" smtClean="0"/>
              <a:t>Video Link</a:t>
            </a:r>
            <a:r>
              <a:rPr lang="en-IN" sz="1400" dirty="0" smtClean="0">
                <a:sym typeface="Wingdings" panose="05000000000000000000" pitchFamily="2" charset="2"/>
              </a:rPr>
              <a:t> for Selection sort</a:t>
            </a:r>
            <a:r>
              <a:rPr lang="en-IN" sz="1400" dirty="0" smtClean="0"/>
              <a:t> </a:t>
            </a:r>
          </a:p>
          <a:p>
            <a:r>
              <a:rPr lang="en-IN" sz="1400" dirty="0" smtClean="0">
                <a:hlinkClick r:id="rId2"/>
              </a:rPr>
              <a:t>https</a:t>
            </a:r>
            <a:r>
              <a:rPr lang="en-IN" sz="1400" dirty="0">
                <a:hlinkClick r:id="rId2"/>
              </a:rPr>
              <a:t>://drive.google.com/file/d/1yiSG5P0DQZLKwcCZDsvFTapkPl75lGEj/view?usp=drive_link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54954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1B8-5C83-BDA9-11F1-B888089DE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Insertion sort </a:t>
            </a:r>
            <a:endParaRPr lang="en-IN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99BFB-43B5-DE86-D3C3-20F3C9E607A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42484" y="1495153"/>
            <a:ext cx="9961374" cy="3657601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800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Insertion Sort works </a:t>
            </a:r>
            <a:r>
              <a:rPr lang="en-IN" sz="2800" b="1" spc="-1" dirty="0">
                <a:solidFill>
                  <a:schemeClr val="accent1"/>
                </a:solidFill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by inserting an element into its appropriate position</a:t>
            </a:r>
            <a:r>
              <a:rPr lang="en-IN" sz="2800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during each iteration.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800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Insertion sort works by comparing an element to all its previous elements until an appropriate position is found.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800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Whenever an appropriate position is found, the element is inserted there by shifting down remaining elements.</a:t>
            </a:r>
          </a:p>
          <a:p>
            <a:pPr marL="143997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IN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7582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Shape 1">
            <a:extLst>
              <a:ext uri="{FF2B5EF4-FFF2-40B4-BE49-F238E27FC236}">
                <a16:creationId xmlns:a16="http://schemas.microsoft.com/office/drawing/2014/main" id="{53247B16-F10E-70AD-E813-F22E9DAA81B5}"/>
              </a:ext>
            </a:extLst>
          </p:cNvPr>
          <p:cNvSpPr txBox="1"/>
          <p:nvPr/>
        </p:nvSpPr>
        <p:spPr>
          <a:xfrm>
            <a:off x="268338" y="237891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lnSpcReduction="10000"/>
          </a:bodyPr>
          <a:lstStyle/>
          <a:p>
            <a:pPr defTabSz="1219170">
              <a:lnSpc>
                <a:spcPct val="90000"/>
              </a:lnSpc>
              <a:spcBef>
                <a:spcPct val="0"/>
              </a:spcBef>
            </a:pPr>
            <a:r>
              <a:rPr lang="en-IN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Insertion sort algorithm</a:t>
            </a:r>
            <a:endParaRPr lang="en-US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403C8-2849-D4D6-A825-391D5CE249C8}"/>
              </a:ext>
            </a:extLst>
          </p:cNvPr>
          <p:cNvSpPr txBox="1"/>
          <p:nvPr/>
        </p:nvSpPr>
        <p:spPr>
          <a:xfrm>
            <a:off x="489191" y="1123284"/>
            <a:ext cx="8545627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pt-BR" sz="2400" b="1" i="0" u="none" strike="noStrike" baseline="0" dirty="0">
                <a:solidFill>
                  <a:srgbClr val="D60093"/>
                </a:solidFill>
                <a:latin typeface="Corbel" panose="020B0503020204020204" pitchFamily="34" charset="0"/>
              </a:rPr>
              <a:t>ALGORITHM</a:t>
            </a:r>
            <a:r>
              <a:rPr lang="pt-BR" sz="2400" b="1" i="0" u="none" strike="noStrike" baseline="0" dirty="0">
                <a:latin typeface="Corbel" panose="020B0503020204020204" pitchFamily="34" charset="0"/>
              </a:rPr>
              <a:t> </a:t>
            </a:r>
            <a:r>
              <a:rPr lang="pt-BR" sz="2400" b="1" i="1" u="none" strike="noStrike" baseline="0" dirty="0">
                <a:solidFill>
                  <a:srgbClr val="0070C0"/>
                </a:solidFill>
                <a:latin typeface="Corbel" panose="020B0503020204020204" pitchFamily="34" charset="0"/>
              </a:rPr>
              <a:t>InsertionSort</a:t>
            </a:r>
            <a:r>
              <a:rPr lang="pt-BR" sz="2400" b="0" i="1" u="none" strike="noStrike" baseline="0" dirty="0">
                <a:latin typeface="Corbel" panose="020B0503020204020204" pitchFamily="34" charset="0"/>
              </a:rPr>
              <a:t>(A</a:t>
            </a:r>
            <a:r>
              <a:rPr lang="pt-BR" sz="2400" b="0" i="0" u="none" strike="noStrike" baseline="0" dirty="0">
                <a:latin typeface="Corbel" panose="020B0503020204020204" pitchFamily="34" charset="0"/>
              </a:rPr>
              <a:t>[0</a:t>
            </a:r>
            <a:r>
              <a:rPr lang="pt-BR" sz="2400" b="0" i="1" u="none" strike="noStrike" baseline="0" dirty="0">
                <a:latin typeface="Corbel" panose="020B0503020204020204" pitchFamily="34" charset="0"/>
              </a:rPr>
              <a:t>..n </a:t>
            </a:r>
            <a:r>
              <a:rPr lang="pt-BR" sz="2400" b="0" i="0" u="none" strike="noStrike" baseline="0" dirty="0">
                <a:latin typeface="Corbel" panose="020B0503020204020204" pitchFamily="34" charset="0"/>
              </a:rPr>
              <a:t>− 1]</a:t>
            </a:r>
            <a:r>
              <a:rPr lang="pt-BR" sz="2400" b="0" i="1" u="none" strike="noStrike" baseline="0" dirty="0">
                <a:latin typeface="Corbel" panose="020B0503020204020204" pitchFamily="34" charset="0"/>
              </a:rPr>
              <a:t>)</a:t>
            </a:r>
          </a:p>
          <a:p>
            <a:pPr algn="l">
              <a:spcBef>
                <a:spcPts val="600"/>
              </a:spcBef>
            </a:pPr>
            <a:r>
              <a:rPr lang="en-IN" sz="2400" b="0" i="0" u="none" strike="noStrike" baseline="0" dirty="0">
                <a:latin typeface="Corbel" panose="020B0503020204020204" pitchFamily="34" charset="0"/>
              </a:rPr>
              <a:t>//Sorts a given array by insertion sort</a:t>
            </a:r>
          </a:p>
          <a:p>
            <a:pPr algn="l">
              <a:spcBef>
                <a:spcPts val="600"/>
              </a:spcBef>
            </a:pPr>
            <a:r>
              <a:rPr lang="en-IN" sz="2400" b="0" i="0" u="none" strike="noStrike" baseline="0" dirty="0">
                <a:solidFill>
                  <a:srgbClr val="FF0000"/>
                </a:solidFill>
                <a:latin typeface="Corbel" panose="020B0503020204020204" pitchFamily="34" charset="0"/>
              </a:rPr>
              <a:t>//Input: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An array 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A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[0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..n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− 1] of 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n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orderable elements</a:t>
            </a:r>
          </a:p>
          <a:p>
            <a:pPr algn="l">
              <a:spcBef>
                <a:spcPts val="600"/>
              </a:spcBef>
            </a:pPr>
            <a:r>
              <a:rPr lang="en-IN" sz="2400" b="0" i="0" u="none" strike="noStrike" baseline="0" dirty="0">
                <a:solidFill>
                  <a:srgbClr val="FF0000"/>
                </a:solidFill>
                <a:latin typeface="Corbel" panose="020B0503020204020204" pitchFamily="34" charset="0"/>
              </a:rPr>
              <a:t>//Output: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Array 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A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[0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..n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− 1] sorted in nondecreasing order</a:t>
            </a:r>
          </a:p>
          <a:p>
            <a:pPr algn="l">
              <a:spcBef>
                <a:spcPts val="600"/>
              </a:spcBef>
            </a:pPr>
            <a:r>
              <a:rPr lang="en-IN" sz="2400" b="1" i="0" u="none" strike="noStrike" baseline="0" dirty="0">
                <a:latin typeface="Corbel" panose="020B0503020204020204" pitchFamily="34" charset="0"/>
              </a:rPr>
              <a:t>for </a:t>
            </a:r>
            <a:r>
              <a:rPr lang="en-IN" sz="2400" b="0" i="1" u="none" strike="noStrike" baseline="0" dirty="0" err="1">
                <a:latin typeface="Corbel" panose="020B0503020204020204" pitchFamily="34" charset="0"/>
              </a:rPr>
              <a:t>i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←1 </a:t>
            </a:r>
            <a:r>
              <a:rPr lang="en-IN" sz="2400" b="1" i="0" u="none" strike="noStrike" baseline="0" dirty="0">
                <a:latin typeface="Corbel" panose="020B0503020204020204" pitchFamily="34" charset="0"/>
              </a:rPr>
              <a:t>to 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n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− 1 </a:t>
            </a:r>
            <a:r>
              <a:rPr lang="en-IN" sz="2400" b="1" i="0" u="none" strike="noStrike" baseline="0" dirty="0">
                <a:latin typeface="Corbel" panose="020B0503020204020204" pitchFamily="34" charset="0"/>
              </a:rPr>
              <a:t>do</a:t>
            </a:r>
          </a:p>
          <a:p>
            <a:pPr algn="l">
              <a:spcBef>
                <a:spcPts val="600"/>
              </a:spcBef>
            </a:pPr>
            <a:r>
              <a:rPr lang="en-IN" sz="2400" b="0" i="1" u="none" strike="noStrike" baseline="0" dirty="0">
                <a:latin typeface="Corbel" panose="020B0503020204020204" pitchFamily="34" charset="0"/>
              </a:rPr>
              <a:t>       v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←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A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[</a:t>
            </a:r>
            <a:r>
              <a:rPr lang="en-IN" sz="2400" b="0" i="1" u="none" strike="noStrike" baseline="0" dirty="0" err="1">
                <a:latin typeface="Corbel" panose="020B0503020204020204" pitchFamily="34" charset="0"/>
              </a:rPr>
              <a:t>i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]</a:t>
            </a:r>
          </a:p>
          <a:p>
            <a:pPr algn="l">
              <a:spcBef>
                <a:spcPts val="600"/>
              </a:spcBef>
            </a:pPr>
            <a:r>
              <a:rPr lang="en-IN" sz="2400" b="0" i="1" u="none" strike="noStrike" baseline="0" dirty="0">
                <a:latin typeface="Corbel" panose="020B0503020204020204" pitchFamily="34" charset="0"/>
              </a:rPr>
              <a:t>       j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←</a:t>
            </a:r>
            <a:r>
              <a:rPr lang="en-IN" sz="2400" b="0" i="1" u="none" strike="noStrike" baseline="0" dirty="0" err="1">
                <a:latin typeface="Corbel" panose="020B0503020204020204" pitchFamily="34" charset="0"/>
              </a:rPr>
              <a:t>i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− 1</a:t>
            </a:r>
          </a:p>
          <a:p>
            <a:pPr algn="l">
              <a:spcBef>
                <a:spcPts val="600"/>
              </a:spcBef>
            </a:pPr>
            <a:r>
              <a:rPr lang="en-IN" sz="2400" b="1" i="0" u="none" strike="noStrike" baseline="0" dirty="0">
                <a:latin typeface="Corbel" panose="020B0503020204020204" pitchFamily="34" charset="0"/>
              </a:rPr>
              <a:t>     while 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j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≥ 0 </a:t>
            </a:r>
            <a:r>
              <a:rPr lang="en-IN" sz="2400" b="1" i="0" u="none" strike="noStrike" baseline="0" dirty="0">
                <a:latin typeface="Corbel" panose="020B0503020204020204" pitchFamily="34" charset="0"/>
              </a:rPr>
              <a:t>and 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A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[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j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]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&gt; v </a:t>
            </a:r>
            <a:r>
              <a:rPr lang="en-IN" sz="2400" b="1" i="0" u="none" strike="noStrike" baseline="0" dirty="0">
                <a:latin typeface="Corbel" panose="020B0503020204020204" pitchFamily="34" charset="0"/>
              </a:rPr>
              <a:t>do</a:t>
            </a:r>
          </a:p>
          <a:p>
            <a:pPr algn="l">
              <a:spcBef>
                <a:spcPts val="600"/>
              </a:spcBef>
            </a:pPr>
            <a:r>
              <a:rPr lang="en-IN" sz="2400" b="0" i="1" u="none" strike="noStrike" baseline="0" dirty="0">
                <a:latin typeface="Corbel" panose="020B0503020204020204" pitchFamily="34" charset="0"/>
              </a:rPr>
              <a:t>            A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[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j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+ 1]←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A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[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j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]</a:t>
            </a:r>
          </a:p>
          <a:p>
            <a:pPr algn="l">
              <a:spcBef>
                <a:spcPts val="600"/>
              </a:spcBef>
            </a:pPr>
            <a:r>
              <a:rPr lang="en-IN" sz="2400" b="0" i="1" u="none" strike="noStrike" baseline="0" dirty="0">
                <a:latin typeface="Corbel" panose="020B0503020204020204" pitchFamily="34" charset="0"/>
              </a:rPr>
              <a:t>            j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←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j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− 1</a:t>
            </a:r>
          </a:p>
          <a:p>
            <a:pPr algn="l">
              <a:spcBef>
                <a:spcPts val="600"/>
              </a:spcBef>
            </a:pPr>
            <a:r>
              <a:rPr lang="en-IN" sz="2400" b="0" i="1" u="none" strike="noStrike" baseline="0" dirty="0">
                <a:latin typeface="Corbel" panose="020B0503020204020204" pitchFamily="34" charset="0"/>
              </a:rPr>
              <a:t>      A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[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j </a:t>
            </a:r>
            <a:r>
              <a:rPr lang="en-IN" sz="2400" b="0" i="0" u="none" strike="noStrike" baseline="0" dirty="0">
                <a:latin typeface="Corbel" panose="020B0503020204020204" pitchFamily="34" charset="0"/>
              </a:rPr>
              <a:t>+ 1]←</a:t>
            </a:r>
            <a:r>
              <a:rPr lang="en-IN" sz="2400" b="0" i="1" u="none" strike="noStrike" baseline="0" dirty="0">
                <a:latin typeface="Corbel" panose="020B0503020204020204" pitchFamily="34" charset="0"/>
              </a:rPr>
              <a:t>v</a:t>
            </a:r>
            <a:endParaRPr lang="en-IN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24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Shape 1">
            <a:extLst>
              <a:ext uri="{FF2B5EF4-FFF2-40B4-BE49-F238E27FC236}">
                <a16:creationId xmlns:a16="http://schemas.microsoft.com/office/drawing/2014/main" id="{53247B16-F10E-70AD-E813-F22E9DAA81B5}"/>
              </a:ext>
            </a:extLst>
          </p:cNvPr>
          <p:cNvSpPr txBox="1"/>
          <p:nvPr/>
        </p:nvSpPr>
        <p:spPr>
          <a:xfrm>
            <a:off x="208756" y="30557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lnSpcReduction="10000"/>
          </a:bodyPr>
          <a:lstStyle/>
          <a:p>
            <a:pPr defTabSz="1219170">
              <a:lnSpc>
                <a:spcPct val="90000"/>
              </a:lnSpc>
              <a:spcBef>
                <a:spcPct val="0"/>
              </a:spcBef>
            </a:pPr>
            <a:r>
              <a:rPr lang="en-IN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Insertion sort </a:t>
            </a:r>
            <a:r>
              <a:rPr lang="en-IN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algorithm – Example </a:t>
            </a:r>
            <a:endParaRPr lang="en-US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1" y="1306286"/>
            <a:ext cx="9013370" cy="500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1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Shape 1">
            <a:extLst>
              <a:ext uri="{FF2B5EF4-FFF2-40B4-BE49-F238E27FC236}">
                <a16:creationId xmlns:a16="http://schemas.microsoft.com/office/drawing/2014/main" id="{53247B16-F10E-70AD-E813-F22E9DAA81B5}"/>
              </a:ext>
            </a:extLst>
          </p:cNvPr>
          <p:cNvSpPr txBox="1"/>
          <p:nvPr/>
        </p:nvSpPr>
        <p:spPr>
          <a:xfrm>
            <a:off x="268338" y="237891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lnSpcReduction="10000"/>
          </a:bodyPr>
          <a:lstStyle/>
          <a:p>
            <a:pPr defTabSz="1219170">
              <a:lnSpc>
                <a:spcPct val="90000"/>
              </a:lnSpc>
              <a:spcBef>
                <a:spcPct val="0"/>
              </a:spcBef>
            </a:pPr>
            <a:r>
              <a:rPr lang="en-IN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Insertion sort </a:t>
            </a:r>
            <a:r>
              <a:rPr lang="en-IN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algorithm – Example </a:t>
            </a:r>
            <a:endParaRPr lang="en-US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2" y="928914"/>
            <a:ext cx="8577942" cy="560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927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44563"/>
            <a:ext cx="11967882" cy="5283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43997" indent="0" algn="just">
              <a:buNone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400" dirty="0" smtClean="0">
                <a:latin typeface="Trebuchet MS" panose="020B0603020202020204" pitchFamily="34" charset="0"/>
                <a:ea typeface="Cambria" panose="02040503050406030204" pitchFamily="18" charset="0"/>
              </a:rPr>
              <a:t>   A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heap data structure is a binary tree with the following two properties.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It is a complete binary tree: Each level of the tree is completely filled, except possibly the bottom level. At this level it is filled from left to right.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It satisfies the </a:t>
            </a:r>
            <a:r>
              <a:rPr lang="en-US" sz="2400" b="1" dirty="0">
                <a:latin typeface="Trebuchet MS" panose="020B0603020202020204" pitchFamily="34" charset="0"/>
                <a:ea typeface="Cambria" panose="02040503050406030204" pitchFamily="18" charset="0"/>
              </a:rPr>
              <a:t>heap order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property: the data item stored in each node is </a:t>
            </a:r>
            <a:r>
              <a:rPr lang="en-US" sz="2400" b="1" dirty="0">
                <a:latin typeface="Trebuchet MS" panose="020B0603020202020204" pitchFamily="34" charset="0"/>
                <a:ea typeface="Cambria" panose="02040503050406030204" pitchFamily="18" charset="0"/>
              </a:rPr>
              <a:t>greater than or equal to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the data item stored in its children node.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285099" y="3045086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832254" y="3864427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731579" y="3864427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325596" y="475694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d</a:t>
            </a:r>
          </a:p>
        </p:txBody>
      </p:sp>
      <p:sp>
        <p:nvSpPr>
          <p:cNvPr id="8" name="Oval 7"/>
          <p:cNvSpPr/>
          <p:nvPr/>
        </p:nvSpPr>
        <p:spPr>
          <a:xfrm>
            <a:off x="1324288" y="475694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220556" y="475694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f</a:t>
            </a:r>
          </a:p>
        </p:txBody>
      </p:sp>
      <p:cxnSp>
        <p:nvCxnSpPr>
          <p:cNvPr id="10" name="Straight Arrow Connector 9"/>
          <p:cNvCxnSpPr>
            <a:stCxn id="4" idx="3"/>
            <a:endCxn id="5" idx="0"/>
          </p:cNvCxnSpPr>
          <p:nvPr/>
        </p:nvCxnSpPr>
        <p:spPr>
          <a:xfrm flipH="1">
            <a:off x="1060854" y="3435331"/>
            <a:ext cx="291200" cy="4290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5"/>
            <a:endCxn id="6" idx="0"/>
          </p:cNvCxnSpPr>
          <p:nvPr/>
        </p:nvCxnSpPr>
        <p:spPr>
          <a:xfrm>
            <a:off x="1675344" y="3435331"/>
            <a:ext cx="284835" cy="4290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3"/>
            <a:endCxn id="7" idx="0"/>
          </p:cNvCxnSpPr>
          <p:nvPr/>
        </p:nvCxnSpPr>
        <p:spPr>
          <a:xfrm flipH="1">
            <a:off x="554196" y="4254672"/>
            <a:ext cx="345013" cy="50227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5"/>
            <a:endCxn id="8" idx="0"/>
          </p:cNvCxnSpPr>
          <p:nvPr/>
        </p:nvCxnSpPr>
        <p:spPr>
          <a:xfrm>
            <a:off x="1222499" y="4254672"/>
            <a:ext cx="330389" cy="50227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9" idx="0"/>
          </p:cNvCxnSpPr>
          <p:nvPr/>
        </p:nvCxnSpPr>
        <p:spPr>
          <a:xfrm>
            <a:off x="2121824" y="4254672"/>
            <a:ext cx="327332" cy="50227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9817" y="5543625"/>
            <a:ext cx="3194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Binary Tree but not a Heap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87084" y="5543625"/>
            <a:ext cx="3339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Complete Binary Tree - Heap</a:t>
            </a:r>
          </a:p>
        </p:txBody>
      </p:sp>
      <p:sp>
        <p:nvSpPr>
          <p:cNvPr id="28" name="Rounded Rectangle 27"/>
          <p:cNvSpPr/>
          <p:nvPr/>
        </p:nvSpPr>
        <p:spPr>
          <a:xfrm rot="19694728">
            <a:off x="1886782" y="3764032"/>
            <a:ext cx="640080" cy="1554480"/>
          </a:xfrm>
          <a:prstGeom prst="roundRect">
            <a:avLst/>
          </a:prstGeom>
          <a:solidFill>
            <a:schemeClr val="accent6">
              <a:lumMod val="75000"/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 rot="581997">
            <a:off x="4854015" y="3828756"/>
            <a:ext cx="640080" cy="1554480"/>
          </a:xfrm>
          <a:prstGeom prst="round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4389709" y="3045086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a</a:t>
            </a:r>
          </a:p>
        </p:txBody>
      </p:sp>
      <p:sp>
        <p:nvSpPr>
          <p:cNvPr id="60" name="Oval 59"/>
          <p:cNvSpPr/>
          <p:nvPr/>
        </p:nvSpPr>
        <p:spPr>
          <a:xfrm>
            <a:off x="3936864" y="385136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b</a:t>
            </a:r>
          </a:p>
        </p:txBody>
      </p:sp>
      <p:sp>
        <p:nvSpPr>
          <p:cNvPr id="61" name="Oval 60"/>
          <p:cNvSpPr/>
          <p:nvPr/>
        </p:nvSpPr>
        <p:spPr>
          <a:xfrm>
            <a:off x="4966818" y="3903615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c</a:t>
            </a:r>
          </a:p>
        </p:txBody>
      </p:sp>
      <p:sp>
        <p:nvSpPr>
          <p:cNvPr id="62" name="Oval 61"/>
          <p:cNvSpPr/>
          <p:nvPr/>
        </p:nvSpPr>
        <p:spPr>
          <a:xfrm>
            <a:off x="3560835" y="4783070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d</a:t>
            </a:r>
          </a:p>
        </p:txBody>
      </p:sp>
      <p:sp>
        <p:nvSpPr>
          <p:cNvPr id="63" name="Oval 62"/>
          <p:cNvSpPr/>
          <p:nvPr/>
        </p:nvSpPr>
        <p:spPr>
          <a:xfrm>
            <a:off x="4285206" y="4783070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e</a:t>
            </a:r>
          </a:p>
        </p:txBody>
      </p:sp>
      <p:sp>
        <p:nvSpPr>
          <p:cNvPr id="64" name="Oval 63"/>
          <p:cNvSpPr/>
          <p:nvPr/>
        </p:nvSpPr>
        <p:spPr>
          <a:xfrm>
            <a:off x="4881028" y="4783070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890E4F"/>
                </a:solidFill>
              </a:rPr>
              <a:t>f</a:t>
            </a:r>
          </a:p>
        </p:txBody>
      </p:sp>
      <p:cxnSp>
        <p:nvCxnSpPr>
          <p:cNvPr id="65" name="Straight Arrow Connector 64"/>
          <p:cNvCxnSpPr>
            <a:stCxn id="59" idx="3"/>
            <a:endCxn id="60" idx="0"/>
          </p:cNvCxnSpPr>
          <p:nvPr/>
        </p:nvCxnSpPr>
        <p:spPr>
          <a:xfrm flipH="1">
            <a:off x="4165464" y="3435331"/>
            <a:ext cx="291200" cy="41603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9" idx="5"/>
            <a:endCxn id="61" idx="0"/>
          </p:cNvCxnSpPr>
          <p:nvPr/>
        </p:nvCxnSpPr>
        <p:spPr>
          <a:xfrm>
            <a:off x="4779954" y="3435331"/>
            <a:ext cx="415464" cy="4682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60" idx="3"/>
            <a:endCxn id="62" idx="0"/>
          </p:cNvCxnSpPr>
          <p:nvPr/>
        </p:nvCxnSpPr>
        <p:spPr>
          <a:xfrm flipH="1">
            <a:off x="3789435" y="4241609"/>
            <a:ext cx="214384" cy="54146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60" idx="5"/>
            <a:endCxn id="63" idx="0"/>
          </p:cNvCxnSpPr>
          <p:nvPr/>
        </p:nvCxnSpPr>
        <p:spPr>
          <a:xfrm>
            <a:off x="4327109" y="4241609"/>
            <a:ext cx="186697" cy="54146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61" idx="4"/>
            <a:endCxn id="64" idx="0"/>
          </p:cNvCxnSpPr>
          <p:nvPr/>
        </p:nvCxnSpPr>
        <p:spPr>
          <a:xfrm flipH="1">
            <a:off x="5109628" y="4360815"/>
            <a:ext cx="85790" cy="42225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764289" y="3045086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7154689" y="385136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6</a:t>
            </a:r>
          </a:p>
        </p:txBody>
      </p:sp>
      <p:sp>
        <p:nvSpPr>
          <p:cNvPr id="32" name="Oval 31"/>
          <p:cNvSpPr/>
          <p:nvPr/>
        </p:nvSpPr>
        <p:spPr>
          <a:xfrm>
            <a:off x="8332019" y="385136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7</a:t>
            </a:r>
          </a:p>
        </p:txBody>
      </p:sp>
      <p:sp>
        <p:nvSpPr>
          <p:cNvPr id="33" name="Oval 32"/>
          <p:cNvSpPr/>
          <p:nvPr/>
        </p:nvSpPr>
        <p:spPr>
          <a:xfrm>
            <a:off x="6608844" y="4804215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7584785" y="4796133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4</a:t>
            </a:r>
          </a:p>
        </p:txBody>
      </p:sp>
      <p:sp>
        <p:nvSpPr>
          <p:cNvPr id="35" name="Oval 34"/>
          <p:cNvSpPr/>
          <p:nvPr/>
        </p:nvSpPr>
        <p:spPr>
          <a:xfrm>
            <a:off x="8128217" y="4796133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8</a:t>
            </a:r>
          </a:p>
        </p:txBody>
      </p:sp>
      <p:cxnSp>
        <p:nvCxnSpPr>
          <p:cNvPr id="36" name="Straight Arrow Connector 35"/>
          <p:cNvCxnSpPr>
            <a:stCxn id="30" idx="3"/>
            <a:endCxn id="31" idx="0"/>
          </p:cNvCxnSpPr>
          <p:nvPr/>
        </p:nvCxnSpPr>
        <p:spPr>
          <a:xfrm flipH="1">
            <a:off x="7383289" y="3435331"/>
            <a:ext cx="447955" cy="41603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0" idx="5"/>
            <a:endCxn id="32" idx="0"/>
          </p:cNvCxnSpPr>
          <p:nvPr/>
        </p:nvCxnSpPr>
        <p:spPr>
          <a:xfrm>
            <a:off x="8154534" y="3435331"/>
            <a:ext cx="406085" cy="41603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3"/>
            <a:endCxn id="33" idx="0"/>
          </p:cNvCxnSpPr>
          <p:nvPr/>
        </p:nvCxnSpPr>
        <p:spPr>
          <a:xfrm flipH="1">
            <a:off x="6837444" y="4241609"/>
            <a:ext cx="384200" cy="56260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1" idx="5"/>
            <a:endCxn id="34" idx="0"/>
          </p:cNvCxnSpPr>
          <p:nvPr/>
        </p:nvCxnSpPr>
        <p:spPr>
          <a:xfrm>
            <a:off x="7544934" y="4241609"/>
            <a:ext cx="268451" cy="55452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2" idx="4"/>
            <a:endCxn id="35" idx="0"/>
          </p:cNvCxnSpPr>
          <p:nvPr/>
        </p:nvCxnSpPr>
        <p:spPr>
          <a:xfrm flipH="1">
            <a:off x="8356817" y="4308564"/>
            <a:ext cx="203802" cy="48756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0858" y="5543625"/>
            <a:ext cx="1323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Not a Heap</a:t>
            </a:r>
          </a:p>
        </p:txBody>
      </p:sp>
      <p:sp>
        <p:nvSpPr>
          <p:cNvPr id="42" name="Oval 41"/>
          <p:cNvSpPr/>
          <p:nvPr/>
        </p:nvSpPr>
        <p:spPr>
          <a:xfrm>
            <a:off x="10512467" y="3045086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9</a:t>
            </a:r>
          </a:p>
        </p:txBody>
      </p:sp>
      <p:sp>
        <p:nvSpPr>
          <p:cNvPr id="43" name="Oval 42"/>
          <p:cNvSpPr/>
          <p:nvPr/>
        </p:nvSpPr>
        <p:spPr>
          <a:xfrm>
            <a:off x="9824491" y="385136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6</a:t>
            </a:r>
          </a:p>
        </p:txBody>
      </p:sp>
      <p:sp>
        <p:nvSpPr>
          <p:cNvPr id="44" name="Oval 43"/>
          <p:cNvSpPr/>
          <p:nvPr/>
        </p:nvSpPr>
        <p:spPr>
          <a:xfrm>
            <a:off x="11302145" y="3851364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7</a:t>
            </a:r>
          </a:p>
        </p:txBody>
      </p:sp>
      <p:sp>
        <p:nvSpPr>
          <p:cNvPr id="45" name="Oval 44"/>
          <p:cNvSpPr/>
          <p:nvPr/>
        </p:nvSpPr>
        <p:spPr>
          <a:xfrm>
            <a:off x="9330897" y="4804215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10309550" y="4804215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4</a:t>
            </a:r>
          </a:p>
        </p:txBody>
      </p:sp>
      <p:sp>
        <p:nvSpPr>
          <p:cNvPr id="47" name="Oval 46"/>
          <p:cNvSpPr/>
          <p:nvPr/>
        </p:nvSpPr>
        <p:spPr>
          <a:xfrm>
            <a:off x="11145478" y="4804215"/>
            <a:ext cx="457200" cy="4572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890E4F"/>
                </a:solidFill>
              </a:rPr>
              <a:t>1</a:t>
            </a:r>
          </a:p>
        </p:txBody>
      </p:sp>
      <p:cxnSp>
        <p:nvCxnSpPr>
          <p:cNvPr id="48" name="Straight Arrow Connector 47"/>
          <p:cNvCxnSpPr>
            <a:stCxn id="42" idx="3"/>
            <a:endCxn id="43" idx="0"/>
          </p:cNvCxnSpPr>
          <p:nvPr/>
        </p:nvCxnSpPr>
        <p:spPr>
          <a:xfrm flipH="1">
            <a:off x="10053091" y="3435331"/>
            <a:ext cx="526331" cy="41603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2" idx="5"/>
            <a:endCxn id="44" idx="1"/>
          </p:cNvCxnSpPr>
          <p:nvPr/>
        </p:nvCxnSpPr>
        <p:spPr>
          <a:xfrm>
            <a:off x="10902712" y="3435331"/>
            <a:ext cx="466388" cy="48298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3" idx="3"/>
            <a:endCxn id="45" idx="0"/>
          </p:cNvCxnSpPr>
          <p:nvPr/>
        </p:nvCxnSpPr>
        <p:spPr>
          <a:xfrm flipH="1">
            <a:off x="9559497" y="4241609"/>
            <a:ext cx="331949" cy="56260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3" idx="5"/>
            <a:endCxn id="46" idx="0"/>
          </p:cNvCxnSpPr>
          <p:nvPr/>
        </p:nvCxnSpPr>
        <p:spPr>
          <a:xfrm>
            <a:off x="10214736" y="4241609"/>
            <a:ext cx="323414" cy="56260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4" idx="4"/>
            <a:endCxn id="47" idx="0"/>
          </p:cNvCxnSpPr>
          <p:nvPr/>
        </p:nvCxnSpPr>
        <p:spPr>
          <a:xfrm flipH="1">
            <a:off x="11374078" y="4308564"/>
            <a:ext cx="156667" cy="49565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535781" y="5543625"/>
            <a:ext cx="904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Heap</a:t>
            </a:r>
            <a:r>
              <a:rPr lang="en-US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54" name="Rounded Rectangle 53"/>
          <p:cNvSpPr/>
          <p:nvPr/>
        </p:nvSpPr>
        <p:spPr>
          <a:xfrm rot="627634">
            <a:off x="8153361" y="3793047"/>
            <a:ext cx="640080" cy="1554480"/>
          </a:xfrm>
          <a:prstGeom prst="roundRect">
            <a:avLst/>
          </a:prstGeom>
          <a:solidFill>
            <a:srgbClr val="66FF33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8856152" y="3824729"/>
            <a:ext cx="2286000" cy="155447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0945906" y="3745035"/>
            <a:ext cx="1021976" cy="167413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/>
          <p:cNvCxnSpPr>
            <a:cxnSpLocks/>
          </p:cNvCxnSpPr>
          <p:nvPr/>
        </p:nvCxnSpPr>
        <p:spPr>
          <a:xfrm>
            <a:off x="6348549" y="2885704"/>
            <a:ext cx="47900" cy="32799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flipV="1">
            <a:off x="554196" y="2889663"/>
            <a:ext cx="1116874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Shape 1">
            <a:extLst>
              <a:ext uri="{FF2B5EF4-FFF2-40B4-BE49-F238E27FC236}">
                <a16:creationId xmlns:a16="http://schemas.microsoft.com/office/drawing/2014/main" id="{AA514587-B499-E923-62FE-5F5F3BD0A588}"/>
              </a:ext>
            </a:extLst>
          </p:cNvPr>
          <p:cNvSpPr txBox="1"/>
          <p:nvPr/>
        </p:nvSpPr>
        <p:spPr>
          <a:xfrm>
            <a:off x="312304" y="17535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</a:t>
            </a:r>
            <a:endParaRPr lang="en-US" sz="3200" b="1" strike="noStrike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62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012825"/>
            <a:ext cx="11704638" cy="544195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Heap can be implemented using an Array.</a:t>
            </a:r>
          </a:p>
          <a:p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An array 𝐴 that represents a heap is an object with two attributes: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𝑙𝑒𝑛𝑔𝑡ℎ[𝐴],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which is the number of elements in the array, and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ℎ𝑒𝑎𝑝−𝑠𝑖𝑧𝑒[𝐴],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the number of elements in the heap stored within array 𝐴</a:t>
            </a:r>
          </a:p>
        </p:txBody>
      </p:sp>
      <p:sp>
        <p:nvSpPr>
          <p:cNvPr id="4" name="Oval 3"/>
          <p:cNvSpPr/>
          <p:nvPr/>
        </p:nvSpPr>
        <p:spPr>
          <a:xfrm>
            <a:off x="2986320" y="2747554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2046260" y="3730566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4029070" y="3730566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1068348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2692417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7</a:t>
            </a:r>
          </a:p>
        </p:txBody>
      </p:sp>
      <p:cxnSp>
        <p:nvCxnSpPr>
          <p:cNvPr id="9" name="Straight Arrow Connector 8"/>
          <p:cNvCxnSpPr>
            <a:stCxn id="4" idx="3"/>
            <a:endCxn id="5" idx="0"/>
          </p:cNvCxnSpPr>
          <p:nvPr/>
        </p:nvCxnSpPr>
        <p:spPr>
          <a:xfrm flipH="1">
            <a:off x="2366300" y="3293896"/>
            <a:ext cx="713758" cy="43667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5"/>
            <a:endCxn id="6" idx="0"/>
          </p:cNvCxnSpPr>
          <p:nvPr/>
        </p:nvCxnSpPr>
        <p:spPr>
          <a:xfrm>
            <a:off x="3532662" y="3293896"/>
            <a:ext cx="816448" cy="43667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3"/>
            <a:endCxn id="7" idx="0"/>
          </p:cNvCxnSpPr>
          <p:nvPr/>
        </p:nvCxnSpPr>
        <p:spPr>
          <a:xfrm flipH="1">
            <a:off x="1388388" y="4276908"/>
            <a:ext cx="751610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8" idx="0"/>
          </p:cNvCxnSpPr>
          <p:nvPr/>
        </p:nvCxnSpPr>
        <p:spPr>
          <a:xfrm>
            <a:off x="2592602" y="4276908"/>
            <a:ext cx="419855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14" idx="0"/>
          </p:cNvCxnSpPr>
          <p:nvPr/>
        </p:nvCxnSpPr>
        <p:spPr>
          <a:xfrm flipH="1">
            <a:off x="3761391" y="4276908"/>
            <a:ext cx="361417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441351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4720263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3</a:t>
            </a:r>
          </a:p>
        </p:txBody>
      </p:sp>
      <p:cxnSp>
        <p:nvCxnSpPr>
          <p:cNvPr id="16" name="Straight Arrow Connector 15"/>
          <p:cNvCxnSpPr>
            <a:stCxn id="6" idx="5"/>
            <a:endCxn id="15" idx="0"/>
          </p:cNvCxnSpPr>
          <p:nvPr/>
        </p:nvCxnSpPr>
        <p:spPr>
          <a:xfrm>
            <a:off x="4575412" y="4276908"/>
            <a:ext cx="464891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23470" y="5748535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679153" y="5748535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379133" y="5748535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1</a:t>
            </a:r>
          </a:p>
        </p:txBody>
      </p:sp>
      <p:cxnSp>
        <p:nvCxnSpPr>
          <p:cNvPr id="20" name="Straight Arrow Connector 19"/>
          <p:cNvCxnSpPr>
            <a:stCxn id="7" idx="3"/>
            <a:endCxn id="17" idx="0"/>
          </p:cNvCxnSpPr>
          <p:nvPr/>
        </p:nvCxnSpPr>
        <p:spPr>
          <a:xfrm flipH="1">
            <a:off x="543510" y="5240781"/>
            <a:ext cx="618576" cy="50775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18" idx="0"/>
          </p:cNvCxnSpPr>
          <p:nvPr/>
        </p:nvCxnSpPr>
        <p:spPr>
          <a:xfrm>
            <a:off x="1614690" y="5240781"/>
            <a:ext cx="384503" cy="50775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4"/>
            <a:endCxn id="19" idx="0"/>
          </p:cNvCxnSpPr>
          <p:nvPr/>
        </p:nvCxnSpPr>
        <p:spPr>
          <a:xfrm flipH="1">
            <a:off x="2699173" y="5334519"/>
            <a:ext cx="313284" cy="4140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580730"/>
              </p:ext>
            </p:extLst>
          </p:nvPr>
        </p:nvGraphicFramePr>
        <p:xfrm>
          <a:off x="6271641" y="4434253"/>
          <a:ext cx="539556" cy="63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51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7284606"/>
              </p:ext>
            </p:extLst>
          </p:nvPr>
        </p:nvGraphicFramePr>
        <p:xfrm>
          <a:off x="6818467" y="4431290"/>
          <a:ext cx="539556" cy="63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51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965327"/>
              </p:ext>
            </p:extLst>
          </p:nvPr>
        </p:nvGraphicFramePr>
        <p:xfrm>
          <a:off x="7362514" y="4431290"/>
          <a:ext cx="539556" cy="63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51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202173"/>
              </p:ext>
            </p:extLst>
          </p:nvPr>
        </p:nvGraphicFramePr>
        <p:xfrm>
          <a:off x="7898161" y="4431290"/>
          <a:ext cx="539556" cy="63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51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538566"/>
              </p:ext>
            </p:extLst>
          </p:nvPr>
        </p:nvGraphicFramePr>
        <p:xfrm>
          <a:off x="8433808" y="4431290"/>
          <a:ext cx="539556" cy="63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51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635851"/>
              </p:ext>
            </p:extLst>
          </p:nvPr>
        </p:nvGraphicFramePr>
        <p:xfrm>
          <a:off x="8969455" y="4431290"/>
          <a:ext cx="539556" cy="63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51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34815"/>
              </p:ext>
            </p:extLst>
          </p:nvPr>
        </p:nvGraphicFramePr>
        <p:xfrm>
          <a:off x="9505102" y="4431290"/>
          <a:ext cx="539556" cy="63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51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808272"/>
              </p:ext>
            </p:extLst>
          </p:nvPr>
        </p:nvGraphicFramePr>
        <p:xfrm>
          <a:off x="10040749" y="4431290"/>
          <a:ext cx="539556" cy="63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51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271296"/>
              </p:ext>
            </p:extLst>
          </p:nvPr>
        </p:nvGraphicFramePr>
        <p:xfrm>
          <a:off x="10576396" y="4431290"/>
          <a:ext cx="539556" cy="63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51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852370"/>
              </p:ext>
            </p:extLst>
          </p:nvPr>
        </p:nvGraphicFramePr>
        <p:xfrm>
          <a:off x="11121005" y="4431290"/>
          <a:ext cx="539556" cy="6365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651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7417020" y="3293896"/>
            <a:ext cx="3698932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Array representation of heap</a:t>
            </a:r>
          </a:p>
        </p:txBody>
      </p:sp>
      <p:sp>
        <p:nvSpPr>
          <p:cNvPr id="35" name="Right Brace 34"/>
          <p:cNvSpPr/>
          <p:nvPr/>
        </p:nvSpPr>
        <p:spPr>
          <a:xfrm rot="16200000">
            <a:off x="8772040" y="1304786"/>
            <a:ext cx="424404" cy="5303520"/>
          </a:xfrm>
          <a:prstGeom prst="rightBrac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49030" y="5883259"/>
            <a:ext cx="1069948" cy="461665"/>
          </a:xfrm>
          <a:prstGeom prst="rect">
            <a:avLst/>
          </a:prstGeom>
          <a:noFill/>
          <a:ln>
            <a:solidFill>
              <a:srgbClr val="42424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Heap </a:t>
            </a:r>
          </a:p>
        </p:txBody>
      </p:sp>
      <p:cxnSp>
        <p:nvCxnSpPr>
          <p:cNvPr id="63" name="Straight Connector 62"/>
          <p:cNvCxnSpPr>
            <a:cxnSpLocks/>
          </p:cNvCxnSpPr>
          <p:nvPr/>
        </p:nvCxnSpPr>
        <p:spPr>
          <a:xfrm>
            <a:off x="5965375" y="2909455"/>
            <a:ext cx="0" cy="34913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Shape 1">
            <a:extLst>
              <a:ext uri="{FF2B5EF4-FFF2-40B4-BE49-F238E27FC236}">
                <a16:creationId xmlns:a16="http://schemas.microsoft.com/office/drawing/2014/main" id="{1B5B0B19-8177-86D6-EDB0-DC21B4C1C27E}"/>
              </a:ext>
            </a:extLst>
          </p:cNvPr>
          <p:cNvSpPr txBox="1"/>
          <p:nvPr/>
        </p:nvSpPr>
        <p:spPr>
          <a:xfrm>
            <a:off x="223470" y="177114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Array representation of heap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55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74675" y="974725"/>
            <a:ext cx="11617325" cy="54800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43997" indent="0">
              <a:buNone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In the array 𝐴, that represents a heap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length[𝐴] = heap-size[𝐴]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For any node 𝒊 the parent node is 𝒊/𝟐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For any node 𝒋, its left child is 𝟐𝒋 and right child is 𝟐𝒋+𝟏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2961296" y="2747554"/>
            <a:ext cx="665104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1999193" y="3730566"/>
            <a:ext cx="687147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3982003" y="3730566"/>
            <a:ext cx="687147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A71160"/>
                </a:solidFill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1243159" y="4680992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2692417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7</a:t>
            </a:r>
          </a:p>
        </p:txBody>
      </p:sp>
      <p:cxnSp>
        <p:nvCxnSpPr>
          <p:cNvPr id="9" name="Straight Arrow Connector 8"/>
          <p:cNvCxnSpPr>
            <a:cxnSpLocks/>
            <a:stCxn id="4" idx="3"/>
            <a:endCxn id="5" idx="0"/>
          </p:cNvCxnSpPr>
          <p:nvPr/>
        </p:nvCxnSpPr>
        <p:spPr>
          <a:xfrm flipH="1">
            <a:off x="2342767" y="3293896"/>
            <a:ext cx="715931" cy="43667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  <a:stCxn id="4" idx="5"/>
            <a:endCxn id="6" idx="0"/>
          </p:cNvCxnSpPr>
          <p:nvPr/>
        </p:nvCxnSpPr>
        <p:spPr>
          <a:xfrm>
            <a:off x="3528998" y="3293896"/>
            <a:ext cx="796579" cy="43667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5" idx="3"/>
            <a:endCxn id="7" idx="0"/>
          </p:cNvCxnSpPr>
          <p:nvPr/>
        </p:nvCxnSpPr>
        <p:spPr>
          <a:xfrm flipH="1">
            <a:off x="1563199" y="4276908"/>
            <a:ext cx="536624" cy="4040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  <a:stCxn id="5" idx="5"/>
            <a:endCxn id="8" idx="0"/>
          </p:cNvCxnSpPr>
          <p:nvPr/>
        </p:nvCxnSpPr>
        <p:spPr>
          <a:xfrm>
            <a:off x="2585710" y="4276908"/>
            <a:ext cx="426747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6" idx="3"/>
            <a:endCxn id="14" idx="0"/>
          </p:cNvCxnSpPr>
          <p:nvPr/>
        </p:nvCxnSpPr>
        <p:spPr>
          <a:xfrm flipH="1">
            <a:off x="3761391" y="4276908"/>
            <a:ext cx="321242" cy="41753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441351" y="4694439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4558898" y="4721333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3</a:t>
            </a:r>
          </a:p>
        </p:txBody>
      </p:sp>
      <p:cxnSp>
        <p:nvCxnSpPr>
          <p:cNvPr id="16" name="Straight Arrow Connector 15"/>
          <p:cNvCxnSpPr>
            <a:cxnSpLocks/>
            <a:stCxn id="6" idx="5"/>
            <a:endCxn id="15" idx="0"/>
          </p:cNvCxnSpPr>
          <p:nvPr/>
        </p:nvCxnSpPr>
        <p:spPr>
          <a:xfrm>
            <a:off x="4568520" y="4276908"/>
            <a:ext cx="310418" cy="4444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40328" y="5721641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1679153" y="5748535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379133" y="5748535"/>
            <a:ext cx="640080" cy="64008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A71160"/>
                </a:solidFill>
              </a:rPr>
              <a:t>1</a:t>
            </a:r>
          </a:p>
        </p:txBody>
      </p:sp>
      <p:cxnSp>
        <p:nvCxnSpPr>
          <p:cNvPr id="20" name="Straight Arrow Connector 19"/>
          <p:cNvCxnSpPr>
            <a:stCxn id="7" idx="3"/>
            <a:endCxn id="17" idx="0"/>
          </p:cNvCxnSpPr>
          <p:nvPr/>
        </p:nvCxnSpPr>
        <p:spPr>
          <a:xfrm flipH="1">
            <a:off x="960368" y="5227334"/>
            <a:ext cx="376529" cy="49430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5"/>
            <a:endCxn id="18" idx="0"/>
          </p:cNvCxnSpPr>
          <p:nvPr/>
        </p:nvCxnSpPr>
        <p:spPr>
          <a:xfrm>
            <a:off x="1789501" y="5227334"/>
            <a:ext cx="209692" cy="52120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4"/>
            <a:endCxn id="19" idx="0"/>
          </p:cNvCxnSpPr>
          <p:nvPr/>
        </p:nvCxnSpPr>
        <p:spPr>
          <a:xfrm flipH="1">
            <a:off x="2699173" y="5334519"/>
            <a:ext cx="313284" cy="41401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71641" y="5717964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18467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62514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898161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433808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969455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505102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10040749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10576396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11121005" y="5715001"/>
          <a:ext cx="539556" cy="5886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863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776187" y="5883259"/>
            <a:ext cx="942791" cy="461665"/>
          </a:xfrm>
          <a:prstGeom prst="rect">
            <a:avLst/>
          </a:prstGeom>
          <a:noFill/>
          <a:ln>
            <a:solidFill>
              <a:srgbClr val="42424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Heap </a:t>
            </a:r>
          </a:p>
        </p:txBody>
      </p:sp>
      <p:cxnSp>
        <p:nvCxnSpPr>
          <p:cNvPr id="63" name="Straight Connector 62"/>
          <p:cNvCxnSpPr/>
          <p:nvPr/>
        </p:nvCxnSpPr>
        <p:spPr>
          <a:xfrm flipH="1">
            <a:off x="5965375" y="2560320"/>
            <a:ext cx="0" cy="38404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Table 37"/>
              <p:cNvGraphicFramePr>
                <a:graphicFrameLocks noGrp="1"/>
              </p:cNvGraphicFramePr>
              <p:nvPr/>
            </p:nvGraphicFramePr>
            <p:xfrm>
              <a:off x="6288975" y="5354626"/>
              <a:ext cx="5421148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2115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591686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  <a:gridCol w="553547">
                      <a:extLst>
                        <a:ext uri="{9D8B030D-6E8A-4147-A177-3AD203B41FA5}">
                          <a16:colId xmlns:a16="http://schemas.microsoft.com/office/drawing/2014/main" val="39721799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1800" b="1" i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1800" b="1" i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1800" b="1" i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1800" b="1" i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1800" b="1" i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1800" b="1" i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sz="1800" b="1" i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 lang="en-US" sz="1800" b="1" i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sz="1800" b="1" i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1800" b="1" i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Table 37"/>
              <p:cNvGraphicFramePr>
                <a:graphicFrameLocks noGrp="1"/>
              </p:cNvGraphicFramePr>
              <p:nvPr/>
            </p:nvGraphicFramePr>
            <p:xfrm>
              <a:off x="6288975" y="5354626"/>
              <a:ext cx="5421148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42115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591686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491540489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1476518152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3698640460"/>
                        </a:ext>
                      </a:extLst>
                    </a:gridCol>
                    <a:gridCol w="533400">
                      <a:extLst>
                        <a:ext uri="{9D8B030D-6E8A-4147-A177-3AD203B41FA5}">
                          <a16:colId xmlns:a16="http://schemas.microsoft.com/office/drawing/2014/main" val="293661145"/>
                        </a:ext>
                      </a:extLst>
                    </a:gridCol>
                    <a:gridCol w="553547">
                      <a:extLst>
                        <a:ext uri="{9D8B030D-6E8A-4147-A177-3AD203B41FA5}">
                          <a16:colId xmlns:a16="http://schemas.microsoft.com/office/drawing/2014/main" val="39721799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9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1753" r="-7257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1364" r="-7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4943" r="-6080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0227" r="-5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16092" r="-40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9091" r="-3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9091" r="-2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18391" r="-1045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8780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756318" y="2641161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318" y="2641161"/>
                <a:ext cx="304800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936455" y="3550347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455" y="3550347"/>
                <a:ext cx="30480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853507" y="3550347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3507" y="3550347"/>
                <a:ext cx="304800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001120" y="4576468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20" y="4576468"/>
                <a:ext cx="30480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451348" y="4576468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348" y="4576468"/>
                <a:ext cx="30480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986466" y="4576468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466" y="4576468"/>
                <a:ext cx="304800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030863" y="4536126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863" y="4536126"/>
                <a:ext cx="304800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46849" y="5544979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49" y="5544979"/>
                <a:ext cx="304800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526391" y="5585320"/>
                <a:ext cx="3048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391" y="5585320"/>
                <a:ext cx="304800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2841170" y="5558426"/>
                <a:ext cx="4856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US" sz="1600" b="1">
                  <a:solidFill>
                    <a:srgbClr val="C00000"/>
                  </a:solidFill>
                </a:endParaRPr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170" y="5558426"/>
                <a:ext cx="485605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233726" y="2700138"/>
                <a:ext cx="5371587" cy="4001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For node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, parent node is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4/2=2</m:t>
                    </m:r>
                  </m:oMath>
                </a14:m>
                <a:endParaRPr lang="en-US" sz="2000" dirty="0">
                  <a:solidFill>
                    <a:srgbClr val="0070C0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726" y="2700138"/>
                <a:ext cx="5371587" cy="400110"/>
              </a:xfrm>
              <a:prstGeom prst="rect">
                <a:avLst/>
              </a:prstGeom>
              <a:blipFill>
                <a:blip r:embed="rId13"/>
                <a:stretch>
                  <a:fillRect l="-1249" t="-10606" b="-242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508878" y="3573169"/>
                <a:ext cx="5096435" cy="101566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7030A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For node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, </a:t>
                </a:r>
              </a:p>
              <a:p>
                <a:r>
                  <a:rPr lang="en-US" sz="2000" dirty="0">
                    <a:solidFill>
                      <a:srgbClr val="7030A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Left child node is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2∗4= 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node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2000" dirty="0">
                  <a:solidFill>
                    <a:srgbClr val="7030A0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r>
                  <a:rPr lang="en-US" sz="2000" dirty="0">
                    <a:solidFill>
                      <a:srgbClr val="7030A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Right child is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2∗4+1= 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node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2000" dirty="0">
                  <a:solidFill>
                    <a:srgbClr val="7030A0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878" y="3573169"/>
                <a:ext cx="5096435" cy="1015663"/>
              </a:xfrm>
              <a:prstGeom prst="rect">
                <a:avLst/>
              </a:prstGeom>
              <a:blipFill>
                <a:blip r:embed="rId14"/>
                <a:stretch>
                  <a:fillRect l="-1316" t="-3593" b="-89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 63"/>
          <p:cNvSpPr/>
          <p:nvPr/>
        </p:nvSpPr>
        <p:spPr>
          <a:xfrm>
            <a:off x="6817659" y="5701552"/>
            <a:ext cx="548640" cy="594360"/>
          </a:xfrm>
          <a:prstGeom prst="rect">
            <a:avLst/>
          </a:prstGeom>
          <a:solidFill>
            <a:srgbClr val="424242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14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4459" y="5701552"/>
            <a:ext cx="548640" cy="594360"/>
          </a:xfrm>
          <a:prstGeom prst="rect">
            <a:avLst/>
          </a:prstGeom>
          <a:solidFill>
            <a:srgbClr val="ED524F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31504" y="5701552"/>
            <a:ext cx="548640" cy="594360"/>
          </a:xfrm>
          <a:prstGeom prst="rect">
            <a:avLst/>
          </a:prstGeom>
          <a:solidFill>
            <a:srgbClr val="00B0F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82836" y="5701552"/>
            <a:ext cx="548640" cy="594360"/>
          </a:xfrm>
          <a:prstGeom prst="rect">
            <a:avLst/>
          </a:prstGeom>
          <a:solidFill>
            <a:srgbClr val="92D050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4</a:t>
            </a:r>
          </a:p>
        </p:txBody>
      </p:sp>
      <p:sp>
        <p:nvSpPr>
          <p:cNvPr id="52" name="TextShape 1">
            <a:extLst>
              <a:ext uri="{FF2B5EF4-FFF2-40B4-BE49-F238E27FC236}">
                <a16:creationId xmlns:a16="http://schemas.microsoft.com/office/drawing/2014/main" id="{619E6F99-0068-7690-07F4-F048E8ABB78B}"/>
              </a:ext>
            </a:extLst>
          </p:cNvPr>
          <p:cNvSpPr txBox="1"/>
          <p:nvPr/>
        </p:nvSpPr>
        <p:spPr>
          <a:xfrm>
            <a:off x="280140" y="91721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Array representation of heap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75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4294967295"/>
          </p:nvPr>
        </p:nvSpPr>
        <p:spPr>
          <a:xfrm>
            <a:off x="837401" y="1344541"/>
            <a:ext cx="6118225" cy="16240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100000"/>
              <a:buNone/>
            </a:pPr>
            <a:r>
              <a:rPr lang="en-US" sz="2400" b="1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Max-Heap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 − Where the value of the root node is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greater than or equal to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either of its children.</a:t>
            </a:r>
          </a:p>
          <a:p>
            <a:pPr marL="601197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endParaRPr lang="en-US" sz="2000" dirty="0">
              <a:latin typeface="Trebuchet MS" panose="020B0603020202020204" pitchFamily="34" charset="0"/>
              <a:ea typeface="Cambria" panose="02040503050406030204" pitchFamily="18" charset="0"/>
            </a:endParaRPr>
          </a:p>
          <a:p>
            <a:pPr marL="601197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endParaRPr lang="en-US" sz="2000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9355815" y="899159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A71160"/>
                </a:solidFill>
                <a:latin typeface="Trebuchet MS" panose="020B0603020202020204" pitchFamily="34" charset="0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8746215" y="1813559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A71160"/>
                </a:solidFill>
                <a:latin typeface="Trebuchet MS" panose="020B0603020202020204" pitchFamily="34" charset="0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10223869" y="1818620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A71160"/>
                </a:solidFill>
                <a:latin typeface="Trebuchet MS" panose="020B0603020202020204" pitchFamily="34" charset="0"/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8252621" y="2880359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A71160"/>
                </a:solidFill>
                <a:latin typeface="Trebuchet MS" panose="020B0603020202020204" pitchFamily="34" charset="0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9231274" y="2911110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A71160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10067202" y="2911110"/>
            <a:ext cx="609600" cy="609600"/>
          </a:xfrm>
          <a:prstGeom prst="ellipse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A71160"/>
                </a:solidFill>
                <a:latin typeface="Trebuchet MS" panose="020B0603020202020204" pitchFamily="34" charset="0"/>
              </a:rPr>
              <a:t>1</a:t>
            </a:r>
          </a:p>
        </p:txBody>
      </p:sp>
      <p:cxnSp>
        <p:nvCxnSpPr>
          <p:cNvPr id="11" name="Straight Arrow Connector 10"/>
          <p:cNvCxnSpPr>
            <a:stCxn id="5" idx="3"/>
            <a:endCxn id="6" idx="0"/>
          </p:cNvCxnSpPr>
          <p:nvPr/>
        </p:nvCxnSpPr>
        <p:spPr>
          <a:xfrm flipH="1">
            <a:off x="9051015" y="1419485"/>
            <a:ext cx="394074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5"/>
            <a:endCxn id="7" idx="1"/>
          </p:cNvCxnSpPr>
          <p:nvPr/>
        </p:nvCxnSpPr>
        <p:spPr>
          <a:xfrm>
            <a:off x="9876141" y="1419485"/>
            <a:ext cx="437002" cy="4884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3"/>
            <a:endCxn id="8" idx="0"/>
          </p:cNvCxnSpPr>
          <p:nvPr/>
        </p:nvCxnSpPr>
        <p:spPr>
          <a:xfrm flipH="1">
            <a:off x="8557421" y="2333885"/>
            <a:ext cx="278068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5"/>
            <a:endCxn id="9" idx="0"/>
          </p:cNvCxnSpPr>
          <p:nvPr/>
        </p:nvCxnSpPr>
        <p:spPr>
          <a:xfrm>
            <a:off x="9266541" y="2333885"/>
            <a:ext cx="269533" cy="5772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4"/>
            <a:endCxn id="10" idx="0"/>
          </p:cNvCxnSpPr>
          <p:nvPr/>
        </p:nvCxnSpPr>
        <p:spPr>
          <a:xfrm flipH="1">
            <a:off x="10372002" y="2428220"/>
            <a:ext cx="156667" cy="48289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18160" y="3657600"/>
            <a:ext cx="111556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7430589" y="1055915"/>
            <a:ext cx="0" cy="259080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4275908" y="3653245"/>
            <a:ext cx="0" cy="25908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94075" y="4417022"/>
            <a:ext cx="711709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Min-Heap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 − Where the value of the root node is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less than or equal to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either of its children.</a:t>
            </a:r>
          </a:p>
          <a:p>
            <a:endParaRPr lang="en-US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888210" y="3779249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02060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1278610" y="4693649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02060"/>
                </a:solidFill>
                <a:latin typeface="Trebuchet MS" panose="020B0603020202020204" pitchFamily="34" charset="0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2756264" y="4698710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02060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785016" y="5760449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02060"/>
                </a:solidFill>
                <a:latin typeface="Trebuchet MS" panose="020B0603020202020204" pitchFamily="34" charset="0"/>
              </a:rPr>
              <a:t>6</a:t>
            </a:r>
          </a:p>
        </p:txBody>
      </p:sp>
      <p:sp>
        <p:nvSpPr>
          <p:cNvPr id="24" name="Oval 23"/>
          <p:cNvSpPr/>
          <p:nvPr/>
        </p:nvSpPr>
        <p:spPr>
          <a:xfrm>
            <a:off x="1763669" y="5791200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02060"/>
                </a:solidFill>
                <a:latin typeface="Trebuchet MS" panose="020B0603020202020204" pitchFamily="34" charset="0"/>
              </a:rPr>
              <a:t>7</a:t>
            </a:r>
          </a:p>
        </p:txBody>
      </p:sp>
      <p:sp>
        <p:nvSpPr>
          <p:cNvPr id="25" name="Oval 24"/>
          <p:cNvSpPr/>
          <p:nvPr/>
        </p:nvSpPr>
        <p:spPr>
          <a:xfrm>
            <a:off x="2599597" y="5791200"/>
            <a:ext cx="609600" cy="60960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02060"/>
                </a:solidFill>
                <a:latin typeface="Trebuchet MS" panose="020B0603020202020204" pitchFamily="34" charset="0"/>
              </a:rPr>
              <a:t>9</a:t>
            </a:r>
          </a:p>
        </p:txBody>
      </p:sp>
      <p:cxnSp>
        <p:nvCxnSpPr>
          <p:cNvPr id="26" name="Straight Arrow Connector 25"/>
          <p:cNvCxnSpPr>
            <a:stCxn id="20" idx="3"/>
            <a:endCxn id="21" idx="0"/>
          </p:cNvCxnSpPr>
          <p:nvPr/>
        </p:nvCxnSpPr>
        <p:spPr>
          <a:xfrm flipH="1">
            <a:off x="1583410" y="4299575"/>
            <a:ext cx="394074" cy="3940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0" idx="5"/>
            <a:endCxn id="22" idx="1"/>
          </p:cNvCxnSpPr>
          <p:nvPr/>
        </p:nvCxnSpPr>
        <p:spPr>
          <a:xfrm>
            <a:off x="2408536" y="4299575"/>
            <a:ext cx="437002" cy="48840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3"/>
            <a:endCxn id="23" idx="0"/>
          </p:cNvCxnSpPr>
          <p:nvPr/>
        </p:nvCxnSpPr>
        <p:spPr>
          <a:xfrm flipH="1">
            <a:off x="1089816" y="5213975"/>
            <a:ext cx="278068" cy="5464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1" idx="5"/>
            <a:endCxn id="24" idx="0"/>
          </p:cNvCxnSpPr>
          <p:nvPr/>
        </p:nvCxnSpPr>
        <p:spPr>
          <a:xfrm>
            <a:off x="1798936" y="5213975"/>
            <a:ext cx="269533" cy="57722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4"/>
            <a:endCxn id="25" idx="0"/>
          </p:cNvCxnSpPr>
          <p:nvPr/>
        </p:nvCxnSpPr>
        <p:spPr>
          <a:xfrm flipH="1">
            <a:off x="2904397" y="5308310"/>
            <a:ext cx="156667" cy="48289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Shape 1">
            <a:extLst>
              <a:ext uri="{FF2B5EF4-FFF2-40B4-BE49-F238E27FC236}">
                <a16:creationId xmlns:a16="http://schemas.microsoft.com/office/drawing/2014/main" id="{9B467926-6E8E-554A-5BD6-F4BF14841654}"/>
              </a:ext>
            </a:extLst>
          </p:cNvPr>
          <p:cNvSpPr txBox="1"/>
          <p:nvPr/>
        </p:nvSpPr>
        <p:spPr>
          <a:xfrm>
            <a:off x="265503" y="16011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Types of heap</a:t>
            </a:r>
            <a:endParaRPr lang="en-US" sz="3200" b="1" strike="noStrike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845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4294967295"/>
              </p:nvPr>
            </p:nvSpPr>
            <p:spPr>
              <a:xfrm>
                <a:off x="573206" y="960438"/>
                <a:ext cx="11355269" cy="55911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600"/>
                  </a:spcBef>
                  <a:buNone/>
                </a:pPr>
                <a:endParaRPr lang="en-IN" sz="2400" b="1" dirty="0">
                  <a:solidFill>
                    <a:srgbClr val="FBD9EB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Consolas" pitchFamily="49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IN" sz="2400" dirty="0">
                    <a:solidFill>
                      <a:srgbClr val="D60093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Algorithm:</a:t>
                </a:r>
                <a:r>
                  <a:rPr lang="en-IN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 </a:t>
                </a:r>
                <a:r>
                  <a:rPr lang="en-IN" sz="2400" b="1" dirty="0" err="1">
                    <a:solidFill>
                      <a:srgbClr val="0070C0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Heap_Sort</a:t>
                </a:r>
                <a:r>
                  <a:rPr lang="en-IN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(A[1,…,n])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IN" sz="2400" dirty="0">
                    <a:solidFill>
                      <a:srgbClr val="FF0000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# Input</a:t>
                </a:r>
                <a:r>
                  <a:rPr lang="en-IN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: Array A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IN" sz="2400" dirty="0">
                    <a:solidFill>
                      <a:srgbClr val="FF0000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# Output</a:t>
                </a:r>
                <a:r>
                  <a:rPr lang="en-IN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: Sorted array A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	BUILD-MAX-HEAP(A)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	for </a:t>
                </a:r>
                <a:r>
                  <a:rPr lang="en-US" sz="2400" dirty="0" err="1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i</a:t>
                </a:r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 length[A] </a:t>
                </a:r>
                <a:r>
                  <a:rPr lang="en-US" sz="2400" dirty="0" err="1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downto</a:t>
                </a:r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 2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		do exchange A[1]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49" charset="0"/>
                      </a:rPr>
                      <m:t>↔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 A[</a:t>
                </a:r>
                <a:r>
                  <a:rPr lang="en-US" sz="2400" dirty="0" err="1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i</a:t>
                </a:r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]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		heap-size[A]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49" charset="0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 heap-size[A] – 1</a:t>
                </a: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Trebuchet MS" panose="020B0603020202020204" pitchFamily="34" charset="0"/>
                    <a:ea typeface="Cambria Math" panose="02040503050406030204" pitchFamily="18" charset="0"/>
                    <a:cs typeface="Consolas" pitchFamily="49" charset="0"/>
                  </a:rPr>
                  <a:t>		MAX-HEAPIFY(A, 1, n)</a:t>
                </a:r>
              </a:p>
              <a:p>
                <a:pPr marL="143997" indent="0">
                  <a:lnSpc>
                    <a:spcPct val="150000"/>
                  </a:lnSpc>
                  <a:buNone/>
                </a:pPr>
                <a:endParaRPr lang="en-US" sz="2000" dirty="0">
                  <a:latin typeface="Trebuchet MS" panose="020B0603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573206" y="960438"/>
                <a:ext cx="11355269" cy="5591175"/>
              </a:xfrm>
              <a:prstGeom prst="rect">
                <a:avLst/>
              </a:prstGeom>
              <a:blipFill>
                <a:blip r:embed="rId2"/>
                <a:stretch>
                  <a:fillRect l="-8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Shape 1">
            <a:extLst>
              <a:ext uri="{FF2B5EF4-FFF2-40B4-BE49-F238E27FC236}">
                <a16:creationId xmlns:a16="http://schemas.microsoft.com/office/drawing/2014/main" id="{D7880732-22BA-F1AF-CBAF-846ED558D698}"/>
              </a:ext>
            </a:extLst>
          </p:cNvPr>
          <p:cNvSpPr txBox="1"/>
          <p:nvPr/>
        </p:nvSpPr>
        <p:spPr>
          <a:xfrm>
            <a:off x="131762" y="201722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algorithm(Max-Heap)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86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82639" y="1433892"/>
            <a:ext cx="9586913" cy="39163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20725" indent="-541338">
              <a:buSzPct val="100000"/>
              <a:buFont typeface="+mj-lt"/>
              <a:buAutoNum type="arabicPeriod"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Build the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complete binary tree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using given elements.</a:t>
            </a:r>
          </a:p>
          <a:p>
            <a:pPr marL="720725" indent="-541338">
              <a:buSzPct val="100000"/>
              <a:buFont typeface="+mj-lt"/>
              <a:buAutoNum type="arabicPeriod"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Create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Max-heap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 to sort in ascending order.</a:t>
            </a:r>
          </a:p>
          <a:p>
            <a:pPr marL="720725" indent="-541338">
              <a:buSzPct val="100000"/>
              <a:buFont typeface="+mj-lt"/>
              <a:buAutoNum type="arabicPeriod"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Once the heap is created,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the last node with the root node and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delete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 the last node from the heap.</a:t>
            </a:r>
          </a:p>
          <a:p>
            <a:pPr marL="720725" indent="-541338">
              <a:buSzPct val="100000"/>
              <a:buFont typeface="+mj-lt"/>
              <a:buAutoNum type="arabicPeriod"/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Repeat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step 2 and 3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until the heap is empty.</a:t>
            </a:r>
            <a:endParaRPr lang="en-US" sz="2000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AA8BACEB-60E5-7A98-589D-598172C2097A}"/>
              </a:ext>
            </a:extLst>
          </p:cNvPr>
          <p:cNvSpPr txBox="1"/>
          <p:nvPr/>
        </p:nvSpPr>
        <p:spPr>
          <a:xfrm>
            <a:off x="242487" y="270994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lvl="0" algn="just"/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Steps for build a </a:t>
            </a: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(</a:t>
            </a: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Max-Heap)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4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60438"/>
            <a:ext cx="11928475" cy="5591175"/>
          </a:xfrm>
          <a:prstGeom prst="rect">
            <a:avLst/>
          </a:prstGeo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465837" lvl="1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65837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solidFill>
                  <a:srgbClr val="D60093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Algorithm: </a:t>
            </a:r>
            <a:r>
              <a:rPr lang="en-US" sz="2400" b="1" i="1" dirty="0">
                <a:solidFill>
                  <a:srgbClr val="0070C0"/>
                </a:solidFill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MAX-HEAPIFY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(A,</a:t>
            </a:r>
            <a:r>
              <a:rPr lang="en-US" sz="2400" spc="4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24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2400" spc="6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← LEFT(</a:t>
            </a:r>
            <a:r>
              <a:rPr lang="en-US" sz="2400" dirty="0" err="1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24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400" spc="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←</a:t>
            </a:r>
            <a:r>
              <a:rPr lang="en-US" sz="2400" spc="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RIGHT(</a:t>
            </a:r>
            <a:r>
              <a:rPr lang="en-US" sz="2400" dirty="0" err="1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US" sz="2400" spc="3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2400" spc="5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≤</a:t>
            </a:r>
            <a:r>
              <a:rPr lang="en-US" sz="2400" spc="2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heap-size[A]</a:t>
            </a:r>
            <a:r>
              <a:rPr lang="en-US" sz="2400" spc="3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A[l]</a:t>
            </a:r>
            <a:r>
              <a:rPr lang="en-US" sz="2400" spc="3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r>
              <a:rPr lang="en-US" sz="2400" spc="3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A[</a:t>
            </a:r>
            <a:r>
              <a:rPr lang="en-US" sz="2400" dirty="0" err="1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2400" spc="-26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</a:t>
            </a: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 smtClean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largest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←</a:t>
            </a:r>
            <a:r>
              <a:rPr lang="en-US" sz="2400" spc="-1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endParaRPr lang="en-IN" sz="24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else</a:t>
            </a:r>
            <a:r>
              <a:rPr lang="en-US" sz="2400" spc="35" dirty="0"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spc="35" dirty="0" smtClean="0"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 smtClean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largest</a:t>
            </a:r>
            <a:r>
              <a:rPr lang="en-US" sz="2400" spc="10" dirty="0" smtClean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←</a:t>
            </a:r>
            <a:r>
              <a:rPr lang="en-US" sz="2400" spc="-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en-IN" sz="2400" dirty="0"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r ≤ heap-size[A] and A[r] &gt; A[largest]</a:t>
            </a:r>
            <a:endParaRPr lang="en-US" sz="2400" spc="-260" dirty="0"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spc="-26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 largest ←</a:t>
            </a:r>
            <a:r>
              <a:rPr lang="en-US" sz="2400" spc="-1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US" sz="2400" spc="3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largest</a:t>
            </a:r>
            <a:r>
              <a:rPr lang="en-US" sz="2400" spc="-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≠</a:t>
            </a:r>
            <a:r>
              <a:rPr lang="en-US" sz="2400" spc="2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en-IN" sz="2400" dirty="0"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2400" spc="-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400" spc="-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then</a:t>
            </a:r>
            <a:r>
              <a:rPr lang="en-US" sz="2400" spc="-6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exchange</a:t>
            </a:r>
            <a:r>
              <a:rPr lang="en-US" sz="2400" spc="-3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A[</a:t>
            </a:r>
            <a:r>
              <a:rPr lang="en-US" sz="2400" dirty="0" err="1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2400" spc="-4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↔</a:t>
            </a:r>
            <a:r>
              <a:rPr lang="en-US" sz="2400" spc="-2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A[largest]</a:t>
            </a:r>
          </a:p>
          <a:p>
            <a:pPr marL="1075408" lvl="2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MAX-HEAPIFY(A,</a:t>
            </a:r>
            <a:r>
              <a:rPr lang="en-US" sz="2400" spc="85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largest)</a:t>
            </a:r>
            <a:endParaRPr lang="en-IN" sz="2400" dirty="0">
              <a:effectLst/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59435">
              <a:spcBef>
                <a:spcPts val="345"/>
              </a:spcBef>
              <a:spcAft>
                <a:spcPts val="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TextShape 1">
            <a:extLst>
              <a:ext uri="{FF2B5EF4-FFF2-40B4-BE49-F238E27FC236}">
                <a16:creationId xmlns:a16="http://schemas.microsoft.com/office/drawing/2014/main" id="{D7880732-22BA-F1AF-CBAF-846ED558D698}"/>
              </a:ext>
            </a:extLst>
          </p:cNvPr>
          <p:cNvSpPr txBox="1"/>
          <p:nvPr/>
        </p:nvSpPr>
        <p:spPr>
          <a:xfrm>
            <a:off x="131762" y="201722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lvl="0" algn="just">
              <a:defRPr/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algorithm(Max-Heap)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39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Shape 1">
            <a:extLst>
              <a:ext uri="{FF2B5EF4-FFF2-40B4-BE49-F238E27FC236}">
                <a16:creationId xmlns:a16="http://schemas.microsoft.com/office/drawing/2014/main" id="{D7880732-22BA-F1AF-CBAF-846ED558D698}"/>
              </a:ext>
            </a:extLst>
          </p:cNvPr>
          <p:cNvSpPr txBox="1"/>
          <p:nvPr/>
        </p:nvSpPr>
        <p:spPr>
          <a:xfrm>
            <a:off x="131762" y="201722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algorithm(Max-Heap)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944942"/>
            <a:ext cx="1160531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20725" marR="192405" lvl="0" indent="-360363" algn="just" defTabSz="12191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539750" algn="l"/>
              </a:tabLst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At each step, the largest of the elements </a:t>
            </a:r>
            <a:r>
              <a:rPr lang="en-US" sz="2400" i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[</a:t>
            </a:r>
            <a:r>
              <a:rPr lang="en-US" sz="2400" i="1" dirty="0" err="1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], </a:t>
            </a:r>
            <a:r>
              <a:rPr lang="en-US" sz="2400" i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[LEFT(</a:t>
            </a:r>
            <a:r>
              <a:rPr lang="en-US" sz="2400" i="1" dirty="0" err="1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)],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and </a:t>
            </a:r>
            <a:r>
              <a:rPr lang="en-US" sz="2400" i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[RIGHT(</a:t>
            </a:r>
            <a:r>
              <a:rPr lang="en-US" sz="2400" i="1" dirty="0" err="1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)]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is determined, and its index</a:t>
            </a:r>
            <a:r>
              <a:rPr lang="en-US" sz="2400" spc="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is</a:t>
            </a:r>
            <a:r>
              <a:rPr lang="en-US" sz="2400" spc="7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stored in</a:t>
            </a:r>
            <a:r>
              <a:rPr lang="en-US" sz="2400" spc="1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largest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.</a:t>
            </a:r>
            <a:endParaRPr lang="en-IN" sz="2400" dirty="0">
              <a:solidFill>
                <a:prstClr val="black"/>
              </a:solidFill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720725" lvl="0" indent="-360363" algn="just" defTabSz="12191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539750" algn="l"/>
              </a:tabLst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If</a:t>
            </a:r>
            <a:r>
              <a:rPr lang="en-US" sz="2400" spc="-1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b="1" i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[</a:t>
            </a:r>
            <a:r>
              <a:rPr lang="en-US" sz="2400" b="1" i="1" dirty="0" err="1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]</a:t>
            </a:r>
            <a:r>
              <a:rPr lang="en-US" sz="2400" b="1" spc="-10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is</a:t>
            </a:r>
            <a:r>
              <a:rPr lang="en-US" sz="2400" b="1" spc="30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largest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,</a:t>
            </a:r>
            <a:r>
              <a:rPr lang="en-US" sz="2400" spc="-1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then</a:t>
            </a:r>
            <a:r>
              <a:rPr lang="en-US" sz="2400" spc="-3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the</a:t>
            </a:r>
            <a:r>
              <a:rPr lang="en-US" sz="2400" spc="-1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sub-tree</a:t>
            </a:r>
            <a:r>
              <a:rPr lang="en-US" sz="2400" spc="-1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rooted</a:t>
            </a:r>
            <a:r>
              <a:rPr lang="en-US" sz="2400" spc="-4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at</a:t>
            </a:r>
            <a:r>
              <a:rPr lang="en-US" sz="2400" spc="-3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node</a:t>
            </a:r>
            <a:r>
              <a:rPr lang="en-US" sz="2400" spc="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 err="1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</a:t>
            </a:r>
            <a:r>
              <a:rPr lang="en-US" sz="2400" i="1" spc="1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is</a:t>
            </a:r>
            <a:r>
              <a:rPr lang="en-US" sz="2400" spc="3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</a:t>
            </a:r>
            <a:r>
              <a:rPr lang="en-US" sz="2400" spc="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max-heap</a:t>
            </a:r>
            <a:r>
              <a:rPr lang="en-US" sz="2400" spc="-4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and</a:t>
            </a:r>
            <a:r>
              <a:rPr lang="en-US" sz="2400" spc="-4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the</a:t>
            </a:r>
            <a:r>
              <a:rPr lang="en-US" sz="2400" spc="-1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procedure</a:t>
            </a:r>
            <a:r>
              <a:rPr lang="en-US" sz="2400" spc="-1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terminates.</a:t>
            </a:r>
            <a:endParaRPr lang="en-IN" sz="2400" dirty="0">
              <a:solidFill>
                <a:prstClr val="black"/>
              </a:solidFill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720725" marR="190500" lvl="0" indent="-360363" algn="just" defTabSz="12191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539750" algn="l"/>
              </a:tabLst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Otherwise, one of the two children has</a:t>
            </a:r>
            <a:r>
              <a:rPr lang="en-US" sz="2400" spc="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the largest element, and </a:t>
            </a:r>
            <a:r>
              <a:rPr lang="en-US" sz="2400" b="1" i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[</a:t>
            </a:r>
            <a:r>
              <a:rPr lang="en-US" sz="2400" b="1" i="1" dirty="0" err="1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] is swapped with </a:t>
            </a:r>
            <a:r>
              <a:rPr lang="en-US" sz="2400" b="1" i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[</a:t>
            </a:r>
            <a:r>
              <a:rPr lang="en-US" sz="2400" b="1" i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largest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],</a:t>
            </a:r>
            <a:r>
              <a:rPr lang="en-US" sz="2400" spc="5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which</a:t>
            </a:r>
            <a:r>
              <a:rPr lang="en-US" sz="2400" spc="-1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causes</a:t>
            </a:r>
            <a:r>
              <a:rPr lang="en-US" sz="2400" spc="8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node</a:t>
            </a:r>
            <a:r>
              <a:rPr lang="en-US" sz="2400" spc="4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i="1" dirty="0" err="1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</a:t>
            </a:r>
            <a:r>
              <a:rPr lang="en-US" sz="2400" i="1" spc="4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and</a:t>
            </a:r>
            <a:r>
              <a:rPr lang="en-US" sz="2400" spc="-1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its</a:t>
            </a:r>
            <a:r>
              <a:rPr lang="en-US" sz="2400" spc="7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children</a:t>
            </a:r>
            <a:r>
              <a:rPr lang="en-US" sz="2400" spc="-1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to</a:t>
            </a:r>
            <a:r>
              <a:rPr lang="en-US" sz="2400" spc="-1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satisfy the</a:t>
            </a:r>
            <a:r>
              <a:rPr lang="en-US" sz="2400" spc="2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max-heap</a:t>
            </a:r>
            <a:r>
              <a:rPr lang="en-US" sz="2400" spc="-1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property.</a:t>
            </a:r>
            <a:endParaRPr lang="en-IN" sz="2400" dirty="0">
              <a:solidFill>
                <a:prstClr val="black"/>
              </a:solidFill>
              <a:latin typeface="Trebuchet MS" panose="020B0603020202020204" pitchFamily="34" charset="0"/>
              <a:ea typeface="Calibri" panose="020F0502020204030204" pitchFamily="34" charset="0"/>
            </a:endParaRPr>
          </a:p>
          <a:p>
            <a:pPr marL="720725" marR="187325" lvl="0" indent="-360363" algn="just" defTabSz="121914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539750" algn="l"/>
              </a:tabLst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The node indexed by </a:t>
            </a:r>
            <a:r>
              <a:rPr lang="en-US" sz="2400" i="1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largest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, however, now has the </a:t>
            </a:r>
            <a:r>
              <a:rPr lang="en-US" sz="2400" b="1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original value </a:t>
            </a:r>
            <a:r>
              <a:rPr lang="en-US" sz="2400" b="1" i="1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</a:t>
            </a:r>
            <a:r>
              <a:rPr lang="en-US" sz="2400" b="1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[</a:t>
            </a:r>
            <a:r>
              <a:rPr lang="en-US" sz="2400" b="1" i="1" dirty="0" err="1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i</a:t>
            </a:r>
            <a:r>
              <a:rPr lang="en-US" sz="2400" b="1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],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and thus the sub-tree rooted</a:t>
            </a:r>
            <a:r>
              <a:rPr lang="en-US" sz="2400" spc="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at </a:t>
            </a:r>
            <a:r>
              <a:rPr lang="en-US" sz="2400" i="1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largest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may violate the max-heap property. therefore,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MAX-HEAPIFY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must be called recursively on</a:t>
            </a:r>
            <a:r>
              <a:rPr lang="en-US" sz="2400" spc="5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that 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  <a:ea typeface="Calibri" panose="020F0502020204030204" pitchFamily="34" charset="0"/>
              </a:rPr>
              <a:t>sub-tree.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6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001849"/>
              </p:ext>
            </p:extLst>
          </p:nvPr>
        </p:nvGraphicFramePr>
        <p:xfrm>
          <a:off x="495172" y="1503876"/>
          <a:ext cx="325967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8655" y="990600"/>
            <a:ext cx="88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rebuchet MS" panose="020B0603020202020204" pitchFamily="34" charset="0"/>
                <a:ea typeface="Cambria" panose="02040503050406030204" pitchFamily="18" charset="0"/>
              </a:rPr>
              <a:t>Sort the following elements in Ascending order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2286000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986322"/>
              </p:ext>
            </p:extLst>
          </p:nvPr>
        </p:nvGraphicFramePr>
        <p:xfrm>
          <a:off x="569874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7050573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7050573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609594" y="2303041"/>
            <a:ext cx="4731936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Step 1 : Create Complete Binary Tree </a:t>
            </a:r>
            <a:endParaRPr lang="en-US" sz="2000" b="1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10" name="Up Arrow 9"/>
          <p:cNvSpPr/>
          <p:nvPr/>
        </p:nvSpPr>
        <p:spPr>
          <a:xfrm>
            <a:off x="730616" y="3887917"/>
            <a:ext cx="304800" cy="369332"/>
          </a:xfrm>
          <a:prstGeom prst="upArrow">
            <a:avLst/>
          </a:prstGeom>
          <a:noFill/>
          <a:ln w="1905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4</a:t>
            </a:r>
          </a:p>
        </p:txBody>
      </p:sp>
      <p:cxnSp>
        <p:nvCxnSpPr>
          <p:cNvPr id="12" name="Straight Connector 11"/>
          <p:cNvCxnSpPr>
            <a:cxnSpLocks/>
            <a:stCxn id="11" idx="3"/>
            <a:endCxn id="13" idx="0"/>
          </p:cNvCxnSpPr>
          <p:nvPr/>
        </p:nvCxnSpPr>
        <p:spPr>
          <a:xfrm flipH="1">
            <a:off x="6467238" y="3138927"/>
            <a:ext cx="399325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096000" y="3560618"/>
            <a:ext cx="742476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10</a:t>
            </a:r>
          </a:p>
        </p:txBody>
      </p:sp>
      <p:sp>
        <p:nvSpPr>
          <p:cNvPr id="14" name="Up Arrow 13"/>
          <p:cNvSpPr/>
          <p:nvPr/>
        </p:nvSpPr>
        <p:spPr>
          <a:xfrm>
            <a:off x="1420896" y="3887917"/>
            <a:ext cx="304800" cy="369332"/>
          </a:xfrm>
          <a:prstGeom prst="upArrow">
            <a:avLst/>
          </a:prstGeom>
          <a:noFill/>
          <a:ln w="1905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cxnSp>
        <p:nvCxnSpPr>
          <p:cNvPr id="15" name="Straight Connector 14"/>
          <p:cNvCxnSpPr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3</a:t>
            </a:r>
          </a:p>
        </p:txBody>
      </p:sp>
      <p:sp>
        <p:nvSpPr>
          <p:cNvPr id="20" name="Up Arrow 19"/>
          <p:cNvSpPr/>
          <p:nvPr/>
        </p:nvSpPr>
        <p:spPr>
          <a:xfrm>
            <a:off x="2125007" y="3887917"/>
            <a:ext cx="304800" cy="369332"/>
          </a:xfrm>
          <a:prstGeom prst="upArrow">
            <a:avLst/>
          </a:prstGeom>
          <a:noFill/>
          <a:ln w="1905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cxnSp>
        <p:nvCxnSpPr>
          <p:cNvPr id="21" name="Straight Connector 20"/>
          <p:cNvCxnSpPr>
            <a:cxnSpLocks/>
            <a:stCxn id="13" idx="3"/>
            <a:endCxn id="22" idx="0"/>
          </p:cNvCxnSpPr>
          <p:nvPr/>
        </p:nvCxnSpPr>
        <p:spPr>
          <a:xfrm flipH="1">
            <a:off x="6048488" y="4106960"/>
            <a:ext cx="156245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5</a:t>
            </a:r>
          </a:p>
        </p:txBody>
      </p:sp>
      <p:sp>
        <p:nvSpPr>
          <p:cNvPr id="30" name="Up Arrow 29"/>
          <p:cNvSpPr/>
          <p:nvPr/>
        </p:nvSpPr>
        <p:spPr>
          <a:xfrm>
            <a:off x="2720390" y="3887917"/>
            <a:ext cx="304800" cy="369332"/>
          </a:xfrm>
          <a:prstGeom prst="upArrow">
            <a:avLst/>
          </a:prstGeom>
          <a:noFill/>
          <a:ln w="19050">
            <a:solidFill>
              <a:srgbClr val="424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cxnSp>
        <p:nvCxnSpPr>
          <p:cNvPr id="31" name="Straight Connector 30"/>
          <p:cNvCxnSpPr>
            <a:cxnSpLocks/>
            <a:stCxn id="13" idx="5"/>
            <a:endCxn id="32" idx="0"/>
          </p:cNvCxnSpPr>
          <p:nvPr/>
        </p:nvCxnSpPr>
        <p:spPr>
          <a:xfrm>
            <a:off x="6729743" y="4106960"/>
            <a:ext cx="314199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723902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874" y="4706468"/>
            <a:ext cx="3524794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Now, a binary tree is created and we have to convert it into a Heap</a:t>
            </a:r>
            <a:r>
              <a:rPr lang="en-US" sz="2400" dirty="0">
                <a:solidFill>
                  <a:srgbClr val="A7116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3" name="TextShape 1">
            <a:extLst>
              <a:ext uri="{FF2B5EF4-FFF2-40B4-BE49-F238E27FC236}">
                <a16:creationId xmlns:a16="http://schemas.microsoft.com/office/drawing/2014/main" id="{7EF12A16-0B0D-06DD-0EC5-CD0439795433}"/>
              </a:ext>
            </a:extLst>
          </p:cNvPr>
          <p:cNvSpPr txBox="1"/>
          <p:nvPr/>
        </p:nvSpPr>
        <p:spPr>
          <a:xfrm>
            <a:off x="206105" y="189007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(Max-Heap)–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04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312377" y="1565564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875871"/>
              </p:ext>
            </p:extLst>
          </p:nvPr>
        </p:nvGraphicFramePr>
        <p:xfrm>
          <a:off x="569874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4</a:t>
            </a:r>
          </a:p>
        </p:txBody>
      </p:sp>
      <p:cxnSp>
        <p:nvCxnSpPr>
          <p:cNvPr id="12" name="Straight Connector 11"/>
          <p:cNvCxnSpPr>
            <a:cxnSpLocks/>
            <a:stCxn id="11" idx="3"/>
            <a:endCxn id="13" idx="0"/>
          </p:cNvCxnSpPr>
          <p:nvPr/>
        </p:nvCxnSpPr>
        <p:spPr>
          <a:xfrm flipH="1">
            <a:off x="6537362" y="3138927"/>
            <a:ext cx="329201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5" y="3560618"/>
            <a:ext cx="677933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10</a:t>
            </a:r>
          </a:p>
        </p:txBody>
      </p:sp>
      <p:cxnSp>
        <p:nvCxnSpPr>
          <p:cNvPr id="15" name="Straight Connector 14"/>
          <p:cNvCxnSpPr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3</a:t>
            </a:r>
          </a:p>
        </p:txBody>
      </p:sp>
      <p:cxnSp>
        <p:nvCxnSpPr>
          <p:cNvPr id="21" name="Straight Connector 20"/>
          <p:cNvCxnSpPr>
            <a:cxnSpLocks/>
            <a:stCxn id="13" idx="3"/>
            <a:endCxn id="22" idx="0"/>
          </p:cNvCxnSpPr>
          <p:nvPr/>
        </p:nvCxnSpPr>
        <p:spPr>
          <a:xfrm flipH="1">
            <a:off x="6048488" y="4106960"/>
            <a:ext cx="249188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5</a:t>
            </a:r>
          </a:p>
        </p:txBody>
      </p:sp>
      <p:cxnSp>
        <p:nvCxnSpPr>
          <p:cNvPr id="31" name="Straight Connector 30"/>
          <p:cNvCxnSpPr>
            <a:cxnSpLocks/>
            <a:stCxn id="13" idx="5"/>
            <a:endCxn id="32" idx="0"/>
          </p:cNvCxnSpPr>
          <p:nvPr/>
        </p:nvCxnSpPr>
        <p:spPr>
          <a:xfrm>
            <a:off x="6777047" y="4106960"/>
            <a:ext cx="266895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723902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298" y="1579244"/>
            <a:ext cx="3217547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Step 2 : Create Max Heap</a:t>
            </a:r>
            <a:endParaRPr lang="en-US" sz="2000" b="1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9874" y="4706468"/>
            <a:ext cx="352479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In a Max Heap, parent node is always greater than or equal to the child nodes.</a:t>
            </a:r>
          </a:p>
        </p:txBody>
      </p:sp>
      <p:sp>
        <p:nvSpPr>
          <p:cNvPr id="27" name="Freeform 11"/>
          <p:cNvSpPr/>
          <p:nvPr/>
        </p:nvSpPr>
        <p:spPr bwMode="auto">
          <a:xfrm rot="221630">
            <a:off x="6332546" y="2922545"/>
            <a:ext cx="317782" cy="396079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28" name="Freeform 12"/>
          <p:cNvSpPr/>
          <p:nvPr/>
        </p:nvSpPr>
        <p:spPr bwMode="auto">
          <a:xfrm>
            <a:off x="6866964" y="3281082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53055" y="2699267"/>
            <a:ext cx="2729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10 is greater than 4</a:t>
            </a:r>
          </a:p>
          <a:p>
            <a:r>
              <a:rPr lang="en-US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So, swap 10 &amp; 4</a:t>
            </a:r>
          </a:p>
        </p:txBody>
      </p:sp>
      <p:sp>
        <p:nvSpPr>
          <p:cNvPr id="35" name="Freeform 34"/>
          <p:cNvSpPr/>
          <p:nvPr/>
        </p:nvSpPr>
        <p:spPr>
          <a:xfrm>
            <a:off x="874059" y="3870833"/>
            <a:ext cx="699247" cy="18825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0273" y="4030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955" y="3370217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9680" y="3365862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Table 4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1064229"/>
                  </p:ext>
                </p:extLst>
              </p:nvPr>
            </p:nvGraphicFramePr>
            <p:xfrm>
              <a:off x="556953" y="26129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Table 4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61064229"/>
                  </p:ext>
                </p:extLst>
              </p:nvPr>
            </p:nvGraphicFramePr>
            <p:xfrm>
              <a:off x="556953" y="2612909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1379" r="-2706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1429" r="-19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4423" r="-100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0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9" name="TextBox 28"/>
          <p:cNvSpPr txBox="1"/>
          <p:nvPr/>
        </p:nvSpPr>
        <p:spPr>
          <a:xfrm>
            <a:off x="6838476" y="2684025"/>
            <a:ext cx="482989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7936" y="3708795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33" name="TextShape 1">
            <a:extLst>
              <a:ext uri="{FF2B5EF4-FFF2-40B4-BE49-F238E27FC236}">
                <a16:creationId xmlns:a16="http://schemas.microsoft.com/office/drawing/2014/main" id="{0E31EDE4-B971-882C-79C4-4E53FC9E2390}"/>
              </a:ext>
            </a:extLst>
          </p:cNvPr>
          <p:cNvSpPr txBox="1"/>
          <p:nvPr/>
        </p:nvSpPr>
        <p:spPr>
          <a:xfrm>
            <a:off x="206105" y="295672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349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566654" y="1593273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117323"/>
              </p:ext>
            </p:extLst>
          </p:nvPr>
        </p:nvGraphicFramePr>
        <p:xfrm>
          <a:off x="550818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Connector 20"/>
          <p:cNvCxnSpPr>
            <a:stCxn id="13" idx="3"/>
            <a:endCxn id="22" idx="0"/>
          </p:cNvCxnSpPr>
          <p:nvPr/>
        </p:nvCxnSpPr>
        <p:spPr>
          <a:xfrm flipH="1">
            <a:off x="6048488" y="4106960"/>
            <a:ext cx="243646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10</a:t>
            </a:r>
          </a:p>
        </p:txBody>
      </p:sp>
      <p:cxnSp>
        <p:nvCxnSpPr>
          <p:cNvPr id="12" name="Straight Connector 11"/>
          <p:cNvCxnSpPr>
            <a:cxnSpLocks/>
            <a:stCxn id="11" idx="3"/>
          </p:cNvCxnSpPr>
          <p:nvPr/>
        </p:nvCxnSpPr>
        <p:spPr>
          <a:xfrm flipH="1">
            <a:off x="6441141" y="3138927"/>
            <a:ext cx="425422" cy="51867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4</a:t>
            </a:r>
          </a:p>
        </p:txBody>
      </p:sp>
      <p:cxnSp>
        <p:nvCxnSpPr>
          <p:cNvPr id="15" name="Straight Connector 14"/>
          <p:cNvCxnSpPr>
            <a:cxnSpLocks/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3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6744738" y="4120407"/>
            <a:ext cx="299204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6723902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874" y="4706468"/>
            <a:ext cx="352479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In a Max Heap, parent node is always greater than or equal to the child nodes</a:t>
            </a:r>
            <a:r>
              <a:rPr lang="en-US" sz="2400" dirty="0">
                <a:solidFill>
                  <a:srgbClr val="A7116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7800" y="2699267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5 is greater than 4</a:t>
            </a:r>
          </a:p>
          <a:p>
            <a:r>
              <a:rPr lang="en-US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So, swap 5 &amp; 4</a:t>
            </a:r>
          </a:p>
        </p:txBody>
      </p:sp>
      <p:sp>
        <p:nvSpPr>
          <p:cNvPr id="26" name="Freeform 11"/>
          <p:cNvSpPr/>
          <p:nvPr/>
        </p:nvSpPr>
        <p:spPr bwMode="auto">
          <a:xfrm rot="20912236">
            <a:off x="5788101" y="4145280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27" name="Freeform 12"/>
          <p:cNvSpPr/>
          <p:nvPr/>
        </p:nvSpPr>
        <p:spPr bwMode="auto">
          <a:xfrm>
            <a:off x="6307183" y="4297682"/>
            <a:ext cx="224245" cy="481840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1515265" y="3892843"/>
            <a:ext cx="1236644" cy="16724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07206" y="401404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2903" y="3352799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6617" y="3352799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5</a:t>
            </a:r>
          </a:p>
        </p:txBody>
      </p:sp>
      <p:sp>
        <p:nvSpPr>
          <p:cNvPr id="37" name="Oval 36"/>
          <p:cNvSpPr/>
          <p:nvPr/>
        </p:nvSpPr>
        <p:spPr>
          <a:xfrm>
            <a:off x="6662057" y="2494586"/>
            <a:ext cx="822960" cy="82296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101119" y="3458851"/>
            <a:ext cx="822960" cy="82296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09111" y="5569750"/>
            <a:ext cx="2855999" cy="83099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Max Heap is created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184" y="1611106"/>
            <a:ext cx="4227439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Step 2 : Create Max Heap(Conti…)</a:t>
            </a:r>
            <a:endParaRPr lang="en-US" sz="2000" b="1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155931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155931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/>
          <p:cNvSpPr txBox="1"/>
          <p:nvPr/>
        </p:nvSpPr>
        <p:spPr>
          <a:xfrm>
            <a:off x="6289836" y="368060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9888" y="487724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4</a:t>
            </a:r>
          </a:p>
        </p:txBody>
      </p:sp>
      <p:sp>
        <p:nvSpPr>
          <p:cNvPr id="33" name="TextShape 1">
            <a:extLst>
              <a:ext uri="{FF2B5EF4-FFF2-40B4-BE49-F238E27FC236}">
                <a16:creationId xmlns:a16="http://schemas.microsoft.com/office/drawing/2014/main" id="{7DC80B70-CFBA-8EDB-8940-3DBFAF682F3F}"/>
              </a:ext>
            </a:extLst>
          </p:cNvPr>
          <p:cNvSpPr txBox="1"/>
          <p:nvPr/>
        </p:nvSpPr>
        <p:spPr>
          <a:xfrm>
            <a:off x="206105" y="200372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25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520195" y="1662545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cxnSpLocks/>
            <a:stCxn id="11" idx="3"/>
            <a:endCxn id="13" idx="0"/>
          </p:cNvCxnSpPr>
          <p:nvPr/>
        </p:nvCxnSpPr>
        <p:spPr>
          <a:xfrm flipH="1">
            <a:off x="6518436" y="3138927"/>
            <a:ext cx="356563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572442"/>
              </p:ext>
            </p:extLst>
          </p:nvPr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Straight Connector 14"/>
          <p:cNvCxnSpPr>
            <a:cxnSpLocks/>
            <a:stCxn id="11" idx="5"/>
            <a:endCxn id="16" idx="0"/>
          </p:cNvCxnSpPr>
          <p:nvPr/>
        </p:nvCxnSpPr>
        <p:spPr>
          <a:xfrm>
            <a:off x="7368344" y="3138927"/>
            <a:ext cx="334131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772824" y="2592585"/>
            <a:ext cx="697695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10</a:t>
            </a:r>
          </a:p>
        </p:txBody>
      </p: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5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6705165" y="4121943"/>
            <a:ext cx="283964" cy="65029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3</a:t>
            </a:r>
          </a:p>
        </p:txBody>
      </p:sp>
      <p:cxnSp>
        <p:nvCxnSpPr>
          <p:cNvPr id="21" name="Straight Connector 20"/>
          <p:cNvCxnSpPr>
            <a:stCxn id="13" idx="3"/>
            <a:endCxn id="22" idx="0"/>
          </p:cNvCxnSpPr>
          <p:nvPr/>
        </p:nvCxnSpPr>
        <p:spPr>
          <a:xfrm flipH="1">
            <a:off x="6048488" y="4106960"/>
            <a:ext cx="243646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32" name="Oval 31"/>
          <p:cNvSpPr/>
          <p:nvPr/>
        </p:nvSpPr>
        <p:spPr>
          <a:xfrm>
            <a:off x="6723902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874" y="4706468"/>
            <a:ext cx="352479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 the first and the last nodes and 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Delete the last node.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654" y="1704152"/>
            <a:ext cx="3095976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Step 3 : Apply Heap Sort</a:t>
            </a:r>
            <a:endParaRPr lang="en-US" sz="2000" b="1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9104861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9104861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9" name="Freeform 18"/>
          <p:cNvSpPr/>
          <p:nvPr/>
        </p:nvSpPr>
        <p:spPr>
          <a:xfrm>
            <a:off x="873029" y="3898119"/>
            <a:ext cx="2590800" cy="175025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33326" y="405323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7105927" y="3297979"/>
            <a:ext cx="13329" cy="1378524"/>
          </a:xfrm>
          <a:prstGeom prst="straightConnector1">
            <a:avLst/>
          </a:prstGeom>
          <a:ln w="19050">
            <a:solidFill>
              <a:srgbClr val="ED524F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99888" y="3366245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608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4999" y="2721261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104" y="4877243"/>
            <a:ext cx="516857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  <a:latin typeface="Trebuchet MS" panose="020B0603020202020204" pitchFamily="34" charset="0"/>
              </a:rPr>
              <a:t>10</a:t>
            </a:r>
          </a:p>
        </p:txBody>
      </p:sp>
      <p:sp>
        <p:nvSpPr>
          <p:cNvPr id="26" name="TextShape 1">
            <a:extLst>
              <a:ext uri="{FF2B5EF4-FFF2-40B4-BE49-F238E27FC236}">
                <a16:creationId xmlns:a16="http://schemas.microsoft.com/office/drawing/2014/main" id="{BDAAB4FC-A8CE-DCAF-F668-3B4A6519AFE2}"/>
              </a:ext>
            </a:extLst>
          </p:cNvPr>
          <p:cNvSpPr txBox="1"/>
          <p:nvPr/>
        </p:nvSpPr>
        <p:spPr>
          <a:xfrm>
            <a:off x="214778" y="273853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676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537755" y="1620982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066017"/>
              </p:ext>
            </p:extLst>
          </p:nvPr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5</a:t>
            </a:r>
          </a:p>
        </p:txBody>
      </p:sp>
      <p:cxnSp>
        <p:nvCxnSpPr>
          <p:cNvPr id="15" name="Straight Connector 14"/>
          <p:cNvCxnSpPr>
            <a:stCxn id="11" idx="5"/>
          </p:cNvCxnSpPr>
          <p:nvPr/>
        </p:nvCxnSpPr>
        <p:spPr>
          <a:xfrm>
            <a:off x="7319167" y="3138927"/>
            <a:ext cx="370245" cy="4297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3</a:t>
            </a:r>
          </a:p>
        </p:txBody>
      </p:sp>
      <p:cxnSp>
        <p:nvCxnSpPr>
          <p:cNvPr id="21" name="Straight Connector 20"/>
          <p:cNvCxnSpPr>
            <a:stCxn id="13" idx="3"/>
            <a:endCxn id="22" idx="0"/>
          </p:cNvCxnSpPr>
          <p:nvPr/>
        </p:nvCxnSpPr>
        <p:spPr>
          <a:xfrm flipH="1">
            <a:off x="6048488" y="4106960"/>
            <a:ext cx="243646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755" y="1636007"/>
            <a:ext cx="4105868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Step 3 : Apply Heap Sort(Conti…)</a:t>
            </a:r>
            <a:endParaRPr lang="en-US" sz="2000" b="1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5933489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5933489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/>
          <p:cNvSpPr txBox="1"/>
          <p:nvPr/>
        </p:nvSpPr>
        <p:spPr>
          <a:xfrm>
            <a:off x="9067800" y="2699267"/>
            <a:ext cx="251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Max Heap Property is violated so, create a Max Heap again. </a:t>
            </a:r>
          </a:p>
        </p:txBody>
      </p:sp>
      <p:sp>
        <p:nvSpPr>
          <p:cNvPr id="28" name="Freeform 11"/>
          <p:cNvSpPr/>
          <p:nvPr/>
        </p:nvSpPr>
        <p:spPr bwMode="auto">
          <a:xfrm>
            <a:off x="6301793" y="3015697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29" name="Freeform 12"/>
          <p:cNvSpPr/>
          <p:nvPr/>
        </p:nvSpPr>
        <p:spPr bwMode="auto">
          <a:xfrm>
            <a:off x="6824307" y="3292614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4" name="Freeform 11"/>
          <p:cNvSpPr/>
          <p:nvPr/>
        </p:nvSpPr>
        <p:spPr bwMode="auto">
          <a:xfrm rot="20912236">
            <a:off x="5801163" y="4145280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5" name="Freeform 12"/>
          <p:cNvSpPr/>
          <p:nvPr/>
        </p:nvSpPr>
        <p:spPr bwMode="auto">
          <a:xfrm>
            <a:off x="6294120" y="4317694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44689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4608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48156" y="3367657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43" name="Freeform 42"/>
          <p:cNvSpPr/>
          <p:nvPr/>
        </p:nvSpPr>
        <p:spPr>
          <a:xfrm>
            <a:off x="874059" y="3870833"/>
            <a:ext cx="699247" cy="18825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0273" y="4030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</a:t>
            </a:r>
          </a:p>
        </p:txBody>
      </p:sp>
      <p:sp>
        <p:nvSpPr>
          <p:cNvPr id="45" name="Freeform 44"/>
          <p:cNvSpPr/>
          <p:nvPr/>
        </p:nvSpPr>
        <p:spPr>
          <a:xfrm>
            <a:off x="1577789" y="3875313"/>
            <a:ext cx="1232646" cy="199145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34826" y="3372141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4265" y="2684025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9836" y="368060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19888" y="487724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89836" y="368060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32" name="TextShape 1">
            <a:extLst>
              <a:ext uri="{FF2B5EF4-FFF2-40B4-BE49-F238E27FC236}">
                <a16:creationId xmlns:a16="http://schemas.microsoft.com/office/drawing/2014/main" id="{FB0D6B53-E46E-F643-AE50-C19C276FC391}"/>
              </a:ext>
            </a:extLst>
          </p:cNvPr>
          <p:cNvSpPr txBox="1"/>
          <p:nvPr/>
        </p:nvSpPr>
        <p:spPr>
          <a:xfrm>
            <a:off x="297905" y="212413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15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333488" y="1461956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78633"/>
              </p:ext>
            </p:extLst>
          </p:nvPr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5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4</a:t>
            </a:r>
          </a:p>
        </p:txBody>
      </p:sp>
      <p:cxnSp>
        <p:nvCxnSpPr>
          <p:cNvPr id="15" name="Straight Connector 14"/>
          <p:cNvCxnSpPr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3</a:t>
            </a:r>
          </a:p>
        </p:txBody>
      </p:sp>
      <p:cxnSp>
        <p:nvCxnSpPr>
          <p:cNvPr id="21" name="Straight Connector 20"/>
          <p:cNvCxnSpPr>
            <a:stCxn id="13" idx="3"/>
            <a:endCxn id="22" idx="0"/>
          </p:cNvCxnSpPr>
          <p:nvPr/>
        </p:nvCxnSpPr>
        <p:spPr>
          <a:xfrm flipH="1">
            <a:off x="6048488" y="4106960"/>
            <a:ext cx="243646" cy="65029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728448" y="475725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195" y="1461956"/>
            <a:ext cx="4182812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Step 3 : Apply Heap Sort (Conti…)</a:t>
            </a:r>
            <a:endParaRPr lang="en-US" sz="2000" b="1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4818252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4818252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/>
          <p:cNvSpPr txBox="1"/>
          <p:nvPr/>
        </p:nvSpPr>
        <p:spPr>
          <a:xfrm>
            <a:off x="9010835" y="2699267"/>
            <a:ext cx="2571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Max Heap is created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874" y="4706468"/>
            <a:ext cx="352479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 the first and the last nodes and 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Delete the last node.</a:t>
            </a:r>
          </a:p>
        </p:txBody>
      </p:sp>
      <p:cxnSp>
        <p:nvCxnSpPr>
          <p:cNvPr id="8" name="Curved Connector 7"/>
          <p:cNvCxnSpPr/>
          <p:nvPr/>
        </p:nvCxnSpPr>
        <p:spPr>
          <a:xfrm rot="10800000" flipV="1">
            <a:off x="5486404" y="2831942"/>
            <a:ext cx="1071269" cy="1807292"/>
          </a:xfrm>
          <a:prstGeom prst="curvedConnector2">
            <a:avLst/>
          </a:prstGeom>
          <a:ln w="19050">
            <a:solidFill>
              <a:srgbClr val="ED524F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47290" y="4082668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</a:t>
            </a:r>
          </a:p>
        </p:txBody>
      </p:sp>
      <p:sp>
        <p:nvSpPr>
          <p:cNvPr id="39" name="Freeform 38"/>
          <p:cNvSpPr/>
          <p:nvPr/>
        </p:nvSpPr>
        <p:spPr>
          <a:xfrm>
            <a:off x="901337" y="3875313"/>
            <a:ext cx="1909098" cy="213361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4608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48156" y="3367657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4265" y="2684025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19888" y="4877243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5</a:t>
            </a:r>
          </a:p>
        </p:txBody>
      </p:sp>
      <p:sp>
        <p:nvSpPr>
          <p:cNvPr id="25" name="TextShape 1">
            <a:extLst>
              <a:ext uri="{FF2B5EF4-FFF2-40B4-BE49-F238E27FC236}">
                <a16:creationId xmlns:a16="http://schemas.microsoft.com/office/drawing/2014/main" id="{4F3B2494-D7C2-E5F4-2B71-3C6E96BBDA2B}"/>
              </a:ext>
            </a:extLst>
          </p:cNvPr>
          <p:cNvSpPr txBox="1"/>
          <p:nvPr/>
        </p:nvSpPr>
        <p:spPr>
          <a:xfrm>
            <a:off x="206105" y="146556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10000"/>
          </a:bodyPr>
          <a:lstStyle/>
          <a:p>
            <a:pPr algn="just">
              <a:lnSpc>
                <a:spcPct val="100000"/>
              </a:lnSpc>
            </a:pPr>
            <a:r>
              <a:rPr lang="en-IN" sz="30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0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0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endParaRPr lang="en-US" sz="30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84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537755" y="1593273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65334"/>
              </p:ext>
            </p:extLst>
          </p:nvPr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4</a:t>
            </a:r>
          </a:p>
        </p:txBody>
      </p:sp>
      <p:cxnSp>
        <p:nvCxnSpPr>
          <p:cNvPr id="15" name="Straight Connector 14"/>
          <p:cNvCxnSpPr>
            <a:stCxn id="11" idx="5"/>
            <a:endCxn id="16" idx="0"/>
          </p:cNvCxnSpPr>
          <p:nvPr/>
        </p:nvCxnSpPr>
        <p:spPr>
          <a:xfrm>
            <a:off x="7319167" y="3138927"/>
            <a:ext cx="383308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382435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755" y="1594444"/>
            <a:ext cx="4182812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Step 3 : Apply Heap Sort (Conti…)</a:t>
            </a:r>
            <a:endParaRPr lang="en-US" sz="2000" b="1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9984912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9984912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/>
          <p:cNvSpPr txBox="1"/>
          <p:nvPr/>
        </p:nvSpPr>
        <p:spPr>
          <a:xfrm>
            <a:off x="9014010" y="2605138"/>
            <a:ext cx="2611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rebuchet MS" panose="020B0603020202020204" pitchFamily="34" charset="0"/>
                <a:ea typeface="Cambria" panose="02040503050406030204" pitchFamily="18" charset="0"/>
              </a:rPr>
              <a:t>Create Max Heap again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874" y="4706468"/>
            <a:ext cx="352479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 the first and the last nodes and 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Delete the last node.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50067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332" y="3354210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25" name="Freeform 11"/>
          <p:cNvSpPr/>
          <p:nvPr/>
        </p:nvSpPr>
        <p:spPr bwMode="auto">
          <a:xfrm>
            <a:off x="6302188" y="2987644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28" name="Freeform 12"/>
          <p:cNvSpPr/>
          <p:nvPr/>
        </p:nvSpPr>
        <p:spPr bwMode="auto">
          <a:xfrm>
            <a:off x="6799729" y="3240741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874059" y="3870833"/>
            <a:ext cx="699247" cy="18825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0273" y="4030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4011" y="3452302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rebuchet MS" panose="020B0603020202020204" pitchFamily="34" charset="0"/>
                <a:ea typeface="Cambria" panose="02040503050406030204" pitchFamily="18" charset="0"/>
              </a:rPr>
              <a:t>Max Heap is created</a:t>
            </a:r>
          </a:p>
        </p:txBody>
      </p:sp>
      <p:sp>
        <p:nvSpPr>
          <p:cNvPr id="36" name="Freeform 17"/>
          <p:cNvSpPr/>
          <p:nvPr/>
        </p:nvSpPr>
        <p:spPr bwMode="auto">
          <a:xfrm>
            <a:off x="7090942" y="3271907"/>
            <a:ext cx="312738" cy="412750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37" name="Freeform 18"/>
          <p:cNvSpPr/>
          <p:nvPr/>
        </p:nvSpPr>
        <p:spPr bwMode="auto">
          <a:xfrm>
            <a:off x="7608128" y="3012517"/>
            <a:ext cx="249238" cy="449263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882768" y="3879541"/>
            <a:ext cx="1259541" cy="18300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05584" y="2717074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3470" y="3692434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431" y="3680603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83860" y="2712570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80285" y="3358693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367" y="3372140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3</a:t>
            </a:r>
          </a:p>
        </p:txBody>
      </p:sp>
      <p:sp>
        <p:nvSpPr>
          <p:cNvPr id="32" name="TextShape 1">
            <a:extLst>
              <a:ext uri="{FF2B5EF4-FFF2-40B4-BE49-F238E27FC236}">
                <a16:creationId xmlns:a16="http://schemas.microsoft.com/office/drawing/2014/main" id="{2E5AAF78-A91B-3EE8-5CAE-EEC2CF823AC7}"/>
              </a:ext>
            </a:extLst>
          </p:cNvPr>
          <p:cNvSpPr txBox="1"/>
          <p:nvPr/>
        </p:nvSpPr>
        <p:spPr>
          <a:xfrm>
            <a:off x="346245" y="235018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example 1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64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387927" y="1565564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176597"/>
              </p:ext>
            </p:extLst>
          </p:nvPr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3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6518436" y="3138927"/>
            <a:ext cx="348127" cy="4216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98396" y="3560618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7927" y="1583397"/>
            <a:ext cx="3095976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Step 3 : Apply Heap Sort</a:t>
            </a:r>
            <a:endParaRPr lang="en-US" sz="2000" b="1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3720076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3720076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/>
          <p:cNvSpPr txBox="1"/>
          <p:nvPr/>
        </p:nvSpPr>
        <p:spPr>
          <a:xfrm>
            <a:off x="9014011" y="2605138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Already a Max Heap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874" y="4706468"/>
            <a:ext cx="3524794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 the first and the last nodes and 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Delete the last node.</a:t>
            </a:r>
          </a:p>
        </p:txBody>
      </p:sp>
      <p:sp>
        <p:nvSpPr>
          <p:cNvPr id="25" name="Freeform 11"/>
          <p:cNvSpPr/>
          <p:nvPr/>
        </p:nvSpPr>
        <p:spPr bwMode="auto">
          <a:xfrm>
            <a:off x="6302188" y="2987644"/>
            <a:ext cx="319927" cy="43911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28" name="Freeform 12"/>
          <p:cNvSpPr/>
          <p:nvPr/>
        </p:nvSpPr>
        <p:spPr bwMode="auto">
          <a:xfrm>
            <a:off x="6799729" y="3240741"/>
            <a:ext cx="269875" cy="409575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874059" y="3870833"/>
            <a:ext cx="699247" cy="188258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 w="19050">
            <a:solidFill>
              <a:srgbClr val="ED524F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rebuchet MS" panose="020B0603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0273" y="403041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Swap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83860" y="2712570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431" y="3680603"/>
            <a:ext cx="418011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  <a:latin typeface="Trebuchet MS" panose="020B0603020202020204" pitchFamily="34" charset="0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0067" y="3366246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367" y="3372140"/>
            <a:ext cx="548640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22" name="TextShape 1">
            <a:extLst>
              <a:ext uri="{FF2B5EF4-FFF2-40B4-BE49-F238E27FC236}">
                <a16:creationId xmlns:a16="http://schemas.microsoft.com/office/drawing/2014/main" id="{5B476526-1242-7447-2EFB-2C376E738308}"/>
              </a:ext>
            </a:extLst>
          </p:cNvPr>
          <p:cNvSpPr txBox="1"/>
          <p:nvPr/>
        </p:nvSpPr>
        <p:spPr>
          <a:xfrm>
            <a:off x="206105" y="163761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example 1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62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35806" y="1454727"/>
            <a:ext cx="10972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293311"/>
              </p:ext>
            </p:extLst>
          </p:nvPr>
        </p:nvGraphicFramePr>
        <p:xfrm>
          <a:off x="537755" y="3313784"/>
          <a:ext cx="325967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9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6772825" y="259258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806" y="1462367"/>
            <a:ext cx="3095976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Step 3 : Apply Heap Sort</a:t>
            </a:r>
            <a:endParaRPr lang="en-US" sz="2000" b="1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4014936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le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4014936"/>
                  </p:ext>
                </p:extLst>
              </p:nvPr>
            </p:nvGraphicFramePr>
            <p:xfrm>
              <a:off x="566654" y="2929881"/>
              <a:ext cx="3262891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6986">
                      <a:extLst>
                        <a:ext uri="{9D8B030D-6E8A-4147-A177-3AD203B41FA5}">
                          <a16:colId xmlns:a16="http://schemas.microsoft.com/office/drawing/2014/main" val="2172049402"/>
                        </a:ext>
                      </a:extLst>
                    </a:gridCol>
                    <a:gridCol w="706147">
                      <a:extLst>
                        <a:ext uri="{9D8B030D-6E8A-4147-A177-3AD203B41FA5}">
                          <a16:colId xmlns:a16="http://schemas.microsoft.com/office/drawing/2014/main" val="2777662976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23864283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357123703"/>
                        </a:ext>
                      </a:extLst>
                    </a:gridCol>
                    <a:gridCol w="636586">
                      <a:extLst>
                        <a:ext uri="{9D8B030D-6E8A-4147-A177-3AD203B41FA5}">
                          <a16:colId xmlns:a16="http://schemas.microsoft.com/office/drawing/2014/main" val="153121698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406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598" r="-268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4423" r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1429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2241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/>
          <p:cNvSpPr txBox="1"/>
          <p:nvPr/>
        </p:nvSpPr>
        <p:spPr>
          <a:xfrm>
            <a:off x="9014011" y="2605138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rebuchet MS" panose="020B0603020202020204" pitchFamily="34" charset="0"/>
                <a:ea typeface="Cambria" panose="02040503050406030204" pitchFamily="18" charset="0"/>
              </a:rPr>
              <a:t>Already a Max Heap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9874" y="4706468"/>
            <a:ext cx="3200400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Remove the last element from heap and the sorting is over.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537882" y="3321423"/>
            <a:ext cx="640080" cy="5394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Trebuchet MS" panose="020B0603020202020204" pitchFamily="34" charset="0"/>
              </a:rPr>
              <a:t>1</a:t>
            </a:r>
          </a:p>
        </p:txBody>
      </p:sp>
      <p:sp>
        <p:nvSpPr>
          <p:cNvPr id="13" name="TextShape 1">
            <a:extLst>
              <a:ext uri="{FF2B5EF4-FFF2-40B4-BE49-F238E27FC236}">
                <a16:creationId xmlns:a16="http://schemas.microsoft.com/office/drawing/2014/main" id="{62B93D28-4E36-D4B3-2E3D-84D09C625DB7}"/>
              </a:ext>
            </a:extLst>
          </p:cNvPr>
          <p:cNvSpPr txBox="1"/>
          <p:nvPr/>
        </p:nvSpPr>
        <p:spPr>
          <a:xfrm>
            <a:off x="206105" y="19147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53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63600"/>
            <a:ext cx="11928475" cy="55911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800" dirty="0">
                <a:latin typeface="Corbel" panose="020B0503020204020204" pitchFamily="34" charset="0"/>
                <a:ea typeface="Cambria" panose="02040503050406030204" pitchFamily="18" charset="0"/>
              </a:rPr>
              <a:t>Sort given element in ascending order using heap sort.  19, 7, 16, 1, 14, 17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28912" y="1721224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1018180" y="2590800"/>
            <a:ext cx="10058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689086" y="3505199"/>
            <a:ext cx="711061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Trebuchet MS" panose="020B0603020202020204" pitchFamily="34" charset="0"/>
              </a:rPr>
              <a:t>19</a:t>
            </a:r>
          </a:p>
        </p:txBody>
      </p:sp>
      <p:cxnSp>
        <p:nvCxnSpPr>
          <p:cNvPr id="7" name="Straight Connector 6"/>
          <p:cNvCxnSpPr>
            <a:cxnSpLocks/>
            <a:stCxn id="6" idx="3"/>
            <a:endCxn id="8" idx="0"/>
          </p:cNvCxnSpPr>
          <p:nvPr/>
        </p:nvCxnSpPr>
        <p:spPr>
          <a:xfrm flipH="1">
            <a:off x="2434698" y="4051541"/>
            <a:ext cx="358520" cy="3331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114658" y="438472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cxnSp>
        <p:nvCxnSpPr>
          <p:cNvPr id="9" name="Straight Connector 8"/>
          <p:cNvCxnSpPr>
            <a:cxnSpLocks/>
            <a:stCxn id="6" idx="5"/>
            <a:endCxn id="10" idx="1"/>
          </p:cNvCxnSpPr>
          <p:nvPr/>
        </p:nvCxnSpPr>
        <p:spPr>
          <a:xfrm>
            <a:off x="3296015" y="4051541"/>
            <a:ext cx="40887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91343" y="4384726"/>
            <a:ext cx="775337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11" name="Straight Connector 10"/>
          <p:cNvCxnSpPr>
            <a:stCxn id="8" idx="3"/>
            <a:endCxn id="12" idx="0"/>
          </p:cNvCxnSpPr>
          <p:nvPr/>
        </p:nvCxnSpPr>
        <p:spPr>
          <a:xfrm flipH="1">
            <a:off x="2027814" y="4931068"/>
            <a:ext cx="180582" cy="4833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07774" y="541438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13" name="Straight Connector 12"/>
          <p:cNvCxnSpPr>
            <a:cxnSpLocks/>
            <a:stCxn id="8" idx="5"/>
            <a:endCxn id="14" idx="0"/>
          </p:cNvCxnSpPr>
          <p:nvPr/>
        </p:nvCxnSpPr>
        <p:spPr>
          <a:xfrm>
            <a:off x="2661000" y="4931068"/>
            <a:ext cx="286914" cy="4833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599813" y="5414382"/>
            <a:ext cx="696202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15" name="Straight Connector 14"/>
          <p:cNvCxnSpPr>
            <a:cxnSpLocks/>
            <a:stCxn id="10" idx="4"/>
            <a:endCxn id="16" idx="0"/>
          </p:cNvCxnSpPr>
          <p:nvPr/>
        </p:nvCxnSpPr>
        <p:spPr>
          <a:xfrm flipH="1">
            <a:off x="3681464" y="5024806"/>
            <a:ext cx="297548" cy="3895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334418" y="5414382"/>
            <a:ext cx="694091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17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6094945" y="2667001"/>
            <a:ext cx="2111" cy="37337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96317" y="2773830"/>
            <a:ext cx="4093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Step 2: Create Max-heap</a:t>
            </a:r>
          </a:p>
        </p:txBody>
      </p:sp>
      <p:sp>
        <p:nvSpPr>
          <p:cNvPr id="35" name="Freeform 34"/>
          <p:cNvSpPr/>
          <p:nvPr/>
        </p:nvSpPr>
        <p:spPr>
          <a:xfrm>
            <a:off x="6221701" y="2299063"/>
            <a:ext cx="1864208" cy="19594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solidFill>
              <a:srgbClr val="00B0F0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5512667" y="1427416"/>
            <a:ext cx="1880910" cy="218504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solidFill>
              <a:srgbClr val="00B0F0"/>
            </a:solidFill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1040609" y="2770363"/>
            <a:ext cx="4052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Step 1: Create binary tree</a:t>
            </a:r>
          </a:p>
        </p:txBody>
      </p:sp>
      <p:sp>
        <p:nvSpPr>
          <p:cNvPr id="38" name="Oval 37"/>
          <p:cNvSpPr/>
          <p:nvPr/>
        </p:nvSpPr>
        <p:spPr>
          <a:xfrm>
            <a:off x="7990435" y="3540032"/>
            <a:ext cx="729354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19</a:t>
            </a:r>
          </a:p>
        </p:txBody>
      </p:sp>
      <p:cxnSp>
        <p:nvCxnSpPr>
          <p:cNvPr id="39" name="Straight Connector 38"/>
          <p:cNvCxnSpPr>
            <a:cxnSpLocks/>
            <a:stCxn id="38" idx="3"/>
            <a:endCxn id="40" idx="0"/>
          </p:cNvCxnSpPr>
          <p:nvPr/>
        </p:nvCxnSpPr>
        <p:spPr>
          <a:xfrm flipH="1">
            <a:off x="7825320" y="4086374"/>
            <a:ext cx="271926" cy="33318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505280" y="4419559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cxnSp>
        <p:nvCxnSpPr>
          <p:cNvPr id="41" name="Straight Connector 40"/>
          <p:cNvCxnSpPr>
            <a:cxnSpLocks/>
            <a:stCxn id="38" idx="5"/>
            <a:endCxn id="42" idx="1"/>
          </p:cNvCxnSpPr>
          <p:nvPr/>
        </p:nvCxnSpPr>
        <p:spPr>
          <a:xfrm>
            <a:off x="8612978" y="4086374"/>
            <a:ext cx="410174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920398" y="4419559"/>
            <a:ext cx="701648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43" name="Straight Connector 42"/>
          <p:cNvCxnSpPr>
            <a:stCxn id="40" idx="3"/>
            <a:endCxn id="44" idx="0"/>
          </p:cNvCxnSpPr>
          <p:nvPr/>
        </p:nvCxnSpPr>
        <p:spPr>
          <a:xfrm flipH="1">
            <a:off x="7418436" y="4965901"/>
            <a:ext cx="180582" cy="4833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098396" y="5449215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45" name="Straight Connector 44"/>
          <p:cNvCxnSpPr>
            <a:cxnSpLocks/>
            <a:stCxn id="40" idx="5"/>
            <a:endCxn id="46" idx="0"/>
          </p:cNvCxnSpPr>
          <p:nvPr/>
        </p:nvCxnSpPr>
        <p:spPr>
          <a:xfrm>
            <a:off x="8051622" y="4965901"/>
            <a:ext cx="223165" cy="48331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919058" y="5449215"/>
            <a:ext cx="711457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47" name="Straight Connector 46"/>
          <p:cNvCxnSpPr>
            <a:cxnSpLocks/>
            <a:stCxn id="42" idx="4"/>
            <a:endCxn id="48" idx="0"/>
          </p:cNvCxnSpPr>
          <p:nvPr/>
        </p:nvCxnSpPr>
        <p:spPr>
          <a:xfrm flipH="1">
            <a:off x="9031810" y="5059639"/>
            <a:ext cx="239412" cy="3895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8698498" y="5449215"/>
            <a:ext cx="666623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17</a:t>
            </a:r>
          </a:p>
        </p:txBody>
      </p:sp>
      <p:sp>
        <p:nvSpPr>
          <p:cNvPr id="49" name="Freeform 17"/>
          <p:cNvSpPr/>
          <p:nvPr/>
        </p:nvSpPr>
        <p:spPr bwMode="auto">
          <a:xfrm>
            <a:off x="7860396" y="5100795"/>
            <a:ext cx="207824" cy="397411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50" name="Freeform 18"/>
          <p:cNvSpPr/>
          <p:nvPr/>
        </p:nvSpPr>
        <p:spPr bwMode="auto">
          <a:xfrm>
            <a:off x="8184159" y="4930614"/>
            <a:ext cx="249238" cy="449263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51" name="Freeform 11"/>
          <p:cNvSpPr/>
          <p:nvPr/>
        </p:nvSpPr>
        <p:spPr bwMode="auto">
          <a:xfrm>
            <a:off x="8805847" y="4944136"/>
            <a:ext cx="219851" cy="448504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Freeform 12"/>
          <p:cNvSpPr/>
          <p:nvPr/>
        </p:nvSpPr>
        <p:spPr bwMode="auto">
          <a:xfrm>
            <a:off x="9300384" y="5118205"/>
            <a:ext cx="219851" cy="452814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8791635" y="5580170"/>
            <a:ext cx="483903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7791" y="4530504"/>
            <a:ext cx="504908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80178" y="5597580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7811" y="4539544"/>
            <a:ext cx="466109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997" y="176604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66890" y="1783974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7723" y="176604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21437" y="1779107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7</a:t>
            </a:r>
          </a:p>
        </p:txBody>
      </p:sp>
      <p:sp>
        <p:nvSpPr>
          <p:cNvPr id="61" name="TextShape 1">
            <a:extLst>
              <a:ext uri="{FF2B5EF4-FFF2-40B4-BE49-F238E27FC236}">
                <a16:creationId xmlns:a16="http://schemas.microsoft.com/office/drawing/2014/main" id="{F5E16682-7F7F-64E5-C2E5-A38B75573FF2}"/>
              </a:ext>
            </a:extLst>
          </p:cNvPr>
          <p:cNvSpPr txBox="1"/>
          <p:nvPr/>
        </p:nvSpPr>
        <p:spPr>
          <a:xfrm>
            <a:off x="290945" y="184646"/>
            <a:ext cx="8532643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IN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0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  <a:endParaRPr lang="en-US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29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  <a:stCxn id="10" idx="4"/>
            <a:endCxn id="15" idx="0"/>
          </p:cNvCxnSpPr>
          <p:nvPr/>
        </p:nvCxnSpPr>
        <p:spPr>
          <a:xfrm flipH="1">
            <a:off x="3584035" y="3917666"/>
            <a:ext cx="240332" cy="3895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638797" y="2398059"/>
            <a:ext cx="710146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19</a:t>
            </a:r>
          </a:p>
        </p:txBody>
      </p:sp>
      <p:cxnSp>
        <p:nvCxnSpPr>
          <p:cNvPr id="7" name="Straight Connector 6"/>
          <p:cNvCxnSpPr>
            <a:cxnSpLocks/>
            <a:stCxn id="6" idx="3"/>
            <a:endCxn id="8" idx="0"/>
          </p:cNvCxnSpPr>
          <p:nvPr/>
        </p:nvCxnSpPr>
        <p:spPr>
          <a:xfrm flipH="1">
            <a:off x="2360745" y="2944401"/>
            <a:ext cx="382050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17042" y="3356392"/>
            <a:ext cx="687406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9" name="Straight Connector 8"/>
          <p:cNvCxnSpPr>
            <a:cxnSpLocks/>
            <a:stCxn id="6" idx="5"/>
            <a:endCxn id="10" idx="1"/>
          </p:cNvCxnSpPr>
          <p:nvPr/>
        </p:nvCxnSpPr>
        <p:spPr>
          <a:xfrm>
            <a:off x="3244945" y="2944401"/>
            <a:ext cx="327149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67599" y="3277586"/>
            <a:ext cx="713535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17</a:t>
            </a:r>
          </a:p>
        </p:txBody>
      </p:sp>
      <p:cxnSp>
        <p:nvCxnSpPr>
          <p:cNvPr id="11" name="Straight Connector 10"/>
          <p:cNvCxnSpPr>
            <a:cxnSpLocks/>
            <a:stCxn id="8" idx="3"/>
            <a:endCxn id="12" idx="0"/>
          </p:cNvCxnSpPr>
          <p:nvPr/>
        </p:nvCxnSpPr>
        <p:spPr>
          <a:xfrm flipH="1">
            <a:off x="1977524" y="3902734"/>
            <a:ext cx="140186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57484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13" name="Straight Connector 12"/>
          <p:cNvCxnSpPr>
            <a:cxnSpLocks/>
            <a:stCxn id="8" idx="5"/>
            <a:endCxn id="14" idx="0"/>
          </p:cNvCxnSpPr>
          <p:nvPr/>
        </p:nvCxnSpPr>
        <p:spPr>
          <a:xfrm>
            <a:off x="2603780" y="3902734"/>
            <a:ext cx="265783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549523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sp>
        <p:nvSpPr>
          <p:cNvPr id="15" name="Oval 14"/>
          <p:cNvSpPr/>
          <p:nvPr/>
        </p:nvSpPr>
        <p:spPr>
          <a:xfrm>
            <a:off x="3243860" y="4307242"/>
            <a:ext cx="680349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657484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Connector 16"/>
          <p:cNvCxnSpPr/>
          <p:nvPr/>
        </p:nvCxnSpPr>
        <p:spPr>
          <a:xfrm flipH="1">
            <a:off x="6096000" y="1053692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358698" y="2426143"/>
            <a:ext cx="684471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20" name="Straight Connector 19"/>
          <p:cNvCxnSpPr>
            <a:cxnSpLocks/>
            <a:stCxn id="19" idx="3"/>
            <a:endCxn id="21" idx="0"/>
          </p:cNvCxnSpPr>
          <p:nvPr/>
        </p:nvCxnSpPr>
        <p:spPr>
          <a:xfrm flipH="1">
            <a:off x="7082903" y="2972485"/>
            <a:ext cx="376033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41455" y="3384476"/>
            <a:ext cx="682895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22" name="Straight Connector 21"/>
          <p:cNvCxnSpPr>
            <a:cxnSpLocks/>
            <a:stCxn id="19" idx="5"/>
            <a:endCxn id="23" idx="1"/>
          </p:cNvCxnSpPr>
          <p:nvPr/>
        </p:nvCxnSpPr>
        <p:spPr>
          <a:xfrm>
            <a:off x="7942931" y="2972485"/>
            <a:ext cx="414841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60956" y="3305670"/>
            <a:ext cx="661102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17</a:t>
            </a:r>
          </a:p>
        </p:txBody>
      </p:sp>
      <p:cxnSp>
        <p:nvCxnSpPr>
          <p:cNvPr id="24" name="Straight Connector 23"/>
          <p:cNvCxnSpPr>
            <a:cxnSpLocks/>
            <a:stCxn id="21" idx="3"/>
            <a:endCxn id="25" idx="0"/>
          </p:cNvCxnSpPr>
          <p:nvPr/>
        </p:nvCxnSpPr>
        <p:spPr>
          <a:xfrm flipH="1">
            <a:off x="6697426" y="3930818"/>
            <a:ext cx="144037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377386" y="433532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26" name="Straight Connector 25"/>
          <p:cNvCxnSpPr>
            <a:cxnSpLocks/>
            <a:stCxn id="21" idx="5"/>
            <a:endCxn id="27" idx="0"/>
          </p:cNvCxnSpPr>
          <p:nvPr/>
        </p:nvCxnSpPr>
        <p:spPr>
          <a:xfrm>
            <a:off x="7324342" y="3930818"/>
            <a:ext cx="265123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269425" y="433532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197653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9" name="Group 28"/>
          <p:cNvGrpSpPr/>
          <p:nvPr/>
        </p:nvGrpSpPr>
        <p:grpSpPr>
          <a:xfrm>
            <a:off x="3630328" y="2600912"/>
            <a:ext cx="1815727" cy="2006947"/>
            <a:chOff x="2261195" y="2837871"/>
            <a:chExt cx="1815727" cy="2006946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2261195" y="2837871"/>
              <a:ext cx="1815726" cy="1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4076921" y="2837872"/>
              <a:ext cx="0" cy="2006945"/>
            </a:xfrm>
            <a:prstGeom prst="line">
              <a:avLst/>
            </a:prstGeom>
            <a:ln w="28575">
              <a:solidFill>
                <a:srgbClr val="ED52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2781521" y="4844817"/>
              <a:ext cx="1295401" cy="0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188685" y="2903421"/>
            <a:ext cx="11964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Swap &amp; remove the last element</a:t>
            </a:r>
          </a:p>
        </p:txBody>
      </p:sp>
      <p:sp>
        <p:nvSpPr>
          <p:cNvPr id="34" name="Freeform 33"/>
          <p:cNvSpPr/>
          <p:nvPr/>
        </p:nvSpPr>
        <p:spPr>
          <a:xfrm rot="10800000">
            <a:off x="1976718" y="1129551"/>
            <a:ext cx="3227293" cy="17481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222372" y="2417747"/>
            <a:ext cx="26173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Create Max-heap</a:t>
            </a:r>
          </a:p>
        </p:txBody>
      </p:sp>
      <p:sp>
        <p:nvSpPr>
          <p:cNvPr id="36" name="Freeform 17"/>
          <p:cNvSpPr/>
          <p:nvPr/>
        </p:nvSpPr>
        <p:spPr bwMode="auto">
          <a:xfrm>
            <a:off x="7732054" y="3067146"/>
            <a:ext cx="388829" cy="550113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Freeform 18"/>
          <p:cNvSpPr/>
          <p:nvPr/>
        </p:nvSpPr>
        <p:spPr bwMode="auto">
          <a:xfrm>
            <a:off x="8100912" y="2691889"/>
            <a:ext cx="451023" cy="585697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Freeform 37"/>
          <p:cNvSpPr/>
          <p:nvPr/>
        </p:nvSpPr>
        <p:spPr>
          <a:xfrm rot="10800000">
            <a:off x="7408978" y="1117928"/>
            <a:ext cx="1385397" cy="186437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692858" y="2512756"/>
            <a:ext cx="565418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8644" y="4427227"/>
            <a:ext cx="54864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93820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4220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1479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34009" y="1429868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2452" y="3457544"/>
            <a:ext cx="483173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45861" y="2536439"/>
            <a:ext cx="482989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5604" y="912590"/>
            <a:ext cx="904094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3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75302" y="912590"/>
            <a:ext cx="904094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4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Shape 1">
            <a:extLst>
              <a:ext uri="{FF2B5EF4-FFF2-40B4-BE49-F238E27FC236}">
                <a16:creationId xmlns:a16="http://schemas.microsoft.com/office/drawing/2014/main" id="{0C754D08-7F10-BF22-4813-4AB28A94BB6A}"/>
              </a:ext>
            </a:extLst>
          </p:cNvPr>
          <p:cNvSpPr txBox="1"/>
          <p:nvPr/>
        </p:nvSpPr>
        <p:spPr>
          <a:xfrm>
            <a:off x="96981" y="172073"/>
            <a:ext cx="8494525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2607415" y="2398059"/>
            <a:ext cx="671462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17</a:t>
            </a:r>
          </a:p>
        </p:txBody>
      </p:sp>
      <p:cxnSp>
        <p:nvCxnSpPr>
          <p:cNvPr id="7" name="Straight Connector 6"/>
          <p:cNvCxnSpPr>
            <a:cxnSpLocks/>
            <a:stCxn id="6" idx="3"/>
            <a:endCxn id="8" idx="0"/>
          </p:cNvCxnSpPr>
          <p:nvPr/>
        </p:nvCxnSpPr>
        <p:spPr>
          <a:xfrm flipH="1">
            <a:off x="2373156" y="2944401"/>
            <a:ext cx="332592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41864" y="3356392"/>
            <a:ext cx="662584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9" name="Straight Connector 8"/>
          <p:cNvCxnSpPr>
            <a:cxnSpLocks/>
            <a:stCxn id="6" idx="5"/>
            <a:endCxn id="10" idx="1"/>
          </p:cNvCxnSpPr>
          <p:nvPr/>
        </p:nvCxnSpPr>
        <p:spPr>
          <a:xfrm>
            <a:off x="3180544" y="2944401"/>
            <a:ext cx="435857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19508" y="3277586"/>
            <a:ext cx="661626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11" name="Straight Connector 10"/>
          <p:cNvCxnSpPr>
            <a:cxnSpLocks/>
            <a:stCxn id="8" idx="3"/>
            <a:endCxn id="12" idx="0"/>
          </p:cNvCxnSpPr>
          <p:nvPr/>
        </p:nvCxnSpPr>
        <p:spPr>
          <a:xfrm flipH="1">
            <a:off x="1977524" y="3902734"/>
            <a:ext cx="161373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57484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13" name="Straight Connector 12"/>
          <p:cNvCxnSpPr>
            <a:cxnSpLocks/>
            <a:stCxn id="8" idx="5"/>
            <a:endCxn id="14" idx="0"/>
          </p:cNvCxnSpPr>
          <p:nvPr/>
        </p:nvCxnSpPr>
        <p:spPr>
          <a:xfrm>
            <a:off x="2607415" y="3902734"/>
            <a:ext cx="262148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549523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657484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Connector 16"/>
          <p:cNvCxnSpPr/>
          <p:nvPr/>
        </p:nvCxnSpPr>
        <p:spPr>
          <a:xfrm flipH="1">
            <a:off x="6096000" y="1053692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358699" y="2426143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cxnSp>
        <p:nvCxnSpPr>
          <p:cNvPr id="20" name="Straight Connector 19"/>
          <p:cNvCxnSpPr>
            <a:cxnSpLocks/>
            <a:stCxn id="19" idx="3"/>
            <a:endCxn id="21" idx="0"/>
          </p:cNvCxnSpPr>
          <p:nvPr/>
        </p:nvCxnSpPr>
        <p:spPr>
          <a:xfrm flipH="1">
            <a:off x="7090988" y="2972485"/>
            <a:ext cx="361449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57625" y="3384476"/>
            <a:ext cx="666725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22" name="Straight Connector 21"/>
          <p:cNvCxnSpPr>
            <a:cxnSpLocks/>
            <a:stCxn id="19" idx="5"/>
            <a:endCxn id="23" idx="1"/>
          </p:cNvCxnSpPr>
          <p:nvPr/>
        </p:nvCxnSpPr>
        <p:spPr>
          <a:xfrm>
            <a:off x="7905041" y="2972485"/>
            <a:ext cx="399586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02299" y="3305670"/>
            <a:ext cx="698737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24" name="Straight Connector 23"/>
          <p:cNvCxnSpPr>
            <a:cxnSpLocks/>
            <a:stCxn id="21" idx="3"/>
            <a:endCxn id="25" idx="0"/>
          </p:cNvCxnSpPr>
          <p:nvPr/>
        </p:nvCxnSpPr>
        <p:spPr>
          <a:xfrm flipH="1">
            <a:off x="6697426" y="3930818"/>
            <a:ext cx="157839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377386" y="433532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197653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3353813" y="2600912"/>
            <a:ext cx="2103120" cy="2006947"/>
            <a:chOff x="3353813" y="2600912"/>
            <a:chExt cx="2103120" cy="2006947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3630328" y="2600912"/>
              <a:ext cx="1815726" cy="1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5446054" y="2600913"/>
              <a:ext cx="0" cy="2006946"/>
            </a:xfrm>
            <a:prstGeom prst="line">
              <a:avLst/>
            </a:prstGeom>
            <a:ln w="28575">
              <a:solidFill>
                <a:srgbClr val="ED52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3353813" y="4607859"/>
              <a:ext cx="2103120" cy="0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222461" y="2903421"/>
            <a:ext cx="11627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Swap &amp; remove the last element</a:t>
            </a:r>
          </a:p>
        </p:txBody>
      </p:sp>
      <p:sp>
        <p:nvSpPr>
          <p:cNvPr id="34" name="Freeform 33"/>
          <p:cNvSpPr/>
          <p:nvPr/>
        </p:nvSpPr>
        <p:spPr>
          <a:xfrm rot="10800000">
            <a:off x="1976717" y="1194865"/>
            <a:ext cx="2608345" cy="137546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222372" y="2417747"/>
            <a:ext cx="26173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Create Max-heap</a:t>
            </a:r>
          </a:p>
        </p:txBody>
      </p:sp>
      <p:sp>
        <p:nvSpPr>
          <p:cNvPr id="36" name="Freeform 17"/>
          <p:cNvSpPr/>
          <p:nvPr/>
        </p:nvSpPr>
        <p:spPr bwMode="auto">
          <a:xfrm>
            <a:off x="7732054" y="3067146"/>
            <a:ext cx="388829" cy="550113"/>
          </a:xfrm>
          <a:custGeom>
            <a:avLst/>
            <a:gdLst>
              <a:gd name="T0" fmla="*/ 197 w 197"/>
              <a:gd name="T1" fmla="*/ 260 h 260"/>
              <a:gd name="T2" fmla="*/ 114 w 197"/>
              <a:gd name="T3" fmla="*/ 233 h 260"/>
              <a:gd name="T4" fmla="*/ 41 w 197"/>
              <a:gd name="T5" fmla="*/ 164 h 260"/>
              <a:gd name="T6" fmla="*/ 0 w 197"/>
              <a:gd name="T7" fmla="*/ 0 h 260"/>
              <a:gd name="T8" fmla="*/ 0 60000 65536"/>
              <a:gd name="T9" fmla="*/ 0 60000 65536"/>
              <a:gd name="T10" fmla="*/ 0 60000 65536"/>
              <a:gd name="T11" fmla="*/ 0 60000 65536"/>
              <a:gd name="T12" fmla="*/ 0 w 197"/>
              <a:gd name="T13" fmla="*/ 0 h 260"/>
              <a:gd name="T14" fmla="*/ 197 w 197"/>
              <a:gd name="T15" fmla="*/ 260 h 2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7" h="260">
                <a:moveTo>
                  <a:pt x="197" y="260"/>
                </a:moveTo>
                <a:cubicBezTo>
                  <a:pt x="183" y="256"/>
                  <a:pt x="140" y="249"/>
                  <a:pt x="114" y="233"/>
                </a:cubicBezTo>
                <a:cubicBezTo>
                  <a:pt x="88" y="217"/>
                  <a:pt x="60" y="203"/>
                  <a:pt x="41" y="164"/>
                </a:cubicBezTo>
                <a:cubicBezTo>
                  <a:pt x="22" y="125"/>
                  <a:pt x="9" y="34"/>
                  <a:pt x="0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Freeform 18"/>
          <p:cNvSpPr/>
          <p:nvPr/>
        </p:nvSpPr>
        <p:spPr bwMode="auto">
          <a:xfrm>
            <a:off x="8100912" y="2691889"/>
            <a:ext cx="451023" cy="585697"/>
          </a:xfrm>
          <a:custGeom>
            <a:avLst/>
            <a:gdLst>
              <a:gd name="T0" fmla="*/ 0 w 157"/>
              <a:gd name="T1" fmla="*/ 0 h 283"/>
              <a:gd name="T2" fmla="*/ 91 w 157"/>
              <a:gd name="T3" fmla="*/ 41 h 283"/>
              <a:gd name="T4" fmla="*/ 147 w 157"/>
              <a:gd name="T5" fmla="*/ 151 h 283"/>
              <a:gd name="T6" fmla="*/ 152 w 157"/>
              <a:gd name="T7" fmla="*/ 283 h 283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283"/>
              <a:gd name="T14" fmla="*/ 157 w 157"/>
              <a:gd name="T15" fmla="*/ 283 h 2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283">
                <a:moveTo>
                  <a:pt x="0" y="0"/>
                </a:moveTo>
                <a:cubicBezTo>
                  <a:pt x="15" y="7"/>
                  <a:pt x="67" y="16"/>
                  <a:pt x="91" y="41"/>
                </a:cubicBezTo>
                <a:cubicBezTo>
                  <a:pt x="115" y="66"/>
                  <a:pt x="137" y="111"/>
                  <a:pt x="147" y="151"/>
                </a:cubicBezTo>
                <a:cubicBezTo>
                  <a:pt x="157" y="191"/>
                  <a:pt x="151" y="256"/>
                  <a:pt x="152" y="283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Freeform 37"/>
          <p:cNvSpPr/>
          <p:nvPr/>
        </p:nvSpPr>
        <p:spPr>
          <a:xfrm rot="10800000">
            <a:off x="7408978" y="1117928"/>
            <a:ext cx="1385397" cy="186437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2686018" y="2544291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19979" y="4408463"/>
            <a:ext cx="499168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8492" y="1443316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3821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1320" y="1443316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0295" y="1442930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8496" y="2544291"/>
            <a:ext cx="486218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2452" y="3457544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139" y="1083113"/>
            <a:ext cx="904094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5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57055" y="1088426"/>
            <a:ext cx="904094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6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Shape 1">
            <a:extLst>
              <a:ext uri="{FF2B5EF4-FFF2-40B4-BE49-F238E27FC236}">
                <a16:creationId xmlns:a16="http://schemas.microsoft.com/office/drawing/2014/main" id="{E386C2CF-86A1-02B6-57DA-C3499C86647F}"/>
              </a:ext>
            </a:extLst>
          </p:cNvPr>
          <p:cNvSpPr txBox="1"/>
          <p:nvPr/>
        </p:nvSpPr>
        <p:spPr>
          <a:xfrm>
            <a:off x="145313" y="104769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71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2638796" y="2398059"/>
            <a:ext cx="668163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16</a:t>
            </a:r>
          </a:p>
        </p:txBody>
      </p:sp>
      <p:cxnSp>
        <p:nvCxnSpPr>
          <p:cNvPr id="7" name="Straight Connector 6"/>
          <p:cNvCxnSpPr>
            <a:cxnSpLocks/>
            <a:stCxn id="6" idx="3"/>
            <a:endCxn id="8" idx="0"/>
          </p:cNvCxnSpPr>
          <p:nvPr/>
        </p:nvCxnSpPr>
        <p:spPr>
          <a:xfrm flipH="1">
            <a:off x="2370367" y="2944401"/>
            <a:ext cx="366279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036285" y="3356392"/>
            <a:ext cx="668163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9" name="Straight Connector 8"/>
          <p:cNvCxnSpPr>
            <a:cxnSpLocks/>
            <a:stCxn id="6" idx="5"/>
            <a:endCxn id="10" idx="1"/>
          </p:cNvCxnSpPr>
          <p:nvPr/>
        </p:nvCxnSpPr>
        <p:spPr>
          <a:xfrm>
            <a:off x="3209109" y="2944401"/>
            <a:ext cx="42568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41054" y="327758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cxnSp>
        <p:nvCxnSpPr>
          <p:cNvPr id="11" name="Straight Connector 10"/>
          <p:cNvCxnSpPr>
            <a:cxnSpLocks/>
            <a:stCxn id="8" idx="3"/>
            <a:endCxn id="12" idx="0"/>
          </p:cNvCxnSpPr>
          <p:nvPr/>
        </p:nvCxnSpPr>
        <p:spPr>
          <a:xfrm flipH="1">
            <a:off x="1977524" y="3902734"/>
            <a:ext cx="156611" cy="4045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57484" y="430724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657484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Connector 16"/>
          <p:cNvCxnSpPr/>
          <p:nvPr/>
        </p:nvCxnSpPr>
        <p:spPr>
          <a:xfrm flipH="1">
            <a:off x="6096000" y="1053692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358699" y="2426143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20" name="Straight Connector 19"/>
          <p:cNvCxnSpPr>
            <a:cxnSpLocks/>
            <a:stCxn id="19" idx="3"/>
            <a:endCxn id="21" idx="0"/>
          </p:cNvCxnSpPr>
          <p:nvPr/>
        </p:nvCxnSpPr>
        <p:spPr>
          <a:xfrm flipH="1">
            <a:off x="7094567" y="2972485"/>
            <a:ext cx="357870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64784" y="3384476"/>
            <a:ext cx="659566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22" name="Straight Connector 21"/>
          <p:cNvCxnSpPr>
            <a:stCxn id="19" idx="5"/>
            <a:endCxn id="23" idx="1"/>
          </p:cNvCxnSpPr>
          <p:nvPr/>
        </p:nvCxnSpPr>
        <p:spPr>
          <a:xfrm>
            <a:off x="7905041" y="2972485"/>
            <a:ext cx="449653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60956" y="330567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197653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2439410" y="2600912"/>
            <a:ext cx="3017520" cy="2006947"/>
            <a:chOff x="2439410" y="2600912"/>
            <a:chExt cx="3017520" cy="2006947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3630328" y="2600912"/>
              <a:ext cx="1815726" cy="1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5446054" y="2600913"/>
              <a:ext cx="0" cy="2006946"/>
            </a:xfrm>
            <a:prstGeom prst="line">
              <a:avLst/>
            </a:prstGeom>
            <a:ln w="28575">
              <a:solidFill>
                <a:srgbClr val="ED52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2439410" y="4607859"/>
              <a:ext cx="3017520" cy="0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4240345" y="2903421"/>
            <a:ext cx="11448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Swap &amp; remove the last element</a:t>
            </a:r>
          </a:p>
        </p:txBody>
      </p:sp>
      <p:sp>
        <p:nvSpPr>
          <p:cNvPr id="34" name="Freeform 33"/>
          <p:cNvSpPr/>
          <p:nvPr/>
        </p:nvSpPr>
        <p:spPr>
          <a:xfrm rot="10800000">
            <a:off x="1976717" y="1149532"/>
            <a:ext cx="1942140" cy="222069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9222372" y="2417747"/>
            <a:ext cx="26173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Create Max-heap</a:t>
            </a:r>
          </a:p>
        </p:txBody>
      </p:sp>
      <p:sp>
        <p:nvSpPr>
          <p:cNvPr id="38" name="Freeform 37"/>
          <p:cNvSpPr/>
          <p:nvPr/>
        </p:nvSpPr>
        <p:spPr>
          <a:xfrm rot="10800000">
            <a:off x="7408978" y="1117927"/>
            <a:ext cx="755308" cy="2144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1704032" y="4427227"/>
            <a:ext cx="525366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51909" y="2541211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1476" y="1443317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80758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18258" y="1443316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1026" y="1442931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9487" y="2550446"/>
            <a:ext cx="468772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2424" y="3530708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47" name="Freeform 11"/>
          <p:cNvSpPr/>
          <p:nvPr/>
        </p:nvSpPr>
        <p:spPr bwMode="auto">
          <a:xfrm>
            <a:off x="6931865" y="2818200"/>
            <a:ext cx="376788" cy="534342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Freeform 12"/>
          <p:cNvSpPr/>
          <p:nvPr/>
        </p:nvSpPr>
        <p:spPr bwMode="auto">
          <a:xfrm>
            <a:off x="7391783" y="3085371"/>
            <a:ext cx="239714" cy="452814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89730" y="1060511"/>
            <a:ext cx="904094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7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79215" y="1117927"/>
            <a:ext cx="904094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8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Shape 1">
            <a:extLst>
              <a:ext uri="{FF2B5EF4-FFF2-40B4-BE49-F238E27FC236}">
                <a16:creationId xmlns:a16="http://schemas.microsoft.com/office/drawing/2014/main" id="{E92472F4-533B-B8A2-B26A-496EDFBE47A6}"/>
              </a:ext>
            </a:extLst>
          </p:cNvPr>
          <p:cNvSpPr txBox="1"/>
          <p:nvPr/>
        </p:nvSpPr>
        <p:spPr>
          <a:xfrm>
            <a:off x="60876" y="77299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48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638797" y="2398059"/>
            <a:ext cx="723236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14</a:t>
            </a:r>
          </a:p>
        </p:txBody>
      </p:sp>
      <p:cxnSp>
        <p:nvCxnSpPr>
          <p:cNvPr id="5" name="Straight Connector 4"/>
          <p:cNvCxnSpPr>
            <a:cxnSpLocks/>
            <a:stCxn id="4" idx="3"/>
            <a:endCxn id="6" idx="0"/>
          </p:cNvCxnSpPr>
          <p:nvPr/>
        </p:nvCxnSpPr>
        <p:spPr>
          <a:xfrm flipH="1">
            <a:off x="2384408" y="2944401"/>
            <a:ext cx="360304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064368" y="3356392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cxnSp>
        <p:nvCxnSpPr>
          <p:cNvPr id="7" name="Straight Connector 6"/>
          <p:cNvCxnSpPr>
            <a:cxnSpLocks/>
            <a:stCxn id="4" idx="5"/>
            <a:endCxn id="8" idx="1"/>
          </p:cNvCxnSpPr>
          <p:nvPr/>
        </p:nvCxnSpPr>
        <p:spPr>
          <a:xfrm>
            <a:off x="3256118" y="2944401"/>
            <a:ext cx="378674" cy="4269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541054" y="327758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657484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 flipH="1">
            <a:off x="6096000" y="1053692"/>
            <a:ext cx="0" cy="52078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358699" y="2426143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7</a:t>
            </a:r>
          </a:p>
        </p:txBody>
      </p:sp>
      <p:cxnSp>
        <p:nvCxnSpPr>
          <p:cNvPr id="12" name="Straight Connector 11"/>
          <p:cNvCxnSpPr>
            <a:stCxn id="11" idx="3"/>
            <a:endCxn id="13" idx="0"/>
          </p:cNvCxnSpPr>
          <p:nvPr/>
        </p:nvCxnSpPr>
        <p:spPr>
          <a:xfrm flipH="1">
            <a:off x="7104310" y="2972485"/>
            <a:ext cx="348127" cy="4119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784270" y="338447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197653" y="1386239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3630328" y="2600912"/>
            <a:ext cx="1826602" cy="1097281"/>
            <a:chOff x="3630328" y="2600912"/>
            <a:chExt cx="1826602" cy="1097281"/>
          </a:xfrm>
        </p:grpSpPr>
        <p:cxnSp>
          <p:nvCxnSpPr>
            <p:cNvPr id="16" name="Straight Arrow Connector 15"/>
            <p:cNvCxnSpPr/>
            <p:nvPr/>
          </p:nvCxnSpPr>
          <p:spPr>
            <a:xfrm flipH="1">
              <a:off x="3630328" y="2600912"/>
              <a:ext cx="1815726" cy="1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5446054" y="2600913"/>
              <a:ext cx="0" cy="1097280"/>
            </a:xfrm>
            <a:prstGeom prst="line">
              <a:avLst/>
            </a:prstGeom>
            <a:ln w="28575">
              <a:solidFill>
                <a:srgbClr val="ED524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4268210" y="3693459"/>
              <a:ext cx="1188720" cy="0"/>
            </a:xfrm>
            <a:prstGeom prst="straightConnector1">
              <a:avLst/>
            </a:prstGeom>
            <a:ln w="28575">
              <a:solidFill>
                <a:srgbClr val="ED524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4146999" y="2673464"/>
            <a:ext cx="1342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Swap &amp; remove the last element</a:t>
            </a:r>
          </a:p>
        </p:txBody>
      </p:sp>
      <p:sp>
        <p:nvSpPr>
          <p:cNvPr id="20" name="Freeform 19"/>
          <p:cNvSpPr/>
          <p:nvPr/>
        </p:nvSpPr>
        <p:spPr>
          <a:xfrm rot="10800000">
            <a:off x="1976717" y="1149531"/>
            <a:ext cx="1210620" cy="235131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837606" y="2417747"/>
            <a:ext cx="300207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Already a Max-heap</a:t>
            </a:r>
          </a:p>
        </p:txBody>
      </p:sp>
      <p:sp>
        <p:nvSpPr>
          <p:cNvPr id="22" name="Freeform 21"/>
          <p:cNvSpPr/>
          <p:nvPr/>
        </p:nvSpPr>
        <p:spPr>
          <a:xfrm rot="10800000">
            <a:off x="7408978" y="1117927"/>
            <a:ext cx="755308" cy="214483"/>
          </a:xfrm>
          <a:custGeom>
            <a:avLst/>
            <a:gdLst>
              <a:gd name="connsiteX0" fmla="*/ 0 w 1636294"/>
              <a:gd name="connsiteY0" fmla="*/ 0 h 228600"/>
              <a:gd name="connsiteX1" fmla="*/ 0 w 1636294"/>
              <a:gd name="connsiteY1" fmla="*/ 228600 h 228600"/>
              <a:gd name="connsiteX2" fmla="*/ 1636294 w 1636294"/>
              <a:gd name="connsiteY2" fmla="*/ 228600 h 228600"/>
              <a:gd name="connsiteX3" fmla="*/ 1636294 w 1636294"/>
              <a:gd name="connsiteY3" fmla="*/ 36094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6294" h="228600">
                <a:moveTo>
                  <a:pt x="0" y="0"/>
                </a:moveTo>
                <a:lnTo>
                  <a:pt x="0" y="228600"/>
                </a:lnTo>
                <a:lnTo>
                  <a:pt x="1636294" y="228600"/>
                </a:lnTo>
                <a:lnTo>
                  <a:pt x="1636294" y="36094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622089" y="3397571"/>
            <a:ext cx="467605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52201" y="2518044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2207" y="143025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947" y="1443315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4464" y="1430254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4008" y="1442931"/>
            <a:ext cx="54864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A71160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5710" y="3504461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3201" y="2546128"/>
            <a:ext cx="45720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>
                <a:solidFill>
                  <a:schemeClr val="accent5"/>
                </a:solidFill>
              </a:rPr>
              <a:t>1</a:t>
            </a:r>
          </a:p>
        </p:txBody>
      </p:sp>
      <p:sp>
        <p:nvSpPr>
          <p:cNvPr id="31" name="Freeform 11"/>
          <p:cNvSpPr/>
          <p:nvPr/>
        </p:nvSpPr>
        <p:spPr bwMode="auto">
          <a:xfrm>
            <a:off x="6931865" y="2818200"/>
            <a:ext cx="376788" cy="534342"/>
          </a:xfrm>
          <a:custGeom>
            <a:avLst/>
            <a:gdLst>
              <a:gd name="T0" fmla="*/ 0 w 162"/>
              <a:gd name="T1" fmla="*/ 264 h 264"/>
              <a:gd name="T2" fmla="*/ 30 w 162"/>
              <a:gd name="T3" fmla="*/ 162 h 264"/>
              <a:gd name="T4" fmla="*/ 90 w 162"/>
              <a:gd name="T5" fmla="*/ 66 h 264"/>
              <a:gd name="T6" fmla="*/ 162 w 162"/>
              <a:gd name="T7" fmla="*/ 0 h 264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264"/>
              <a:gd name="T14" fmla="*/ 162 w 162"/>
              <a:gd name="T15" fmla="*/ 264 h 2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264">
                <a:moveTo>
                  <a:pt x="0" y="264"/>
                </a:moveTo>
                <a:cubicBezTo>
                  <a:pt x="5" y="247"/>
                  <a:pt x="15" y="195"/>
                  <a:pt x="30" y="162"/>
                </a:cubicBezTo>
                <a:cubicBezTo>
                  <a:pt x="45" y="129"/>
                  <a:pt x="68" y="93"/>
                  <a:pt x="90" y="66"/>
                </a:cubicBezTo>
                <a:cubicBezTo>
                  <a:pt x="112" y="39"/>
                  <a:pt x="147" y="14"/>
                  <a:pt x="162" y="0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Freeform 12"/>
          <p:cNvSpPr/>
          <p:nvPr/>
        </p:nvSpPr>
        <p:spPr bwMode="auto">
          <a:xfrm>
            <a:off x="7391783" y="3085371"/>
            <a:ext cx="239714" cy="452814"/>
          </a:xfrm>
          <a:custGeom>
            <a:avLst/>
            <a:gdLst>
              <a:gd name="T0" fmla="*/ 156 w 170"/>
              <a:gd name="T1" fmla="*/ 0 h 258"/>
              <a:gd name="T2" fmla="*/ 144 w 170"/>
              <a:gd name="T3" fmla="*/ 126 h 258"/>
              <a:gd name="T4" fmla="*/ 0 w 170"/>
              <a:gd name="T5" fmla="*/ 258 h 258"/>
              <a:gd name="T6" fmla="*/ 0 60000 65536"/>
              <a:gd name="T7" fmla="*/ 0 60000 65536"/>
              <a:gd name="T8" fmla="*/ 0 60000 65536"/>
              <a:gd name="T9" fmla="*/ 0 w 170"/>
              <a:gd name="T10" fmla="*/ 0 h 258"/>
              <a:gd name="T11" fmla="*/ 170 w 170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0" h="258">
                <a:moveTo>
                  <a:pt x="156" y="0"/>
                </a:moveTo>
                <a:cubicBezTo>
                  <a:pt x="154" y="21"/>
                  <a:pt x="170" y="83"/>
                  <a:pt x="144" y="126"/>
                </a:cubicBezTo>
                <a:cubicBezTo>
                  <a:pt x="118" y="169"/>
                  <a:pt x="30" y="231"/>
                  <a:pt x="0" y="258"/>
                </a:cubicBezTo>
              </a:path>
            </a:pathLst>
          </a:custGeom>
          <a:noFill/>
          <a:ln w="15875" cap="flat" cmpd="sng">
            <a:solidFill>
              <a:srgbClr val="ED524F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9257212" y="2899067"/>
            <a:ext cx="2538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Swap &amp; remove the last element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524224" y="4556160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Straight Connector 34"/>
          <p:cNvCxnSpPr/>
          <p:nvPr/>
        </p:nvCxnSpPr>
        <p:spPr>
          <a:xfrm>
            <a:off x="6087291" y="4219303"/>
            <a:ext cx="57607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124424" y="5311466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7258" y="5311342"/>
            <a:ext cx="1537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Remove the last element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7524224" y="4551806"/>
          <a:ext cx="384048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128304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7120259" y="6060953"/>
            <a:ext cx="4234924" cy="457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entire array is sorted now.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1972" y="1003262"/>
            <a:ext cx="904094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Step 9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40937" y="1075823"/>
            <a:ext cx="1056379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>
                <a:latin typeface="Cambria" panose="02040503050406030204" pitchFamily="18" charset="0"/>
                <a:ea typeface="Cambria" panose="02040503050406030204" pitchFamily="18" charset="0"/>
              </a:rPr>
              <a:t>Step 10</a:t>
            </a:r>
            <a:endParaRPr lang="en-US" sz="20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94477" y="4279887"/>
            <a:ext cx="1056379" cy="4001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IN" sz="2000" b="1">
                <a:latin typeface="Cambria" panose="02040503050406030204" pitchFamily="18" charset="0"/>
                <a:ea typeface="Cambria" panose="02040503050406030204" pitchFamily="18" charset="0"/>
              </a:rPr>
              <a:t>Step 11</a:t>
            </a:r>
            <a:endParaRPr lang="en-US" sz="20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Shape 1">
            <a:extLst>
              <a:ext uri="{FF2B5EF4-FFF2-40B4-BE49-F238E27FC236}">
                <a16:creationId xmlns:a16="http://schemas.microsoft.com/office/drawing/2014/main" id="{576A195E-AB20-3C1B-381A-230085FD234D}"/>
              </a:ext>
            </a:extLst>
          </p:cNvPr>
          <p:cNvSpPr txBox="1"/>
          <p:nvPr/>
        </p:nvSpPr>
        <p:spPr>
          <a:xfrm>
            <a:off x="282882" y="11849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Heap sort – </a:t>
            </a:r>
            <a:r>
              <a:rPr lang="en-IN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 </a:t>
            </a: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93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74675" y="1055688"/>
            <a:ext cx="11617325" cy="5399087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43997" indent="0">
              <a:buNone/>
            </a:pPr>
            <a:r>
              <a:rPr lang="en-US" sz="2800" dirty="0">
                <a:latin typeface="Trebuchet MS" panose="020B0603020202020204" pitchFamily="34" charset="0"/>
                <a:ea typeface="Cambria" panose="02040503050406030204" pitchFamily="18" charset="0"/>
              </a:rPr>
              <a:t>Sort the following elements using Heap </a:t>
            </a:r>
            <a:r>
              <a:rPr lang="en-US" sz="2800" dirty="0" smtClean="0">
                <a:latin typeface="Trebuchet MS" panose="020B0603020202020204" pitchFamily="34" charset="0"/>
                <a:ea typeface="Cambria" panose="02040503050406030204" pitchFamily="18" charset="0"/>
              </a:rPr>
              <a:t>Sort</a:t>
            </a:r>
            <a:r>
              <a:rPr lang="en-IN" sz="2800" dirty="0">
                <a:latin typeface="Trebuchet MS" panose="020B0603020202020204" pitchFamily="34" charset="0"/>
                <a:ea typeface="Cambria" panose="02040503050406030204" pitchFamily="18" charset="0"/>
              </a:rPr>
              <a:t>(Max-Heap)</a:t>
            </a:r>
            <a:r>
              <a:rPr lang="en-US" sz="2800" dirty="0">
                <a:latin typeface="Trebuchet MS" panose="020B0603020202020204" pitchFamily="34" charset="0"/>
                <a:ea typeface="Cambria" panose="02040503050406030204" pitchFamily="18" charset="0"/>
              </a:rPr>
              <a:t> Method.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800" dirty="0">
                <a:latin typeface="Trebuchet MS" panose="020B0603020202020204" pitchFamily="34" charset="0"/>
                <a:ea typeface="Cambria" panose="02040503050406030204" pitchFamily="18" charset="0"/>
              </a:rPr>
              <a:t>34, 18, 65, 32, 51, 21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 sz="2800" dirty="0">
                <a:latin typeface="Trebuchet MS" panose="020B0603020202020204" pitchFamily="34" charset="0"/>
                <a:ea typeface="Cambria" panose="02040503050406030204" pitchFamily="18" charset="0"/>
              </a:rPr>
              <a:t>20, 50, 30, 75, 90, 65, 25, 10, 40</a:t>
            </a:r>
          </a:p>
          <a:p>
            <a:pPr marL="544512" lvl="1" indent="0">
              <a:buNone/>
            </a:pPr>
            <a:endParaRPr lang="en-US" sz="2800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D6ABF05E-FDF2-E0D5-1DB7-0F51590B870A}"/>
              </a:ext>
            </a:extLst>
          </p:cNvPr>
          <p:cNvSpPr txBox="1"/>
          <p:nvPr/>
        </p:nvSpPr>
        <p:spPr>
          <a:xfrm>
            <a:off x="311760" y="257139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Exercises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3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6436" y="1100626"/>
            <a:ext cx="11422967" cy="542448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lvl="0" indent="-457200" defTabSz="91440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n-IN" sz="2800" b="1" kern="0" dirty="0" smtClean="0">
                <a:solidFill>
                  <a:srgbClr val="FF0000"/>
                </a:solidFill>
                <a:latin typeface="Trebuchet MS" panose="020B0603020202020204" pitchFamily="34" charset="0"/>
                <a:sym typeface="Corbel"/>
              </a:rPr>
              <a:t>Shell </a:t>
            </a:r>
            <a:r>
              <a:rPr lang="en-IN" sz="2800" b="1" kern="0" dirty="0">
                <a:solidFill>
                  <a:srgbClr val="FF0000"/>
                </a:solidFill>
                <a:latin typeface="Trebuchet MS" panose="020B0603020202020204" pitchFamily="34" charset="0"/>
                <a:sym typeface="Corbel"/>
              </a:rPr>
              <a:t>sort </a:t>
            </a:r>
            <a:r>
              <a:rPr lang="en-IN" sz="2800" kern="0" dirty="0">
                <a:latin typeface="Trebuchet MS" panose="020B0603020202020204" pitchFamily="34" charset="0"/>
                <a:sym typeface="Corbel"/>
              </a:rPr>
              <a:t>is an algorithm that first sorts the elements far apart from each other and successively reduces the interval between the elements to be sorted. </a:t>
            </a:r>
          </a:p>
          <a:p>
            <a:pPr marL="457200" lvl="0" indent="-457200" defTabSz="91440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n-IN" sz="2800" kern="0" dirty="0">
                <a:latin typeface="Trebuchet MS" panose="020B0603020202020204" pitchFamily="34" charset="0"/>
                <a:sym typeface="Corbel"/>
              </a:rPr>
              <a:t>It is a generalized version of insertion sort.</a:t>
            </a:r>
          </a:p>
          <a:p>
            <a:pPr marL="457200" lvl="0" indent="-457200" defTabSz="91440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n-IN" sz="2800" kern="0" dirty="0">
                <a:latin typeface="Trebuchet MS" panose="020B0603020202020204" pitchFamily="34" charset="0"/>
                <a:sym typeface="Corbel"/>
              </a:rPr>
              <a:t>Shell Sort improves its time complexity by taking the advantage of the fact that using Insertion Sort on a partially sorted array results in less number of moves.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2EC06013-FA6F-8C3C-EA0C-F01ADD32F09A}"/>
              </a:ext>
            </a:extLst>
          </p:cNvPr>
          <p:cNvSpPr txBox="1"/>
          <p:nvPr/>
        </p:nvSpPr>
        <p:spPr>
          <a:xfrm>
            <a:off x="506437" y="206277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1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0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sort </a:t>
            </a:r>
            <a:endParaRPr lang="en-US" sz="30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01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36525" y="1160902"/>
            <a:ext cx="11283950" cy="542448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Divide the array into several smaller </a:t>
            </a:r>
            <a:r>
              <a:rPr lang="en-US" sz="2400" dirty="0">
                <a:solidFill>
                  <a:srgbClr val="A7116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non contiguous segments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The distance between successive elements in one segment is called </a:t>
            </a:r>
            <a:r>
              <a:rPr lang="en-US" sz="2400" dirty="0">
                <a:solidFill>
                  <a:srgbClr val="A7116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a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gap.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Each segment is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sorted within itself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using insertion sort.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Then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re-segment into larger segments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(smaller gap) and repeat sorting process.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We will use the original sequence of shell sort</a:t>
            </a:r>
            <a:r>
              <a:rPr lang="en-US" sz="2400" b="1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, i.e., </a:t>
            </a:r>
            <a:r>
              <a:rPr lang="en-US" sz="2400" b="1" u="sng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N/2, N/4,....,1</a:t>
            </a:r>
            <a:r>
              <a:rPr lang="en-US" sz="2400" b="1" u="sng" dirty="0">
                <a:latin typeface="Trebuchet MS" panose="020B0603020202020204" pitchFamily="34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as the intervals.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 smtClean="0">
                <a:latin typeface="Trebuchet MS" panose="020B0603020202020204" pitchFamily="34" charset="0"/>
                <a:ea typeface="Cambria" panose="02040503050406030204" pitchFamily="18" charset="0"/>
              </a:rPr>
              <a:t>We have to find the gap using formula </a:t>
            </a:r>
            <a:r>
              <a:rPr lang="en-US" sz="2400" b="1" u="sng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Gap = n/2</a:t>
            </a:r>
            <a:r>
              <a:rPr lang="en-US" sz="2400" dirty="0" smtClean="0">
                <a:latin typeface="Trebuchet MS" panose="020B0603020202020204" pitchFamily="34" charset="0"/>
                <a:ea typeface="Cambria" panose="02040503050406030204" pitchFamily="18" charset="0"/>
              </a:rPr>
              <a:t>, Continue the same for each pass </a:t>
            </a:r>
            <a:r>
              <a:rPr lang="en-US" sz="2400" dirty="0" smtClean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until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only one segment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is left, i.e., gap = 1.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Final sorting finishes the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  <a:ea typeface="Cambria" panose="02040503050406030204" pitchFamily="18" charset="0"/>
              </a:rPr>
              <a:t>entire array </a:t>
            </a:r>
            <a:r>
              <a:rPr lang="en-US" sz="2400" dirty="0">
                <a:latin typeface="Trebuchet MS" panose="020B0603020202020204" pitchFamily="34" charset="0"/>
                <a:ea typeface="Cambria" panose="02040503050406030204" pitchFamily="18" charset="0"/>
              </a:rPr>
              <a:t>sorting.</a:t>
            </a:r>
          </a:p>
          <a:p>
            <a:pPr marL="143997" indent="0">
              <a:buNone/>
            </a:pPr>
            <a:endParaRPr lang="en-US" sz="2000" dirty="0"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4" name="TextShape 1">
            <a:extLst>
              <a:ext uri="{FF2B5EF4-FFF2-40B4-BE49-F238E27FC236}">
                <a16:creationId xmlns:a16="http://schemas.microsoft.com/office/drawing/2014/main" id="{2EC06013-FA6F-8C3C-EA0C-F01ADD32F09A}"/>
              </a:ext>
            </a:extLst>
          </p:cNvPr>
          <p:cNvSpPr txBox="1"/>
          <p:nvPr/>
        </p:nvSpPr>
        <p:spPr>
          <a:xfrm>
            <a:off x="263302" y="40322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sort - procedure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75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2EC06013-FA6F-8C3C-EA0C-F01ADD32F09A}"/>
              </a:ext>
            </a:extLst>
          </p:cNvPr>
          <p:cNvSpPr txBox="1"/>
          <p:nvPr/>
        </p:nvSpPr>
        <p:spPr>
          <a:xfrm>
            <a:off x="263302" y="40322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sort </a:t>
            </a:r>
            <a:r>
              <a:rPr lang="en-IN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- Example 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3303" y="1181651"/>
            <a:ext cx="59296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rebuchet MS" panose="020B0603020202020204" pitchFamily="34" charset="0"/>
              </a:rPr>
              <a:t>Algorithm </a:t>
            </a:r>
            <a:r>
              <a:rPr lang="en-US" sz="2400" dirty="0" err="1">
                <a:solidFill>
                  <a:srgbClr val="FF0000"/>
                </a:solidFill>
                <a:latin typeface="Trebuchet MS" panose="020B0603020202020204" pitchFamily="34" charset="0"/>
              </a:rPr>
              <a:t>ShellSort</a:t>
            </a:r>
            <a:r>
              <a:rPr lang="en-US" sz="2400" dirty="0">
                <a:latin typeface="Trebuchet MS" panose="020B0603020202020204" pitchFamily="34" charset="0"/>
              </a:rPr>
              <a:t>(</a:t>
            </a:r>
            <a:r>
              <a:rPr lang="en-US" sz="2400" dirty="0" err="1">
                <a:latin typeface="Trebuchet MS" panose="020B0603020202020204" pitchFamily="34" charset="0"/>
              </a:rPr>
              <a:t>arr</a:t>
            </a:r>
            <a:r>
              <a:rPr lang="en-US" sz="2400" dirty="0">
                <a:latin typeface="Trebuchet MS" panose="020B0603020202020204" pitchFamily="34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rebuchet MS" panose="020B0603020202020204" pitchFamily="34" charset="0"/>
              </a:rPr>
              <a:t>//Input</a:t>
            </a:r>
            <a:r>
              <a:rPr lang="en-US" sz="2400" dirty="0">
                <a:latin typeface="Trebuchet MS" panose="020B0603020202020204" pitchFamily="34" charset="0"/>
              </a:rPr>
              <a:t>: </a:t>
            </a:r>
            <a:r>
              <a:rPr lang="en-US" sz="2400" dirty="0" err="1">
                <a:latin typeface="Trebuchet MS" panose="020B0603020202020204" pitchFamily="34" charset="0"/>
              </a:rPr>
              <a:t>arr</a:t>
            </a:r>
            <a:r>
              <a:rPr lang="en-US" sz="2400" dirty="0">
                <a:latin typeface="Trebuchet MS" panose="020B0603020202020204" pitchFamily="34" charset="0"/>
              </a:rPr>
              <a:t>, an array of n elements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rebuchet MS" panose="020B0603020202020204" pitchFamily="34" charset="0"/>
              </a:rPr>
              <a:t> </a:t>
            </a:r>
            <a:r>
              <a:rPr lang="en-US" sz="2400" dirty="0" smtClean="0">
                <a:latin typeface="Trebuchet MS" panose="020B0603020202020204" pitchFamily="34" charset="0"/>
              </a:rPr>
              <a:t>//Output</a:t>
            </a:r>
            <a:r>
              <a:rPr lang="en-US" sz="2400" dirty="0">
                <a:latin typeface="Trebuchet MS" panose="020B0603020202020204" pitchFamily="34" charset="0"/>
              </a:rPr>
              <a:t>: </a:t>
            </a:r>
            <a:r>
              <a:rPr lang="en-US" sz="2400" dirty="0" err="1">
                <a:latin typeface="Trebuchet MS" panose="020B0603020202020204" pitchFamily="34" charset="0"/>
              </a:rPr>
              <a:t>arr</a:t>
            </a:r>
            <a:r>
              <a:rPr lang="en-US" sz="2400" dirty="0">
                <a:latin typeface="Trebuchet MS" panose="020B0603020202020204" pitchFamily="34" charset="0"/>
              </a:rPr>
              <a:t>, sorted in ascending order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rebuchet MS" panose="020B0603020202020204" pitchFamily="34" charset="0"/>
              </a:rPr>
              <a:t>    </a:t>
            </a:r>
            <a:r>
              <a:rPr lang="en-US" sz="2400" dirty="0">
                <a:latin typeface="Trebuchet MS" panose="020B0603020202020204" pitchFamily="34" charset="0"/>
              </a:rPr>
              <a:t>n ← length(</a:t>
            </a:r>
            <a:r>
              <a:rPr lang="en-US" sz="2400" dirty="0" err="1">
                <a:latin typeface="Trebuchet MS" panose="020B0603020202020204" pitchFamily="34" charset="0"/>
              </a:rPr>
              <a:t>arr</a:t>
            </a:r>
            <a:r>
              <a:rPr lang="en-US" sz="2400" dirty="0">
                <a:latin typeface="Trebuchet MS" panose="020B0603020202020204" pitchFamily="34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rebuchet MS" panose="020B0603020202020204" pitchFamily="34" charset="0"/>
              </a:rPr>
              <a:t>    gap ← floor(n / 2)</a:t>
            </a:r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Trebuchet MS" panose="020B0603020202020204" pitchFamily="34" charset="0"/>
              </a:rPr>
              <a:t>    </a:t>
            </a:r>
            <a:r>
              <a:rPr lang="en-US" sz="2400" dirty="0">
                <a:latin typeface="Trebuchet MS" panose="020B0603020202020204" pitchFamily="34" charset="0"/>
              </a:rPr>
              <a:t>while gap &gt; 0 do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rebuchet MS" panose="020B0603020202020204" pitchFamily="34" charset="0"/>
              </a:rPr>
              <a:t>        for </a:t>
            </a:r>
            <a:r>
              <a:rPr lang="en-US" sz="2400" dirty="0" err="1">
                <a:latin typeface="Trebuchet MS" panose="020B0603020202020204" pitchFamily="34" charset="0"/>
              </a:rPr>
              <a:t>i</a:t>
            </a:r>
            <a:r>
              <a:rPr lang="en-US" sz="2400" dirty="0">
                <a:latin typeface="Trebuchet MS" panose="020B0603020202020204" pitchFamily="34" charset="0"/>
              </a:rPr>
              <a:t> ← gap to n-1 do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rebuchet MS" panose="020B0603020202020204" pitchFamily="34" charset="0"/>
              </a:rPr>
              <a:t>            temp ← </a:t>
            </a:r>
            <a:r>
              <a:rPr lang="en-US" sz="2400" dirty="0" err="1">
                <a:latin typeface="Trebuchet MS" panose="020B0603020202020204" pitchFamily="34" charset="0"/>
              </a:rPr>
              <a:t>arr</a:t>
            </a:r>
            <a:r>
              <a:rPr lang="en-US" sz="2400" dirty="0">
                <a:latin typeface="Trebuchet MS" panose="020B0603020202020204" pitchFamily="34" charset="0"/>
              </a:rPr>
              <a:t>[</a:t>
            </a:r>
            <a:r>
              <a:rPr lang="en-US" sz="2400" dirty="0" err="1">
                <a:latin typeface="Trebuchet MS" panose="020B0603020202020204" pitchFamily="34" charset="0"/>
              </a:rPr>
              <a:t>i</a:t>
            </a:r>
            <a:r>
              <a:rPr lang="en-US" sz="2400" dirty="0">
                <a:latin typeface="Trebuchet MS" panose="020B0603020202020204" pitchFamily="34" charset="0"/>
              </a:rPr>
              <a:t>]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rebuchet MS" panose="020B0603020202020204" pitchFamily="34" charset="0"/>
              </a:rPr>
              <a:t>            j ← </a:t>
            </a:r>
            <a:r>
              <a:rPr lang="en-US" sz="2400" dirty="0" err="1" smtClean="0">
                <a:latin typeface="Trebuchet MS" panose="020B0603020202020204" pitchFamily="34" charset="0"/>
              </a:rPr>
              <a:t>i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92982" y="1173603"/>
            <a:ext cx="58742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while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j ≥ gap and </a:t>
            </a:r>
            <a:r>
              <a:rPr lang="en-US" sz="2400" dirty="0" err="1">
                <a:solidFill>
                  <a:prstClr val="black"/>
                </a:solidFill>
                <a:latin typeface="Trebuchet MS" panose="020B0603020202020204" pitchFamily="34" charset="0"/>
              </a:rPr>
              <a:t>arr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[j - gap] &gt; temp do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   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	</a:t>
            </a:r>
            <a:r>
              <a:rPr lang="en-US" sz="2400" dirty="0" err="1" smtClean="0">
                <a:solidFill>
                  <a:prstClr val="black"/>
                </a:solidFill>
                <a:latin typeface="Trebuchet MS" panose="020B0603020202020204" pitchFamily="34" charset="0"/>
              </a:rPr>
              <a:t>arr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[j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] ← </a:t>
            </a:r>
            <a:r>
              <a:rPr lang="en-US" sz="2400" dirty="0" err="1">
                <a:solidFill>
                  <a:prstClr val="black"/>
                </a:solidFill>
                <a:latin typeface="Trebuchet MS" panose="020B0603020202020204" pitchFamily="34" charset="0"/>
              </a:rPr>
              <a:t>arr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[j - gap]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    	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j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← j - gap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 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  end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while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      	</a:t>
            </a:r>
            <a:r>
              <a:rPr lang="en-US" sz="2400" dirty="0" err="1" smtClean="0">
                <a:solidFill>
                  <a:prstClr val="black"/>
                </a:solidFill>
                <a:latin typeface="Trebuchet MS" panose="020B0603020202020204" pitchFamily="34" charset="0"/>
              </a:rPr>
              <a:t>arr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[j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] ← temp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end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for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       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gap ← floor(gap / 2)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   end 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while</a:t>
            </a:r>
            <a:endParaRPr lang="en-US" sz="24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068291" y="975625"/>
            <a:ext cx="103910" cy="575768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64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2EC06013-FA6F-8C3C-EA0C-F01ADD32F09A}"/>
              </a:ext>
            </a:extLst>
          </p:cNvPr>
          <p:cNvSpPr txBox="1"/>
          <p:nvPr/>
        </p:nvSpPr>
        <p:spPr>
          <a:xfrm>
            <a:off x="263302" y="40322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sort </a:t>
            </a:r>
            <a:r>
              <a:rPr lang="en-IN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- Example 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9399" y="2955032"/>
            <a:ext cx="10552706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2400" b="0" i="0" dirty="0">
              <a:effectLst/>
              <a:latin typeface="Trebuchet MS" panose="020B0603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9762"/>
              </p:ext>
            </p:extLst>
          </p:nvPr>
        </p:nvGraphicFramePr>
        <p:xfrm>
          <a:off x="1998375" y="1635242"/>
          <a:ext cx="7315200" cy="457200"/>
        </p:xfrm>
        <a:graphic>
          <a:graphicData uri="http://schemas.openxmlformats.org/drawingml/2006/table">
            <a:tbl>
              <a:tblPr firstRow="1" bandRow="1"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26774" y="2338855"/>
            <a:ext cx="1081708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defTabSz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In the first loop, if the array size is </a:t>
            </a:r>
            <a:r>
              <a:rPr lang="en-US" sz="2400" dirty="0">
                <a:solidFill>
                  <a:schemeClr val="accent1"/>
                </a:solidFill>
                <a:latin typeface="Trebuchet MS" panose="020B0603020202020204" pitchFamily="34" charset="0"/>
              </a:rPr>
              <a:t>N = 8 </a:t>
            </a:r>
            <a:r>
              <a:rPr lang="en-US" sz="2400" dirty="0">
                <a:latin typeface="Trebuchet MS" panose="020B0603020202020204" pitchFamily="34" charset="0"/>
              </a:rPr>
              <a:t>then, the elements lying at the interval of </a:t>
            </a:r>
            <a:r>
              <a:rPr lang="en-US" sz="2400" dirty="0">
                <a:solidFill>
                  <a:schemeClr val="accent1"/>
                </a:solidFill>
                <a:latin typeface="Trebuchet MS" panose="020B0603020202020204" pitchFamily="34" charset="0"/>
              </a:rPr>
              <a:t>N/2 = 4 </a:t>
            </a:r>
            <a:r>
              <a:rPr lang="en-US" sz="2400" dirty="0">
                <a:latin typeface="Trebuchet MS" panose="020B0603020202020204" pitchFamily="34" charset="0"/>
              </a:rPr>
              <a:t>are compared and swapped if they are not in order.</a:t>
            </a:r>
          </a:p>
          <a:p>
            <a:pPr marL="285750" lvl="0" indent="-285750" defTabSz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The </a:t>
            </a:r>
            <a:r>
              <a:rPr lang="en-US" sz="2400" dirty="0">
                <a:solidFill>
                  <a:schemeClr val="accent1"/>
                </a:solidFill>
                <a:latin typeface="Trebuchet MS" panose="020B0603020202020204" pitchFamily="34" charset="0"/>
              </a:rPr>
              <a:t>0th element </a:t>
            </a:r>
            <a:r>
              <a:rPr lang="en-US" sz="2400" dirty="0">
                <a:latin typeface="Trebuchet MS" panose="020B0603020202020204" pitchFamily="34" charset="0"/>
              </a:rPr>
              <a:t>is compared with the </a:t>
            </a:r>
            <a:r>
              <a:rPr lang="en-US" sz="2400" dirty="0">
                <a:solidFill>
                  <a:schemeClr val="accent1"/>
                </a:solidFill>
                <a:latin typeface="Trebuchet MS" panose="020B0603020202020204" pitchFamily="34" charset="0"/>
              </a:rPr>
              <a:t>4th element</a:t>
            </a:r>
            <a:r>
              <a:rPr lang="en-US" sz="2400" dirty="0">
                <a:latin typeface="Trebuchet MS" panose="020B0603020202020204" pitchFamily="34" charset="0"/>
              </a:rPr>
              <a:t>.</a:t>
            </a:r>
          </a:p>
          <a:p>
            <a:pPr marL="285750" lvl="0" indent="-285750" defTabSz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If </a:t>
            </a:r>
            <a:r>
              <a:rPr lang="en-US" sz="2400" dirty="0">
                <a:latin typeface="Trebuchet MS" panose="020B0603020202020204" pitchFamily="34" charset="0"/>
              </a:rPr>
              <a:t>the 0th element is greater than the 4th one then, the 4th element is first stored in temp variable and the 0th element (</a:t>
            </a:r>
            <a:r>
              <a:rPr lang="en-US" sz="2400" dirty="0" err="1">
                <a:latin typeface="Trebuchet MS" panose="020B0603020202020204" pitchFamily="34" charset="0"/>
              </a:rPr>
              <a:t>ie</a:t>
            </a:r>
            <a:r>
              <a:rPr lang="en-US" sz="2400" dirty="0">
                <a:latin typeface="Trebuchet MS" panose="020B0603020202020204" pitchFamily="34" charset="0"/>
              </a:rPr>
              <a:t>. greater element) is stored in the 4th position and the element stored in temp is stored in the 0th position. </a:t>
            </a:r>
          </a:p>
        </p:txBody>
      </p:sp>
      <p:sp>
        <p:nvSpPr>
          <p:cNvPr id="8" name="Rectangle 7"/>
          <p:cNvSpPr/>
          <p:nvPr/>
        </p:nvSpPr>
        <p:spPr>
          <a:xfrm>
            <a:off x="1998375" y="1242652"/>
            <a:ext cx="7315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Trebuchet MS" panose="020B0603020202020204" pitchFamily="34" charset="0"/>
              </a:rPr>
              <a:t>0	1	2	3	4	5	6	7 </a:t>
            </a:r>
            <a:endParaRPr lang="en-IN" sz="1600" b="1" dirty="0">
              <a:solidFill>
                <a:schemeClr val="accent1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40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2EC06013-FA6F-8C3C-EA0C-F01ADD32F09A}"/>
              </a:ext>
            </a:extLst>
          </p:cNvPr>
          <p:cNvSpPr txBox="1"/>
          <p:nvPr/>
        </p:nvSpPr>
        <p:spPr>
          <a:xfrm>
            <a:off x="263302" y="403225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sort </a:t>
            </a:r>
            <a:r>
              <a:rPr lang="en-IN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- Example 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544612"/>
              </p:ext>
            </p:extLst>
          </p:nvPr>
        </p:nvGraphicFramePr>
        <p:xfrm>
          <a:off x="1080049" y="2238151"/>
          <a:ext cx="7393544" cy="633825"/>
        </p:xfrm>
        <a:graphic>
          <a:graphicData uri="http://schemas.openxmlformats.org/drawingml/2006/table">
            <a:tbl>
              <a:tblPr firstRow="1" bandRow="1"/>
              <a:tblGrid>
                <a:gridCol w="924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41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41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1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41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33825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138388" y="1734544"/>
            <a:ext cx="731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rebuchet MS" panose="020B0603020202020204" pitchFamily="34" charset="0"/>
              </a:rPr>
              <a:t>0	1	2	3	4	5	6	7 </a:t>
            </a:r>
            <a:endParaRPr lang="en-IN" b="1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708377"/>
              </p:ext>
            </p:extLst>
          </p:nvPr>
        </p:nvGraphicFramePr>
        <p:xfrm>
          <a:off x="1180957" y="4840354"/>
          <a:ext cx="7315200" cy="7233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2335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234665"/>
              </p:ext>
            </p:extLst>
          </p:nvPr>
        </p:nvGraphicFramePr>
        <p:xfrm>
          <a:off x="1138388" y="3928293"/>
          <a:ext cx="7315200" cy="6926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2603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310359"/>
              </p:ext>
            </p:extLst>
          </p:nvPr>
        </p:nvGraphicFramePr>
        <p:xfrm>
          <a:off x="1158394" y="3142069"/>
          <a:ext cx="7315200" cy="6817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81786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57493" y="4119325"/>
            <a:ext cx="32255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cxnSp>
        <p:nvCxnSpPr>
          <p:cNvPr id="13" name="Elbow Connector 12"/>
          <p:cNvCxnSpPr>
            <a:stCxn id="12" idx="2"/>
            <a:endCxn id="9" idx="1"/>
          </p:cNvCxnSpPr>
          <p:nvPr/>
        </p:nvCxnSpPr>
        <p:spPr>
          <a:xfrm rot="16200000" flipH="1">
            <a:off x="693176" y="4714252"/>
            <a:ext cx="713376" cy="26218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rot="10800000" flipV="1">
            <a:off x="918770" y="3142069"/>
            <a:ext cx="4153271" cy="933812"/>
          </a:xfrm>
          <a:prstGeom prst="bentConnector2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35163" y="1192845"/>
            <a:ext cx="35423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defRPr/>
            </a:pPr>
            <a:r>
              <a:rPr lang="en-IN" spc="-1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How swapping happening here?  </a:t>
            </a:r>
            <a:endParaRPr lang="en-US" spc="-1" dirty="0">
              <a:solidFill>
                <a:srgbClr val="0070C0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22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2EC06013-FA6F-8C3C-EA0C-F01ADD32F09A}"/>
              </a:ext>
            </a:extLst>
          </p:cNvPr>
          <p:cNvSpPr txBox="1"/>
          <p:nvPr/>
        </p:nvSpPr>
        <p:spPr>
          <a:xfrm>
            <a:off x="526899" y="240106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spc="-1" dirty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sort </a:t>
            </a:r>
            <a:r>
              <a:rPr lang="en-IN" sz="3200" b="1" spc="-1" dirty="0" smtClean="0"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- Example </a:t>
            </a:r>
            <a:endParaRPr lang="en-US" sz="3200" b="1" spc="-1" dirty="0"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573490" y="2872651"/>
            <a:ext cx="1593305" cy="5784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2400" b="0" i="0" dirty="0">
              <a:effectLst/>
              <a:latin typeface="Trebuchet MS" panose="020B0603020202020204" pitchFamily="34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692643"/>
              </p:ext>
            </p:extLst>
          </p:nvPr>
        </p:nvGraphicFramePr>
        <p:xfrm>
          <a:off x="848447" y="1294714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002906"/>
              </p:ext>
            </p:extLst>
          </p:nvPr>
        </p:nvGraphicFramePr>
        <p:xfrm>
          <a:off x="871087" y="3467275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180695"/>
              </p:ext>
            </p:extLst>
          </p:nvPr>
        </p:nvGraphicFramePr>
        <p:xfrm>
          <a:off x="871087" y="2396258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112884"/>
              </p:ext>
            </p:extLst>
          </p:nvPr>
        </p:nvGraphicFramePr>
        <p:xfrm>
          <a:off x="899200" y="4534075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110749"/>
              </p:ext>
            </p:extLst>
          </p:nvPr>
        </p:nvGraphicFramePr>
        <p:xfrm>
          <a:off x="868130" y="5378933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773802"/>
              </p:ext>
            </p:extLst>
          </p:nvPr>
        </p:nvGraphicFramePr>
        <p:xfrm>
          <a:off x="937670" y="6223792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410814"/>
              </p:ext>
            </p:extLst>
          </p:nvPr>
        </p:nvGraphicFramePr>
        <p:xfrm>
          <a:off x="868130" y="884450"/>
          <a:ext cx="7253056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6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ight Brace 1"/>
          <p:cNvSpPr/>
          <p:nvPr/>
        </p:nvSpPr>
        <p:spPr>
          <a:xfrm>
            <a:off x="8252870" y="1341650"/>
            <a:ext cx="1191491" cy="53894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9719920" y="3912808"/>
            <a:ext cx="1300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spc="-1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Pass 1 </a:t>
            </a:r>
            <a:endParaRPr lang="en-IN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47019" y="1530019"/>
            <a:ext cx="30064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 smtClean="0">
                <a:latin typeface="Trebuchet MS" panose="020B0603020202020204" pitchFamily="34" charset="0"/>
              </a:rPr>
              <a:t>Here  n  = n/2 </a:t>
            </a:r>
          </a:p>
          <a:p>
            <a:r>
              <a:rPr lang="pt-BR" sz="2000" dirty="0" smtClean="0">
                <a:latin typeface="Trebuchet MS" panose="020B0603020202020204" pitchFamily="34" charset="0"/>
              </a:rPr>
              <a:t>                 = </a:t>
            </a:r>
            <a:r>
              <a:rPr lang="pt-BR" sz="2000" dirty="0">
                <a:latin typeface="Trebuchet MS" panose="020B0603020202020204" pitchFamily="34" charset="0"/>
              </a:rPr>
              <a:t>8/2 </a:t>
            </a:r>
            <a:r>
              <a:rPr lang="pt-BR" sz="2000" dirty="0" smtClean="0">
                <a:latin typeface="Trebuchet MS" panose="020B0603020202020204" pitchFamily="34" charset="0"/>
              </a:rPr>
              <a:t>= 4</a:t>
            </a:r>
          </a:p>
          <a:p>
            <a:endParaRPr lang="pt-BR" sz="2000" dirty="0" smtClean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 smtClean="0">
                <a:latin typeface="Trebuchet MS" panose="020B0603020202020204" pitchFamily="34" charset="0"/>
              </a:rPr>
              <a:t>So gap is now  </a:t>
            </a:r>
            <a:r>
              <a:rPr lang="pt-BR" sz="2000" dirty="0">
                <a:latin typeface="Trebuchet MS" panose="020B0603020202020204" pitchFamily="34" charset="0"/>
              </a:rPr>
              <a:t>4</a:t>
            </a:r>
            <a:endParaRPr lang="en-IN" sz="20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25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32385"/>
              </p:ext>
            </p:extLst>
          </p:nvPr>
        </p:nvGraphicFramePr>
        <p:xfrm>
          <a:off x="793555" y="1442491"/>
          <a:ext cx="731520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076069"/>
              </p:ext>
            </p:extLst>
          </p:nvPr>
        </p:nvGraphicFramePr>
        <p:xfrm>
          <a:off x="855703" y="940832"/>
          <a:ext cx="7253056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6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6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794631"/>
              </p:ext>
            </p:extLst>
          </p:nvPr>
        </p:nvGraphicFramePr>
        <p:xfrm>
          <a:off x="793559" y="2216327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885498"/>
              </p:ext>
            </p:extLst>
          </p:nvPr>
        </p:nvGraphicFramePr>
        <p:xfrm>
          <a:off x="793559" y="2936898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837183"/>
              </p:ext>
            </p:extLst>
          </p:nvPr>
        </p:nvGraphicFramePr>
        <p:xfrm>
          <a:off x="793559" y="3612270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544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680521"/>
              </p:ext>
            </p:extLst>
          </p:nvPr>
        </p:nvGraphicFramePr>
        <p:xfrm>
          <a:off x="793559" y="4342529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280793"/>
              </p:ext>
            </p:extLst>
          </p:nvPr>
        </p:nvGraphicFramePr>
        <p:xfrm>
          <a:off x="793559" y="5134121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368998"/>
              </p:ext>
            </p:extLst>
          </p:nvPr>
        </p:nvGraphicFramePr>
        <p:xfrm>
          <a:off x="793559" y="5860794"/>
          <a:ext cx="73152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4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Curved Up Arrow 27"/>
          <p:cNvSpPr/>
          <p:nvPr/>
        </p:nvSpPr>
        <p:spPr>
          <a:xfrm flipH="1">
            <a:off x="909667" y="4717538"/>
            <a:ext cx="1988598" cy="226382"/>
          </a:xfrm>
          <a:prstGeom prst="curvedUpArrow">
            <a:avLst>
              <a:gd name="adj1" fmla="val 0"/>
              <a:gd name="adj2" fmla="val 50000"/>
              <a:gd name="adj3" fmla="val 25000"/>
            </a:avLst>
          </a:prstGeom>
          <a:ln w="285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Curved Up Arrow 28"/>
          <p:cNvSpPr/>
          <p:nvPr/>
        </p:nvSpPr>
        <p:spPr>
          <a:xfrm>
            <a:off x="2898265" y="4005616"/>
            <a:ext cx="1899821" cy="230819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Curved Up Arrow 29"/>
          <p:cNvSpPr/>
          <p:nvPr/>
        </p:nvSpPr>
        <p:spPr>
          <a:xfrm flipH="1">
            <a:off x="1807792" y="6190211"/>
            <a:ext cx="1988598" cy="226382"/>
          </a:xfrm>
          <a:prstGeom prst="curvedUpArrow">
            <a:avLst>
              <a:gd name="adj1" fmla="val 0"/>
              <a:gd name="adj2" fmla="val 50000"/>
              <a:gd name="adj3" fmla="val 25000"/>
            </a:avLst>
          </a:prstGeom>
          <a:ln w="28575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Curved Up Arrow 30"/>
          <p:cNvSpPr/>
          <p:nvPr/>
        </p:nvSpPr>
        <p:spPr>
          <a:xfrm>
            <a:off x="3732851" y="5482726"/>
            <a:ext cx="1899821" cy="230819"/>
          </a:xfrm>
          <a:prstGeom prst="curved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ight Brace 31"/>
          <p:cNvSpPr/>
          <p:nvPr/>
        </p:nvSpPr>
        <p:spPr>
          <a:xfrm>
            <a:off x="8451273" y="1108364"/>
            <a:ext cx="1191491" cy="53894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/>
          <p:cNvSpPr/>
          <p:nvPr/>
        </p:nvSpPr>
        <p:spPr>
          <a:xfrm>
            <a:off x="9985274" y="3618407"/>
            <a:ext cx="1527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spc="-1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Pass 2 </a:t>
            </a:r>
            <a:endParaRPr lang="en-IN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47019" y="1530019"/>
            <a:ext cx="30064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 smtClean="0">
                <a:latin typeface="Trebuchet MS" panose="020B0603020202020204" pitchFamily="34" charset="0"/>
              </a:rPr>
              <a:t>Here = 8/4 = 2</a:t>
            </a:r>
          </a:p>
          <a:p>
            <a:endParaRPr lang="pt-BR" sz="2000" dirty="0" smtClean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 smtClean="0">
                <a:latin typeface="Trebuchet MS" panose="020B0603020202020204" pitchFamily="34" charset="0"/>
              </a:rPr>
              <a:t>So gap is now  2</a:t>
            </a:r>
            <a:endParaRPr lang="en-IN" sz="2000" dirty="0">
              <a:latin typeface="Trebuchet MS" panose="020B0603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5553" y="137885"/>
            <a:ext cx="42566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defRPr/>
            </a:pPr>
            <a:r>
              <a:rPr lang="en-IN" sz="3200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sort  - Example </a:t>
            </a:r>
            <a:endParaRPr lang="en-US" sz="3200" b="1" spc="-1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99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32107"/>
              </p:ext>
            </p:extLst>
          </p:nvPr>
        </p:nvGraphicFramePr>
        <p:xfrm>
          <a:off x="1403159" y="1620631"/>
          <a:ext cx="7315200" cy="457200"/>
        </p:xfrm>
        <a:graphic>
          <a:graphicData uri="http://schemas.openxmlformats.org/drawingml/2006/table">
            <a:tbl>
              <a:tblPr firstRow="1" bandRow="1"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586386"/>
              </p:ext>
            </p:extLst>
          </p:nvPr>
        </p:nvGraphicFramePr>
        <p:xfrm>
          <a:off x="1403159" y="2367834"/>
          <a:ext cx="7315200" cy="457200"/>
        </p:xfrm>
        <a:graphic>
          <a:graphicData uri="http://schemas.openxmlformats.org/drawingml/2006/table">
            <a:tbl>
              <a:tblPr firstRow="1" bandRow="1"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258632"/>
              </p:ext>
            </p:extLst>
          </p:nvPr>
        </p:nvGraphicFramePr>
        <p:xfrm>
          <a:off x="1403159" y="3132793"/>
          <a:ext cx="7315200" cy="457200"/>
        </p:xfrm>
        <a:graphic>
          <a:graphicData uri="http://schemas.openxmlformats.org/drawingml/2006/table">
            <a:tbl>
              <a:tblPr firstRow="1" bandRow="1"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26214"/>
              </p:ext>
            </p:extLst>
          </p:nvPr>
        </p:nvGraphicFramePr>
        <p:xfrm>
          <a:off x="1403158" y="4750496"/>
          <a:ext cx="7315200" cy="507315"/>
        </p:xfrm>
        <a:graphic>
          <a:graphicData uri="http://schemas.openxmlformats.org/drawingml/2006/table">
            <a:tbl>
              <a:tblPr firstRow="1" bandRow="1"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7315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Curved Up Arrow 20"/>
          <p:cNvSpPr/>
          <p:nvPr/>
        </p:nvSpPr>
        <p:spPr>
          <a:xfrm flipH="1">
            <a:off x="3397545" y="2750060"/>
            <a:ext cx="1988598" cy="226382"/>
          </a:xfrm>
          <a:prstGeom prst="curvedUpArrow">
            <a:avLst>
              <a:gd name="adj1" fmla="val 0"/>
              <a:gd name="adj2" fmla="val 50000"/>
              <a:gd name="adj3" fmla="val 25000"/>
            </a:avLst>
          </a:prstGeom>
          <a:solidFill>
            <a:srgbClr val="000000"/>
          </a:solidFill>
          <a:ln w="28575" cap="flat" cmpd="sng" algn="ctr">
            <a:solidFill>
              <a:srgbClr val="00000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5" name="Curved Up Arrow 34"/>
          <p:cNvSpPr/>
          <p:nvPr/>
        </p:nvSpPr>
        <p:spPr>
          <a:xfrm>
            <a:off x="5452773" y="1954030"/>
            <a:ext cx="1899821" cy="230819"/>
          </a:xfrm>
          <a:prstGeom prst="curvedUpArrow">
            <a:avLst/>
          </a:prstGeom>
          <a:solidFill>
            <a:srgbClr val="000000"/>
          </a:solidFill>
          <a:ln w="10795" cap="flat" cmpd="sng" algn="ctr">
            <a:solidFill>
              <a:srgbClr val="00000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034222"/>
              </p:ext>
            </p:extLst>
          </p:nvPr>
        </p:nvGraphicFramePr>
        <p:xfrm>
          <a:off x="1395761" y="3835609"/>
          <a:ext cx="7315200" cy="457200"/>
        </p:xfrm>
        <a:graphic>
          <a:graphicData uri="http://schemas.openxmlformats.org/drawingml/2006/table">
            <a:tbl>
              <a:tblPr firstRow="1" bandRow="1"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Right Brace 36"/>
          <p:cNvSpPr/>
          <p:nvPr/>
        </p:nvSpPr>
        <p:spPr>
          <a:xfrm>
            <a:off x="8451273" y="1108364"/>
            <a:ext cx="1191491" cy="53894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/>
          <p:cNvSpPr/>
          <p:nvPr/>
        </p:nvSpPr>
        <p:spPr>
          <a:xfrm>
            <a:off x="9985274" y="3618407"/>
            <a:ext cx="15278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spc="-1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Pass 2 (continues)</a:t>
            </a:r>
            <a:endParaRPr lang="en-IN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25553" y="137885"/>
            <a:ext cx="42566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defRPr/>
            </a:pPr>
            <a:r>
              <a:rPr lang="en-IN" sz="3200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sort  - Example </a:t>
            </a:r>
            <a:endParaRPr lang="en-US" sz="3200" b="1" spc="-1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84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ight Brace 36"/>
          <p:cNvSpPr/>
          <p:nvPr/>
        </p:nvSpPr>
        <p:spPr>
          <a:xfrm>
            <a:off x="8451273" y="1108364"/>
            <a:ext cx="1191491" cy="53894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/>
          <p:cNvSpPr/>
          <p:nvPr/>
        </p:nvSpPr>
        <p:spPr>
          <a:xfrm>
            <a:off x="9985274" y="3618407"/>
            <a:ext cx="1527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spc="-1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Pass 3</a:t>
            </a:r>
            <a:endParaRPr lang="en-IN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25553" y="137885"/>
            <a:ext cx="42566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defRPr/>
            </a:pPr>
            <a:r>
              <a:rPr lang="en-IN" sz="3200" b="1" spc="-1" dirty="0">
                <a:solidFill>
                  <a:prstClr val="black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sort  - Example </a:t>
            </a:r>
            <a:endParaRPr lang="en-US" sz="3200" b="1" spc="-1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83650"/>
              </p:ext>
            </p:extLst>
          </p:nvPr>
        </p:nvGraphicFramePr>
        <p:xfrm>
          <a:off x="789033" y="1357931"/>
          <a:ext cx="7434760" cy="457200"/>
        </p:xfrm>
        <a:graphic>
          <a:graphicData uri="http://schemas.openxmlformats.org/drawingml/2006/table">
            <a:tbl>
              <a:tblPr firstRow="1" bandRow="1"/>
              <a:tblGrid>
                <a:gridCol w="92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974099"/>
              </p:ext>
            </p:extLst>
          </p:nvPr>
        </p:nvGraphicFramePr>
        <p:xfrm>
          <a:off x="844713" y="886994"/>
          <a:ext cx="7371600" cy="457200"/>
        </p:xfrm>
        <a:graphic>
          <a:graphicData uri="http://schemas.openxmlformats.org/drawingml/2006/table">
            <a:tbl>
              <a:tblPr firstRow="1" bandRow="1"/>
              <a:tblGrid>
                <a:gridCol w="92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1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1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1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0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072689"/>
              </p:ext>
            </p:extLst>
          </p:nvPr>
        </p:nvGraphicFramePr>
        <p:xfrm>
          <a:off x="799390" y="1980848"/>
          <a:ext cx="7434760" cy="457200"/>
        </p:xfrm>
        <a:graphic>
          <a:graphicData uri="http://schemas.openxmlformats.org/drawingml/2006/table">
            <a:tbl>
              <a:tblPr firstRow="1" bandRow="1"/>
              <a:tblGrid>
                <a:gridCol w="92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070628"/>
              </p:ext>
            </p:extLst>
          </p:nvPr>
        </p:nvGraphicFramePr>
        <p:xfrm>
          <a:off x="774237" y="2639276"/>
          <a:ext cx="7434760" cy="457200"/>
        </p:xfrm>
        <a:graphic>
          <a:graphicData uri="http://schemas.openxmlformats.org/drawingml/2006/table">
            <a:tbl>
              <a:tblPr firstRow="1" bandRow="1"/>
              <a:tblGrid>
                <a:gridCol w="92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889031"/>
              </p:ext>
            </p:extLst>
          </p:nvPr>
        </p:nvGraphicFramePr>
        <p:xfrm>
          <a:off x="820105" y="3359847"/>
          <a:ext cx="7434760" cy="457200"/>
        </p:xfrm>
        <a:graphic>
          <a:graphicData uri="http://schemas.openxmlformats.org/drawingml/2006/table">
            <a:tbl>
              <a:tblPr firstRow="1" bandRow="1"/>
              <a:tblGrid>
                <a:gridCol w="92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635627"/>
              </p:ext>
            </p:extLst>
          </p:nvPr>
        </p:nvGraphicFramePr>
        <p:xfrm>
          <a:off x="830462" y="3982764"/>
          <a:ext cx="7434760" cy="457200"/>
        </p:xfrm>
        <a:graphic>
          <a:graphicData uri="http://schemas.openxmlformats.org/drawingml/2006/table">
            <a:tbl>
              <a:tblPr firstRow="1" bandRow="1"/>
              <a:tblGrid>
                <a:gridCol w="92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898222"/>
              </p:ext>
            </p:extLst>
          </p:nvPr>
        </p:nvGraphicFramePr>
        <p:xfrm>
          <a:off x="823064" y="4596803"/>
          <a:ext cx="7434760" cy="457200"/>
        </p:xfrm>
        <a:graphic>
          <a:graphicData uri="http://schemas.openxmlformats.org/drawingml/2006/table">
            <a:tbl>
              <a:tblPr firstRow="1" bandRow="1"/>
              <a:tblGrid>
                <a:gridCol w="92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513533"/>
              </p:ext>
            </p:extLst>
          </p:nvPr>
        </p:nvGraphicFramePr>
        <p:xfrm>
          <a:off x="830463" y="5193086"/>
          <a:ext cx="7378536" cy="457200"/>
        </p:xfrm>
        <a:graphic>
          <a:graphicData uri="http://schemas.openxmlformats.org/drawingml/2006/table">
            <a:tbl>
              <a:tblPr firstRow="1" bandRow="1"/>
              <a:tblGrid>
                <a:gridCol w="922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2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2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871782"/>
              </p:ext>
            </p:extLst>
          </p:nvPr>
        </p:nvGraphicFramePr>
        <p:xfrm>
          <a:off x="799390" y="5816002"/>
          <a:ext cx="7434760" cy="457200"/>
        </p:xfrm>
        <a:graphic>
          <a:graphicData uri="http://schemas.openxmlformats.org/drawingml/2006/table">
            <a:tbl>
              <a:tblPr firstRow="1" bandRow="1"/>
              <a:tblGrid>
                <a:gridCol w="929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9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9351819" y="1623613"/>
            <a:ext cx="24106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prstClr val="black"/>
                </a:solidFill>
                <a:latin typeface="Trebuchet MS" panose="020B0603020202020204" pitchFamily="34" charset="0"/>
              </a:rPr>
              <a:t>Here = </a:t>
            </a:r>
            <a:r>
              <a:rPr lang="pt-BR" sz="20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8/8 </a:t>
            </a:r>
            <a:r>
              <a:rPr lang="pt-BR" sz="2000" dirty="0">
                <a:solidFill>
                  <a:prstClr val="black"/>
                </a:solidFill>
                <a:latin typeface="Trebuchet MS" panose="020B0603020202020204" pitchFamily="34" charset="0"/>
              </a:rPr>
              <a:t>= </a:t>
            </a:r>
            <a:r>
              <a:rPr lang="pt-BR" sz="20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1</a:t>
            </a:r>
            <a:endParaRPr lang="pt-BR" sz="2000" dirty="0">
              <a:solidFill>
                <a:prstClr val="black"/>
              </a:solidFill>
              <a:latin typeface="Trebuchet MS" panose="020B0603020202020204" pitchFamily="34" charset="0"/>
            </a:endParaRPr>
          </a:p>
          <a:p>
            <a:pPr lvl="0"/>
            <a:endParaRPr lang="pt-BR" sz="2000" dirty="0">
              <a:solidFill>
                <a:prstClr val="black"/>
              </a:solidFill>
              <a:latin typeface="Trebuchet MS" panose="020B0603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prstClr val="black"/>
                </a:solidFill>
                <a:latin typeface="Trebuchet MS" panose="020B0603020202020204" pitchFamily="34" charset="0"/>
              </a:rPr>
              <a:t>So gap is now  </a:t>
            </a:r>
            <a:r>
              <a:rPr lang="pt-BR" sz="20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1</a:t>
            </a:r>
            <a:endParaRPr lang="en-IN" sz="20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99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Shape 1">
            <a:extLst>
              <a:ext uri="{FF2B5EF4-FFF2-40B4-BE49-F238E27FC236}">
                <a16:creationId xmlns:a16="http://schemas.microsoft.com/office/drawing/2014/main" id="{11F79CE1-2975-AB80-EE3C-F50052D0F285}"/>
              </a:ext>
            </a:extLst>
          </p:cNvPr>
          <p:cNvSpPr txBox="1"/>
          <p:nvPr/>
        </p:nvSpPr>
        <p:spPr>
          <a:xfrm>
            <a:off x="112732" y="263313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IN" sz="3200" b="1" spc="-1" dirty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sort - </a:t>
            </a:r>
            <a:r>
              <a:rPr lang="en-IN" sz="3200" b="1" spc="-1" dirty="0" smtClean="0"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Example</a:t>
            </a:r>
            <a:endParaRPr lang="en-US" sz="3200" b="1" spc="-1" dirty="0">
              <a:latin typeface="Corbel" panose="020B050302020402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2837"/>
              </p:ext>
            </p:extLst>
          </p:nvPr>
        </p:nvGraphicFramePr>
        <p:xfrm>
          <a:off x="1095353" y="1927400"/>
          <a:ext cx="7453160" cy="457200"/>
        </p:xfrm>
        <a:graphic>
          <a:graphicData uri="http://schemas.openxmlformats.org/drawingml/2006/table">
            <a:tbl>
              <a:tblPr firstRow="1" bandRow="1"/>
              <a:tblGrid>
                <a:gridCol w="93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033422"/>
              </p:ext>
            </p:extLst>
          </p:nvPr>
        </p:nvGraphicFramePr>
        <p:xfrm>
          <a:off x="1105711" y="2479295"/>
          <a:ext cx="7453160" cy="457200"/>
        </p:xfrm>
        <a:graphic>
          <a:graphicData uri="http://schemas.openxmlformats.org/drawingml/2006/table">
            <a:tbl>
              <a:tblPr firstRow="1" bandRow="1"/>
              <a:tblGrid>
                <a:gridCol w="93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16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B23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BAD2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350960"/>
              </p:ext>
            </p:extLst>
          </p:nvPr>
        </p:nvGraphicFramePr>
        <p:xfrm>
          <a:off x="1095356" y="3174713"/>
          <a:ext cx="7463512" cy="457200"/>
        </p:xfrm>
        <a:graphic>
          <a:graphicData uri="http://schemas.openxmlformats.org/drawingml/2006/table">
            <a:tbl>
              <a:tblPr firstRow="1" bandRow="1"/>
              <a:tblGrid>
                <a:gridCol w="932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9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3688"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tc>
                  <a:txBody>
                    <a:bodyPr/>
                    <a:lstStyle>
                      <a:lvl1pPr marL="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1pPr>
                      <a:lvl2pPr marL="60957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2pPr>
                      <a:lvl3pPr marL="1219140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3pPr>
                      <a:lvl4pPr marL="1828709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4pPr>
                      <a:lvl5pPr marL="243827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5pPr>
                      <a:lvl6pPr marL="304784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6pPr>
                      <a:lvl7pPr marL="3657418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7pPr>
                      <a:lvl8pPr marL="426698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8pPr>
                      <a:lvl9pPr marL="4876557" algn="l" defTabSz="121914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Corbel"/>
                        </a:defRPr>
                      </a:lvl9pPr>
                    </a:lstStyle>
                    <a:p>
                      <a:r>
                        <a:rPr lang="en-US" dirty="0" smtClean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</a:t>
                      </a:r>
                      <a:endParaRPr lang="en-US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Right Brace 43"/>
          <p:cNvSpPr/>
          <p:nvPr/>
        </p:nvSpPr>
        <p:spPr>
          <a:xfrm>
            <a:off x="8451273" y="1108364"/>
            <a:ext cx="1191491" cy="53894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9642764" y="3618407"/>
            <a:ext cx="23829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spc="-1" dirty="0" smtClean="0">
                <a:solidFill>
                  <a:srgbClr val="0070C0"/>
                </a:solidFill>
                <a:latin typeface="Trebuchet MS" panose="020B0603020202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Pass 3(Continues ..)</a:t>
            </a:r>
            <a:endParaRPr lang="en-IN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57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12618" y="939225"/>
            <a:ext cx="1137458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rebuchet MS" panose="020B0603020202020204" pitchFamily="34" charset="0"/>
              </a:rPr>
              <a:t>Time </a:t>
            </a:r>
            <a:r>
              <a:rPr lang="en-US" sz="2400" b="1" dirty="0" smtClean="0">
                <a:latin typeface="Trebuchet MS" panose="020B0603020202020204" pitchFamily="34" charset="0"/>
              </a:rPr>
              <a:t>Complexity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The time complexity of Shell sort is heavily dependent on the choice of the gap sequence.</a:t>
            </a:r>
          </a:p>
          <a:p>
            <a:pPr marL="803275" indent="-4429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Best Case: </a:t>
            </a:r>
            <a:r>
              <a:rPr lang="en-US" sz="2400" dirty="0" smtClean="0">
                <a:latin typeface="Trebuchet MS" panose="020B0603020202020204" pitchFamily="34" charset="0"/>
              </a:rPr>
              <a:t>When the array is already sorted, the best-case time complexity is </a:t>
            </a:r>
          </a:p>
          <a:p>
            <a:pPr marL="803275" indent="-4429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Average Case: </a:t>
            </a:r>
            <a:r>
              <a:rPr lang="en-US" sz="2400" dirty="0" smtClean="0">
                <a:latin typeface="Trebuchet MS" panose="020B0603020202020204" pitchFamily="34" charset="0"/>
              </a:rPr>
              <a:t>The average-case time complexity varies with the gap sequence, but it is generally considered to be            or better with optimal sequences.</a:t>
            </a:r>
          </a:p>
          <a:p>
            <a:pPr marL="803275" indent="-4429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Worst Case: </a:t>
            </a:r>
            <a:r>
              <a:rPr lang="en-US" sz="2400" dirty="0" smtClean="0">
                <a:latin typeface="Trebuchet MS" panose="020B0603020202020204" pitchFamily="34" charset="0"/>
              </a:rPr>
              <a:t>The worst-case time complexity is       , but this is rarely encountered with a good gap sequence.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1000" y="177225"/>
            <a:ext cx="36519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spc="-1" dirty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Shell </a:t>
            </a:r>
            <a:r>
              <a:rPr lang="en-IN" sz="3200" b="1" spc="-1" dirty="0" smtClean="0">
                <a:solidFill>
                  <a:prstClr val="black"/>
                </a:solidFill>
                <a:latin typeface="Corbel" panose="020B050302020402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sort  Analysis  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236" y="3317706"/>
            <a:ext cx="1330037" cy="38145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818" y="4364182"/>
            <a:ext cx="872837" cy="4156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5389419"/>
            <a:ext cx="540327" cy="55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1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16420" y="2921169"/>
            <a:ext cx="535915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 dirty="0">
                <a:solidFill>
                  <a:prstClr val="black"/>
                </a:solidFill>
              </a:rPr>
              <a:t>Binary Search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29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294E44-0A95-AFCD-4048-5111429A0B71}"/>
              </a:ext>
            </a:extLst>
          </p:cNvPr>
          <p:cNvSpPr txBox="1">
            <a:spLocks/>
          </p:cNvSpPr>
          <p:nvPr/>
        </p:nvSpPr>
        <p:spPr>
          <a:xfrm>
            <a:off x="393930" y="163773"/>
            <a:ext cx="7003157" cy="711200"/>
          </a:xfrm>
          <a:prstGeom prst="rect">
            <a:avLst/>
          </a:prstGeom>
        </p:spPr>
        <p:txBody>
          <a:bodyPr tIns="91440" bIns="91440" anchor="b">
            <a:normAutofit/>
          </a:bodyPr>
          <a:lstStyle>
            <a:defPPr>
              <a:defRPr/>
            </a:defPPr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Arial"/>
                <a:ea typeface="+mn-ea"/>
                <a:cs typeface="+mn-cs"/>
              </a:rPr>
              <a:t>Binary</a:t>
            </a:r>
            <a:r>
              <a:rPr lang="en-US" sz="3200" b="1" dirty="0">
                <a:latin typeface="Arial"/>
                <a:ea typeface="+mn-ea"/>
                <a:cs typeface="+mn-cs"/>
              </a:rPr>
              <a:t> Search - 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50709" y="1351508"/>
                <a:ext cx="10777184" cy="45243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Binary Search is an extremely well-known instance of </a:t>
                </a:r>
                <a:r>
                  <a:rPr lang="en-US" sz="2400" b="1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d</a:t>
                </a:r>
                <a:r>
                  <a:rPr lang="en-US" sz="2400" b="1" dirty="0">
                    <a:solidFill>
                      <a:srgbClr val="D60093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ivide-and-conquer</a:t>
                </a:r>
                <a:r>
                  <a:rPr lang="en-US" sz="2400" dirty="0">
                    <a:solidFill>
                      <a:srgbClr val="D60093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approach.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[1 . . . 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be an array of </a:t>
                </a:r>
                <a:r>
                  <a:rPr lang="en-US" sz="2400" b="1" dirty="0">
                    <a:solidFill>
                      <a:srgbClr val="D60093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increasing sorted order</a:t>
                </a:r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; that is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]≤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 whenever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.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be some number. The problem consists of </a:t>
                </a:r>
                <a:r>
                  <a:rPr lang="en-US" sz="2400" b="1" dirty="0" smtClean="0">
                    <a:solidFill>
                      <a:srgbClr val="D60093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finding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D60093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>
                    <a:solidFill>
                      <a:srgbClr val="D60093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in the array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if it is there.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is not in the array, then we want to find </a:t>
                </a:r>
                <a:r>
                  <a:rPr lang="en-US" sz="2400" b="1" dirty="0">
                    <a:solidFill>
                      <a:srgbClr val="D60093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the position </a:t>
                </a:r>
                <a:r>
                  <a:rPr lang="en-US" sz="2400" dirty="0">
                    <a:solidFill>
                      <a:prstClr val="black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where it might be inserted.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09" y="1351508"/>
                <a:ext cx="10777184" cy="4524315"/>
              </a:xfrm>
              <a:prstGeom prst="rect">
                <a:avLst/>
              </a:prstGeom>
              <a:blipFill>
                <a:blip r:embed="rId2"/>
                <a:stretch>
                  <a:fillRect l="-792" r="-566" b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25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7503" y="1100904"/>
            <a:ext cx="1158240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5986" lvl="0" indent="-431989" algn="just" defTabSz="1219140" fontAlgn="base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Compare the middle element of the search space with the key. </a:t>
            </a:r>
          </a:p>
          <a:p>
            <a:pPr marL="575986" lvl="0" indent="-431989" algn="just" defTabSz="1219140" fontAlgn="base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If the key is found at middle element, the process is terminated.</a:t>
            </a:r>
          </a:p>
          <a:p>
            <a:pPr marL="575986" lvl="0" indent="-431989" algn="just" defTabSz="1219140" fontAlgn="base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If the key is not found at middle element, choose which half will be used as the next search space.</a:t>
            </a:r>
          </a:p>
          <a:p>
            <a:pPr marL="914354" lvl="1" indent="-304784" algn="just" defTabSz="1219140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If the key is smaller than the middle element, then the left side is used for next search.</a:t>
            </a:r>
          </a:p>
          <a:p>
            <a:pPr marL="914354" lvl="1" indent="-304784" algn="just" defTabSz="1219140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If the key is larger than the middle element, then the right side is used for next search.</a:t>
            </a:r>
          </a:p>
          <a:p>
            <a:pPr marL="575986" lvl="0" indent="-431989" algn="just" defTabSz="1219140" fontAlgn="base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This process is continued until the key is found or the total search space is exhausted.</a:t>
            </a:r>
            <a:endParaRPr lang="en-US" sz="2400" dirty="0">
              <a:solidFill>
                <a:prstClr val="black"/>
              </a:solidFill>
              <a:latin typeface="Trebuchet MS" panose="020B0603020202020204" pitchFamily="34" charset="0"/>
              <a:ea typeface="Cambria" panose="020405030504060302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294E44-0A95-AFCD-4048-5111429A0B71}"/>
              </a:ext>
            </a:extLst>
          </p:cNvPr>
          <p:cNvSpPr txBox="1">
            <a:spLocks/>
          </p:cNvSpPr>
          <p:nvPr/>
        </p:nvSpPr>
        <p:spPr>
          <a:xfrm>
            <a:off x="393930" y="163773"/>
            <a:ext cx="7003157" cy="711200"/>
          </a:xfrm>
          <a:prstGeom prst="rect">
            <a:avLst/>
          </a:prstGeom>
        </p:spPr>
        <p:txBody>
          <a:bodyPr tIns="91440" bIns="91440" anchor="b">
            <a:normAutofit/>
          </a:bodyPr>
          <a:lstStyle>
            <a:defPPr>
              <a:defRPr/>
            </a:defPPr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Arial"/>
                <a:ea typeface="+mn-ea"/>
                <a:cs typeface="+mn-cs"/>
              </a:rPr>
              <a:t>Binary</a:t>
            </a:r>
            <a:r>
              <a:rPr lang="en-US" sz="3200" b="1" dirty="0">
                <a:latin typeface="Arial"/>
                <a:ea typeface="+mn-ea"/>
                <a:cs typeface="+mn-cs"/>
              </a:rPr>
              <a:t> Search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75352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" name="Content Placeholder 3"/>
          <p:cNvGraphicFramePr/>
          <p:nvPr>
            <p:extLst>
              <p:ext uri="{D42A27DB-BD31-4B8C-83A1-F6EECF244321}">
                <p14:modId xmlns:p14="http://schemas.microsoft.com/office/powerpoint/2010/main" val="3811550643"/>
              </p:ext>
            </p:extLst>
          </p:nvPr>
        </p:nvGraphicFramePr>
        <p:xfrm>
          <a:off x="1545431" y="1875479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7" name="TextBox 4"/>
          <p:cNvSpPr txBox="1"/>
          <p:nvPr/>
        </p:nvSpPr>
        <p:spPr>
          <a:xfrm>
            <a:off x="1601480" y="2295173"/>
            <a:ext cx="582377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low</a:t>
            </a:r>
          </a:p>
        </p:txBody>
      </p:sp>
      <p:sp>
        <p:nvSpPr>
          <p:cNvPr id="328" name="TextBox 5"/>
          <p:cNvSpPr txBox="1"/>
          <p:nvPr/>
        </p:nvSpPr>
        <p:spPr>
          <a:xfrm>
            <a:off x="8278846" y="2295173"/>
            <a:ext cx="940542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high</a:t>
            </a:r>
          </a:p>
        </p:txBody>
      </p:sp>
      <p:sp>
        <p:nvSpPr>
          <p:cNvPr id="329" name="TextBox 6"/>
          <p:cNvSpPr txBox="1"/>
          <p:nvPr/>
        </p:nvSpPr>
        <p:spPr>
          <a:xfrm>
            <a:off x="1593405" y="3034908"/>
            <a:ext cx="1143760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Key</a:t>
            </a:r>
            <a:r>
              <a:rPr kumimoji="0" sz="2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= 59</a:t>
            </a:r>
          </a:p>
        </p:txBody>
      </p:sp>
      <p:graphicFrame>
        <p:nvGraphicFramePr>
          <p:cNvPr id="330" name="Table 7"/>
          <p:cNvGraphicFramePr/>
          <p:nvPr>
            <p:extLst>
              <p:ext uri="{D42A27DB-BD31-4B8C-83A1-F6EECF244321}">
                <p14:modId xmlns:p14="http://schemas.microsoft.com/office/powerpoint/2010/main" val="610035823"/>
              </p:ext>
            </p:extLst>
          </p:nvPr>
        </p:nvGraphicFramePr>
        <p:xfrm>
          <a:off x="2939121" y="2522370"/>
          <a:ext cx="2698812" cy="741680"/>
        </p:xfrm>
        <a:graphic>
          <a:graphicData uri="http://schemas.openxmlformats.org/drawingml/2006/table">
            <a:tbl>
              <a:tblPr firstRow="1" bandRow="1"/>
              <a:tblGrid>
                <a:gridCol w="89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solidFill>
                            <a:srgbClr val="FFFFFF"/>
                          </a:solidFill>
                        </a:rPr>
                        <a:t>mid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1" name="Table 8"/>
          <p:cNvGraphicFramePr/>
          <p:nvPr>
            <p:extLst>
              <p:ext uri="{D42A27DB-BD31-4B8C-83A1-F6EECF244321}">
                <p14:modId xmlns:p14="http://schemas.microsoft.com/office/powerpoint/2010/main" val="2668398495"/>
              </p:ext>
            </p:extLst>
          </p:nvPr>
        </p:nvGraphicFramePr>
        <p:xfrm>
          <a:off x="1545431" y="1279977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2" name="Table 9"/>
          <p:cNvGraphicFramePr/>
          <p:nvPr>
            <p:extLst>
              <p:ext uri="{D42A27DB-BD31-4B8C-83A1-F6EECF244321}">
                <p14:modId xmlns:p14="http://schemas.microsoft.com/office/powerpoint/2010/main" val="518590391"/>
              </p:ext>
            </p:extLst>
          </p:nvPr>
        </p:nvGraphicFramePr>
        <p:xfrm>
          <a:off x="1348590" y="4400460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3" name="Content Placeholder 3"/>
          <p:cNvGraphicFramePr/>
          <p:nvPr>
            <p:extLst>
              <p:ext uri="{D42A27DB-BD31-4B8C-83A1-F6EECF244321}">
                <p14:modId xmlns:p14="http://schemas.microsoft.com/office/powerpoint/2010/main" val="351629615"/>
              </p:ext>
            </p:extLst>
          </p:nvPr>
        </p:nvGraphicFramePr>
        <p:xfrm>
          <a:off x="1443907" y="4834916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4" name="TextBox 11"/>
          <p:cNvSpPr txBox="1"/>
          <p:nvPr/>
        </p:nvSpPr>
        <p:spPr>
          <a:xfrm>
            <a:off x="1371547" y="5401117"/>
            <a:ext cx="52112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low</a:t>
            </a:r>
          </a:p>
        </p:txBody>
      </p:sp>
      <p:sp>
        <p:nvSpPr>
          <p:cNvPr id="335" name="TextBox 13"/>
          <p:cNvSpPr txBox="1"/>
          <p:nvPr/>
        </p:nvSpPr>
        <p:spPr>
          <a:xfrm>
            <a:off x="8028200" y="5387830"/>
            <a:ext cx="581785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high</a:t>
            </a:r>
          </a:p>
        </p:txBody>
      </p:sp>
      <p:sp>
        <p:nvSpPr>
          <p:cNvPr id="336" name="TextBox 14"/>
          <p:cNvSpPr txBox="1"/>
          <p:nvPr/>
        </p:nvSpPr>
        <p:spPr>
          <a:xfrm>
            <a:off x="4288527" y="5370261"/>
            <a:ext cx="58178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mid</a:t>
            </a:r>
          </a:p>
        </p:txBody>
      </p:sp>
      <p:sp>
        <p:nvSpPr>
          <p:cNvPr id="337" name="TextBox 16"/>
          <p:cNvSpPr txBox="1"/>
          <p:nvPr/>
        </p:nvSpPr>
        <p:spPr>
          <a:xfrm>
            <a:off x="6963872" y="6266075"/>
            <a:ext cx="3292226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lvl="0" defTabSz="457200" hangingPunct="0">
              <a:defRPr/>
            </a:pPr>
            <a:r>
              <a:rPr lang="en-US" sz="2000" b="1" kern="0" dirty="0">
                <a:latin typeface="Trebuchet MS" panose="020B0603020202020204" pitchFamily="34" charset="0"/>
                <a:sym typeface="Corbel"/>
              </a:rPr>
              <a:t>Key </a:t>
            </a:r>
            <a:r>
              <a:rPr kumimoji="0" sz="2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= </a:t>
            </a:r>
            <a:r>
              <a:rPr kumimoji="0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59 a[mid]= a[4]= </a:t>
            </a:r>
            <a:r>
              <a:rPr kumimoji="0" sz="2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25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 panose="020B0603020202020204" pitchFamily="34" charset="0"/>
              <a:sym typeface="Corbel"/>
            </a:endParaRPr>
          </a:p>
        </p:txBody>
      </p:sp>
      <p:sp>
        <p:nvSpPr>
          <p:cNvPr id="338" name="TextBox 15"/>
          <p:cNvSpPr txBox="1"/>
          <p:nvPr/>
        </p:nvSpPr>
        <p:spPr>
          <a:xfrm>
            <a:off x="5830681" y="3325946"/>
            <a:ext cx="2779304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mid = low + high /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96D59-13F1-FF78-461C-8CB4CB3D7BD6}"/>
              </a:ext>
            </a:extLst>
          </p:cNvPr>
          <p:cNvSpPr txBox="1"/>
          <p:nvPr/>
        </p:nvSpPr>
        <p:spPr>
          <a:xfrm>
            <a:off x="238991" y="284684"/>
            <a:ext cx="6102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800" b="1" dirty="0">
                <a:latin typeface="Arial"/>
              </a:rPr>
              <a:t>Binary Search </a:t>
            </a:r>
            <a:r>
              <a:rPr lang="en-IN" sz="2800" b="1" dirty="0" smtClean="0">
                <a:latin typeface="Arial"/>
              </a:rPr>
              <a:t>– Example 1</a:t>
            </a:r>
            <a:endParaRPr lang="en-IN" sz="2800" b="1" dirty="0"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8991" y="1690480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smtClean="0">
                <a:solidFill>
                  <a:srgbClr val="0070C0"/>
                </a:solidFill>
              </a:rPr>
              <a:t>Step: 1</a:t>
            </a:r>
            <a:r>
              <a:rPr lang="en-IN" sz="2000" dirty="0" smtClean="0"/>
              <a:t> </a:t>
            </a:r>
            <a:endParaRPr lang="en-IN" sz="2000" dirty="0"/>
          </a:p>
        </p:txBody>
      </p:sp>
      <p:sp>
        <p:nvSpPr>
          <p:cNvPr id="3" name="Rectangle 2"/>
          <p:cNvSpPr/>
          <p:nvPr/>
        </p:nvSpPr>
        <p:spPr>
          <a:xfrm>
            <a:off x="238990" y="4771300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000" b="1" dirty="0">
                <a:solidFill>
                  <a:srgbClr val="0070C0"/>
                </a:solidFill>
              </a:rPr>
              <a:t>Step: </a:t>
            </a:r>
            <a:r>
              <a:rPr lang="en-IN" sz="2000" b="1" dirty="0" smtClean="0">
                <a:solidFill>
                  <a:srgbClr val="0070C0"/>
                </a:solidFill>
              </a:rPr>
              <a:t>2</a:t>
            </a:r>
            <a:r>
              <a:rPr lang="en-IN" sz="2000" dirty="0" smtClean="0">
                <a:solidFill>
                  <a:prstClr val="black"/>
                </a:solidFill>
              </a:rPr>
              <a:t> </a:t>
            </a:r>
            <a:endParaRPr lang="en-IN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2477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1" name="Content Placeholder 3"/>
          <p:cNvGraphicFramePr/>
          <p:nvPr>
            <p:extLst>
              <p:ext uri="{D42A27DB-BD31-4B8C-83A1-F6EECF244321}">
                <p14:modId xmlns:p14="http://schemas.microsoft.com/office/powerpoint/2010/main" val="1331628561"/>
              </p:ext>
            </p:extLst>
          </p:nvPr>
        </p:nvGraphicFramePr>
        <p:xfrm>
          <a:off x="2109395" y="1576827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2" name="TextBox 4"/>
          <p:cNvSpPr txBox="1"/>
          <p:nvPr/>
        </p:nvSpPr>
        <p:spPr>
          <a:xfrm>
            <a:off x="5923762" y="1982734"/>
            <a:ext cx="52112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low</a:t>
            </a:r>
          </a:p>
        </p:txBody>
      </p:sp>
      <p:sp>
        <p:nvSpPr>
          <p:cNvPr id="343" name="TextBox 5"/>
          <p:cNvSpPr txBox="1"/>
          <p:nvPr/>
        </p:nvSpPr>
        <p:spPr>
          <a:xfrm>
            <a:off x="8728736" y="1982734"/>
            <a:ext cx="58178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high</a:t>
            </a:r>
          </a:p>
        </p:txBody>
      </p:sp>
      <p:sp>
        <p:nvSpPr>
          <p:cNvPr id="344" name="TextBox 6"/>
          <p:cNvSpPr txBox="1"/>
          <p:nvPr/>
        </p:nvSpPr>
        <p:spPr>
          <a:xfrm>
            <a:off x="2283996" y="2374088"/>
            <a:ext cx="1619744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Key </a:t>
            </a:r>
            <a:r>
              <a:rPr kumimoji="0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=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59</a:t>
            </a:r>
          </a:p>
        </p:txBody>
      </p:sp>
      <p:graphicFrame>
        <p:nvGraphicFramePr>
          <p:cNvPr id="345" name="Table 7"/>
          <p:cNvGraphicFramePr/>
          <p:nvPr>
            <p:extLst>
              <p:ext uri="{D42A27DB-BD31-4B8C-83A1-F6EECF244321}">
                <p14:modId xmlns:p14="http://schemas.microsoft.com/office/powerpoint/2010/main" val="3340577693"/>
              </p:ext>
            </p:extLst>
          </p:nvPr>
        </p:nvGraphicFramePr>
        <p:xfrm>
          <a:off x="9019628" y="2494335"/>
          <a:ext cx="2698812" cy="1483360"/>
        </p:xfrm>
        <a:graphic>
          <a:graphicData uri="http://schemas.openxmlformats.org/drawingml/2006/table">
            <a:tbl>
              <a:tblPr firstRow="1" bandRow="1"/>
              <a:tblGrid>
                <a:gridCol w="89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mid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 dirty="0"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 dirty="0"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 dirty="0"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6" name="Table 8"/>
          <p:cNvGraphicFramePr/>
          <p:nvPr>
            <p:extLst>
              <p:ext uri="{D42A27DB-BD31-4B8C-83A1-F6EECF244321}">
                <p14:modId xmlns:p14="http://schemas.microsoft.com/office/powerpoint/2010/main" val="1355651656"/>
              </p:ext>
            </p:extLst>
          </p:nvPr>
        </p:nvGraphicFramePr>
        <p:xfrm>
          <a:off x="2049177" y="1243481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7" name="Table 9"/>
          <p:cNvGraphicFramePr/>
          <p:nvPr>
            <p:extLst>
              <p:ext uri="{D42A27DB-BD31-4B8C-83A1-F6EECF244321}">
                <p14:modId xmlns:p14="http://schemas.microsoft.com/office/powerpoint/2010/main" val="438583625"/>
              </p:ext>
            </p:extLst>
          </p:nvPr>
        </p:nvGraphicFramePr>
        <p:xfrm>
          <a:off x="2049177" y="4524364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8" name="Content Placeholder 3"/>
          <p:cNvGraphicFramePr/>
          <p:nvPr>
            <p:extLst>
              <p:ext uri="{D42A27DB-BD31-4B8C-83A1-F6EECF244321}">
                <p14:modId xmlns:p14="http://schemas.microsoft.com/office/powerpoint/2010/main" val="562691125"/>
              </p:ext>
            </p:extLst>
          </p:nvPr>
        </p:nvGraphicFramePr>
        <p:xfrm>
          <a:off x="2049177" y="4928732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9" name="TextBox 11"/>
          <p:cNvSpPr txBox="1"/>
          <p:nvPr/>
        </p:nvSpPr>
        <p:spPr>
          <a:xfrm>
            <a:off x="5781350" y="5299128"/>
            <a:ext cx="52112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low</a:t>
            </a:r>
          </a:p>
        </p:txBody>
      </p:sp>
      <p:sp>
        <p:nvSpPr>
          <p:cNvPr id="350" name="TextBox 13"/>
          <p:cNvSpPr txBox="1"/>
          <p:nvPr/>
        </p:nvSpPr>
        <p:spPr>
          <a:xfrm>
            <a:off x="8728736" y="5299128"/>
            <a:ext cx="58178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high</a:t>
            </a:r>
          </a:p>
        </p:txBody>
      </p:sp>
      <p:sp>
        <p:nvSpPr>
          <p:cNvPr id="351" name="TextBox 14"/>
          <p:cNvSpPr txBox="1"/>
          <p:nvPr/>
        </p:nvSpPr>
        <p:spPr>
          <a:xfrm>
            <a:off x="7224712" y="5299128"/>
            <a:ext cx="58178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mid</a:t>
            </a:r>
          </a:p>
        </p:txBody>
      </p:sp>
      <p:sp>
        <p:nvSpPr>
          <p:cNvPr id="352" name="TextBox 16"/>
          <p:cNvSpPr txBox="1"/>
          <p:nvPr/>
        </p:nvSpPr>
        <p:spPr>
          <a:xfrm>
            <a:off x="6302471" y="6148157"/>
            <a:ext cx="317238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Key</a:t>
            </a:r>
            <a:r>
              <a:rPr kumimoji="0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= 59 a[mid]= a[7]= </a:t>
            </a:r>
            <a:r>
              <a:rPr kumimoji="0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63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sym typeface="Corbe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41E62A-3FF2-F542-FC09-D1A778024F5E}"/>
              </a:ext>
            </a:extLst>
          </p:cNvPr>
          <p:cNvSpPr txBox="1"/>
          <p:nvPr/>
        </p:nvSpPr>
        <p:spPr>
          <a:xfrm>
            <a:off x="335972" y="233103"/>
            <a:ext cx="4734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2800" b="1" dirty="0">
                <a:latin typeface="Arial"/>
              </a:rPr>
              <a:t>Binary Search </a:t>
            </a:r>
            <a:r>
              <a:rPr lang="en-IN" sz="2800" b="1" dirty="0" smtClean="0">
                <a:latin typeface="Arial"/>
              </a:rPr>
              <a:t>– Example 1</a:t>
            </a:r>
            <a:endParaRPr lang="en-IN" sz="2800" b="1" dirty="0">
              <a:latin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72" y="1492250"/>
            <a:ext cx="1547746" cy="490484"/>
          </a:xfrm>
        </p:spPr>
        <p:txBody>
          <a:bodyPr/>
          <a:lstStyle/>
          <a:p>
            <a:r>
              <a:rPr lang="en-US" sz="2000" b="1" dirty="0" smtClean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Step : </a:t>
            </a:r>
            <a:r>
              <a:rPr lang="en-US" sz="2000" b="1" dirty="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3</a:t>
            </a:r>
            <a:endParaRPr lang="en-IN" sz="2000" b="1" dirty="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1615" y="4895204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7372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itle 1"/>
          <p:cNvSpPr txBox="1">
            <a:spLocks noGrp="1"/>
          </p:cNvSpPr>
          <p:nvPr>
            <p:ph type="title"/>
          </p:nvPr>
        </p:nvSpPr>
        <p:spPr>
          <a:xfrm>
            <a:off x="277091" y="161214"/>
            <a:ext cx="4608808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pc="-100"/>
            </a:lvl1pPr>
          </a:lstStyle>
          <a:p>
            <a:pPr defTabSz="914400"/>
            <a:r>
              <a:rPr sz="2800" b="1" dirty="0">
                <a:latin typeface="Arial"/>
                <a:ea typeface="+mn-ea"/>
                <a:cs typeface="+mn-cs"/>
              </a:rPr>
              <a:t>Binary Search </a:t>
            </a:r>
            <a:r>
              <a:rPr lang="en-US" sz="2800" b="1" dirty="0" smtClean="0">
                <a:latin typeface="Arial"/>
                <a:ea typeface="+mn-ea"/>
                <a:cs typeface="+mn-cs"/>
              </a:rPr>
              <a:t>- </a:t>
            </a:r>
            <a:r>
              <a:rPr sz="2800" b="1" dirty="0" smtClean="0">
                <a:latin typeface="Arial"/>
                <a:ea typeface="+mn-ea"/>
                <a:cs typeface="+mn-cs"/>
              </a:rPr>
              <a:t>Example</a:t>
            </a:r>
            <a:r>
              <a:rPr lang="en-US" sz="2800" b="1" dirty="0" smtClean="0">
                <a:latin typeface="Arial"/>
                <a:ea typeface="+mn-ea"/>
                <a:cs typeface="+mn-cs"/>
              </a:rPr>
              <a:t> 1</a:t>
            </a:r>
            <a:endParaRPr sz="2800" b="1" dirty="0">
              <a:latin typeface="Arial"/>
              <a:ea typeface="+mn-ea"/>
              <a:cs typeface="+mn-cs"/>
            </a:endParaRPr>
          </a:p>
        </p:txBody>
      </p:sp>
      <p:graphicFrame>
        <p:nvGraphicFramePr>
          <p:cNvPr id="355" name="Content Placeholder 3"/>
          <p:cNvGraphicFramePr/>
          <p:nvPr>
            <p:extLst>
              <p:ext uri="{D42A27DB-BD31-4B8C-83A1-F6EECF244321}">
                <p14:modId xmlns:p14="http://schemas.microsoft.com/office/powerpoint/2010/main" val="1872247169"/>
              </p:ext>
            </p:extLst>
          </p:nvPr>
        </p:nvGraphicFramePr>
        <p:xfrm>
          <a:off x="1792478" y="1612652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6" name="TextBox 4"/>
          <p:cNvSpPr txBox="1"/>
          <p:nvPr/>
        </p:nvSpPr>
        <p:spPr>
          <a:xfrm>
            <a:off x="5606845" y="2018559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low</a:t>
            </a:r>
          </a:p>
        </p:txBody>
      </p:sp>
      <p:sp>
        <p:nvSpPr>
          <p:cNvPr id="357" name="TextBox 5"/>
          <p:cNvSpPr txBox="1"/>
          <p:nvPr/>
        </p:nvSpPr>
        <p:spPr>
          <a:xfrm>
            <a:off x="6219404" y="2046788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high</a:t>
            </a:r>
          </a:p>
        </p:txBody>
      </p:sp>
      <p:sp>
        <p:nvSpPr>
          <p:cNvPr id="358" name="TextBox 6"/>
          <p:cNvSpPr txBox="1"/>
          <p:nvPr/>
        </p:nvSpPr>
        <p:spPr>
          <a:xfrm>
            <a:off x="1836358" y="2593235"/>
            <a:ext cx="76854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Key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= 59</a:t>
            </a:r>
          </a:p>
        </p:txBody>
      </p:sp>
      <p:graphicFrame>
        <p:nvGraphicFramePr>
          <p:cNvPr id="359" name="Table 7"/>
          <p:cNvGraphicFramePr/>
          <p:nvPr>
            <p:extLst>
              <p:ext uri="{D42A27DB-BD31-4B8C-83A1-F6EECF244321}">
                <p14:modId xmlns:p14="http://schemas.microsoft.com/office/powerpoint/2010/main" val="3730655189"/>
              </p:ext>
            </p:extLst>
          </p:nvPr>
        </p:nvGraphicFramePr>
        <p:xfrm>
          <a:off x="3264331" y="2637830"/>
          <a:ext cx="2698812" cy="1483360"/>
        </p:xfrm>
        <a:graphic>
          <a:graphicData uri="http://schemas.openxmlformats.org/drawingml/2006/table">
            <a:tbl>
              <a:tblPr firstRow="1" bandRow="1"/>
              <a:tblGrid>
                <a:gridCol w="89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mid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60" name="Table 8"/>
          <p:cNvGraphicFramePr/>
          <p:nvPr>
            <p:extLst>
              <p:ext uri="{D42A27DB-BD31-4B8C-83A1-F6EECF244321}">
                <p14:modId xmlns:p14="http://schemas.microsoft.com/office/powerpoint/2010/main" val="3183676467"/>
              </p:ext>
            </p:extLst>
          </p:nvPr>
        </p:nvGraphicFramePr>
        <p:xfrm>
          <a:off x="1732260" y="1279306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1" name="Table 9"/>
          <p:cNvGraphicFramePr/>
          <p:nvPr>
            <p:extLst>
              <p:ext uri="{D42A27DB-BD31-4B8C-83A1-F6EECF244321}">
                <p14:modId xmlns:p14="http://schemas.microsoft.com/office/powerpoint/2010/main" val="3295032245"/>
              </p:ext>
            </p:extLst>
          </p:nvPr>
        </p:nvGraphicFramePr>
        <p:xfrm>
          <a:off x="1864905" y="4410993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2" name="Content Placeholder 3"/>
          <p:cNvGraphicFramePr/>
          <p:nvPr>
            <p:extLst>
              <p:ext uri="{D42A27DB-BD31-4B8C-83A1-F6EECF244321}">
                <p14:modId xmlns:p14="http://schemas.microsoft.com/office/powerpoint/2010/main" val="3922753145"/>
              </p:ext>
            </p:extLst>
          </p:nvPr>
        </p:nvGraphicFramePr>
        <p:xfrm>
          <a:off x="1864905" y="4815361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3" name="TextBox 11"/>
          <p:cNvSpPr txBox="1"/>
          <p:nvPr/>
        </p:nvSpPr>
        <p:spPr>
          <a:xfrm>
            <a:off x="5597078" y="5185757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low</a:t>
            </a:r>
          </a:p>
        </p:txBody>
      </p:sp>
      <p:sp>
        <p:nvSpPr>
          <p:cNvPr id="364" name="TextBox 13"/>
          <p:cNvSpPr txBox="1"/>
          <p:nvPr/>
        </p:nvSpPr>
        <p:spPr>
          <a:xfrm>
            <a:off x="6352049" y="5210340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high</a:t>
            </a:r>
          </a:p>
        </p:txBody>
      </p:sp>
      <p:sp>
        <p:nvSpPr>
          <p:cNvPr id="365" name="TextBox 14"/>
          <p:cNvSpPr txBox="1"/>
          <p:nvPr/>
        </p:nvSpPr>
        <p:spPr>
          <a:xfrm>
            <a:off x="5597078" y="5370422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mid</a:t>
            </a:r>
          </a:p>
        </p:txBody>
      </p:sp>
      <p:sp>
        <p:nvSpPr>
          <p:cNvPr id="366" name="TextBox 16"/>
          <p:cNvSpPr txBox="1"/>
          <p:nvPr/>
        </p:nvSpPr>
        <p:spPr>
          <a:xfrm>
            <a:off x="7514684" y="5614422"/>
            <a:ext cx="3289303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Key 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= 59 a[mid]= a[5]= 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45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/>
              <a:sym typeface="Corbe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7234" y="1583382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5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28524" y="4781833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2259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itle 1"/>
          <p:cNvSpPr txBox="1">
            <a:spLocks noGrp="1"/>
          </p:cNvSpPr>
          <p:nvPr>
            <p:ph type="title"/>
          </p:nvPr>
        </p:nvSpPr>
        <p:spPr>
          <a:xfrm>
            <a:off x="252919" y="235310"/>
            <a:ext cx="5029293" cy="572464"/>
          </a:xfrm>
          <a:prstGeom prst="rect">
            <a:avLst/>
          </a:prstGeom>
          <a:noFill/>
        </p:spPr>
        <p:txBody>
          <a:bodyPr wrap="square" tIns="91440" bIns="91440" anchor="b">
            <a:spAutoFit/>
          </a:bodyPr>
          <a:lstStyle>
            <a:lvl1pPr>
              <a:defRPr spc="-100"/>
            </a:lvl1pPr>
          </a:lstStyle>
          <a:p>
            <a:pPr defTabSz="914400"/>
            <a:r>
              <a:rPr sz="2800" b="1" dirty="0">
                <a:latin typeface="Arial"/>
                <a:ea typeface="+mn-ea"/>
                <a:cs typeface="+mn-cs"/>
              </a:rPr>
              <a:t>Binary </a:t>
            </a:r>
            <a:r>
              <a:rPr sz="2800" b="1" dirty="0" smtClean="0">
                <a:latin typeface="Arial"/>
                <a:ea typeface="+mn-ea"/>
                <a:cs typeface="+mn-cs"/>
              </a:rPr>
              <a:t>Search</a:t>
            </a:r>
            <a:r>
              <a:rPr lang="en-US" sz="2800" b="1" dirty="0" smtClean="0">
                <a:latin typeface="Arial"/>
                <a:ea typeface="+mn-ea"/>
                <a:cs typeface="+mn-cs"/>
              </a:rPr>
              <a:t> –</a:t>
            </a:r>
            <a:r>
              <a:rPr sz="2800" b="1" dirty="0" smtClean="0">
                <a:latin typeface="Arial"/>
                <a:ea typeface="+mn-ea"/>
                <a:cs typeface="+mn-cs"/>
              </a:rPr>
              <a:t> Example</a:t>
            </a:r>
            <a:r>
              <a:rPr lang="en-US" sz="2800" b="1" dirty="0" smtClean="0">
                <a:latin typeface="Arial"/>
                <a:ea typeface="+mn-ea"/>
                <a:cs typeface="+mn-cs"/>
              </a:rPr>
              <a:t> 1</a:t>
            </a:r>
            <a:endParaRPr sz="2800" b="1" dirty="0">
              <a:latin typeface="Arial"/>
              <a:ea typeface="+mn-ea"/>
              <a:cs typeface="+mn-cs"/>
            </a:endParaRPr>
          </a:p>
        </p:txBody>
      </p:sp>
      <p:graphicFrame>
        <p:nvGraphicFramePr>
          <p:cNvPr id="369" name="Content Placeholder 3"/>
          <p:cNvGraphicFramePr/>
          <p:nvPr>
            <p:extLst>
              <p:ext uri="{D42A27DB-BD31-4B8C-83A1-F6EECF244321}">
                <p14:modId xmlns:p14="http://schemas.microsoft.com/office/powerpoint/2010/main" val="1536300497"/>
              </p:ext>
            </p:extLst>
          </p:nvPr>
        </p:nvGraphicFramePr>
        <p:xfrm>
          <a:off x="1854175" y="1639496"/>
          <a:ext cx="7315200" cy="38748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7482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0" name="TextBox 4"/>
          <p:cNvSpPr txBox="1"/>
          <p:nvPr/>
        </p:nvSpPr>
        <p:spPr>
          <a:xfrm>
            <a:off x="6492239" y="1957270"/>
            <a:ext cx="52112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low</a:t>
            </a:r>
          </a:p>
        </p:txBody>
      </p:sp>
      <p:sp>
        <p:nvSpPr>
          <p:cNvPr id="371" name="TextBox 5"/>
          <p:cNvSpPr txBox="1"/>
          <p:nvPr/>
        </p:nvSpPr>
        <p:spPr>
          <a:xfrm>
            <a:off x="6461906" y="2170166"/>
            <a:ext cx="58178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high</a:t>
            </a:r>
          </a:p>
        </p:txBody>
      </p:sp>
      <p:sp>
        <p:nvSpPr>
          <p:cNvPr id="372" name="TextBox 6"/>
          <p:cNvSpPr txBox="1"/>
          <p:nvPr/>
        </p:nvSpPr>
        <p:spPr>
          <a:xfrm>
            <a:off x="1914393" y="2475580"/>
            <a:ext cx="1147252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Key</a:t>
            </a:r>
            <a:r>
              <a:rPr kumimoji="0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=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59</a:t>
            </a:r>
          </a:p>
        </p:txBody>
      </p:sp>
      <p:graphicFrame>
        <p:nvGraphicFramePr>
          <p:cNvPr id="373" name="Table 7"/>
          <p:cNvGraphicFramePr/>
          <p:nvPr>
            <p:extLst>
              <p:ext uri="{D42A27DB-BD31-4B8C-83A1-F6EECF244321}">
                <p14:modId xmlns:p14="http://schemas.microsoft.com/office/powerpoint/2010/main" val="1538115816"/>
              </p:ext>
            </p:extLst>
          </p:nvPr>
        </p:nvGraphicFramePr>
        <p:xfrm>
          <a:off x="3441529" y="2474003"/>
          <a:ext cx="2698812" cy="1937410"/>
        </p:xfrm>
        <a:graphic>
          <a:graphicData uri="http://schemas.openxmlformats.org/drawingml/2006/table">
            <a:tbl>
              <a:tblPr firstRow="1" bandRow="1"/>
              <a:tblGrid>
                <a:gridCol w="89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482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mid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482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482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482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482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74" name="Table 8"/>
          <p:cNvGraphicFramePr/>
          <p:nvPr>
            <p:extLst>
              <p:ext uri="{D42A27DB-BD31-4B8C-83A1-F6EECF244321}">
                <p14:modId xmlns:p14="http://schemas.microsoft.com/office/powerpoint/2010/main" val="3344808067"/>
              </p:ext>
            </p:extLst>
          </p:nvPr>
        </p:nvGraphicFramePr>
        <p:xfrm>
          <a:off x="1854175" y="1209696"/>
          <a:ext cx="7483880" cy="387482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7482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5" name="Table 9"/>
          <p:cNvGraphicFramePr/>
          <p:nvPr>
            <p:extLst>
              <p:ext uri="{D42A27DB-BD31-4B8C-83A1-F6EECF244321}">
                <p14:modId xmlns:p14="http://schemas.microsoft.com/office/powerpoint/2010/main" val="62119546"/>
              </p:ext>
            </p:extLst>
          </p:nvPr>
        </p:nvGraphicFramePr>
        <p:xfrm>
          <a:off x="1868010" y="4810340"/>
          <a:ext cx="7483880" cy="387482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7482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6" name="Content Placeholder 3"/>
          <p:cNvGraphicFramePr/>
          <p:nvPr>
            <p:extLst>
              <p:ext uri="{D42A27DB-BD31-4B8C-83A1-F6EECF244321}">
                <p14:modId xmlns:p14="http://schemas.microsoft.com/office/powerpoint/2010/main" val="198521316"/>
              </p:ext>
            </p:extLst>
          </p:nvPr>
        </p:nvGraphicFramePr>
        <p:xfrm>
          <a:off x="1868010" y="5214708"/>
          <a:ext cx="7315200" cy="38748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7482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rebuchet MS" panose="020B0603020202020204" pitchFamily="34" charset="0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7" name="TextBox 11"/>
          <p:cNvSpPr txBox="1"/>
          <p:nvPr/>
        </p:nvSpPr>
        <p:spPr>
          <a:xfrm>
            <a:off x="6385486" y="6084021"/>
            <a:ext cx="52112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low</a:t>
            </a:r>
          </a:p>
        </p:txBody>
      </p:sp>
      <p:sp>
        <p:nvSpPr>
          <p:cNvPr id="378" name="TextBox 13"/>
          <p:cNvSpPr txBox="1"/>
          <p:nvPr/>
        </p:nvSpPr>
        <p:spPr>
          <a:xfrm>
            <a:off x="6355154" y="5618008"/>
            <a:ext cx="58178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high</a:t>
            </a:r>
          </a:p>
        </p:txBody>
      </p:sp>
      <p:sp>
        <p:nvSpPr>
          <p:cNvPr id="379" name="TextBox 14"/>
          <p:cNvSpPr txBox="1"/>
          <p:nvPr/>
        </p:nvSpPr>
        <p:spPr>
          <a:xfrm>
            <a:off x="6355154" y="5866075"/>
            <a:ext cx="58178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mid</a:t>
            </a:r>
          </a:p>
        </p:txBody>
      </p:sp>
      <p:sp>
        <p:nvSpPr>
          <p:cNvPr id="380" name="TextBox 16"/>
          <p:cNvSpPr txBox="1"/>
          <p:nvPr/>
        </p:nvSpPr>
        <p:spPr>
          <a:xfrm>
            <a:off x="8234513" y="6075108"/>
            <a:ext cx="3368136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Key</a:t>
            </a:r>
            <a:r>
              <a:rPr kumimoji="0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= 59 a[mid]= a[6]= </a:t>
            </a:r>
            <a:r>
              <a:rPr kumimoji="0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59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sym typeface="Corbe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2919" y="1597178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7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52919" y="5197822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36402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itle 1"/>
          <p:cNvSpPr txBox="1">
            <a:spLocks noGrp="1"/>
          </p:cNvSpPr>
          <p:nvPr>
            <p:ph type="title"/>
          </p:nvPr>
        </p:nvSpPr>
        <p:spPr>
          <a:xfrm>
            <a:off x="154534" y="256949"/>
            <a:ext cx="9065228" cy="751167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pc="-100"/>
            </a:pPr>
            <a:r>
              <a:rPr sz="2800" b="1" spc="-100" dirty="0">
                <a:latin typeface="Trebuchet MS" panose="020B0603020202020204" pitchFamily="34" charset="0"/>
                <a:ea typeface="+mn-ea"/>
                <a:cs typeface="+mn-cs"/>
              </a:rPr>
              <a:t>Binary Search </a:t>
            </a:r>
            <a:r>
              <a:rPr lang="en-US" sz="2800" b="1" spc="-100" dirty="0" smtClean="0">
                <a:latin typeface="Trebuchet MS" panose="020B0603020202020204" pitchFamily="34" charset="0"/>
                <a:ea typeface="+mn-ea"/>
                <a:cs typeface="+mn-cs"/>
              </a:rPr>
              <a:t>- </a:t>
            </a:r>
            <a:r>
              <a:rPr sz="2800" b="1" spc="-100" dirty="0" smtClean="0">
                <a:latin typeface="Trebuchet MS" panose="020B0603020202020204" pitchFamily="34" charset="0"/>
                <a:ea typeface="+mn-ea"/>
                <a:cs typeface="+mn-cs"/>
              </a:rPr>
              <a:t>Example</a:t>
            </a:r>
            <a:r>
              <a:rPr lang="en-US" sz="2800" b="1" spc="-100" dirty="0" smtClean="0">
                <a:latin typeface="Trebuchet MS" panose="020B0603020202020204" pitchFamily="34" charset="0"/>
                <a:ea typeface="+mn-ea"/>
                <a:cs typeface="+mn-cs"/>
              </a:rPr>
              <a:t> 2</a:t>
            </a:r>
            <a:r>
              <a:rPr sz="2800" b="1" spc="-100" dirty="0" smtClean="0">
                <a:latin typeface="Trebuchet MS" panose="020B0603020202020204" pitchFamily="34" charset="0"/>
                <a:ea typeface="+mn-ea"/>
                <a:cs typeface="+mn-cs"/>
              </a:rPr>
              <a:t>(if </a:t>
            </a:r>
            <a:r>
              <a:rPr sz="2800" b="1" spc="-100" dirty="0">
                <a:latin typeface="Trebuchet MS" panose="020B0603020202020204" pitchFamily="34" charset="0"/>
                <a:ea typeface="+mn-ea"/>
                <a:cs typeface="+mn-cs"/>
              </a:rPr>
              <a:t>data is not found</a:t>
            </a:r>
            <a:r>
              <a:rPr sz="2800" spc="-100" dirty="0" smtClean="0">
                <a:latin typeface="Trebuchet MS" panose="020B0603020202020204" pitchFamily="34" charset="0"/>
                <a:ea typeface="+mn-ea"/>
                <a:cs typeface="+mn-cs"/>
              </a:rPr>
              <a:t>)</a:t>
            </a:r>
            <a:endParaRPr sz="2800" b="1" spc="-100" dirty="0">
              <a:latin typeface="Trebuchet MS" panose="020B0603020202020204" pitchFamily="34" charset="0"/>
              <a:ea typeface="+mn-ea"/>
              <a:cs typeface="+mn-cs"/>
            </a:endParaRPr>
          </a:p>
        </p:txBody>
      </p:sp>
      <p:graphicFrame>
        <p:nvGraphicFramePr>
          <p:cNvPr id="383" name="Content Placeholder 3"/>
          <p:cNvGraphicFramePr/>
          <p:nvPr>
            <p:extLst>
              <p:ext uri="{D42A27DB-BD31-4B8C-83A1-F6EECF244321}">
                <p14:modId xmlns:p14="http://schemas.microsoft.com/office/powerpoint/2010/main" val="4169785558"/>
              </p:ext>
            </p:extLst>
          </p:nvPr>
        </p:nvGraphicFramePr>
        <p:xfrm>
          <a:off x="1586036" y="1331093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4" name="TextBox 4"/>
          <p:cNvSpPr txBox="1"/>
          <p:nvPr/>
        </p:nvSpPr>
        <p:spPr>
          <a:xfrm>
            <a:off x="1571538" y="1737000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low</a:t>
            </a:r>
          </a:p>
        </p:txBody>
      </p:sp>
      <p:sp>
        <p:nvSpPr>
          <p:cNvPr id="385" name="TextBox 5"/>
          <p:cNvSpPr txBox="1"/>
          <p:nvPr/>
        </p:nvSpPr>
        <p:spPr>
          <a:xfrm>
            <a:off x="8204638" y="1737000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high</a:t>
            </a:r>
          </a:p>
        </p:txBody>
      </p:sp>
      <p:sp>
        <p:nvSpPr>
          <p:cNvPr id="386" name="TextBox 6"/>
          <p:cNvSpPr txBox="1"/>
          <p:nvPr/>
        </p:nvSpPr>
        <p:spPr>
          <a:xfrm>
            <a:off x="1514242" y="2450690"/>
            <a:ext cx="1324437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Key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=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/>
                <a:cs typeface="Times New Roman"/>
                <a:sym typeface="Times New Roman"/>
              </a:rPr>
              <a:t>60</a:t>
            </a:r>
          </a:p>
        </p:txBody>
      </p:sp>
      <p:graphicFrame>
        <p:nvGraphicFramePr>
          <p:cNvPr id="387" name="Table 7"/>
          <p:cNvGraphicFramePr/>
          <p:nvPr>
            <p:extLst>
              <p:ext uri="{D42A27DB-BD31-4B8C-83A1-F6EECF244321}">
                <p14:modId xmlns:p14="http://schemas.microsoft.com/office/powerpoint/2010/main" val="3045815806"/>
              </p:ext>
            </p:extLst>
          </p:nvPr>
        </p:nvGraphicFramePr>
        <p:xfrm>
          <a:off x="3052251" y="2270591"/>
          <a:ext cx="2698812" cy="1854200"/>
        </p:xfrm>
        <a:graphic>
          <a:graphicData uri="http://schemas.openxmlformats.org/drawingml/2006/table">
            <a:tbl>
              <a:tblPr firstRow="1" bandRow="1"/>
              <a:tblGrid>
                <a:gridCol w="89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mid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 dirty="0"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88" name="Table 8"/>
          <p:cNvGraphicFramePr/>
          <p:nvPr>
            <p:extLst>
              <p:ext uri="{D42A27DB-BD31-4B8C-83A1-F6EECF244321}">
                <p14:modId xmlns:p14="http://schemas.microsoft.com/office/powerpoint/2010/main" val="2347080705"/>
              </p:ext>
            </p:extLst>
          </p:nvPr>
        </p:nvGraphicFramePr>
        <p:xfrm>
          <a:off x="1599871" y="919258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9" name="Table 9"/>
          <p:cNvGraphicFramePr/>
          <p:nvPr>
            <p:extLst>
              <p:ext uri="{D42A27DB-BD31-4B8C-83A1-F6EECF244321}">
                <p14:modId xmlns:p14="http://schemas.microsoft.com/office/powerpoint/2010/main" val="3581634538"/>
              </p:ext>
            </p:extLst>
          </p:nvPr>
        </p:nvGraphicFramePr>
        <p:xfrm>
          <a:off x="1599871" y="4429296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0" name="Content Placeholder 3"/>
          <p:cNvGraphicFramePr/>
          <p:nvPr>
            <p:extLst>
              <p:ext uri="{D42A27DB-BD31-4B8C-83A1-F6EECF244321}">
                <p14:modId xmlns:p14="http://schemas.microsoft.com/office/powerpoint/2010/main" val="655850412"/>
              </p:ext>
            </p:extLst>
          </p:nvPr>
        </p:nvGraphicFramePr>
        <p:xfrm>
          <a:off x="1599871" y="4833664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1" name="TextBox 11"/>
          <p:cNvSpPr txBox="1"/>
          <p:nvPr/>
        </p:nvSpPr>
        <p:spPr>
          <a:xfrm>
            <a:off x="1592326" y="5204060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low</a:t>
            </a:r>
          </a:p>
        </p:txBody>
      </p:sp>
      <p:sp>
        <p:nvSpPr>
          <p:cNvPr id="392" name="TextBox 13"/>
          <p:cNvSpPr txBox="1"/>
          <p:nvPr/>
        </p:nvSpPr>
        <p:spPr>
          <a:xfrm>
            <a:off x="8279430" y="5204060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high</a:t>
            </a:r>
          </a:p>
        </p:txBody>
      </p:sp>
      <p:sp>
        <p:nvSpPr>
          <p:cNvPr id="393" name="TextBox 14"/>
          <p:cNvSpPr txBox="1"/>
          <p:nvPr/>
        </p:nvSpPr>
        <p:spPr>
          <a:xfrm>
            <a:off x="4568933" y="5204060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mid</a:t>
            </a:r>
          </a:p>
        </p:txBody>
      </p:sp>
      <p:sp>
        <p:nvSpPr>
          <p:cNvPr id="394" name="TextBox 16"/>
          <p:cNvSpPr txBox="1"/>
          <p:nvPr/>
        </p:nvSpPr>
        <p:spPr>
          <a:xfrm>
            <a:off x="6291041" y="5946841"/>
            <a:ext cx="3274932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kumimoji="0" 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Times New Roman"/>
                <a:sym typeface="Times New Roman"/>
              </a:rPr>
              <a:t>Key</a:t>
            </a:r>
            <a:r>
              <a:rPr kumimoji="0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Times New Roman"/>
                <a:sym typeface="Times New Roman"/>
              </a:rPr>
              <a:t>= </a:t>
            </a:r>
            <a:r>
              <a:rPr kumimoji="0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Times New Roman"/>
                <a:sym typeface="Times New Roman"/>
              </a:rPr>
              <a:t>60 a[mid]= a[4]= </a:t>
            </a:r>
            <a:r>
              <a:rPr kumimoji="0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Times New Roman"/>
                <a:sym typeface="Times New Roman"/>
              </a:rPr>
              <a:t>25</a:t>
            </a:r>
            <a:endParaRPr kumimoji="0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cs typeface="Times New Roman"/>
              <a:sym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4534" y="1290098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1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61976" y="4833664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86976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7" name="Content Placeholder 3"/>
          <p:cNvGraphicFramePr/>
          <p:nvPr>
            <p:extLst>
              <p:ext uri="{D42A27DB-BD31-4B8C-83A1-F6EECF244321}">
                <p14:modId xmlns:p14="http://schemas.microsoft.com/office/powerpoint/2010/main" val="195787385"/>
              </p:ext>
            </p:extLst>
          </p:nvPr>
        </p:nvGraphicFramePr>
        <p:xfrm>
          <a:off x="1480172" y="1635304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8" name="TextBox 4"/>
          <p:cNvSpPr txBox="1"/>
          <p:nvPr/>
        </p:nvSpPr>
        <p:spPr>
          <a:xfrm>
            <a:off x="5222038" y="2057148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low</a:t>
            </a:r>
          </a:p>
        </p:txBody>
      </p:sp>
      <p:sp>
        <p:nvSpPr>
          <p:cNvPr id="399" name="TextBox 5"/>
          <p:cNvSpPr txBox="1"/>
          <p:nvPr/>
        </p:nvSpPr>
        <p:spPr>
          <a:xfrm>
            <a:off x="8098774" y="2041211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high</a:t>
            </a:r>
          </a:p>
        </p:txBody>
      </p:sp>
      <p:sp>
        <p:nvSpPr>
          <p:cNvPr id="400" name="TextBox 6"/>
          <p:cNvSpPr txBox="1"/>
          <p:nvPr/>
        </p:nvSpPr>
        <p:spPr>
          <a:xfrm>
            <a:off x="1579748" y="2626117"/>
            <a:ext cx="76854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Key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=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Times New Roman"/>
                <a:cs typeface="Times New Roman"/>
                <a:sym typeface="Times New Roman"/>
              </a:rPr>
              <a:t>60</a:t>
            </a:r>
          </a:p>
        </p:txBody>
      </p:sp>
      <p:graphicFrame>
        <p:nvGraphicFramePr>
          <p:cNvPr id="401" name="Table 7"/>
          <p:cNvGraphicFramePr/>
          <p:nvPr>
            <p:extLst>
              <p:ext uri="{D42A27DB-BD31-4B8C-83A1-F6EECF244321}">
                <p14:modId xmlns:p14="http://schemas.microsoft.com/office/powerpoint/2010/main" val="1017369454"/>
              </p:ext>
            </p:extLst>
          </p:nvPr>
        </p:nvGraphicFramePr>
        <p:xfrm>
          <a:off x="3007721" y="2670712"/>
          <a:ext cx="2698812" cy="1854200"/>
        </p:xfrm>
        <a:graphic>
          <a:graphicData uri="http://schemas.openxmlformats.org/drawingml/2006/table">
            <a:tbl>
              <a:tblPr firstRow="1" bandRow="1"/>
              <a:tblGrid>
                <a:gridCol w="89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mid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 dirty="0"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 dirty="0"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2" name="Table 8"/>
          <p:cNvGraphicFramePr/>
          <p:nvPr>
            <p:extLst>
              <p:ext uri="{D42A27DB-BD31-4B8C-83A1-F6EECF244321}">
                <p14:modId xmlns:p14="http://schemas.microsoft.com/office/powerpoint/2010/main" val="4008446467"/>
              </p:ext>
            </p:extLst>
          </p:nvPr>
        </p:nvGraphicFramePr>
        <p:xfrm>
          <a:off x="1480098" y="1250247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3" name="Table 9"/>
          <p:cNvGraphicFramePr/>
          <p:nvPr>
            <p:extLst>
              <p:ext uri="{D42A27DB-BD31-4B8C-83A1-F6EECF244321}">
                <p14:modId xmlns:p14="http://schemas.microsoft.com/office/powerpoint/2010/main" val="277642199"/>
              </p:ext>
            </p:extLst>
          </p:nvPr>
        </p:nvGraphicFramePr>
        <p:xfrm>
          <a:off x="1579748" y="4864730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4" name="Content Placeholder 3"/>
          <p:cNvGraphicFramePr/>
          <p:nvPr>
            <p:extLst>
              <p:ext uri="{D42A27DB-BD31-4B8C-83A1-F6EECF244321}">
                <p14:modId xmlns:p14="http://schemas.microsoft.com/office/powerpoint/2010/main" val="152175248"/>
              </p:ext>
            </p:extLst>
          </p:nvPr>
        </p:nvGraphicFramePr>
        <p:xfrm>
          <a:off x="1579748" y="5269098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5" name="TextBox 11"/>
          <p:cNvSpPr txBox="1"/>
          <p:nvPr/>
        </p:nvSpPr>
        <p:spPr>
          <a:xfrm>
            <a:off x="5346001" y="5717459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low</a:t>
            </a:r>
          </a:p>
        </p:txBody>
      </p:sp>
      <p:sp>
        <p:nvSpPr>
          <p:cNvPr id="406" name="TextBox 13"/>
          <p:cNvSpPr txBox="1"/>
          <p:nvPr/>
        </p:nvSpPr>
        <p:spPr>
          <a:xfrm>
            <a:off x="8304485" y="5673466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high</a:t>
            </a:r>
          </a:p>
        </p:txBody>
      </p:sp>
      <p:sp>
        <p:nvSpPr>
          <p:cNvPr id="407" name="TextBox 14"/>
          <p:cNvSpPr txBox="1"/>
          <p:nvPr/>
        </p:nvSpPr>
        <p:spPr>
          <a:xfrm>
            <a:off x="6866672" y="5761451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sym typeface="Corbel"/>
              </a:rPr>
              <a:t>mid</a:t>
            </a:r>
          </a:p>
        </p:txBody>
      </p:sp>
      <p:sp>
        <p:nvSpPr>
          <p:cNvPr id="408" name="TextBox 16"/>
          <p:cNvSpPr txBox="1"/>
          <p:nvPr/>
        </p:nvSpPr>
        <p:spPr>
          <a:xfrm>
            <a:off x="8389666" y="6153808"/>
            <a:ext cx="319063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kumimoji="0" lang="en-US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Times New Roman"/>
                <a:sym typeface="Times New Roman"/>
              </a:rPr>
              <a:t>Key</a:t>
            </a:r>
            <a:r>
              <a:rPr kumimoji="0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Times New Roman"/>
                <a:sym typeface="Times New Roman"/>
              </a:rPr>
              <a:t> </a:t>
            </a:r>
            <a:r>
              <a:rPr kumimoji="0" sz="1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Times New Roman"/>
                <a:sym typeface="Times New Roman"/>
              </a:rPr>
              <a:t>= 60 a[mid]= a[7]= </a:t>
            </a:r>
            <a:r>
              <a:rPr kumimoji="0" sz="18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cs typeface="Times New Roman"/>
                <a:sym typeface="Times New Roman"/>
              </a:rPr>
              <a:t>63</a:t>
            </a:r>
            <a:endParaRPr kumimoji="0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cs typeface="Times New Roman"/>
              <a:sym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F3A69-4D87-0DB1-8241-455C31FCEBD9}"/>
              </a:ext>
            </a:extLst>
          </p:cNvPr>
          <p:cNvSpPr txBox="1">
            <a:spLocks/>
          </p:cNvSpPr>
          <p:nvPr/>
        </p:nvSpPr>
        <p:spPr>
          <a:xfrm>
            <a:off x="297137" y="233441"/>
            <a:ext cx="8383422" cy="882519"/>
          </a:xfrm>
          <a:prstGeom prst="rect">
            <a:avLst/>
          </a:prstGeom>
        </p:spPr>
        <p:txBody>
          <a:bodyPr>
            <a:normAutofit/>
          </a:bodyPr>
          <a:lstStyle>
            <a:lvl1pPr defTabSz="1219140">
              <a:lnSpc>
                <a:spcPct val="90000"/>
              </a:lnSpc>
              <a:spcBef>
                <a:spcPct val="0"/>
              </a:spcBef>
              <a:buNone/>
              <a:defRPr sz="2800" b="1" spc="-100">
                <a:latin typeface="Trebuchet MS" panose="020B0603020202020204" pitchFamily="34" charset="0"/>
              </a:defRPr>
            </a:lvl1pPr>
          </a:lstStyle>
          <a:p>
            <a:r>
              <a:rPr lang="en-IN" dirty="0"/>
              <a:t>Binary Search Example 2-(if data is not found)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325" y="1657038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3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27832" y="4926435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0147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" name="Content Placeholder 3"/>
          <p:cNvGraphicFramePr/>
          <p:nvPr>
            <p:extLst>
              <p:ext uri="{D42A27DB-BD31-4B8C-83A1-F6EECF244321}">
                <p14:modId xmlns:p14="http://schemas.microsoft.com/office/powerpoint/2010/main" val="2751260505"/>
              </p:ext>
            </p:extLst>
          </p:nvPr>
        </p:nvGraphicFramePr>
        <p:xfrm>
          <a:off x="1710625" y="1317602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2" name="TextBox 4"/>
          <p:cNvSpPr txBox="1"/>
          <p:nvPr/>
        </p:nvSpPr>
        <p:spPr>
          <a:xfrm>
            <a:off x="5452491" y="1739446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low</a:t>
            </a:r>
          </a:p>
        </p:txBody>
      </p:sp>
      <p:sp>
        <p:nvSpPr>
          <p:cNvPr id="413" name="TextBox 5"/>
          <p:cNvSpPr txBox="1"/>
          <p:nvPr/>
        </p:nvSpPr>
        <p:spPr>
          <a:xfrm>
            <a:off x="6218929" y="1783440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high</a:t>
            </a:r>
          </a:p>
        </p:txBody>
      </p:sp>
      <p:sp>
        <p:nvSpPr>
          <p:cNvPr id="414" name="TextBox 6"/>
          <p:cNvSpPr txBox="1"/>
          <p:nvPr/>
        </p:nvSpPr>
        <p:spPr>
          <a:xfrm>
            <a:off x="1696127" y="2478111"/>
            <a:ext cx="76854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Key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=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</a:p>
        </p:txBody>
      </p:sp>
      <p:graphicFrame>
        <p:nvGraphicFramePr>
          <p:cNvPr id="415" name="Table 7"/>
          <p:cNvGraphicFramePr/>
          <p:nvPr>
            <p:extLst>
              <p:ext uri="{D42A27DB-BD31-4B8C-83A1-F6EECF244321}">
                <p14:modId xmlns:p14="http://schemas.microsoft.com/office/powerpoint/2010/main" val="2834348131"/>
              </p:ext>
            </p:extLst>
          </p:nvPr>
        </p:nvGraphicFramePr>
        <p:xfrm>
          <a:off x="3124100" y="2522706"/>
          <a:ext cx="2698812" cy="1854200"/>
        </p:xfrm>
        <a:graphic>
          <a:graphicData uri="http://schemas.openxmlformats.org/drawingml/2006/table">
            <a:tbl>
              <a:tblPr firstRow="1" bandRow="1"/>
              <a:tblGrid>
                <a:gridCol w="89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mid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6" name="Table 8"/>
          <p:cNvGraphicFramePr/>
          <p:nvPr>
            <p:extLst>
              <p:ext uri="{D42A27DB-BD31-4B8C-83A1-F6EECF244321}">
                <p14:modId xmlns:p14="http://schemas.microsoft.com/office/powerpoint/2010/main" val="3641891243"/>
              </p:ext>
            </p:extLst>
          </p:nvPr>
        </p:nvGraphicFramePr>
        <p:xfrm>
          <a:off x="1650407" y="984256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7" name="Table 9"/>
          <p:cNvGraphicFramePr/>
          <p:nvPr>
            <p:extLst>
              <p:ext uri="{D42A27DB-BD31-4B8C-83A1-F6EECF244321}">
                <p14:modId xmlns:p14="http://schemas.microsoft.com/office/powerpoint/2010/main" val="3330233927"/>
              </p:ext>
            </p:extLst>
          </p:nvPr>
        </p:nvGraphicFramePr>
        <p:xfrm>
          <a:off x="1541945" y="4757050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8" name="Content Placeholder 3"/>
          <p:cNvGraphicFramePr/>
          <p:nvPr>
            <p:extLst>
              <p:ext uri="{D42A27DB-BD31-4B8C-83A1-F6EECF244321}">
                <p14:modId xmlns:p14="http://schemas.microsoft.com/office/powerpoint/2010/main" val="1415569208"/>
              </p:ext>
            </p:extLst>
          </p:nvPr>
        </p:nvGraphicFramePr>
        <p:xfrm>
          <a:off x="1541945" y="5369896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" name="TextBox 11"/>
          <p:cNvSpPr txBox="1"/>
          <p:nvPr/>
        </p:nvSpPr>
        <p:spPr>
          <a:xfrm>
            <a:off x="5371482" y="5950364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low</a:t>
            </a:r>
          </a:p>
        </p:txBody>
      </p:sp>
      <p:sp>
        <p:nvSpPr>
          <p:cNvPr id="420" name="TextBox 13"/>
          <p:cNvSpPr txBox="1"/>
          <p:nvPr/>
        </p:nvSpPr>
        <p:spPr>
          <a:xfrm>
            <a:off x="6085396" y="5982743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high</a:t>
            </a:r>
          </a:p>
        </p:txBody>
      </p:sp>
      <p:sp>
        <p:nvSpPr>
          <p:cNvPr id="421" name="TextBox 14"/>
          <p:cNvSpPr txBox="1"/>
          <p:nvPr/>
        </p:nvSpPr>
        <p:spPr>
          <a:xfrm>
            <a:off x="5391828" y="6167409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mid</a:t>
            </a:r>
          </a:p>
        </p:txBody>
      </p:sp>
      <p:sp>
        <p:nvSpPr>
          <p:cNvPr id="422" name="TextBox 16"/>
          <p:cNvSpPr txBox="1"/>
          <p:nvPr/>
        </p:nvSpPr>
        <p:spPr>
          <a:xfrm>
            <a:off x="8424924" y="5970797"/>
            <a:ext cx="341089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Key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= 60 a[mid]= a[5]= 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45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3B66F-9C2D-508C-7FB1-588B5D74D879}"/>
              </a:ext>
            </a:extLst>
          </p:cNvPr>
          <p:cNvSpPr txBox="1">
            <a:spLocks/>
          </p:cNvSpPr>
          <p:nvPr/>
        </p:nvSpPr>
        <p:spPr>
          <a:xfrm>
            <a:off x="297136" y="0"/>
            <a:ext cx="8127787" cy="948269"/>
          </a:xfrm>
          <a:prstGeom prst="rect">
            <a:avLst/>
          </a:prstGeom>
        </p:spPr>
        <p:txBody>
          <a:bodyPr tIns="91440" bIns="91440" anchor="b">
            <a:no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pc="-100"/>
            </a:pPr>
            <a:r>
              <a:rPr lang="en-IN" sz="2800" b="1" spc="-100" dirty="0">
                <a:latin typeface="Trebuchet MS" panose="020B0603020202020204" pitchFamily="34" charset="0"/>
                <a:ea typeface="+mn-ea"/>
                <a:cs typeface="+mn-cs"/>
              </a:rPr>
              <a:t>Binary Search </a:t>
            </a:r>
            <a:r>
              <a:rPr lang="en-US" sz="2800" b="1" spc="-100" dirty="0">
                <a:latin typeface="Trebuchet MS" panose="020B0603020202020204" pitchFamily="34" charset="0"/>
                <a:ea typeface="+mn-ea"/>
                <a:cs typeface="+mn-cs"/>
              </a:rPr>
              <a:t>- Example 2 </a:t>
            </a:r>
            <a:r>
              <a:rPr lang="en-IN" sz="2800" b="1" spc="-100" dirty="0">
                <a:latin typeface="Trebuchet MS" panose="020B0603020202020204" pitchFamily="34" charset="0"/>
                <a:ea typeface="+mn-ea"/>
                <a:cs typeface="+mn-cs"/>
              </a:rPr>
              <a:t>(if data is not found)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289679" y="1288332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5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89679" y="5340626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138915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Content Placeholder 3"/>
          <p:cNvGraphicFramePr/>
          <p:nvPr>
            <p:extLst>
              <p:ext uri="{D42A27DB-BD31-4B8C-83A1-F6EECF244321}">
                <p14:modId xmlns:p14="http://schemas.microsoft.com/office/powerpoint/2010/main" val="3830517141"/>
              </p:ext>
            </p:extLst>
          </p:nvPr>
        </p:nvGraphicFramePr>
        <p:xfrm>
          <a:off x="2014665" y="1559827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6" name="TextBox 4"/>
          <p:cNvSpPr txBox="1"/>
          <p:nvPr/>
        </p:nvSpPr>
        <p:spPr>
          <a:xfrm>
            <a:off x="6643852" y="2273574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low</a:t>
            </a:r>
          </a:p>
        </p:txBody>
      </p:sp>
      <p:sp>
        <p:nvSpPr>
          <p:cNvPr id="427" name="TextBox 5"/>
          <p:cNvSpPr txBox="1"/>
          <p:nvPr/>
        </p:nvSpPr>
        <p:spPr>
          <a:xfrm>
            <a:off x="6583187" y="1964195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high</a:t>
            </a:r>
          </a:p>
        </p:txBody>
      </p:sp>
      <p:sp>
        <p:nvSpPr>
          <p:cNvPr id="428" name="TextBox 6"/>
          <p:cNvSpPr txBox="1"/>
          <p:nvPr/>
        </p:nvSpPr>
        <p:spPr>
          <a:xfrm>
            <a:off x="2140835" y="3087791"/>
            <a:ext cx="1133398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Key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=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</a:p>
        </p:txBody>
      </p:sp>
      <p:graphicFrame>
        <p:nvGraphicFramePr>
          <p:cNvPr id="429" name="Table 7"/>
          <p:cNvGraphicFramePr/>
          <p:nvPr>
            <p:extLst>
              <p:ext uri="{D42A27DB-BD31-4B8C-83A1-F6EECF244321}">
                <p14:modId xmlns:p14="http://schemas.microsoft.com/office/powerpoint/2010/main" val="632299065"/>
              </p:ext>
            </p:extLst>
          </p:nvPr>
        </p:nvGraphicFramePr>
        <p:xfrm>
          <a:off x="3516067" y="2701955"/>
          <a:ext cx="2698812" cy="1854200"/>
        </p:xfrm>
        <a:graphic>
          <a:graphicData uri="http://schemas.openxmlformats.org/drawingml/2006/table">
            <a:tbl>
              <a:tblPr firstRow="1" bandRow="1"/>
              <a:tblGrid>
                <a:gridCol w="89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mid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0" name="Table 8"/>
          <p:cNvGraphicFramePr/>
          <p:nvPr>
            <p:extLst>
              <p:ext uri="{D42A27DB-BD31-4B8C-83A1-F6EECF244321}">
                <p14:modId xmlns:p14="http://schemas.microsoft.com/office/powerpoint/2010/main" val="3481466262"/>
              </p:ext>
            </p:extLst>
          </p:nvPr>
        </p:nvGraphicFramePr>
        <p:xfrm>
          <a:off x="2014665" y="1157809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1" name="Table 9"/>
          <p:cNvGraphicFramePr/>
          <p:nvPr>
            <p:extLst>
              <p:ext uri="{D42A27DB-BD31-4B8C-83A1-F6EECF244321}">
                <p14:modId xmlns:p14="http://schemas.microsoft.com/office/powerpoint/2010/main" val="1587308383"/>
              </p:ext>
            </p:extLst>
          </p:nvPr>
        </p:nvGraphicFramePr>
        <p:xfrm>
          <a:off x="2014665" y="4806846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2" name="Content Placeholder 3"/>
          <p:cNvGraphicFramePr/>
          <p:nvPr>
            <p:extLst>
              <p:ext uri="{D42A27DB-BD31-4B8C-83A1-F6EECF244321}">
                <p14:modId xmlns:p14="http://schemas.microsoft.com/office/powerpoint/2010/main" val="2373194964"/>
              </p:ext>
            </p:extLst>
          </p:nvPr>
        </p:nvGraphicFramePr>
        <p:xfrm>
          <a:off x="2014665" y="5211214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3" name="TextBox 11"/>
          <p:cNvSpPr txBox="1"/>
          <p:nvPr/>
        </p:nvSpPr>
        <p:spPr>
          <a:xfrm>
            <a:off x="6479987" y="6150826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low</a:t>
            </a:r>
          </a:p>
        </p:txBody>
      </p:sp>
      <p:sp>
        <p:nvSpPr>
          <p:cNvPr id="434" name="TextBox 13"/>
          <p:cNvSpPr txBox="1"/>
          <p:nvPr/>
        </p:nvSpPr>
        <p:spPr>
          <a:xfrm>
            <a:off x="6449654" y="5657982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high</a:t>
            </a:r>
          </a:p>
        </p:txBody>
      </p:sp>
      <p:sp>
        <p:nvSpPr>
          <p:cNvPr id="435" name="TextBox 14"/>
          <p:cNvSpPr txBox="1"/>
          <p:nvPr/>
        </p:nvSpPr>
        <p:spPr>
          <a:xfrm>
            <a:off x="6449654" y="5905005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mid</a:t>
            </a:r>
          </a:p>
        </p:txBody>
      </p:sp>
      <p:sp>
        <p:nvSpPr>
          <p:cNvPr id="436" name="TextBox 16"/>
          <p:cNvSpPr txBox="1"/>
          <p:nvPr/>
        </p:nvSpPr>
        <p:spPr>
          <a:xfrm>
            <a:off x="8497607" y="5966160"/>
            <a:ext cx="3385574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Key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= 60 a[mid]= a[6]= 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59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B7FA1-8749-91CA-6174-0E68F370EE4C}"/>
              </a:ext>
            </a:extLst>
          </p:cNvPr>
          <p:cNvSpPr txBox="1">
            <a:spLocks/>
          </p:cNvSpPr>
          <p:nvPr/>
        </p:nvSpPr>
        <p:spPr>
          <a:xfrm>
            <a:off x="297137" y="684"/>
            <a:ext cx="7891520" cy="906433"/>
          </a:xfrm>
          <a:prstGeom prst="rect">
            <a:avLst/>
          </a:prstGeom>
        </p:spPr>
        <p:txBody>
          <a:bodyPr tIns="91440" bIns="91440" anchor="b">
            <a:norm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pc="-100"/>
            </a:pPr>
            <a:r>
              <a:rPr lang="en-IN" sz="2800" b="1" spc="-100" dirty="0">
                <a:latin typeface="Trebuchet MS" panose="020B0603020202020204" pitchFamily="34" charset="0"/>
                <a:ea typeface="+mn-ea"/>
                <a:cs typeface="+mn-cs"/>
              </a:rPr>
              <a:t>Binary Search </a:t>
            </a:r>
            <a:r>
              <a:rPr lang="en-US" sz="2800" b="1" spc="-100" dirty="0">
                <a:latin typeface="Trebuchet MS" panose="020B0603020202020204" pitchFamily="34" charset="0"/>
              </a:rPr>
              <a:t>- Example </a:t>
            </a:r>
            <a:r>
              <a:rPr lang="en-US" sz="2800" b="1" spc="-100" dirty="0" smtClean="0">
                <a:latin typeface="Trebuchet MS" panose="020B0603020202020204" pitchFamily="34" charset="0"/>
              </a:rPr>
              <a:t>2 </a:t>
            </a:r>
            <a:r>
              <a:rPr lang="en-IN" sz="2800" b="1" spc="-100" dirty="0" smtClean="0">
                <a:latin typeface="Trebuchet MS" panose="020B0603020202020204" pitchFamily="34" charset="0"/>
                <a:ea typeface="+mn-ea"/>
                <a:cs typeface="+mn-cs"/>
              </a:rPr>
              <a:t>(if </a:t>
            </a:r>
            <a:r>
              <a:rPr lang="en-IN" sz="2800" b="1" spc="-100" dirty="0">
                <a:latin typeface="Trebuchet MS" panose="020B0603020202020204" pitchFamily="34" charset="0"/>
                <a:ea typeface="+mn-ea"/>
                <a:cs typeface="+mn-cs"/>
              </a:rPr>
              <a:t>data is not found</a:t>
            </a:r>
            <a:r>
              <a:rPr lang="en-IN" sz="2400" b="1" spc="-100" dirty="0">
                <a:latin typeface="Trebuchet MS" panose="020B0603020202020204" pitchFamily="34" charset="0"/>
                <a:ea typeface="+mn-ea"/>
                <a:cs typeface="+mn-cs"/>
              </a:rPr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297137" y="1528649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7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97137" y="5070353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</a:t>
            </a:r>
            <a:r>
              <a:rPr lang="en-US" sz="2000" b="1" dirty="0" smtClean="0">
                <a:solidFill>
                  <a:srgbClr val="0070C0"/>
                </a:solidFill>
              </a:rPr>
              <a:t>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97550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9" name="Content Placeholder 3"/>
          <p:cNvGraphicFramePr/>
          <p:nvPr>
            <p:extLst>
              <p:ext uri="{D42A27DB-BD31-4B8C-83A1-F6EECF244321}">
                <p14:modId xmlns:p14="http://schemas.microsoft.com/office/powerpoint/2010/main" val="3034935240"/>
              </p:ext>
            </p:extLst>
          </p:nvPr>
        </p:nvGraphicFramePr>
        <p:xfrm>
          <a:off x="2173580" y="1627732"/>
          <a:ext cx="7315200" cy="3708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89</a:t>
                      </a:r>
                    </a:p>
                  </a:txBody>
                  <a:tcPr marL="45720" marR="45720" horzOverflow="overflow">
                    <a:solidFill>
                      <a:srgbClr val="D7ED9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0" name="TextBox 4"/>
          <p:cNvSpPr txBox="1"/>
          <p:nvPr/>
        </p:nvSpPr>
        <p:spPr>
          <a:xfrm>
            <a:off x="7357330" y="2111326"/>
            <a:ext cx="52112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low</a:t>
            </a:r>
          </a:p>
        </p:txBody>
      </p:sp>
      <p:sp>
        <p:nvSpPr>
          <p:cNvPr id="441" name="TextBox 5"/>
          <p:cNvSpPr txBox="1"/>
          <p:nvPr/>
        </p:nvSpPr>
        <p:spPr>
          <a:xfrm>
            <a:off x="6681884" y="2093570"/>
            <a:ext cx="58178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high</a:t>
            </a:r>
          </a:p>
        </p:txBody>
      </p:sp>
      <p:sp>
        <p:nvSpPr>
          <p:cNvPr id="442" name="TextBox 6"/>
          <p:cNvSpPr txBox="1"/>
          <p:nvPr/>
        </p:nvSpPr>
        <p:spPr>
          <a:xfrm>
            <a:off x="2159082" y="2788241"/>
            <a:ext cx="768540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Key</a:t>
            </a:r>
            <a:r>
              <a:rPr kumimoji="0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/>
                <a:sym typeface="Corbel"/>
              </a:rPr>
              <a:t>=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</a:p>
        </p:txBody>
      </p:sp>
      <p:graphicFrame>
        <p:nvGraphicFramePr>
          <p:cNvPr id="443" name="Table 7"/>
          <p:cNvGraphicFramePr/>
          <p:nvPr>
            <p:extLst>
              <p:ext uri="{D42A27DB-BD31-4B8C-83A1-F6EECF244321}">
                <p14:modId xmlns:p14="http://schemas.microsoft.com/office/powerpoint/2010/main" val="2061202724"/>
              </p:ext>
            </p:extLst>
          </p:nvPr>
        </p:nvGraphicFramePr>
        <p:xfrm>
          <a:off x="3587055" y="2832836"/>
          <a:ext cx="2698812" cy="2225040"/>
        </p:xfrm>
        <a:graphic>
          <a:graphicData uri="http://schemas.openxmlformats.org/drawingml/2006/table">
            <a:tbl>
              <a:tblPr firstRow="1" bandRow="1"/>
              <a:tblGrid>
                <a:gridCol w="899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Low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mid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38100">
                      <a:solidFill>
                        <a:srgbClr val="FFFFFF"/>
                      </a:solidFill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381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E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DBE7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44" name="Table 8"/>
          <p:cNvGraphicFramePr/>
          <p:nvPr>
            <p:extLst>
              <p:ext uri="{D42A27DB-BD31-4B8C-83A1-F6EECF244321}">
                <p14:modId xmlns:p14="http://schemas.microsoft.com/office/powerpoint/2010/main" val="1388772122"/>
              </p:ext>
            </p:extLst>
          </p:nvPr>
        </p:nvGraphicFramePr>
        <p:xfrm>
          <a:off x="2113362" y="1294386"/>
          <a:ext cx="7483880" cy="370840"/>
        </p:xfrm>
        <a:graphic>
          <a:graphicData uri="http://schemas.openxmlformats.org/drawingml/2006/table">
            <a:tbl>
              <a:tblPr/>
              <a:tblGrid>
                <a:gridCol w="74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83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</a:p>
                  </a:txBody>
                  <a:tcPr marL="45720" marR="4572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5" name="TextBox 16"/>
          <p:cNvSpPr txBox="1"/>
          <p:nvPr/>
        </p:nvSpPr>
        <p:spPr>
          <a:xfrm>
            <a:off x="2274491" y="5481778"/>
            <a:ext cx="7685401" cy="34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Times New Roman"/>
                <a:sym typeface="Times New Roman"/>
              </a:rPr>
              <a:t>If (low&gt; high) we should stop. And return -1. element is not found.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DF1C3-434E-7F0F-9200-553C35E6B175}"/>
              </a:ext>
            </a:extLst>
          </p:cNvPr>
          <p:cNvSpPr txBox="1">
            <a:spLocks/>
          </p:cNvSpPr>
          <p:nvPr/>
        </p:nvSpPr>
        <p:spPr>
          <a:xfrm>
            <a:off x="297136" y="168091"/>
            <a:ext cx="7454791" cy="572694"/>
          </a:xfrm>
          <a:prstGeom prst="rect">
            <a:avLst/>
          </a:prstGeom>
        </p:spPr>
        <p:txBody>
          <a:bodyPr tIns="91440" bIns="91440" anchor="b">
            <a:no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pc="-100"/>
            </a:pPr>
            <a:r>
              <a:rPr lang="en-IN" sz="2800" b="1" spc="-100" dirty="0">
                <a:latin typeface="Trebuchet MS" panose="020B0603020202020204" pitchFamily="34" charset="0"/>
                <a:ea typeface="+mn-ea"/>
                <a:cs typeface="+mn-cs"/>
              </a:rPr>
              <a:t>Binary Search </a:t>
            </a:r>
            <a:r>
              <a:rPr lang="en-US" sz="2800" b="1" spc="-100" dirty="0">
                <a:latin typeface="Trebuchet MS" panose="020B0603020202020204" pitchFamily="34" charset="0"/>
              </a:rPr>
              <a:t>- Example 2</a:t>
            </a:r>
            <a:r>
              <a:rPr lang="en-IN" sz="2800" b="1" spc="-100" dirty="0" smtClean="0">
                <a:latin typeface="Trebuchet MS" panose="020B0603020202020204" pitchFamily="34" charset="0"/>
                <a:ea typeface="+mn-ea"/>
                <a:cs typeface="+mn-cs"/>
              </a:rPr>
              <a:t>(if </a:t>
            </a:r>
            <a:r>
              <a:rPr lang="en-IN" sz="2800" b="1" spc="-100" dirty="0">
                <a:latin typeface="Trebuchet MS" panose="020B0603020202020204" pitchFamily="34" charset="0"/>
                <a:ea typeface="+mn-ea"/>
                <a:cs typeface="+mn-cs"/>
              </a:rPr>
              <a:t>data is not found)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297137" y="1598462"/>
            <a:ext cx="11095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Step : 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610133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45660" y="375929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/>
            </a:defPPr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smtClean="0">
                <a:latin typeface="Arial"/>
                <a:ea typeface="+mn-ea"/>
                <a:cs typeface="+mn-cs"/>
              </a:rPr>
              <a:t>Binary Search – Examples</a:t>
            </a:r>
            <a:endParaRPr lang="en-US" sz="2800" b="1" dirty="0"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28981" y="1352550"/>
                <a:ext cx="10885013" cy="55054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/>
                </a:defPPr>
                <a:lvl1pPr marL="575986" indent="-431989" algn="l" defTabSz="1219140" rtl="0" eaLnBrk="1" latinLnBrk="0" hangingPunct="1">
                  <a:lnSpc>
                    <a:spcPct val="90000"/>
                  </a:lnSpc>
                  <a:spcBef>
                    <a:spcPts val="1889"/>
                  </a:spcBef>
                  <a:buClr>
                    <a:srgbClr val="000000"/>
                  </a:buClr>
                  <a:buSzPct val="45000"/>
                  <a:buFont typeface="Wingdings" charset="2"/>
                  <a:buChar char=""/>
                  <a:defRPr sz="37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354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23925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133493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06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63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20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177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341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SzPct val="100000"/>
                  <a:buFont typeface="+mj-lt"/>
                  <a:buAutoNum type="arabicPeriod"/>
                </a:pPr>
                <a:r>
                  <a:rPr lang="en-US" sz="2400" dirty="0" smtClean="0">
                    <a:latin typeface="Trebuchet MS" panose="020B0603020202020204" pitchFamily="34" charset="0"/>
                    <a:ea typeface="Cambria" panose="02040503050406030204" pitchFamily="18" charset="0"/>
                  </a:rPr>
                  <a:t>Demonstrate binary search algorithm and find the element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AD1457"/>
                        </a:solidFill>
                        <a:latin typeface="Cambria Math" panose="02040503050406030204" pitchFamily="18" charset="0"/>
                      </a:rPr>
                      <m:t>Key</m:t>
                    </m:r>
                    <m:r>
                      <a:rPr lang="en-US" sz="2400" b="0" i="0" smtClean="0">
                        <a:solidFill>
                          <a:srgbClr val="AD1457"/>
                        </a:solidFill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in the following array. </a:t>
                </a:r>
              </a:p>
              <a:p>
                <a:pPr marL="0" indent="0" algn="ctr">
                  <a:buFont typeface="Wingdings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2, 5, 8, 12, 16, 23, 38, 56, 72, 91</m:t>
                      </m:r>
                    </m:oMath>
                  </m:oMathPara>
                </a14:m>
                <a:endParaRPr lang="en-US" sz="2400" dirty="0">
                  <a:solidFill>
                    <a:srgbClr val="0066FF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457200" indent="-457200">
                  <a:buSzPct val="100000"/>
                  <a:buFont typeface="+mj-lt"/>
                  <a:buAutoNum type="arabicPeriod" startAt="2"/>
                </a:pPr>
                <a:r>
                  <a:rPr lang="en-US" sz="24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Explain binary search algorithm and find the element</a:t>
                </a:r>
                <a:r>
                  <a:rPr lang="en-US" sz="2400" dirty="0" smtClean="0"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srgbClr val="AD1457"/>
                    </a:solidFill>
                    <a:latin typeface="Trebuchet MS" panose="020B0603020202020204" pitchFamily="34" charset="0"/>
                  </a:rPr>
                  <a:t>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AD1457"/>
                        </a:solidFill>
                        <a:latin typeface="Cambria Math" panose="02040503050406030204" pitchFamily="18" charset="0"/>
                      </a:rPr>
                      <m:t>ey</m:t>
                    </m:r>
                    <m:r>
                      <a:rPr lang="en-US" sz="2400" b="0" i="0" smtClean="0">
                        <a:solidFill>
                          <a:srgbClr val="AD1457"/>
                        </a:solidFill>
                        <a:latin typeface="Cambria Math" panose="02040503050406030204" pitchFamily="18" charset="0"/>
                      </a:rPr>
                      <m:t>=31 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in the following array. </a:t>
                </a:r>
              </a:p>
              <a:p>
                <a:pPr marL="0" indent="0" algn="ctr">
                  <a:buFont typeface="Wingdings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10, 15, 18, 26, 27, 31, 38, 45, 59</m:t>
                      </m:r>
                    </m:oMath>
                  </m:oMathPara>
                </a14:m>
                <a:endParaRPr lang="en-US" sz="2400" dirty="0">
                  <a:solidFill>
                    <a:srgbClr val="0066FF"/>
                  </a:solidFill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endParaRPr lang="en-US" sz="2400" dirty="0">
                  <a:latin typeface="Trebuchet MS" panose="020B0603020202020204" pitchFamily="34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81" y="1352550"/>
                <a:ext cx="10885013" cy="5505450"/>
              </a:xfrm>
              <a:prstGeom prst="rect">
                <a:avLst/>
              </a:prstGeom>
              <a:blipFill>
                <a:blip r:embed="rId2"/>
                <a:stretch>
                  <a:fillRect l="-784" t="-15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85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72066" y="2889492"/>
            <a:ext cx="58304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b="1" dirty="0" smtClean="0">
                <a:latin typeface="Arial"/>
              </a:rPr>
              <a:t>Divide and Conquer  </a:t>
            </a:r>
            <a:endParaRPr lang="en-IN" sz="4400" b="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710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6161" y="296418"/>
            <a:ext cx="72394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Arial"/>
              </a:rPr>
              <a:t>Divide and </a:t>
            </a:r>
            <a:r>
              <a:rPr lang="en-IN" sz="3200" b="1" dirty="0" smtClean="0">
                <a:latin typeface="Arial"/>
              </a:rPr>
              <a:t>Conquer – Introduction   </a:t>
            </a:r>
            <a:endParaRPr lang="en-IN" sz="3200" b="1" dirty="0"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6161" y="1024805"/>
            <a:ext cx="112307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Divide and conquer algorithm operates in three stages:</a:t>
            </a:r>
          </a:p>
          <a:p>
            <a:pPr marL="800100" lvl="1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Divide:</a:t>
            </a:r>
            <a:r>
              <a:rPr lang="en-US" sz="2400" b="1" dirty="0">
                <a:latin typeface="Trebuchet MS" panose="020B0603020202020204" pitchFamily="34" charset="0"/>
              </a:rPr>
              <a:t> </a:t>
            </a:r>
            <a:r>
              <a:rPr lang="en-US" sz="2400" dirty="0">
                <a:latin typeface="Trebuchet MS" panose="020B0603020202020204" pitchFamily="34" charset="0"/>
              </a:rPr>
              <a:t>Divide the problem recursively into smaller subproblems.</a:t>
            </a:r>
          </a:p>
          <a:p>
            <a:pPr marL="800100" lvl="1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Solve:</a:t>
            </a:r>
            <a:r>
              <a:rPr lang="en-US" sz="2400" b="1" dirty="0">
                <a:latin typeface="Trebuchet MS" panose="020B0603020202020204" pitchFamily="34" charset="0"/>
              </a:rPr>
              <a:t> </a:t>
            </a:r>
            <a:r>
              <a:rPr lang="en-US" sz="2400" dirty="0">
                <a:latin typeface="Trebuchet MS" panose="020B0603020202020204" pitchFamily="34" charset="0"/>
              </a:rPr>
              <a:t>Subproblems are solved independently.</a:t>
            </a:r>
          </a:p>
          <a:p>
            <a:pPr marL="800100" lvl="1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Combine: </a:t>
            </a:r>
            <a:r>
              <a:rPr lang="en-US" sz="2400" dirty="0">
                <a:latin typeface="Trebuchet MS" panose="020B0603020202020204" pitchFamily="34" charset="0"/>
              </a:rPr>
              <a:t>Combine subproblem solutions in order to deduce the answer to the original large problem.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Because subproblems are identical to the main problem but have smaller parameters, they can be readily solved using recursion</a:t>
            </a:r>
            <a:r>
              <a:rPr lang="en-US" sz="2400" dirty="0" smtClean="0">
                <a:latin typeface="Trebuchet MS" panose="020B0603020202020204" pitchFamily="34" charset="0"/>
              </a:rPr>
              <a:t>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When </a:t>
            </a:r>
            <a:r>
              <a:rPr lang="en-US" sz="2400" dirty="0">
                <a:latin typeface="Trebuchet MS" panose="020B0603020202020204" pitchFamily="34" charset="0"/>
              </a:rPr>
              <a:t>a subproblem is reduced to its lowest feasible size, it is solved, and the results are recursively integrated to produce a solution to the original larger problem.</a:t>
            </a:r>
            <a:endParaRPr lang="en-US" sz="2400" b="0" i="0" dirty="0"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12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0627" y="282770"/>
            <a:ext cx="7011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Arial"/>
              </a:rPr>
              <a:t>Divide and Conquer – Introduction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698" y="1264903"/>
            <a:ext cx="1006749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Divide and conquer is a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top-down</a:t>
            </a:r>
            <a:r>
              <a:rPr lang="en-US" sz="2400" dirty="0">
                <a:latin typeface="Trebuchet MS" panose="020B0603020202020204" pitchFamily="34" charset="0"/>
              </a:rPr>
              <a:t>, multi-branched recursive method.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Each </a:t>
            </a:r>
            <a:r>
              <a:rPr lang="en-US" sz="2400" dirty="0">
                <a:latin typeface="Trebuchet MS" panose="020B0603020202020204" pitchFamily="34" charset="0"/>
              </a:rPr>
              <a:t>branch represents a subproblem and calls itself with a smaller argument.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Understanding </a:t>
            </a:r>
            <a:r>
              <a:rPr lang="en-US" sz="2400" dirty="0">
                <a:latin typeface="Trebuchet MS" panose="020B0603020202020204" pitchFamily="34" charset="0"/>
              </a:rPr>
              <a:t>and developing divide and conquer algorithms requires expertise and sound reasoning.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The divide and conquer approach is depicted graphically in following figure.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Subproblems </a:t>
            </a:r>
            <a:r>
              <a:rPr lang="en-US" sz="2400" dirty="0">
                <a:latin typeface="Trebuchet MS" panose="020B0603020202020204" pitchFamily="34" charset="0"/>
              </a:rPr>
              <a:t>may not be exactly n/2 in size.</a:t>
            </a:r>
            <a:endParaRPr lang="en-US" sz="2400" b="0" i="0" dirty="0">
              <a:effectLst/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74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0627" y="282770"/>
            <a:ext cx="7011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Arial"/>
              </a:rPr>
              <a:t>Divide and Conquer – Introduction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6580" b="12131"/>
          <a:stretch/>
        </p:blipFill>
        <p:spPr>
          <a:xfrm>
            <a:off x="1637731" y="1235132"/>
            <a:ext cx="7847463" cy="463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54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0627" y="282770"/>
            <a:ext cx="7011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Arial"/>
              </a:rPr>
              <a:t>Divide and </a:t>
            </a:r>
            <a:r>
              <a:rPr lang="en-IN" sz="3200" b="1" dirty="0" smtClean="0">
                <a:latin typeface="Arial"/>
              </a:rPr>
              <a:t>Conquer – Introduction </a:t>
            </a:r>
            <a:endParaRPr lang="en-IN" sz="3200" b="1" dirty="0"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3080" y="954936"/>
            <a:ext cx="114368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Applications of Divide and Conquer Approach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Many computer science problems are effectively solved using divide and conquer. Few of them are listed here</a:t>
            </a:r>
            <a:r>
              <a:rPr lang="en-US" sz="2400" dirty="0" smtClean="0">
                <a:latin typeface="Trebuchet MS" panose="020B0603020202020204" pitchFamily="34" charset="0"/>
              </a:rPr>
              <a:t>: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87153" y="2709262"/>
            <a:ext cx="436728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 Merge </a:t>
            </a:r>
            <a:r>
              <a:rPr lang="en-US" sz="2000" dirty="0">
                <a:solidFill>
                  <a:prstClr val="black"/>
                </a:solidFill>
                <a:latin typeface="Trebuchet MS" panose="020B0603020202020204" pitchFamily="34" charset="0"/>
              </a:rPr>
              <a:t>sort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Binary search</a:t>
            </a:r>
            <a:endParaRPr lang="en-US" sz="2000" dirty="0">
              <a:solidFill>
                <a:prstClr val="black"/>
              </a:solidFill>
              <a:latin typeface="Trebuchet MS" panose="020B0603020202020204" pitchFamily="34" charset="0"/>
            </a:endParaRP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Trebuchet MS" panose="020B0603020202020204" pitchFamily="34" charset="0"/>
              </a:rPr>
              <a:t>Discrete Fourier </a:t>
            </a:r>
            <a:r>
              <a:rPr lang="en-US" sz="20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Transform</a:t>
            </a:r>
            <a:endParaRPr lang="en-US" sz="2000" dirty="0">
              <a:solidFill>
                <a:prstClr val="black"/>
              </a:solidFill>
              <a:latin typeface="Trebuchet MS" panose="020B0603020202020204" pitchFamily="34" charset="0"/>
            </a:endParaRP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Trebuchet MS" panose="020B0603020202020204" pitchFamily="34" charset="0"/>
              </a:rPr>
              <a:t>Closest pair problem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Trebuchet MS" panose="020B0603020202020204" pitchFamily="34" charset="0"/>
              </a:rPr>
              <a:t>Max-min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82077" y="2611987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Trebuchet MS" panose="020B0603020202020204" pitchFamily="34" charset="0"/>
              </a:rPr>
              <a:t>Finding an exponential number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Trebuchet MS" panose="020B0603020202020204" pitchFamily="34" charset="0"/>
              </a:rPr>
              <a:t>Multiplying large integers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Trebuchet MS" panose="020B0603020202020204" pitchFamily="34" charset="0"/>
              </a:rPr>
              <a:t>Multiplying matrices (Strassen’s algorithm)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Trebuchet MS" panose="020B0603020202020204" pitchFamily="34" charset="0"/>
              </a:rPr>
              <a:t>Sorting data</a:t>
            </a:r>
          </a:p>
          <a:p>
            <a:pPr marL="342900" lvl="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prstClr val="black"/>
                </a:solidFill>
                <a:latin typeface="Trebuchet MS" panose="020B0603020202020204" pitchFamily="34" charset="0"/>
              </a:rPr>
              <a:t>Quicksort</a:t>
            </a:r>
          </a:p>
        </p:txBody>
      </p:sp>
    </p:spTree>
    <p:extLst>
      <p:ext uri="{BB962C8B-B14F-4D97-AF65-F5344CB8AC3E}">
        <p14:creationId xmlns:p14="http://schemas.microsoft.com/office/powerpoint/2010/main" val="172690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5344" y="159939"/>
            <a:ext cx="43113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 smtClean="0">
                <a:latin typeface="Arial"/>
              </a:rPr>
              <a:t>Min - Max Problem </a:t>
            </a:r>
            <a:endParaRPr lang="en-IN" sz="3200" b="1" dirty="0"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2955" y="1179478"/>
            <a:ext cx="1165518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Max-Min problem is to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find a maximum and minimum element </a:t>
            </a:r>
            <a:r>
              <a:rPr lang="en-US" sz="2400" dirty="0">
                <a:latin typeface="Trebuchet MS" panose="020B0603020202020204" pitchFamily="34" charset="0"/>
              </a:rPr>
              <a:t>from the given array. We can effectively solve it using divide and conquer approach</a:t>
            </a:r>
            <a:r>
              <a:rPr lang="en-US" sz="2400" dirty="0" smtClean="0">
                <a:latin typeface="Trebuchet MS" panose="020B0603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In the traditional approach, the maximum and minimum element can be found by comparing each element and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updating Max and Min values </a:t>
            </a:r>
            <a:r>
              <a:rPr lang="en-US" sz="2400" dirty="0">
                <a:latin typeface="Trebuchet MS" panose="020B0603020202020204" pitchFamily="34" charset="0"/>
              </a:rPr>
              <a:t>as and when required.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This </a:t>
            </a:r>
            <a:r>
              <a:rPr lang="en-US" sz="2400" dirty="0">
                <a:latin typeface="Trebuchet MS" panose="020B0603020202020204" pitchFamily="34" charset="0"/>
              </a:rPr>
              <a:t>approach is simple but it does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(n – 1) comparisons </a:t>
            </a:r>
            <a:r>
              <a:rPr lang="en-US" sz="2400" dirty="0">
                <a:latin typeface="Trebuchet MS" panose="020B0603020202020204" pitchFamily="34" charset="0"/>
              </a:rPr>
              <a:t>for finding max and the same number of comparisons for finding the min.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It </a:t>
            </a:r>
            <a:r>
              <a:rPr lang="en-US" sz="2400" dirty="0">
                <a:latin typeface="Trebuchet MS" panose="020B0603020202020204" pitchFamily="34" charset="0"/>
              </a:rPr>
              <a:t>results in a total of 2(n – 1) comparisons. Using a divide and conquer approach, we can reduce the 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number of comparisons.</a:t>
            </a:r>
            <a:endParaRPr lang="en-IN" sz="2400" b="1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83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8048" y="323713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>
                <a:latin typeface="Arial"/>
              </a:rPr>
              <a:t>Min- Max Problem </a:t>
            </a:r>
            <a:endParaRPr lang="en-IN" sz="2800" b="1" dirty="0"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8048" y="1114273"/>
            <a:ext cx="1118984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Divide and conquer approach for Max. Min problem works in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three stages</a:t>
            </a:r>
            <a:r>
              <a:rPr lang="en-US" sz="2400" dirty="0">
                <a:latin typeface="Trebuchet MS" panose="020B0603020202020204" pitchFamily="34" charset="0"/>
              </a:rPr>
              <a:t>.</a:t>
            </a:r>
          </a:p>
          <a:p>
            <a:pPr marL="723900" indent="-3683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rebuchet MS" panose="020B0603020202020204" pitchFamily="34" charset="0"/>
              </a:rPr>
              <a:t>If </a:t>
            </a:r>
            <a:r>
              <a:rPr lang="en-US" sz="2400" dirty="0">
                <a:latin typeface="Trebuchet MS" panose="020B0603020202020204" pitchFamily="34" charset="0"/>
              </a:rPr>
              <a:t>a1 is the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only element </a:t>
            </a:r>
            <a:r>
              <a:rPr lang="en-US" sz="2400" dirty="0">
                <a:latin typeface="Trebuchet MS" panose="020B0603020202020204" pitchFamily="34" charset="0"/>
              </a:rPr>
              <a:t>in the array, a1 is the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maximum and minimum</a:t>
            </a:r>
            <a:r>
              <a:rPr lang="en-US" sz="2400" dirty="0">
                <a:latin typeface="Trebuchet MS" panose="020B0603020202020204" pitchFamily="34" charset="0"/>
              </a:rPr>
              <a:t>.</a:t>
            </a:r>
          </a:p>
          <a:p>
            <a:pPr marL="723900" indent="-3683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rebuchet MS" panose="020B0603020202020204" pitchFamily="34" charset="0"/>
              </a:rPr>
              <a:t>If the array contains only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two elements</a:t>
            </a:r>
            <a:r>
              <a:rPr lang="en-US" sz="2400" dirty="0">
                <a:latin typeface="Trebuchet MS" panose="020B0603020202020204" pitchFamily="34" charset="0"/>
              </a:rPr>
              <a:t> a1 and a2, then the single comparison between two elements can decide the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minimum and maximum</a:t>
            </a:r>
            <a:r>
              <a:rPr lang="en-US" sz="2400" dirty="0">
                <a:latin typeface="Trebuchet MS" panose="020B0603020202020204" pitchFamily="34" charset="0"/>
              </a:rPr>
              <a:t> of them.</a:t>
            </a:r>
          </a:p>
          <a:p>
            <a:pPr marL="723900" indent="-3683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rebuchet MS" panose="020B0603020202020204" pitchFamily="34" charset="0"/>
              </a:rPr>
              <a:t>If </a:t>
            </a:r>
            <a:r>
              <a:rPr lang="en-US" sz="2400" dirty="0">
                <a:latin typeface="Trebuchet MS" panose="020B0603020202020204" pitchFamily="34" charset="0"/>
              </a:rPr>
              <a:t>there are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more than two elements</a:t>
            </a:r>
            <a:r>
              <a:rPr lang="en-US" sz="2400" dirty="0">
                <a:latin typeface="Trebuchet MS" panose="020B0603020202020204" pitchFamily="34" charset="0"/>
              </a:rPr>
              <a:t>, the algorithm divides the array from the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middle and creates two </a:t>
            </a: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sub problems</a:t>
            </a:r>
            <a:r>
              <a:rPr lang="en-US" sz="2400" dirty="0">
                <a:latin typeface="Trebuchet MS" panose="020B0603020202020204" pitchFamily="34" charset="0"/>
              </a:rPr>
              <a:t>. Both </a:t>
            </a:r>
            <a:r>
              <a:rPr lang="en-US" sz="2400" dirty="0" smtClean="0">
                <a:latin typeface="Trebuchet MS" panose="020B0603020202020204" pitchFamily="34" charset="0"/>
              </a:rPr>
              <a:t>sub problems </a:t>
            </a:r>
            <a:r>
              <a:rPr lang="en-US" sz="2400" dirty="0">
                <a:latin typeface="Trebuchet MS" panose="020B0603020202020204" pitchFamily="34" charset="0"/>
              </a:rPr>
              <a:t>are treated as an independent problem and the same recursive process is applied to them. This division continues until </a:t>
            </a:r>
            <a:r>
              <a:rPr lang="en-US" sz="2400" dirty="0" smtClean="0">
                <a:latin typeface="Trebuchet MS" panose="020B0603020202020204" pitchFamily="34" charset="0"/>
              </a:rPr>
              <a:t>sub problem </a:t>
            </a:r>
            <a:r>
              <a:rPr lang="en-US" sz="2400" dirty="0">
                <a:latin typeface="Trebuchet MS" panose="020B0603020202020204" pitchFamily="34" charset="0"/>
              </a:rPr>
              <a:t>size becomes one or two.</a:t>
            </a:r>
            <a:endParaRPr lang="en-IN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09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8048" y="323713"/>
            <a:ext cx="3358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>
                <a:latin typeface="Arial"/>
              </a:rPr>
              <a:t>Min- Max Problem </a:t>
            </a:r>
            <a:endParaRPr lang="en-IN" sz="2800" b="1" dirty="0"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07717" y="1436764"/>
            <a:ext cx="90504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After solving two </a:t>
            </a: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sub-problems</a:t>
            </a:r>
            <a:r>
              <a:rPr lang="en-US" sz="2400" dirty="0">
                <a:latin typeface="Trebuchet MS" panose="020B0603020202020204" pitchFamily="34" charset="0"/>
              </a:rPr>
              <a:t>, their minimum and maximum numbers are compared to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build the solution </a:t>
            </a:r>
            <a:r>
              <a:rPr lang="en-US" sz="2400" dirty="0">
                <a:latin typeface="Trebuchet MS" panose="020B0603020202020204" pitchFamily="34" charset="0"/>
              </a:rPr>
              <a:t>of the large problem.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This </a:t>
            </a:r>
            <a:r>
              <a:rPr lang="en-US" sz="2400" dirty="0">
                <a:latin typeface="Trebuchet MS" panose="020B0603020202020204" pitchFamily="34" charset="0"/>
              </a:rPr>
              <a:t>process continues in a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bottom-up fashion </a:t>
            </a:r>
            <a:r>
              <a:rPr lang="en-US" sz="2400" dirty="0">
                <a:latin typeface="Trebuchet MS" panose="020B0603020202020204" pitchFamily="34" charset="0"/>
              </a:rPr>
              <a:t>to build the solution of a parent problem.</a:t>
            </a:r>
            <a:endParaRPr lang="en-IN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68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784" y="269121"/>
            <a:ext cx="61005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Arial"/>
              </a:rPr>
              <a:t>Algorithm for Max-Min </a:t>
            </a:r>
            <a:r>
              <a:rPr lang="en-IN" sz="2800" b="1" dirty="0" smtClean="0">
                <a:latin typeface="Arial"/>
              </a:rPr>
              <a:t>Problem</a:t>
            </a:r>
            <a:endParaRPr lang="en-IN" sz="2800" b="1" dirty="0">
              <a:latin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8048" y="971330"/>
            <a:ext cx="5538057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>
                <a:solidFill>
                  <a:srgbClr val="0070C0"/>
                </a:solidFill>
                <a:latin typeface="Trebuchet MS" panose="020B0603020202020204" pitchFamily="34" charset="0"/>
              </a:rPr>
              <a:t>Algorithm </a:t>
            </a:r>
            <a:r>
              <a:rPr lang="en-IN" dirty="0">
                <a:solidFill>
                  <a:srgbClr val="FF0000"/>
                </a:solidFill>
                <a:latin typeface="Trebuchet MS" panose="020B0603020202020204" pitchFamily="34" charset="0"/>
              </a:rPr>
              <a:t>DC_MAXMIN</a:t>
            </a:r>
            <a:r>
              <a:rPr lang="en-IN" dirty="0">
                <a:latin typeface="Trebuchet MS" panose="020B0603020202020204" pitchFamily="34" charset="0"/>
              </a:rPr>
              <a:t>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(A, low, high)</a:t>
            </a:r>
          </a:p>
          <a:p>
            <a:pPr>
              <a:spcBef>
                <a:spcPts val="600"/>
              </a:spcBef>
            </a:pPr>
            <a:r>
              <a:rPr lang="en-IN" dirty="0">
                <a:solidFill>
                  <a:srgbClr val="FF0000"/>
                </a:solidFill>
                <a:latin typeface="Trebuchet MS" panose="020B0603020202020204" pitchFamily="34" charset="0"/>
              </a:rPr>
              <a:t>// Description : </a:t>
            </a:r>
            <a:r>
              <a:rPr lang="en-IN" dirty="0">
                <a:latin typeface="Trebuchet MS" panose="020B0603020202020204" pitchFamily="34" charset="0"/>
              </a:rPr>
              <a:t>Find minimum and maximum element from array using divide and conquer approach</a:t>
            </a:r>
          </a:p>
          <a:p>
            <a:pPr>
              <a:spcBef>
                <a:spcPts val="600"/>
              </a:spcBef>
            </a:pPr>
            <a:r>
              <a:rPr lang="en-IN" dirty="0">
                <a:solidFill>
                  <a:srgbClr val="FF0000"/>
                </a:solidFill>
                <a:latin typeface="Trebuchet MS" panose="020B0603020202020204" pitchFamily="34" charset="0"/>
              </a:rPr>
              <a:t>// Input : </a:t>
            </a:r>
            <a:r>
              <a:rPr lang="en-IN" dirty="0">
                <a:latin typeface="Trebuchet MS" panose="020B0603020202020204" pitchFamily="34" charset="0"/>
              </a:rPr>
              <a:t>Array A of length n, and indices low = 0 and high = n - 1</a:t>
            </a:r>
          </a:p>
          <a:p>
            <a:pPr>
              <a:spcBef>
                <a:spcPts val="600"/>
              </a:spcBef>
            </a:pPr>
            <a:r>
              <a:rPr lang="en-IN" dirty="0">
                <a:solidFill>
                  <a:srgbClr val="FF0000"/>
                </a:solidFill>
                <a:latin typeface="Trebuchet MS" panose="020B0603020202020204" pitchFamily="34" charset="0"/>
              </a:rPr>
              <a:t>// Output :</a:t>
            </a:r>
            <a:r>
              <a:rPr lang="en-IN" dirty="0">
                <a:latin typeface="Trebuchet MS" panose="020B0603020202020204" pitchFamily="34" charset="0"/>
              </a:rPr>
              <a:t> (min, max) variables holding minimum and maximum element of array</a:t>
            </a:r>
          </a:p>
          <a:p>
            <a:pPr>
              <a:spcBef>
                <a:spcPts val="600"/>
              </a:spcBef>
            </a:pPr>
            <a:endParaRPr lang="en-IN" dirty="0">
              <a:latin typeface="Trebuchet MS" panose="020B0603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if n == 1 then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    return (A[1], A[1])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else if n == 2 then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    if A[1] &lt; A[2] then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        return (A[1], A[2])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    else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        return (A[2], A[1])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    else </a:t>
            </a:r>
          </a:p>
        </p:txBody>
      </p:sp>
      <p:sp>
        <p:nvSpPr>
          <p:cNvPr id="5" name="Rectangle 4"/>
          <p:cNvSpPr/>
          <p:nvPr/>
        </p:nvSpPr>
        <p:spPr>
          <a:xfrm>
            <a:off x="6619165" y="1196160"/>
            <a:ext cx="5459104" cy="4755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 mid ← (low + high) / 2		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    [</a:t>
            </a:r>
            <a:r>
              <a:rPr lang="en-IN" dirty="0" err="1">
                <a:latin typeface="Trebuchet MS" panose="020B0603020202020204" pitchFamily="34" charset="0"/>
              </a:rPr>
              <a:t>LMin</a:t>
            </a:r>
            <a:r>
              <a:rPr lang="en-IN" dirty="0">
                <a:latin typeface="Trebuchet MS" panose="020B0603020202020204" pitchFamily="34" charset="0"/>
              </a:rPr>
              <a:t>, </a:t>
            </a:r>
            <a:r>
              <a:rPr lang="en-IN" dirty="0" err="1">
                <a:latin typeface="Trebuchet MS" panose="020B0603020202020204" pitchFamily="34" charset="0"/>
              </a:rPr>
              <a:t>LMax</a:t>
            </a:r>
            <a:r>
              <a:rPr lang="en-IN" dirty="0">
                <a:latin typeface="Trebuchet MS" panose="020B0603020202020204" pitchFamily="34" charset="0"/>
              </a:rPr>
              <a:t>] = DC_MAXMIN (A, low, mid)	</a:t>
            </a:r>
          </a:p>
          <a:p>
            <a:pPr>
              <a:spcBef>
                <a:spcPts val="600"/>
              </a:spcBef>
            </a:pPr>
            <a:r>
              <a:rPr lang="en-IN" dirty="0">
                <a:latin typeface="Trebuchet MS" panose="020B0603020202020204" pitchFamily="34" charset="0"/>
              </a:rPr>
              <a:t>    [</a:t>
            </a:r>
            <a:r>
              <a:rPr lang="en-IN" dirty="0" err="1">
                <a:latin typeface="Trebuchet MS" panose="020B0603020202020204" pitchFamily="34" charset="0"/>
              </a:rPr>
              <a:t>RMin</a:t>
            </a:r>
            <a:r>
              <a:rPr lang="en-IN" dirty="0">
                <a:latin typeface="Trebuchet MS" panose="020B0603020202020204" pitchFamily="34" charset="0"/>
              </a:rPr>
              <a:t>, </a:t>
            </a:r>
            <a:r>
              <a:rPr lang="en-IN" dirty="0" err="1">
                <a:latin typeface="Trebuchet MS" panose="020B0603020202020204" pitchFamily="34" charset="0"/>
              </a:rPr>
              <a:t>RMax</a:t>
            </a:r>
            <a:r>
              <a:rPr lang="en-IN" dirty="0">
                <a:latin typeface="Trebuchet MS" panose="020B0603020202020204" pitchFamily="34" charset="0"/>
              </a:rPr>
              <a:t>] = DC_MAXMIN (A, mid + 1, high)</a:t>
            </a:r>
          </a:p>
          <a:p>
            <a:pPr>
              <a:spcBef>
                <a:spcPts val="600"/>
              </a:spcBef>
            </a:pPr>
            <a:r>
              <a:rPr lang="en-IN" dirty="0"/>
              <a:t>    </a:t>
            </a:r>
            <a:endParaRPr lang="en-IN" dirty="0" smtClean="0">
              <a:latin typeface="Trebuchet MS" panose="020B0603020202020204" pitchFamily="34" charset="0"/>
            </a:endParaRPr>
          </a:p>
          <a:p>
            <a:r>
              <a:rPr lang="en-IN" dirty="0" smtClean="0">
                <a:latin typeface="Trebuchet MS" panose="020B0603020202020204" pitchFamily="34" charset="0"/>
              </a:rPr>
              <a:t>if </a:t>
            </a:r>
            <a:r>
              <a:rPr lang="en-IN" dirty="0" err="1">
                <a:latin typeface="Trebuchet MS" panose="020B0603020202020204" pitchFamily="34" charset="0"/>
              </a:rPr>
              <a:t>LMax</a:t>
            </a:r>
            <a:r>
              <a:rPr lang="en-IN" dirty="0">
                <a:latin typeface="Trebuchet MS" panose="020B0603020202020204" pitchFamily="34" charset="0"/>
              </a:rPr>
              <a:t> &gt; </a:t>
            </a:r>
            <a:r>
              <a:rPr lang="en-IN" dirty="0" err="1">
                <a:latin typeface="Trebuchet MS" panose="020B0603020202020204" pitchFamily="34" charset="0"/>
              </a:rPr>
              <a:t>RMax</a:t>
            </a:r>
            <a:r>
              <a:rPr lang="en-IN" dirty="0">
                <a:latin typeface="Trebuchet MS" panose="020B0603020202020204" pitchFamily="34" charset="0"/>
              </a:rPr>
              <a:t>  </a:t>
            </a:r>
            <a:r>
              <a:rPr lang="en-IN" dirty="0" smtClean="0">
                <a:latin typeface="Trebuchet MS" panose="020B0603020202020204" pitchFamily="34" charset="0"/>
              </a:rPr>
              <a:t>then </a:t>
            </a:r>
            <a:r>
              <a:rPr lang="en-IN" dirty="0">
                <a:latin typeface="Trebuchet MS" panose="020B0603020202020204" pitchFamily="34" charset="0"/>
              </a:rPr>
              <a:t> </a:t>
            </a:r>
            <a:r>
              <a:rPr lang="en-IN" dirty="0">
                <a:solidFill>
                  <a:srgbClr val="D60093"/>
                </a:solidFill>
                <a:latin typeface="Trebuchet MS" panose="020B0603020202020204" pitchFamily="34" charset="0"/>
              </a:rPr>
              <a:t>// Combine solution</a:t>
            </a:r>
          </a:p>
          <a:p>
            <a:r>
              <a:rPr lang="en-IN" dirty="0" smtClean="0">
                <a:latin typeface="Trebuchet MS" panose="020B0603020202020204" pitchFamily="34" charset="0"/>
              </a:rPr>
              <a:t>        </a:t>
            </a:r>
            <a:r>
              <a:rPr lang="en-IN" dirty="0">
                <a:latin typeface="Trebuchet MS" panose="020B0603020202020204" pitchFamily="34" charset="0"/>
              </a:rPr>
              <a:t>max ← </a:t>
            </a:r>
            <a:r>
              <a:rPr lang="en-IN" dirty="0" err="1">
                <a:latin typeface="Trebuchet MS" panose="020B0603020202020204" pitchFamily="34" charset="0"/>
              </a:rPr>
              <a:t>LMax</a:t>
            </a:r>
            <a:endParaRPr lang="en-IN" dirty="0">
              <a:latin typeface="Trebuchet MS" panose="020B0603020202020204" pitchFamily="34" charset="0"/>
            </a:endParaRPr>
          </a:p>
          <a:p>
            <a:r>
              <a:rPr lang="en-IN" dirty="0">
                <a:latin typeface="Trebuchet MS" panose="020B0603020202020204" pitchFamily="34" charset="0"/>
              </a:rPr>
              <a:t>    else </a:t>
            </a:r>
          </a:p>
          <a:p>
            <a:r>
              <a:rPr lang="en-IN" dirty="0">
                <a:latin typeface="Trebuchet MS" panose="020B0603020202020204" pitchFamily="34" charset="0"/>
              </a:rPr>
              <a:t>        max ← </a:t>
            </a:r>
            <a:r>
              <a:rPr lang="en-IN" dirty="0" err="1">
                <a:latin typeface="Trebuchet MS" panose="020B0603020202020204" pitchFamily="34" charset="0"/>
              </a:rPr>
              <a:t>RMax</a:t>
            </a:r>
            <a:endParaRPr lang="en-IN" dirty="0">
              <a:latin typeface="Trebuchet MS" panose="020B0603020202020204" pitchFamily="34" charset="0"/>
            </a:endParaRPr>
          </a:p>
          <a:p>
            <a:r>
              <a:rPr lang="en-IN" dirty="0">
                <a:latin typeface="Trebuchet MS" panose="020B0603020202020204" pitchFamily="34" charset="0"/>
              </a:rPr>
              <a:t>    end</a:t>
            </a:r>
          </a:p>
          <a:p>
            <a:r>
              <a:rPr lang="en-IN" dirty="0">
                <a:latin typeface="Trebuchet MS" panose="020B0603020202020204" pitchFamily="34" charset="0"/>
              </a:rPr>
              <a:t>    if </a:t>
            </a:r>
            <a:r>
              <a:rPr lang="en-IN" dirty="0" err="1">
                <a:latin typeface="Trebuchet MS" panose="020B0603020202020204" pitchFamily="34" charset="0"/>
              </a:rPr>
              <a:t>LMin</a:t>
            </a:r>
            <a:r>
              <a:rPr lang="en-IN" dirty="0">
                <a:latin typeface="Trebuchet MS" panose="020B0603020202020204" pitchFamily="34" charset="0"/>
              </a:rPr>
              <a:t> &lt; </a:t>
            </a:r>
            <a:r>
              <a:rPr lang="en-IN" dirty="0" err="1">
                <a:latin typeface="Trebuchet MS" panose="020B0603020202020204" pitchFamily="34" charset="0"/>
              </a:rPr>
              <a:t>RMin</a:t>
            </a:r>
            <a:r>
              <a:rPr lang="en-IN" dirty="0">
                <a:latin typeface="Trebuchet MS" panose="020B0603020202020204" pitchFamily="34" charset="0"/>
              </a:rPr>
              <a:t> </a:t>
            </a:r>
            <a:r>
              <a:rPr lang="en-IN" dirty="0" smtClean="0">
                <a:latin typeface="Trebuchet MS" panose="020B0603020202020204" pitchFamily="34" charset="0"/>
              </a:rPr>
              <a:t>then </a:t>
            </a:r>
            <a:r>
              <a:rPr lang="en-IN" dirty="0">
                <a:solidFill>
                  <a:srgbClr val="D60093"/>
                </a:solidFill>
                <a:latin typeface="Trebuchet MS" panose="020B0603020202020204" pitchFamily="34" charset="0"/>
              </a:rPr>
              <a:t>// Combine solution</a:t>
            </a:r>
          </a:p>
          <a:p>
            <a:r>
              <a:rPr lang="en-IN" dirty="0" smtClean="0">
                <a:latin typeface="Trebuchet MS" panose="020B0603020202020204" pitchFamily="34" charset="0"/>
              </a:rPr>
              <a:t>        min </a:t>
            </a:r>
            <a:r>
              <a:rPr lang="en-IN" dirty="0">
                <a:latin typeface="Trebuchet MS" panose="020B0603020202020204" pitchFamily="34" charset="0"/>
              </a:rPr>
              <a:t>← </a:t>
            </a:r>
            <a:r>
              <a:rPr lang="en-IN" dirty="0" err="1">
                <a:latin typeface="Trebuchet MS" panose="020B0603020202020204" pitchFamily="34" charset="0"/>
              </a:rPr>
              <a:t>LMin</a:t>
            </a:r>
            <a:endParaRPr lang="en-IN" dirty="0">
              <a:latin typeface="Trebuchet MS" panose="020B0603020202020204" pitchFamily="34" charset="0"/>
            </a:endParaRPr>
          </a:p>
          <a:p>
            <a:r>
              <a:rPr lang="en-IN" dirty="0">
                <a:latin typeface="Trebuchet MS" panose="020B0603020202020204" pitchFamily="34" charset="0"/>
              </a:rPr>
              <a:t>    else</a:t>
            </a:r>
          </a:p>
          <a:p>
            <a:r>
              <a:rPr lang="en-IN" dirty="0">
                <a:latin typeface="Trebuchet MS" panose="020B0603020202020204" pitchFamily="34" charset="0"/>
              </a:rPr>
              <a:t>        min ← </a:t>
            </a:r>
            <a:r>
              <a:rPr lang="en-IN" dirty="0" err="1">
                <a:latin typeface="Trebuchet MS" panose="020B0603020202020204" pitchFamily="34" charset="0"/>
              </a:rPr>
              <a:t>RMin</a:t>
            </a:r>
            <a:endParaRPr lang="en-IN" dirty="0">
              <a:latin typeface="Trebuchet MS" panose="020B0603020202020204" pitchFamily="34" charset="0"/>
            </a:endParaRPr>
          </a:p>
          <a:p>
            <a:r>
              <a:rPr lang="en-IN" dirty="0">
                <a:latin typeface="Trebuchet MS" panose="020B0603020202020204" pitchFamily="34" charset="0"/>
              </a:rPr>
              <a:t>    end</a:t>
            </a:r>
          </a:p>
          <a:p>
            <a:r>
              <a:rPr lang="en-IN" dirty="0">
                <a:latin typeface="Trebuchet MS" panose="020B0603020202020204" pitchFamily="34" charset="0"/>
              </a:rPr>
              <a:t>    return (min, max)</a:t>
            </a:r>
          </a:p>
          <a:p>
            <a:r>
              <a:rPr lang="en-IN" dirty="0" smtClean="0">
                <a:latin typeface="Trebuchet MS" panose="020B0603020202020204" pitchFamily="34" charset="0"/>
              </a:rPr>
              <a:t>end</a:t>
            </a:r>
            <a:endParaRPr lang="en-IN" dirty="0">
              <a:latin typeface="Trebuchet MS" panose="020B0603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6270340" y="993971"/>
            <a:ext cx="54590" cy="5864029"/>
          </a:xfrm>
          <a:prstGeom prst="line">
            <a:avLst/>
          </a:prstGeom>
          <a:ln w="28575">
            <a:solidFill>
              <a:srgbClr val="33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379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2795" y="351009"/>
            <a:ext cx="51555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Min- Max Problem </a:t>
            </a:r>
            <a:r>
              <a:rPr lang="en-IN" sz="2800" b="1" dirty="0" smtClean="0"/>
              <a:t>- Example </a:t>
            </a:r>
            <a:endParaRPr lang="en-IN" sz="2800" b="1" dirty="0"/>
          </a:p>
        </p:txBody>
      </p:sp>
      <p:sp>
        <p:nvSpPr>
          <p:cNvPr id="2" name="Rectangle 1"/>
          <p:cNvSpPr/>
          <p:nvPr/>
        </p:nvSpPr>
        <p:spPr>
          <a:xfrm>
            <a:off x="412795" y="1083944"/>
            <a:ext cx="11474405" cy="1132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400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Problem</a:t>
            </a: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:</a:t>
            </a:r>
            <a:r>
              <a:rPr lang="en-US" sz="2400" b="1" dirty="0">
                <a:solidFill>
                  <a:srgbClr val="666666"/>
                </a:solidFill>
                <a:latin typeface="Trebuchet MS" panose="020B0603020202020204" pitchFamily="34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</a:rPr>
              <a:t>Find max and min from the sequence </a:t>
            </a:r>
            <a:r>
              <a:rPr lang="en-US" sz="2400" dirty="0" smtClean="0">
                <a:latin typeface="Trebuchet MS" panose="020B0603020202020204" pitchFamily="34" charset="0"/>
              </a:rPr>
              <a:t>33</a:t>
            </a:r>
            <a:r>
              <a:rPr lang="en-US" sz="2400" dirty="0">
                <a:latin typeface="Trebuchet MS" panose="020B0603020202020204" pitchFamily="34" charset="0"/>
              </a:rPr>
              <a:t>, 11, 44, 55, 66, </a:t>
            </a:r>
            <a:r>
              <a:rPr lang="en-US" sz="2400" dirty="0" smtClean="0">
                <a:latin typeface="Trebuchet MS" panose="020B0603020202020204" pitchFamily="34" charset="0"/>
              </a:rPr>
              <a:t>22 </a:t>
            </a:r>
            <a:r>
              <a:rPr lang="en-US" sz="2400" dirty="0">
                <a:latin typeface="Trebuchet MS" panose="020B0603020202020204" pitchFamily="34" charset="0"/>
              </a:rPr>
              <a:t>using divide and conquer approach</a:t>
            </a:r>
            <a:endParaRPr lang="en-US" sz="2400" i="0" dirty="0">
              <a:effectLst/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19116" y="2747279"/>
            <a:ext cx="98400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During the divide step, the algorithm divides the array until it reaches a size of one or two.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Once the array size reaches the base case, we may get the maximum and minimum number from each array recursively. 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This method is continued until all of the subarrays have been processed. </a:t>
            </a:r>
          </a:p>
        </p:txBody>
      </p:sp>
      <p:sp>
        <p:nvSpPr>
          <p:cNvPr id="7" name="Rectangle 6"/>
          <p:cNvSpPr/>
          <p:nvPr/>
        </p:nvSpPr>
        <p:spPr>
          <a:xfrm>
            <a:off x="412794" y="2223388"/>
            <a:ext cx="18527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225713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0280" y="299738"/>
            <a:ext cx="51555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Min- Max Problem </a:t>
            </a:r>
            <a:r>
              <a:rPr lang="en-IN" sz="2800" b="1" dirty="0" smtClean="0"/>
              <a:t>- Example </a:t>
            </a:r>
            <a:endParaRPr lang="en-IN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063" y="1543709"/>
            <a:ext cx="5076967" cy="521193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290281" y="1024303"/>
            <a:ext cx="69628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u="sng" dirty="0" smtClean="0">
                <a:solidFill>
                  <a:srgbClr val="C00000"/>
                </a:solidFill>
                <a:latin typeface="Trebuchet MS" panose="020B0603020202020204" pitchFamily="34" charset="0"/>
              </a:rPr>
              <a:t>Steps to find min and max value from array.</a:t>
            </a:r>
            <a:endParaRPr lang="en-US" sz="2400" u="sng" dirty="0">
              <a:solidFill>
                <a:srgbClr val="C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6043" y="1543709"/>
            <a:ext cx="63613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Step 1: </a:t>
            </a:r>
            <a:r>
              <a:rPr lang="en-US" sz="2400" dirty="0" smtClean="0">
                <a:latin typeface="Trebuchet MS" panose="020B0603020202020204" pitchFamily="34" charset="0"/>
              </a:rPr>
              <a:t>List the array in the given sequence. 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043" y="2125570"/>
            <a:ext cx="64705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2: </a:t>
            </a:r>
            <a:r>
              <a:rPr lang="en-US" sz="2400" dirty="0" smtClean="0">
                <a:latin typeface="Trebuchet MS" panose="020B0603020202020204" pitchFamily="34" charset="0"/>
              </a:rPr>
              <a:t>Divided into sub array in two and check the array 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reaches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a size of one or two. </a:t>
            </a:r>
            <a:r>
              <a:rPr lang="en-US" sz="2400" dirty="0" smtClean="0">
                <a:latin typeface="Trebuchet MS" panose="020B0603020202020204" pitchFamily="34" charset="0"/>
              </a:rPr>
              <a:t> 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6044" y="2968142"/>
            <a:ext cx="61984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3: </a:t>
            </a:r>
            <a:r>
              <a:rPr lang="en-US" sz="2400" dirty="0" smtClean="0">
                <a:latin typeface="Trebuchet MS" panose="020B0603020202020204" pitchFamily="34" charset="0"/>
              </a:rPr>
              <a:t>If not, divides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the array 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until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it reaches a size of 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one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or two.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281" y="3901710"/>
            <a:ext cx="65063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4: </a:t>
            </a:r>
            <a:r>
              <a:rPr lang="en-US" sz="2400" dirty="0" smtClean="0">
                <a:latin typeface="Trebuchet MS" panose="020B0603020202020204" pitchFamily="34" charset="0"/>
              </a:rPr>
              <a:t>Now set min </a:t>
            </a:r>
            <a:r>
              <a:rPr lang="en-US" sz="2400" dirty="0" smtClean="0">
                <a:latin typeface="+mj-lt"/>
              </a:rPr>
              <a:t>&amp; </a:t>
            </a:r>
            <a:r>
              <a:rPr lang="en-US" sz="2400" dirty="0">
                <a:latin typeface="Trebuchet MS" panose="020B0603020202020204" pitchFamily="34" charset="0"/>
              </a:rPr>
              <a:t>max </a:t>
            </a:r>
            <a:r>
              <a:rPr lang="en-US" sz="2400" dirty="0" smtClean="0">
                <a:latin typeface="Trebuchet MS" panose="020B0603020202020204" pitchFamily="34" charset="0"/>
              </a:rPr>
              <a:t>value of each sub array then compare with subarray values. Here 33 is considered min and max.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90281" y="5094382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5: </a:t>
            </a:r>
            <a:r>
              <a:rPr lang="en-US" sz="2400" dirty="0" smtClean="0">
                <a:latin typeface="Trebuchet MS" panose="020B0603020202020204" pitchFamily="34" charset="0"/>
              </a:rPr>
              <a:t>Now we got compared and stored min and max values then repeat the same.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0280" y="5966395"/>
            <a:ext cx="63971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6: </a:t>
            </a:r>
            <a:r>
              <a:rPr lang="en-US" sz="2400" dirty="0" smtClean="0">
                <a:latin typeface="Trebuchet MS" panose="020B0603020202020204" pitchFamily="34" charset="0"/>
              </a:rPr>
              <a:t>Finally we got min and max value from the array.</a:t>
            </a:r>
            <a:endParaRPr lang="en-US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35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2346" y="1396832"/>
            <a:ext cx="1017668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Merge sort sorts the list using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divide and conquers </a:t>
            </a:r>
            <a:r>
              <a:rPr lang="en-US" sz="2400" dirty="0">
                <a:latin typeface="Trebuchet MS" panose="020B0603020202020204" pitchFamily="34" charset="0"/>
              </a:rPr>
              <a:t>strategy. Unlike selection sort, bubble sort or insertion sort, it sorts data by dividing the list into sub lists and recursively solving and combining them.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It </a:t>
            </a:r>
            <a:r>
              <a:rPr lang="en-US" sz="2400" dirty="0">
                <a:latin typeface="Trebuchet MS" panose="020B0603020202020204" pitchFamily="34" charset="0"/>
              </a:rPr>
              <a:t>works on following two basic principles :</a:t>
            </a:r>
          </a:p>
          <a:p>
            <a:pPr marL="723900" indent="-3683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rebuchet MS" panose="020B0603020202020204" pitchFamily="34" charset="0"/>
              </a:rPr>
              <a:t>Sorting </a:t>
            </a:r>
            <a:r>
              <a:rPr lang="en-US" sz="2400" dirty="0">
                <a:latin typeface="Trebuchet MS" panose="020B0603020202020204" pitchFamily="34" charset="0"/>
              </a:rPr>
              <a:t>a smaller list takes less time than sorting a larger list.</a:t>
            </a:r>
          </a:p>
          <a:p>
            <a:pPr marL="723900" indent="-3683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rebuchet MS" panose="020B0603020202020204" pitchFamily="34" charset="0"/>
              </a:rPr>
              <a:t>Combining two sorted </a:t>
            </a:r>
            <a:r>
              <a:rPr lang="en-US" sz="2400" dirty="0" smtClean="0">
                <a:latin typeface="Trebuchet MS" panose="020B0603020202020204" pitchFamily="34" charset="0"/>
              </a:rPr>
              <a:t>sublists </a:t>
            </a:r>
            <a:r>
              <a:rPr lang="en-US" sz="2400" dirty="0">
                <a:latin typeface="Trebuchet MS" panose="020B0603020202020204" pitchFamily="34" charset="0"/>
              </a:rPr>
              <a:t>takes less time than combining two unsorted lists</a:t>
            </a:r>
            <a:r>
              <a:rPr lang="en-US" sz="2400" dirty="0" smtClean="0">
                <a:latin typeface="Trebuchet MS" panose="020B0603020202020204" pitchFamily="34" charset="0"/>
              </a:rPr>
              <a:t>.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2955" y="269122"/>
            <a:ext cx="68238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Merge </a:t>
            </a:r>
            <a:r>
              <a:rPr lang="en-IN" sz="2800" b="1" dirty="0" smtClean="0"/>
              <a:t>sort Algorithm – Introduction  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46064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6118" y="1461532"/>
            <a:ext cx="1046328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Merge sort works in </a:t>
            </a:r>
            <a:r>
              <a:rPr lang="en-US" sz="24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three stages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:</a:t>
            </a:r>
          </a:p>
          <a:p>
            <a:pPr marL="900113" lvl="0" indent="-5445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Divide :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Recursively divide the single list into two sublists until each sublist contains 1 element.</a:t>
            </a:r>
          </a:p>
          <a:p>
            <a:pPr marL="900113" lvl="0" indent="-5445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Conquer :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Sort both sublists of parent list. List of 1 element is sorted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.</a:t>
            </a:r>
          </a:p>
          <a:p>
            <a:pPr marL="900113" lvl="0" indent="-544513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Combine :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Recursively combine sorted sublists until the list of size n is produced.</a:t>
            </a:r>
            <a:endParaRPr lang="en-IN" sz="24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754" y="233121"/>
            <a:ext cx="40041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800" b="1" dirty="0">
                <a:solidFill>
                  <a:prstClr val="black"/>
                </a:solidFill>
              </a:rPr>
              <a:t>Merge sort Algorithm  </a:t>
            </a:r>
          </a:p>
        </p:txBody>
      </p:sp>
    </p:spTree>
    <p:extLst>
      <p:ext uri="{BB962C8B-B14F-4D97-AF65-F5344CB8AC3E}">
        <p14:creationId xmlns:p14="http://schemas.microsoft.com/office/powerpoint/2010/main" val="244129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852" y="1344151"/>
            <a:ext cx="797029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0070C0"/>
                </a:solidFill>
                <a:latin typeface="Trebuchet MS" panose="020B0603020202020204" pitchFamily="34" charset="0"/>
              </a:rPr>
              <a:t>ALGORITHM</a:t>
            </a:r>
            <a:r>
              <a:rPr lang="en-IN" sz="2000" b="1" dirty="0">
                <a:latin typeface="Trebuchet MS" panose="020B0603020202020204" pitchFamily="34" charset="0"/>
              </a:rPr>
              <a:t> </a:t>
            </a:r>
            <a:r>
              <a:rPr lang="en-IN" sz="2000" i="1" dirty="0" err="1">
                <a:solidFill>
                  <a:srgbClr val="FF0000"/>
                </a:solidFill>
                <a:latin typeface="Trebuchet MS" panose="020B0603020202020204" pitchFamily="34" charset="0"/>
              </a:rPr>
              <a:t>Mergesort</a:t>
            </a:r>
            <a:r>
              <a:rPr lang="en-IN" sz="2000" i="1" dirty="0">
                <a:latin typeface="Trebuchet MS" panose="020B0603020202020204" pitchFamily="34" charset="0"/>
              </a:rPr>
              <a:t>(A</a:t>
            </a:r>
            <a:r>
              <a:rPr lang="en-IN" sz="2000" dirty="0">
                <a:latin typeface="Trebuchet MS" panose="020B0603020202020204" pitchFamily="34" charset="0"/>
              </a:rPr>
              <a:t>[0</a:t>
            </a:r>
            <a:r>
              <a:rPr lang="en-IN" sz="2000" i="1" dirty="0">
                <a:latin typeface="Trebuchet MS" panose="020B0603020202020204" pitchFamily="34" charset="0"/>
              </a:rPr>
              <a:t>..n </a:t>
            </a:r>
            <a:r>
              <a:rPr lang="en-IN" sz="2000" dirty="0">
                <a:latin typeface="Trebuchet MS" panose="020B0603020202020204" pitchFamily="34" charset="0"/>
              </a:rPr>
              <a:t>− 1]</a:t>
            </a:r>
            <a:r>
              <a:rPr lang="en-IN" sz="2000" i="1" dirty="0">
                <a:latin typeface="Trebuchet MS" panose="020B0603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//Sorts array </a:t>
            </a:r>
            <a:r>
              <a:rPr lang="en-US" sz="2000" i="1" dirty="0">
                <a:solidFill>
                  <a:srgbClr val="0070C0"/>
                </a:solidFill>
                <a:latin typeface="Trebuchet MS" panose="020B0603020202020204" pitchFamily="34" charset="0"/>
              </a:rPr>
              <a:t>A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[0</a:t>
            </a:r>
            <a:r>
              <a:rPr lang="en-US" sz="2000" i="1" dirty="0">
                <a:solidFill>
                  <a:srgbClr val="0070C0"/>
                </a:solidFill>
                <a:latin typeface="Trebuchet MS" panose="020B0603020202020204" pitchFamily="34" charset="0"/>
              </a:rPr>
              <a:t>..n </a:t>
            </a:r>
            <a:r>
              <a:rPr lang="en-US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− 1] by recursive </a:t>
            </a:r>
            <a:r>
              <a:rPr lang="en-US" sz="2000" dirty="0" err="1">
                <a:solidFill>
                  <a:srgbClr val="0070C0"/>
                </a:solidFill>
                <a:latin typeface="Trebuchet MS" panose="020B0603020202020204" pitchFamily="34" charset="0"/>
              </a:rPr>
              <a:t>mergesort</a:t>
            </a:r>
            <a:endParaRPr lang="en-US" sz="2000" dirty="0">
              <a:solidFill>
                <a:srgbClr val="0070C0"/>
              </a:solidFill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//Input: </a:t>
            </a:r>
            <a:r>
              <a:rPr lang="en-US" sz="2000" dirty="0">
                <a:latin typeface="Trebuchet MS" panose="020B0603020202020204" pitchFamily="34" charset="0"/>
              </a:rPr>
              <a:t>An array </a:t>
            </a:r>
            <a:r>
              <a:rPr lang="en-US" sz="2000" i="1" dirty="0">
                <a:latin typeface="Trebuchet MS" panose="020B0603020202020204" pitchFamily="34" charset="0"/>
              </a:rPr>
              <a:t>A</a:t>
            </a:r>
            <a:r>
              <a:rPr lang="en-US" sz="2000" dirty="0">
                <a:latin typeface="Trebuchet MS" panose="020B0603020202020204" pitchFamily="34" charset="0"/>
              </a:rPr>
              <a:t>[0</a:t>
            </a:r>
            <a:r>
              <a:rPr lang="en-US" sz="2000" i="1" dirty="0">
                <a:latin typeface="Trebuchet MS" panose="020B0603020202020204" pitchFamily="34" charset="0"/>
              </a:rPr>
              <a:t>..n </a:t>
            </a:r>
            <a:r>
              <a:rPr lang="en-US" sz="2000" dirty="0">
                <a:latin typeface="Trebuchet MS" panose="020B0603020202020204" pitchFamily="34" charset="0"/>
              </a:rPr>
              <a:t>− 1] of orderable elements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//Output: </a:t>
            </a:r>
            <a:r>
              <a:rPr lang="en-US" sz="2000" dirty="0">
                <a:latin typeface="Trebuchet MS" panose="020B0603020202020204" pitchFamily="34" charset="0"/>
              </a:rPr>
              <a:t>Array </a:t>
            </a:r>
            <a:r>
              <a:rPr lang="en-US" sz="2000" i="1" dirty="0">
                <a:latin typeface="Trebuchet MS" panose="020B0603020202020204" pitchFamily="34" charset="0"/>
              </a:rPr>
              <a:t>A</a:t>
            </a:r>
            <a:r>
              <a:rPr lang="en-US" sz="2000" dirty="0">
                <a:latin typeface="Trebuchet MS" panose="020B0603020202020204" pitchFamily="34" charset="0"/>
              </a:rPr>
              <a:t>[0</a:t>
            </a:r>
            <a:r>
              <a:rPr lang="en-US" sz="2000" i="1" dirty="0">
                <a:latin typeface="Trebuchet MS" panose="020B0603020202020204" pitchFamily="34" charset="0"/>
              </a:rPr>
              <a:t>..n </a:t>
            </a:r>
            <a:r>
              <a:rPr lang="en-US" sz="2000" dirty="0">
                <a:latin typeface="Trebuchet MS" panose="020B0603020202020204" pitchFamily="34" charset="0"/>
              </a:rPr>
              <a:t>− 1] sorted in </a:t>
            </a:r>
            <a:r>
              <a:rPr lang="en-US" sz="2000" dirty="0" err="1">
                <a:latin typeface="Trebuchet MS" panose="020B0603020202020204" pitchFamily="34" charset="0"/>
              </a:rPr>
              <a:t>nondecreasing</a:t>
            </a:r>
            <a:r>
              <a:rPr lang="en-US" sz="2000" dirty="0">
                <a:latin typeface="Trebuchet MS" panose="020B0603020202020204" pitchFamily="34" charset="0"/>
              </a:rPr>
              <a:t> order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rebuchet MS" panose="020B0603020202020204" pitchFamily="34" charset="0"/>
              </a:rPr>
              <a:t>if </a:t>
            </a:r>
            <a:r>
              <a:rPr lang="en-IN" sz="2000" i="1" dirty="0">
                <a:latin typeface="Trebuchet MS" panose="020B0603020202020204" pitchFamily="34" charset="0"/>
              </a:rPr>
              <a:t>n &gt; </a:t>
            </a:r>
            <a:r>
              <a:rPr lang="en-IN" sz="2000" dirty="0">
                <a:latin typeface="Trebuchet MS" panose="020B0603020202020204" pitchFamily="34" charset="0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Trebuchet MS" panose="020B0603020202020204" pitchFamily="34" charset="0"/>
              </a:rPr>
              <a:t>copy </a:t>
            </a:r>
            <a:r>
              <a:rPr lang="pt-BR" sz="2000" i="1" dirty="0">
                <a:latin typeface="Trebuchet MS" panose="020B0603020202020204" pitchFamily="34" charset="0"/>
              </a:rPr>
              <a:t>A</a:t>
            </a:r>
            <a:r>
              <a:rPr lang="pt-BR" sz="2000" dirty="0">
                <a:latin typeface="Trebuchet MS" panose="020B0603020202020204" pitchFamily="34" charset="0"/>
              </a:rPr>
              <a:t>[0</a:t>
            </a:r>
            <a:r>
              <a:rPr lang="pt-BR" sz="2000" i="1" dirty="0">
                <a:latin typeface="Trebuchet MS" panose="020B0603020202020204" pitchFamily="34" charset="0"/>
              </a:rPr>
              <a:t>..n/</a:t>
            </a:r>
            <a:r>
              <a:rPr lang="pt-BR" sz="2000" dirty="0">
                <a:latin typeface="Trebuchet MS" panose="020B0603020202020204" pitchFamily="34" charset="0"/>
              </a:rPr>
              <a:t>2 − 1] to </a:t>
            </a:r>
            <a:r>
              <a:rPr lang="pt-BR" sz="2000" i="1" dirty="0">
                <a:latin typeface="Trebuchet MS" panose="020B0603020202020204" pitchFamily="34" charset="0"/>
              </a:rPr>
              <a:t>B</a:t>
            </a:r>
            <a:r>
              <a:rPr lang="pt-BR" sz="2000" dirty="0">
                <a:latin typeface="Trebuchet MS" panose="020B0603020202020204" pitchFamily="34" charset="0"/>
              </a:rPr>
              <a:t>[0</a:t>
            </a:r>
            <a:r>
              <a:rPr lang="pt-BR" sz="2000" i="1" dirty="0">
                <a:latin typeface="Trebuchet MS" panose="020B0603020202020204" pitchFamily="34" charset="0"/>
              </a:rPr>
              <a:t>..n/</a:t>
            </a:r>
            <a:r>
              <a:rPr lang="pt-BR" sz="2000" dirty="0">
                <a:latin typeface="Trebuchet MS" panose="020B0603020202020204" pitchFamily="34" charset="0"/>
              </a:rPr>
              <a:t>2 − 1]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Trebuchet MS" panose="020B0603020202020204" pitchFamily="34" charset="0"/>
              </a:rPr>
              <a:t>copy </a:t>
            </a:r>
            <a:r>
              <a:rPr lang="pt-BR" sz="2000" i="1" dirty="0">
                <a:latin typeface="Trebuchet MS" panose="020B0603020202020204" pitchFamily="34" charset="0"/>
              </a:rPr>
              <a:t>A</a:t>
            </a:r>
            <a:r>
              <a:rPr lang="pt-BR" sz="2000" dirty="0">
                <a:latin typeface="Trebuchet MS" panose="020B0603020202020204" pitchFamily="34" charset="0"/>
              </a:rPr>
              <a:t>[</a:t>
            </a:r>
            <a:r>
              <a:rPr lang="pt-BR" sz="2000" i="1" dirty="0">
                <a:latin typeface="Trebuchet MS" panose="020B0603020202020204" pitchFamily="34" charset="0"/>
              </a:rPr>
              <a:t>n/</a:t>
            </a:r>
            <a:r>
              <a:rPr lang="pt-BR" sz="2000" dirty="0">
                <a:latin typeface="Trebuchet MS" panose="020B0603020202020204" pitchFamily="34" charset="0"/>
              </a:rPr>
              <a:t>2</a:t>
            </a:r>
            <a:r>
              <a:rPr lang="pt-BR" sz="2000" i="1" dirty="0">
                <a:latin typeface="Trebuchet MS" panose="020B0603020202020204" pitchFamily="34" charset="0"/>
              </a:rPr>
              <a:t>..n </a:t>
            </a:r>
            <a:r>
              <a:rPr lang="pt-BR" sz="2000" dirty="0">
                <a:latin typeface="Trebuchet MS" panose="020B0603020202020204" pitchFamily="34" charset="0"/>
              </a:rPr>
              <a:t>− 1] to </a:t>
            </a:r>
            <a:r>
              <a:rPr lang="pt-BR" sz="2000" i="1" dirty="0">
                <a:latin typeface="Trebuchet MS" panose="020B0603020202020204" pitchFamily="34" charset="0"/>
              </a:rPr>
              <a:t>C</a:t>
            </a:r>
            <a:r>
              <a:rPr lang="pt-BR" sz="2000" dirty="0">
                <a:latin typeface="Trebuchet MS" panose="020B0603020202020204" pitchFamily="34" charset="0"/>
              </a:rPr>
              <a:t>[0</a:t>
            </a:r>
            <a:r>
              <a:rPr lang="pt-BR" sz="2000" i="1" dirty="0">
                <a:latin typeface="Trebuchet MS" panose="020B0603020202020204" pitchFamily="34" charset="0"/>
              </a:rPr>
              <a:t>..n/</a:t>
            </a:r>
            <a:r>
              <a:rPr lang="pt-BR" sz="2000" dirty="0">
                <a:latin typeface="Trebuchet MS" panose="020B0603020202020204" pitchFamily="34" charset="0"/>
              </a:rPr>
              <a:t>2 − 1]</a:t>
            </a:r>
          </a:p>
          <a:p>
            <a:pPr>
              <a:lnSpc>
                <a:spcPct val="150000"/>
              </a:lnSpc>
            </a:pPr>
            <a:r>
              <a:rPr lang="en-IN" sz="2000" i="1" dirty="0" err="1">
                <a:latin typeface="Trebuchet MS" panose="020B0603020202020204" pitchFamily="34" charset="0"/>
              </a:rPr>
              <a:t>Mergesort</a:t>
            </a:r>
            <a:r>
              <a:rPr lang="en-IN" sz="2000" i="1" dirty="0">
                <a:latin typeface="Trebuchet MS" panose="020B0603020202020204" pitchFamily="34" charset="0"/>
              </a:rPr>
              <a:t>(B</a:t>
            </a:r>
            <a:r>
              <a:rPr lang="en-IN" sz="2000" dirty="0">
                <a:latin typeface="Trebuchet MS" panose="020B0603020202020204" pitchFamily="34" charset="0"/>
              </a:rPr>
              <a:t>[0</a:t>
            </a:r>
            <a:r>
              <a:rPr lang="en-IN" sz="2000" i="1" dirty="0">
                <a:latin typeface="Trebuchet MS" panose="020B0603020202020204" pitchFamily="34" charset="0"/>
              </a:rPr>
              <a:t>..n/</a:t>
            </a:r>
            <a:r>
              <a:rPr lang="en-IN" sz="2000" dirty="0">
                <a:latin typeface="Trebuchet MS" panose="020B0603020202020204" pitchFamily="34" charset="0"/>
              </a:rPr>
              <a:t>2 − 1]</a:t>
            </a:r>
            <a:r>
              <a:rPr lang="en-IN" sz="2000" i="1" dirty="0">
                <a:latin typeface="Trebuchet MS" panose="020B0603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sz="2000" i="1" dirty="0" err="1">
                <a:latin typeface="Trebuchet MS" panose="020B0603020202020204" pitchFamily="34" charset="0"/>
              </a:rPr>
              <a:t>Mergesort</a:t>
            </a:r>
            <a:r>
              <a:rPr lang="en-IN" sz="2000" i="1" dirty="0">
                <a:latin typeface="Trebuchet MS" panose="020B0603020202020204" pitchFamily="34" charset="0"/>
              </a:rPr>
              <a:t>(C</a:t>
            </a:r>
            <a:r>
              <a:rPr lang="en-IN" sz="2000" dirty="0">
                <a:latin typeface="Trebuchet MS" panose="020B0603020202020204" pitchFamily="34" charset="0"/>
              </a:rPr>
              <a:t>[0</a:t>
            </a:r>
            <a:r>
              <a:rPr lang="en-IN" sz="2000" i="1" dirty="0">
                <a:latin typeface="Trebuchet MS" panose="020B0603020202020204" pitchFamily="34" charset="0"/>
              </a:rPr>
              <a:t>..n/</a:t>
            </a:r>
            <a:r>
              <a:rPr lang="en-IN" sz="2000" dirty="0">
                <a:latin typeface="Trebuchet MS" panose="020B0603020202020204" pitchFamily="34" charset="0"/>
              </a:rPr>
              <a:t>2 − 1]</a:t>
            </a:r>
            <a:r>
              <a:rPr lang="en-IN" sz="2000" i="1" dirty="0">
                <a:latin typeface="Trebuchet MS" panose="020B0603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000" i="1" dirty="0">
                <a:latin typeface="Trebuchet MS" panose="020B0603020202020204" pitchFamily="34" charset="0"/>
              </a:rPr>
              <a:t>Merge(B, C, A) </a:t>
            </a:r>
            <a:r>
              <a:rPr lang="en-US" sz="2000" dirty="0">
                <a:latin typeface="Trebuchet MS" panose="020B0603020202020204" pitchFamily="34" charset="0"/>
              </a:rPr>
              <a:t>//see below</a:t>
            </a:r>
            <a:endParaRPr lang="en-IN" sz="4400" dirty="0">
              <a:latin typeface="Trebuchet MS" panose="020B0603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14541" y="274065"/>
            <a:ext cx="3943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tabLst>
                <a:tab pos="4489450" algn="l"/>
              </a:tabLst>
            </a:pPr>
            <a:r>
              <a:rPr lang="en-US" sz="2800" b="1" dirty="0">
                <a:solidFill>
                  <a:prstClr val="black"/>
                </a:solidFill>
              </a:rPr>
              <a:t>Merge Sort </a:t>
            </a:r>
            <a:r>
              <a:rPr lang="en-US" sz="2800" b="1" dirty="0" smtClean="0">
                <a:solidFill>
                  <a:prstClr val="black"/>
                </a:solidFill>
              </a:rPr>
              <a:t>Algorithm </a:t>
            </a:r>
            <a:endParaRPr lang="en-US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37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4541" y="274065"/>
            <a:ext cx="3943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tabLst>
                <a:tab pos="4489450" algn="l"/>
              </a:tabLst>
            </a:pPr>
            <a:r>
              <a:rPr lang="en-US" sz="2800" b="1" dirty="0">
                <a:solidFill>
                  <a:prstClr val="black"/>
                </a:solidFill>
              </a:rPr>
              <a:t>Merge Sort </a:t>
            </a:r>
            <a:r>
              <a:rPr lang="en-US" sz="2800" b="1" dirty="0" smtClean="0">
                <a:solidFill>
                  <a:prstClr val="black"/>
                </a:solidFill>
              </a:rPr>
              <a:t>Algorithm </a:t>
            </a:r>
            <a:endParaRPr lang="en-US" sz="2800" b="1" dirty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6811" y="1031432"/>
            <a:ext cx="9002973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0070C0"/>
                </a:solidFill>
                <a:latin typeface="Trebuchet MS" panose="020B0603020202020204" pitchFamily="34" charset="0"/>
              </a:rPr>
              <a:t>ALGORITHM</a:t>
            </a:r>
            <a:r>
              <a:rPr lang="en-IN" b="1" dirty="0">
                <a:latin typeface="Trebuchet MS" panose="020B0603020202020204" pitchFamily="34" charset="0"/>
              </a:rPr>
              <a:t> </a:t>
            </a:r>
            <a:r>
              <a:rPr lang="en-IN" i="1" dirty="0">
                <a:solidFill>
                  <a:srgbClr val="FF0000"/>
                </a:solidFill>
                <a:latin typeface="Trebuchet MS" panose="020B0603020202020204" pitchFamily="34" charset="0"/>
              </a:rPr>
              <a:t>Merge</a:t>
            </a:r>
            <a:r>
              <a:rPr lang="en-IN" i="1" dirty="0">
                <a:solidFill>
                  <a:srgbClr val="0070C0"/>
                </a:solidFill>
                <a:latin typeface="Trebuchet MS" panose="020B0603020202020204" pitchFamily="34" charset="0"/>
              </a:rPr>
              <a:t>(B</a:t>
            </a:r>
            <a:r>
              <a:rPr lang="en-IN" dirty="0">
                <a:solidFill>
                  <a:srgbClr val="0070C0"/>
                </a:solidFill>
                <a:latin typeface="Trebuchet MS" panose="020B0603020202020204" pitchFamily="34" charset="0"/>
              </a:rPr>
              <a:t>[0</a:t>
            </a:r>
            <a:r>
              <a:rPr lang="en-IN" i="1" dirty="0">
                <a:solidFill>
                  <a:srgbClr val="0070C0"/>
                </a:solidFill>
                <a:latin typeface="Trebuchet MS" panose="020B0603020202020204" pitchFamily="34" charset="0"/>
              </a:rPr>
              <a:t>..p </a:t>
            </a:r>
            <a:r>
              <a:rPr lang="en-IN" dirty="0">
                <a:solidFill>
                  <a:srgbClr val="0070C0"/>
                </a:solidFill>
                <a:latin typeface="Trebuchet MS" panose="020B0603020202020204" pitchFamily="34" charset="0"/>
              </a:rPr>
              <a:t>− 1]</a:t>
            </a:r>
            <a:r>
              <a:rPr lang="en-IN" i="1" dirty="0">
                <a:solidFill>
                  <a:srgbClr val="0070C0"/>
                </a:solidFill>
                <a:latin typeface="Trebuchet MS" panose="020B0603020202020204" pitchFamily="34" charset="0"/>
              </a:rPr>
              <a:t>, C</a:t>
            </a:r>
            <a:r>
              <a:rPr lang="en-IN" dirty="0">
                <a:solidFill>
                  <a:srgbClr val="0070C0"/>
                </a:solidFill>
                <a:latin typeface="Trebuchet MS" panose="020B0603020202020204" pitchFamily="34" charset="0"/>
              </a:rPr>
              <a:t>[0</a:t>
            </a:r>
            <a:r>
              <a:rPr lang="en-IN" i="1" dirty="0">
                <a:solidFill>
                  <a:srgbClr val="0070C0"/>
                </a:solidFill>
                <a:latin typeface="Trebuchet MS" panose="020B0603020202020204" pitchFamily="34" charset="0"/>
              </a:rPr>
              <a:t>..q </a:t>
            </a:r>
            <a:r>
              <a:rPr lang="en-IN" dirty="0">
                <a:solidFill>
                  <a:srgbClr val="0070C0"/>
                </a:solidFill>
                <a:latin typeface="Trebuchet MS" panose="020B0603020202020204" pitchFamily="34" charset="0"/>
              </a:rPr>
              <a:t>− 1]</a:t>
            </a:r>
            <a:r>
              <a:rPr lang="en-IN" i="1" dirty="0">
                <a:solidFill>
                  <a:srgbClr val="0070C0"/>
                </a:solidFill>
                <a:latin typeface="Trebuchet MS" panose="020B0603020202020204" pitchFamily="34" charset="0"/>
              </a:rPr>
              <a:t>, A</a:t>
            </a:r>
            <a:r>
              <a:rPr lang="en-IN" dirty="0">
                <a:solidFill>
                  <a:srgbClr val="0070C0"/>
                </a:solidFill>
                <a:latin typeface="Trebuchet MS" panose="020B0603020202020204" pitchFamily="34" charset="0"/>
              </a:rPr>
              <a:t>[0</a:t>
            </a:r>
            <a:r>
              <a:rPr lang="en-IN" i="1" dirty="0">
                <a:solidFill>
                  <a:srgbClr val="0070C0"/>
                </a:solidFill>
                <a:latin typeface="Trebuchet MS" panose="020B0603020202020204" pitchFamily="34" charset="0"/>
              </a:rPr>
              <a:t>..p </a:t>
            </a:r>
            <a:r>
              <a:rPr lang="en-IN" dirty="0">
                <a:solidFill>
                  <a:srgbClr val="0070C0"/>
                </a:solidFill>
                <a:latin typeface="Trebuchet MS" panose="020B0603020202020204" pitchFamily="34" charset="0"/>
              </a:rPr>
              <a:t>+ </a:t>
            </a:r>
            <a:r>
              <a:rPr lang="en-IN" i="1" dirty="0">
                <a:solidFill>
                  <a:srgbClr val="0070C0"/>
                </a:solidFill>
                <a:latin typeface="Trebuchet MS" panose="020B0603020202020204" pitchFamily="34" charset="0"/>
              </a:rPr>
              <a:t>q </a:t>
            </a:r>
            <a:r>
              <a:rPr lang="en-IN" dirty="0">
                <a:solidFill>
                  <a:srgbClr val="0070C0"/>
                </a:solidFill>
                <a:latin typeface="Trebuchet MS" panose="020B0603020202020204" pitchFamily="34" charset="0"/>
              </a:rPr>
              <a:t>− 1]</a:t>
            </a:r>
            <a:r>
              <a:rPr lang="en-IN" i="1" dirty="0">
                <a:solidFill>
                  <a:srgbClr val="0070C0"/>
                </a:solidFill>
                <a:latin typeface="Trebuchet MS" panose="020B0603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rebuchet MS" panose="020B0603020202020204" pitchFamily="34" charset="0"/>
              </a:rPr>
              <a:t>//Merges two sorted arrays into one sorted array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Trebuchet MS" panose="020B0603020202020204" pitchFamily="34" charset="0"/>
              </a:rPr>
              <a:t>//Input: </a:t>
            </a:r>
            <a:r>
              <a:rPr lang="en-US" dirty="0">
                <a:latin typeface="Trebuchet MS" panose="020B0603020202020204" pitchFamily="34" charset="0"/>
              </a:rPr>
              <a:t>Arrays </a:t>
            </a:r>
            <a:r>
              <a:rPr lang="en-US" i="1" dirty="0">
                <a:latin typeface="Trebuchet MS" panose="020B0603020202020204" pitchFamily="34" charset="0"/>
              </a:rPr>
              <a:t>B</a:t>
            </a:r>
            <a:r>
              <a:rPr lang="en-US" dirty="0">
                <a:latin typeface="Trebuchet MS" panose="020B0603020202020204" pitchFamily="34" charset="0"/>
              </a:rPr>
              <a:t>[0</a:t>
            </a:r>
            <a:r>
              <a:rPr lang="en-US" i="1" dirty="0">
                <a:latin typeface="Trebuchet MS" panose="020B0603020202020204" pitchFamily="34" charset="0"/>
              </a:rPr>
              <a:t>..p </a:t>
            </a:r>
            <a:r>
              <a:rPr lang="en-US" dirty="0">
                <a:latin typeface="Trebuchet MS" panose="020B0603020202020204" pitchFamily="34" charset="0"/>
              </a:rPr>
              <a:t>− 1] and </a:t>
            </a:r>
            <a:r>
              <a:rPr lang="en-US" i="1" dirty="0">
                <a:latin typeface="Trebuchet MS" panose="020B0603020202020204" pitchFamily="34" charset="0"/>
              </a:rPr>
              <a:t>C</a:t>
            </a:r>
            <a:r>
              <a:rPr lang="en-US" dirty="0">
                <a:latin typeface="Trebuchet MS" panose="020B0603020202020204" pitchFamily="34" charset="0"/>
              </a:rPr>
              <a:t>[0</a:t>
            </a:r>
            <a:r>
              <a:rPr lang="en-US" i="1" dirty="0">
                <a:latin typeface="Trebuchet MS" panose="020B0603020202020204" pitchFamily="34" charset="0"/>
              </a:rPr>
              <a:t>..q </a:t>
            </a:r>
            <a:r>
              <a:rPr lang="en-US" dirty="0">
                <a:latin typeface="Trebuchet MS" panose="020B0603020202020204" pitchFamily="34" charset="0"/>
              </a:rPr>
              <a:t>− 1] both sorted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70C0"/>
                </a:solidFill>
                <a:latin typeface="Trebuchet MS" panose="020B0603020202020204" pitchFamily="34" charset="0"/>
              </a:rPr>
              <a:t>//Output: </a:t>
            </a:r>
            <a:r>
              <a:rPr lang="en-US" dirty="0">
                <a:latin typeface="Trebuchet MS" panose="020B0603020202020204" pitchFamily="34" charset="0"/>
              </a:rPr>
              <a:t>Sorted array </a:t>
            </a:r>
            <a:r>
              <a:rPr lang="en-US" i="1" dirty="0">
                <a:latin typeface="Trebuchet MS" panose="020B0603020202020204" pitchFamily="34" charset="0"/>
              </a:rPr>
              <a:t>A</a:t>
            </a:r>
            <a:r>
              <a:rPr lang="en-US" dirty="0">
                <a:latin typeface="Trebuchet MS" panose="020B0603020202020204" pitchFamily="34" charset="0"/>
              </a:rPr>
              <a:t>[0</a:t>
            </a:r>
            <a:r>
              <a:rPr lang="en-US" i="1" dirty="0">
                <a:latin typeface="Trebuchet MS" panose="020B0603020202020204" pitchFamily="34" charset="0"/>
              </a:rPr>
              <a:t>..p </a:t>
            </a:r>
            <a:r>
              <a:rPr lang="en-US" dirty="0">
                <a:latin typeface="Trebuchet MS" panose="020B0603020202020204" pitchFamily="34" charset="0"/>
              </a:rPr>
              <a:t>+ </a:t>
            </a:r>
            <a:r>
              <a:rPr lang="en-US" i="1" dirty="0">
                <a:latin typeface="Trebuchet MS" panose="020B0603020202020204" pitchFamily="34" charset="0"/>
              </a:rPr>
              <a:t>q </a:t>
            </a:r>
            <a:r>
              <a:rPr lang="en-US" dirty="0">
                <a:latin typeface="Trebuchet MS" panose="020B0603020202020204" pitchFamily="34" charset="0"/>
              </a:rPr>
              <a:t>− 1] of the elements of </a:t>
            </a:r>
            <a:r>
              <a:rPr lang="en-US" i="1" dirty="0">
                <a:latin typeface="Trebuchet MS" panose="020B0603020202020204" pitchFamily="34" charset="0"/>
              </a:rPr>
              <a:t>B </a:t>
            </a:r>
            <a:r>
              <a:rPr lang="en-US" dirty="0">
                <a:latin typeface="Trebuchet MS" panose="020B0603020202020204" pitchFamily="34" charset="0"/>
              </a:rPr>
              <a:t>and </a:t>
            </a:r>
            <a:r>
              <a:rPr lang="en-US" i="1" dirty="0">
                <a:latin typeface="Trebuchet MS" panose="020B0603020202020204" pitchFamily="34" charset="0"/>
              </a:rPr>
              <a:t>C</a:t>
            </a:r>
          </a:p>
          <a:p>
            <a:pPr>
              <a:lnSpc>
                <a:spcPct val="150000"/>
              </a:lnSpc>
            </a:pPr>
            <a:r>
              <a:rPr lang="en-IN" i="1" dirty="0" err="1">
                <a:latin typeface="Trebuchet MS" panose="020B0603020202020204" pitchFamily="34" charset="0"/>
              </a:rPr>
              <a:t>i</a:t>
            </a:r>
            <a:r>
              <a:rPr lang="en-IN" i="1" dirty="0">
                <a:latin typeface="Trebuchet MS" panose="020B0603020202020204" pitchFamily="34" charset="0"/>
              </a:rPr>
              <a:t> </a:t>
            </a:r>
            <a:r>
              <a:rPr lang="en-IN" dirty="0">
                <a:latin typeface="Trebuchet MS" panose="020B0603020202020204" pitchFamily="34" charset="0"/>
              </a:rPr>
              <a:t>←0; </a:t>
            </a:r>
            <a:r>
              <a:rPr lang="en-IN" i="1" dirty="0">
                <a:latin typeface="Trebuchet MS" panose="020B0603020202020204" pitchFamily="34" charset="0"/>
              </a:rPr>
              <a:t>j </a:t>
            </a:r>
            <a:r>
              <a:rPr lang="en-IN" dirty="0">
                <a:latin typeface="Trebuchet MS" panose="020B0603020202020204" pitchFamily="34" charset="0"/>
              </a:rPr>
              <a:t>←0; </a:t>
            </a:r>
            <a:r>
              <a:rPr lang="en-IN" i="1" dirty="0">
                <a:latin typeface="Trebuchet MS" panose="020B0603020202020204" pitchFamily="34" charset="0"/>
              </a:rPr>
              <a:t>k</a:t>
            </a:r>
            <a:r>
              <a:rPr lang="en-IN" dirty="0">
                <a:latin typeface="Trebuchet MS" panose="020B0603020202020204" pitchFamily="34" charset="0"/>
              </a:rPr>
              <a:t>←0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rebuchet MS" panose="020B0603020202020204" pitchFamily="34" charset="0"/>
              </a:rPr>
              <a:t>while </a:t>
            </a:r>
            <a:r>
              <a:rPr lang="en-US" i="1" dirty="0" err="1">
                <a:latin typeface="Trebuchet MS" panose="020B0603020202020204" pitchFamily="34" charset="0"/>
              </a:rPr>
              <a:t>i</a:t>
            </a:r>
            <a:r>
              <a:rPr lang="en-US" i="1" dirty="0">
                <a:latin typeface="Trebuchet MS" panose="020B0603020202020204" pitchFamily="34" charset="0"/>
              </a:rPr>
              <a:t> &lt;p </a:t>
            </a:r>
            <a:r>
              <a:rPr lang="en-US" b="1" dirty="0">
                <a:latin typeface="Trebuchet MS" panose="020B0603020202020204" pitchFamily="34" charset="0"/>
              </a:rPr>
              <a:t>and </a:t>
            </a:r>
            <a:r>
              <a:rPr lang="en-US" i="1" dirty="0">
                <a:latin typeface="Trebuchet MS" panose="020B0603020202020204" pitchFamily="34" charset="0"/>
              </a:rPr>
              <a:t>j &lt;q </a:t>
            </a:r>
            <a:r>
              <a:rPr lang="en-US" b="1" dirty="0">
                <a:latin typeface="Trebuchet MS" panose="020B0603020202020204" pitchFamily="34" charset="0"/>
              </a:rPr>
              <a:t>do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rebuchet MS" panose="020B0603020202020204" pitchFamily="34" charset="0"/>
              </a:rPr>
              <a:t>if </a:t>
            </a:r>
            <a:r>
              <a:rPr lang="en-IN" i="1" dirty="0">
                <a:latin typeface="Trebuchet MS" panose="020B0603020202020204" pitchFamily="34" charset="0"/>
              </a:rPr>
              <a:t>B</a:t>
            </a:r>
            <a:r>
              <a:rPr lang="en-IN" dirty="0">
                <a:latin typeface="Trebuchet MS" panose="020B0603020202020204" pitchFamily="34" charset="0"/>
              </a:rPr>
              <a:t>[</a:t>
            </a:r>
            <a:r>
              <a:rPr lang="en-IN" i="1" dirty="0" err="1">
                <a:latin typeface="Trebuchet MS" panose="020B0603020202020204" pitchFamily="34" charset="0"/>
              </a:rPr>
              <a:t>i</a:t>
            </a:r>
            <a:r>
              <a:rPr lang="en-IN" dirty="0">
                <a:latin typeface="Trebuchet MS" panose="020B0603020202020204" pitchFamily="34" charset="0"/>
              </a:rPr>
              <a:t>]≤ </a:t>
            </a:r>
            <a:r>
              <a:rPr lang="en-IN" i="1" dirty="0">
                <a:latin typeface="Trebuchet MS" panose="020B0603020202020204" pitchFamily="34" charset="0"/>
              </a:rPr>
              <a:t>C</a:t>
            </a:r>
            <a:r>
              <a:rPr lang="en-IN" dirty="0">
                <a:latin typeface="Trebuchet MS" panose="020B0603020202020204" pitchFamily="34" charset="0"/>
              </a:rPr>
              <a:t>[</a:t>
            </a:r>
            <a:r>
              <a:rPr lang="en-IN" i="1" dirty="0">
                <a:latin typeface="Trebuchet MS" panose="020B0603020202020204" pitchFamily="34" charset="0"/>
              </a:rPr>
              <a:t>j </a:t>
            </a:r>
            <a:r>
              <a:rPr lang="en-IN" dirty="0">
                <a:latin typeface="Trebuchet MS" panose="020B0603020202020204" pitchFamily="34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i="1" dirty="0" smtClean="0">
                <a:latin typeface="Trebuchet MS" panose="020B0603020202020204" pitchFamily="34" charset="0"/>
              </a:rPr>
              <a:t>   </a:t>
            </a:r>
            <a:r>
              <a:rPr lang="pl-PL" i="1" dirty="0" smtClean="0">
                <a:latin typeface="Trebuchet MS" panose="020B0603020202020204" pitchFamily="34" charset="0"/>
              </a:rPr>
              <a:t>A</a:t>
            </a:r>
            <a:r>
              <a:rPr lang="pl-PL" dirty="0" smtClean="0">
                <a:latin typeface="Trebuchet MS" panose="020B0603020202020204" pitchFamily="34" charset="0"/>
              </a:rPr>
              <a:t>[</a:t>
            </a:r>
            <a:r>
              <a:rPr lang="pl-PL" i="1" dirty="0" smtClean="0">
                <a:latin typeface="Trebuchet MS" panose="020B0603020202020204" pitchFamily="34" charset="0"/>
              </a:rPr>
              <a:t>k</a:t>
            </a:r>
            <a:r>
              <a:rPr lang="pl-PL" dirty="0">
                <a:latin typeface="Trebuchet MS" panose="020B0603020202020204" pitchFamily="34" charset="0"/>
              </a:rPr>
              <a:t>]←</a:t>
            </a:r>
            <a:r>
              <a:rPr lang="pl-PL" i="1" dirty="0">
                <a:latin typeface="Trebuchet MS" panose="020B0603020202020204" pitchFamily="34" charset="0"/>
              </a:rPr>
              <a:t>B</a:t>
            </a:r>
            <a:r>
              <a:rPr lang="pl-PL" dirty="0">
                <a:latin typeface="Trebuchet MS" panose="020B0603020202020204" pitchFamily="34" charset="0"/>
              </a:rPr>
              <a:t>[</a:t>
            </a:r>
            <a:r>
              <a:rPr lang="pl-PL" i="1" dirty="0">
                <a:latin typeface="Trebuchet MS" panose="020B0603020202020204" pitchFamily="34" charset="0"/>
              </a:rPr>
              <a:t>i</a:t>
            </a:r>
            <a:r>
              <a:rPr lang="pl-PL" dirty="0">
                <a:latin typeface="Trebuchet MS" panose="020B0603020202020204" pitchFamily="34" charset="0"/>
              </a:rPr>
              <a:t>]; </a:t>
            </a:r>
            <a:r>
              <a:rPr lang="pl-PL" i="1" dirty="0">
                <a:latin typeface="Trebuchet MS" panose="020B0603020202020204" pitchFamily="34" charset="0"/>
              </a:rPr>
              <a:t>i </a:t>
            </a:r>
            <a:r>
              <a:rPr lang="pl-PL" dirty="0">
                <a:latin typeface="Trebuchet MS" panose="020B0603020202020204" pitchFamily="34" charset="0"/>
              </a:rPr>
              <a:t>←</a:t>
            </a:r>
            <a:r>
              <a:rPr lang="pl-PL" i="1" dirty="0">
                <a:latin typeface="Trebuchet MS" panose="020B0603020202020204" pitchFamily="34" charset="0"/>
              </a:rPr>
              <a:t>i </a:t>
            </a:r>
            <a:r>
              <a:rPr lang="pl-PL" dirty="0">
                <a:latin typeface="Trebuchet MS" panose="020B0603020202020204" pitchFamily="34" charset="0"/>
              </a:rPr>
              <a:t>+ 1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rebuchet MS" panose="020B0603020202020204" pitchFamily="34" charset="0"/>
              </a:rPr>
              <a:t>else </a:t>
            </a:r>
            <a:r>
              <a:rPr lang="en-US" i="1" dirty="0">
                <a:latin typeface="Trebuchet MS" panose="020B0603020202020204" pitchFamily="34" charset="0"/>
              </a:rPr>
              <a:t>A</a:t>
            </a:r>
            <a:r>
              <a:rPr lang="en-US" dirty="0">
                <a:latin typeface="Trebuchet MS" panose="020B0603020202020204" pitchFamily="34" charset="0"/>
              </a:rPr>
              <a:t>[</a:t>
            </a:r>
            <a:r>
              <a:rPr lang="en-US" i="1" dirty="0">
                <a:latin typeface="Trebuchet MS" panose="020B0603020202020204" pitchFamily="34" charset="0"/>
              </a:rPr>
              <a:t>k</a:t>
            </a:r>
            <a:r>
              <a:rPr lang="en-US" dirty="0">
                <a:latin typeface="Trebuchet MS" panose="020B0603020202020204" pitchFamily="34" charset="0"/>
              </a:rPr>
              <a:t>]←</a:t>
            </a:r>
            <a:r>
              <a:rPr lang="en-US" i="1" dirty="0">
                <a:latin typeface="Trebuchet MS" panose="020B0603020202020204" pitchFamily="34" charset="0"/>
              </a:rPr>
              <a:t>C</a:t>
            </a:r>
            <a:r>
              <a:rPr lang="en-US" dirty="0">
                <a:latin typeface="Trebuchet MS" panose="020B0603020202020204" pitchFamily="34" charset="0"/>
              </a:rPr>
              <a:t>[</a:t>
            </a:r>
            <a:r>
              <a:rPr lang="en-US" i="1" dirty="0">
                <a:latin typeface="Trebuchet MS" panose="020B0603020202020204" pitchFamily="34" charset="0"/>
              </a:rPr>
              <a:t>j </a:t>
            </a:r>
            <a:r>
              <a:rPr lang="en-US" dirty="0">
                <a:latin typeface="Trebuchet MS" panose="020B0603020202020204" pitchFamily="34" charset="0"/>
              </a:rPr>
              <a:t>]; </a:t>
            </a:r>
            <a:r>
              <a:rPr lang="en-US" i="1" dirty="0">
                <a:latin typeface="Trebuchet MS" panose="020B0603020202020204" pitchFamily="34" charset="0"/>
              </a:rPr>
              <a:t>j </a:t>
            </a:r>
            <a:r>
              <a:rPr lang="en-US" dirty="0">
                <a:latin typeface="Trebuchet MS" panose="020B0603020202020204" pitchFamily="34" charset="0"/>
              </a:rPr>
              <a:t>←</a:t>
            </a:r>
            <a:r>
              <a:rPr lang="en-US" i="1" dirty="0">
                <a:latin typeface="Trebuchet MS" panose="020B0603020202020204" pitchFamily="34" charset="0"/>
              </a:rPr>
              <a:t>j </a:t>
            </a:r>
            <a:r>
              <a:rPr lang="en-US" dirty="0">
                <a:latin typeface="Trebuchet MS" panose="020B0603020202020204" pitchFamily="34" charset="0"/>
              </a:rPr>
              <a:t>+ 1</a:t>
            </a:r>
          </a:p>
          <a:p>
            <a:pPr>
              <a:lnSpc>
                <a:spcPct val="150000"/>
              </a:lnSpc>
            </a:pPr>
            <a:r>
              <a:rPr lang="en-IN" i="1" dirty="0" err="1">
                <a:latin typeface="Trebuchet MS" panose="020B0603020202020204" pitchFamily="34" charset="0"/>
              </a:rPr>
              <a:t>k</a:t>
            </a:r>
            <a:r>
              <a:rPr lang="en-IN" dirty="0" err="1">
                <a:latin typeface="Trebuchet MS" panose="020B0603020202020204" pitchFamily="34" charset="0"/>
              </a:rPr>
              <a:t>←</a:t>
            </a:r>
            <a:r>
              <a:rPr lang="en-IN" i="1" dirty="0" err="1">
                <a:latin typeface="Trebuchet MS" panose="020B0603020202020204" pitchFamily="34" charset="0"/>
              </a:rPr>
              <a:t>k</a:t>
            </a:r>
            <a:r>
              <a:rPr lang="en-IN" i="1" dirty="0">
                <a:latin typeface="Trebuchet MS" panose="020B0603020202020204" pitchFamily="34" charset="0"/>
              </a:rPr>
              <a:t> </a:t>
            </a:r>
            <a:r>
              <a:rPr lang="en-IN" dirty="0">
                <a:latin typeface="Trebuchet MS" panose="020B0603020202020204" pitchFamily="34" charset="0"/>
              </a:rPr>
              <a:t>+ 1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rebuchet MS" panose="020B0603020202020204" pitchFamily="34" charset="0"/>
              </a:rPr>
              <a:t>if </a:t>
            </a:r>
            <a:r>
              <a:rPr lang="en-IN" i="1" dirty="0" err="1">
                <a:latin typeface="Trebuchet MS" panose="020B0603020202020204" pitchFamily="34" charset="0"/>
              </a:rPr>
              <a:t>i</a:t>
            </a:r>
            <a:r>
              <a:rPr lang="en-IN" i="1" dirty="0">
                <a:latin typeface="Trebuchet MS" panose="020B0603020202020204" pitchFamily="34" charset="0"/>
              </a:rPr>
              <a:t> </a:t>
            </a:r>
            <a:r>
              <a:rPr lang="en-IN" dirty="0">
                <a:latin typeface="Trebuchet MS" panose="020B0603020202020204" pitchFamily="34" charset="0"/>
              </a:rPr>
              <a:t>= </a:t>
            </a:r>
            <a:r>
              <a:rPr lang="en-IN" i="1" dirty="0">
                <a:latin typeface="Trebuchet MS" panose="020B0603020202020204" pitchFamily="34" charset="0"/>
              </a:rPr>
              <a:t>p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rebuchet MS" panose="020B0603020202020204" pitchFamily="34" charset="0"/>
              </a:rPr>
              <a:t>copy </a:t>
            </a:r>
            <a:r>
              <a:rPr lang="en-IN" i="1" dirty="0">
                <a:latin typeface="Trebuchet MS" panose="020B0603020202020204" pitchFamily="34" charset="0"/>
              </a:rPr>
              <a:t>C</a:t>
            </a:r>
            <a:r>
              <a:rPr lang="en-IN" dirty="0">
                <a:latin typeface="Trebuchet MS" panose="020B0603020202020204" pitchFamily="34" charset="0"/>
              </a:rPr>
              <a:t>[</a:t>
            </a:r>
            <a:r>
              <a:rPr lang="en-IN" i="1" dirty="0" err="1">
                <a:latin typeface="Trebuchet MS" panose="020B0603020202020204" pitchFamily="34" charset="0"/>
              </a:rPr>
              <a:t>j..q</a:t>
            </a:r>
            <a:r>
              <a:rPr lang="en-IN" i="1" dirty="0">
                <a:latin typeface="Trebuchet MS" panose="020B0603020202020204" pitchFamily="34" charset="0"/>
              </a:rPr>
              <a:t> </a:t>
            </a:r>
            <a:r>
              <a:rPr lang="en-IN" dirty="0">
                <a:latin typeface="Trebuchet MS" panose="020B0603020202020204" pitchFamily="34" charset="0"/>
              </a:rPr>
              <a:t>− 1] to </a:t>
            </a:r>
            <a:r>
              <a:rPr lang="en-IN" i="1" dirty="0">
                <a:latin typeface="Trebuchet MS" panose="020B0603020202020204" pitchFamily="34" charset="0"/>
              </a:rPr>
              <a:t>A</a:t>
            </a:r>
            <a:r>
              <a:rPr lang="en-IN" dirty="0">
                <a:latin typeface="Trebuchet MS" panose="020B0603020202020204" pitchFamily="34" charset="0"/>
              </a:rPr>
              <a:t>[</a:t>
            </a:r>
            <a:r>
              <a:rPr lang="en-IN" i="1" dirty="0" err="1">
                <a:latin typeface="Trebuchet MS" panose="020B0603020202020204" pitchFamily="34" charset="0"/>
              </a:rPr>
              <a:t>k..p</a:t>
            </a:r>
            <a:r>
              <a:rPr lang="en-IN" i="1" dirty="0">
                <a:latin typeface="Trebuchet MS" panose="020B0603020202020204" pitchFamily="34" charset="0"/>
              </a:rPr>
              <a:t> </a:t>
            </a:r>
            <a:r>
              <a:rPr lang="en-IN" dirty="0">
                <a:latin typeface="Trebuchet MS" panose="020B0603020202020204" pitchFamily="34" charset="0"/>
              </a:rPr>
              <a:t>+ </a:t>
            </a:r>
            <a:r>
              <a:rPr lang="en-IN" i="1" dirty="0">
                <a:latin typeface="Trebuchet MS" panose="020B0603020202020204" pitchFamily="34" charset="0"/>
              </a:rPr>
              <a:t>q </a:t>
            </a:r>
            <a:r>
              <a:rPr lang="en-IN" dirty="0">
                <a:latin typeface="Trebuchet MS" panose="020B0603020202020204" pitchFamily="34" charset="0"/>
              </a:rPr>
              <a:t>− 1]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rebuchet MS" panose="020B0603020202020204" pitchFamily="34" charset="0"/>
              </a:rPr>
              <a:t>else </a:t>
            </a:r>
            <a:r>
              <a:rPr lang="en-US" dirty="0">
                <a:latin typeface="Trebuchet MS" panose="020B0603020202020204" pitchFamily="34" charset="0"/>
              </a:rPr>
              <a:t>copy </a:t>
            </a:r>
            <a:r>
              <a:rPr lang="en-US" i="1" dirty="0">
                <a:latin typeface="Trebuchet MS" panose="020B0603020202020204" pitchFamily="34" charset="0"/>
              </a:rPr>
              <a:t>B</a:t>
            </a:r>
            <a:r>
              <a:rPr lang="en-US" dirty="0">
                <a:latin typeface="Trebuchet MS" panose="020B0603020202020204" pitchFamily="34" charset="0"/>
              </a:rPr>
              <a:t>[</a:t>
            </a:r>
            <a:r>
              <a:rPr lang="en-US" i="1" dirty="0" err="1">
                <a:latin typeface="Trebuchet MS" panose="020B0603020202020204" pitchFamily="34" charset="0"/>
              </a:rPr>
              <a:t>i</a:t>
            </a:r>
            <a:r>
              <a:rPr lang="en-US" i="1" dirty="0">
                <a:latin typeface="Trebuchet MS" panose="020B0603020202020204" pitchFamily="34" charset="0"/>
              </a:rPr>
              <a:t>..p </a:t>
            </a:r>
            <a:r>
              <a:rPr lang="en-US" dirty="0">
                <a:latin typeface="Trebuchet MS" panose="020B0603020202020204" pitchFamily="34" charset="0"/>
              </a:rPr>
              <a:t>− 1] to </a:t>
            </a:r>
            <a:r>
              <a:rPr lang="en-US" i="1" dirty="0">
                <a:latin typeface="Trebuchet MS" panose="020B0603020202020204" pitchFamily="34" charset="0"/>
              </a:rPr>
              <a:t>A</a:t>
            </a:r>
            <a:r>
              <a:rPr lang="en-US" dirty="0">
                <a:latin typeface="Trebuchet MS" panose="020B0603020202020204" pitchFamily="34" charset="0"/>
              </a:rPr>
              <a:t>[</a:t>
            </a:r>
            <a:r>
              <a:rPr lang="en-US" i="1" dirty="0" err="1">
                <a:latin typeface="Trebuchet MS" panose="020B0603020202020204" pitchFamily="34" charset="0"/>
              </a:rPr>
              <a:t>k..p</a:t>
            </a:r>
            <a:r>
              <a:rPr lang="en-US" i="1" dirty="0">
                <a:latin typeface="Trebuchet MS" panose="020B0603020202020204" pitchFamily="34" charset="0"/>
              </a:rPr>
              <a:t> </a:t>
            </a:r>
            <a:r>
              <a:rPr lang="en-US" dirty="0">
                <a:latin typeface="Trebuchet MS" panose="020B0603020202020204" pitchFamily="34" charset="0"/>
              </a:rPr>
              <a:t>+ </a:t>
            </a:r>
            <a:r>
              <a:rPr lang="en-US" i="1" dirty="0">
                <a:latin typeface="Trebuchet MS" panose="020B0603020202020204" pitchFamily="34" charset="0"/>
              </a:rPr>
              <a:t>q </a:t>
            </a:r>
            <a:r>
              <a:rPr lang="en-US" dirty="0">
                <a:latin typeface="Trebuchet MS" panose="020B0603020202020204" pitchFamily="34" charset="0"/>
              </a:rPr>
              <a:t>− 1]</a:t>
            </a:r>
            <a:endParaRPr lang="en-IN" sz="40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96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5093" y="1319494"/>
            <a:ext cx="922588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Algorithm Procedure</a:t>
            </a:r>
            <a:endParaRPr lang="en-US" sz="2400" dirty="0">
              <a:solidFill>
                <a:srgbClr val="0070C0"/>
              </a:solidFill>
              <a:latin typeface="Trebuchet MS" panose="020B0603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Divide the unsorted list into N sub lists, each containing 1 element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Take adjacent pairs of two singleton lists and merge them to form a list of 2 elements. N will now convert into N/2 lists of size 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Repeat the process till a single sorted list of all the elements is obtained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09050" y="205826"/>
            <a:ext cx="40041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IN" sz="2800" b="1" dirty="0">
                <a:solidFill>
                  <a:prstClr val="black"/>
                </a:solidFill>
              </a:rPr>
              <a:t>Merge sort Algorithm  </a:t>
            </a:r>
          </a:p>
        </p:txBody>
      </p:sp>
    </p:spTree>
    <p:extLst>
      <p:ext uri="{BB962C8B-B14F-4D97-AF65-F5344CB8AC3E}">
        <p14:creationId xmlns:p14="http://schemas.microsoft.com/office/powerpoint/2010/main" val="87681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374481" y="184687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/>
            </a:defPPr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4489450" algn="l"/>
              </a:tabLst>
            </a:pPr>
            <a:r>
              <a:rPr lang="en-US" sz="2800" b="1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Merge Sort – Example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29459"/>
              </p:ext>
            </p:extLst>
          </p:nvPr>
        </p:nvGraphicFramePr>
        <p:xfrm>
          <a:off x="3041481" y="1539350"/>
          <a:ext cx="5935136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US" sz="2400" dirty="0"/>
                        <a:t>724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US" sz="2400"/>
                        <a:t>521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US" sz="2400" dirty="0"/>
                        <a:t>98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US" sz="2400"/>
                        <a:t>529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US" sz="2400"/>
                        <a:t>31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US" sz="2400"/>
                        <a:t>189</a:t>
                      </a:r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IN" sz="2400" dirty="0"/>
                        <a:t>451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00554" y="1066800"/>
            <a:ext cx="2415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/>
          </a:lstStyle>
          <a:p>
            <a:pPr algn="ctr"/>
            <a:r>
              <a:rPr lang="en-US" sz="2400" b="1" dirty="0">
                <a:solidFill>
                  <a:srgbClr val="0070C0"/>
                </a:solidFill>
              </a:rPr>
              <a:t>Unsorted Array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057723"/>
              </p:ext>
            </p:extLst>
          </p:nvPr>
        </p:nvGraphicFramePr>
        <p:xfrm>
          <a:off x="3041480" y="2020974"/>
          <a:ext cx="593513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1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8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7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defPPr/>
                    </a:lstStyle>
                    <a:p>
                      <a:pPr algn="ctr"/>
                      <a:r>
                        <a:rPr lang="en-IN" sz="1800" b="1" dirty="0">
                          <a:solidFill>
                            <a:srgbClr val="0070C0"/>
                          </a:solidFill>
                        </a:rPr>
                        <a:t>8</a:t>
                      </a:r>
                      <a:endParaRPr lang="en-US" sz="1800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365081" y="2603500"/>
            <a:ext cx="8686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660481" y="3733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 dirty="0"/>
              <a:t>724</a:t>
            </a:r>
            <a:endParaRPr lang="en-US" sz="2400" b="1" dirty="0"/>
          </a:p>
        </p:txBody>
      </p:sp>
      <p:sp>
        <p:nvSpPr>
          <p:cNvPr id="8" name="Rectangle 7"/>
          <p:cNvSpPr/>
          <p:nvPr/>
        </p:nvSpPr>
        <p:spPr>
          <a:xfrm>
            <a:off x="3422481" y="3733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521</a:t>
            </a:r>
            <a:endParaRPr lang="en-US" sz="2400" b="1"/>
          </a:p>
        </p:txBody>
      </p:sp>
      <p:sp>
        <p:nvSpPr>
          <p:cNvPr id="9" name="Rectangle 8"/>
          <p:cNvSpPr/>
          <p:nvPr/>
        </p:nvSpPr>
        <p:spPr>
          <a:xfrm>
            <a:off x="4184481" y="3733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2</a:t>
            </a:r>
            <a:endParaRPr lang="en-US" sz="2400" b="1"/>
          </a:p>
        </p:txBody>
      </p:sp>
      <p:sp>
        <p:nvSpPr>
          <p:cNvPr id="10" name="Rectangle 9"/>
          <p:cNvSpPr/>
          <p:nvPr/>
        </p:nvSpPr>
        <p:spPr>
          <a:xfrm>
            <a:off x="4946481" y="3733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98</a:t>
            </a:r>
            <a:endParaRPr lang="en-US" sz="2400" b="1"/>
          </a:p>
        </p:txBody>
      </p:sp>
      <p:sp>
        <p:nvSpPr>
          <p:cNvPr id="11" name="Rectangle 10"/>
          <p:cNvSpPr/>
          <p:nvPr/>
        </p:nvSpPr>
        <p:spPr>
          <a:xfrm>
            <a:off x="5708481" y="3733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 dirty="0"/>
              <a:t>529</a:t>
            </a:r>
            <a:endParaRPr lang="en-US" sz="2400" b="1" dirty="0"/>
          </a:p>
        </p:txBody>
      </p:sp>
      <p:sp>
        <p:nvSpPr>
          <p:cNvPr id="12" name="Rectangle 11"/>
          <p:cNvSpPr/>
          <p:nvPr/>
        </p:nvSpPr>
        <p:spPr>
          <a:xfrm>
            <a:off x="6470481" y="3733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31</a:t>
            </a:r>
            <a:endParaRPr lang="en-US" sz="2400" b="1"/>
          </a:p>
        </p:txBody>
      </p:sp>
      <p:sp>
        <p:nvSpPr>
          <p:cNvPr id="13" name="Rectangle 12"/>
          <p:cNvSpPr/>
          <p:nvPr/>
        </p:nvSpPr>
        <p:spPr>
          <a:xfrm>
            <a:off x="7232481" y="3733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189</a:t>
            </a:r>
            <a:endParaRPr lang="en-US" sz="2400" b="1"/>
          </a:p>
        </p:txBody>
      </p:sp>
      <p:sp>
        <p:nvSpPr>
          <p:cNvPr id="14" name="Rectangle 13"/>
          <p:cNvSpPr/>
          <p:nvPr/>
        </p:nvSpPr>
        <p:spPr>
          <a:xfrm>
            <a:off x="7994481" y="3733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451</a:t>
            </a:r>
            <a:endParaRPr lang="en-US" sz="2400" b="1"/>
          </a:p>
        </p:txBody>
      </p:sp>
      <p:sp>
        <p:nvSpPr>
          <p:cNvPr id="15" name="Rectangle 14"/>
          <p:cNvSpPr/>
          <p:nvPr/>
        </p:nvSpPr>
        <p:spPr>
          <a:xfrm>
            <a:off x="2660481" y="3352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 dirty="0">
                <a:solidFill>
                  <a:srgbClr val="0070C0"/>
                </a:solidFill>
              </a:rPr>
              <a:t>1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22481" y="3352800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2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184481" y="3341915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3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946481" y="3341915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4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08481" y="3341915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5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70481" y="3341915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6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232481" y="3341915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7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994481" y="3341915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8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363605" y="2787134"/>
            <a:ext cx="8459676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/>
          </a:lstStyle>
          <a:p>
            <a:r>
              <a:rPr lang="en-IN" sz="2400" b="1" dirty="0"/>
              <a:t>Step 1: Split the selected array</a:t>
            </a:r>
            <a:endParaRPr lang="en-US" sz="2400" b="1" dirty="0"/>
          </a:p>
        </p:txBody>
      </p:sp>
      <p:sp>
        <p:nvSpPr>
          <p:cNvPr id="24" name="Rectangle 23"/>
          <p:cNvSpPr/>
          <p:nvPr/>
        </p:nvSpPr>
        <p:spPr>
          <a:xfrm>
            <a:off x="1669881" y="4953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724</a:t>
            </a:r>
            <a:endParaRPr lang="en-US" sz="2400" b="1"/>
          </a:p>
        </p:txBody>
      </p:sp>
      <p:sp>
        <p:nvSpPr>
          <p:cNvPr id="25" name="Rectangle 24"/>
          <p:cNvSpPr/>
          <p:nvPr/>
        </p:nvSpPr>
        <p:spPr>
          <a:xfrm>
            <a:off x="2431881" y="4953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521</a:t>
            </a:r>
            <a:endParaRPr lang="en-US" sz="2400" b="1"/>
          </a:p>
        </p:txBody>
      </p:sp>
      <p:sp>
        <p:nvSpPr>
          <p:cNvPr id="26" name="Rectangle 25"/>
          <p:cNvSpPr/>
          <p:nvPr/>
        </p:nvSpPr>
        <p:spPr>
          <a:xfrm>
            <a:off x="3193881" y="4953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2</a:t>
            </a:r>
            <a:endParaRPr lang="en-US" sz="2400" b="1"/>
          </a:p>
        </p:txBody>
      </p:sp>
      <p:sp>
        <p:nvSpPr>
          <p:cNvPr id="27" name="Rectangle 26"/>
          <p:cNvSpPr/>
          <p:nvPr/>
        </p:nvSpPr>
        <p:spPr>
          <a:xfrm>
            <a:off x="3955881" y="4953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98</a:t>
            </a:r>
            <a:endParaRPr lang="en-US" sz="2400" b="1"/>
          </a:p>
        </p:txBody>
      </p:sp>
      <p:sp>
        <p:nvSpPr>
          <p:cNvPr id="28" name="Rectangle 27"/>
          <p:cNvSpPr/>
          <p:nvPr/>
        </p:nvSpPr>
        <p:spPr>
          <a:xfrm>
            <a:off x="1669881" y="534633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 dirty="0">
                <a:solidFill>
                  <a:srgbClr val="0070C0"/>
                </a:solidFill>
              </a:rPr>
              <a:t>1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431881" y="534633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2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193881" y="534633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3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955881" y="534633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4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775281" y="4953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529</a:t>
            </a:r>
            <a:endParaRPr lang="en-US" sz="2400" b="1"/>
          </a:p>
        </p:txBody>
      </p:sp>
      <p:sp>
        <p:nvSpPr>
          <p:cNvPr id="33" name="Rectangle 32"/>
          <p:cNvSpPr/>
          <p:nvPr/>
        </p:nvSpPr>
        <p:spPr>
          <a:xfrm>
            <a:off x="7537281" y="4953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31</a:t>
            </a:r>
            <a:endParaRPr lang="en-US" sz="2400" b="1"/>
          </a:p>
        </p:txBody>
      </p:sp>
      <p:sp>
        <p:nvSpPr>
          <p:cNvPr id="34" name="Rectangle 33"/>
          <p:cNvSpPr/>
          <p:nvPr/>
        </p:nvSpPr>
        <p:spPr>
          <a:xfrm>
            <a:off x="8299281" y="4953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189</a:t>
            </a:r>
            <a:endParaRPr lang="en-US" sz="2400" b="1"/>
          </a:p>
        </p:txBody>
      </p:sp>
      <p:sp>
        <p:nvSpPr>
          <p:cNvPr id="35" name="Rectangle 34"/>
          <p:cNvSpPr/>
          <p:nvPr/>
        </p:nvSpPr>
        <p:spPr>
          <a:xfrm>
            <a:off x="9061281" y="4953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451</a:t>
            </a:r>
            <a:endParaRPr lang="en-US" sz="2400" b="1"/>
          </a:p>
        </p:txBody>
      </p:sp>
      <p:sp>
        <p:nvSpPr>
          <p:cNvPr id="36" name="Rectangle 35"/>
          <p:cNvSpPr/>
          <p:nvPr/>
        </p:nvSpPr>
        <p:spPr>
          <a:xfrm>
            <a:off x="6775281" y="534633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1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537281" y="534633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2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299281" y="534633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3</a:t>
            </a:r>
            <a:endParaRPr lang="en-US" b="1">
              <a:solidFill>
                <a:srgbClr val="0070C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061281" y="5346337"/>
            <a:ext cx="762000" cy="381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0070C0"/>
                </a:solidFill>
              </a:rPr>
              <a:t>4</a:t>
            </a:r>
            <a:endParaRPr lang="en-US" b="1">
              <a:solidFill>
                <a:srgbClr val="0070C0"/>
              </a:solidFill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3193881" y="4114800"/>
            <a:ext cx="2514600" cy="762000"/>
          </a:xfrm>
          <a:prstGeom prst="straightConnector1">
            <a:avLst/>
          </a:prstGeom>
          <a:ln>
            <a:solidFill>
              <a:srgbClr val="CC0066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708481" y="4114800"/>
            <a:ext cx="2590800" cy="762000"/>
          </a:xfrm>
          <a:prstGeom prst="straightConnector1">
            <a:avLst/>
          </a:prstGeom>
          <a:ln>
            <a:solidFill>
              <a:srgbClr val="CC0066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6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30782" y="270330"/>
            <a:ext cx="6385560" cy="71120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/>
            </a:defPPr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4489450" algn="l"/>
              </a:tabLst>
            </a:pPr>
            <a:r>
              <a:rPr lang="en-US" sz="2800" b="1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Merge Sort – Example 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556" y="914400"/>
            <a:ext cx="4645824" cy="430887"/>
          </a:xfrm>
          <a:prstGeom prst="rect">
            <a:avLst/>
          </a:prstGeom>
        </p:spPr>
        <p:txBody>
          <a:bodyPr wrap="none">
            <a:spAutoFit/>
          </a:bodyPr>
          <a:lstStyle>
            <a:defPPr/>
          </a:lstStyle>
          <a:p>
            <a:pPr algn="ctr"/>
            <a:r>
              <a:rPr lang="en-US" sz="2200" b="1" dirty="0">
                <a:solidFill>
                  <a:srgbClr val="0070C0"/>
                </a:solidFill>
              </a:rPr>
              <a:t>Select the left subarray and </a:t>
            </a:r>
            <a:r>
              <a:rPr lang="en-IN" sz="2200" b="1" dirty="0">
                <a:solidFill>
                  <a:srgbClr val="0070C0"/>
                </a:solidFill>
              </a:rPr>
              <a:t>Split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0197" y="17526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724</a:t>
            </a:r>
            <a:endParaRPr lang="en-US" sz="2400" b="1"/>
          </a:p>
        </p:txBody>
      </p:sp>
      <p:sp>
        <p:nvSpPr>
          <p:cNvPr id="5" name="Rectangle 4"/>
          <p:cNvSpPr/>
          <p:nvPr/>
        </p:nvSpPr>
        <p:spPr>
          <a:xfrm>
            <a:off x="1772197" y="17526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521</a:t>
            </a:r>
            <a:endParaRPr lang="en-US" sz="2400" b="1"/>
          </a:p>
        </p:txBody>
      </p:sp>
      <p:sp>
        <p:nvSpPr>
          <p:cNvPr id="6" name="Rectangle 5"/>
          <p:cNvSpPr/>
          <p:nvPr/>
        </p:nvSpPr>
        <p:spPr>
          <a:xfrm>
            <a:off x="2534197" y="17526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2</a:t>
            </a:r>
            <a:endParaRPr lang="en-US" sz="2400" b="1"/>
          </a:p>
        </p:txBody>
      </p:sp>
      <p:sp>
        <p:nvSpPr>
          <p:cNvPr id="7" name="Rectangle 6"/>
          <p:cNvSpPr/>
          <p:nvPr/>
        </p:nvSpPr>
        <p:spPr>
          <a:xfrm>
            <a:off x="3296197" y="17526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98</a:t>
            </a:r>
            <a:endParaRPr lang="en-US" sz="2400" b="1"/>
          </a:p>
        </p:txBody>
      </p:sp>
      <p:sp>
        <p:nvSpPr>
          <p:cNvPr id="8" name="Rectangle 7"/>
          <p:cNvSpPr/>
          <p:nvPr/>
        </p:nvSpPr>
        <p:spPr>
          <a:xfrm>
            <a:off x="1010197" y="14768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72197" y="14768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C00000"/>
                </a:solidFill>
              </a:rPr>
              <a:t>2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34197" y="14768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C00000"/>
                </a:solidFill>
              </a:rPr>
              <a:t>3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96197" y="14768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C00000"/>
                </a:solidFill>
              </a:rPr>
              <a:t>4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59142" y="17526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529</a:t>
            </a:r>
            <a:endParaRPr lang="en-US" sz="2400" b="1"/>
          </a:p>
        </p:txBody>
      </p:sp>
      <p:sp>
        <p:nvSpPr>
          <p:cNvPr id="13" name="Rectangle 12"/>
          <p:cNvSpPr/>
          <p:nvPr/>
        </p:nvSpPr>
        <p:spPr>
          <a:xfrm>
            <a:off x="6921142" y="17526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31</a:t>
            </a:r>
            <a:endParaRPr lang="en-US" sz="2400" b="1"/>
          </a:p>
        </p:txBody>
      </p:sp>
      <p:sp>
        <p:nvSpPr>
          <p:cNvPr id="14" name="Rectangle 13"/>
          <p:cNvSpPr/>
          <p:nvPr/>
        </p:nvSpPr>
        <p:spPr>
          <a:xfrm>
            <a:off x="7683142" y="17526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189</a:t>
            </a:r>
            <a:endParaRPr lang="en-US" sz="2400" b="1"/>
          </a:p>
        </p:txBody>
      </p:sp>
      <p:sp>
        <p:nvSpPr>
          <p:cNvPr id="15" name="Rectangle 14"/>
          <p:cNvSpPr/>
          <p:nvPr/>
        </p:nvSpPr>
        <p:spPr>
          <a:xfrm>
            <a:off x="8445142" y="17526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451</a:t>
            </a:r>
            <a:endParaRPr lang="en-US" sz="2400" b="1"/>
          </a:p>
        </p:txBody>
      </p:sp>
      <p:sp>
        <p:nvSpPr>
          <p:cNvPr id="16" name="Rectangle 15"/>
          <p:cNvSpPr/>
          <p:nvPr/>
        </p:nvSpPr>
        <p:spPr>
          <a:xfrm>
            <a:off x="6159142" y="14768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21142" y="14768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C00000"/>
                </a:solidFill>
              </a:rPr>
              <a:t>2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683142" y="14768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C00000"/>
                </a:solidFill>
              </a:rPr>
              <a:t>3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45142" y="14768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b="1">
                <a:solidFill>
                  <a:srgbClr val="C00000"/>
                </a:solidFill>
              </a:rPr>
              <a:t>4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05397" y="28194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724</a:t>
            </a:r>
            <a:endParaRPr lang="en-US" sz="2400" b="1"/>
          </a:p>
        </p:txBody>
      </p:sp>
      <p:sp>
        <p:nvSpPr>
          <p:cNvPr id="21" name="Rectangle 20"/>
          <p:cNvSpPr/>
          <p:nvPr/>
        </p:nvSpPr>
        <p:spPr>
          <a:xfrm>
            <a:off x="1467397" y="28194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521</a:t>
            </a:r>
            <a:endParaRPr lang="en-US" sz="2400" b="1"/>
          </a:p>
        </p:txBody>
      </p:sp>
      <p:sp>
        <p:nvSpPr>
          <p:cNvPr id="22" name="Rectangle 21"/>
          <p:cNvSpPr/>
          <p:nvPr/>
        </p:nvSpPr>
        <p:spPr>
          <a:xfrm>
            <a:off x="705397" y="25309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467397" y="25309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r"/>
            <a:r>
              <a:rPr lang="en-IN" b="1">
                <a:solidFill>
                  <a:srgbClr val="C00000"/>
                </a:solidFill>
              </a:rPr>
              <a:t>2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62797" y="28194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2</a:t>
            </a:r>
            <a:endParaRPr lang="en-US" sz="2400" b="1"/>
          </a:p>
        </p:txBody>
      </p:sp>
      <p:sp>
        <p:nvSpPr>
          <p:cNvPr id="25" name="Rectangle 24"/>
          <p:cNvSpPr/>
          <p:nvPr/>
        </p:nvSpPr>
        <p:spPr>
          <a:xfrm>
            <a:off x="3524797" y="28194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98</a:t>
            </a:r>
            <a:endParaRPr lang="en-US" sz="2400" b="1"/>
          </a:p>
        </p:txBody>
      </p:sp>
      <p:sp>
        <p:nvSpPr>
          <p:cNvPr id="26" name="Rectangle 25"/>
          <p:cNvSpPr/>
          <p:nvPr/>
        </p:nvSpPr>
        <p:spPr>
          <a:xfrm>
            <a:off x="2762797" y="25309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524797" y="25309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r"/>
            <a:r>
              <a:rPr lang="en-IN" b="1">
                <a:solidFill>
                  <a:srgbClr val="C00000"/>
                </a:solidFill>
              </a:rPr>
              <a:t>2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1467397" y="2133600"/>
            <a:ext cx="1066800" cy="5334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534197" y="2133600"/>
            <a:ext cx="990600" cy="5334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00597" y="38862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724</a:t>
            </a:r>
            <a:endParaRPr lang="en-US" sz="2400" b="1"/>
          </a:p>
        </p:txBody>
      </p:sp>
      <p:sp>
        <p:nvSpPr>
          <p:cNvPr id="31" name="Rectangle 30"/>
          <p:cNvSpPr/>
          <p:nvPr/>
        </p:nvSpPr>
        <p:spPr>
          <a:xfrm>
            <a:off x="400597" y="36104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619797" y="38862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521</a:t>
            </a:r>
            <a:endParaRPr lang="en-US" sz="2400" b="1"/>
          </a:p>
        </p:txBody>
      </p:sp>
      <p:sp>
        <p:nvSpPr>
          <p:cNvPr id="33" name="Rectangle 32"/>
          <p:cNvSpPr/>
          <p:nvPr/>
        </p:nvSpPr>
        <p:spPr>
          <a:xfrm>
            <a:off x="1619797" y="36104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r"/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534197" y="38862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2</a:t>
            </a:r>
            <a:endParaRPr lang="en-US" sz="2400" b="1"/>
          </a:p>
        </p:txBody>
      </p:sp>
      <p:sp>
        <p:nvSpPr>
          <p:cNvPr id="35" name="Rectangle 34"/>
          <p:cNvSpPr/>
          <p:nvPr/>
        </p:nvSpPr>
        <p:spPr>
          <a:xfrm>
            <a:off x="2534197" y="36104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677197" y="38862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98</a:t>
            </a:r>
            <a:endParaRPr lang="en-US" sz="2400" b="1"/>
          </a:p>
        </p:txBody>
      </p:sp>
      <p:sp>
        <p:nvSpPr>
          <p:cNvPr id="37" name="Rectangle 36"/>
          <p:cNvSpPr/>
          <p:nvPr/>
        </p:nvSpPr>
        <p:spPr>
          <a:xfrm>
            <a:off x="3677197" y="36104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r"/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H="1">
            <a:off x="781597" y="3200400"/>
            <a:ext cx="685800" cy="3810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467397" y="3200400"/>
            <a:ext cx="533400" cy="3810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2838997" y="3200400"/>
            <a:ext cx="685800" cy="3810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3524797" y="3200400"/>
            <a:ext cx="533400" cy="3810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05397" y="4572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521</a:t>
            </a:r>
            <a:endParaRPr lang="en-US" sz="2400" b="1"/>
          </a:p>
        </p:txBody>
      </p:sp>
      <p:sp>
        <p:nvSpPr>
          <p:cNvPr id="43" name="Rectangle 42"/>
          <p:cNvSpPr/>
          <p:nvPr/>
        </p:nvSpPr>
        <p:spPr>
          <a:xfrm>
            <a:off x="1467397" y="4572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724</a:t>
            </a:r>
            <a:endParaRPr lang="en-US" sz="2400" b="1"/>
          </a:p>
        </p:txBody>
      </p:sp>
      <p:sp>
        <p:nvSpPr>
          <p:cNvPr id="44" name="Rectangle 43"/>
          <p:cNvSpPr/>
          <p:nvPr/>
        </p:nvSpPr>
        <p:spPr>
          <a:xfrm>
            <a:off x="2762797" y="4572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2</a:t>
            </a:r>
            <a:endParaRPr lang="en-US" sz="2400" b="1"/>
          </a:p>
        </p:txBody>
      </p:sp>
      <p:sp>
        <p:nvSpPr>
          <p:cNvPr id="45" name="Rectangle 44"/>
          <p:cNvSpPr/>
          <p:nvPr/>
        </p:nvSpPr>
        <p:spPr>
          <a:xfrm>
            <a:off x="3524797" y="4572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98</a:t>
            </a:r>
            <a:endParaRPr lang="en-US" sz="2400" b="1"/>
          </a:p>
        </p:txBody>
      </p:sp>
      <p:cxnSp>
        <p:nvCxnSpPr>
          <p:cNvPr id="46" name="Straight Arrow Connector 45"/>
          <p:cNvCxnSpPr>
            <a:stCxn id="30" idx="2"/>
          </p:cNvCxnSpPr>
          <p:nvPr/>
        </p:nvCxnSpPr>
        <p:spPr>
          <a:xfrm>
            <a:off x="781597" y="4267200"/>
            <a:ext cx="6858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2" idx="2"/>
          </p:cNvCxnSpPr>
          <p:nvPr/>
        </p:nvCxnSpPr>
        <p:spPr>
          <a:xfrm flipH="1">
            <a:off x="1467397" y="4267200"/>
            <a:ext cx="5334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4" idx="2"/>
          </p:cNvCxnSpPr>
          <p:nvPr/>
        </p:nvCxnSpPr>
        <p:spPr>
          <a:xfrm>
            <a:off x="2915197" y="4267200"/>
            <a:ext cx="6096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6" idx="2"/>
          </p:cNvCxnSpPr>
          <p:nvPr/>
        </p:nvCxnSpPr>
        <p:spPr>
          <a:xfrm flipH="1">
            <a:off x="3524797" y="4267200"/>
            <a:ext cx="5334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984797" y="5257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2</a:t>
            </a:r>
            <a:endParaRPr lang="en-US" sz="2400" b="1"/>
          </a:p>
        </p:txBody>
      </p:sp>
      <p:sp>
        <p:nvSpPr>
          <p:cNvPr id="51" name="Rectangle 50"/>
          <p:cNvSpPr/>
          <p:nvPr/>
        </p:nvSpPr>
        <p:spPr>
          <a:xfrm>
            <a:off x="1746797" y="5257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98</a:t>
            </a:r>
            <a:endParaRPr lang="en-US" sz="2400" b="1"/>
          </a:p>
        </p:txBody>
      </p:sp>
      <p:sp>
        <p:nvSpPr>
          <p:cNvPr id="52" name="Rectangle 51"/>
          <p:cNvSpPr/>
          <p:nvPr/>
        </p:nvSpPr>
        <p:spPr>
          <a:xfrm>
            <a:off x="2508797" y="5257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521</a:t>
            </a:r>
            <a:endParaRPr lang="en-US" sz="2400" b="1"/>
          </a:p>
        </p:txBody>
      </p:sp>
      <p:sp>
        <p:nvSpPr>
          <p:cNvPr id="53" name="Rectangle 52"/>
          <p:cNvSpPr/>
          <p:nvPr/>
        </p:nvSpPr>
        <p:spPr>
          <a:xfrm>
            <a:off x="3270797" y="5257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724</a:t>
            </a:r>
            <a:endParaRPr lang="en-US" sz="2400" b="1"/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467397" y="4953000"/>
            <a:ext cx="10414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2534197" y="4953000"/>
            <a:ext cx="9906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854342" y="28194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529</a:t>
            </a:r>
            <a:endParaRPr lang="en-US" sz="2400" b="1"/>
          </a:p>
        </p:txBody>
      </p:sp>
      <p:sp>
        <p:nvSpPr>
          <p:cNvPr id="57" name="Rectangle 56"/>
          <p:cNvSpPr/>
          <p:nvPr/>
        </p:nvSpPr>
        <p:spPr>
          <a:xfrm>
            <a:off x="6616342" y="28194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31</a:t>
            </a:r>
            <a:endParaRPr lang="en-US" sz="2400" b="1"/>
          </a:p>
        </p:txBody>
      </p:sp>
      <p:sp>
        <p:nvSpPr>
          <p:cNvPr id="58" name="Rectangle 57"/>
          <p:cNvSpPr/>
          <p:nvPr/>
        </p:nvSpPr>
        <p:spPr>
          <a:xfrm>
            <a:off x="5854342" y="25309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616342" y="25309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r"/>
            <a:r>
              <a:rPr lang="en-IN" b="1">
                <a:solidFill>
                  <a:srgbClr val="C00000"/>
                </a:solidFill>
              </a:rPr>
              <a:t>2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911742" y="28194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189</a:t>
            </a:r>
            <a:endParaRPr lang="en-US" sz="2400" b="1"/>
          </a:p>
        </p:txBody>
      </p:sp>
      <p:sp>
        <p:nvSpPr>
          <p:cNvPr id="61" name="Rectangle 60"/>
          <p:cNvSpPr/>
          <p:nvPr/>
        </p:nvSpPr>
        <p:spPr>
          <a:xfrm>
            <a:off x="8673742" y="28194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451</a:t>
            </a:r>
            <a:endParaRPr lang="en-US" sz="2400" b="1"/>
          </a:p>
        </p:txBody>
      </p:sp>
      <p:sp>
        <p:nvSpPr>
          <p:cNvPr id="62" name="Rectangle 61"/>
          <p:cNvSpPr/>
          <p:nvPr/>
        </p:nvSpPr>
        <p:spPr>
          <a:xfrm>
            <a:off x="7911742" y="25309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673742" y="25309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r"/>
            <a:r>
              <a:rPr lang="en-IN" b="1">
                <a:solidFill>
                  <a:srgbClr val="C00000"/>
                </a:solidFill>
              </a:rPr>
              <a:t>2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6616342" y="2133600"/>
            <a:ext cx="1066800" cy="5334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7683142" y="2133600"/>
            <a:ext cx="990600" cy="5334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523416" y="38862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529</a:t>
            </a:r>
            <a:endParaRPr lang="en-US" sz="2400" b="1"/>
          </a:p>
        </p:txBody>
      </p:sp>
      <p:sp>
        <p:nvSpPr>
          <p:cNvPr id="67" name="Rectangle 66"/>
          <p:cNvSpPr/>
          <p:nvPr/>
        </p:nvSpPr>
        <p:spPr>
          <a:xfrm>
            <a:off x="5523416" y="36104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768742" y="38862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31</a:t>
            </a:r>
            <a:endParaRPr lang="en-US" sz="2400" b="1"/>
          </a:p>
        </p:txBody>
      </p:sp>
      <p:sp>
        <p:nvSpPr>
          <p:cNvPr id="69" name="Rectangle 68"/>
          <p:cNvSpPr/>
          <p:nvPr/>
        </p:nvSpPr>
        <p:spPr>
          <a:xfrm>
            <a:off x="6768742" y="36104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r"/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683142" y="38862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189</a:t>
            </a:r>
            <a:endParaRPr lang="en-US" sz="2400" b="1"/>
          </a:p>
        </p:txBody>
      </p:sp>
      <p:sp>
        <p:nvSpPr>
          <p:cNvPr id="71" name="Rectangle 70"/>
          <p:cNvSpPr/>
          <p:nvPr/>
        </p:nvSpPr>
        <p:spPr>
          <a:xfrm>
            <a:off x="7683142" y="36104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8749942" y="38862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451</a:t>
            </a:r>
            <a:endParaRPr lang="en-US" sz="2400" b="1"/>
          </a:p>
        </p:txBody>
      </p:sp>
      <p:sp>
        <p:nvSpPr>
          <p:cNvPr id="73" name="Rectangle 72"/>
          <p:cNvSpPr/>
          <p:nvPr/>
        </p:nvSpPr>
        <p:spPr>
          <a:xfrm>
            <a:off x="8749942" y="3610430"/>
            <a:ext cx="762000" cy="2743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r"/>
            <a:r>
              <a:rPr lang="en-IN" b="1">
                <a:solidFill>
                  <a:srgbClr val="C00000"/>
                </a:solidFill>
              </a:rPr>
              <a:t>1</a:t>
            </a:r>
            <a:endParaRPr lang="en-US" b="1">
              <a:solidFill>
                <a:srgbClr val="C00000"/>
              </a:solidFill>
            </a:endParaRPr>
          </a:p>
        </p:txBody>
      </p:sp>
      <p:cxnSp>
        <p:nvCxnSpPr>
          <p:cNvPr id="74" name="Straight Arrow Connector 73"/>
          <p:cNvCxnSpPr/>
          <p:nvPr/>
        </p:nvCxnSpPr>
        <p:spPr>
          <a:xfrm flipH="1">
            <a:off x="5930542" y="3200400"/>
            <a:ext cx="685800" cy="3810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6616342" y="3200400"/>
            <a:ext cx="533400" cy="3810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>
            <a:off x="7987942" y="3200400"/>
            <a:ext cx="685800" cy="3810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8673742" y="3200400"/>
            <a:ext cx="533400" cy="3810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5854342" y="4572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31</a:t>
            </a:r>
            <a:endParaRPr lang="en-US" sz="2400" b="1"/>
          </a:p>
        </p:txBody>
      </p:sp>
      <p:sp>
        <p:nvSpPr>
          <p:cNvPr id="79" name="Rectangle 78"/>
          <p:cNvSpPr/>
          <p:nvPr/>
        </p:nvSpPr>
        <p:spPr>
          <a:xfrm>
            <a:off x="6616342" y="4572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529</a:t>
            </a:r>
            <a:endParaRPr lang="en-US" sz="2400" b="1"/>
          </a:p>
        </p:txBody>
      </p:sp>
      <p:sp>
        <p:nvSpPr>
          <p:cNvPr id="80" name="Rectangle 79"/>
          <p:cNvSpPr/>
          <p:nvPr/>
        </p:nvSpPr>
        <p:spPr>
          <a:xfrm>
            <a:off x="7911742" y="4572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189</a:t>
            </a:r>
            <a:endParaRPr lang="en-US" sz="2400" b="1"/>
          </a:p>
        </p:txBody>
      </p:sp>
      <p:sp>
        <p:nvSpPr>
          <p:cNvPr id="81" name="Rectangle 80"/>
          <p:cNvSpPr/>
          <p:nvPr/>
        </p:nvSpPr>
        <p:spPr>
          <a:xfrm>
            <a:off x="8673742" y="45720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451</a:t>
            </a:r>
            <a:endParaRPr lang="en-US" sz="2400" b="1"/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5930542" y="4267200"/>
            <a:ext cx="6858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8" idx="2"/>
          </p:cNvCxnSpPr>
          <p:nvPr/>
        </p:nvCxnSpPr>
        <p:spPr>
          <a:xfrm flipH="1">
            <a:off x="6616342" y="4267200"/>
            <a:ext cx="5334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>
            <a:stCxn id="70" idx="2"/>
          </p:cNvCxnSpPr>
          <p:nvPr/>
        </p:nvCxnSpPr>
        <p:spPr>
          <a:xfrm>
            <a:off x="8064142" y="4267200"/>
            <a:ext cx="6096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2" idx="2"/>
          </p:cNvCxnSpPr>
          <p:nvPr/>
        </p:nvCxnSpPr>
        <p:spPr>
          <a:xfrm flipH="1">
            <a:off x="8597542" y="4267200"/>
            <a:ext cx="5334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6133742" y="5257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31</a:t>
            </a:r>
            <a:endParaRPr lang="en-US" sz="2400" b="1"/>
          </a:p>
        </p:txBody>
      </p:sp>
      <p:sp>
        <p:nvSpPr>
          <p:cNvPr id="87" name="Rectangle 86"/>
          <p:cNvSpPr/>
          <p:nvPr/>
        </p:nvSpPr>
        <p:spPr>
          <a:xfrm>
            <a:off x="6895742" y="5257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189</a:t>
            </a:r>
            <a:endParaRPr lang="en-US" sz="2400" b="1"/>
          </a:p>
        </p:txBody>
      </p:sp>
      <p:sp>
        <p:nvSpPr>
          <p:cNvPr id="88" name="Rectangle 87"/>
          <p:cNvSpPr/>
          <p:nvPr/>
        </p:nvSpPr>
        <p:spPr>
          <a:xfrm>
            <a:off x="7657742" y="5257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451</a:t>
            </a:r>
            <a:endParaRPr lang="en-US" sz="2400" b="1"/>
          </a:p>
        </p:txBody>
      </p:sp>
      <p:sp>
        <p:nvSpPr>
          <p:cNvPr id="89" name="Rectangle 88"/>
          <p:cNvSpPr/>
          <p:nvPr/>
        </p:nvSpPr>
        <p:spPr>
          <a:xfrm>
            <a:off x="8419742" y="5257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529</a:t>
            </a:r>
            <a:endParaRPr lang="en-US" sz="2400" b="1"/>
          </a:p>
        </p:txBody>
      </p:sp>
      <p:cxnSp>
        <p:nvCxnSpPr>
          <p:cNvPr id="90" name="Straight Arrow Connector 89"/>
          <p:cNvCxnSpPr/>
          <p:nvPr/>
        </p:nvCxnSpPr>
        <p:spPr>
          <a:xfrm>
            <a:off x="6616342" y="4953000"/>
            <a:ext cx="10414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7683142" y="4953000"/>
            <a:ext cx="990600" cy="3048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1848397" y="6019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2</a:t>
            </a:r>
            <a:endParaRPr lang="en-US" sz="2400" b="1"/>
          </a:p>
        </p:txBody>
      </p:sp>
      <p:sp>
        <p:nvSpPr>
          <p:cNvPr id="93" name="Rectangle 92"/>
          <p:cNvSpPr/>
          <p:nvPr/>
        </p:nvSpPr>
        <p:spPr>
          <a:xfrm>
            <a:off x="2610397" y="6019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31</a:t>
            </a:r>
            <a:endParaRPr lang="en-US" sz="2400" b="1"/>
          </a:p>
        </p:txBody>
      </p:sp>
      <p:sp>
        <p:nvSpPr>
          <p:cNvPr id="94" name="Rectangle 93"/>
          <p:cNvSpPr/>
          <p:nvPr/>
        </p:nvSpPr>
        <p:spPr>
          <a:xfrm>
            <a:off x="3372397" y="6019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98</a:t>
            </a:r>
            <a:endParaRPr lang="en-US" sz="2400" b="1"/>
          </a:p>
        </p:txBody>
      </p:sp>
      <p:sp>
        <p:nvSpPr>
          <p:cNvPr id="95" name="Rectangle 94"/>
          <p:cNvSpPr/>
          <p:nvPr/>
        </p:nvSpPr>
        <p:spPr>
          <a:xfrm>
            <a:off x="4134397" y="6019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189</a:t>
            </a:r>
            <a:endParaRPr lang="en-US" sz="2400" b="1"/>
          </a:p>
        </p:txBody>
      </p:sp>
      <p:sp>
        <p:nvSpPr>
          <p:cNvPr id="96" name="Rectangle 95"/>
          <p:cNvSpPr/>
          <p:nvPr/>
        </p:nvSpPr>
        <p:spPr>
          <a:xfrm>
            <a:off x="4896397" y="6019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451</a:t>
            </a:r>
            <a:endParaRPr lang="en-US" sz="2400" b="1"/>
          </a:p>
        </p:txBody>
      </p:sp>
      <p:sp>
        <p:nvSpPr>
          <p:cNvPr id="97" name="Rectangle 96"/>
          <p:cNvSpPr/>
          <p:nvPr/>
        </p:nvSpPr>
        <p:spPr>
          <a:xfrm>
            <a:off x="5658397" y="6019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521</a:t>
            </a:r>
            <a:endParaRPr lang="en-US" sz="2400" b="1"/>
          </a:p>
        </p:txBody>
      </p:sp>
      <p:sp>
        <p:nvSpPr>
          <p:cNvPr id="98" name="Rectangle 97"/>
          <p:cNvSpPr/>
          <p:nvPr/>
        </p:nvSpPr>
        <p:spPr>
          <a:xfrm>
            <a:off x="6420397" y="6019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529</a:t>
            </a:r>
            <a:endParaRPr lang="en-US" sz="2400" b="1"/>
          </a:p>
        </p:txBody>
      </p:sp>
      <p:sp>
        <p:nvSpPr>
          <p:cNvPr id="99" name="Rectangle 98"/>
          <p:cNvSpPr/>
          <p:nvPr/>
        </p:nvSpPr>
        <p:spPr>
          <a:xfrm>
            <a:off x="7182397" y="6019800"/>
            <a:ext cx="762000" cy="3810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/>
          </a:lstStyle>
          <a:p>
            <a:pPr algn="ctr"/>
            <a:r>
              <a:rPr lang="en-IN" sz="2400" b="1"/>
              <a:t>724</a:t>
            </a:r>
            <a:endParaRPr lang="en-US" sz="2400" b="1"/>
          </a:p>
        </p:txBody>
      </p:sp>
      <p:cxnSp>
        <p:nvCxnSpPr>
          <p:cNvPr id="100" name="Straight Arrow Connector 99"/>
          <p:cNvCxnSpPr/>
          <p:nvPr/>
        </p:nvCxnSpPr>
        <p:spPr>
          <a:xfrm>
            <a:off x="2508797" y="5638800"/>
            <a:ext cx="2387600" cy="38100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H="1">
            <a:off x="4896398" y="5643154"/>
            <a:ext cx="2758436" cy="376646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5038550" y="914400"/>
            <a:ext cx="4849405" cy="430887"/>
          </a:xfrm>
          <a:prstGeom prst="rect">
            <a:avLst/>
          </a:prstGeom>
        </p:spPr>
        <p:txBody>
          <a:bodyPr wrap="none">
            <a:spAutoFit/>
          </a:bodyPr>
          <a:lstStyle>
            <a:defPPr/>
          </a:lstStyle>
          <a:p>
            <a:pPr algn="ctr"/>
            <a:r>
              <a:rPr lang="en-US" sz="2200" b="1" dirty="0">
                <a:solidFill>
                  <a:srgbClr val="0070C0"/>
                </a:solidFill>
              </a:rPr>
              <a:t>Select the right subarray and </a:t>
            </a:r>
            <a:r>
              <a:rPr lang="en-IN" sz="2200" b="1" dirty="0">
                <a:solidFill>
                  <a:srgbClr val="0070C0"/>
                </a:solidFill>
              </a:rPr>
              <a:t>Split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10165" y="2438053"/>
            <a:ext cx="778117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/>
          </a:lstStyle>
          <a:p>
            <a:r>
              <a:rPr lang="en-US" sz="2400">
                <a:solidFill>
                  <a:srgbClr val="002060"/>
                </a:solidFill>
              </a:rPr>
              <a:t>Split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88398" y="4874567"/>
            <a:ext cx="1020820" cy="44627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/>
          </a:lstStyle>
          <a:p>
            <a:r>
              <a:rPr lang="en-US" sz="2300" dirty="0" smtClean="0">
                <a:solidFill>
                  <a:srgbClr val="002060"/>
                </a:solidFill>
              </a:rPr>
              <a:t>Merge </a:t>
            </a:r>
            <a:endParaRPr lang="en-US" sz="2300" dirty="0">
              <a:solidFill>
                <a:srgbClr val="002060"/>
              </a:solidFill>
            </a:endParaRPr>
          </a:p>
        </p:txBody>
      </p:sp>
      <p:cxnSp>
        <p:nvCxnSpPr>
          <p:cNvPr id="105" name="Straight Arrow Connector 104"/>
          <p:cNvCxnSpPr>
            <a:stCxn id="103" idx="0"/>
          </p:cNvCxnSpPr>
          <p:nvPr/>
        </p:nvCxnSpPr>
        <p:spPr>
          <a:xfrm flipH="1" flipV="1">
            <a:off x="4899224" y="1750824"/>
            <a:ext cx="0" cy="687229"/>
          </a:xfrm>
          <a:prstGeom prst="straightConnector1">
            <a:avLst/>
          </a:prstGeom>
          <a:ln w="28575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103" idx="2"/>
          </p:cNvCxnSpPr>
          <p:nvPr/>
        </p:nvCxnSpPr>
        <p:spPr>
          <a:xfrm flipH="1">
            <a:off x="4899223" y="2899718"/>
            <a:ext cx="1" cy="1092766"/>
          </a:xfrm>
          <a:prstGeom prst="straightConnector1">
            <a:avLst/>
          </a:prstGeom>
          <a:ln w="28575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4602481" y="4038600"/>
            <a:ext cx="57150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104" idx="0"/>
          </p:cNvCxnSpPr>
          <p:nvPr/>
        </p:nvCxnSpPr>
        <p:spPr>
          <a:xfrm flipV="1">
            <a:off x="4898808" y="4076701"/>
            <a:ext cx="7490" cy="797866"/>
          </a:xfrm>
          <a:prstGeom prst="straightConnector1">
            <a:avLst/>
          </a:prstGeom>
          <a:ln w="28575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104" idx="2"/>
          </p:cNvCxnSpPr>
          <p:nvPr/>
        </p:nvCxnSpPr>
        <p:spPr>
          <a:xfrm>
            <a:off x="4898808" y="5320843"/>
            <a:ext cx="7490" cy="698957"/>
          </a:xfrm>
          <a:prstGeom prst="straightConnector1">
            <a:avLst/>
          </a:prstGeom>
          <a:ln w="28575">
            <a:solidFill>
              <a:srgbClr val="C0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174313" y="5268123"/>
            <a:ext cx="365760" cy="365760"/>
          </a:xfrm>
          <a:prstGeom prst="ellipse">
            <a:avLst/>
          </a:prstGeom>
          <a:noFill/>
          <a:ln w="28575">
            <a:solidFill>
              <a:srgbClr val="AD14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6326782" y="5257800"/>
            <a:ext cx="365760" cy="365760"/>
          </a:xfrm>
          <a:prstGeom prst="ellipse">
            <a:avLst/>
          </a:prstGeom>
          <a:noFill/>
          <a:ln w="28575">
            <a:solidFill>
              <a:srgbClr val="AD14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0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370534" y="325164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2800" b="1" dirty="0" smtClean="0">
                <a:latin typeface="Arial"/>
                <a:ea typeface="+mn-ea"/>
                <a:cs typeface="+mn-cs"/>
              </a:rPr>
              <a:t>Quick Sort Algorithm – Introduction </a:t>
            </a:r>
            <a:endParaRPr lang="en-US" sz="2800" b="1" dirty="0">
              <a:latin typeface="Arial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91402" y="1134491"/>
            <a:ext cx="1084542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Quicksort is the other important sorting algorithm that is based on the </a:t>
            </a:r>
            <a:r>
              <a:rPr lang="en-US" sz="2400" dirty="0" smtClean="0">
                <a:latin typeface="Trebuchet MS" panose="020B0603020202020204" pitchFamily="34" charset="0"/>
              </a:rPr>
              <a:t>divide-and conquer </a:t>
            </a:r>
            <a:r>
              <a:rPr lang="en-US" sz="2400" dirty="0">
                <a:latin typeface="Trebuchet MS" panose="020B0603020202020204" pitchFamily="34" charset="0"/>
              </a:rPr>
              <a:t>approach.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Unlike merge sort</a:t>
            </a:r>
            <a:r>
              <a:rPr lang="en-US" sz="2400" dirty="0">
                <a:latin typeface="Trebuchet MS" panose="020B0603020202020204" pitchFamily="34" charset="0"/>
              </a:rPr>
              <a:t>, which divides its input elements according to their position in the array, quicksort divides them according to their value</a:t>
            </a:r>
            <a:r>
              <a:rPr lang="en-US" sz="2400" dirty="0" smtClean="0">
                <a:latin typeface="Trebuchet MS" panose="020B0603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partition is an arrangement of the array’s elements so that all the elements to the left of some element A[s] are less than or equal to A[s], and all the elements to the right of A[s] are greater than or equal to </a:t>
            </a:r>
            <a:r>
              <a:rPr lang="en-US" sz="2400" dirty="0" smtClean="0"/>
              <a:t>it.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rebuchet MS" panose="020B0603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587" y="5288879"/>
            <a:ext cx="5229012" cy="1172177"/>
          </a:xfrm>
          <a:prstGeom prst="rect">
            <a:avLst/>
          </a:prstGeom>
          <a:ln>
            <a:solidFill>
              <a:srgbClr val="00B0F0"/>
            </a:solidFill>
          </a:ln>
        </p:spPr>
      </p:pic>
    </p:spTree>
    <p:extLst>
      <p:ext uri="{BB962C8B-B14F-4D97-AF65-F5344CB8AC3E}">
        <p14:creationId xmlns:p14="http://schemas.microsoft.com/office/powerpoint/2010/main" val="179774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343239" y="311516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2800" b="1" dirty="0">
                <a:ea typeface="+mn-ea"/>
                <a:cs typeface="+mn-cs"/>
              </a:rPr>
              <a:t>Quick Sort Algorithm – Introduction </a:t>
            </a:r>
            <a:endParaRPr lang="en-US" sz="2800" b="1" dirty="0"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0410" y="1185625"/>
            <a:ext cx="11380188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rebuchet MS" panose="020B0603020202020204" pitchFamily="34" charset="0"/>
              </a:rPr>
              <a:t>After </a:t>
            </a:r>
            <a:r>
              <a:rPr lang="en-US" sz="2300" dirty="0">
                <a:latin typeface="Trebuchet MS" panose="020B0603020202020204" pitchFamily="34" charset="0"/>
              </a:rPr>
              <a:t>a partition is achieved, A[s] will be in its final position in the sorted array, and we can continue sorting the two subarrays to the left and to the right of A[s] </a:t>
            </a:r>
            <a:r>
              <a:rPr lang="en-US" sz="2300" dirty="0" smtClean="0">
                <a:latin typeface="Trebuchet MS" panose="020B0603020202020204" pitchFamily="34" charset="0"/>
              </a:rPr>
              <a:t>independently.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Trebuchet MS" panose="020B0603020202020204" pitchFamily="34" charset="0"/>
              </a:rPr>
              <a:t>After we have to call </a:t>
            </a:r>
            <a:r>
              <a:rPr lang="en-US" sz="2300" dirty="0">
                <a:latin typeface="Trebuchet MS" panose="020B0603020202020204" pitchFamily="34" charset="0"/>
              </a:rPr>
              <a:t>Quicksort(A[0..n − 1]) </a:t>
            </a:r>
            <a:r>
              <a:rPr lang="en-US" sz="2300" dirty="0" smtClean="0">
                <a:latin typeface="Trebuchet MS" panose="020B0603020202020204" pitchFamily="34" charset="0"/>
              </a:rPr>
              <a:t>algorithm. Before that we have to choose the pivot element.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Pivot:</a:t>
            </a:r>
            <a:r>
              <a:rPr lang="en-US" sz="23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en-US" sz="2300" dirty="0" smtClean="0">
                <a:latin typeface="Trebuchet MS" panose="020B0603020202020204" pitchFamily="34" charset="0"/>
              </a:rPr>
              <a:t>An </a:t>
            </a:r>
            <a:r>
              <a:rPr lang="en-US" sz="2300" dirty="0">
                <a:latin typeface="Trebuchet MS" panose="020B0603020202020204" pitchFamily="34" charset="0"/>
              </a:rPr>
              <a:t>element with respect to whose value we are going to divide </a:t>
            </a:r>
            <a:r>
              <a:rPr lang="en-US" sz="2300" dirty="0" smtClean="0">
                <a:latin typeface="Trebuchet MS" panose="020B0603020202020204" pitchFamily="34" charset="0"/>
              </a:rPr>
              <a:t>the subarray.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Trebuchet MS" panose="020B0603020202020204" pitchFamily="34" charset="0"/>
              </a:rPr>
              <a:t>In the Quick Sort algorithm, the pivot element is a crucial part of the partitioning process, where the array is divided into two subarrays: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latin typeface="Trebuchet MS" panose="020B0603020202020204" pitchFamily="34" charset="0"/>
              </a:rPr>
              <a:t> one array containing </a:t>
            </a:r>
            <a:r>
              <a:rPr lang="en-US" sz="2300" dirty="0">
                <a:solidFill>
                  <a:srgbClr val="FF0000"/>
                </a:solidFill>
                <a:latin typeface="Trebuchet MS" panose="020B0603020202020204" pitchFamily="34" charset="0"/>
              </a:rPr>
              <a:t>elements smaller than the pivot 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300" dirty="0">
                <a:latin typeface="Trebuchet MS" panose="020B0603020202020204" pitchFamily="34" charset="0"/>
              </a:rPr>
              <a:t> Another containing </a:t>
            </a:r>
            <a:r>
              <a:rPr lang="en-US" sz="2300" dirty="0">
                <a:solidFill>
                  <a:srgbClr val="FF0000"/>
                </a:solidFill>
                <a:latin typeface="Trebuchet MS" panose="020B0603020202020204" pitchFamily="34" charset="0"/>
              </a:rPr>
              <a:t>elements greater than the </a:t>
            </a:r>
            <a:r>
              <a:rPr lang="en-US" sz="23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pivot</a:t>
            </a:r>
            <a:endParaRPr lang="en-IN" sz="2300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80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384181" y="338812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2800" b="1" dirty="0"/>
              <a:t>Quick Sort Algorithm – Introduction </a:t>
            </a:r>
            <a:endParaRPr lang="en-US" sz="2800" b="1" dirty="0">
              <a:latin typeface="Arial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4181" y="886239"/>
            <a:ext cx="1131195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Selecting Pivot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There </a:t>
            </a:r>
            <a:r>
              <a:rPr lang="en-US" sz="2400" dirty="0">
                <a:latin typeface="Trebuchet MS" panose="020B0603020202020204" pitchFamily="34" charset="0"/>
              </a:rPr>
              <a:t>are several strategies for choosing a pivot element in an array for </a:t>
            </a:r>
            <a:r>
              <a:rPr lang="en-US" sz="2400" dirty="0" smtClean="0">
                <a:latin typeface="Trebuchet MS" panose="020B0603020202020204" pitchFamily="34" charset="0"/>
              </a:rPr>
              <a:t>Quick Sort</a:t>
            </a:r>
            <a:r>
              <a:rPr lang="en-US" sz="2400" dirty="0">
                <a:latin typeface="Trebuchet MS" panose="020B0603020202020204" pitchFamily="34" charset="0"/>
              </a:rPr>
              <a:t>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1714500" lvl="3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Choose the first element as the </a:t>
            </a:r>
            <a:r>
              <a:rPr lang="en-US" sz="24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pivot</a:t>
            </a:r>
            <a:endParaRPr lang="en-US" sz="2400" dirty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rebuchet MS" panose="020B0603020202020204" pitchFamily="34" charset="0"/>
              </a:rPr>
              <a:t>Choose the last element as the </a:t>
            </a:r>
            <a:r>
              <a:rPr lang="en-US" sz="2400" dirty="0" smtClean="0">
                <a:latin typeface="Trebuchet MS" panose="020B0603020202020204" pitchFamily="34" charset="0"/>
              </a:rPr>
              <a:t>pivot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rebuchet MS" panose="020B0603020202020204" pitchFamily="34" charset="0"/>
              </a:rPr>
              <a:t>Choose the middle element as the </a:t>
            </a:r>
            <a:r>
              <a:rPr lang="en-US" sz="2400" dirty="0" smtClean="0">
                <a:latin typeface="Trebuchet MS" panose="020B0603020202020204" pitchFamily="34" charset="0"/>
              </a:rPr>
              <a:t>pivot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rebuchet MS" panose="020B0603020202020204" pitchFamily="34" charset="0"/>
              </a:rPr>
              <a:t>Randomly select a </a:t>
            </a:r>
            <a:r>
              <a:rPr lang="en-US" sz="2400" dirty="0" smtClean="0">
                <a:latin typeface="Trebuchet MS" panose="020B0603020202020204" pitchFamily="34" charset="0"/>
              </a:rPr>
              <a:t>pivot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Trebuchet MS" panose="020B0603020202020204" pitchFamily="34" charset="0"/>
              </a:rPr>
              <a:t>Median-of-three </a:t>
            </a:r>
            <a:r>
              <a:rPr lang="en-US" sz="2400" dirty="0" smtClean="0">
                <a:latin typeface="Trebuchet MS" panose="020B0603020202020204" pitchFamily="34" charset="0"/>
              </a:rPr>
              <a:t>pivot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rebuchet MS" panose="020B0603020202020204" pitchFamily="34" charset="0"/>
              </a:rPr>
              <a:t>Randomized pivot</a:t>
            </a:r>
          </a:p>
          <a:p>
            <a:pPr marL="355600" lvl="3" indent="-355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As per </a:t>
            </a:r>
            <a:r>
              <a:rPr lang="en-IN" sz="2400" dirty="0" smtClean="0"/>
              <a:t>Hoare(Author of quick sort) algorithm, we are </a:t>
            </a:r>
            <a:r>
              <a:rPr lang="en-US" sz="2400" u="sng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Choosing </a:t>
            </a:r>
            <a:r>
              <a:rPr lang="en-US" sz="2400" u="sng" dirty="0">
                <a:solidFill>
                  <a:srgbClr val="FF0000"/>
                </a:solidFill>
                <a:latin typeface="Trebuchet MS" panose="020B0603020202020204" pitchFamily="34" charset="0"/>
              </a:rPr>
              <a:t>the first element as the </a:t>
            </a:r>
            <a:r>
              <a:rPr lang="en-US" sz="2400" u="sng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pivot.</a:t>
            </a:r>
            <a:endParaRPr lang="en-IN" sz="2400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08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370534" y="329781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2800" b="1" dirty="0" smtClean="0">
                <a:latin typeface="Arial"/>
                <a:ea typeface="+mn-ea"/>
                <a:cs typeface="+mn-cs"/>
              </a:rPr>
              <a:t>Quick Sort – Pseudo code </a:t>
            </a:r>
            <a:endParaRPr lang="en-US" sz="2800" b="1" dirty="0">
              <a:latin typeface="Arial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3163" y="1272993"/>
            <a:ext cx="1133674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C0066"/>
                </a:solidFill>
                <a:latin typeface="Trebuchet MS" panose="020B0603020202020204" pitchFamily="34" charset="0"/>
              </a:rPr>
              <a:t>ALGORITHM</a:t>
            </a:r>
            <a:r>
              <a:rPr lang="en-US" sz="2400" dirty="0">
                <a:latin typeface="Trebuchet MS" panose="020B0603020202020204" pitchFamily="34" charset="0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Quicksort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(A[</a:t>
            </a:r>
            <a:r>
              <a:rPr lang="en-US" sz="2400" dirty="0" err="1">
                <a:solidFill>
                  <a:srgbClr val="FF0000"/>
                </a:solidFill>
                <a:latin typeface="Trebuchet MS" panose="020B0603020202020204" pitchFamily="34" charset="0"/>
              </a:rPr>
              <a:t>l..r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]) </a:t>
            </a:r>
            <a:endParaRPr lang="en-US" sz="2400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B050"/>
                </a:solidFill>
                <a:latin typeface="Trebuchet MS" panose="020B0603020202020204" pitchFamily="34" charset="0"/>
              </a:rPr>
              <a:t>//</a:t>
            </a:r>
            <a:r>
              <a:rPr lang="en-US" sz="2400" dirty="0">
                <a:solidFill>
                  <a:srgbClr val="00B050"/>
                </a:solidFill>
                <a:latin typeface="Trebuchet MS" panose="020B0603020202020204" pitchFamily="34" charset="0"/>
              </a:rPr>
              <a:t>Sorts a subarray by quicksort </a:t>
            </a:r>
            <a:endParaRPr lang="en-US" sz="2400" dirty="0" smtClean="0">
              <a:solidFill>
                <a:srgbClr val="00B050"/>
              </a:solidFill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//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Input: </a:t>
            </a:r>
            <a:r>
              <a:rPr lang="en-US" sz="2400" dirty="0">
                <a:latin typeface="Trebuchet MS" panose="020B0603020202020204" pitchFamily="34" charset="0"/>
              </a:rPr>
              <a:t>Subarray of array A[0..n − 1], defined by its </a:t>
            </a:r>
            <a:r>
              <a:rPr lang="en-US" sz="2400" dirty="0" smtClean="0">
                <a:latin typeface="Trebuchet MS" panose="020B0603020202020204" pitchFamily="34" charset="0"/>
              </a:rPr>
              <a:t>left(l) </a:t>
            </a:r>
            <a:r>
              <a:rPr lang="en-US" sz="2400" dirty="0">
                <a:latin typeface="Trebuchet MS" panose="020B0603020202020204" pitchFamily="34" charset="0"/>
              </a:rPr>
              <a:t>and </a:t>
            </a:r>
            <a:r>
              <a:rPr lang="en-US" sz="2400" dirty="0" smtClean="0">
                <a:latin typeface="Trebuchet MS" panose="020B0603020202020204" pitchFamily="34" charset="0"/>
              </a:rPr>
              <a:t>right(r)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//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Output:</a:t>
            </a:r>
            <a:r>
              <a:rPr lang="en-US" sz="2400" dirty="0">
                <a:latin typeface="Trebuchet MS" panose="020B0603020202020204" pitchFamily="34" charset="0"/>
              </a:rPr>
              <a:t> Subarray A[</a:t>
            </a:r>
            <a:r>
              <a:rPr lang="en-US" sz="2400" dirty="0" err="1">
                <a:latin typeface="Trebuchet MS" panose="020B0603020202020204" pitchFamily="34" charset="0"/>
              </a:rPr>
              <a:t>l..r</a:t>
            </a:r>
            <a:r>
              <a:rPr lang="en-US" sz="2400" dirty="0">
                <a:latin typeface="Trebuchet MS" panose="020B0603020202020204" pitchFamily="34" charset="0"/>
              </a:rPr>
              <a:t>] sorted in </a:t>
            </a:r>
            <a:r>
              <a:rPr lang="en-US" sz="2400" dirty="0" smtClean="0">
                <a:latin typeface="Trebuchet MS" panose="020B0603020202020204" pitchFamily="34" charset="0"/>
              </a:rPr>
              <a:t>non-decreasing </a:t>
            </a:r>
            <a:r>
              <a:rPr lang="en-US" sz="2400" dirty="0">
                <a:latin typeface="Trebuchet MS" panose="020B0603020202020204" pitchFamily="34" charset="0"/>
              </a:rPr>
              <a:t>order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rebuchet MS" panose="020B0603020202020204" pitchFamily="34" charset="0"/>
              </a:rPr>
              <a:t>if </a:t>
            </a:r>
            <a:r>
              <a:rPr lang="en-IN" sz="2400" dirty="0" smtClean="0">
                <a:latin typeface="Trebuchet MS" panose="020B0603020202020204" pitchFamily="34" charset="0"/>
              </a:rPr>
              <a:t>l &lt; r</a:t>
            </a: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rebuchet MS" panose="020B0603020202020204" pitchFamily="34" charset="0"/>
              </a:rPr>
              <a:t>s </a:t>
            </a:r>
            <a:r>
              <a:rPr lang="en-US" sz="2400" dirty="0">
                <a:latin typeface="Trebuchet MS" panose="020B0603020202020204" pitchFamily="34" charset="0"/>
              </a:rPr>
              <a:t>←Partition(A[</a:t>
            </a:r>
            <a:r>
              <a:rPr lang="en-US" sz="2400" dirty="0" err="1">
                <a:latin typeface="Trebuchet MS" panose="020B0603020202020204" pitchFamily="34" charset="0"/>
              </a:rPr>
              <a:t>l..r</a:t>
            </a:r>
            <a:r>
              <a:rPr lang="en-US" sz="2400" dirty="0">
                <a:latin typeface="Trebuchet MS" panose="020B0603020202020204" pitchFamily="34" charset="0"/>
              </a:rPr>
              <a:t>])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//s is a split position </a:t>
            </a:r>
            <a:endParaRPr lang="en-US" sz="2400" dirty="0" smtClean="0">
              <a:solidFill>
                <a:srgbClr val="0070C0"/>
              </a:solidFill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rebuchet MS" panose="020B0603020202020204" pitchFamily="34" charset="0"/>
              </a:rPr>
              <a:t>Quicksort(A[</a:t>
            </a:r>
            <a:r>
              <a:rPr lang="en-US" sz="2400" dirty="0" err="1" smtClean="0">
                <a:latin typeface="Trebuchet MS" panose="020B0603020202020204" pitchFamily="34" charset="0"/>
              </a:rPr>
              <a:t>l</a:t>
            </a:r>
            <a:r>
              <a:rPr lang="en-US" sz="2400" dirty="0" err="1">
                <a:latin typeface="Trebuchet MS" panose="020B0603020202020204" pitchFamily="34" charset="0"/>
              </a:rPr>
              <a:t>..s</a:t>
            </a:r>
            <a:r>
              <a:rPr lang="en-US" sz="2400" dirty="0">
                <a:latin typeface="Trebuchet MS" panose="020B0603020202020204" pitchFamily="34" charset="0"/>
              </a:rPr>
              <a:t> − 1])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 smtClean="0">
                <a:latin typeface="Trebuchet MS" panose="020B0603020202020204" pitchFamily="34" charset="0"/>
              </a:rPr>
              <a:t>Quicksort(A[s </a:t>
            </a:r>
            <a:r>
              <a:rPr lang="en-US" sz="2400" dirty="0">
                <a:latin typeface="Trebuchet MS" panose="020B0603020202020204" pitchFamily="34" charset="0"/>
              </a:rPr>
              <a:t>+ 1..r])</a:t>
            </a:r>
            <a:endParaRPr lang="en-IN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05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343239" y="262552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2800" b="1" dirty="0">
                <a:latin typeface="Arial"/>
                <a:ea typeface="+mn-ea"/>
                <a:cs typeface="+mn-cs"/>
              </a:rPr>
              <a:t>Quick Sort </a:t>
            </a:r>
            <a:r>
              <a:rPr lang="en-US" sz="2800" b="1" dirty="0" smtClean="0">
                <a:latin typeface="Arial"/>
                <a:ea typeface="+mn-ea"/>
                <a:cs typeface="+mn-cs"/>
              </a:rPr>
              <a:t>Algorithm</a:t>
            </a:r>
            <a:endParaRPr lang="en-US" sz="2800" b="1" dirty="0"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1604" y="1123878"/>
            <a:ext cx="1071144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After selecting pivot, scan </a:t>
            </a:r>
            <a:r>
              <a:rPr lang="en-US" sz="2400" dirty="0">
                <a:latin typeface="Trebuchet MS" panose="020B0603020202020204" pitchFamily="34" charset="0"/>
              </a:rPr>
              <a:t>the subarray from both ends, comparing the subarray’s elements to the pivot.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The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left-to-right scan</a:t>
            </a:r>
            <a:r>
              <a:rPr lang="en-US" sz="2400" dirty="0">
                <a:latin typeface="Trebuchet MS" panose="020B0603020202020204" pitchFamily="34" charset="0"/>
              </a:rPr>
              <a:t>, denoted below by index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  <a:r>
              <a:rPr lang="en-US" sz="2400" u="sng" dirty="0">
                <a:solidFill>
                  <a:srgbClr val="0070C0"/>
                </a:solidFill>
                <a:latin typeface="Trebuchet MS" panose="020B0603020202020204" pitchFamily="34" charset="0"/>
              </a:rPr>
              <a:t>pointer </a:t>
            </a:r>
            <a:r>
              <a:rPr lang="en-US" sz="2400" u="sng" dirty="0" err="1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US" sz="2400" dirty="0">
                <a:latin typeface="Trebuchet MS" panose="020B0603020202020204" pitchFamily="34" charset="0"/>
              </a:rPr>
              <a:t>, starts with the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second </a:t>
            </a:r>
            <a:r>
              <a:rPr lang="en-US" sz="2400" dirty="0">
                <a:latin typeface="Trebuchet MS" panose="020B0603020202020204" pitchFamily="34" charset="0"/>
              </a:rPr>
              <a:t>element.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rebuchet MS" panose="020B0603020202020204" pitchFamily="34" charset="0"/>
              </a:rPr>
              <a:t>If Element is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smaller than the pivot </a:t>
            </a:r>
            <a:r>
              <a:rPr lang="en-US" sz="2400" dirty="0">
                <a:latin typeface="Trebuchet MS" panose="020B0603020202020204" pitchFamily="34" charset="0"/>
              </a:rPr>
              <a:t>to be in the left part of the </a:t>
            </a:r>
            <a:r>
              <a:rPr lang="en-US" sz="2400" dirty="0" smtClean="0">
                <a:latin typeface="Trebuchet MS" panose="020B0603020202020204" pitchFamily="34" charset="0"/>
              </a:rPr>
              <a:t>subarray, this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scan skips</a:t>
            </a:r>
            <a:r>
              <a:rPr lang="en-US" sz="2400" dirty="0">
                <a:latin typeface="Trebuchet MS" panose="020B0603020202020204" pitchFamily="34" charset="0"/>
              </a:rPr>
              <a:t> over elements that are smaller than the </a:t>
            </a:r>
            <a:r>
              <a:rPr lang="en-US" sz="2400" dirty="0" smtClean="0">
                <a:latin typeface="Trebuchet MS" panose="020B0603020202020204" pitchFamily="34" charset="0"/>
              </a:rPr>
              <a:t>pivot.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rebuchet MS" panose="020B0603020202020204" pitchFamily="34" charset="0"/>
              </a:rPr>
              <a:t>Then </a:t>
            </a:r>
            <a:r>
              <a:rPr lang="en-US" sz="24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Stops</a:t>
            </a:r>
            <a:r>
              <a:rPr lang="en-US" sz="2400" dirty="0" smtClean="0">
                <a:latin typeface="Trebuchet MS" panose="020B0603020202020204" pitchFamily="34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</a:rPr>
              <a:t>upon encountering the first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element greater than or equal </a:t>
            </a:r>
            <a:r>
              <a:rPr lang="en-US" sz="2400" dirty="0">
                <a:latin typeface="Trebuchet MS" panose="020B0603020202020204" pitchFamily="34" charset="0"/>
              </a:rPr>
              <a:t>to the pivot. </a:t>
            </a:r>
            <a:endParaRPr lang="en-US" sz="2400" dirty="0" smtClean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89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356887" y="366108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2800" b="1" dirty="0">
                <a:latin typeface="Arial"/>
                <a:ea typeface="+mn-ea"/>
                <a:cs typeface="+mn-cs"/>
              </a:rPr>
              <a:t>Quick Sort </a:t>
            </a:r>
            <a:r>
              <a:rPr lang="en-US" sz="2800" b="1" dirty="0" smtClean="0">
                <a:latin typeface="Arial"/>
                <a:ea typeface="+mn-ea"/>
                <a:cs typeface="+mn-cs"/>
              </a:rPr>
              <a:t>Algorithm</a:t>
            </a:r>
            <a:endParaRPr lang="en-US" sz="2800" b="1" dirty="0"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1603" y="1492367"/>
            <a:ext cx="1053402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The </a:t>
            </a: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right-to-left scan</a:t>
            </a:r>
            <a:r>
              <a:rPr lang="en-US" sz="2400" dirty="0">
                <a:latin typeface="Trebuchet MS" panose="020B0603020202020204" pitchFamily="34" charset="0"/>
              </a:rPr>
              <a:t>, denoted below by index </a:t>
            </a:r>
            <a:r>
              <a:rPr lang="en-US" sz="2400" u="sng" dirty="0">
                <a:solidFill>
                  <a:srgbClr val="0070C0"/>
                </a:solidFill>
                <a:latin typeface="Trebuchet MS" panose="020B0603020202020204" pitchFamily="34" charset="0"/>
              </a:rPr>
              <a:t>pointer j</a:t>
            </a:r>
            <a:r>
              <a:rPr lang="en-US" sz="2400" dirty="0">
                <a:latin typeface="Trebuchet MS" panose="020B0603020202020204" pitchFamily="34" charset="0"/>
              </a:rPr>
              <a:t>, starts with the last element of the subarray. </a:t>
            </a:r>
            <a:endParaRPr lang="en-US" sz="2400" dirty="0" smtClean="0">
              <a:latin typeface="Trebuchet MS" panose="020B0603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rebuchet MS" panose="020B0603020202020204" pitchFamily="34" charset="0"/>
              </a:rPr>
              <a:t>If the element is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larger than the pivot </a:t>
            </a:r>
            <a:r>
              <a:rPr lang="en-US" sz="2400" dirty="0">
                <a:latin typeface="Trebuchet MS" panose="020B0603020202020204" pitchFamily="34" charset="0"/>
              </a:rPr>
              <a:t>to be in the right part of the subarray, </a:t>
            </a:r>
            <a:r>
              <a:rPr lang="en-US" sz="2400" dirty="0" smtClean="0">
                <a:latin typeface="Trebuchet MS" panose="020B0603020202020204" pitchFamily="34" charset="0"/>
              </a:rPr>
              <a:t>this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scan skips </a:t>
            </a:r>
            <a:r>
              <a:rPr lang="en-US" sz="2400" dirty="0">
                <a:latin typeface="Trebuchet MS" panose="020B0603020202020204" pitchFamily="34" charset="0"/>
              </a:rPr>
              <a:t>over elements that are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larger than </a:t>
            </a:r>
            <a:r>
              <a:rPr lang="en-US" sz="2400" dirty="0">
                <a:latin typeface="Trebuchet MS" panose="020B0603020202020204" pitchFamily="34" charset="0"/>
              </a:rPr>
              <a:t>the </a:t>
            </a:r>
            <a:r>
              <a:rPr lang="en-US" sz="2400" dirty="0" smtClean="0">
                <a:latin typeface="Trebuchet MS" panose="020B0603020202020204" pitchFamily="34" charset="0"/>
              </a:rPr>
              <a:t>pivot.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rebuchet MS" panose="020B0603020202020204" pitchFamily="34" charset="0"/>
              </a:rPr>
              <a:t>Then </a:t>
            </a:r>
            <a:r>
              <a:rPr lang="en-US" sz="24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stops</a:t>
            </a:r>
            <a:r>
              <a:rPr lang="en-US" sz="2400" dirty="0" smtClean="0">
                <a:latin typeface="Trebuchet MS" panose="020B0603020202020204" pitchFamily="34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</a:rPr>
              <a:t>on encountering the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first element smaller than or </a:t>
            </a:r>
            <a:r>
              <a:rPr lang="en-US" sz="2400" dirty="0">
                <a:latin typeface="Trebuchet MS" panose="020B0603020202020204" pitchFamily="34" charset="0"/>
              </a:rPr>
              <a:t>equal to the pivot. </a:t>
            </a:r>
            <a:endParaRPr lang="en-IN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30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425126" y="353756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2800" b="1" dirty="0" smtClean="0">
                <a:latin typeface="Arial"/>
                <a:ea typeface="+mn-ea"/>
                <a:cs typeface="+mn-cs"/>
              </a:rPr>
              <a:t>Quick Sort Algorithm</a:t>
            </a:r>
            <a:endParaRPr lang="en-US" sz="2800" b="1" dirty="0">
              <a:latin typeface="Arial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00584" y="1120843"/>
            <a:ext cx="107362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After both scans stop, </a:t>
            </a:r>
            <a:r>
              <a:rPr lang="en-US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three situations may arise</a:t>
            </a:r>
            <a:r>
              <a:rPr lang="en-US" sz="2400" dirty="0" smtClean="0">
                <a:latin typeface="Trebuchet MS" panose="020B0603020202020204" pitchFamily="34" charset="0"/>
              </a:rPr>
              <a:t>, depending on whether or not the scanning indices have crossed. </a:t>
            </a:r>
          </a:p>
          <a:p>
            <a:pPr>
              <a:lnSpc>
                <a:spcPct val="150000"/>
              </a:lnSpc>
            </a:pPr>
            <a:r>
              <a:rPr lang="en-US" sz="2400" b="1" u="sng" dirty="0" smtClean="0">
                <a:solidFill>
                  <a:srgbClr val="CC0066"/>
                </a:solidFill>
                <a:latin typeface="Trebuchet MS" panose="020B0603020202020204" pitchFamily="34" charset="0"/>
              </a:rPr>
              <a:t>Case 1:</a:t>
            </a:r>
            <a:r>
              <a:rPr lang="en-US" sz="2400" b="1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If scanning indices </a:t>
            </a:r>
            <a:r>
              <a:rPr lang="en-US" sz="2400" dirty="0" err="1" smtClean="0">
                <a:latin typeface="Trebuchet MS" panose="020B0603020202020204" pitchFamily="34" charset="0"/>
              </a:rPr>
              <a:t>i</a:t>
            </a:r>
            <a:r>
              <a:rPr lang="en-US" sz="2400" dirty="0" smtClean="0">
                <a:latin typeface="Trebuchet MS" panose="020B0603020202020204" pitchFamily="34" charset="0"/>
              </a:rPr>
              <a:t> and j have </a:t>
            </a:r>
            <a:r>
              <a:rPr lang="en-US" sz="24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not crossed</a:t>
            </a:r>
            <a:r>
              <a:rPr lang="en-US" sz="2400" dirty="0" smtClean="0">
                <a:latin typeface="Trebuchet MS" panose="020B0603020202020204" pitchFamily="34" charset="0"/>
              </a:rPr>
              <a:t>, i.e., </a:t>
            </a:r>
            <a:r>
              <a:rPr lang="en-US" sz="2400" dirty="0" err="1" smtClean="0">
                <a:latin typeface="Trebuchet MS" panose="020B0603020202020204" pitchFamily="34" charset="0"/>
              </a:rPr>
              <a:t>i</a:t>
            </a:r>
            <a:r>
              <a:rPr lang="en-US" sz="2400" dirty="0" smtClean="0">
                <a:latin typeface="Trebuchet MS" panose="020B0603020202020204" pitchFamily="34" charset="0"/>
              </a:rPr>
              <a:t> &lt; j, we </a:t>
            </a: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simply exchange A[</a:t>
            </a:r>
            <a:r>
              <a:rPr lang="en-US" sz="2400" dirty="0" err="1" smtClean="0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] and A[j ] </a:t>
            </a:r>
            <a:r>
              <a:rPr lang="en-US" sz="2400" dirty="0" smtClean="0">
                <a:latin typeface="Trebuchet MS" panose="020B0603020202020204" pitchFamily="34" charset="0"/>
              </a:rPr>
              <a:t>and resume the scans by incrementing </a:t>
            </a:r>
            <a:r>
              <a:rPr lang="en-US" sz="2400" dirty="0" err="1" smtClean="0">
                <a:latin typeface="Trebuchet MS" panose="020B0603020202020204" pitchFamily="34" charset="0"/>
              </a:rPr>
              <a:t>i</a:t>
            </a:r>
            <a:r>
              <a:rPr lang="en-US" sz="2400" dirty="0" smtClean="0">
                <a:latin typeface="Trebuchet MS" panose="020B0603020202020204" pitchFamily="34" charset="0"/>
              </a:rPr>
              <a:t> and decrementing j, respectively.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84045" y="4648937"/>
            <a:ext cx="96869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72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384182" y="405925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2800" b="1" dirty="0" smtClean="0">
                <a:latin typeface="Arial"/>
                <a:ea typeface="+mn-ea"/>
                <a:cs typeface="+mn-cs"/>
              </a:rPr>
              <a:t>Quick Sort Algorithm</a:t>
            </a:r>
            <a:endParaRPr lang="en-US" sz="2800" b="1" dirty="0">
              <a:latin typeface="Arial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50962" y="3564109"/>
            <a:ext cx="9829800" cy="15049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5856" y="1348011"/>
            <a:ext cx="109000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solidFill>
                  <a:srgbClr val="CC0066"/>
                </a:solidFill>
                <a:latin typeface="Trebuchet MS" panose="020B0603020202020204" pitchFamily="34" charset="0"/>
              </a:rPr>
              <a:t>Case </a:t>
            </a:r>
            <a:r>
              <a:rPr lang="en-US" sz="2400" b="1" u="sng" dirty="0" smtClean="0">
                <a:solidFill>
                  <a:srgbClr val="CC0066"/>
                </a:solidFill>
                <a:latin typeface="Trebuchet MS" panose="020B0603020202020204" pitchFamily="34" charset="0"/>
              </a:rPr>
              <a:t>2:</a:t>
            </a:r>
            <a:r>
              <a:rPr lang="en-US" sz="2400" b="1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If </a:t>
            </a:r>
            <a:r>
              <a:rPr lang="en-US" sz="2400" dirty="0">
                <a:latin typeface="Trebuchet MS" panose="020B0603020202020204" pitchFamily="34" charset="0"/>
              </a:rPr>
              <a:t>the scanning indices have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crossed over</a:t>
            </a:r>
            <a:r>
              <a:rPr lang="en-US" sz="2400" dirty="0">
                <a:latin typeface="Trebuchet MS" panose="020B0603020202020204" pitchFamily="34" charset="0"/>
              </a:rPr>
              <a:t>, i.e., </a:t>
            </a:r>
            <a:r>
              <a:rPr lang="en-US" sz="2400" dirty="0" err="1">
                <a:latin typeface="Trebuchet MS" panose="020B0603020202020204" pitchFamily="34" charset="0"/>
              </a:rPr>
              <a:t>i</a:t>
            </a:r>
            <a:r>
              <a:rPr lang="en-US" sz="2400" dirty="0">
                <a:latin typeface="Trebuchet MS" panose="020B0603020202020204" pitchFamily="34" charset="0"/>
              </a:rPr>
              <a:t> &gt; j, we will have partitioned the subarray after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exchanging the </a:t>
            </a:r>
            <a:r>
              <a:rPr lang="en-US" sz="2400" u="sng" dirty="0">
                <a:solidFill>
                  <a:srgbClr val="FF0000"/>
                </a:solidFill>
                <a:latin typeface="Trebuchet MS" panose="020B0603020202020204" pitchFamily="34" charset="0"/>
              </a:rPr>
              <a:t>pivot with A[j </a:t>
            </a:r>
            <a:r>
              <a:rPr lang="en-US" sz="2400" u="sng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]</a:t>
            </a:r>
            <a:endParaRPr lang="en-IN" sz="2400" u="sng" dirty="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84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397830" y="298517"/>
            <a:ext cx="12192000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2800" b="1" dirty="0" smtClean="0">
                <a:latin typeface="Arial"/>
                <a:ea typeface="+mn-ea"/>
                <a:cs typeface="+mn-cs"/>
              </a:rPr>
              <a:t>Quick Sort Algorithm</a:t>
            </a:r>
            <a:endParaRPr lang="en-US" sz="2800" b="1" dirty="0">
              <a:latin typeface="Arial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66276" y="3432536"/>
            <a:ext cx="10447718" cy="11906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5994" y="1009717"/>
            <a:ext cx="1121391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solidFill>
                  <a:srgbClr val="CC0066"/>
                </a:solidFill>
                <a:latin typeface="Trebuchet MS" panose="020B0603020202020204" pitchFamily="34" charset="0"/>
              </a:rPr>
              <a:t>Case </a:t>
            </a:r>
            <a:r>
              <a:rPr lang="en-US" sz="2400" b="1" u="sng" dirty="0" smtClean="0">
                <a:solidFill>
                  <a:srgbClr val="CC0066"/>
                </a:solidFill>
                <a:latin typeface="Trebuchet MS" panose="020B0603020202020204" pitchFamily="34" charset="0"/>
              </a:rPr>
              <a:t>3: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Finally</a:t>
            </a:r>
            <a:r>
              <a:rPr lang="en-US" sz="2400" dirty="0">
                <a:latin typeface="Trebuchet MS" panose="020B0603020202020204" pitchFamily="34" charset="0"/>
              </a:rPr>
              <a:t>, if the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scanning indices stop </a:t>
            </a:r>
            <a:r>
              <a:rPr lang="en-US" sz="2400" dirty="0">
                <a:latin typeface="Trebuchet MS" panose="020B0603020202020204" pitchFamily="34" charset="0"/>
              </a:rPr>
              <a:t>while pointing to the same element, i.e., </a:t>
            </a:r>
            <a:r>
              <a:rPr lang="en-US" sz="2400" dirty="0" err="1">
                <a:latin typeface="Trebuchet MS" panose="020B0603020202020204" pitchFamily="34" charset="0"/>
              </a:rPr>
              <a:t>i</a:t>
            </a:r>
            <a:r>
              <a:rPr lang="en-US" sz="2400" dirty="0">
                <a:latin typeface="Trebuchet MS" panose="020B0603020202020204" pitchFamily="34" charset="0"/>
              </a:rPr>
              <a:t> = j, the value they are pointing to must be equal to </a:t>
            </a:r>
            <a:r>
              <a:rPr lang="en-US" sz="2400" dirty="0" smtClean="0">
                <a:latin typeface="Trebuchet MS" panose="020B0603020202020204" pitchFamily="34" charset="0"/>
              </a:rPr>
              <a:t>p. </a:t>
            </a:r>
            <a:r>
              <a:rPr lang="en-US" sz="2400" dirty="0">
                <a:latin typeface="Trebuchet MS" panose="020B0603020202020204" pitchFamily="34" charset="0"/>
              </a:rPr>
              <a:t>Thus, we have the subarray partitioned, with the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split position s = </a:t>
            </a:r>
            <a:r>
              <a:rPr lang="en-US" sz="2400" dirty="0" err="1">
                <a:solidFill>
                  <a:srgbClr val="FF0000"/>
                </a:solidFill>
                <a:latin typeface="Trebuchet MS" panose="020B0603020202020204" pitchFamily="34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 = j </a:t>
            </a:r>
            <a:r>
              <a:rPr lang="en-US" sz="2400" dirty="0">
                <a:latin typeface="Trebuchet MS" panose="020B0603020202020204" pitchFamily="34" charset="0"/>
              </a:rPr>
              <a:t>: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5994" y="4850726"/>
            <a:ext cx="108044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We can </a:t>
            </a:r>
            <a:r>
              <a:rPr lang="en-US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combine the last case </a:t>
            </a:r>
            <a:r>
              <a:rPr lang="en-US" sz="2400" dirty="0">
                <a:latin typeface="Trebuchet MS" panose="020B0603020202020204" pitchFamily="34" charset="0"/>
              </a:rPr>
              <a:t>with the case of crossed-over indices (</a:t>
            </a:r>
            <a:r>
              <a:rPr lang="en-US" sz="2400" dirty="0" err="1">
                <a:latin typeface="Trebuchet MS" panose="020B0603020202020204" pitchFamily="34" charset="0"/>
              </a:rPr>
              <a:t>i</a:t>
            </a:r>
            <a:r>
              <a:rPr lang="en-US" sz="2400" dirty="0">
                <a:latin typeface="Trebuchet MS" panose="020B0603020202020204" pitchFamily="34" charset="0"/>
              </a:rPr>
              <a:t> &gt; j ) by exchanging the pivot with A[j ] whenever </a:t>
            </a:r>
            <a:r>
              <a:rPr lang="en-US" sz="2400" dirty="0" err="1">
                <a:latin typeface="Trebuchet MS" panose="020B0603020202020204" pitchFamily="34" charset="0"/>
              </a:rPr>
              <a:t>i</a:t>
            </a:r>
            <a:r>
              <a:rPr lang="en-US" sz="2400" dirty="0">
                <a:latin typeface="Trebuchet MS" panose="020B0603020202020204" pitchFamily="34" charset="0"/>
              </a:rPr>
              <a:t> ≥ j .</a:t>
            </a:r>
            <a:endParaRPr lang="en-IN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24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2177" y="1003576"/>
            <a:ext cx="11495965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dirty="0">
                <a:solidFill>
                  <a:srgbClr val="D60093"/>
                </a:solidFill>
                <a:latin typeface="Trebuchet MS" panose="020B0603020202020204" pitchFamily="34" charset="0"/>
              </a:rPr>
              <a:t>ALGORITHM</a:t>
            </a:r>
            <a:r>
              <a:rPr lang="en-IN" sz="2000" dirty="0">
                <a:latin typeface="Trebuchet MS" panose="020B0603020202020204" pitchFamily="34" charset="0"/>
              </a:rPr>
              <a:t> </a:t>
            </a:r>
            <a:r>
              <a:rPr lang="en-IN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Partition</a:t>
            </a:r>
            <a:r>
              <a:rPr lang="en-IN" sz="20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(A[</a:t>
            </a:r>
            <a:r>
              <a:rPr lang="en-IN" sz="2000" dirty="0" err="1" smtClean="0">
                <a:solidFill>
                  <a:srgbClr val="FF0000"/>
                </a:solidFill>
                <a:latin typeface="Trebuchet MS" panose="020B0603020202020204" pitchFamily="34" charset="0"/>
              </a:rPr>
              <a:t>l</a:t>
            </a:r>
            <a:r>
              <a:rPr lang="en-IN" sz="2000" dirty="0" err="1">
                <a:solidFill>
                  <a:srgbClr val="FF0000"/>
                </a:solidFill>
                <a:latin typeface="Trebuchet MS" panose="020B0603020202020204" pitchFamily="34" charset="0"/>
              </a:rPr>
              <a:t>..r</a:t>
            </a:r>
            <a:r>
              <a:rPr lang="en-IN" sz="2000" dirty="0">
                <a:solidFill>
                  <a:srgbClr val="FF0000"/>
                </a:solidFill>
                <a:latin typeface="Trebuchet MS" panose="020B0603020202020204" pitchFamily="34" charset="0"/>
              </a:rPr>
              <a:t>]) </a:t>
            </a:r>
            <a:endParaRPr lang="en-IN" sz="2000" dirty="0" smtClean="0">
              <a:solidFill>
                <a:srgbClr val="FF0000"/>
              </a:solidFill>
              <a:latin typeface="Trebuchet MS" panose="020B0603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//</a:t>
            </a:r>
            <a:r>
              <a:rPr lang="en-IN" sz="2000" dirty="0">
                <a:solidFill>
                  <a:srgbClr val="7030A0"/>
                </a:solidFill>
                <a:latin typeface="Trebuchet MS" panose="020B0603020202020204" pitchFamily="34" charset="0"/>
              </a:rPr>
              <a:t>Partitions a subarray by Hoare’s algorithm, using the first </a:t>
            </a:r>
            <a:r>
              <a:rPr lang="en-IN" sz="2000" dirty="0" smtClean="0">
                <a:solidFill>
                  <a:srgbClr val="7030A0"/>
                </a:solidFill>
                <a:latin typeface="Trebuchet MS" panose="020B0603020202020204" pitchFamily="34" charset="0"/>
              </a:rPr>
              <a:t>element </a:t>
            </a:r>
            <a:r>
              <a:rPr lang="en-IN" sz="2000" dirty="0">
                <a:solidFill>
                  <a:srgbClr val="7030A0"/>
                </a:solidFill>
                <a:latin typeface="Trebuchet MS" panose="020B0603020202020204" pitchFamily="34" charset="0"/>
              </a:rPr>
              <a:t>as a pivot </a:t>
            </a:r>
            <a:endParaRPr lang="en-IN" sz="2000" dirty="0" smtClean="0">
              <a:solidFill>
                <a:srgbClr val="7030A0"/>
              </a:solidFill>
              <a:latin typeface="Trebuchet MS" panose="020B0603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//</a:t>
            </a:r>
            <a:r>
              <a:rPr lang="en-IN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Input: </a:t>
            </a:r>
            <a:r>
              <a:rPr lang="en-IN" sz="2000" dirty="0">
                <a:latin typeface="Trebuchet MS" panose="020B0603020202020204" pitchFamily="34" charset="0"/>
              </a:rPr>
              <a:t>Subarray of array A[0..n − 1], defined by its </a:t>
            </a:r>
            <a:r>
              <a:rPr lang="en-IN" sz="2000" dirty="0" smtClean="0">
                <a:latin typeface="Trebuchet MS" panose="020B0603020202020204" pitchFamily="34" charset="0"/>
              </a:rPr>
              <a:t>left(l) </a:t>
            </a:r>
            <a:r>
              <a:rPr lang="en-IN" sz="2000" dirty="0">
                <a:latin typeface="Trebuchet MS" panose="020B0603020202020204" pitchFamily="34" charset="0"/>
              </a:rPr>
              <a:t>and </a:t>
            </a:r>
            <a:r>
              <a:rPr lang="en-IN" sz="2000" dirty="0" smtClean="0">
                <a:latin typeface="Trebuchet MS" panose="020B0603020202020204" pitchFamily="34" charset="0"/>
              </a:rPr>
              <a:t>right(r) and  (</a:t>
            </a:r>
            <a:r>
              <a:rPr lang="en-IN" sz="2000" dirty="0">
                <a:latin typeface="Trebuchet MS" panose="020B0603020202020204" pitchFamily="34" charset="0"/>
              </a:rPr>
              <a:t>l &lt; r) </a:t>
            </a:r>
            <a:endParaRPr lang="en-IN" sz="2000" dirty="0" smtClean="0">
              <a:latin typeface="Trebuchet MS" panose="020B0603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0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//</a:t>
            </a:r>
            <a:r>
              <a:rPr lang="en-IN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Output: </a:t>
            </a:r>
            <a:r>
              <a:rPr lang="en-IN" sz="2000" dirty="0">
                <a:latin typeface="Trebuchet MS" panose="020B0603020202020204" pitchFamily="34" charset="0"/>
              </a:rPr>
              <a:t>Partition of A[</a:t>
            </a:r>
            <a:r>
              <a:rPr lang="en-IN" sz="2000" dirty="0" err="1">
                <a:latin typeface="Trebuchet MS" panose="020B0603020202020204" pitchFamily="34" charset="0"/>
              </a:rPr>
              <a:t>l..r</a:t>
            </a:r>
            <a:r>
              <a:rPr lang="en-IN" sz="2000" dirty="0">
                <a:latin typeface="Trebuchet MS" panose="020B0603020202020204" pitchFamily="34" charset="0"/>
              </a:rPr>
              <a:t>], with the split position returned as </a:t>
            </a:r>
            <a:r>
              <a:rPr lang="en-IN" sz="2000" dirty="0" smtClean="0">
                <a:latin typeface="Trebuchet MS" panose="020B0603020202020204" pitchFamily="34" charset="0"/>
              </a:rPr>
              <a:t>this </a:t>
            </a:r>
            <a:r>
              <a:rPr lang="en-IN" sz="2000" dirty="0">
                <a:latin typeface="Trebuchet MS" panose="020B0603020202020204" pitchFamily="34" charset="0"/>
              </a:rPr>
              <a:t>function’s value </a:t>
            </a:r>
            <a:endParaRPr lang="en-IN" sz="2000" dirty="0" smtClean="0">
              <a:latin typeface="Trebuchet MS" panose="020B0603020202020204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sz="2000" dirty="0" smtClean="0">
                <a:latin typeface="Trebuchet MS" panose="020B0603020202020204" pitchFamily="34" charset="0"/>
              </a:rPr>
              <a:t>p </a:t>
            </a:r>
            <a:r>
              <a:rPr lang="en-IN" sz="2000" dirty="0">
                <a:latin typeface="Trebuchet MS" panose="020B0603020202020204" pitchFamily="34" charset="0"/>
              </a:rPr>
              <a:t>← A[l] </a:t>
            </a:r>
            <a:endParaRPr lang="en-IN" sz="2000" dirty="0" smtClean="0">
              <a:latin typeface="Trebuchet MS" panose="020B0603020202020204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sz="2000" dirty="0" err="1" smtClean="0">
                <a:latin typeface="Trebuchet MS" panose="020B0603020202020204" pitchFamily="34" charset="0"/>
              </a:rPr>
              <a:t>i</a:t>
            </a:r>
            <a:r>
              <a:rPr lang="en-IN" sz="2000" dirty="0" smtClean="0">
                <a:latin typeface="Trebuchet MS" panose="020B0603020202020204" pitchFamily="34" charset="0"/>
              </a:rPr>
              <a:t> </a:t>
            </a:r>
            <a:r>
              <a:rPr lang="en-IN" sz="2000" dirty="0">
                <a:latin typeface="Trebuchet MS" panose="020B0603020202020204" pitchFamily="34" charset="0"/>
              </a:rPr>
              <a:t>← l; j ← r + 1 </a:t>
            </a:r>
            <a:endParaRPr lang="en-IN" sz="2000" dirty="0" smtClean="0">
              <a:latin typeface="Trebuchet MS" panose="020B0603020202020204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sz="2000" dirty="0" smtClean="0">
                <a:latin typeface="Trebuchet MS" panose="020B0603020202020204" pitchFamily="34" charset="0"/>
              </a:rPr>
              <a:t>repeat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sz="2000" dirty="0">
                <a:latin typeface="Trebuchet MS" panose="020B0603020202020204" pitchFamily="34" charset="0"/>
              </a:rPr>
              <a:t>	</a:t>
            </a:r>
            <a:r>
              <a:rPr lang="en-IN" sz="2000" dirty="0" smtClean="0">
                <a:latin typeface="Trebuchet MS" panose="020B0603020202020204" pitchFamily="34" charset="0"/>
              </a:rPr>
              <a:t>repeat </a:t>
            </a:r>
            <a:r>
              <a:rPr lang="en-IN" sz="2000" dirty="0" err="1">
                <a:latin typeface="Trebuchet MS" panose="020B0603020202020204" pitchFamily="34" charset="0"/>
              </a:rPr>
              <a:t>i</a:t>
            </a:r>
            <a:r>
              <a:rPr lang="en-IN" sz="2000" dirty="0">
                <a:latin typeface="Trebuchet MS" panose="020B0603020202020204" pitchFamily="34" charset="0"/>
              </a:rPr>
              <a:t> ← </a:t>
            </a:r>
            <a:r>
              <a:rPr lang="en-IN" sz="2000" dirty="0" err="1">
                <a:latin typeface="Trebuchet MS" panose="020B0603020202020204" pitchFamily="34" charset="0"/>
              </a:rPr>
              <a:t>i</a:t>
            </a:r>
            <a:r>
              <a:rPr lang="en-IN" sz="2000" dirty="0">
                <a:latin typeface="Trebuchet MS" panose="020B0603020202020204" pitchFamily="34" charset="0"/>
              </a:rPr>
              <a:t> + 1 until A[</a:t>
            </a:r>
            <a:r>
              <a:rPr lang="en-IN" sz="2000" dirty="0" err="1">
                <a:latin typeface="Trebuchet MS" panose="020B0603020202020204" pitchFamily="34" charset="0"/>
              </a:rPr>
              <a:t>i</a:t>
            </a:r>
            <a:r>
              <a:rPr lang="en-IN" sz="2000" dirty="0">
                <a:latin typeface="Trebuchet MS" panose="020B0603020202020204" pitchFamily="34" charset="0"/>
              </a:rPr>
              <a:t>] ≥ p </a:t>
            </a:r>
            <a:endParaRPr lang="en-IN" sz="2000" dirty="0" smtClean="0">
              <a:latin typeface="Trebuchet MS" panose="020B0603020202020204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sz="2000" dirty="0">
                <a:latin typeface="Trebuchet MS" panose="020B0603020202020204" pitchFamily="34" charset="0"/>
              </a:rPr>
              <a:t>	</a:t>
            </a:r>
            <a:r>
              <a:rPr lang="en-IN" sz="2000" dirty="0" smtClean="0">
                <a:latin typeface="Trebuchet MS" panose="020B0603020202020204" pitchFamily="34" charset="0"/>
              </a:rPr>
              <a:t>repeat </a:t>
            </a:r>
            <a:r>
              <a:rPr lang="en-IN" sz="2000" dirty="0">
                <a:latin typeface="Trebuchet MS" panose="020B0603020202020204" pitchFamily="34" charset="0"/>
              </a:rPr>
              <a:t>j ← j − 1 until A[j ] ≤ p </a:t>
            </a:r>
            <a:endParaRPr lang="en-IN" sz="2000" dirty="0" smtClean="0">
              <a:latin typeface="Trebuchet MS" panose="020B0603020202020204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sz="2000" dirty="0">
                <a:latin typeface="Trebuchet MS" panose="020B0603020202020204" pitchFamily="34" charset="0"/>
              </a:rPr>
              <a:t>	</a:t>
            </a:r>
            <a:r>
              <a:rPr lang="en-IN" sz="2000" dirty="0" smtClean="0">
                <a:latin typeface="Trebuchet MS" panose="020B0603020202020204" pitchFamily="34" charset="0"/>
              </a:rPr>
              <a:t>swap(A[</a:t>
            </a:r>
            <a:r>
              <a:rPr lang="en-IN" sz="2000" dirty="0" err="1" smtClean="0">
                <a:latin typeface="Trebuchet MS" panose="020B0603020202020204" pitchFamily="34" charset="0"/>
              </a:rPr>
              <a:t>i</a:t>
            </a:r>
            <a:r>
              <a:rPr lang="en-IN" sz="2000" dirty="0">
                <a:latin typeface="Trebuchet MS" panose="020B0603020202020204" pitchFamily="34" charset="0"/>
              </a:rPr>
              <a:t>], A[j ]) </a:t>
            </a:r>
            <a:endParaRPr lang="en-IN" sz="2000" dirty="0" smtClean="0">
              <a:latin typeface="Trebuchet MS" panose="020B0603020202020204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sz="2000" dirty="0" smtClean="0">
                <a:latin typeface="Trebuchet MS" panose="020B0603020202020204" pitchFamily="34" charset="0"/>
              </a:rPr>
              <a:t>until </a:t>
            </a:r>
            <a:r>
              <a:rPr lang="en-IN" sz="2000" dirty="0" err="1">
                <a:latin typeface="Trebuchet MS" panose="020B0603020202020204" pitchFamily="34" charset="0"/>
              </a:rPr>
              <a:t>i</a:t>
            </a:r>
            <a:r>
              <a:rPr lang="en-IN" sz="2000" dirty="0">
                <a:latin typeface="Trebuchet MS" panose="020B0603020202020204" pitchFamily="34" charset="0"/>
              </a:rPr>
              <a:t> ≥ j </a:t>
            </a:r>
            <a:endParaRPr lang="en-IN" sz="2000" dirty="0" smtClean="0">
              <a:latin typeface="Trebuchet MS" panose="020B0603020202020204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sz="2000" dirty="0" smtClean="0">
                <a:latin typeface="Trebuchet MS" panose="020B0603020202020204" pitchFamily="34" charset="0"/>
              </a:rPr>
              <a:t>swap(A[</a:t>
            </a:r>
            <a:r>
              <a:rPr lang="en-IN" sz="2000" dirty="0" err="1" smtClean="0">
                <a:latin typeface="Trebuchet MS" panose="020B0603020202020204" pitchFamily="34" charset="0"/>
              </a:rPr>
              <a:t>i</a:t>
            </a:r>
            <a:r>
              <a:rPr lang="en-IN" sz="2000" dirty="0">
                <a:latin typeface="Trebuchet MS" panose="020B0603020202020204" pitchFamily="34" charset="0"/>
              </a:rPr>
              <a:t>], A[j ]) </a:t>
            </a:r>
            <a:r>
              <a:rPr lang="en-IN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//undo last swap when </a:t>
            </a:r>
            <a:r>
              <a:rPr lang="en-IN" sz="2000" dirty="0" err="1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IN" sz="2000" dirty="0">
                <a:solidFill>
                  <a:srgbClr val="0070C0"/>
                </a:solidFill>
                <a:latin typeface="Trebuchet MS" panose="020B0603020202020204" pitchFamily="34" charset="0"/>
              </a:rPr>
              <a:t> ≥ j </a:t>
            </a:r>
            <a:endParaRPr lang="en-IN" sz="2000" dirty="0" smtClean="0">
              <a:solidFill>
                <a:srgbClr val="0070C0"/>
              </a:solidFill>
              <a:latin typeface="Trebuchet MS" panose="020B0603020202020204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sz="2000" dirty="0" smtClean="0">
                <a:latin typeface="Trebuchet MS" panose="020B0603020202020204" pitchFamily="34" charset="0"/>
              </a:rPr>
              <a:t>swap(A[l</a:t>
            </a:r>
            <a:r>
              <a:rPr lang="en-IN" sz="2000" dirty="0">
                <a:latin typeface="Trebuchet MS" panose="020B0603020202020204" pitchFamily="34" charset="0"/>
              </a:rPr>
              <a:t>], A[j ]) </a:t>
            </a:r>
            <a:endParaRPr lang="en-IN" sz="2000" dirty="0" smtClean="0">
              <a:latin typeface="Trebuchet MS" panose="020B0603020202020204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sz="2000" dirty="0" smtClean="0">
                <a:latin typeface="Trebuchet MS" panose="020B0603020202020204" pitchFamily="34" charset="0"/>
              </a:rPr>
              <a:t>return </a:t>
            </a:r>
            <a:r>
              <a:rPr lang="en-IN" sz="2000" dirty="0">
                <a:latin typeface="Trebuchet MS" panose="020B0603020202020204" pitchFamily="34" charset="0"/>
              </a:rPr>
              <a:t>j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177" y="202344"/>
            <a:ext cx="37828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Quick Sort Algorithm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30605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2177" y="202344"/>
            <a:ext cx="65477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</a:rPr>
              <a:t>Quick Sort </a:t>
            </a:r>
            <a:r>
              <a:rPr lang="en-US" sz="3200" b="1" dirty="0" smtClean="0">
                <a:solidFill>
                  <a:prstClr val="black"/>
                </a:solidFill>
              </a:rPr>
              <a:t>Algorithm – Example 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71091" y="1115283"/>
            <a:ext cx="7689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rebuchet MS" panose="020B0603020202020204" pitchFamily="34" charset="0"/>
              </a:rPr>
              <a:t>Consider the following  unsorted list of the elements. </a:t>
            </a:r>
            <a:endParaRPr lang="en-IN" sz="2400" dirty="0"/>
          </a:p>
        </p:txBody>
      </p:sp>
      <p:sp>
        <p:nvSpPr>
          <p:cNvPr id="7" name="Rectangle 6"/>
          <p:cNvSpPr/>
          <p:nvPr/>
        </p:nvSpPr>
        <p:spPr>
          <a:xfrm>
            <a:off x="432177" y="3173169"/>
            <a:ext cx="85616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Step 1:</a:t>
            </a:r>
            <a:r>
              <a:rPr lang="en-US" sz="2400" dirty="0" smtClean="0">
                <a:latin typeface="Trebuchet MS" panose="020B0603020202020204" pitchFamily="34" charset="0"/>
              </a:rPr>
              <a:t> Set the pivot and left and right position.</a:t>
            </a:r>
          </a:p>
          <a:p>
            <a:r>
              <a:rPr lang="en-US" sz="2400" dirty="0" smtClean="0">
                <a:latin typeface="Trebuchet MS" panose="020B0603020202020204" pitchFamily="34" charset="0"/>
              </a:rPr>
              <a:t> </a:t>
            </a:r>
            <a:endParaRPr lang="en-IN" sz="24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1127452" y="1641276"/>
            <a:ext cx="6469038" cy="1155345"/>
            <a:chOff x="1127452" y="1641276"/>
            <a:chExt cx="6469038" cy="115534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89778" y="1932191"/>
              <a:ext cx="4186358" cy="86443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1127452" y="1641276"/>
              <a:ext cx="646903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 smtClean="0">
                  <a:latin typeface="Trebuchet MS" panose="020B0603020202020204" pitchFamily="34" charset="0"/>
                </a:rPr>
                <a:t>Index           0      1      2      3     4      5      6     7 </a:t>
              </a:r>
              <a:endParaRPr lang="en-IN" dirty="0"/>
            </a:p>
          </p:txBody>
        </p:sp>
      </p:grpSp>
      <p:cxnSp>
        <p:nvCxnSpPr>
          <p:cNvPr id="10" name="Straight Arrow Connector 9"/>
          <p:cNvCxnSpPr/>
          <p:nvPr/>
        </p:nvCxnSpPr>
        <p:spPr>
          <a:xfrm>
            <a:off x="1951630" y="1825942"/>
            <a:ext cx="438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880849" y="4007489"/>
            <a:ext cx="528702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rebuchet MS" panose="020B0603020202020204" pitchFamily="34" charset="0"/>
              </a:rPr>
              <a:t>//Here we set first element as pivot,</a:t>
            </a:r>
          </a:p>
          <a:p>
            <a:r>
              <a:rPr lang="en-US" sz="2000" dirty="0" smtClean="0">
                <a:latin typeface="Trebuchet MS" panose="020B0603020202020204" pitchFamily="34" charset="0"/>
              </a:rPr>
              <a:t>// left and right position denoted as </a:t>
            </a:r>
            <a:r>
              <a:rPr lang="en-US" sz="2000" dirty="0" err="1" smtClean="0">
                <a:latin typeface="Trebuchet MS" panose="020B0603020202020204" pitchFamily="34" charset="0"/>
              </a:rPr>
              <a:t>i</a:t>
            </a:r>
            <a:r>
              <a:rPr lang="en-US" sz="2000" dirty="0" smtClean="0">
                <a:latin typeface="Trebuchet MS" panose="020B0603020202020204" pitchFamily="34" charset="0"/>
              </a:rPr>
              <a:t> and j.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1127452" y="3588667"/>
            <a:ext cx="7238626" cy="1809514"/>
            <a:chOff x="1133943" y="3549640"/>
            <a:chExt cx="7238626" cy="1809514"/>
          </a:xfrm>
        </p:grpSpPr>
        <p:cxnSp>
          <p:nvCxnSpPr>
            <p:cNvPr id="17" name="Straight Arrow Connector 16"/>
            <p:cNvCxnSpPr/>
            <p:nvPr/>
          </p:nvCxnSpPr>
          <p:spPr>
            <a:xfrm flipV="1">
              <a:off x="2557195" y="4696340"/>
              <a:ext cx="154" cy="2729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36" name="Group 35"/>
            <p:cNvGrpSpPr/>
            <p:nvPr/>
          </p:nvGrpSpPr>
          <p:grpSpPr>
            <a:xfrm>
              <a:off x="1133943" y="3549640"/>
              <a:ext cx="7238626" cy="1809514"/>
              <a:chOff x="1127452" y="3541251"/>
              <a:chExt cx="7238626" cy="1809514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1842655" y="4981433"/>
                <a:ext cx="652342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 smtClean="0">
                    <a:latin typeface="Trebuchet MS" panose="020B0603020202020204" pitchFamily="34" charset="0"/>
                  </a:rPr>
                  <a:t>    Pivot  </a:t>
                </a:r>
                <a:r>
                  <a:rPr lang="en-US" dirty="0" err="1" smtClean="0">
                    <a:latin typeface="Trebuchet MS" panose="020B0603020202020204" pitchFamily="34" charset="0"/>
                  </a:rPr>
                  <a:t>i</a:t>
                </a:r>
                <a:r>
                  <a:rPr lang="en-US" dirty="0" smtClean="0">
                    <a:latin typeface="Trebuchet MS" panose="020B0603020202020204" pitchFamily="34" charset="0"/>
                  </a:rPr>
                  <a:t>                                               j</a:t>
                </a:r>
                <a:endParaRPr lang="en-IN" dirty="0"/>
              </a:p>
            </p:txBody>
          </p:sp>
          <p:grpSp>
            <p:nvGrpSpPr>
              <p:cNvPr id="35" name="Group 34"/>
              <p:cNvGrpSpPr/>
              <p:nvPr/>
            </p:nvGrpSpPr>
            <p:grpSpPr>
              <a:xfrm>
                <a:off x="1127452" y="3541251"/>
                <a:ext cx="6469038" cy="1431793"/>
                <a:chOff x="1127452" y="3541251"/>
                <a:chExt cx="6469038" cy="1431793"/>
              </a:xfrm>
            </p:grpSpPr>
            <p:cxnSp>
              <p:nvCxnSpPr>
                <p:cNvPr id="24" name="Straight Arrow Connector 23"/>
                <p:cNvCxnSpPr/>
                <p:nvPr/>
              </p:nvCxnSpPr>
              <p:spPr>
                <a:xfrm flipV="1">
                  <a:off x="2895495" y="4700089"/>
                  <a:ext cx="154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/>
                <p:cNvCxnSpPr/>
                <p:nvPr/>
              </p:nvCxnSpPr>
              <p:spPr>
                <a:xfrm flipV="1">
                  <a:off x="6191574" y="4672776"/>
                  <a:ext cx="154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grpSp>
              <p:nvGrpSpPr>
                <p:cNvPr id="34" name="Group 33"/>
                <p:cNvGrpSpPr/>
                <p:nvPr/>
              </p:nvGrpSpPr>
              <p:grpSpPr>
                <a:xfrm>
                  <a:off x="1127452" y="3541251"/>
                  <a:ext cx="6469038" cy="1167227"/>
                  <a:chOff x="1127452" y="3541251"/>
                  <a:chExt cx="6469038" cy="1167227"/>
                </a:xfrm>
              </p:grpSpPr>
              <p:pic>
                <p:nvPicPr>
                  <p:cNvPr id="15" name="Picture 14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389778" y="3802694"/>
                    <a:ext cx="4186358" cy="905784"/>
                  </a:xfrm>
                  <a:prstGeom prst="rect">
                    <a:avLst/>
                  </a:prstGeom>
                </p:spPr>
              </p:pic>
              <p:sp>
                <p:nvSpPr>
                  <p:cNvPr id="32" name="Rectangle 31"/>
                  <p:cNvSpPr/>
                  <p:nvPr/>
                </p:nvSpPr>
                <p:spPr>
                  <a:xfrm>
                    <a:off x="1127452" y="3541251"/>
                    <a:ext cx="6469038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dirty="0" smtClean="0">
                        <a:latin typeface="Trebuchet MS" panose="020B0603020202020204" pitchFamily="34" charset="0"/>
                      </a:rPr>
                      <a:t>	       0      1      2      3     4      5      6     7 </a:t>
                    </a:r>
                    <a:endParaRPr lang="en-IN" dirty="0"/>
                  </a:p>
                </p:txBody>
              </p:sp>
            </p:grpSp>
          </p:grpSp>
        </p:grpSp>
      </p:grpSp>
      <p:sp>
        <p:nvSpPr>
          <p:cNvPr id="3" name="Rectangle 2"/>
          <p:cNvSpPr/>
          <p:nvPr/>
        </p:nvSpPr>
        <p:spPr>
          <a:xfrm>
            <a:off x="1358584" y="5709173"/>
            <a:ext cx="8787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rebuchet MS" panose="020B0603020202020204" pitchFamily="34" charset="0"/>
              </a:rPr>
              <a:t> </a:t>
            </a:r>
            <a:r>
              <a:rPr lang="en-IN" dirty="0" smtClean="0">
                <a:latin typeface="Trebuchet MS" panose="020B0603020202020204" pitchFamily="34" charset="0"/>
              </a:rPr>
              <a:t>Compare </a:t>
            </a:r>
            <a:r>
              <a:rPr lang="en-US" dirty="0" err="1">
                <a:latin typeface="Trebuchet MS" panose="020B0603020202020204" pitchFamily="34" charset="0"/>
              </a:rPr>
              <a:t>i</a:t>
            </a:r>
            <a:r>
              <a:rPr lang="en-US" dirty="0">
                <a:latin typeface="Trebuchet MS" panose="020B0603020202020204" pitchFamily="34" charset="0"/>
              </a:rPr>
              <a:t> </a:t>
            </a:r>
            <a:r>
              <a:rPr lang="en-US" dirty="0" smtClean="0">
                <a:latin typeface="Trebuchet MS" panose="020B0603020202020204" pitchFamily="34" charset="0"/>
              </a:rPr>
              <a:t>with pivot if </a:t>
            </a:r>
            <a:r>
              <a:rPr lang="en-US" dirty="0" err="1" smtClean="0">
                <a:solidFill>
                  <a:schemeClr val="accent1"/>
                </a:solidFill>
                <a:latin typeface="Trebuchet MS" panose="020B0603020202020204" pitchFamily="34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 is equal or less than </a:t>
            </a:r>
            <a:r>
              <a:rPr lang="en-US" dirty="0">
                <a:latin typeface="Trebuchet MS" panose="020B0603020202020204" pitchFamily="34" charset="0"/>
              </a:rPr>
              <a:t>to pivot then increase </a:t>
            </a:r>
            <a:r>
              <a:rPr lang="en-US" dirty="0" err="1">
                <a:latin typeface="Trebuchet MS" panose="020B0603020202020204" pitchFamily="34" charset="0"/>
              </a:rPr>
              <a:t>i</a:t>
            </a:r>
            <a:r>
              <a:rPr lang="en-US" dirty="0">
                <a:latin typeface="Trebuchet MS" panose="020B0603020202020204" pitchFamily="34" charset="0"/>
              </a:rPr>
              <a:t> </a:t>
            </a:r>
            <a:r>
              <a:rPr lang="en-US" dirty="0" smtClean="0">
                <a:latin typeface="Trebuchet MS" panose="020B0603020202020204" pitchFamily="34" charset="0"/>
              </a:rPr>
              <a:t>+ </a:t>
            </a:r>
            <a:r>
              <a:rPr lang="en-US" dirty="0">
                <a:latin typeface="Trebuchet MS" panose="020B0603020202020204" pitchFamily="34" charset="0"/>
              </a:rPr>
              <a:t>1.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2177" y="202344"/>
            <a:ext cx="57593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Quick Sort Algorithm – Example </a:t>
            </a:r>
            <a:endParaRPr lang="en-IN" sz="2800" dirty="0"/>
          </a:p>
        </p:txBody>
      </p:sp>
      <p:sp>
        <p:nvSpPr>
          <p:cNvPr id="5" name="Rectangle 4"/>
          <p:cNvSpPr/>
          <p:nvPr/>
        </p:nvSpPr>
        <p:spPr>
          <a:xfrm>
            <a:off x="238836" y="2967187"/>
            <a:ext cx="1183943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Compare </a:t>
            </a:r>
            <a:r>
              <a:rPr lang="en-US" sz="2000" dirty="0" err="1"/>
              <a:t>i</a:t>
            </a:r>
            <a:r>
              <a:rPr lang="en-US" sz="2000" baseline="30000" dirty="0" err="1"/>
              <a:t>th</a:t>
            </a:r>
            <a:r>
              <a:rPr lang="en-US" sz="2000" baseline="30000" dirty="0"/>
              <a:t> </a:t>
            </a:r>
            <a:r>
              <a:rPr lang="en-IN" sz="2400" dirty="0" smtClean="0">
                <a:latin typeface="Trebuchet MS" panose="020B0603020202020204" pitchFamily="34" charset="0"/>
              </a:rPr>
              <a:t>element </a:t>
            </a:r>
            <a:r>
              <a:rPr lang="en-IN" sz="2400" dirty="0">
                <a:latin typeface="Trebuchet MS" panose="020B0603020202020204" pitchFamily="34" charset="0"/>
              </a:rPr>
              <a:t>with </a:t>
            </a:r>
            <a:r>
              <a:rPr lang="en-IN" sz="2400" dirty="0" smtClean="0">
                <a:latin typeface="Trebuchet MS" panose="020B0603020202020204" pitchFamily="34" charset="0"/>
              </a:rPr>
              <a:t>pivot element,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rebuchet MS" panose="020B0603020202020204" pitchFamily="34" charset="0"/>
              </a:rPr>
              <a:t> </a:t>
            </a:r>
            <a:r>
              <a:rPr lang="en-IN" sz="2400" dirty="0" smtClean="0">
                <a:latin typeface="Trebuchet MS" panose="020B0603020202020204" pitchFamily="34" charset="0"/>
              </a:rPr>
              <a:t>   If </a:t>
            </a:r>
            <a:r>
              <a:rPr lang="en-IN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A[</a:t>
            </a:r>
            <a:r>
              <a:rPr lang="en-IN" sz="2400" dirty="0" err="1" smtClean="0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IN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]</a:t>
            </a:r>
            <a:r>
              <a:rPr lang="en-IN" sz="2400" dirty="0" smtClean="0">
                <a:latin typeface="Trebuchet MS" panose="020B0603020202020204" pitchFamily="34" charset="0"/>
              </a:rPr>
              <a:t> is greater than pivot then </a:t>
            </a:r>
            <a:r>
              <a:rPr lang="en-IN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stop </a:t>
            </a:r>
            <a:r>
              <a:rPr lang="en-IN" sz="2400" b="1" dirty="0" err="1" smtClean="0">
                <a:solidFill>
                  <a:srgbClr val="FF0000"/>
                </a:solidFill>
                <a:latin typeface="Trebuchet MS" panose="020B0603020202020204" pitchFamily="34" charset="0"/>
              </a:rPr>
              <a:t>i</a:t>
            </a:r>
            <a:r>
              <a:rPr lang="en-IN" sz="2400" b="1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 </a:t>
            </a:r>
            <a:r>
              <a:rPr lang="en-IN" sz="2400" dirty="0" smtClean="0">
                <a:latin typeface="Trebuchet MS" panose="020B0603020202020204" pitchFamily="34" charset="0"/>
              </a:rPr>
              <a:t>otherwise move </a:t>
            </a:r>
            <a:r>
              <a:rPr lang="en-IN" sz="2400" dirty="0" err="1" smtClean="0">
                <a:solidFill>
                  <a:srgbClr val="FF0000"/>
                </a:solidFill>
                <a:latin typeface="Trebuchet MS" panose="020B0603020202020204" pitchFamily="34" charset="0"/>
              </a:rPr>
              <a:t>i</a:t>
            </a:r>
            <a:r>
              <a:rPr lang="en-IN" sz="2400" dirty="0" smtClean="0">
                <a:latin typeface="Trebuchet MS" panose="020B0603020202020204" pitchFamily="34" charset="0"/>
              </a:rPr>
              <a:t> to the next.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rebuchet MS" panose="020B0603020202020204" pitchFamily="34" charset="0"/>
              </a:rPr>
              <a:t>Compare A[</a:t>
            </a:r>
            <a:r>
              <a:rPr lang="en-IN" sz="2400" dirty="0">
                <a:latin typeface="Trebuchet MS" panose="020B0603020202020204" pitchFamily="34" charset="0"/>
              </a:rPr>
              <a:t>j</a:t>
            </a:r>
            <a:r>
              <a:rPr lang="en-IN" sz="2400" dirty="0" smtClean="0">
                <a:latin typeface="Trebuchet MS" panose="020B0603020202020204" pitchFamily="34" charset="0"/>
              </a:rPr>
              <a:t>] with pivot,</a:t>
            </a: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Trebuchet MS" panose="020B0603020202020204" pitchFamily="34" charset="0"/>
              </a:rPr>
              <a:t>    If </a:t>
            </a:r>
            <a:r>
              <a:rPr lang="en-IN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A[j]</a:t>
            </a:r>
            <a:r>
              <a:rPr lang="en-IN" sz="2400" dirty="0" smtClean="0">
                <a:latin typeface="Trebuchet MS" panose="020B0603020202020204" pitchFamily="34" charset="0"/>
              </a:rPr>
              <a:t> is smaller than pivot then stop right otherwise move right to the previous.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rebuchet MS" panose="020B0603020202020204" pitchFamily="34" charset="0"/>
              </a:rPr>
              <a:t>Repeat </a:t>
            </a:r>
            <a:r>
              <a:rPr lang="en-IN" sz="2400" dirty="0">
                <a:latin typeface="Trebuchet MS" panose="020B0603020202020204" pitchFamily="34" charset="0"/>
              </a:rPr>
              <a:t>the same until </a:t>
            </a:r>
            <a:r>
              <a:rPr lang="en-IN" sz="2400" dirty="0" err="1" smtClean="0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IN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&gt;=j</a:t>
            </a:r>
            <a:r>
              <a:rPr lang="en-IN" sz="2400" dirty="0" smtClean="0">
                <a:latin typeface="Trebuchet MS" panose="020B0603020202020204" pitchFamily="34" charset="0"/>
              </a:rPr>
              <a:t>.</a:t>
            </a:r>
            <a:endParaRPr lang="en-IN" sz="2400" dirty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If both </a:t>
            </a:r>
            <a:r>
              <a:rPr lang="en-IN" sz="2400" dirty="0" err="1" smtClean="0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IN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  <a:r>
              <a:rPr lang="en-IN" sz="2400" dirty="0">
                <a:solidFill>
                  <a:srgbClr val="0070C0"/>
                </a:solidFill>
                <a:latin typeface="+mj-lt"/>
              </a:rPr>
              <a:t>&amp;</a:t>
            </a:r>
            <a:r>
              <a:rPr lang="en-IN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 j</a:t>
            </a:r>
            <a:r>
              <a:rPr lang="en-IN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 </a:t>
            </a:r>
            <a:r>
              <a:rPr lang="en-IN" sz="2400" dirty="0">
                <a:latin typeface="Trebuchet MS" panose="020B0603020202020204" pitchFamily="34" charset="0"/>
              </a:rPr>
              <a:t>are </a:t>
            </a:r>
            <a:r>
              <a:rPr lang="en-IN" sz="2400" dirty="0" smtClean="0">
                <a:latin typeface="Trebuchet MS" panose="020B0603020202020204" pitchFamily="34" charset="0"/>
              </a:rPr>
              <a:t>stopped </a:t>
            </a:r>
            <a:r>
              <a:rPr lang="en-IN" sz="2400" dirty="0">
                <a:latin typeface="Trebuchet MS" panose="020B0603020202020204" pitchFamily="34" charset="0"/>
              </a:rPr>
              <a:t>but </a:t>
            </a:r>
            <a:r>
              <a:rPr lang="en-IN" sz="2400" dirty="0" err="1" smtClean="0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IN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&lt;j</a:t>
            </a:r>
            <a:r>
              <a:rPr lang="en-IN" sz="2400" dirty="0" smtClean="0">
                <a:latin typeface="Trebuchet MS" panose="020B0603020202020204" pitchFamily="34" charset="0"/>
              </a:rPr>
              <a:t> </a:t>
            </a:r>
            <a:r>
              <a:rPr lang="en-IN" sz="2400" dirty="0">
                <a:latin typeface="Trebuchet MS" panose="020B0603020202020204" pitchFamily="34" charset="0"/>
              </a:rPr>
              <a:t>then </a:t>
            </a:r>
            <a:r>
              <a:rPr lang="en-IN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swap </a:t>
            </a:r>
            <a:r>
              <a:rPr lang="en-IN" sz="24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“</a:t>
            </a:r>
            <a:r>
              <a:rPr lang="en-IN" sz="2400" dirty="0" err="1" smtClean="0">
                <a:solidFill>
                  <a:srgbClr val="FF0000"/>
                </a:solidFill>
                <a:latin typeface="Trebuchet MS" panose="020B0603020202020204" pitchFamily="34" charset="0"/>
              </a:rPr>
              <a:t>i</a:t>
            </a:r>
            <a:r>
              <a:rPr lang="en-IN" sz="2400" dirty="0" smtClean="0">
                <a:solidFill>
                  <a:srgbClr val="FF0000"/>
                </a:solidFill>
                <a:latin typeface="Trebuchet MS" panose="020B0603020202020204" pitchFamily="34" charset="0"/>
              </a:rPr>
              <a:t>” with “j”</a:t>
            </a:r>
            <a:r>
              <a:rPr lang="en-IN" sz="2400" dirty="0" smtClean="0">
                <a:latin typeface="Trebuchet MS" panose="020B0603020202020204" pitchFamily="34" charset="0"/>
              </a:rPr>
              <a:t> and continue </a:t>
            </a:r>
            <a:r>
              <a:rPr lang="en-IN" sz="2400" dirty="0">
                <a:latin typeface="Trebuchet MS" panose="020B0603020202020204" pitchFamily="34" charset="0"/>
              </a:rPr>
              <a:t>the process. </a:t>
            </a:r>
            <a:endParaRPr lang="en-IN" sz="2400" dirty="0" smtClean="0">
              <a:latin typeface="Trebuchet MS" panose="020B0603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rebuchet MS" panose="020B0603020202020204" pitchFamily="34" charset="0"/>
              </a:rPr>
              <a:t>If </a:t>
            </a:r>
            <a:r>
              <a:rPr lang="en-IN" sz="2400" dirty="0" err="1" smtClean="0">
                <a:latin typeface="Trebuchet MS" panose="020B0603020202020204" pitchFamily="34" charset="0"/>
              </a:rPr>
              <a:t>i</a:t>
            </a:r>
            <a:r>
              <a:rPr lang="en-IN" sz="2400" dirty="0" smtClean="0">
                <a:latin typeface="Trebuchet MS" panose="020B0603020202020204" pitchFamily="34" charset="0"/>
              </a:rPr>
              <a:t>&gt;=j </a:t>
            </a:r>
            <a:r>
              <a:rPr lang="en-IN" sz="2400" dirty="0">
                <a:latin typeface="Trebuchet MS" panose="020B0603020202020204" pitchFamily="34" charset="0"/>
              </a:rPr>
              <a:t>then swap </a:t>
            </a:r>
            <a:r>
              <a:rPr lang="en-IN" sz="2400" dirty="0" smtClean="0">
                <a:latin typeface="Trebuchet MS" panose="020B0603020202020204" pitchFamily="34" charset="0"/>
              </a:rPr>
              <a:t>pivot </a:t>
            </a:r>
            <a:r>
              <a:rPr lang="en-IN" sz="2400" dirty="0">
                <a:latin typeface="Trebuchet MS" panose="020B0603020202020204" pitchFamily="34" charset="0"/>
              </a:rPr>
              <a:t>with </a:t>
            </a:r>
            <a:r>
              <a:rPr lang="en-IN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j</a:t>
            </a:r>
            <a:r>
              <a:rPr lang="en-IN" sz="2400" dirty="0" smtClean="0">
                <a:latin typeface="Trebuchet MS" panose="020B0603020202020204" pitchFamily="34" charset="0"/>
              </a:rPr>
              <a:t>.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8836" y="1032757"/>
            <a:ext cx="62688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Step 2: </a:t>
            </a:r>
            <a:r>
              <a:rPr lang="en-US" sz="2400" b="1" dirty="0" smtClean="0">
                <a:latin typeface="Trebuchet MS" panose="020B0603020202020204" pitchFamily="34" charset="0"/>
              </a:rPr>
              <a:t>Follow the given steps below </a:t>
            </a:r>
            <a:endParaRPr lang="en-IN" sz="2400" b="1" dirty="0">
              <a:latin typeface="Trebuchet MS" panose="020B0603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4353" r="22328"/>
          <a:stretch/>
        </p:blipFill>
        <p:spPr>
          <a:xfrm>
            <a:off x="1064525" y="1535193"/>
            <a:ext cx="4094328" cy="149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6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2177" y="202344"/>
            <a:ext cx="57593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Quick Sort Algorithm – Example </a:t>
            </a:r>
            <a:endParaRPr lang="en-IN" sz="2800" dirty="0"/>
          </a:p>
        </p:txBody>
      </p:sp>
      <p:sp>
        <p:nvSpPr>
          <p:cNvPr id="6" name="Rectangle 5"/>
          <p:cNvSpPr/>
          <p:nvPr/>
        </p:nvSpPr>
        <p:spPr>
          <a:xfrm>
            <a:off x="432178" y="2925026"/>
            <a:ext cx="116051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Compare </a:t>
            </a:r>
            <a:r>
              <a:rPr lang="en-IN" sz="2400" dirty="0" err="1" smtClean="0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IN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 &lt; pivot </a:t>
            </a:r>
            <a:r>
              <a:rPr lang="en-IN" sz="2400" dirty="0">
                <a:latin typeface="Trebuchet MS" panose="020B0603020202020204" pitchFamily="34" charset="0"/>
              </a:rPr>
              <a:t>as it is </a:t>
            </a:r>
            <a:r>
              <a:rPr lang="en-IN" sz="2400" dirty="0" smtClean="0">
                <a:latin typeface="Trebuchet MS" panose="020B0603020202020204" pitchFamily="34" charset="0"/>
              </a:rPr>
              <a:t>true, </a:t>
            </a:r>
            <a:r>
              <a:rPr lang="en-IN" sz="2400" dirty="0">
                <a:latin typeface="Trebuchet MS" panose="020B0603020202020204" pitchFamily="34" charset="0"/>
              </a:rPr>
              <a:t>increment </a:t>
            </a:r>
            <a:r>
              <a:rPr lang="en-IN" sz="2400" dirty="0" err="1" smtClean="0">
                <a:latin typeface="Trebuchet MS" panose="020B0603020202020204" pitchFamily="34" charset="0"/>
              </a:rPr>
              <a:t>i</a:t>
            </a:r>
            <a:r>
              <a:rPr lang="en-IN" sz="2400" dirty="0" smtClean="0">
                <a:latin typeface="Trebuchet MS" panose="020B0603020202020204" pitchFamily="34" charset="0"/>
              </a:rPr>
              <a:t> </a:t>
            </a:r>
            <a:r>
              <a:rPr lang="en-IN" sz="2400" dirty="0">
                <a:latin typeface="Trebuchet MS" panose="020B0603020202020204" pitchFamily="34" charset="0"/>
              </a:rPr>
              <a:t>by one and repeat the same, </a:t>
            </a:r>
            <a:r>
              <a:rPr lang="en-IN" sz="2400" dirty="0" err="1" smtClean="0">
                <a:solidFill>
                  <a:srgbClr val="0070C0"/>
                </a:solidFill>
                <a:latin typeface="Trebuchet MS" panose="020B0603020202020204" pitchFamily="34" charset="0"/>
              </a:rPr>
              <a:t>i</a:t>
            </a:r>
            <a:r>
              <a:rPr lang="en-IN" sz="2400" dirty="0" smtClean="0">
                <a:latin typeface="Trebuchet MS" panose="020B0603020202020204" pitchFamily="34" charset="0"/>
              </a:rPr>
              <a:t> </a:t>
            </a:r>
            <a:r>
              <a:rPr lang="en-IN" sz="2400" dirty="0">
                <a:latin typeface="Trebuchet MS" panose="020B0603020202020204" pitchFamily="34" charset="0"/>
              </a:rPr>
              <a:t>will </a:t>
            </a:r>
            <a:r>
              <a:rPr lang="en-IN" sz="2400" dirty="0">
                <a:solidFill>
                  <a:srgbClr val="FF0000"/>
                </a:solidFill>
                <a:latin typeface="Trebuchet MS" panose="020B0603020202020204" pitchFamily="34" charset="0"/>
              </a:rPr>
              <a:t>stop at 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Compare </a:t>
            </a:r>
            <a:r>
              <a:rPr lang="en-IN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j&gt;pivot</a:t>
            </a:r>
            <a:r>
              <a:rPr lang="en-IN" sz="2400" dirty="0" smtClean="0">
                <a:latin typeface="Trebuchet MS" panose="020B0603020202020204" pitchFamily="34" charset="0"/>
              </a:rPr>
              <a:t> </a:t>
            </a:r>
            <a:r>
              <a:rPr lang="en-IN" sz="2400" dirty="0">
                <a:latin typeface="Trebuchet MS" panose="020B0603020202020204" pitchFamily="34" charset="0"/>
              </a:rPr>
              <a:t>as it is </a:t>
            </a:r>
            <a:r>
              <a:rPr lang="en-IN" sz="2400" dirty="0" smtClean="0">
                <a:latin typeface="Trebuchet MS" panose="020B0603020202020204" pitchFamily="34" charset="0"/>
              </a:rPr>
              <a:t>true, </a:t>
            </a:r>
            <a:r>
              <a:rPr lang="en-IN" sz="2400" dirty="0">
                <a:latin typeface="Trebuchet MS" panose="020B0603020202020204" pitchFamily="34" charset="0"/>
              </a:rPr>
              <a:t>decrement right by one and repeat the same, right will stop at 2</a:t>
            </a:r>
            <a:r>
              <a:rPr lang="en-IN" sz="2400" dirty="0" smtClean="0">
                <a:latin typeface="Trebuchet MS" panose="020B0603020202020204" pitchFamily="34" charset="0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1457" y="2301291"/>
            <a:ext cx="31908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432178" y="1029611"/>
            <a:ext cx="13539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Step 3: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/>
          <a:srcRect l="79674" t="59999" r="3670" b="4112"/>
          <a:stretch/>
        </p:blipFill>
        <p:spPr>
          <a:xfrm>
            <a:off x="4806913" y="2289843"/>
            <a:ext cx="681343" cy="507981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1970481" y="2268381"/>
            <a:ext cx="1243336" cy="587019"/>
            <a:chOff x="2323625" y="2083604"/>
            <a:chExt cx="1243336" cy="587019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2"/>
            <a:srcRect t="60699" r="79525"/>
            <a:stretch/>
          </p:blipFill>
          <p:spPr>
            <a:xfrm>
              <a:off x="2323625" y="2083604"/>
              <a:ext cx="837586" cy="587019"/>
            </a:xfrm>
            <a:prstGeom prst="rect">
              <a:avLst/>
            </a:prstGeom>
          </p:spPr>
        </p:pic>
        <p:sp>
          <p:nvSpPr>
            <p:cNvPr id="28" name="Rectangle 27"/>
            <p:cNvSpPr/>
            <p:nvPr/>
          </p:nvSpPr>
          <p:spPr>
            <a:xfrm>
              <a:off x="3138639" y="2116625"/>
              <a:ext cx="42832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as</a:t>
              </a:r>
            </a:p>
          </p:txBody>
        </p:sp>
      </p:grp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/>
          <a:srcRect b="38271"/>
          <a:stretch/>
        </p:blipFill>
        <p:spPr>
          <a:xfrm>
            <a:off x="1951562" y="1341343"/>
            <a:ext cx="4090771" cy="92201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2"/>
          <a:srcRect l="21241" t="59090" r="70752" b="4361"/>
          <a:stretch/>
        </p:blipFill>
        <p:spPr>
          <a:xfrm>
            <a:off x="3215464" y="2263362"/>
            <a:ext cx="327547" cy="54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9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2177" y="202344"/>
            <a:ext cx="57593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Quick Sort Algorithm – Example </a:t>
            </a: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79674" t="59999" r="3670" b="4112"/>
          <a:stretch/>
        </p:blipFill>
        <p:spPr>
          <a:xfrm>
            <a:off x="4852976" y="3165436"/>
            <a:ext cx="681343" cy="507981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2075112" y="3169133"/>
            <a:ext cx="1243336" cy="587019"/>
            <a:chOff x="2323625" y="2083604"/>
            <a:chExt cx="1243336" cy="58701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/>
            <a:srcRect t="60699" r="79525"/>
            <a:stretch/>
          </p:blipFill>
          <p:spPr>
            <a:xfrm>
              <a:off x="2323625" y="2083604"/>
              <a:ext cx="837586" cy="587019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3138639" y="2116625"/>
              <a:ext cx="42832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as</a:t>
              </a: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b="38271"/>
          <a:stretch/>
        </p:blipFill>
        <p:spPr>
          <a:xfrm>
            <a:off x="2075112" y="2153641"/>
            <a:ext cx="4090771" cy="9220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21241" t="59090" r="70752" b="4361"/>
          <a:stretch/>
        </p:blipFill>
        <p:spPr>
          <a:xfrm>
            <a:off x="3320095" y="3164114"/>
            <a:ext cx="327547" cy="54591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2177" y="1905728"/>
            <a:ext cx="14876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Step 4:</a:t>
            </a:r>
            <a:endParaRPr lang="en-IN" sz="2400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6809" y="3941276"/>
            <a:ext cx="12493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Step 5:</a:t>
            </a:r>
            <a:endParaRPr lang="en-IN" sz="2400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r="1769"/>
          <a:stretch/>
        </p:blipFill>
        <p:spPr>
          <a:xfrm>
            <a:off x="2333098" y="4341386"/>
            <a:ext cx="3574798" cy="79057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148736" y="2357579"/>
            <a:ext cx="45291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//Here </a:t>
            </a:r>
            <a:r>
              <a:rPr lang="en-US" sz="2400" dirty="0" err="1">
                <a:solidFill>
                  <a:prstClr val="black"/>
                </a:solidFill>
                <a:latin typeface="Trebuchet MS" panose="020B0603020202020204" pitchFamily="34" charset="0"/>
              </a:rPr>
              <a:t>i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+mj-lt"/>
              </a:rPr>
              <a:t>&amp;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j both are stopped and </a:t>
            </a:r>
            <a:r>
              <a:rPr lang="en-US" sz="2400" dirty="0" err="1">
                <a:solidFill>
                  <a:prstClr val="black"/>
                </a:solidFill>
                <a:latin typeface="Trebuchet MS" panose="020B0603020202020204" pitchFamily="34" charset="0"/>
              </a:rPr>
              <a:t>i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 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  is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not greater than j, so we need to swap A[</a:t>
            </a:r>
            <a:r>
              <a:rPr lang="en-US" sz="2400" dirty="0" err="1">
                <a:solidFill>
                  <a:prstClr val="black"/>
                </a:solidFill>
                <a:latin typeface="Trebuchet MS" panose="020B0603020202020204" pitchFamily="34" charset="0"/>
              </a:rPr>
              <a:t>i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] and A[j]</a:t>
            </a:r>
            <a:endParaRPr lang="en-IN" sz="24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48736" y="4482814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// Here </a:t>
            </a:r>
            <a:r>
              <a:rPr lang="en-US" sz="24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2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and 8 was swapped </a:t>
            </a:r>
            <a:endParaRPr lang="en-IN" sz="24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2111403" y="5176304"/>
            <a:ext cx="1207045" cy="587019"/>
            <a:chOff x="2323625" y="2083604"/>
            <a:chExt cx="1243336" cy="587019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2"/>
            <a:srcRect t="60699" r="79525"/>
            <a:stretch/>
          </p:blipFill>
          <p:spPr>
            <a:xfrm>
              <a:off x="2323625" y="2083604"/>
              <a:ext cx="837586" cy="587019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3138639" y="2116625"/>
              <a:ext cx="42832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r>
                <a:rPr lang="en-IN" dirty="0">
                  <a:solidFill>
                    <a:schemeClr val="bg1"/>
                  </a:solidFill>
                </a:rPr>
                <a:t>as</a:t>
              </a:r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21241" t="59090" r="70752" b="4361"/>
          <a:stretch/>
        </p:blipFill>
        <p:spPr>
          <a:xfrm>
            <a:off x="3318448" y="5199372"/>
            <a:ext cx="327547" cy="54591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/>
          <a:srcRect l="79674" t="59999" r="3670" b="4112"/>
          <a:stretch/>
        </p:blipFill>
        <p:spPr>
          <a:xfrm>
            <a:off x="4852976" y="5219492"/>
            <a:ext cx="681343" cy="50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3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2177" y="202344"/>
            <a:ext cx="57593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Quick Sort Algorithm – Example </a:t>
            </a:r>
            <a:endParaRPr lang="en-IN" sz="2800" dirty="0"/>
          </a:p>
        </p:txBody>
      </p:sp>
      <p:sp>
        <p:nvSpPr>
          <p:cNvPr id="5" name="Rectangle 4"/>
          <p:cNvSpPr/>
          <p:nvPr/>
        </p:nvSpPr>
        <p:spPr>
          <a:xfrm>
            <a:off x="1982607" y="1226277"/>
            <a:ext cx="961799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Now we Compare </a:t>
            </a:r>
            <a:r>
              <a:rPr lang="en-US" sz="2400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j&lt;pivot</a:t>
            </a:r>
            <a:r>
              <a:rPr lang="en-US" sz="2400" dirty="0" smtClean="0">
                <a:latin typeface="Trebuchet MS" panose="020B0603020202020204" pitchFamily="34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</a:rPr>
              <a:t>as it is </a:t>
            </a:r>
            <a:r>
              <a:rPr lang="en-US" sz="2400" dirty="0" smtClean="0">
                <a:latin typeface="Trebuchet MS" panose="020B0603020202020204" pitchFamily="34" charset="0"/>
              </a:rPr>
              <a:t>true, </a:t>
            </a:r>
            <a:r>
              <a:rPr lang="en-US" sz="2400" dirty="0">
                <a:latin typeface="Trebuchet MS" panose="020B0603020202020204" pitchFamily="34" charset="0"/>
              </a:rPr>
              <a:t>increment </a:t>
            </a:r>
            <a:r>
              <a:rPr lang="en-US" sz="2400" dirty="0" smtClean="0">
                <a:latin typeface="Trebuchet MS" panose="020B0603020202020204" pitchFamily="34" charset="0"/>
              </a:rPr>
              <a:t>j </a:t>
            </a:r>
            <a:r>
              <a:rPr lang="en-US" sz="2400" dirty="0">
                <a:latin typeface="Trebuchet MS" panose="020B0603020202020204" pitchFamily="34" charset="0"/>
              </a:rPr>
              <a:t>by one and repeat the same, </a:t>
            </a:r>
            <a:r>
              <a:rPr lang="en-US" sz="2400" dirty="0" smtClean="0">
                <a:latin typeface="Trebuchet MS" panose="020B0603020202020204" pitchFamily="34" charset="0"/>
              </a:rPr>
              <a:t>j </a:t>
            </a:r>
            <a:r>
              <a:rPr lang="en-US" sz="2400" dirty="0">
                <a:latin typeface="Trebuchet MS" panose="020B0603020202020204" pitchFamily="34" charset="0"/>
              </a:rPr>
              <a:t>will stop at 6.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 panose="020B0603020202020204" pitchFamily="34" charset="0"/>
              </a:rPr>
              <a:t>Compare </a:t>
            </a:r>
            <a:r>
              <a:rPr lang="en-US" sz="2400" dirty="0" err="1" smtClean="0">
                <a:latin typeface="Trebuchet MS" panose="020B0603020202020204" pitchFamily="34" charset="0"/>
              </a:rPr>
              <a:t>i</a:t>
            </a:r>
            <a:r>
              <a:rPr lang="en-US" sz="2400" dirty="0" smtClean="0">
                <a:latin typeface="Trebuchet MS" panose="020B0603020202020204" pitchFamily="34" charset="0"/>
              </a:rPr>
              <a:t> &gt;pivot </a:t>
            </a:r>
            <a:r>
              <a:rPr lang="en-US" sz="2400" dirty="0">
                <a:latin typeface="Trebuchet MS" panose="020B0603020202020204" pitchFamily="34" charset="0"/>
              </a:rPr>
              <a:t>as it is </a:t>
            </a:r>
            <a:r>
              <a:rPr lang="en-US" sz="2400" dirty="0" smtClean="0">
                <a:latin typeface="Trebuchet MS" panose="020B0603020202020204" pitchFamily="34" charset="0"/>
              </a:rPr>
              <a:t>true, decrement </a:t>
            </a:r>
            <a:r>
              <a:rPr lang="en-US" sz="2400" dirty="0" err="1" smtClean="0">
                <a:latin typeface="Trebuchet MS" panose="020B0603020202020204" pitchFamily="34" charset="0"/>
              </a:rPr>
              <a:t>i</a:t>
            </a:r>
            <a:r>
              <a:rPr lang="en-US" sz="2400" dirty="0" smtClean="0">
                <a:latin typeface="Trebuchet MS" panose="020B0603020202020204" pitchFamily="34" charset="0"/>
              </a:rPr>
              <a:t> </a:t>
            </a:r>
            <a:r>
              <a:rPr lang="en-US" sz="2400" dirty="0">
                <a:latin typeface="Trebuchet MS" panose="020B0603020202020204" pitchFamily="34" charset="0"/>
              </a:rPr>
              <a:t>by one and repeat the same, </a:t>
            </a:r>
            <a:r>
              <a:rPr lang="en-US" sz="2400" dirty="0" smtClean="0">
                <a:latin typeface="Trebuchet MS" panose="020B0603020202020204" pitchFamily="34" charset="0"/>
              </a:rPr>
              <a:t>j </a:t>
            </a:r>
            <a:r>
              <a:rPr lang="en-US" sz="2400" dirty="0">
                <a:latin typeface="Trebuchet MS" panose="020B0603020202020204" pitchFamily="34" charset="0"/>
              </a:rPr>
              <a:t>will stop at 4.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3297" y="1308139"/>
            <a:ext cx="12493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400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6:</a:t>
            </a:r>
            <a:endParaRPr lang="en-IN" sz="2400" b="1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13481" y="4121348"/>
            <a:ext cx="3526630" cy="1640957"/>
            <a:chOff x="3127379" y="3575437"/>
            <a:chExt cx="3526630" cy="1640957"/>
          </a:xfrm>
        </p:grpSpPr>
        <p:grpSp>
          <p:nvGrpSpPr>
            <p:cNvPr id="7" name="Group 6"/>
            <p:cNvGrpSpPr/>
            <p:nvPr/>
          </p:nvGrpSpPr>
          <p:grpSpPr>
            <a:xfrm>
              <a:off x="3127379" y="4615828"/>
              <a:ext cx="3025565" cy="600566"/>
              <a:chOff x="3127379" y="4615828"/>
              <a:chExt cx="3025565" cy="600566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4472466" y="4629375"/>
                <a:ext cx="1396071" cy="587019"/>
                <a:chOff x="2323625" y="2083604"/>
                <a:chExt cx="1243336" cy="587019"/>
              </a:xfrm>
            </p:grpSpPr>
            <p:pic>
              <p:nvPicPr>
                <p:cNvPr id="13" name="Picture 12"/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60699" r="79525"/>
                <a:stretch/>
              </p:blipFill>
              <p:spPr>
                <a:xfrm>
                  <a:off x="2323625" y="2083604"/>
                  <a:ext cx="837586" cy="587019"/>
                </a:xfrm>
                <a:prstGeom prst="rect">
                  <a:avLst/>
                </a:prstGeom>
              </p:spPr>
            </p:pic>
            <p:sp>
              <p:nvSpPr>
                <p:cNvPr id="14" name="Rectangle 13"/>
                <p:cNvSpPr/>
                <p:nvPr/>
              </p:nvSpPr>
              <p:spPr>
                <a:xfrm>
                  <a:off x="3138639" y="2116625"/>
                  <a:ext cx="428322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r>
                    <a:rPr lang="en-IN" dirty="0">
                      <a:solidFill>
                        <a:schemeClr val="bg1"/>
                      </a:solidFill>
                    </a:rPr>
                    <a:t>as</a:t>
                  </a:r>
                </a:p>
              </p:txBody>
            </p:sp>
          </p:grpSp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/>
              <a:srcRect l="21241" t="59090" r="70752" b="4361"/>
              <a:stretch/>
            </p:blipFill>
            <p:spPr>
              <a:xfrm>
                <a:off x="3127379" y="4615856"/>
                <a:ext cx="378842" cy="532263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/>
              <a:srcRect l="79674" t="59999" r="3670" b="4112"/>
              <a:stretch/>
            </p:blipFill>
            <p:spPr>
              <a:xfrm>
                <a:off x="5471601" y="4615828"/>
                <a:ext cx="681343" cy="507981"/>
              </a:xfrm>
              <a:prstGeom prst="rect">
                <a:avLst/>
              </a:prstGeom>
            </p:spPr>
          </p:pic>
        </p:grp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27379" y="3575437"/>
              <a:ext cx="3526630" cy="10403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990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2177" y="202344"/>
            <a:ext cx="57593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Quick Sort Algorithm – Example </a:t>
            </a:r>
            <a:endParaRPr lang="en-IN" sz="2800" dirty="0"/>
          </a:p>
        </p:txBody>
      </p:sp>
      <p:sp>
        <p:nvSpPr>
          <p:cNvPr id="2" name="Rectangle 1"/>
          <p:cNvSpPr/>
          <p:nvPr/>
        </p:nvSpPr>
        <p:spPr>
          <a:xfrm>
            <a:off x="224518" y="926502"/>
            <a:ext cx="12073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400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7:</a:t>
            </a:r>
            <a:endParaRPr lang="en-IN" sz="2400" b="1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5727" y="3767554"/>
            <a:ext cx="12073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400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8:</a:t>
            </a:r>
            <a:endParaRPr lang="en-IN" sz="2400" b="1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80713" y="805210"/>
            <a:ext cx="10583907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Here we can observe that all the numbers to the 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left(</a:t>
            </a:r>
            <a:r>
              <a:rPr lang="en-US" sz="2200" dirty="0" err="1" smtClean="0">
                <a:solidFill>
                  <a:prstClr val="black"/>
                </a:solidFill>
                <a:latin typeface="Trebuchet MS" panose="020B0603020202020204" pitchFamily="34" charset="0"/>
              </a:rPr>
              <a:t>i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) </a:t>
            </a: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side of 5 are smaller and 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right(j) side </a:t>
            </a: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are greater. That means 5 is placed in its correct position. Repeat the same process on the left sub list and right sub list to the number </a:t>
            </a:r>
            <a:r>
              <a:rPr lang="en-US" sz="2400" dirty="0">
                <a:solidFill>
                  <a:prstClr val="black"/>
                </a:solidFill>
                <a:latin typeface="Trebuchet MS" panose="020B0603020202020204" pitchFamily="34" charset="0"/>
              </a:rPr>
              <a:t>5.</a:t>
            </a:r>
            <a:endParaRPr lang="en-IN" sz="24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3511829" y="2627448"/>
            <a:ext cx="4482632" cy="1007502"/>
            <a:chOff x="6605516" y="2361062"/>
            <a:chExt cx="4482632" cy="163490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/>
            <a:srcRect l="20383" t="18075" r="14944" b="26564"/>
            <a:stretch/>
          </p:blipFill>
          <p:spPr>
            <a:xfrm>
              <a:off x="6782937" y="2361062"/>
              <a:ext cx="4217159" cy="1037231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3"/>
            <a:srcRect l="79674" t="59999" r="3670" b="4112"/>
            <a:stretch/>
          </p:blipFill>
          <p:spPr>
            <a:xfrm>
              <a:off x="8210173" y="3366590"/>
              <a:ext cx="681343" cy="507981"/>
            </a:xfrm>
            <a:prstGeom prst="rect">
              <a:avLst/>
            </a:prstGeom>
          </p:spPr>
        </p:pic>
        <p:grpSp>
          <p:nvGrpSpPr>
            <p:cNvPr id="12" name="Group 11"/>
            <p:cNvGrpSpPr/>
            <p:nvPr/>
          </p:nvGrpSpPr>
          <p:grpSpPr>
            <a:xfrm>
              <a:off x="6605516" y="3408951"/>
              <a:ext cx="1243336" cy="587019"/>
              <a:chOff x="2323625" y="2083604"/>
              <a:chExt cx="1243336" cy="587019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3"/>
              <a:srcRect t="60699" r="79525"/>
              <a:stretch/>
            </p:blipFill>
            <p:spPr>
              <a:xfrm>
                <a:off x="2323625" y="2083604"/>
                <a:ext cx="837586" cy="587019"/>
              </a:xfrm>
              <a:prstGeom prst="rect">
                <a:avLst/>
              </a:prstGeom>
            </p:spPr>
          </p:pic>
          <p:sp>
            <p:nvSpPr>
              <p:cNvPr id="14" name="Rectangle 13"/>
              <p:cNvSpPr/>
              <p:nvPr/>
            </p:nvSpPr>
            <p:spPr>
              <a:xfrm>
                <a:off x="3138639" y="2116625"/>
                <a:ext cx="4283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IN" dirty="0">
                    <a:solidFill>
                      <a:schemeClr val="bg1"/>
                    </a:solidFill>
                  </a:rPr>
                  <a:t>as</a:t>
                </a:r>
              </a:p>
            </p:txBody>
          </p:sp>
        </p:grpSp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3"/>
            <a:srcRect l="21241" t="59090" r="70752" b="4361"/>
            <a:stretch/>
          </p:blipFill>
          <p:spPr>
            <a:xfrm>
              <a:off x="7415510" y="3398293"/>
              <a:ext cx="327547" cy="54591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3"/>
            <a:srcRect l="79674" t="59999" r="3670" b="4112"/>
            <a:stretch/>
          </p:blipFill>
          <p:spPr>
            <a:xfrm>
              <a:off x="10406805" y="3382442"/>
              <a:ext cx="681343" cy="507981"/>
            </a:xfrm>
            <a:prstGeom prst="rect">
              <a:avLst/>
            </a:prstGeom>
          </p:spPr>
        </p:pic>
        <p:grpSp>
          <p:nvGrpSpPr>
            <p:cNvPr id="17" name="Group 16"/>
            <p:cNvGrpSpPr/>
            <p:nvPr/>
          </p:nvGrpSpPr>
          <p:grpSpPr>
            <a:xfrm>
              <a:off x="9170293" y="3398293"/>
              <a:ext cx="1243336" cy="587019"/>
              <a:chOff x="2323625" y="2083604"/>
              <a:chExt cx="1243336" cy="587019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3"/>
              <a:srcRect t="60699" r="79525"/>
              <a:stretch/>
            </p:blipFill>
            <p:spPr>
              <a:xfrm>
                <a:off x="2323625" y="2083604"/>
                <a:ext cx="837586" cy="587019"/>
              </a:xfrm>
              <a:prstGeom prst="rect">
                <a:avLst/>
              </a:prstGeom>
            </p:spPr>
          </p:pic>
          <p:sp>
            <p:nvSpPr>
              <p:cNvPr id="19" name="Rectangle 18"/>
              <p:cNvSpPr/>
              <p:nvPr/>
            </p:nvSpPr>
            <p:spPr>
              <a:xfrm>
                <a:off x="3138639" y="2116625"/>
                <a:ext cx="4283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IN" dirty="0">
                    <a:solidFill>
                      <a:schemeClr val="bg1"/>
                    </a:solidFill>
                  </a:rPr>
                  <a:t>as</a:t>
                </a:r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3"/>
            <a:srcRect l="21241" t="59090" r="70752" b="4361"/>
            <a:stretch/>
          </p:blipFill>
          <p:spPr>
            <a:xfrm>
              <a:off x="10007879" y="3398293"/>
              <a:ext cx="327547" cy="545910"/>
            </a:xfrm>
            <a:prstGeom prst="rect">
              <a:avLst/>
            </a:prstGeom>
          </p:spPr>
        </p:pic>
      </p:grpSp>
      <p:sp>
        <p:nvSpPr>
          <p:cNvPr id="22" name="Rectangle 21"/>
          <p:cNvSpPr/>
          <p:nvPr/>
        </p:nvSpPr>
        <p:spPr>
          <a:xfrm>
            <a:off x="1480713" y="3523832"/>
            <a:ext cx="10590798" cy="2061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In the left 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sub list </a:t>
            </a: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as there are no smaller number than the pivot left will keep on moving to the next and 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stops at </a:t>
            </a: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last number. As the 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right(j) </a:t>
            </a: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is smaller, 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right(j) </a:t>
            </a: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stops at same position. Now 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left(</a:t>
            </a:r>
            <a:r>
              <a:rPr lang="en-US" sz="2200" dirty="0" err="1" smtClean="0">
                <a:solidFill>
                  <a:prstClr val="black"/>
                </a:solidFill>
                <a:latin typeface="Trebuchet MS" panose="020B0603020202020204" pitchFamily="34" charset="0"/>
              </a:rPr>
              <a:t>i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) </a:t>
            </a: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and 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right(j) </a:t>
            </a: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both are 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equal. so we </a:t>
            </a:r>
            <a:r>
              <a:rPr lang="en-US" sz="2200" dirty="0">
                <a:solidFill>
                  <a:prstClr val="black"/>
                </a:solidFill>
                <a:latin typeface="Trebuchet MS" panose="020B0603020202020204" pitchFamily="34" charset="0"/>
              </a:rPr>
              <a:t>swap pivot with </a:t>
            </a:r>
            <a:r>
              <a:rPr lang="en-US" sz="2200" dirty="0" smtClean="0">
                <a:solidFill>
                  <a:prstClr val="black"/>
                </a:solidFill>
                <a:latin typeface="Trebuchet MS" panose="020B0603020202020204" pitchFamily="34" charset="0"/>
              </a:rPr>
              <a:t>right(j).</a:t>
            </a:r>
            <a:endParaRPr lang="en-IN" sz="2200" dirty="0">
              <a:solidFill>
                <a:prstClr val="black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3648306" y="5221000"/>
            <a:ext cx="4686351" cy="1182639"/>
            <a:chOff x="7151427" y="5732060"/>
            <a:chExt cx="3300563" cy="1055006"/>
          </a:xfrm>
        </p:grpSpPr>
        <p:grpSp>
          <p:nvGrpSpPr>
            <p:cNvPr id="24" name="Group 23"/>
            <p:cNvGrpSpPr/>
            <p:nvPr/>
          </p:nvGrpSpPr>
          <p:grpSpPr>
            <a:xfrm>
              <a:off x="8839577" y="6200047"/>
              <a:ext cx="1207045" cy="587019"/>
              <a:chOff x="2323625" y="2083604"/>
              <a:chExt cx="1243336" cy="587019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3"/>
              <a:srcRect t="60699" r="79525"/>
              <a:stretch/>
            </p:blipFill>
            <p:spPr>
              <a:xfrm>
                <a:off x="2323625" y="2083604"/>
                <a:ext cx="837586" cy="587019"/>
              </a:xfrm>
              <a:prstGeom prst="rect">
                <a:avLst/>
              </a:prstGeom>
            </p:spPr>
          </p:pic>
          <p:sp>
            <p:nvSpPr>
              <p:cNvPr id="26" name="Rectangle 25"/>
              <p:cNvSpPr/>
              <p:nvPr/>
            </p:nvSpPr>
            <p:spPr>
              <a:xfrm>
                <a:off x="3138639" y="2116625"/>
                <a:ext cx="42832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r>
                  <a:rPr lang="en-IN" dirty="0">
                    <a:solidFill>
                      <a:schemeClr val="bg1"/>
                    </a:solidFill>
                  </a:rPr>
                  <a:t>as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7151427" y="5732060"/>
              <a:ext cx="3300563" cy="1013897"/>
              <a:chOff x="7151427" y="5732060"/>
              <a:chExt cx="3300563" cy="1013897"/>
            </a:xfrm>
          </p:grpSpPr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4"/>
              <a:srcRect l="15390" t="23541" r="14504" b="26017"/>
              <a:stretch/>
            </p:blipFill>
            <p:spPr>
              <a:xfrm>
                <a:off x="7151427" y="5732060"/>
                <a:ext cx="3166280" cy="409434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3"/>
              <a:srcRect l="21241" t="59090" r="70752" b="4361"/>
              <a:stretch/>
            </p:blipFill>
            <p:spPr>
              <a:xfrm>
                <a:off x="9606873" y="6200047"/>
                <a:ext cx="327547" cy="545910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3"/>
              <a:srcRect l="79674" t="59999" r="3670" b="4112"/>
              <a:stretch/>
            </p:blipFill>
            <p:spPr>
              <a:xfrm>
                <a:off x="9770647" y="6200047"/>
                <a:ext cx="681343" cy="50798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3629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2177" y="202344"/>
            <a:ext cx="57593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Quick Sort Algorithm – Example </a:t>
            </a:r>
            <a:endParaRPr lang="en-IN" sz="2800" dirty="0"/>
          </a:p>
        </p:txBody>
      </p:sp>
      <p:sp>
        <p:nvSpPr>
          <p:cNvPr id="2" name="Rectangle 1"/>
          <p:cNvSpPr/>
          <p:nvPr/>
        </p:nvSpPr>
        <p:spPr>
          <a:xfrm>
            <a:off x="245529" y="957117"/>
            <a:ext cx="11224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200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9:</a:t>
            </a:r>
            <a:endParaRPr lang="en-IN" sz="2200" b="1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7060" t="24233" r="9429" b="28005"/>
          <a:stretch/>
        </p:blipFill>
        <p:spPr>
          <a:xfrm>
            <a:off x="4372369" y="5506602"/>
            <a:ext cx="4434368" cy="8188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9347" y="4271255"/>
            <a:ext cx="128753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Trebuchet MS" panose="020B0603020202020204" pitchFamily="34" charset="0"/>
              </a:rPr>
              <a:t>Step </a:t>
            </a:r>
            <a:r>
              <a:rPr lang="en-US" sz="2200" b="1" dirty="0" smtClean="0">
                <a:solidFill>
                  <a:srgbClr val="0070C0"/>
                </a:solidFill>
                <a:latin typeface="Trebuchet MS" panose="020B0603020202020204" pitchFamily="34" charset="0"/>
              </a:rPr>
              <a:t>10:</a:t>
            </a:r>
            <a:endParaRPr lang="en-IN" sz="2200" b="1" dirty="0">
              <a:solidFill>
                <a:srgbClr val="0070C0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67952" y="860186"/>
            <a:ext cx="10228093" cy="2061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In the right sub list left is greater than the pivot, left will stop at same position. As the List[right] is greater than List[pivot], right moves towards left and stops at pivot number position. Now left &gt; right so we swap pivot with right. (6 is swap by itself).</a:t>
            </a:r>
            <a:endParaRPr lang="en-IN" sz="2200" dirty="0">
              <a:latin typeface="Trebuchet MS" panose="020B0603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44542" y="4163857"/>
            <a:ext cx="10274419" cy="1045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rebuchet MS" panose="020B0603020202020204" pitchFamily="34" charset="0"/>
              </a:rPr>
              <a:t>Repeat the same recursively on both left and right </a:t>
            </a:r>
            <a:r>
              <a:rPr lang="en-US" sz="2200" dirty="0" smtClean="0">
                <a:latin typeface="Trebuchet MS" panose="020B0603020202020204" pitchFamily="34" charset="0"/>
              </a:rPr>
              <a:t>sub lists </a:t>
            </a:r>
            <a:r>
              <a:rPr lang="en-US" sz="2200" dirty="0">
                <a:latin typeface="Trebuchet MS" panose="020B0603020202020204" pitchFamily="34" charset="0"/>
              </a:rPr>
              <a:t>until all the numbers are sorted</a:t>
            </a:r>
            <a:r>
              <a:rPr lang="en-US" sz="2200" dirty="0" smtClean="0">
                <a:latin typeface="Trebuchet MS" panose="020B0603020202020204" pitchFamily="34" charset="0"/>
              </a:rPr>
              <a:t>. The </a:t>
            </a:r>
            <a:r>
              <a:rPr lang="en-US" sz="2200" dirty="0">
                <a:latin typeface="Trebuchet MS" panose="020B0603020202020204" pitchFamily="34" charset="0"/>
              </a:rPr>
              <a:t>final sorted list will be as follows.</a:t>
            </a:r>
            <a:endParaRPr lang="en-IN" sz="2200" dirty="0">
              <a:latin typeface="Trebuchet MS" panose="020B0603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157257" y="2884112"/>
            <a:ext cx="4649481" cy="1279745"/>
            <a:chOff x="7528395" y="3098042"/>
            <a:chExt cx="3405736" cy="97470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l="26892" t="18313" r="7275" b="27955"/>
            <a:stretch/>
          </p:blipFill>
          <p:spPr>
            <a:xfrm>
              <a:off x="7685964" y="3098042"/>
              <a:ext cx="3248167" cy="450376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4"/>
            <a:srcRect l="79674" t="59999" r="3670" b="4112"/>
            <a:stretch/>
          </p:blipFill>
          <p:spPr>
            <a:xfrm>
              <a:off x="8404462" y="3563914"/>
              <a:ext cx="681343" cy="368186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4"/>
            <a:srcRect t="60699" r="79525"/>
            <a:stretch/>
          </p:blipFill>
          <p:spPr>
            <a:xfrm>
              <a:off x="7528395" y="3603565"/>
              <a:ext cx="646614" cy="43757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4"/>
            <a:srcRect l="21241" t="59090" r="70752" b="4361"/>
            <a:stretch/>
          </p:blipFill>
          <p:spPr>
            <a:xfrm>
              <a:off x="8162710" y="3570231"/>
              <a:ext cx="327547" cy="5025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514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2013" y="202344"/>
            <a:ext cx="39830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</a:rPr>
              <a:t>Quick Sort Algorithm</a:t>
            </a:r>
            <a:endParaRPr lang="en-IN" sz="1600" dirty="0"/>
          </a:p>
        </p:txBody>
      </p:sp>
      <p:sp>
        <p:nvSpPr>
          <p:cNvPr id="2" name="Rectangle 1"/>
          <p:cNvSpPr/>
          <p:nvPr/>
        </p:nvSpPr>
        <p:spPr>
          <a:xfrm>
            <a:off x="432177" y="1054122"/>
            <a:ext cx="10472384" cy="4456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Complexity of the Quick Sort Algorithm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rebuchet MS" panose="020B0603020202020204" pitchFamily="34" charset="0"/>
              </a:rPr>
              <a:t>To </a:t>
            </a:r>
            <a:r>
              <a:rPr lang="en-US" sz="2400" dirty="0">
                <a:latin typeface="Trebuchet MS" panose="020B0603020202020204" pitchFamily="34" charset="0"/>
              </a:rPr>
              <a:t>sort an unsorted list with 'n' number of elements, we need to make ((n-1)+(n-2)+(n-3)+......+1) = (n (n-1))/2 number of </a:t>
            </a:r>
            <a:r>
              <a:rPr lang="en-US" sz="2400" dirty="0" smtClean="0">
                <a:latin typeface="Trebuchet MS" panose="020B0603020202020204" pitchFamily="34" charset="0"/>
              </a:rPr>
              <a:t>comparisons </a:t>
            </a:r>
            <a:r>
              <a:rPr lang="en-US" sz="2400" dirty="0">
                <a:latin typeface="Trebuchet MS" panose="020B0603020202020204" pitchFamily="34" charset="0"/>
              </a:rPr>
              <a:t>in the worst case. If the list is already sorted, then it requires 'n' number of </a:t>
            </a:r>
            <a:r>
              <a:rPr lang="en-US" sz="2400" dirty="0" smtClean="0">
                <a:latin typeface="Trebuchet MS" panose="020B0603020202020204" pitchFamily="34" charset="0"/>
              </a:rPr>
              <a:t>comparisons.</a:t>
            </a:r>
            <a:endParaRPr lang="en-US" sz="2400" dirty="0">
              <a:latin typeface="Trebuchet MS" panose="020B0603020202020204" pitchFamily="34" charset="0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rebuchet MS" panose="020B0603020202020204" pitchFamily="34" charset="0"/>
              </a:rPr>
              <a:t>Worst </a:t>
            </a:r>
            <a:r>
              <a:rPr lang="en-US" sz="2400" dirty="0">
                <a:latin typeface="Trebuchet MS" panose="020B0603020202020204" pitchFamily="34" charset="0"/>
              </a:rPr>
              <a:t>Case : O(n2)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rebuchet MS" panose="020B0603020202020204" pitchFamily="34" charset="0"/>
              </a:rPr>
              <a:t>Best Case : O (n log n)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rebuchet MS" panose="020B0603020202020204" pitchFamily="34" charset="0"/>
              </a:rPr>
              <a:t>Average Case : O (n log n)</a:t>
            </a:r>
            <a:endParaRPr lang="en-IN" sz="24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3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7;p17"/>
          <p:cNvSpPr txBox="1"/>
          <p:nvPr/>
        </p:nvSpPr>
        <p:spPr>
          <a:xfrm>
            <a:off x="232012" y="163353"/>
            <a:ext cx="8694791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 defTabSz="1219170">
              <a:buClr>
                <a:srgbClr val="000000"/>
              </a:buClr>
              <a:defRPr/>
            </a:pPr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/>
              </a:rPr>
              <a:t>Introduction - </a:t>
            </a:r>
            <a:r>
              <a:rPr lang="en-IN" sz="3200" b="1" dirty="0" smtClean="0">
                <a:latin typeface="Arial"/>
              </a:rPr>
              <a:t>Recurrence relation</a:t>
            </a:r>
            <a:endParaRPr lang="en-IN" sz="3200" b="1" dirty="0">
              <a:latin typeface="Arial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304D5-D37D-6B86-AE24-A7F0C180825E}"/>
              </a:ext>
            </a:extLst>
          </p:cNvPr>
          <p:cNvSpPr txBox="1"/>
          <p:nvPr/>
        </p:nvSpPr>
        <p:spPr>
          <a:xfrm>
            <a:off x="569918" y="1572619"/>
            <a:ext cx="974282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363" marR="0" lvl="0" indent="-360363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Tx/>
              <a:buFont typeface="Wingdings 2" pitchFamily="18" charset="2"/>
              <a:buChar char=""/>
              <a:tabLst/>
              <a:defRPr/>
            </a:pPr>
            <a:r>
              <a:rPr lang="en-IN" sz="2400" dirty="0">
                <a:latin typeface="Trebuchet MS" panose="020B0603020202020204" pitchFamily="34" charset="0"/>
              </a:rPr>
              <a:t>Many algorithms </a:t>
            </a:r>
            <a:r>
              <a:rPr lang="en-IN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(divide and conquer) </a:t>
            </a:r>
            <a:r>
              <a:rPr lang="en-IN" sz="2400" dirty="0">
                <a:latin typeface="Trebuchet MS" panose="020B0603020202020204" pitchFamily="34" charset="0"/>
              </a:rPr>
              <a:t>are recursive in nature. </a:t>
            </a:r>
          </a:p>
          <a:p>
            <a:pPr marL="360363" marR="0" lvl="0" indent="-360363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Tx/>
              <a:buFont typeface="Wingdings 2" pitchFamily="18" charset="2"/>
              <a:buChar char=""/>
              <a:tabLst/>
              <a:defRPr/>
            </a:pPr>
            <a:r>
              <a:rPr lang="en-IN" sz="2400" dirty="0">
                <a:latin typeface="Trebuchet MS" panose="020B0603020202020204" pitchFamily="34" charset="0"/>
              </a:rPr>
              <a:t>When we analyze them, we get a recurrence relation for time complexity. </a:t>
            </a:r>
          </a:p>
          <a:p>
            <a:pPr marL="360363" marR="0" lvl="0" indent="-360363" algn="l" defTabSz="9144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Tx/>
              <a:buFont typeface="Wingdings 2" pitchFamily="18" charset="2"/>
              <a:buChar char=""/>
              <a:tabLst/>
              <a:defRPr/>
            </a:pPr>
            <a:r>
              <a:rPr lang="en-IN" sz="2400" dirty="0">
                <a:latin typeface="Trebuchet MS" panose="020B0603020202020204" pitchFamily="34" charset="0"/>
              </a:rPr>
              <a:t>We get running time as a function of 𝒏 (input size) and we get the running time on inputs of smaller sizes.</a:t>
            </a:r>
          </a:p>
        </p:txBody>
      </p:sp>
    </p:spTree>
    <p:extLst>
      <p:ext uri="{BB962C8B-B14F-4D97-AF65-F5344CB8AC3E}">
        <p14:creationId xmlns:p14="http://schemas.microsoft.com/office/powerpoint/2010/main" val="272060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7;p17"/>
          <p:cNvSpPr txBox="1"/>
          <p:nvPr/>
        </p:nvSpPr>
        <p:spPr>
          <a:xfrm>
            <a:off x="290946" y="163353"/>
            <a:ext cx="8635858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Recurrence equation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99FB7-2426-DE62-2C95-729884159F41}"/>
              </a:ext>
            </a:extLst>
          </p:cNvPr>
          <p:cNvSpPr txBox="1"/>
          <p:nvPr/>
        </p:nvSpPr>
        <p:spPr>
          <a:xfrm>
            <a:off x="477672" y="1106692"/>
            <a:ext cx="1138223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40BAD2"/>
              </a:buClr>
              <a:buFont typeface="Wingdings 2" pitchFamily="18" charset="2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Recurrence :</a:t>
            </a:r>
          </a:p>
          <a:p>
            <a:pPr marL="182880" indent="-182880">
              <a:lnSpc>
                <a:spcPct val="150000"/>
              </a:lnSpc>
              <a:buClr>
                <a:srgbClr val="40BAD2"/>
              </a:buClr>
              <a:buFont typeface="Wingdings 2" pitchFamily="18" charset="2"/>
              <a:buChar char=""/>
              <a:defRPr/>
            </a:pPr>
            <a:r>
              <a:rPr lang="en-IN" sz="2400" dirty="0">
                <a:solidFill>
                  <a:srgbClr val="000000"/>
                </a:solidFill>
                <a:latin typeface="Trebuchet MS" panose="020B0603020202020204" pitchFamily="34" charset="0"/>
              </a:rPr>
              <a:t>A recurrence is a recursive description of a function, or a description of a function in terms of itself. </a:t>
            </a:r>
          </a:p>
          <a:p>
            <a:pPr>
              <a:lnSpc>
                <a:spcPct val="150000"/>
              </a:lnSpc>
              <a:buClr>
                <a:srgbClr val="40BAD2"/>
              </a:buClr>
              <a:buFont typeface="Wingdings 2" pitchFamily="18" charset="2"/>
              <a:buNone/>
              <a:defRPr/>
            </a:pPr>
            <a:r>
              <a:rPr lang="en-IN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Recurrence relation:</a:t>
            </a:r>
            <a:endParaRPr lang="en-IN" sz="2400" dirty="0">
              <a:solidFill>
                <a:srgbClr val="0070C0"/>
              </a:solidFill>
              <a:latin typeface="Trebuchet MS" panose="020B0603020202020204" pitchFamily="34" charset="0"/>
            </a:endParaRPr>
          </a:p>
          <a:p>
            <a:pPr marL="182880" indent="-182880">
              <a:lnSpc>
                <a:spcPct val="150000"/>
              </a:lnSpc>
              <a:buClr>
                <a:srgbClr val="40BAD2"/>
              </a:buClr>
              <a:buFont typeface="Wingdings 2" pitchFamily="18" charset="2"/>
              <a:buChar char=""/>
              <a:defRPr/>
            </a:pPr>
            <a:r>
              <a:rPr lang="en-IN" sz="2400" dirty="0">
                <a:solidFill>
                  <a:srgbClr val="000000"/>
                </a:solidFill>
                <a:latin typeface="Trebuchet MS" panose="020B0603020202020204" pitchFamily="34" charset="0"/>
              </a:rPr>
              <a:t>A recurrence relation recursively defines a sequence where the next term is a function of the previous terms.</a:t>
            </a:r>
          </a:p>
          <a:p>
            <a:pPr marL="182880" indent="-182880">
              <a:lnSpc>
                <a:spcPct val="150000"/>
              </a:lnSpc>
              <a:buClr>
                <a:srgbClr val="40BAD2"/>
              </a:buClr>
              <a:buFont typeface="Wingdings 2" pitchFamily="18" charset="2"/>
              <a:buChar char=""/>
              <a:defRPr/>
            </a:pPr>
            <a:r>
              <a:rPr lang="en-US" sz="2400" dirty="0">
                <a:solidFill>
                  <a:srgbClr val="000000"/>
                </a:solidFill>
                <a:latin typeface="Trebuchet MS" panose="020B0603020202020204" pitchFamily="34" charset="0"/>
              </a:rPr>
              <a:t>Equation that defines a sequence recursively</a:t>
            </a:r>
            <a:r>
              <a:rPr lang="en-US" sz="2400" b="1" dirty="0">
                <a:solidFill>
                  <a:srgbClr val="000000"/>
                </a:solidFill>
                <a:latin typeface="Trebuchet MS" panose="020B0603020202020204" pitchFamily="34" charset="0"/>
              </a:rPr>
              <a:t>.</a:t>
            </a:r>
          </a:p>
          <a:p>
            <a:pPr lvl="1">
              <a:lnSpc>
                <a:spcPct val="150000"/>
              </a:lnSpc>
              <a:buClr>
                <a:srgbClr val="40BAD2"/>
              </a:buClr>
              <a:defRPr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T(n) = T(n-1) + n,       n&gt;0       -------(1 (recurrence relation)) </a:t>
            </a:r>
          </a:p>
          <a:p>
            <a:pPr lvl="1">
              <a:lnSpc>
                <a:spcPct val="150000"/>
              </a:lnSpc>
              <a:buClr>
                <a:srgbClr val="40BAD2"/>
              </a:buClr>
              <a:defRPr/>
            </a:pPr>
            <a:r>
              <a:rPr lang="en-US" sz="2400" b="1" dirty="0">
                <a:solidFill>
                  <a:srgbClr val="0070C0"/>
                </a:solidFill>
                <a:latin typeface="Trebuchet MS" panose="020B0603020202020204" pitchFamily="34" charset="0"/>
              </a:rPr>
              <a:t>T(0) = 0		                        -------(2 (initial condition))</a:t>
            </a:r>
          </a:p>
          <a:p>
            <a:pPr lvl="1">
              <a:lnSpc>
                <a:spcPct val="150000"/>
              </a:lnSpc>
              <a:buClr>
                <a:srgbClr val="40BAD2"/>
              </a:buClr>
              <a:defRPr/>
            </a:pPr>
            <a:endParaRPr lang="en-US" sz="2400" b="1" dirty="0">
              <a:solidFill>
                <a:srgbClr val="000000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08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7;p17"/>
          <p:cNvSpPr txBox="1"/>
          <p:nvPr/>
        </p:nvSpPr>
        <p:spPr>
          <a:xfrm>
            <a:off x="290946" y="163353"/>
            <a:ext cx="8593748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2800" b="1" dirty="0">
                <a:latin typeface="Arial"/>
              </a:rPr>
              <a:t>Methods to solve the Recurrence equation</a:t>
            </a:r>
            <a:endParaRPr lang="en-IN" sz="2800" b="1" dirty="0">
              <a:latin typeface="Arial"/>
              <a:sym typeface="Proxima Nova"/>
            </a:endParaRP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3D34FDFD-32C2-8A8C-81C2-77786162AB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5547072"/>
              </p:ext>
            </p:extLst>
          </p:nvPr>
        </p:nvGraphicFramePr>
        <p:xfrm>
          <a:off x="1136073" y="1501417"/>
          <a:ext cx="7633854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213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7;p17"/>
          <p:cNvSpPr txBox="1"/>
          <p:nvPr/>
        </p:nvSpPr>
        <p:spPr>
          <a:xfrm>
            <a:off x="290945" y="163353"/>
            <a:ext cx="1008610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3200" b="1" dirty="0">
                <a:latin typeface="Arial"/>
              </a:rPr>
              <a:t>Substitution Method</a:t>
            </a:r>
            <a:endParaRPr lang="en-IN" sz="3200" b="1" dirty="0">
              <a:latin typeface="Arial"/>
              <a:sym typeface="Proxima Nov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21CDA-03AA-5C08-3E64-4A76AB50AEF1}"/>
              </a:ext>
            </a:extLst>
          </p:cNvPr>
          <p:cNvSpPr txBox="1"/>
          <p:nvPr/>
        </p:nvSpPr>
        <p:spPr>
          <a:xfrm>
            <a:off x="680319" y="1041023"/>
            <a:ext cx="1102946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The substitution method comprises of 3 steps </a:t>
            </a: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Guess the form of the solution </a:t>
            </a: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Verify by induction </a:t>
            </a:r>
          </a:p>
          <a:p>
            <a:pPr marL="742950" lvl="1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0070C0"/>
                </a:solidFill>
                <a:latin typeface="Trebuchet MS" panose="020B0603020202020204" pitchFamily="34" charset="0"/>
              </a:rPr>
              <a:t>Solve for constants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We substitute the guessed solution for the function when applying the inductive hypothesis to smaller values.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rebuchet MS" panose="020B0603020202020204" pitchFamily="34" charset="0"/>
              </a:rPr>
              <a:t>Hence the name “substitution method”. This method is powerful, but we must be able to guess the form of the answer in order to apply it.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IN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440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47154" y="191069"/>
            <a:ext cx="11831782" cy="711200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/>
            </a:defPPr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latin typeface="Arial"/>
                <a:ea typeface="+mn-ea"/>
                <a:cs typeface="+mn-cs"/>
              </a:rPr>
              <a:t>Substitution Method – Example</a:t>
            </a:r>
            <a:endParaRPr lang="en-US" sz="3200" b="1" dirty="0"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 txBox="1">
                <a:spLocks/>
              </p:cNvSpPr>
              <p:nvPr/>
            </p:nvSpPr>
            <p:spPr>
              <a:xfrm>
                <a:off x="491319" y="1140980"/>
                <a:ext cx="11224092" cy="5504864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/>
                </a:defPPr>
                <a:lvl1pPr marL="575986" indent="-431989" algn="l" defTabSz="1219140" rtl="0" eaLnBrk="1" latinLnBrk="0" hangingPunct="1">
                  <a:lnSpc>
                    <a:spcPct val="90000"/>
                  </a:lnSpc>
                  <a:spcBef>
                    <a:spcPts val="1889"/>
                  </a:spcBef>
                  <a:buClr>
                    <a:srgbClr val="000000"/>
                  </a:buClr>
                  <a:buSzPct val="45000"/>
                  <a:buFont typeface="Wingdings" charset="2"/>
                  <a:buChar char=""/>
                  <a:defRPr sz="37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354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23925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133493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06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63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20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177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341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 smtClean="0">
                    <a:latin typeface="Trebuchet MS" panose="020B0603020202020204" pitchFamily="34" charset="0"/>
                    <a:ea typeface="Cambria" panose="02040503050406030204" pitchFamily="18" charset="0"/>
                  </a:rPr>
                  <a:t>We make a guess for the solution and then we use mathematical induction to prove the guess is correct or incorrect.</a:t>
                </a:r>
              </a:p>
              <a:p>
                <a:pPr marL="143997" indent="0">
                  <a:buFont typeface="Wingdings" charset="2"/>
                  <a:buNone/>
                </a:pPr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18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Replacing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18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, we can write following equations</a:t>
                </a:r>
                <a:r>
                  <a:rPr lang="en-US" sz="1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1800" dirty="0" smtClean="0">
                    <a:latin typeface="Trebuchet MS" panose="020B0603020202020204" pitchFamily="34" charset="0"/>
                    <a:ea typeface="Cambria" panose="02040503050406030204" pitchFamily="18" charset="0"/>
                  </a:rPr>
                  <a:t>Substituting </a:t>
                </a:r>
                <a:r>
                  <a:rPr lang="en-US" sz="18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equation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1800" dirty="0">
                    <a:solidFill>
                      <a:srgbClr val="C0000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800" dirty="0">
                    <a:solidFill>
                      <a:srgbClr val="C0000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:r>
                  <a:rPr lang="en-US" sz="18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and equation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800" dirty="0">
                    <a:solidFill>
                      <a:srgbClr val="C0000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>
                    <a:solidFill>
                      <a:srgbClr val="C0000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:r>
                  <a:rPr lang="en-US" sz="18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we have now, </a:t>
                </a: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319" y="1140980"/>
                <a:ext cx="11224092" cy="5504864"/>
              </a:xfrm>
              <a:prstGeom prst="rect">
                <a:avLst/>
              </a:prstGeom>
              <a:blipFill>
                <a:blip r:embed="rId2"/>
                <a:stretch>
                  <a:fillRect t="-1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75129" y="1813460"/>
            <a:ext cx="1801516" cy="45720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r>
              <a:rPr lang="en-US" sz="2400" b="1" dirty="0">
                <a:solidFill>
                  <a:schemeClr val="tx1"/>
                </a:solidFill>
              </a:rPr>
              <a:t>Example </a:t>
            </a:r>
            <a:r>
              <a:rPr lang="en-US" sz="2400" b="1" dirty="0" smtClean="0">
                <a:solidFill>
                  <a:schemeClr val="tx1"/>
                </a:solidFill>
              </a:rPr>
              <a:t>:</a:t>
            </a:r>
            <a:endParaRPr lang="en-US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865851" y="2408051"/>
                <a:ext cx="4754880" cy="5486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851" y="2408051"/>
                <a:ext cx="4754880" cy="548640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ular Callout 5"/>
              <p:cNvSpPr/>
              <p:nvPr/>
            </p:nvSpPr>
            <p:spPr>
              <a:xfrm>
                <a:off x="1475887" y="3032812"/>
                <a:ext cx="4516540" cy="305419"/>
              </a:xfrm>
              <a:prstGeom prst="wedgeRoundRectCallout">
                <a:avLst>
                  <a:gd name="adj1" fmla="val 36136"/>
                  <a:gd name="adj2" fmla="val -105910"/>
                  <a:gd name="adj3" fmla="val 16667"/>
                </a:avLst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:r>
                  <a:rPr lang="en-US" dirty="0">
                    <a:solidFill>
                      <a:srgbClr val="002060"/>
                    </a:solidFill>
                    <a:latin typeface="Trebuchet MS" panose="020B0603020202020204" pitchFamily="34" charset="0"/>
                  </a:rPr>
                  <a:t>Time to solve the instance of size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rgbClr val="00206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6" name="Rounded Rectangular Callou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887" y="3032812"/>
                <a:ext cx="4516540" cy="305419"/>
              </a:xfrm>
              <a:prstGeom prst="wedgeRoundRectCallout">
                <a:avLst>
                  <a:gd name="adj1" fmla="val 36136"/>
                  <a:gd name="adj2" fmla="val -105910"/>
                  <a:gd name="adj3" fmla="val 16667"/>
                </a:avLst>
              </a:prstGeom>
              <a:blipFill>
                <a:blip r:embed="rId4"/>
                <a:stretch>
                  <a:fillRect b="-21687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ular Callout 6"/>
              <p:cNvSpPr/>
              <p:nvPr/>
            </p:nvSpPr>
            <p:spPr>
              <a:xfrm>
                <a:off x="3584383" y="1528015"/>
                <a:ext cx="3036348" cy="803915"/>
              </a:xfrm>
              <a:prstGeom prst="wedgeRoundRectCallout">
                <a:avLst>
                  <a:gd name="adj1" fmla="val -33938"/>
                  <a:gd name="adj2" fmla="val 80350"/>
                  <a:gd name="adj3" fmla="val 16667"/>
                </a:avLst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Time to solve the instance of size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ounded Rectangular Callou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383" y="1528015"/>
                <a:ext cx="3036348" cy="803915"/>
              </a:xfrm>
              <a:prstGeom prst="wedgeRoundRectCallout">
                <a:avLst>
                  <a:gd name="adj1" fmla="val -33938"/>
                  <a:gd name="adj2" fmla="val 80350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865851" y="3813129"/>
                <a:ext cx="4754880" cy="5486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851" y="3813129"/>
                <a:ext cx="4754880" cy="5486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865851" y="4707508"/>
                <a:ext cx="4754880" cy="5486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851" y="4707508"/>
                <a:ext cx="4754880" cy="5486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>
            <a:endCxn id="11" idx="2"/>
          </p:cNvCxnSpPr>
          <p:nvPr/>
        </p:nvCxnSpPr>
        <p:spPr>
          <a:xfrm>
            <a:off x="6591146" y="2682371"/>
            <a:ext cx="983672" cy="484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574818" y="2454255"/>
            <a:ext cx="457200" cy="457200"/>
          </a:xfrm>
          <a:prstGeom prst="ellips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6591146" y="4087449"/>
            <a:ext cx="983672" cy="0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574818" y="3844186"/>
            <a:ext cx="457200" cy="457200"/>
          </a:xfrm>
          <a:prstGeom prst="ellips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4" name="Straight Connector 13"/>
          <p:cNvCxnSpPr>
            <a:stCxn id="9" idx="3"/>
          </p:cNvCxnSpPr>
          <p:nvPr/>
        </p:nvCxnSpPr>
        <p:spPr>
          <a:xfrm>
            <a:off x="6620731" y="4981828"/>
            <a:ext cx="954087" cy="0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574818" y="4754103"/>
            <a:ext cx="457200" cy="457200"/>
          </a:xfrm>
          <a:prstGeom prst="ellips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790125" y="2897292"/>
            <a:ext cx="1173480" cy="0"/>
          </a:xfrm>
          <a:prstGeom prst="line">
            <a:avLst/>
          </a:prstGeom>
          <a:ln w="38100">
            <a:solidFill>
              <a:srgbClr val="3449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222647" y="4298009"/>
            <a:ext cx="1173480" cy="0"/>
          </a:xfrm>
          <a:prstGeom prst="line">
            <a:avLst/>
          </a:prstGeom>
          <a:ln w="38100">
            <a:solidFill>
              <a:srgbClr val="3449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790125" y="4298009"/>
            <a:ext cx="117348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2222647" y="5184007"/>
            <a:ext cx="117348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770825" y="5813835"/>
                <a:ext cx="5212080" cy="5486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25" y="5813835"/>
                <a:ext cx="5212080" cy="548640"/>
              </a:xfrm>
              <a:prstGeom prst="rect">
                <a:avLst/>
              </a:prstGeom>
              <a:blipFill>
                <a:blip r:embed="rId8"/>
                <a:stretch>
                  <a:fillRect l="-702" b="-8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/>
          <p:cNvCxnSpPr/>
          <p:nvPr/>
        </p:nvCxnSpPr>
        <p:spPr>
          <a:xfrm>
            <a:off x="7020108" y="6006454"/>
            <a:ext cx="517506" cy="1772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74818" y="5831362"/>
            <a:ext cx="457200" cy="531113"/>
          </a:xfrm>
          <a:prstGeom prst="ellips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9503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xit" presetSubtype="10" dur="5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xit" presetSubtype="10" dur="5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22" presetClass="entr" presetSubtype="8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9" grpId="0" animBg="1"/>
      <p:bldP spid="11" grpId="0" animBg="1"/>
      <p:bldP spid="13" grpId="0" animBg="1"/>
      <p:bldP spid="15" grpId="0" animBg="1"/>
      <p:bldP spid="20" grpId="0" animBg="1"/>
      <p:bldP spid="22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4294967295"/>
          </p:nvPr>
        </p:nvSpPr>
        <p:spPr>
          <a:xfrm>
            <a:off x="387927" y="141918"/>
            <a:ext cx="12040542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3200" b="1" dirty="0">
                <a:latin typeface="Arial"/>
                <a:ea typeface="+mn-ea"/>
                <a:cs typeface="+mn-cs"/>
              </a:rPr>
              <a:t>Substitution Method – </a:t>
            </a:r>
            <a:r>
              <a:rPr lang="en-US" sz="3200" b="1" dirty="0" smtClean="0">
                <a:latin typeface="Arial"/>
                <a:ea typeface="+mn-ea"/>
                <a:cs typeface="+mn-cs"/>
              </a:rPr>
              <a:t>Example</a:t>
            </a:r>
            <a:endParaRPr lang="en-US" sz="3200" b="1" dirty="0"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159798" y="878889"/>
                <a:ext cx="11768677" cy="557588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/>
                </a:defPPr>
                <a:lvl1pPr marL="575986" indent="-431989" algn="l" defTabSz="1219140" rtl="0" eaLnBrk="1" latinLnBrk="0" hangingPunct="1">
                  <a:lnSpc>
                    <a:spcPct val="90000"/>
                  </a:lnSpc>
                  <a:spcBef>
                    <a:spcPts val="1889"/>
                  </a:spcBef>
                  <a:buClr>
                    <a:srgbClr val="000000"/>
                  </a:buClr>
                  <a:buSzPct val="45000"/>
                  <a:buFont typeface="Wingdings" charset="2"/>
                  <a:buChar char=""/>
                  <a:defRPr sz="37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354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23925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133493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06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63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20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177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341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8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4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From above, we can write the general form as,</a:t>
                </a: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4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Suppose, if we take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then,</a:t>
                </a:r>
              </a:p>
              <a:p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Font typeface="Wingdings" charset="2"/>
                  <a:buNone/>
                </a:pPr>
                <a:endParaRPr lang="en-US" sz="1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98" y="878889"/>
                <a:ext cx="11768677" cy="5575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78915" y="1006683"/>
                <a:ext cx="5212080" cy="5486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915" y="1006683"/>
                <a:ext cx="5212080" cy="548640"/>
              </a:xfrm>
              <a:prstGeom prst="rect">
                <a:avLst/>
              </a:prstGeom>
              <a:blipFill>
                <a:blip r:embed="rId3"/>
                <a:stretch>
                  <a:fillRect l="-819"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>
            <a:endCxn id="8" idx="2"/>
          </p:cNvCxnSpPr>
          <p:nvPr/>
        </p:nvCxnSpPr>
        <p:spPr>
          <a:xfrm>
            <a:off x="7270376" y="1281003"/>
            <a:ext cx="517506" cy="1772"/>
          </a:xfrm>
          <a:prstGeom prst="line">
            <a:avLst/>
          </a:prstGeom>
          <a:ln w="190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7787882" y="1054175"/>
            <a:ext cx="457200" cy="457200"/>
          </a:xfrm>
          <a:prstGeom prst="ellipse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78915" y="2287915"/>
                <a:ext cx="7498080" cy="5486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)+(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)+ …+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915" y="2287915"/>
                <a:ext cx="7498080" cy="548640"/>
              </a:xfrm>
              <a:prstGeom prst="rect">
                <a:avLst/>
              </a:prstGeom>
              <a:blipFill>
                <a:blip r:embed="rId4"/>
                <a:stretch>
                  <a:fillRect l="-325"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015131" y="3893433"/>
                <a:ext cx="7498080" cy="5486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)+(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)+ …+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131" y="3893433"/>
                <a:ext cx="7498080" cy="548640"/>
              </a:xfrm>
              <a:prstGeom prst="rect">
                <a:avLst/>
              </a:prstGeom>
              <a:blipFill>
                <a:blip r:embed="rId5"/>
                <a:stretch>
                  <a:fillRect l="-488" b="-88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078915" y="4587488"/>
                <a:ext cx="4206240" cy="54864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 …+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915" y="4587488"/>
                <a:ext cx="4206240" cy="5486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078915" y="5496645"/>
                <a:ext cx="4206240" cy="82296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40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  <a:latin typeface="Trebuchet MS" panose="020B0603020202020204" pitchFamily="34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915" y="5496645"/>
                <a:ext cx="4206240" cy="8229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2070846" y="5486400"/>
            <a:ext cx="4206240" cy="82296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3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dur="1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dur="1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idx="4294967295"/>
          </p:nvPr>
        </p:nvSpPr>
        <p:spPr>
          <a:xfrm>
            <a:off x="167827" y="168873"/>
            <a:ext cx="4246509" cy="711200"/>
          </a:xfrm>
          <a:prstGeom prst="rect">
            <a:avLst/>
          </a:prstGeom>
        </p:spPr>
        <p:txBody>
          <a:bodyPr>
            <a:normAutofit/>
          </a:bodyPr>
          <a:lstStyle>
            <a:defPPr/>
          </a:lstStyle>
          <a:p>
            <a:r>
              <a:rPr lang="en-US" sz="3200" b="1" dirty="0">
                <a:latin typeface="Arial"/>
                <a:ea typeface="+mn-ea"/>
                <a:cs typeface="+mn-cs"/>
              </a:rPr>
              <a:t>Master Theorem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/>
              <p:cNvSpPr txBox="1">
                <a:spLocks/>
              </p:cNvSpPr>
              <p:nvPr/>
            </p:nvSpPr>
            <p:spPr>
              <a:xfrm>
                <a:off x="167827" y="1163851"/>
                <a:ext cx="11637818" cy="5591175"/>
              </a:xfrm>
              <a:prstGeom prst="rect">
                <a:avLst/>
              </a:prstGeom>
              <a:ln>
                <a:noFill/>
              </a:ln>
            </p:spPr>
            <p:txBody>
              <a:bodyPr>
                <a:normAutofit/>
              </a:bodyPr>
              <a:lstStyle>
                <a:defPPr>
                  <a:defRPr/>
                </a:defPPr>
                <a:lvl1pPr marL="575986" indent="-431989" algn="l" defTabSz="1219140" rtl="0" eaLnBrk="1" latinLnBrk="0" hangingPunct="1">
                  <a:lnSpc>
                    <a:spcPct val="90000"/>
                  </a:lnSpc>
                  <a:spcBef>
                    <a:spcPts val="1889"/>
                  </a:spcBef>
                  <a:buClr>
                    <a:srgbClr val="000000"/>
                  </a:buClr>
                  <a:buSzPct val="45000"/>
                  <a:buFont typeface="Wingdings" charset="2"/>
                  <a:buChar char=""/>
                  <a:defRPr sz="37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354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23925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133493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06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63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20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177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341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The master theorem is a </a:t>
                </a:r>
                <a:r>
                  <a:rPr lang="en-US" sz="2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cookbook method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 solving recurrences. </a:t>
                </a:r>
              </a:p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Suppose you have a recurrence of the form</a:t>
                </a:r>
              </a:p>
              <a:p>
                <a:pPr marL="0" indent="0" algn="ctr">
                  <a:buFont typeface="Wingdings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sz="24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This recurrence would arise in the analysis of a recursive algorithm.</a:t>
                </a:r>
              </a:p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When input size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large, the problem is divided up into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sub-problems each of size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Sub-problems are solved recursively and results are recombined.</a:t>
                </a:r>
              </a:p>
              <a:p>
                <a:r>
                  <a:rPr 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The work to split the problem into sub-problems and recombine the results is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endParaRPr lang="en-US" sz="2400" b="1" dirty="0">
                  <a:solidFill>
                    <a:schemeClr val="accent2">
                      <a:lumMod val="75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27" y="1163851"/>
                <a:ext cx="11637818" cy="5591175"/>
              </a:xfrm>
              <a:prstGeom prst="rect">
                <a:avLst/>
              </a:prstGeom>
              <a:blipFill>
                <a:blip r:embed="rId2"/>
                <a:stretch>
                  <a:fillRect t="-152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499935" y="3032251"/>
            <a:ext cx="1828800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>
            <a:defPPr/>
          </a:lstStyle>
          <a:p>
            <a:pPr algn="ctr"/>
            <a:r>
              <a:rPr lang="en-US" sz="2000" dirty="0">
                <a:solidFill>
                  <a:srgbClr val="FF0000"/>
                </a:solidFill>
              </a:rPr>
              <a:t>Number of sub-problems</a:t>
            </a:r>
          </a:p>
        </p:txBody>
      </p:sp>
      <p:cxnSp>
        <p:nvCxnSpPr>
          <p:cNvPr id="15" name="Curved Connector 14"/>
          <p:cNvCxnSpPr>
            <a:endCxn id="14" idx="0"/>
          </p:cNvCxnSpPr>
          <p:nvPr/>
        </p:nvCxnSpPr>
        <p:spPr>
          <a:xfrm rot="10800000" flipV="1">
            <a:off x="4414336" y="2352115"/>
            <a:ext cx="989515" cy="680136"/>
          </a:xfrm>
          <a:prstGeom prst="curvedConnector2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cxnSpLocks/>
            <a:endCxn id="17" idx="1"/>
          </p:cNvCxnSpPr>
          <p:nvPr/>
        </p:nvCxnSpPr>
        <p:spPr>
          <a:xfrm rot="16200000" flipH="1">
            <a:off x="5687188" y="2659016"/>
            <a:ext cx="1118614" cy="685798"/>
          </a:xfrm>
          <a:prstGeom prst="curved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9394" y="3053390"/>
            <a:ext cx="2362106" cy="10156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/>
          </a:lstStyle>
          <a:p>
            <a:pPr algn="ctr"/>
            <a:r>
              <a:rPr lang="en-US" sz="2000" dirty="0">
                <a:solidFill>
                  <a:srgbClr val="FF0000"/>
                </a:solidFill>
              </a:rPr>
              <a:t>Time required to solve a sub-problem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4590" y="1644229"/>
            <a:ext cx="1828800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5"/>
            </a:solidFill>
          </a:ln>
        </p:spPr>
        <p:txBody>
          <a:bodyPr wrap="square" rtlCol="0">
            <a:spAutoFit/>
          </a:bodyPr>
          <a:lstStyle>
            <a:defPPr/>
          </a:lstStyle>
          <a:p>
            <a:pPr algn="ctr"/>
            <a:r>
              <a:rPr lang="en-US" sz="2000" dirty="0">
                <a:solidFill>
                  <a:srgbClr val="FF0000"/>
                </a:solidFill>
              </a:rPr>
              <a:t>Time to divide &amp; recombine</a:t>
            </a:r>
          </a:p>
        </p:txBody>
      </p:sp>
      <p:cxnSp>
        <p:nvCxnSpPr>
          <p:cNvPr id="19" name="Curved Connector 18"/>
          <p:cNvCxnSpPr/>
          <p:nvPr/>
        </p:nvCxnSpPr>
        <p:spPr>
          <a:xfrm flipV="1">
            <a:off x="7475870" y="1880021"/>
            <a:ext cx="1188720" cy="228599"/>
          </a:xfrm>
          <a:prstGeom prst="curvedConnector3">
            <a:avLst>
              <a:gd name="adj1" fmla="val -3680"/>
            </a:avLst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39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94" y="768924"/>
            <a:ext cx="11570688" cy="579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0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82" y="872836"/>
            <a:ext cx="11882048" cy="576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3772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69" y="173454"/>
            <a:ext cx="11818961" cy="65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5721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/>
              <p:cNvSpPr txBox="1">
                <a:spLocks/>
              </p:cNvSpPr>
              <p:nvPr/>
            </p:nvSpPr>
            <p:spPr>
              <a:xfrm>
                <a:off x="292963" y="976544"/>
                <a:ext cx="11635512" cy="547823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/>
                </a:defPPr>
                <a:lvl1pPr marL="575986" indent="-431989" algn="l" defTabSz="1219140" rtl="0" eaLnBrk="1" latinLnBrk="0" hangingPunct="1">
                  <a:lnSpc>
                    <a:spcPct val="90000"/>
                  </a:lnSpc>
                  <a:spcBef>
                    <a:spcPts val="1889"/>
                  </a:spcBef>
                  <a:buClr>
                    <a:srgbClr val="000000"/>
                  </a:buClr>
                  <a:buSzPct val="45000"/>
                  <a:buFont typeface="Wingdings" charset="2"/>
                  <a:buChar char=""/>
                  <a:defRPr sz="37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354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523925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133493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06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35263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96220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571772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181341" indent="-304784" algn="l" defTabSz="1219140" rtl="0" eaLnBrk="1" latinLnBrk="0" hangingPunct="1">
                  <a:lnSpc>
                    <a:spcPct val="90000"/>
                  </a:lnSpc>
                  <a:spcBef>
                    <a:spcPts val="667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 smtClean="0">
                    <a:latin typeface="Trebuchet MS" panose="020B0603020202020204" pitchFamily="34" charset="0"/>
                    <a:ea typeface="Cambria" panose="02040503050406030204" pitchFamily="18" charset="0"/>
                  </a:rPr>
                  <a:t>In recurrence tree, each node represents the </a:t>
                </a:r>
                <a:r>
                  <a:rPr lang="en-US" sz="2000" b="1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cost of a single sub-problem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in the set of recursive function invocations. </a:t>
                </a:r>
              </a:p>
              <a:p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We sum the </a:t>
                </a:r>
                <a:r>
                  <a:rPr lang="en-US" sz="2000" b="1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costs within each level 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of the tree to obtain a set of per level costs.</a:t>
                </a:r>
              </a:p>
              <a:p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Then we sum the all the </a:t>
                </a:r>
                <a:r>
                  <a:rPr lang="en-US" sz="2000" b="1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per level costs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to determine the total cost of all levels of the recursion.</a:t>
                </a:r>
              </a:p>
              <a:p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Here while solving recurrences, we </a:t>
                </a:r>
                <a:r>
                  <a:rPr lang="en-US" sz="2000" b="1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divide the problem </a:t>
                </a: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into sub-problems of  equal size.</a:t>
                </a:r>
              </a:p>
              <a:p>
                <a:r>
                  <a:rPr lang="en-US" alt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E.g</a:t>
                </a:r>
                <a:r>
                  <a:rPr lang="en-US" altLang="en-US" sz="2000" b="1" dirty="0" smtClean="0">
                    <a:latin typeface="Trebuchet MS" panose="020B0603020202020204" pitchFamily="34" charset="0"/>
                    <a:ea typeface="Cambria" panose="02040503050406030204" pitchFamily="18" charset="0"/>
                  </a:rPr>
                  <a:t>.,</a:t>
                </a:r>
                <a:r>
                  <a:rPr lang="en-US" altLang="en-US" sz="2000" b="1" dirty="0" smtClean="0">
                    <a:solidFill>
                      <a:srgbClr val="0070C0"/>
                    </a:solidFill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&gt;1 ,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&gt;1 </m:t>
                    </m:r>
                  </m:oMath>
                </a14:m>
                <a:r>
                  <a:rPr lang="en-US" alt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is a given function.</a:t>
                </a:r>
              </a:p>
              <a:p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is the cost of </a:t>
                </a:r>
                <a:r>
                  <a:rPr lang="en-US" altLang="en-US" sz="2000" b="1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splitting or combining </a:t>
                </a:r>
                <a:r>
                  <a:rPr lang="en-US" alt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the sub problems.</a:t>
                </a:r>
              </a:p>
              <a:p>
                <a:pPr marL="0" indent="0">
                  <a:buFont typeface="Wingdings" charset="2"/>
                  <a:buNone/>
                </a:pPr>
                <a:r>
                  <a:rPr lang="en-US" sz="2000" dirty="0">
                    <a:latin typeface="Trebuchet MS" panose="020B0603020202020204" pitchFamily="34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63" y="976544"/>
                <a:ext cx="11635512" cy="5478231"/>
              </a:xfrm>
              <a:prstGeom prst="rect">
                <a:avLst/>
              </a:prstGeom>
              <a:blipFill>
                <a:blip r:embed="rId2"/>
                <a:stretch>
                  <a:fillRect t="-12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/>
              <p:cNvSpPr/>
              <p:nvPr/>
            </p:nvSpPr>
            <p:spPr>
              <a:xfrm>
                <a:off x="4619443" y="4480787"/>
                <a:ext cx="640080" cy="64008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Oval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443" y="4480787"/>
                <a:ext cx="640080" cy="64008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/>
              <p:cNvSpPr/>
              <p:nvPr/>
            </p:nvSpPr>
            <p:spPr>
              <a:xfrm>
                <a:off x="3705043" y="5814695"/>
                <a:ext cx="640080" cy="64008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lang="en-US" sz="20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Oval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043" y="5814695"/>
                <a:ext cx="640080" cy="640080"/>
              </a:xfrm>
              <a:prstGeom prst="ellipse">
                <a:avLst/>
              </a:prstGeom>
              <a:blipFill>
                <a:blip r:embed="rId4"/>
                <a:stretch>
                  <a:fillRect l="-35185" t="-50000" r="-43519" b="-90741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5594803" y="5814695"/>
                <a:ext cx="640080" cy="64008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den>
                      </m:f>
                    </m:oMath>
                  </m:oMathPara>
                </a14:m>
                <a:endParaRPr lang="en-US" sz="2000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803" y="5814695"/>
                <a:ext cx="640080" cy="640080"/>
              </a:xfrm>
              <a:prstGeom prst="ellipse">
                <a:avLst/>
              </a:prstGeom>
              <a:blipFill>
                <a:blip r:embed="rId4"/>
                <a:stretch>
                  <a:fillRect l="-35185" t="-50000" r="-43519" b="-90741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>
            <a:stCxn id="3" idx="3"/>
            <a:endCxn id="4" idx="0"/>
          </p:cNvCxnSpPr>
          <p:nvPr/>
        </p:nvCxnSpPr>
        <p:spPr>
          <a:xfrm flipH="1">
            <a:off x="4025083" y="5027129"/>
            <a:ext cx="688098" cy="78756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3" idx="5"/>
            <a:endCxn id="5" idx="0"/>
          </p:cNvCxnSpPr>
          <p:nvPr/>
        </p:nvCxnSpPr>
        <p:spPr>
          <a:xfrm>
            <a:off x="5165785" y="5027129"/>
            <a:ext cx="749058" cy="78756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7438869C-F99C-A026-753C-60B499085B46}"/>
              </a:ext>
            </a:extLst>
          </p:cNvPr>
          <p:cNvSpPr txBox="1">
            <a:spLocks/>
          </p:cNvSpPr>
          <p:nvPr/>
        </p:nvSpPr>
        <p:spPr>
          <a:xfrm>
            <a:off x="292962" y="0"/>
            <a:ext cx="11899037" cy="711200"/>
          </a:xfrm>
          <a:prstGeom prst="rect">
            <a:avLst/>
          </a:prstGeom>
        </p:spPr>
        <p:txBody>
          <a:bodyPr tIns="91440" bIns="91440" anchor="b">
            <a:normAutofit/>
          </a:bodyPr>
          <a:lstStyle>
            <a:defPPr>
              <a:defRPr/>
            </a:defPPr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/>
                <a:ea typeface="+mn-ea"/>
                <a:cs typeface="+mn-cs"/>
              </a:rPr>
              <a:t>Recurrence tree method</a:t>
            </a:r>
          </a:p>
        </p:txBody>
      </p:sp>
    </p:spTree>
    <p:extLst>
      <p:ext uri="{BB962C8B-B14F-4D97-AF65-F5344CB8AC3E}">
        <p14:creationId xmlns:p14="http://schemas.microsoft.com/office/powerpoint/2010/main" val="103949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dur="5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6260913" y="935030"/>
                <a:ext cx="5713232" cy="57587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/>
              </a:lstStyle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Example 1: </a:t>
                </a:r>
                <a14:m>
                  <m:oMath xmlns:m="http://schemas.openxmlformats.org/officeDocument/2006/math"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en-US" sz="2000" b="1" dirty="0">
                  <a:solidFill>
                    <a:schemeClr val="tx1"/>
                  </a:solidFill>
                </a:endParaRPr>
              </a:p>
              <a:p>
                <a:endParaRPr lang="en-US" altLang="en-US" sz="200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solidFill>
                      <a:schemeClr val="tx1"/>
                    </a:solidFill>
                  </a:rPr>
                  <a:t>When we add the values across the levels of the recursion tree, we get a value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every level. 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solidFill>
                      <a:schemeClr val="tx1"/>
                    </a:solidFill>
                  </a:rPr>
                  <a:t>The bottom level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nodes, each contributing the cost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(1).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solidFill>
                      <a:schemeClr val="tx1"/>
                    </a:solidFill>
                  </a:rPr>
                  <a:t>We have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……      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𝑡𝑖𝑚𝑒𝑠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 </m:t>
                      </m:r>
                      <m:nary>
                        <m:naryPr>
                          <m:chr m:val="∑"/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unc>
                            <m:func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fName>
                                <m:e>
                                  <m:r>
                                    <a:rPr lang="en-US" sz="20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</m:sup>
                          </m:sSup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  <a:p>
                <a:r>
                  <a:rPr lang="en-US" sz="2000" b="1" dirty="0">
                    <a:solidFill>
                      <a:schemeClr val="tx1"/>
                    </a:solidFill>
                  </a:rPr>
                  <a:t>		</a:t>
                </a:r>
              </a:p>
              <a:p>
                <a:pPr algn="ctr"/>
                <a:r>
                  <a:rPr lang="en-US" sz="2000" b="1" dirty="0">
                    <a:solidFill>
                      <a:schemeClr val="tx1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d>
                      <m:d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0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func>
                        <m:func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913" y="935030"/>
                <a:ext cx="5713232" cy="5758734"/>
              </a:xfrm>
              <a:prstGeom prst="rect">
                <a:avLst/>
              </a:prstGeom>
              <a:blipFill>
                <a:blip r:embed="rId2"/>
                <a:stretch>
                  <a:fillRect l="-961" t="-423" r="-11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611362" y="788516"/>
            <a:ext cx="5642891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/>
          </a:lstStyle>
          <a:p>
            <a:r>
              <a:rPr lang="en-US" sz="2400" dirty="0"/>
              <a:t>The recursion tree for this recurrence 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4858" y="3030384"/>
                <a:ext cx="109728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/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𝒍𝒐𝒈</m:t>
                      </m:r>
                      <m:r>
                        <a:rPr lang="en-US" altLang="en-US" sz="2400" b="1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en-US" sz="2400" b="1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en-US" sz="24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</m:oMath>
                  </m:oMathPara>
                </a14:m>
                <a:endParaRPr lang="en-US" altLang="en-US" sz="2400" b="1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" y="3030384"/>
                <a:ext cx="1097280" cy="461665"/>
              </a:xfrm>
              <a:prstGeom prst="rect">
                <a:avLst/>
              </a:prstGeom>
              <a:blipFill>
                <a:blip r:embed="rId3"/>
                <a:stretch>
                  <a:fillRect l="-2222" b="-210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770309" y="3819680"/>
                <a:ext cx="3780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/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</m:oMath>
                  </m:oMathPara>
                </a14:m>
                <a:endParaRPr lang="en-US" sz="24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0309" y="3819680"/>
                <a:ext cx="37807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714615" y="2662446"/>
                <a:ext cx="3780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/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</m:oMath>
                  </m:oMathPara>
                </a14:m>
                <a:endParaRPr lang="en-US" sz="24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615" y="2662446"/>
                <a:ext cx="37807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2849495" y="150638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495" y="1506384"/>
                <a:ext cx="822960" cy="73152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1935095" y="257318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095" y="2573184"/>
                <a:ext cx="822960" cy="731520"/>
              </a:xfrm>
              <a:prstGeom prst="ellipse">
                <a:avLst/>
              </a:prstGeom>
              <a:blipFill>
                <a:blip r:embed="rId7"/>
                <a:stretch>
                  <a:fillRect l="-29710" t="-56098" r="-48551" b="-100813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3824855" y="257318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855" y="2573184"/>
                <a:ext cx="822960" cy="731520"/>
              </a:xfrm>
              <a:prstGeom prst="ellipse">
                <a:avLst/>
              </a:prstGeom>
              <a:blipFill>
                <a:blip r:embed="rId7"/>
                <a:stretch>
                  <a:fillRect l="-29710" t="-56098" r="-48551" b="-100813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>
            <a:stCxn id="7" idx="3"/>
            <a:endCxn id="8" idx="0"/>
          </p:cNvCxnSpPr>
          <p:nvPr/>
        </p:nvCxnSpPr>
        <p:spPr>
          <a:xfrm flipH="1">
            <a:off x="2346575" y="2130775"/>
            <a:ext cx="623440" cy="442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5"/>
            <a:endCxn id="9" idx="0"/>
          </p:cNvCxnSpPr>
          <p:nvPr/>
        </p:nvCxnSpPr>
        <p:spPr>
          <a:xfrm>
            <a:off x="3551935" y="2130775"/>
            <a:ext cx="684400" cy="442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>
                <a:off x="1384839" y="379238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839" y="3792384"/>
                <a:ext cx="822960" cy="731520"/>
              </a:xfrm>
              <a:prstGeom prst="ellipse">
                <a:avLst/>
              </a:prstGeom>
              <a:blipFill>
                <a:blip r:embed="rId8"/>
                <a:stretch>
                  <a:fillRect l="-38406" t="-56098" r="-39855" b="-100813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2402472" y="379238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472" y="3792384"/>
                <a:ext cx="822960" cy="731520"/>
              </a:xfrm>
              <a:prstGeom prst="ellipse">
                <a:avLst/>
              </a:prstGeom>
              <a:blipFill>
                <a:blip r:embed="rId9"/>
                <a:stretch>
                  <a:fillRect l="-38406" t="-56098" r="-39855" b="-100813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/>
          <p:cNvCxnSpPr>
            <a:stCxn id="8" idx="3"/>
            <a:endCxn id="12" idx="0"/>
          </p:cNvCxnSpPr>
          <p:nvPr/>
        </p:nvCxnSpPr>
        <p:spPr>
          <a:xfrm flipH="1">
            <a:off x="1796319" y="3197575"/>
            <a:ext cx="259296" cy="5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8" idx="5"/>
            <a:endCxn id="13" idx="0"/>
          </p:cNvCxnSpPr>
          <p:nvPr/>
        </p:nvCxnSpPr>
        <p:spPr>
          <a:xfrm>
            <a:off x="2637535" y="3197575"/>
            <a:ext cx="176417" cy="5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/>
              <p:cNvSpPr/>
              <p:nvPr/>
            </p:nvSpPr>
            <p:spPr>
              <a:xfrm>
                <a:off x="3334298" y="379238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Oval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4298" y="3792384"/>
                <a:ext cx="822960" cy="731520"/>
              </a:xfrm>
              <a:prstGeom prst="ellipse">
                <a:avLst/>
              </a:prstGeom>
              <a:blipFill>
                <a:blip r:embed="rId10"/>
                <a:stretch>
                  <a:fillRect l="-38406" t="-56098" r="-39855" b="-100813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/>
              <p:cNvSpPr/>
              <p:nvPr/>
            </p:nvSpPr>
            <p:spPr>
              <a:xfrm>
                <a:off x="4416873" y="379238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873" y="3792384"/>
                <a:ext cx="822960" cy="731520"/>
              </a:xfrm>
              <a:prstGeom prst="ellipse">
                <a:avLst/>
              </a:prstGeom>
              <a:blipFill>
                <a:blip r:embed="rId11"/>
                <a:stretch>
                  <a:fillRect l="-38406" t="-56098" r="-39855" b="-100813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>
            <a:stCxn id="9" idx="3"/>
            <a:endCxn id="16" idx="0"/>
          </p:cNvCxnSpPr>
          <p:nvPr/>
        </p:nvCxnSpPr>
        <p:spPr>
          <a:xfrm flipH="1">
            <a:off x="3745778" y="3197575"/>
            <a:ext cx="199597" cy="5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9" idx="5"/>
            <a:endCxn id="17" idx="0"/>
          </p:cNvCxnSpPr>
          <p:nvPr/>
        </p:nvCxnSpPr>
        <p:spPr>
          <a:xfrm>
            <a:off x="4527295" y="3197575"/>
            <a:ext cx="301058" cy="5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978828" y="2913240"/>
            <a:ext cx="73152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346677" y="4084121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2" idx="3"/>
          </p:cNvCxnSpPr>
          <p:nvPr/>
        </p:nvCxnSpPr>
        <p:spPr>
          <a:xfrm flipH="1">
            <a:off x="1299034" y="4416775"/>
            <a:ext cx="206325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5"/>
          </p:cNvCxnSpPr>
          <p:nvPr/>
        </p:nvCxnSpPr>
        <p:spPr>
          <a:xfrm>
            <a:off x="2087279" y="4416775"/>
            <a:ext cx="122730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3" idx="3"/>
          </p:cNvCxnSpPr>
          <p:nvPr/>
        </p:nvCxnSpPr>
        <p:spPr>
          <a:xfrm flipH="1">
            <a:off x="2358585" y="4416775"/>
            <a:ext cx="164407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3" idx="5"/>
          </p:cNvCxnSpPr>
          <p:nvPr/>
        </p:nvCxnSpPr>
        <p:spPr>
          <a:xfrm>
            <a:off x="3104912" y="4416775"/>
            <a:ext cx="94812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6" idx="3"/>
          </p:cNvCxnSpPr>
          <p:nvPr/>
        </p:nvCxnSpPr>
        <p:spPr>
          <a:xfrm flipH="1">
            <a:off x="3334299" y="4416775"/>
            <a:ext cx="120519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6" idx="5"/>
          </p:cNvCxnSpPr>
          <p:nvPr/>
        </p:nvCxnSpPr>
        <p:spPr>
          <a:xfrm>
            <a:off x="4036738" y="4416775"/>
            <a:ext cx="74800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7" idx="3"/>
          </p:cNvCxnSpPr>
          <p:nvPr/>
        </p:nvCxnSpPr>
        <p:spPr>
          <a:xfrm flipH="1">
            <a:off x="4416874" y="4416775"/>
            <a:ext cx="120519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7" idx="5"/>
          </p:cNvCxnSpPr>
          <p:nvPr/>
        </p:nvCxnSpPr>
        <p:spPr>
          <a:xfrm>
            <a:off x="5119313" y="4416775"/>
            <a:ext cx="74800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798628" y="504206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28" y="5042064"/>
                <a:ext cx="82296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1911148" y="504206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148" y="5042064"/>
                <a:ext cx="822960" cy="73152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/>
              <p:cNvSpPr/>
              <p:nvPr/>
            </p:nvSpPr>
            <p:spPr>
              <a:xfrm>
                <a:off x="3023668" y="504206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2" name="Oval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668" y="5042064"/>
                <a:ext cx="82296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/>
              <p:cNvSpPr/>
              <p:nvPr/>
            </p:nvSpPr>
            <p:spPr>
              <a:xfrm>
                <a:off x="4880769" y="5042064"/>
                <a:ext cx="82296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3" name="Oval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0769" y="5042064"/>
                <a:ext cx="822960" cy="73152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/>
          <p:cNvCxnSpPr/>
          <p:nvPr/>
        </p:nvCxnSpPr>
        <p:spPr>
          <a:xfrm>
            <a:off x="3956407" y="5405647"/>
            <a:ext cx="822960" cy="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4" idx="0"/>
          </p:cNvCxnSpPr>
          <p:nvPr/>
        </p:nvCxnSpPr>
        <p:spPr>
          <a:xfrm flipH="1" flipV="1">
            <a:off x="472058" y="1600058"/>
            <a:ext cx="0" cy="14303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4" idx="2"/>
          </p:cNvCxnSpPr>
          <p:nvPr/>
        </p:nvCxnSpPr>
        <p:spPr>
          <a:xfrm flipH="1">
            <a:off x="472058" y="3492049"/>
            <a:ext cx="0" cy="19157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721774" y="5738836"/>
            <a:ext cx="3017520" cy="548640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endParaRPr lang="en-US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99DE5CC-7F55-B76F-5558-25EFA3A67E9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</p:spPr>
        <p:txBody>
          <a:bodyPr tIns="91440" bIns="91440" anchor="b">
            <a:normAutofit/>
          </a:bodyPr>
          <a:lstStyle>
            <a:defPPr>
              <a:defRPr/>
            </a:defPPr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/>
                <a:ea typeface="+mn-ea"/>
                <a:cs typeface="+mn-cs"/>
              </a:rPr>
              <a:t>Recurrence tree method</a:t>
            </a:r>
          </a:p>
        </p:txBody>
      </p:sp>
    </p:spTree>
    <p:extLst>
      <p:ext uri="{BB962C8B-B14F-4D97-AF65-F5344CB8AC3E}">
        <p14:creationId xmlns:p14="http://schemas.microsoft.com/office/powerpoint/2010/main" val="341171544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6110724" y="928368"/>
                <a:ext cx="6081276" cy="56596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/>
              </a:lstStyle>
              <a:p>
                <a:r>
                  <a:rPr lang="en-US" sz="2400" b="1" dirty="0">
                    <a:solidFill>
                      <a:schemeClr val="tx1"/>
                    </a:solidFill>
                  </a:rPr>
                  <a:t>Example 2: 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altLang="en-US" sz="240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tx1"/>
                    </a:solidFill>
                  </a:rPr>
                  <a:t>When we add the values across the levels of the recursion tree, we get a value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for every level. 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 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func>
                            <m:func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3/2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3/2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func>
                            </m:sup>
                          </m:s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e>
                      </m:nary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	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fName>
                        <m:e>
                          <m:r>
                            <a:rPr lang="en-U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</m:oMath>
                  </m:oMathPara>
                </a14:m>
                <a:endParaRPr lang="en-US" sz="2600" b="1" dirty="0">
                  <a:solidFill>
                    <a:schemeClr val="tx1"/>
                  </a:solidFill>
                </a:endParaRPr>
              </a:p>
              <a:p>
                <a:endParaRPr lang="en-IN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724" y="928368"/>
                <a:ext cx="6081276" cy="5659631"/>
              </a:xfrm>
              <a:prstGeom prst="rect">
                <a:avLst/>
              </a:prstGeom>
              <a:blipFill>
                <a:blip r:embed="rId2"/>
                <a:stretch>
                  <a:fillRect l="-1503" t="-753" r="-15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235534" y="1132559"/>
            <a:ext cx="5570282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/>
          </a:lstStyle>
          <a:p>
            <a:r>
              <a:rPr lang="en-US" sz="2400" dirty="0"/>
              <a:t>The recursion tree for this recurrence is </a:t>
            </a:r>
          </a:p>
        </p:txBody>
      </p:sp>
      <p:sp>
        <p:nvSpPr>
          <p:cNvPr id="4" name="Rectangle 3"/>
          <p:cNvSpPr/>
          <p:nvPr/>
        </p:nvSpPr>
        <p:spPr>
          <a:xfrm>
            <a:off x="7654467" y="4572000"/>
            <a:ext cx="3017520" cy="548640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-68309" y="3729335"/>
                <a:ext cx="11264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/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𝒍𝒐𝒈</m:t>
                      </m:r>
                      <m:r>
                        <a:rPr lang="en-US" altLang="en-US" sz="2400" b="1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altLang="en-US" sz="2400" b="1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en-US" sz="24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</m:oMath>
                  </m:oMathPara>
                </a14:m>
                <a:endParaRPr lang="en-US" altLang="en-US" sz="2400" b="1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309" y="3729335"/>
                <a:ext cx="1126400" cy="461665"/>
              </a:xfrm>
              <a:prstGeom prst="rect">
                <a:avLst/>
              </a:prstGeom>
              <a:blipFill>
                <a:blip r:embed="rId3"/>
                <a:stretch>
                  <a:fillRect l="-1081" b="-197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044653" y="4612359"/>
                <a:ext cx="3780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/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smtClean="0">
                          <a:solidFill>
                            <a:srgbClr val="AD1457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</m:oMath>
                  </m:oMathPara>
                </a14:m>
                <a:endParaRPr lang="en-US" sz="2400" b="1">
                  <a:solidFill>
                    <a:srgbClr val="AD1457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4653" y="4612359"/>
                <a:ext cx="37807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522368" y="3442063"/>
                <a:ext cx="3780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/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smtClean="0">
                          <a:solidFill>
                            <a:srgbClr val="AD1457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</m:oMath>
                  </m:oMathPara>
                </a14:m>
                <a:endParaRPr lang="en-US" sz="2400" b="1">
                  <a:solidFill>
                    <a:srgbClr val="AD1457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368" y="3442063"/>
                <a:ext cx="378076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2179352" y="2286000"/>
                <a:ext cx="77724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352" y="2286000"/>
                <a:ext cx="777240" cy="73152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1264952" y="3352800"/>
                <a:ext cx="77724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952" y="3352800"/>
                <a:ext cx="777240" cy="731520"/>
              </a:xfrm>
              <a:prstGeom prst="ellipse">
                <a:avLst/>
              </a:prstGeom>
              <a:blipFill>
                <a:blip r:embed="rId7"/>
                <a:stretch>
                  <a:fillRect l="-20000" t="-37398" r="-40769" b="-73171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3154712" y="3352800"/>
                <a:ext cx="77724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712" y="3352800"/>
                <a:ext cx="777240" cy="731520"/>
              </a:xfrm>
              <a:prstGeom prst="ellipse">
                <a:avLst/>
              </a:prstGeom>
              <a:blipFill>
                <a:blip r:embed="rId8"/>
                <a:stretch>
                  <a:fillRect l="-11538" t="-37398" r="-49231" b="-73171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>
            <a:stCxn id="8" idx="3"/>
            <a:endCxn id="9" idx="0"/>
          </p:cNvCxnSpPr>
          <p:nvPr/>
        </p:nvCxnSpPr>
        <p:spPr>
          <a:xfrm flipH="1">
            <a:off x="1653572" y="2910391"/>
            <a:ext cx="639604" cy="442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8" idx="5"/>
            <a:endCxn id="10" idx="0"/>
          </p:cNvCxnSpPr>
          <p:nvPr/>
        </p:nvCxnSpPr>
        <p:spPr>
          <a:xfrm>
            <a:off x="2842768" y="2910391"/>
            <a:ext cx="700564" cy="442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701639" y="4572000"/>
                <a:ext cx="77724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f>
                        <m:f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39" y="4572000"/>
                <a:ext cx="777240" cy="73152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/>
              <p:cNvSpPr/>
              <p:nvPr/>
            </p:nvSpPr>
            <p:spPr>
              <a:xfrm>
                <a:off x="1732329" y="4572000"/>
                <a:ext cx="77724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f>
                        <m:f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2329" y="4572000"/>
                <a:ext cx="777240" cy="73152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>
            <a:stCxn id="9" idx="3"/>
          </p:cNvCxnSpPr>
          <p:nvPr/>
        </p:nvCxnSpPr>
        <p:spPr>
          <a:xfrm flipH="1">
            <a:off x="1103316" y="3977191"/>
            <a:ext cx="275460" cy="5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9" idx="5"/>
            <a:endCxn id="14" idx="0"/>
          </p:cNvCxnSpPr>
          <p:nvPr/>
        </p:nvCxnSpPr>
        <p:spPr>
          <a:xfrm>
            <a:off x="1928368" y="3977191"/>
            <a:ext cx="192581" cy="5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/>
              <p:cNvSpPr/>
              <p:nvPr/>
            </p:nvSpPr>
            <p:spPr>
              <a:xfrm>
                <a:off x="2664155" y="4572000"/>
                <a:ext cx="77724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f>
                        <m:f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155" y="4572000"/>
                <a:ext cx="777240" cy="7315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/>
              <p:cNvSpPr/>
              <p:nvPr/>
            </p:nvSpPr>
            <p:spPr>
              <a:xfrm>
                <a:off x="3746730" y="4572000"/>
                <a:ext cx="777240" cy="731520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f>
                        <m:fPr>
                          <m:ctrlPr>
                            <a:rPr lang="en-US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Oval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730" y="4572000"/>
                <a:ext cx="777240" cy="7315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>
            <a:stCxn id="10" idx="3"/>
            <a:endCxn id="17" idx="0"/>
          </p:cNvCxnSpPr>
          <p:nvPr/>
        </p:nvCxnSpPr>
        <p:spPr>
          <a:xfrm flipH="1">
            <a:off x="3052775" y="3977191"/>
            <a:ext cx="215761" cy="5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0" idx="5"/>
            <a:endCxn id="18" idx="0"/>
          </p:cNvCxnSpPr>
          <p:nvPr/>
        </p:nvCxnSpPr>
        <p:spPr>
          <a:xfrm>
            <a:off x="3818128" y="3977191"/>
            <a:ext cx="317222" cy="594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4008237" y="3692856"/>
            <a:ext cx="54864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585095" y="48768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28889" y="5196391"/>
            <a:ext cx="199631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378112" y="5196391"/>
            <a:ext cx="161754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" idx="3"/>
          </p:cNvCxnSpPr>
          <p:nvPr/>
        </p:nvCxnSpPr>
        <p:spPr>
          <a:xfrm flipH="1">
            <a:off x="1688440" y="5196391"/>
            <a:ext cx="157713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4" idx="5"/>
          </p:cNvCxnSpPr>
          <p:nvPr/>
        </p:nvCxnSpPr>
        <p:spPr>
          <a:xfrm>
            <a:off x="2395745" y="5196391"/>
            <a:ext cx="133836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7" idx="3"/>
          </p:cNvCxnSpPr>
          <p:nvPr/>
        </p:nvCxnSpPr>
        <p:spPr>
          <a:xfrm flipH="1">
            <a:off x="2664155" y="5196391"/>
            <a:ext cx="113824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7" idx="5"/>
          </p:cNvCxnSpPr>
          <p:nvPr/>
        </p:nvCxnSpPr>
        <p:spPr>
          <a:xfrm>
            <a:off x="3327571" y="5196391"/>
            <a:ext cx="113824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8" idx="3"/>
          </p:cNvCxnSpPr>
          <p:nvPr/>
        </p:nvCxnSpPr>
        <p:spPr>
          <a:xfrm flipH="1">
            <a:off x="3746730" y="5196391"/>
            <a:ext cx="113824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8" idx="5"/>
          </p:cNvCxnSpPr>
          <p:nvPr/>
        </p:nvCxnSpPr>
        <p:spPr>
          <a:xfrm>
            <a:off x="4410146" y="5196391"/>
            <a:ext cx="113824" cy="366209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388891" y="2107527"/>
            <a:ext cx="0" cy="16459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388891" y="4251960"/>
            <a:ext cx="0" cy="16459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898571" y="3729335"/>
                <a:ext cx="127114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/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𝒍𝒐𝒈</m:t>
                      </m:r>
                      <m:r>
                        <a:rPr lang="en-US" altLang="en-US" sz="2400" b="1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altLang="en-US" sz="2400" b="1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altLang="en-US" sz="2400" b="1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en-US" sz="2400" b="1" i="1" baseline="-25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en-US" sz="24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𝒏</m:t>
                      </m:r>
                    </m:oMath>
                  </m:oMathPara>
                </a14:m>
                <a:endParaRPr lang="en-US" altLang="en-US" sz="2400" b="1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571" y="3729335"/>
                <a:ext cx="1271147" cy="461665"/>
              </a:xfrm>
              <a:prstGeom prst="rect">
                <a:avLst/>
              </a:prstGeom>
              <a:blipFill>
                <a:blip r:embed="rId13"/>
                <a:stretch>
                  <a:fillRect l="-3846" b="-35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H="1" flipV="1">
            <a:off x="5529642" y="2107527"/>
            <a:ext cx="0" cy="16459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529641" y="4251960"/>
            <a:ext cx="0" cy="1554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8663690" y="477247"/>
            <a:ext cx="841141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9930998" y="464184"/>
            <a:ext cx="1178758" cy="0"/>
          </a:xfrm>
          <a:prstGeom prst="line">
            <a:avLst/>
          </a:prstGeom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le 1">
            <a:extLst>
              <a:ext uri="{FF2B5EF4-FFF2-40B4-BE49-F238E27FC236}">
                <a16:creationId xmlns:a16="http://schemas.microsoft.com/office/drawing/2014/main" id="{5C0F40E3-FCF5-55D2-9C03-1772BB0828F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</p:spPr>
        <p:txBody>
          <a:bodyPr tIns="91440" bIns="91440" anchor="b">
            <a:normAutofit/>
          </a:bodyPr>
          <a:lstStyle>
            <a:defPPr>
              <a:defRPr/>
            </a:defPPr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/>
                <a:ea typeface="+mn-ea"/>
                <a:cs typeface="+mn-cs"/>
              </a:rPr>
              <a:t>Recurrence tree method</a:t>
            </a:r>
          </a:p>
        </p:txBody>
      </p:sp>
    </p:spTree>
    <p:extLst>
      <p:ext uri="{BB962C8B-B14F-4D97-AF65-F5344CB8AC3E}">
        <p14:creationId xmlns:p14="http://schemas.microsoft.com/office/powerpoint/2010/main" val="230361444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/>
              <p:nvPr/>
            </p:nvSpPr>
            <p:spPr>
              <a:xfrm>
                <a:off x="6140914" y="836612"/>
                <a:ext cx="6096000" cy="60213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/>
              </a:lstStyle>
              <a:p>
                <a:r>
                  <a:rPr lang="en-US" sz="2400" b="1" dirty="0">
                    <a:solidFill>
                      <a:schemeClr val="tx1"/>
                    </a:solidFill>
                  </a:rPr>
                  <a:t>Example 3: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 baseline="30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sz="2400" b="1" baseline="30000" dirty="0">
                  <a:solidFill>
                    <a:schemeClr val="tx1"/>
                  </a:solidFill>
                </a:endParaRPr>
              </a:p>
              <a:p>
                <a:endParaRPr lang="en-US" altLang="en-US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tx1"/>
                    </a:solidFill>
                  </a:rPr>
                  <a:t>Sub-problem size at level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is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tx1"/>
                    </a:solidFill>
                  </a:rPr>
                  <a:t>Cost of problem at level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400" dirty="0">
                    <a:solidFill>
                      <a:schemeClr val="tx1"/>
                    </a:solidFill>
                  </a:rPr>
                  <a:t>Total cost,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unc>
                            <m:func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pPr algn="r"/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4B20E2A-F2D8-419C-9FD1-95D263426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914" y="836612"/>
                <a:ext cx="6096000" cy="6021388"/>
              </a:xfrm>
              <a:prstGeom prst="rect">
                <a:avLst/>
              </a:prstGeom>
              <a:blipFill>
                <a:blip r:embed="rId2"/>
                <a:stretch>
                  <a:fillRect l="-1500" t="-7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59456" y="-1"/>
            <a:ext cx="5936543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>
            <a:defPPr/>
          </a:lstStyle>
          <a:p>
            <a:pPr>
              <a:lnSpc>
                <a:spcPct val="150000"/>
              </a:lnSpc>
            </a:pPr>
            <a:r>
              <a:rPr lang="en-US" sz="3200" b="1" dirty="0">
                <a:latin typeface="Arial"/>
              </a:rPr>
              <a:t>Recurrence Tree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1362" y="788516"/>
            <a:ext cx="4937760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/>
          </a:lstStyle>
          <a:p>
            <a:r>
              <a:rPr lang="en-US" sz="2400">
                <a:solidFill>
                  <a:srgbClr val="AD1457"/>
                </a:solidFill>
              </a:rPr>
              <a:t>The recursion tree for this recurrence is </a:t>
            </a:r>
          </a:p>
        </p:txBody>
      </p:sp>
      <p:sp>
        <p:nvSpPr>
          <p:cNvPr id="5" name="Rectangle 4"/>
          <p:cNvSpPr/>
          <p:nvPr/>
        </p:nvSpPr>
        <p:spPr>
          <a:xfrm>
            <a:off x="8072847" y="5551715"/>
            <a:ext cx="2103120" cy="515750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/>
          </a:lstStyle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1641538" y="2209799"/>
                <a:ext cx="914400" cy="1031499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538" y="2209799"/>
                <a:ext cx="914400" cy="103149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727138" y="3276599"/>
                <a:ext cx="914400" cy="1031499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38" y="3276599"/>
                <a:ext cx="914400" cy="1031499"/>
              </a:xfrm>
              <a:prstGeom prst="ellipse">
                <a:avLst/>
              </a:prstGeom>
              <a:blipFill>
                <a:blip r:embed="rId4"/>
                <a:stretch>
                  <a:fillRect l="-22876" t="-19075" r="-34641" b="-47399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2616898" y="3276599"/>
                <a:ext cx="914400" cy="1031499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898" y="3276599"/>
                <a:ext cx="914400" cy="1031499"/>
              </a:xfrm>
              <a:prstGeom prst="ellipse">
                <a:avLst/>
              </a:prstGeom>
              <a:blipFill>
                <a:blip r:embed="rId5"/>
                <a:stretch>
                  <a:fillRect l="-29412" t="-25434" r="-38562" b="-57225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>
            <a:stCxn id="6" idx="3"/>
            <a:endCxn id="7" idx="0"/>
          </p:cNvCxnSpPr>
          <p:nvPr/>
        </p:nvCxnSpPr>
        <p:spPr>
          <a:xfrm flipH="1">
            <a:off x="1184338" y="3090238"/>
            <a:ext cx="591111" cy="1863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6" idx="5"/>
            <a:endCxn id="8" idx="0"/>
          </p:cNvCxnSpPr>
          <p:nvPr/>
        </p:nvCxnSpPr>
        <p:spPr>
          <a:xfrm>
            <a:off x="2422027" y="3090238"/>
            <a:ext cx="652071" cy="1863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176882" y="4495799"/>
                <a:ext cx="914400" cy="1031499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2" y="4495799"/>
                <a:ext cx="914400" cy="1031499"/>
              </a:xfrm>
              <a:prstGeom prst="ellipse">
                <a:avLst/>
              </a:prstGeom>
              <a:blipFill>
                <a:blip r:embed="rId6"/>
                <a:stretch>
                  <a:fillRect l="-29412" t="-25434" r="-38562" b="-57225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>
                <a:off x="1194515" y="4495799"/>
                <a:ext cx="914400" cy="1031499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515" y="4495799"/>
                <a:ext cx="914400" cy="1031499"/>
              </a:xfrm>
              <a:prstGeom prst="ellipse">
                <a:avLst/>
              </a:prstGeom>
              <a:blipFill>
                <a:blip r:embed="rId7"/>
                <a:stretch>
                  <a:fillRect l="-29412" t="-25434" r="-38562" b="-57225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/>
          <p:cNvCxnSpPr>
            <a:stCxn id="7" idx="3"/>
            <a:endCxn id="11" idx="0"/>
          </p:cNvCxnSpPr>
          <p:nvPr/>
        </p:nvCxnSpPr>
        <p:spPr>
          <a:xfrm flipH="1">
            <a:off x="634082" y="4157038"/>
            <a:ext cx="226967" cy="338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5"/>
            <a:endCxn id="12" idx="0"/>
          </p:cNvCxnSpPr>
          <p:nvPr/>
        </p:nvCxnSpPr>
        <p:spPr>
          <a:xfrm>
            <a:off x="1507627" y="4157038"/>
            <a:ext cx="144088" cy="338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/>
              <p:cNvSpPr/>
              <p:nvPr/>
            </p:nvSpPr>
            <p:spPr>
              <a:xfrm>
                <a:off x="2126341" y="4495799"/>
                <a:ext cx="914400" cy="1031499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341" y="4495799"/>
                <a:ext cx="914400" cy="1031499"/>
              </a:xfrm>
              <a:prstGeom prst="ellipse">
                <a:avLst/>
              </a:prstGeom>
              <a:blipFill>
                <a:blip r:embed="rId8"/>
                <a:stretch>
                  <a:fillRect l="-29412" t="-25434" r="-38562" b="-57225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/>
              <p:cNvSpPr/>
              <p:nvPr/>
            </p:nvSpPr>
            <p:spPr>
              <a:xfrm>
                <a:off x="3208916" y="4495799"/>
                <a:ext cx="914400" cy="1031499"/>
              </a:xfrm>
              <a:prstGeom prst="ellipse">
                <a:avLst/>
              </a:prstGeom>
              <a:noFill/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/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Oval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916" y="4495799"/>
                <a:ext cx="914400" cy="1031499"/>
              </a:xfrm>
              <a:prstGeom prst="ellipse">
                <a:avLst/>
              </a:prstGeom>
              <a:blipFill>
                <a:blip r:embed="rId9"/>
                <a:stretch>
                  <a:fillRect l="-29412" t="-25434" r="-38562" b="-57225"/>
                </a:stretch>
              </a:blipFill>
              <a:ln w="1905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>
            <a:stCxn id="8" idx="3"/>
            <a:endCxn id="15" idx="0"/>
          </p:cNvCxnSpPr>
          <p:nvPr/>
        </p:nvCxnSpPr>
        <p:spPr>
          <a:xfrm flipH="1">
            <a:off x="2583541" y="4157038"/>
            <a:ext cx="167268" cy="338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8" idx="5"/>
            <a:endCxn id="16" idx="0"/>
          </p:cNvCxnSpPr>
          <p:nvPr/>
        </p:nvCxnSpPr>
        <p:spPr>
          <a:xfrm>
            <a:off x="3397387" y="4157038"/>
            <a:ext cx="268729" cy="3387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812148" y="3616656"/>
            <a:ext cx="100584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269348" y="4876800"/>
            <a:ext cx="54864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3"/>
          </p:cNvCxnSpPr>
          <p:nvPr/>
        </p:nvCxnSpPr>
        <p:spPr>
          <a:xfrm flipH="1">
            <a:off x="159457" y="5376238"/>
            <a:ext cx="151336" cy="3387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5"/>
          </p:cNvCxnSpPr>
          <p:nvPr/>
        </p:nvCxnSpPr>
        <p:spPr>
          <a:xfrm>
            <a:off x="957371" y="5376238"/>
            <a:ext cx="100554" cy="3387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3"/>
          </p:cNvCxnSpPr>
          <p:nvPr/>
        </p:nvCxnSpPr>
        <p:spPr>
          <a:xfrm flipH="1">
            <a:off x="1226100" y="5376238"/>
            <a:ext cx="102326" cy="3387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2" idx="5"/>
          </p:cNvCxnSpPr>
          <p:nvPr/>
        </p:nvCxnSpPr>
        <p:spPr>
          <a:xfrm>
            <a:off x="1975004" y="5376238"/>
            <a:ext cx="117980" cy="3387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5" idx="3"/>
          </p:cNvCxnSpPr>
          <p:nvPr/>
        </p:nvCxnSpPr>
        <p:spPr>
          <a:xfrm flipH="1">
            <a:off x="2142272" y="5376238"/>
            <a:ext cx="117980" cy="3387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5" idx="5"/>
          </p:cNvCxnSpPr>
          <p:nvPr/>
        </p:nvCxnSpPr>
        <p:spPr>
          <a:xfrm>
            <a:off x="2906830" y="5376238"/>
            <a:ext cx="167268" cy="3387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6" idx="3"/>
          </p:cNvCxnSpPr>
          <p:nvPr/>
        </p:nvCxnSpPr>
        <p:spPr>
          <a:xfrm flipH="1">
            <a:off x="3242273" y="5376238"/>
            <a:ext cx="100554" cy="3387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6" idx="5"/>
          </p:cNvCxnSpPr>
          <p:nvPr/>
        </p:nvCxnSpPr>
        <p:spPr>
          <a:xfrm>
            <a:off x="3989405" y="5376238"/>
            <a:ext cx="133911" cy="3387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4781724" y="4643735"/>
                <a:ext cx="9114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/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f>
                            <m:fPr>
                              <m:type m:val="lin"/>
                              <m:ctrlPr>
                                <a:rPr lang="en-US" alt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1724" y="4643735"/>
                <a:ext cx="911476" cy="461665"/>
              </a:xfrm>
              <a:prstGeom prst="rect">
                <a:avLst/>
              </a:prstGeom>
              <a:blipFill>
                <a:blip r:embed="rId10"/>
                <a:stretch>
                  <a:fillRect l="-31333" t="-122368" r="-53333" b="-193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/>
          <p:cNvCxnSpPr/>
          <p:nvPr/>
        </p:nvCxnSpPr>
        <p:spPr>
          <a:xfrm>
            <a:off x="5159800" y="5276289"/>
            <a:ext cx="0" cy="666809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4702600" y="5943600"/>
                <a:ext cx="9114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/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600" y="5943600"/>
                <a:ext cx="911476" cy="461665"/>
              </a:xfrm>
              <a:prstGeom prst="rect">
                <a:avLst/>
              </a:prstGeom>
              <a:blipFill>
                <a:blip r:embed="rId11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855000" y="3405052"/>
                <a:ext cx="911476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/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f>
                            <m:fPr>
                              <m:type m:val="lin"/>
                              <m:ctrlPr>
                                <a:rPr lang="en-US" alt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000" y="3405052"/>
                <a:ext cx="911476" cy="461665"/>
              </a:xfrm>
              <a:prstGeom prst="rect">
                <a:avLst/>
              </a:prstGeom>
              <a:blipFill>
                <a:blip r:embed="rId12"/>
                <a:stretch>
                  <a:fillRect l="-31333" t="-124000" r="-53333" b="-197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07150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155027" y="2856814"/>
            <a:ext cx="5297487" cy="126047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7200" dirty="0">
                <a:solidFill>
                  <a:srgbClr val="0070C0"/>
                </a:solidFill>
              </a:rPr>
              <a:t>Thank</a:t>
            </a:r>
            <a:r>
              <a:rPr lang="en-US" sz="6600" dirty="0">
                <a:solidFill>
                  <a:srgbClr val="0070C0"/>
                </a:solidFill>
              </a:rPr>
              <a:t> You!</a:t>
            </a:r>
          </a:p>
        </p:txBody>
      </p:sp>
    </p:spTree>
    <p:extLst>
      <p:ext uri="{BB962C8B-B14F-4D97-AF65-F5344CB8AC3E}">
        <p14:creationId xmlns:p14="http://schemas.microsoft.com/office/powerpoint/2010/main" val="218986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5"/>
  <p:tag name="AS_OS" val="Unix 5.13.0.1021"/>
  <p:tag name="AS_RELEASE_DATE" val="2022.04.14"/>
  <p:tag name="AS_TITLE" val="Aspose.Slides for .NET5"/>
  <p:tag name="AS_VERSION" val="22.4"/>
</p:tagLst>
</file>

<file path=ppt/theme/theme1.xml><?xml version="1.0" encoding="utf-8"?>
<a:theme xmlns:a="http://schemas.openxmlformats.org/drawingml/2006/main" name="1_PPT Templat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19873</TotalTime>
  <Words>9435</Words>
  <Application>Microsoft Office PowerPoint</Application>
  <PresentationFormat>Widescreen</PresentationFormat>
  <Paragraphs>2479</Paragraphs>
  <Slides>128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128</vt:i4>
      </vt:variant>
    </vt:vector>
  </HeadingPairs>
  <TitlesOfParts>
    <vt:vector size="144" baseType="lpstr">
      <vt:lpstr>Cambria</vt:lpstr>
      <vt:lpstr>Wingdings 2</vt:lpstr>
      <vt:lpstr>Proxima Nova</vt:lpstr>
      <vt:lpstr>Wingdings</vt:lpstr>
      <vt:lpstr>DejaVu Sans</vt:lpstr>
      <vt:lpstr>Arial</vt:lpstr>
      <vt:lpstr>Calibri</vt:lpstr>
      <vt:lpstr>Times New Roman</vt:lpstr>
      <vt:lpstr>Corbel</vt:lpstr>
      <vt:lpstr>Consolas</vt:lpstr>
      <vt:lpstr>Cambria Math</vt:lpstr>
      <vt:lpstr>Times</vt:lpstr>
      <vt:lpstr>Trebuchet MS</vt:lpstr>
      <vt:lpstr>Algerian</vt:lpstr>
      <vt:lpstr>1_PPT Template</vt:lpstr>
      <vt:lpstr>Simple Light</vt:lpstr>
      <vt:lpstr>PowerPoint Presentation</vt:lpstr>
      <vt:lpstr>PowerPoint Presentation</vt:lpstr>
      <vt:lpstr>Sorting Algorithms </vt:lpstr>
      <vt:lpstr>PowerPoint Presentation</vt:lpstr>
      <vt:lpstr>PowerPoint Presentation</vt:lpstr>
      <vt:lpstr>PowerPoint Presentation</vt:lpstr>
      <vt:lpstr>PowerPoint Presentation</vt:lpstr>
      <vt:lpstr>  Implementing Bubble Sort Algorithm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Selection sort – Example </vt:lpstr>
      <vt:lpstr>Selection sort – Example </vt:lpstr>
      <vt:lpstr>Selection sort – Example </vt:lpstr>
      <vt:lpstr>Selection sort – Example </vt:lpstr>
      <vt:lpstr>Selection sort – Example </vt:lpstr>
      <vt:lpstr>Selection sort – Example </vt:lpstr>
      <vt:lpstr>Selection sort – Example </vt:lpstr>
      <vt:lpstr>Selection sort – Example </vt:lpstr>
      <vt:lpstr>Selection sort – Example </vt:lpstr>
      <vt:lpstr>Selection sort – Example </vt:lpstr>
      <vt:lpstr>Selection sort – Example </vt:lpstr>
      <vt:lpstr>Insertion sort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: 3</vt:lpstr>
      <vt:lpstr>Binary Search - Example 1</vt:lpstr>
      <vt:lpstr>Binary Search – Example 1</vt:lpstr>
      <vt:lpstr>Binary Search - Example 2(if data is not found)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 Sort Algorithm – Introduction </vt:lpstr>
      <vt:lpstr>Quick Sort Algorithm – Introduction </vt:lpstr>
      <vt:lpstr>Quick Sort Algorithm – Introduction </vt:lpstr>
      <vt:lpstr>Quick Sort – Pseudo code </vt:lpstr>
      <vt:lpstr>Quick Sort Algorithm</vt:lpstr>
      <vt:lpstr>Quick Sort Algorithm</vt:lpstr>
      <vt:lpstr>Quick Sort Algorithm</vt:lpstr>
      <vt:lpstr>Quick Sort Algorithm</vt:lpstr>
      <vt:lpstr>Quick Sort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Substitution Method – Example</vt:lpstr>
      <vt:lpstr>Master Theorem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tourist</cp:lastModifiedBy>
  <cp:revision>744</cp:revision>
  <dcterms:created xsi:type="dcterms:W3CDTF">2020-05-01T05:09:15Z</dcterms:created>
  <dcterms:modified xsi:type="dcterms:W3CDTF">2026-06-27T09:31:42Z</dcterms:modified>
  <cp:contentStatus/>
</cp:coreProperties>
</file>