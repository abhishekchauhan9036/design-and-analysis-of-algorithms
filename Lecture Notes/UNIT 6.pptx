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66"/>
  </p:notesMasterIdLst>
  <p:sldIdLst>
    <p:sldId id="307" r:id="rId3"/>
    <p:sldId id="602" r:id="rId4"/>
    <p:sldId id="603" r:id="rId5"/>
    <p:sldId id="604" r:id="rId6"/>
    <p:sldId id="605" r:id="rId7"/>
    <p:sldId id="606" r:id="rId8"/>
    <p:sldId id="607" r:id="rId9"/>
    <p:sldId id="580" r:id="rId10"/>
    <p:sldId id="608" r:id="rId11"/>
    <p:sldId id="581" r:id="rId12"/>
    <p:sldId id="609" r:id="rId13"/>
    <p:sldId id="584" r:id="rId14"/>
    <p:sldId id="610" r:id="rId15"/>
    <p:sldId id="587" r:id="rId16"/>
    <p:sldId id="588" r:id="rId17"/>
    <p:sldId id="611" r:id="rId18"/>
    <p:sldId id="612" r:id="rId19"/>
    <p:sldId id="613" r:id="rId20"/>
    <p:sldId id="614" r:id="rId21"/>
    <p:sldId id="615" r:id="rId22"/>
    <p:sldId id="616" r:id="rId23"/>
    <p:sldId id="617" r:id="rId24"/>
    <p:sldId id="593" r:id="rId25"/>
    <p:sldId id="623" r:id="rId26"/>
    <p:sldId id="624" r:id="rId27"/>
    <p:sldId id="625" r:id="rId28"/>
    <p:sldId id="626" r:id="rId29"/>
    <p:sldId id="627" r:id="rId30"/>
    <p:sldId id="628" r:id="rId31"/>
    <p:sldId id="629" r:id="rId32"/>
    <p:sldId id="655" r:id="rId33"/>
    <p:sldId id="656" r:id="rId34"/>
    <p:sldId id="657" r:id="rId35"/>
    <p:sldId id="658" r:id="rId36"/>
    <p:sldId id="630" r:id="rId37"/>
    <p:sldId id="631" r:id="rId38"/>
    <p:sldId id="632" r:id="rId39"/>
    <p:sldId id="633" r:id="rId40"/>
    <p:sldId id="634" r:id="rId41"/>
    <p:sldId id="635" r:id="rId42"/>
    <p:sldId id="636" r:id="rId43"/>
    <p:sldId id="639" r:id="rId44"/>
    <p:sldId id="640" r:id="rId45"/>
    <p:sldId id="641" r:id="rId46"/>
    <p:sldId id="642" r:id="rId47"/>
    <p:sldId id="622" r:id="rId48"/>
    <p:sldId id="618" r:id="rId49"/>
    <p:sldId id="619" r:id="rId50"/>
    <p:sldId id="620" r:id="rId51"/>
    <p:sldId id="621" r:id="rId52"/>
    <p:sldId id="643" r:id="rId53"/>
    <p:sldId id="644" r:id="rId54"/>
    <p:sldId id="645" r:id="rId55"/>
    <p:sldId id="646" r:id="rId56"/>
    <p:sldId id="647" r:id="rId57"/>
    <p:sldId id="648" r:id="rId58"/>
    <p:sldId id="649" r:id="rId59"/>
    <p:sldId id="650" r:id="rId60"/>
    <p:sldId id="651" r:id="rId61"/>
    <p:sldId id="652" r:id="rId62"/>
    <p:sldId id="654" r:id="rId63"/>
    <p:sldId id="653" r:id="rId64"/>
    <p:sldId id="58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5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BB437-A6EA-4293-BBAE-0AB322C2F18F}"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1E7B0-72F8-44DA-9C2B-76615B29C4DF}" type="slidenum">
              <a:rPr lang="en-IN" smtClean="0"/>
              <a:t>‹#›</a:t>
            </a:fld>
            <a:endParaRPr lang="en-IN"/>
          </a:p>
        </p:txBody>
      </p:sp>
    </p:spTree>
    <p:extLst>
      <p:ext uri="{BB962C8B-B14F-4D97-AF65-F5344CB8AC3E}">
        <p14:creationId xmlns:p14="http://schemas.microsoft.com/office/powerpoint/2010/main" val="32686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304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1237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9307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644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8002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9926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801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865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7166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2199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523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419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748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6166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0871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9372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7311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4201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4112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824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1186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2401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295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924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880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57790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691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790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76593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2574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45069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2663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84123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74951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39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2528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73276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7805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65049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24096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3793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2904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36899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35962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987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56312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57801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49664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46330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74246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50297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85197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94134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59900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5592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13657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81750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060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2.wdp"/></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0.jpeg"/><Relationship Id="rId5" Type="http://schemas.openxmlformats.org/officeDocument/2006/relationships/image" Target="../media/image6.png"/><Relationship Id="rId10" Type="http://schemas.openxmlformats.org/officeDocument/2006/relationships/image" Target="../media/image15.png"/><Relationship Id="rId4" Type="http://schemas.openxmlformats.org/officeDocument/2006/relationships/image" Target="../media/image14.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0.jpeg"/><Relationship Id="rId5" Type="http://schemas.openxmlformats.org/officeDocument/2006/relationships/image" Target="../media/image6.png"/><Relationship Id="rId10" Type="http://schemas.openxmlformats.org/officeDocument/2006/relationships/image" Target="../media/image16.jpeg"/><Relationship Id="rId4" Type="http://schemas.openxmlformats.org/officeDocument/2006/relationships/image" Target="../media/image14.png"/><Relationship Id="rId9" Type="http://schemas.microsoft.com/office/2007/relationships/hdphoto" Target="../media/hdphoto1.wdp"/></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00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22571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0600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08458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948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37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6" name="PlaceHolder 2"/>
          <p:cNvSpPr>
            <a:spLocks noGrp="1"/>
          </p:cNvSpPr>
          <p:nvPr>
            <p:ph type="subTitle"/>
          </p:nvPr>
        </p:nvSpPr>
        <p:spPr>
          <a:xfrm>
            <a:off x="415680" y="1151520"/>
            <a:ext cx="11360160" cy="4554720"/>
          </a:xfrm>
          <a:prstGeom prst="rect">
            <a:avLst/>
          </a:prstGeom>
        </p:spPr>
        <p:txBody>
          <a:bodyPr lIns="0" tIns="0" rIns="0" bIns="0" anchor="ctr">
            <a:noAutofit/>
          </a:bodyPr>
          <a:lstStyle/>
          <a:p>
            <a:pPr algn="ctr"/>
            <a:r>
              <a:rPr lang="en-US" sz="4267" b="0" strike="noStrike" spc="-1">
                <a:latin typeface="Arial"/>
              </a:rPr>
              <a:t>Click to edit Master subtitle style</a:t>
            </a:r>
          </a:p>
        </p:txBody>
      </p:sp>
    </p:spTree>
    <p:extLst>
      <p:ext uri="{BB962C8B-B14F-4D97-AF65-F5344CB8AC3E}">
        <p14:creationId xmlns:p14="http://schemas.microsoft.com/office/powerpoint/2010/main" val="1403146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8" name="PlaceHolder 2"/>
          <p:cNvSpPr>
            <a:spLocks noGrp="1"/>
          </p:cNvSpPr>
          <p:nvPr>
            <p:ph type="body"/>
          </p:nvPr>
        </p:nvSpPr>
        <p:spPr>
          <a:xfrm>
            <a:off x="415680" y="1151520"/>
            <a:ext cx="1136016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282039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0" name="PlaceHolder 2"/>
          <p:cNvSpPr>
            <a:spLocks noGrp="1"/>
          </p:cNvSpPr>
          <p:nvPr>
            <p:ph type="body"/>
          </p:nvPr>
        </p:nvSpPr>
        <p:spPr>
          <a:xfrm>
            <a:off x="41568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1" name="PlaceHolder 3"/>
          <p:cNvSpPr>
            <a:spLocks noGrp="1"/>
          </p:cNvSpPr>
          <p:nvPr>
            <p:ph type="body"/>
          </p:nvPr>
        </p:nvSpPr>
        <p:spPr>
          <a:xfrm>
            <a:off x="623712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536633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Tree>
    <p:extLst>
      <p:ext uri="{BB962C8B-B14F-4D97-AF65-F5344CB8AC3E}">
        <p14:creationId xmlns:p14="http://schemas.microsoft.com/office/powerpoint/2010/main" val="2989936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15680" y="98400"/>
            <a:ext cx="11360160" cy="3539520"/>
          </a:xfrm>
          <a:prstGeom prst="rect">
            <a:avLst/>
          </a:prstGeom>
        </p:spPr>
        <p:txBody>
          <a:bodyPr lIns="0" tIns="0" rIns="0" bIns="0" anchor="ctr">
            <a:noAutofit/>
          </a:bodyPr>
          <a:lstStyle/>
          <a:p>
            <a:pPr algn="ctr"/>
            <a:r>
              <a:rPr lang="en-US" sz="4267" b="0" strike="noStrike" spc="-1">
                <a:latin typeface="Arial"/>
              </a:rPr>
              <a:t>Click to edit Master subtitle style</a:t>
            </a:r>
          </a:p>
        </p:txBody>
      </p:sp>
    </p:spTree>
    <p:extLst>
      <p:ext uri="{BB962C8B-B14F-4D97-AF65-F5344CB8AC3E}">
        <p14:creationId xmlns:p14="http://schemas.microsoft.com/office/powerpoint/2010/main" val="4174398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5" name="PlaceHolder 2"/>
          <p:cNvSpPr>
            <a:spLocks noGrp="1"/>
          </p:cNvSpPr>
          <p:nvPr>
            <p:ph type="body"/>
          </p:nvPr>
        </p:nvSpPr>
        <p:spPr>
          <a:xfrm>
            <a:off x="41568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6" name="PlaceHolder 3"/>
          <p:cNvSpPr>
            <a:spLocks noGrp="1"/>
          </p:cNvSpPr>
          <p:nvPr>
            <p:ph type="body"/>
          </p:nvPr>
        </p:nvSpPr>
        <p:spPr>
          <a:xfrm>
            <a:off x="623712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7" name="PlaceHolder 4"/>
          <p:cNvSpPr>
            <a:spLocks noGrp="1"/>
          </p:cNvSpPr>
          <p:nvPr>
            <p:ph type="body"/>
          </p:nvPr>
        </p:nvSpPr>
        <p:spPr>
          <a:xfrm>
            <a:off x="41568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971641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9" name="PlaceHolder 2"/>
          <p:cNvSpPr>
            <a:spLocks noGrp="1"/>
          </p:cNvSpPr>
          <p:nvPr>
            <p:ph type="body"/>
          </p:nvPr>
        </p:nvSpPr>
        <p:spPr>
          <a:xfrm>
            <a:off x="41568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0" name="PlaceHolder 3"/>
          <p:cNvSpPr>
            <a:spLocks noGrp="1"/>
          </p:cNvSpPr>
          <p:nvPr>
            <p:ph type="body"/>
          </p:nvPr>
        </p:nvSpPr>
        <p:spPr>
          <a:xfrm>
            <a:off x="623712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1" name="PlaceHolder 4"/>
          <p:cNvSpPr>
            <a:spLocks noGrp="1"/>
          </p:cNvSpPr>
          <p:nvPr>
            <p:ph type="body"/>
          </p:nvPr>
        </p:nvSpPr>
        <p:spPr>
          <a:xfrm>
            <a:off x="623712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28587109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23" name="PlaceHolder 2"/>
          <p:cNvSpPr>
            <a:spLocks noGrp="1"/>
          </p:cNvSpPr>
          <p:nvPr>
            <p:ph type="body"/>
          </p:nvPr>
        </p:nvSpPr>
        <p:spPr>
          <a:xfrm>
            <a:off x="41568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4" name="PlaceHolder 3"/>
          <p:cNvSpPr>
            <a:spLocks noGrp="1"/>
          </p:cNvSpPr>
          <p:nvPr>
            <p:ph type="body"/>
          </p:nvPr>
        </p:nvSpPr>
        <p:spPr>
          <a:xfrm>
            <a:off x="623712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5" name="PlaceHolder 4"/>
          <p:cNvSpPr>
            <a:spLocks noGrp="1"/>
          </p:cNvSpPr>
          <p:nvPr>
            <p:ph type="body"/>
          </p:nvPr>
        </p:nvSpPr>
        <p:spPr>
          <a:xfrm>
            <a:off x="415680" y="3530880"/>
            <a:ext cx="1136016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211995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27" name="PlaceHolder 2"/>
          <p:cNvSpPr>
            <a:spLocks noGrp="1"/>
          </p:cNvSpPr>
          <p:nvPr>
            <p:ph type="body"/>
          </p:nvPr>
        </p:nvSpPr>
        <p:spPr>
          <a:xfrm>
            <a:off x="415680" y="1151520"/>
            <a:ext cx="1136016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8" name="PlaceHolder 3"/>
          <p:cNvSpPr>
            <a:spLocks noGrp="1"/>
          </p:cNvSpPr>
          <p:nvPr>
            <p:ph type="body"/>
          </p:nvPr>
        </p:nvSpPr>
        <p:spPr>
          <a:xfrm>
            <a:off x="415680" y="3530880"/>
            <a:ext cx="1136016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1180753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30" name="PlaceHolder 2"/>
          <p:cNvSpPr>
            <a:spLocks noGrp="1"/>
          </p:cNvSpPr>
          <p:nvPr>
            <p:ph type="body"/>
          </p:nvPr>
        </p:nvSpPr>
        <p:spPr>
          <a:xfrm>
            <a:off x="41568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1" name="PlaceHolder 3"/>
          <p:cNvSpPr>
            <a:spLocks noGrp="1"/>
          </p:cNvSpPr>
          <p:nvPr>
            <p:ph type="body"/>
          </p:nvPr>
        </p:nvSpPr>
        <p:spPr>
          <a:xfrm>
            <a:off x="623712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2" name="PlaceHolder 4"/>
          <p:cNvSpPr>
            <a:spLocks noGrp="1"/>
          </p:cNvSpPr>
          <p:nvPr>
            <p:ph type="body"/>
          </p:nvPr>
        </p:nvSpPr>
        <p:spPr>
          <a:xfrm>
            <a:off x="41568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3" name="PlaceHolder 5"/>
          <p:cNvSpPr>
            <a:spLocks noGrp="1"/>
          </p:cNvSpPr>
          <p:nvPr>
            <p:ph type="body"/>
          </p:nvPr>
        </p:nvSpPr>
        <p:spPr>
          <a:xfrm>
            <a:off x="623712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1514347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35" name="PlaceHolder 2"/>
          <p:cNvSpPr>
            <a:spLocks noGrp="1"/>
          </p:cNvSpPr>
          <p:nvPr>
            <p:ph type="body"/>
          </p:nvPr>
        </p:nvSpPr>
        <p:spPr>
          <a:xfrm>
            <a:off x="415680" y="115152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6" name="PlaceHolder 3"/>
          <p:cNvSpPr>
            <a:spLocks noGrp="1"/>
          </p:cNvSpPr>
          <p:nvPr>
            <p:ph type="body"/>
          </p:nvPr>
        </p:nvSpPr>
        <p:spPr>
          <a:xfrm>
            <a:off x="4256640" y="115152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7" name="PlaceHolder 4"/>
          <p:cNvSpPr>
            <a:spLocks noGrp="1"/>
          </p:cNvSpPr>
          <p:nvPr>
            <p:ph type="body"/>
          </p:nvPr>
        </p:nvSpPr>
        <p:spPr>
          <a:xfrm>
            <a:off x="8097600" y="115152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8" name="PlaceHolder 5"/>
          <p:cNvSpPr>
            <a:spLocks noGrp="1"/>
          </p:cNvSpPr>
          <p:nvPr>
            <p:ph type="body"/>
          </p:nvPr>
        </p:nvSpPr>
        <p:spPr>
          <a:xfrm>
            <a:off x="415680" y="353088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9" name="PlaceHolder 6"/>
          <p:cNvSpPr>
            <a:spLocks noGrp="1"/>
          </p:cNvSpPr>
          <p:nvPr>
            <p:ph type="body"/>
          </p:nvPr>
        </p:nvSpPr>
        <p:spPr>
          <a:xfrm>
            <a:off x="4256640" y="353088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40" name="PlaceHolder 7"/>
          <p:cNvSpPr>
            <a:spLocks noGrp="1"/>
          </p:cNvSpPr>
          <p:nvPr>
            <p:ph type="body"/>
          </p:nvPr>
        </p:nvSpPr>
        <p:spPr>
          <a:xfrm>
            <a:off x="8097600" y="353088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1405938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lgn="ctr"/>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85918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r>
              <a:rPr lang="en-US" sz="1800" b="1"/>
              <a:t>Analysis and Design of Algorithms </a:t>
            </a:r>
            <a:r>
              <a:rPr lang="en-US" sz="1800">
                <a:latin typeface="Roboto Condensed Light" panose="02000000000000000000" pitchFamily="2" charset="0"/>
                <a:ea typeface="Roboto Condensed Light" panose="02000000000000000000" pitchFamily="2" charset="0"/>
              </a:rPr>
              <a:t>(ADA</a:t>
            </a:r>
            <a:r>
              <a:rPr lang="en-US">
                <a:latin typeface="Roboto Condensed Light" panose="02000000000000000000" pitchFamily="2" charset="0"/>
                <a:ea typeface="Roboto Condensed Light" panose="02000000000000000000" pitchFamily="2" charset="0"/>
              </a:rPr>
              <a:t>)</a:t>
            </a:r>
          </a:p>
          <a:p>
            <a:r>
              <a:rPr lang="en-US">
                <a:latin typeface="Roboto Condensed Light" panose="02000000000000000000" pitchFamily="2" charset="0"/>
                <a:ea typeface="Roboto Condensed Light" panose="02000000000000000000" pitchFamily="2" charset="0"/>
              </a:rPr>
              <a:t>GTU # 3150703</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5" name="Picture 4"/>
          <p:cNvPicPr>
            <a:picLocks noChangeAspect="1"/>
          </p:cNvPicPr>
          <p:nvPr userDrawn="1"/>
        </p:nvPicPr>
        <p:blipFill>
          <a:blip r:embed="rId10"/>
          <a:stretch>
            <a:fillRect/>
          </a:stretch>
        </p:blipFill>
        <p:spPr>
          <a:xfrm>
            <a:off x="8565204" y="2657799"/>
            <a:ext cx="2103120" cy="2086689"/>
          </a:xfrm>
          <a:prstGeom prst="rect">
            <a:avLst/>
          </a:prstGeom>
        </p:spPr>
      </p:pic>
    </p:spTree>
    <p:extLst>
      <p:ext uri="{BB962C8B-B14F-4D97-AF65-F5344CB8AC3E}">
        <p14:creationId xmlns:p14="http://schemas.microsoft.com/office/powerpoint/2010/main" val="323278978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a:gradFill flip="none" rotWithShape="1">
                  <a:gsLst>
                    <a:gs pos="10000">
                      <a:srgbClr val="890E4F"/>
                    </a:gs>
                    <a:gs pos="100000">
                      <a:srgbClr val="D81A60"/>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Write here Section Subtitle</a:t>
            </a:r>
          </a:p>
        </p:txBody>
      </p:sp>
      <p:grpSp>
        <p:nvGrpSpPr>
          <p:cNvPr id="9" name="Group 8">
            <a:extLst>
              <a:ext uri="{FF2B5EF4-FFF2-40B4-BE49-F238E27FC236}">
                <a16:creationId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475644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736926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a:solidFill>
                  <a:schemeClr val="tx1">
                    <a:lumMod val="90000"/>
                    <a:lumOff val="10000"/>
                  </a:schemeClr>
                </a:solidFill>
                <a:effectLst/>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07489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4038600" y="6604000"/>
            <a:ext cx="429701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5106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6750733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4038599" y="6604000"/>
            <a:ext cx="427051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srcRect t="86739" r="1768" b="3535"/>
          <a:stretch>
            <a:fillRect/>
          </a:stretch>
        </p:blipFill>
        <p:spPr>
          <a:xfrm>
            <a:off x="0" y="0"/>
            <a:ext cx="12192000" cy="711201"/>
          </a:xfrm>
          <a:prstGeom prst="rect">
            <a:avLst/>
          </a:prstGeom>
          <a:solidFill>
            <a:srgbClr val="DFDFDF">
              <a:alpha val="49804"/>
            </a:srgbClr>
          </a:solidFill>
          <a:ln>
            <a:noFill/>
          </a:ln>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a:solidFill>
                  <a:schemeClr val="tx1">
                    <a:lumMod val="90000"/>
                    <a:lumOff val="10000"/>
                  </a:schemeClr>
                </a:solidFill>
                <a:effectLst/>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4840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8092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8654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582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080867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237420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06200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5600408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9CD21B45-1703-4330-B544-825BD8F37AF2}" type="datetimeFigureOut">
              <a:rPr lang="en-US" smtClean="0"/>
              <a:t>10/21/2026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6405758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4882099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82259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0509593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428533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158652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936891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389811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9"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1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13"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14"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15" name="Picture 14">
            <a:extLst>
              <a:ext uri="{FF2B5EF4-FFF2-40B4-BE49-F238E27FC236}">
                <a16:creationId xmlns:a16="http://schemas.microsoft.com/office/drawing/2014/main" id="{1917B14A-5130-41DB-8F00-6C6611C994DF}"/>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463267" y="5858350"/>
            <a:ext cx="3573889" cy="821995"/>
          </a:xfrm>
          <a:prstGeom prst="rect">
            <a:avLst/>
          </a:prstGeom>
        </p:spPr>
      </p:pic>
      <p:sp>
        <p:nvSpPr>
          <p:cNvPr id="18"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0" name="Picture 19">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1" name="Picture 20">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Tree>
    <p:extLst>
      <p:ext uri="{BB962C8B-B14F-4D97-AF65-F5344CB8AC3E}">
        <p14:creationId xmlns:p14="http://schemas.microsoft.com/office/powerpoint/2010/main" val="42873237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slideLayout" Target="../slideLayouts/slideLayout31.xml"/><Relationship Id="rId39" Type="http://schemas.openxmlformats.org/officeDocument/2006/relationships/image" Target="../media/image3.png"/><Relationship Id="rId21" Type="http://schemas.openxmlformats.org/officeDocument/2006/relationships/slideLayout" Target="../slideLayouts/slideLayout26.xml"/><Relationship Id="rId34" Type="http://schemas.openxmlformats.org/officeDocument/2006/relationships/slideLayout" Target="../slideLayouts/slideLayout39.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33" Type="http://schemas.openxmlformats.org/officeDocument/2006/relationships/slideLayout" Target="../slideLayouts/slideLayout38.xml"/><Relationship Id="rId38" Type="http://schemas.openxmlformats.org/officeDocument/2006/relationships/image" Target="../media/image2.png"/><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29" Type="http://schemas.openxmlformats.org/officeDocument/2006/relationships/slideLayout" Target="../slideLayouts/slideLayout34.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32" Type="http://schemas.openxmlformats.org/officeDocument/2006/relationships/slideLayout" Target="../slideLayouts/slideLayout37.xml"/><Relationship Id="rId37" Type="http://schemas.openxmlformats.org/officeDocument/2006/relationships/image" Target="../media/image1.png"/><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28" Type="http://schemas.openxmlformats.org/officeDocument/2006/relationships/slideLayout" Target="../slideLayouts/slideLayout33.xml"/><Relationship Id="rId36" Type="http://schemas.openxmlformats.org/officeDocument/2006/relationships/theme" Target="../theme/theme2.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31" Type="http://schemas.openxmlformats.org/officeDocument/2006/relationships/slideLayout" Target="../slideLayouts/slideLayout36.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 Id="rId27" Type="http://schemas.openxmlformats.org/officeDocument/2006/relationships/slideLayout" Target="../slideLayouts/slideLayout32.xml"/><Relationship Id="rId30" Type="http://schemas.openxmlformats.org/officeDocument/2006/relationships/slideLayout" Target="../slideLayouts/slideLayout35.xml"/><Relationship Id="rId35" Type="http://schemas.openxmlformats.org/officeDocument/2006/relationships/slideLayout" Target="../slideLayouts/slideLayout40.xml"/><Relationship Id="rId8" Type="http://schemas.openxmlformats.org/officeDocument/2006/relationships/slideLayout" Target="../slideLayouts/slideLayout13.xml"/><Relationship Id="rId3"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4914274"/>
      </p:ext>
    </p:extLst>
  </p:cSld>
  <p:clrMap bg1="lt1" tx1="dk1" bg2="dk2" tx2="lt2" accent1="accent1" accent2="accent2" accent3="accent3" accent4="accent4" accent5="accent5" accent6="accent6" hlink="hlink" folHlink="folHlink"/>
  <p:sldLayoutIdLst>
    <p:sldLayoutId id="2147483661" r:id="rId1"/>
    <p:sldLayoutId id="2147483665" r:id="rId2"/>
    <p:sldLayoutId id="2147483666" r:id="rId3"/>
    <p:sldLayoutId id="2147483667" r:id="rId4"/>
    <p:sldLayoutId id="214748366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Google Shape;6;p1"/>
          <p:cNvPicPr/>
          <p:nvPr/>
        </p:nvPicPr>
        <p:blipFill>
          <a:blip r:embed="rId37"/>
          <a:stretch/>
        </p:blipFill>
        <p:spPr>
          <a:xfrm>
            <a:off x="7680" y="2880"/>
            <a:ext cx="12176160" cy="6852000"/>
          </a:xfrm>
          <a:prstGeom prst="rect">
            <a:avLst/>
          </a:prstGeom>
          <a:ln>
            <a:noFill/>
          </a:ln>
        </p:spPr>
      </p:pic>
      <p:pic>
        <p:nvPicPr>
          <p:cNvPr id="6" name="Google Shape;7;p1"/>
          <p:cNvPicPr/>
          <p:nvPr/>
        </p:nvPicPr>
        <p:blipFill>
          <a:blip r:embed="rId38"/>
          <a:stretch/>
        </p:blipFill>
        <p:spPr>
          <a:xfrm>
            <a:off x="-17280" y="-2880"/>
            <a:ext cx="12201600" cy="6857760"/>
          </a:xfrm>
          <a:prstGeom prst="rect">
            <a:avLst/>
          </a:prstGeom>
          <a:ln>
            <a:noFill/>
          </a:ln>
        </p:spPr>
      </p:pic>
      <p:pic>
        <p:nvPicPr>
          <p:cNvPr id="2" name="Google Shape;10;p1"/>
          <p:cNvPicPr/>
          <p:nvPr/>
        </p:nvPicPr>
        <p:blipFill>
          <a:blip r:embed="rId39"/>
          <a:stretch/>
        </p:blipFill>
        <p:spPr>
          <a:xfrm>
            <a:off x="9817920" y="198240"/>
            <a:ext cx="1993440" cy="494880"/>
          </a:xfrm>
          <a:prstGeom prst="rect">
            <a:avLst/>
          </a:prstGeom>
          <a:ln>
            <a:noFill/>
          </a:ln>
        </p:spPr>
      </p:pic>
      <p:sp>
        <p:nvSpPr>
          <p:cNvPr id="3" name="PlaceHolder 1"/>
          <p:cNvSpPr>
            <a:spLocks noGrp="1"/>
          </p:cNvSpPr>
          <p:nvPr>
            <p:ph type="title"/>
          </p:nvPr>
        </p:nvSpPr>
        <p:spPr>
          <a:xfrm>
            <a:off x="415680" y="992640"/>
            <a:ext cx="11360160" cy="2736480"/>
          </a:xfrm>
          <a:prstGeom prst="rect">
            <a:avLst/>
          </a:prstGeom>
        </p:spPr>
        <p:txBody>
          <a:bodyPr tIns="91440" bIns="91440" anchor="b">
            <a:normAutofit/>
          </a:bodyPr>
          <a:lstStyle/>
          <a:p>
            <a:pPr algn="ctr"/>
            <a:r>
              <a:rPr lang="en-US" sz="6933" b="0" strike="noStrike" spc="-1">
                <a:solidFill>
                  <a:srgbClr val="000000"/>
                </a:solidFill>
                <a:latin typeface="Arial"/>
              </a:rPr>
              <a:t>Click to edit the title text format</a:t>
            </a:r>
          </a:p>
        </p:txBody>
      </p:sp>
      <p:sp>
        <p:nvSpPr>
          <p:cNvPr id="4" name="PlaceHolder 2"/>
          <p:cNvSpPr>
            <a:spLocks noGrp="1"/>
          </p:cNvSpPr>
          <p:nvPr>
            <p:ph type="body"/>
          </p:nvPr>
        </p:nvSpPr>
        <p:spPr>
          <a:xfrm>
            <a:off x="609600" y="1604640"/>
            <a:ext cx="1097232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67" b="0" strike="noStrike" spc="-1">
                <a:solidFill>
                  <a:srgbClr val="000000"/>
                </a:solidFill>
                <a:latin typeface="Arial"/>
              </a:rPr>
              <a:t>Click to edit the outline text format</a:t>
            </a:r>
          </a:p>
          <a:p>
            <a:pPr marL="1151971" lvl="1" indent="-431989">
              <a:spcBef>
                <a:spcPts val="1512"/>
              </a:spcBef>
              <a:buClr>
                <a:srgbClr val="000000"/>
              </a:buClr>
              <a:buSzPct val="75000"/>
              <a:buFont typeface="Symbol" charset="2"/>
              <a:buChar char=""/>
            </a:pPr>
            <a:r>
              <a:rPr lang="en-US" sz="1867" b="0" strike="noStrike" spc="-1">
                <a:solidFill>
                  <a:srgbClr val="000000"/>
                </a:solidFill>
                <a:latin typeface="Arial"/>
              </a:rPr>
              <a:t>Second Outline Level</a:t>
            </a:r>
          </a:p>
          <a:p>
            <a:pPr marL="1727957" lvl="2" indent="-383990">
              <a:spcBef>
                <a:spcPts val="1133"/>
              </a:spcBef>
              <a:buClr>
                <a:srgbClr val="000000"/>
              </a:buClr>
              <a:buSzPct val="45000"/>
              <a:buFont typeface="Wingdings" charset="2"/>
              <a:buChar char=""/>
            </a:pPr>
            <a:r>
              <a:rPr lang="en-US" sz="1867" b="0" strike="noStrike" spc="-1">
                <a:solidFill>
                  <a:srgbClr val="000000"/>
                </a:solidFill>
                <a:latin typeface="Arial"/>
              </a:rPr>
              <a:t>Third Outline Level</a:t>
            </a:r>
          </a:p>
          <a:p>
            <a:pPr marL="2303942" lvl="3" indent="-287993">
              <a:spcBef>
                <a:spcPts val="756"/>
              </a:spcBef>
              <a:buClr>
                <a:srgbClr val="000000"/>
              </a:buClr>
              <a:buSzPct val="75000"/>
              <a:buFont typeface="Symbol" charset="2"/>
              <a:buChar char=""/>
            </a:pPr>
            <a:r>
              <a:rPr lang="en-US" sz="1867" b="0" strike="noStrike" spc="-1">
                <a:solidFill>
                  <a:srgbClr val="000000"/>
                </a:solidFill>
                <a:latin typeface="Arial"/>
              </a:rPr>
              <a:t>Fourth Outline Level</a:t>
            </a:r>
          </a:p>
          <a:p>
            <a:pPr marL="2879928" lvl="4" indent="-287993">
              <a:spcBef>
                <a:spcPts val="377"/>
              </a:spcBef>
              <a:buClr>
                <a:srgbClr val="000000"/>
              </a:buClr>
              <a:buSzPct val="45000"/>
              <a:buFont typeface="Wingdings" charset="2"/>
              <a:buChar char=""/>
            </a:pPr>
            <a:r>
              <a:rPr lang="en-US" sz="2667" b="0" strike="noStrike" spc="-1">
                <a:solidFill>
                  <a:srgbClr val="000000"/>
                </a:solidFill>
                <a:latin typeface="Arial"/>
              </a:rPr>
              <a:t>Fifth Outline Level</a:t>
            </a:r>
          </a:p>
          <a:p>
            <a:pPr marL="3455914" lvl="5" indent="-287993">
              <a:spcBef>
                <a:spcPts val="377"/>
              </a:spcBef>
              <a:buClr>
                <a:srgbClr val="000000"/>
              </a:buClr>
              <a:buSzPct val="45000"/>
              <a:buFont typeface="Wingdings" charset="2"/>
              <a:buChar char=""/>
            </a:pPr>
            <a:r>
              <a:rPr lang="en-US" sz="2667" b="0" strike="noStrike" spc="-1">
                <a:solidFill>
                  <a:srgbClr val="000000"/>
                </a:solidFill>
                <a:latin typeface="Arial"/>
              </a:rPr>
              <a:t>Sixth Outline Level</a:t>
            </a:r>
          </a:p>
          <a:p>
            <a:pPr marL="4031899" lvl="6" indent="-287993">
              <a:spcBef>
                <a:spcPts val="377"/>
              </a:spcBef>
              <a:buClr>
                <a:srgbClr val="000000"/>
              </a:buClr>
              <a:buSzPct val="45000"/>
              <a:buFont typeface="Wingdings" charset="2"/>
              <a:buChar char=""/>
            </a:pPr>
            <a:r>
              <a:rPr lang="en-US" sz="2667" b="0" strike="noStrike" spc="-1">
                <a:solidFill>
                  <a:srgbClr val="000000"/>
                </a:solidFill>
                <a:latin typeface="Arial"/>
              </a:rPr>
              <a:t>Seventh Outline Level</a:t>
            </a:r>
          </a:p>
        </p:txBody>
      </p:sp>
    </p:spTree>
    <p:extLst>
      <p:ext uri="{BB962C8B-B14F-4D97-AF65-F5344CB8AC3E}">
        <p14:creationId xmlns:p14="http://schemas.microsoft.com/office/powerpoint/2010/main" val="47532003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 id="2147483703" r:id="rId34"/>
    <p:sldLayoutId id="2147483704" r:id="rId35"/>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microsoft.com/office/2007/relationships/hdphoto" Target="../media/hdphoto3.wdp"/><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9.png"/><Relationship Id="rId7" Type="http://schemas.microsoft.com/office/2007/relationships/hdphoto" Target="../media/hdphoto4.wdp"/><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1.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9.png"/><Relationship Id="rId7"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9.png"/><Relationship Id="rId7"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21.png"/><Relationship Id="rId10" Type="http://schemas.openxmlformats.org/officeDocument/2006/relationships/image" Target="../media/image46.png"/><Relationship Id="rId4" Type="http://schemas.openxmlformats.org/officeDocument/2006/relationships/image" Target="../media/image20.png"/><Relationship Id="rId9"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21.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21.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21.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21.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21.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21.png"/><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21.pn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21.png"/><Relationship Id="rId4" Type="http://schemas.openxmlformats.org/officeDocument/2006/relationships/image" Target="../media/image20.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0" y="6334"/>
            <a:ext cx="12179300" cy="6845300"/>
          </a:xfrm>
          <a:prstGeom prst="rect">
            <a:avLst/>
          </a:prstGeom>
          <a:noFill/>
          <a:ln>
            <a:noFill/>
          </a:ln>
        </p:spPr>
      </p:pic>
      <p:pic>
        <p:nvPicPr>
          <p:cNvPr id="171" name="Google Shape;171;p22"/>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11" name="Google Shape;71;p15"/>
          <p:cNvSpPr txBox="1"/>
          <p:nvPr/>
        </p:nvSpPr>
        <p:spPr>
          <a:xfrm>
            <a:off x="445083" y="2794392"/>
            <a:ext cx="6441204" cy="1138733"/>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spcBef>
                <a:spcPts val="12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rPr>
              <a:t>Unit – 6</a:t>
            </a:r>
          </a:p>
          <a:p>
            <a:r>
              <a:rPr lang="en-IN" sz="2400" b="1" kern="0" dirty="0">
                <a:solidFill>
                  <a:srgbClr val="000000"/>
                </a:solidFill>
                <a:latin typeface="Trebuchet MS" panose="020B0603020202020204" pitchFamily="34" charset="0"/>
              </a:rPr>
              <a:t>NP-Complete and Approximation Algorithm</a:t>
            </a:r>
          </a:p>
        </p:txBody>
      </p:sp>
      <p:sp>
        <p:nvSpPr>
          <p:cNvPr id="12" name="Google Shape;73;p15"/>
          <p:cNvSpPr txBox="1"/>
          <p:nvPr/>
        </p:nvSpPr>
        <p:spPr>
          <a:xfrm>
            <a:off x="445083" y="4576792"/>
            <a:ext cx="3825165" cy="1631175"/>
          </a:xfrm>
          <a:prstGeom prst="rect">
            <a:avLst/>
          </a:prstGeom>
          <a:noFill/>
          <a:ln>
            <a:noFill/>
          </a:ln>
        </p:spPr>
        <p:txBody>
          <a:bodyPr spcFirstLastPara="1" wrap="square" lIns="121900" tIns="121900" rIns="121900" bIns="121900" anchor="t" anchorCtr="0">
            <a:spAutoFit/>
          </a:bodyPr>
          <a:lstStyle/>
          <a:p>
            <a:pPr defTabSz="1219170">
              <a:spcBef>
                <a:spcPts val="600"/>
              </a:spcBef>
              <a:spcAft>
                <a:spcPts val="600"/>
              </a:spcAft>
              <a:buClr>
                <a:srgbClr val="000000"/>
              </a:buClr>
              <a:defRPr/>
            </a:pPr>
            <a:r>
              <a:rPr lang="en-US" sz="2000" b="1" dirty="0">
                <a:latin typeface="Trebuchet MS" panose="020B0603020202020204" pitchFamily="34" charset="0"/>
              </a:rPr>
              <a:t>Prepared by</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Prof. </a:t>
            </a:r>
            <a:r>
              <a:rPr lang="en-US" sz="2000" b="1" kern="0" dirty="0">
                <a:solidFill>
                  <a:srgbClr val="000000"/>
                </a:solidFill>
                <a:latin typeface="Trebuchet MS" panose="020B0603020202020204" pitchFamily="34" charset="0"/>
                <a:cs typeface="Arial"/>
                <a:sym typeface="Arial"/>
              </a:rPr>
              <a:t>Abhishek Chauhan</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CSE- AI, ML &amp; DS Department</a:t>
            </a:r>
            <a:endParaRPr kumimoji="0"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
        <p:nvSpPr>
          <p:cNvPr id="13" name="Google Shape;71;p15"/>
          <p:cNvSpPr txBox="1"/>
          <p:nvPr/>
        </p:nvSpPr>
        <p:spPr>
          <a:xfrm>
            <a:off x="445083" y="1072056"/>
            <a:ext cx="8182724" cy="615513"/>
          </a:xfrm>
          <a:prstGeom prst="rect">
            <a:avLst/>
          </a:prstGeom>
          <a:noFill/>
          <a:ln>
            <a:noFill/>
          </a:ln>
        </p:spPr>
        <p:txBody>
          <a:bodyPr spcFirstLastPara="1" wrap="square" lIns="121900" tIns="121900" rIns="121900" bIns="121900" anchor="t" anchorCtr="0">
            <a:spAutoFit/>
          </a:bodyPr>
          <a:lstStyle/>
          <a:p>
            <a:pPr lvl="0" defTabSz="1219170">
              <a:buClr>
                <a:srgbClr val="000000"/>
              </a:buClr>
              <a:defRPr/>
            </a:pPr>
            <a:r>
              <a:rPr lang="en-IN" sz="2400" b="1" kern="0" dirty="0">
                <a:solidFill>
                  <a:srgbClr val="000000"/>
                </a:solidFill>
                <a:latin typeface="Trebuchet MS" panose="020B0603020202020204" pitchFamily="34" charset="0"/>
                <a:ea typeface="Proxima Nova"/>
                <a:cs typeface="Proxima Nova"/>
                <a:sym typeface="Proxima Nova"/>
              </a:rPr>
              <a:t>01AI0506 </a:t>
            </a:r>
            <a:r>
              <a:rPr kumimoji="0" lang="en-IN"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rPr>
              <a:t>- </a:t>
            </a:r>
            <a:r>
              <a:rPr kumimoji="0" lang="en-IN"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Arial"/>
              </a:rPr>
              <a:t>Design and Analysis of Algorithm</a:t>
            </a:r>
            <a:endParaRPr kumimoji="0" lang="en-IN"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Intractable Problems</a:t>
            </a:r>
            <a:endParaRPr lang="en-US" sz="3200" b="1" dirty="0">
              <a:solidFill>
                <a:schemeClr val="bg1"/>
              </a:solidFill>
              <a:latin typeface="Corbel" panose="020B0503020204020204" pitchFamily="34" charset="0"/>
              <a:ea typeface="+mj-ea"/>
              <a:cs typeface="+mj-cs"/>
            </a:endParaRPr>
          </a:p>
        </p:txBody>
      </p:sp>
      <p:sp>
        <p:nvSpPr>
          <p:cNvPr id="3" name="Rectangle 2"/>
          <p:cNvSpPr/>
          <p:nvPr/>
        </p:nvSpPr>
        <p:spPr>
          <a:xfrm>
            <a:off x="228375" y="946409"/>
            <a:ext cx="11722549"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In computational theory and problem-solving, </a:t>
            </a:r>
            <a:r>
              <a:rPr lang="en-US" sz="2400" b="1" dirty="0">
                <a:solidFill>
                  <a:srgbClr val="0070C0"/>
                </a:solidFill>
                <a:latin typeface="Trebuchet MS" panose="020B0603020202020204" pitchFamily="34" charset="0"/>
              </a:rPr>
              <a:t>tractable</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and</a:t>
            </a:r>
            <a:r>
              <a:rPr lang="en-US" sz="2400" dirty="0">
                <a:solidFill>
                  <a:srgbClr val="0070C0"/>
                </a:solidFill>
                <a:latin typeface="Trebuchet MS" panose="020B0603020202020204" pitchFamily="34" charset="0"/>
              </a:rPr>
              <a:t> </a:t>
            </a:r>
            <a:r>
              <a:rPr lang="en-US" sz="2400" b="1" dirty="0">
                <a:solidFill>
                  <a:srgbClr val="0070C0"/>
                </a:solidFill>
                <a:latin typeface="Trebuchet MS" panose="020B0603020202020204" pitchFamily="34" charset="0"/>
              </a:rPr>
              <a:t>intractable</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problems describe the </a:t>
            </a:r>
            <a:r>
              <a:rPr lang="en-US" sz="2400" dirty="0">
                <a:solidFill>
                  <a:srgbClr val="0070C0"/>
                </a:solidFill>
                <a:latin typeface="Trebuchet MS" panose="020B0603020202020204" pitchFamily="34" charset="0"/>
              </a:rPr>
              <a:t>ease </a:t>
            </a:r>
            <a:r>
              <a:rPr lang="en-US" sz="2400" dirty="0">
                <a:latin typeface="Trebuchet MS" panose="020B0603020202020204" pitchFamily="34" charset="0"/>
              </a:rPr>
              <a:t>or</a:t>
            </a:r>
            <a:r>
              <a:rPr lang="en-US" sz="2400" dirty="0">
                <a:solidFill>
                  <a:srgbClr val="0070C0"/>
                </a:solidFill>
                <a:latin typeface="Trebuchet MS" panose="020B0603020202020204" pitchFamily="34" charset="0"/>
              </a:rPr>
              <a:t> difficulty of finding a solution </a:t>
            </a:r>
            <a:r>
              <a:rPr lang="en-US" sz="2400" dirty="0">
                <a:latin typeface="Trebuchet MS" panose="020B0603020202020204" pitchFamily="34" charset="0"/>
              </a:rPr>
              <a:t>using algorithms.</a:t>
            </a:r>
          </a:p>
          <a:p>
            <a:pPr marL="342900" indent="-342900">
              <a:lnSpc>
                <a:spcPct val="150000"/>
              </a:lnSpc>
              <a:buFont typeface="Arial" panose="020B0604020202020204" pitchFamily="34" charset="0"/>
              <a:buChar char="•"/>
            </a:pPr>
            <a:r>
              <a:rPr lang="en-US" sz="2400" dirty="0">
                <a:latin typeface="Trebuchet MS" panose="020B0603020202020204" pitchFamily="34" charset="0"/>
              </a:rPr>
              <a:t>Understanding this distinction is crucial in computer science, especially in areas like algorithm design, artificial intelligence, and optimization.</a:t>
            </a:r>
          </a:p>
          <a:p>
            <a:pPr>
              <a:lnSpc>
                <a:spcPct val="150000"/>
              </a:lnSpc>
            </a:pPr>
            <a:r>
              <a:rPr lang="en-US" sz="2400" dirty="0">
                <a:solidFill>
                  <a:srgbClr val="0070C0"/>
                </a:solidFill>
                <a:latin typeface="Trebuchet MS" panose="020B0603020202020204" pitchFamily="34" charset="0"/>
              </a:rPr>
              <a:t>Tractable Problems</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Tractable problems are those for which an algorithm can solve the problem efficiently, typically within polynomial time.</a:t>
            </a:r>
          </a:p>
          <a:p>
            <a:pPr marL="342900"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Definition: </a:t>
            </a:r>
            <a:r>
              <a:rPr lang="en-US" sz="2400" dirty="0">
                <a:latin typeface="Trebuchet MS" panose="020B0603020202020204" pitchFamily="34" charset="0"/>
              </a:rPr>
              <a:t>Problems that can be solved in a reasonable amount of time (e.g., linear, quadratic, cubic time complexity).</a:t>
            </a:r>
            <a:endParaRPr lang="en-IN" sz="2200" dirty="0">
              <a:latin typeface="Trebuchet MS" panose="020B0603020202020204" pitchFamily="34" charset="0"/>
            </a:endParaRPr>
          </a:p>
        </p:txBody>
      </p:sp>
    </p:spTree>
    <p:extLst>
      <p:ext uri="{BB962C8B-B14F-4D97-AF65-F5344CB8AC3E}">
        <p14:creationId xmlns:p14="http://schemas.microsoft.com/office/powerpoint/2010/main" val="2725415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Intractable Problems</a:t>
            </a:r>
            <a:endParaRPr lang="en-US" sz="3200" b="1" dirty="0">
              <a:solidFill>
                <a:schemeClr val="bg1"/>
              </a:solidFill>
              <a:latin typeface="Corbel" panose="020B0503020204020204" pitchFamily="34" charset="0"/>
              <a:ea typeface="+mj-ea"/>
              <a:cs typeface="+mj-cs"/>
            </a:endParaRPr>
          </a:p>
        </p:txBody>
      </p:sp>
      <p:sp>
        <p:nvSpPr>
          <p:cNvPr id="3" name="Rectangle 2"/>
          <p:cNvSpPr/>
          <p:nvPr/>
        </p:nvSpPr>
        <p:spPr>
          <a:xfrm>
            <a:off x="370943" y="1459952"/>
            <a:ext cx="11152431"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Examples:</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Sorting algorithms - merge sort, quick sort</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Searching algorithms - binary search</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Shortest path algorithms - </a:t>
            </a:r>
            <a:r>
              <a:rPr lang="en-US" sz="2400" dirty="0" err="1">
                <a:latin typeface="Trebuchet MS" panose="020B0603020202020204" pitchFamily="34" charset="0"/>
              </a:rPr>
              <a:t>Dijkstra's</a:t>
            </a:r>
            <a:r>
              <a:rPr lang="en-US" sz="2400" dirty="0">
                <a:latin typeface="Trebuchet MS" panose="020B0603020202020204" pitchFamily="34" charset="0"/>
              </a:rPr>
              <a:t> algorithm</a:t>
            </a:r>
          </a:p>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Real-World Example:</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Scheduling meetings or finding the shortest driving route between two cities on a map are considered tractable problems.</a:t>
            </a:r>
            <a:endParaRPr lang="en-US" sz="3200" dirty="0">
              <a:latin typeface="Trebuchet MS" panose="020B0603020202020204" pitchFamily="34" charset="0"/>
            </a:endParaRPr>
          </a:p>
        </p:txBody>
      </p:sp>
    </p:spTree>
    <p:extLst>
      <p:ext uri="{BB962C8B-B14F-4D97-AF65-F5344CB8AC3E}">
        <p14:creationId xmlns:p14="http://schemas.microsoft.com/office/powerpoint/2010/main" val="804332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Intractable Problems</a:t>
            </a:r>
            <a:endParaRPr lang="en-US" sz="3200" b="1" dirty="0">
              <a:solidFill>
                <a:schemeClr val="bg1"/>
              </a:solidFill>
              <a:latin typeface="Corbel" panose="020B0503020204020204" pitchFamily="34" charset="0"/>
              <a:ea typeface="+mj-ea"/>
              <a:cs typeface="+mj-cs"/>
            </a:endParaRPr>
          </a:p>
        </p:txBody>
      </p:sp>
      <p:sp>
        <p:nvSpPr>
          <p:cNvPr id="4" name="Rectangle 3"/>
          <p:cNvSpPr/>
          <p:nvPr/>
        </p:nvSpPr>
        <p:spPr>
          <a:xfrm>
            <a:off x="565323" y="1410592"/>
            <a:ext cx="10958051" cy="3970318"/>
          </a:xfrm>
          <a:prstGeom prst="rect">
            <a:avLst/>
          </a:prstGeom>
        </p:spPr>
        <p:txBody>
          <a:bodyPr wrap="square">
            <a:spAutoFit/>
          </a:bodyPr>
          <a:lstStyle/>
          <a:p>
            <a:pPr>
              <a:lnSpc>
                <a:spcPct val="150000"/>
              </a:lnSpc>
            </a:pPr>
            <a:r>
              <a:rPr lang="en-US" sz="2400" b="1" dirty="0">
                <a:latin typeface="Trebuchet MS" panose="020B0603020202020204" pitchFamily="34" charset="0"/>
              </a:rPr>
              <a:t>Intractable Problems</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Intractable problems are those for which no efficient algorithm is known to solve them within polynomial time.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 time required grows exponentially or </a:t>
            </a:r>
            <a:r>
              <a:rPr lang="en-US" sz="2400" dirty="0" err="1">
                <a:latin typeface="Trebuchet MS" panose="020B0603020202020204" pitchFamily="34" charset="0"/>
              </a:rPr>
              <a:t>factorially</a:t>
            </a:r>
            <a:r>
              <a:rPr lang="en-US" sz="2400" dirty="0">
                <a:latin typeface="Trebuchet MS" panose="020B0603020202020204" pitchFamily="34" charset="0"/>
              </a:rPr>
              <a:t> with the size of the input, making them impractical to solve for large inputs.</a:t>
            </a:r>
          </a:p>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Definition</a:t>
            </a:r>
            <a:r>
              <a:rPr lang="en-US" sz="2400" dirty="0">
                <a:solidFill>
                  <a:srgbClr val="0070C0"/>
                </a:solidFill>
                <a:latin typeface="Trebuchet MS" panose="020B0603020202020204" pitchFamily="34" charset="0"/>
              </a:rPr>
              <a:t>:</a:t>
            </a:r>
            <a:r>
              <a:rPr lang="en-US" sz="2400" dirty="0">
                <a:latin typeface="Trebuchet MS" panose="020B0603020202020204" pitchFamily="34" charset="0"/>
              </a:rPr>
              <a:t> Problems that cannot be solved efficiently or are computationally expensive.</a:t>
            </a:r>
          </a:p>
        </p:txBody>
      </p:sp>
    </p:spTree>
    <p:extLst>
      <p:ext uri="{BB962C8B-B14F-4D97-AF65-F5344CB8AC3E}">
        <p14:creationId xmlns:p14="http://schemas.microsoft.com/office/powerpoint/2010/main" val="2316004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Intractable Problems</a:t>
            </a:r>
            <a:endParaRPr lang="en-US" sz="3200" b="1" dirty="0">
              <a:solidFill>
                <a:schemeClr val="bg1"/>
              </a:solidFill>
              <a:latin typeface="Corbel" panose="020B0503020204020204" pitchFamily="34" charset="0"/>
              <a:ea typeface="+mj-ea"/>
              <a:cs typeface="+mj-cs"/>
            </a:endParaRPr>
          </a:p>
        </p:txBody>
      </p:sp>
      <p:sp>
        <p:nvSpPr>
          <p:cNvPr id="4" name="Rectangle 3"/>
          <p:cNvSpPr/>
          <p:nvPr/>
        </p:nvSpPr>
        <p:spPr>
          <a:xfrm>
            <a:off x="368710" y="1333278"/>
            <a:ext cx="11154664"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Examples:</a:t>
            </a:r>
          </a:p>
          <a:p>
            <a:pPr marL="1257300" lvl="2" indent="-342900">
              <a:lnSpc>
                <a:spcPct val="150000"/>
              </a:lnSpc>
              <a:buFont typeface="Wingdings" panose="05000000000000000000" pitchFamily="2" charset="2"/>
              <a:buChar char="ü"/>
            </a:pPr>
            <a:r>
              <a:rPr lang="en-US" sz="2400" b="1" dirty="0">
                <a:latin typeface="Trebuchet MS" panose="020B0603020202020204" pitchFamily="34" charset="0"/>
              </a:rPr>
              <a:t>The Traveling Salesman Problem </a:t>
            </a:r>
          </a:p>
          <a:p>
            <a:pPr marL="1257300" lvl="2" indent="-342900">
              <a:lnSpc>
                <a:spcPct val="150000"/>
              </a:lnSpc>
              <a:buFont typeface="Wingdings" panose="05000000000000000000" pitchFamily="2" charset="2"/>
              <a:buChar char="ü"/>
            </a:pPr>
            <a:r>
              <a:rPr lang="en-US" sz="2400" b="1" dirty="0">
                <a:latin typeface="Trebuchet MS" panose="020B0603020202020204" pitchFamily="34" charset="0"/>
              </a:rPr>
              <a:t>Graph coloring problems</a:t>
            </a:r>
          </a:p>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Real-World Example:</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Determining the optimal routes for a fleet of delivery trucks when the number of locations is very large (TSP).</a:t>
            </a:r>
          </a:p>
          <a:p>
            <a:pPr lvl="2">
              <a:lnSpc>
                <a:spcPct val="150000"/>
              </a:lnSpc>
            </a:pPr>
            <a:endParaRPr lang="en-US" sz="2400" b="1" dirty="0">
              <a:latin typeface="Trebuchet MS" panose="020B0603020202020204" pitchFamily="34" charset="0"/>
            </a:endParaRPr>
          </a:p>
        </p:txBody>
      </p:sp>
    </p:spTree>
    <p:extLst>
      <p:ext uri="{BB962C8B-B14F-4D97-AF65-F5344CB8AC3E}">
        <p14:creationId xmlns:p14="http://schemas.microsoft.com/office/powerpoint/2010/main" val="1240491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Polynomial Time Algorithms</a:t>
            </a:r>
          </a:p>
        </p:txBody>
      </p:sp>
      <p:sp>
        <p:nvSpPr>
          <p:cNvPr id="3" name="Rectangle 2"/>
          <p:cNvSpPr/>
          <p:nvPr/>
        </p:nvSpPr>
        <p:spPr>
          <a:xfrm>
            <a:off x="387751" y="1376811"/>
            <a:ext cx="11135623" cy="4524315"/>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Polynomial time algorithms are </a:t>
            </a:r>
            <a:r>
              <a:rPr lang="en-US" sz="2400" dirty="0">
                <a:solidFill>
                  <a:srgbClr val="0070C0"/>
                </a:solidFill>
                <a:latin typeface="Trebuchet MS" panose="020B0603020202020204" pitchFamily="34" charset="0"/>
              </a:rPr>
              <a:t>fundamental</a:t>
            </a:r>
            <a:r>
              <a:rPr lang="en-US" sz="2400" dirty="0">
                <a:latin typeface="Trebuchet MS" panose="020B0603020202020204" pitchFamily="34" charset="0"/>
              </a:rPr>
              <a:t> in computational theory and computer science.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These algorithms solve problems in a </a:t>
            </a:r>
            <a:r>
              <a:rPr lang="en-US" sz="2400" dirty="0">
                <a:solidFill>
                  <a:srgbClr val="0070C0"/>
                </a:solidFill>
                <a:latin typeface="Trebuchet MS" panose="020B0603020202020204" pitchFamily="34" charset="0"/>
              </a:rPr>
              <a:t>time</a:t>
            </a:r>
            <a:r>
              <a:rPr lang="en-US" sz="2400" dirty="0">
                <a:latin typeface="Trebuchet MS" panose="020B0603020202020204" pitchFamily="34" charset="0"/>
              </a:rPr>
              <a:t> that can be expressed as a </a:t>
            </a:r>
            <a:r>
              <a:rPr lang="en-US" sz="2400" dirty="0">
                <a:solidFill>
                  <a:srgbClr val="0070C0"/>
                </a:solidFill>
                <a:latin typeface="Trebuchet MS" panose="020B0603020202020204" pitchFamily="34" charset="0"/>
              </a:rPr>
              <a:t>polynomial function of the size of the input</a:t>
            </a:r>
            <a:r>
              <a:rPr lang="en-US" sz="2400" dirty="0">
                <a:latin typeface="Trebuchet MS" panose="020B0603020202020204" pitchFamily="34" charset="0"/>
              </a:rPr>
              <a:t>, making them </a:t>
            </a:r>
            <a:r>
              <a:rPr lang="en-US" sz="2400" dirty="0">
                <a:solidFill>
                  <a:srgbClr val="0070C0"/>
                </a:solidFill>
                <a:latin typeface="Trebuchet MS" panose="020B0603020202020204" pitchFamily="34" charset="0"/>
              </a:rPr>
              <a:t>efficient</a:t>
            </a:r>
            <a:r>
              <a:rPr lang="en-US" sz="2400" dirty="0">
                <a:latin typeface="Trebuchet MS" panose="020B0603020202020204" pitchFamily="34" charset="0"/>
              </a:rPr>
              <a:t> and </a:t>
            </a:r>
            <a:r>
              <a:rPr lang="en-US" sz="2400" dirty="0">
                <a:solidFill>
                  <a:srgbClr val="0070C0"/>
                </a:solidFill>
                <a:latin typeface="Trebuchet MS" panose="020B0603020202020204" pitchFamily="34" charset="0"/>
              </a:rPr>
              <a:t>practical</a:t>
            </a:r>
            <a:r>
              <a:rPr lang="en-US" sz="2400" dirty="0">
                <a:latin typeface="Trebuchet MS" panose="020B0603020202020204" pitchFamily="34" charset="0"/>
              </a:rPr>
              <a:t> for many applications.</a:t>
            </a:r>
          </a:p>
          <a:p>
            <a:pPr>
              <a:lnSpc>
                <a:spcPct val="150000"/>
              </a:lnSpc>
            </a:pPr>
            <a:r>
              <a:rPr lang="en-US" sz="2400" b="1" dirty="0">
                <a:solidFill>
                  <a:srgbClr val="C00000"/>
                </a:solidFill>
                <a:latin typeface="Trebuchet MS" panose="020B0603020202020204" pitchFamily="34" charset="0"/>
              </a:rPr>
              <a:t>Definition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A polynomial time algorithm is one whose running time is bounded by a polynomial expression in the size of the input (denoted as 𝑛).</a:t>
            </a:r>
          </a:p>
        </p:txBody>
      </p:sp>
    </p:spTree>
    <p:extLst>
      <p:ext uri="{BB962C8B-B14F-4D97-AF65-F5344CB8AC3E}">
        <p14:creationId xmlns:p14="http://schemas.microsoft.com/office/powerpoint/2010/main" val="2447741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Polynomial Time Algorithms</a:t>
            </a:r>
          </a:p>
        </p:txBody>
      </p:sp>
      <p:sp>
        <p:nvSpPr>
          <p:cNvPr id="3" name="Rectangle 2"/>
          <p:cNvSpPr/>
          <p:nvPr/>
        </p:nvSpPr>
        <p:spPr>
          <a:xfrm>
            <a:off x="280932" y="883493"/>
            <a:ext cx="11694758" cy="6376233"/>
          </a:xfrm>
          <a:prstGeom prst="rect">
            <a:avLst/>
          </a:prstGeom>
        </p:spPr>
        <p:txBody>
          <a:bodyPr wrap="square">
            <a:spAutoFit/>
          </a:bodyPr>
          <a:lstStyle/>
          <a:p>
            <a:pPr>
              <a:lnSpc>
                <a:spcPts val="3800"/>
              </a:lnSpc>
            </a:pPr>
            <a:r>
              <a:rPr lang="en-IN" sz="2400" b="1" dirty="0">
                <a:solidFill>
                  <a:srgbClr val="0070C0"/>
                </a:solidFill>
              </a:rPr>
              <a:t>What Is Polynomial Time? </a:t>
            </a:r>
          </a:p>
          <a:p>
            <a:pPr marL="342900" indent="-342900">
              <a:lnSpc>
                <a:spcPts val="3800"/>
              </a:lnSpc>
              <a:buFont typeface="Arial" panose="020B0604020202020204" pitchFamily="34" charset="0"/>
              <a:buChar char="•"/>
            </a:pPr>
            <a:r>
              <a:rPr lang="en-US" sz="2400" dirty="0"/>
              <a:t>If the running time T(n) of an algorithm is proportional to a polynomial expression of the input size n, such as:</a:t>
            </a:r>
          </a:p>
          <a:p>
            <a:pPr>
              <a:lnSpc>
                <a:spcPts val="3800"/>
              </a:lnSpc>
            </a:pPr>
            <a:r>
              <a:rPr lang="en-IN" sz="2400" dirty="0"/>
              <a:t>			</a:t>
            </a:r>
            <a:r>
              <a:rPr lang="en-IN" sz="2400" b="1" dirty="0">
                <a:solidFill>
                  <a:srgbClr val="C00000"/>
                </a:solidFill>
              </a:rPr>
              <a:t>T(n) = O(</a:t>
            </a:r>
            <a:r>
              <a:rPr lang="en-US" sz="2400" b="1" dirty="0">
                <a:solidFill>
                  <a:srgbClr val="C00000"/>
                </a:solidFill>
                <a:latin typeface="Cambria Math" panose="02040503050406030204" pitchFamily="18" charset="0"/>
                <a:ea typeface="Times New Roman" panose="02020603050405020304" pitchFamily="18" charset="0"/>
                <a:cs typeface="Cambria Math" panose="02040503050406030204" pitchFamily="18" charset="0"/>
              </a:rPr>
              <a:t>𝑛</a:t>
            </a:r>
            <a:r>
              <a:rPr lang="en-US" sz="2400" b="1" baseline="30000" dirty="0">
                <a:solidFill>
                  <a:srgbClr val="C00000"/>
                </a:solidFill>
                <a:latin typeface="Trebuchet MS" panose="020B0603020202020204" pitchFamily="34" charset="0"/>
                <a:ea typeface="Times New Roman" panose="02020603050405020304" pitchFamily="18" charset="0"/>
                <a:cs typeface="Cambria Math" panose="02040503050406030204" pitchFamily="18" charset="0"/>
              </a:rPr>
              <a:t>𝑘</a:t>
            </a:r>
            <a:r>
              <a:rPr lang="en-IN" sz="2400" b="1" dirty="0">
                <a:solidFill>
                  <a:srgbClr val="C00000"/>
                </a:solidFill>
              </a:rPr>
              <a:t>)</a:t>
            </a:r>
            <a:endParaRPr lang="en-US" sz="2400" b="1" dirty="0">
              <a:solidFill>
                <a:srgbClr val="C00000"/>
              </a:solidFill>
              <a:latin typeface="Trebuchet MS" panose="020B0603020202020204" pitchFamily="34" charset="0"/>
            </a:endParaRPr>
          </a:p>
          <a:p>
            <a:pPr>
              <a:lnSpc>
                <a:spcPts val="3800"/>
              </a:lnSpc>
            </a:pPr>
            <a:r>
              <a:rPr lang="en-US" sz="2400" dirty="0">
                <a:latin typeface="Trebuchet MS" panose="020B0603020202020204" pitchFamily="34" charset="0"/>
              </a:rPr>
              <a:t>    where </a:t>
            </a:r>
            <a:r>
              <a:rPr lang="en-US" sz="2400" dirty="0">
                <a:solidFill>
                  <a:srgbClr val="0070C0"/>
                </a:solidFill>
                <a:latin typeface="Trebuchet MS" panose="020B0603020202020204" pitchFamily="34" charset="0"/>
              </a:rPr>
              <a:t>𝑘 is a constant</a:t>
            </a:r>
            <a:r>
              <a:rPr lang="en-US" sz="2400" dirty="0">
                <a:latin typeface="Trebuchet MS" panose="020B0603020202020204" pitchFamily="34" charset="0"/>
              </a:rPr>
              <a:t>, the algorithm operates in polynomial time. </a:t>
            </a:r>
          </a:p>
          <a:p>
            <a:pPr>
              <a:lnSpc>
                <a:spcPts val="3800"/>
              </a:lnSpc>
            </a:pPr>
            <a:r>
              <a:rPr lang="pt-BR" sz="2400" b="1" dirty="0">
                <a:solidFill>
                  <a:srgbClr val="0070C0"/>
                </a:solidFill>
                <a:latin typeface="Trebuchet MS" panose="020B0603020202020204" pitchFamily="34" charset="0"/>
              </a:rPr>
              <a:t>Examples of Polynomial Time Complexities</a:t>
            </a:r>
          </a:p>
          <a:p>
            <a:pPr marL="1257300" lvl="2" indent="-342900">
              <a:lnSpc>
                <a:spcPts val="3800"/>
              </a:lnSpc>
              <a:buFont typeface="Wingdings" panose="05000000000000000000" pitchFamily="2" charset="2"/>
              <a:buChar char="ü"/>
            </a:pPr>
            <a:r>
              <a:rPr lang="pt-BR" sz="2400" dirty="0">
                <a:latin typeface="Trebuchet MS" panose="020B0603020202020204" pitchFamily="34" charset="0"/>
              </a:rPr>
              <a:t>O(n) (Linear time)</a:t>
            </a:r>
          </a:p>
          <a:p>
            <a:pPr marL="1257300" lvl="2" indent="-342900">
              <a:lnSpc>
                <a:spcPts val="3800"/>
              </a:lnSpc>
              <a:buFont typeface="Wingdings" panose="05000000000000000000" pitchFamily="2" charset="2"/>
              <a:buChar char="ü"/>
            </a:pPr>
            <a:r>
              <a:rPr lang="pt-BR" sz="2400" dirty="0">
                <a:latin typeface="Trebuchet MS" panose="020B0603020202020204" pitchFamily="34" charset="0"/>
              </a:rPr>
              <a:t>O(</a:t>
            </a:r>
            <a:r>
              <a:rPr lang="en-US" sz="2400" b="1" dirty="0">
                <a:latin typeface="Trebuchet MS" panose="020B0603020202020204" pitchFamily="34" charset="0"/>
              </a:rPr>
              <a:t>n</a:t>
            </a:r>
            <a:r>
              <a:rPr lang="en-US" sz="2400" b="1" baseline="30000" dirty="0">
                <a:latin typeface="Trebuchet MS" panose="020B0603020202020204" pitchFamily="34" charset="0"/>
              </a:rPr>
              <a:t>2</a:t>
            </a:r>
            <a:r>
              <a:rPr lang="pt-BR" sz="2400" dirty="0">
                <a:latin typeface="Trebuchet MS" panose="020B0603020202020204" pitchFamily="34" charset="0"/>
              </a:rPr>
              <a:t>)(Quadratic time)</a:t>
            </a:r>
          </a:p>
          <a:p>
            <a:pPr marL="1257300" lvl="2" indent="-342900">
              <a:lnSpc>
                <a:spcPts val="3800"/>
              </a:lnSpc>
              <a:buFont typeface="Wingdings" panose="05000000000000000000" pitchFamily="2" charset="2"/>
              <a:buChar char="ü"/>
            </a:pPr>
            <a:r>
              <a:rPr lang="pt-BR" sz="2400" dirty="0">
                <a:latin typeface="Trebuchet MS" panose="020B0603020202020204" pitchFamily="34" charset="0"/>
              </a:rPr>
              <a:t>O(</a:t>
            </a:r>
            <a:r>
              <a:rPr lang="en-US" sz="2400" b="1" dirty="0">
                <a:latin typeface="Trebuchet MS" panose="020B0603020202020204" pitchFamily="34" charset="0"/>
              </a:rPr>
              <a:t>n</a:t>
            </a:r>
            <a:r>
              <a:rPr lang="en-US" sz="2400" b="1" baseline="30000" dirty="0">
                <a:latin typeface="Trebuchet MS" panose="020B0603020202020204" pitchFamily="34" charset="0"/>
              </a:rPr>
              <a:t>3</a:t>
            </a:r>
            <a:r>
              <a:rPr lang="pt-BR" sz="2400" dirty="0">
                <a:latin typeface="Trebuchet MS" panose="020B0603020202020204" pitchFamily="34" charset="0"/>
              </a:rPr>
              <a:t>)(Cubic time)</a:t>
            </a:r>
          </a:p>
          <a:p>
            <a:pPr>
              <a:lnSpc>
                <a:spcPts val="3800"/>
              </a:lnSpc>
            </a:pPr>
            <a:r>
              <a:rPr lang="en-US" sz="2400" b="1" dirty="0">
                <a:solidFill>
                  <a:srgbClr val="0070C0"/>
                </a:solidFill>
                <a:latin typeface="Trebuchet MS" panose="020B0603020202020204" pitchFamily="34" charset="0"/>
              </a:rPr>
              <a:t>Why Polynomial Time?</a:t>
            </a:r>
          </a:p>
          <a:p>
            <a:pPr marL="342900" indent="-342900">
              <a:lnSpc>
                <a:spcPts val="3800"/>
              </a:lnSpc>
              <a:buFont typeface="Arial" panose="020B0604020202020204" pitchFamily="34" charset="0"/>
              <a:buChar char="•"/>
            </a:pPr>
            <a:r>
              <a:rPr lang="en-US" sz="2400" b="1" dirty="0">
                <a:solidFill>
                  <a:srgbClr val="FF0000"/>
                </a:solidFill>
                <a:latin typeface="Trebuchet MS" panose="020B0603020202020204" pitchFamily="34" charset="0"/>
              </a:rPr>
              <a:t>Feasibility</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Problems solvable in polynomial time are deemed computationally feasible.</a:t>
            </a:r>
          </a:p>
          <a:p>
            <a:pPr marL="1257300" lvl="2" indent="-342900">
              <a:lnSpc>
                <a:spcPts val="3800"/>
              </a:lnSpc>
              <a:buFont typeface="Wingdings" panose="05000000000000000000" pitchFamily="2" charset="2"/>
              <a:buChar char="ü"/>
            </a:pPr>
            <a:endParaRPr lang="pt-BR" sz="2400" dirty="0">
              <a:latin typeface="Trebuchet MS" panose="020B0603020202020204" pitchFamily="34" charset="0"/>
            </a:endParaRPr>
          </a:p>
        </p:txBody>
      </p:sp>
    </p:spTree>
    <p:extLst>
      <p:ext uri="{BB962C8B-B14F-4D97-AF65-F5344CB8AC3E}">
        <p14:creationId xmlns:p14="http://schemas.microsoft.com/office/powerpoint/2010/main" val="2788514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2EE4D6-8DCA-AB2D-02D9-3661EF64D785}"/>
                  </a:ext>
                </a:extLst>
              </p:cNvPr>
              <p:cNvSpPr txBox="1"/>
              <p:nvPr/>
            </p:nvSpPr>
            <p:spPr>
              <a:xfrm>
                <a:off x="235974" y="991311"/>
                <a:ext cx="11575860" cy="5642122"/>
              </a:xfrm>
              <a:prstGeom prst="rect">
                <a:avLst/>
              </a:prstGeom>
              <a:noFill/>
            </p:spPr>
            <p:txBody>
              <a:bodyPr wrap="square">
                <a:spAutoFit/>
              </a:bodyPr>
              <a:lstStyle/>
              <a:p>
                <a:pPr marL="342900" marR="0" lvl="0" indent="-342900"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class P consists of those problems that are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solvable in polynomial time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by deterministic algorithms.</a:t>
                </a:r>
              </a:p>
              <a:p>
                <a:pPr marL="342900" indent="-342900">
                  <a:lnSpc>
                    <a:spcPct val="150000"/>
                  </a:lnSpc>
                  <a:buClr>
                    <a:schemeClr val="tx1"/>
                  </a:buClr>
                  <a:buFont typeface="Arial" panose="020B0604020202020204" pitchFamily="34" charset="0"/>
                  <a:buChar char="•"/>
                  <a:defRPr/>
                </a:pPr>
                <a:r>
                  <a:rPr lang="en-US" sz="2400" dirty="0">
                    <a:solidFill>
                      <a:srgbClr val="212121"/>
                    </a:solidFill>
                    <a:latin typeface="Trebuchet MS" panose="020B0603020202020204" pitchFamily="34" charset="0"/>
                  </a:rPr>
                  <a:t>The P in the class P stands for Polynomial Time. It is the collection of decision problems(problems with a </a:t>
                </a:r>
                <a:r>
                  <a:rPr lang="en-US" sz="2400" dirty="0">
                    <a:solidFill>
                      <a:srgbClr val="0070C0"/>
                    </a:solidFill>
                    <a:latin typeface="Trebuchet MS" panose="020B0603020202020204" pitchFamily="34" charset="0"/>
                  </a:rPr>
                  <a:t>“yes” or “no” </a:t>
                </a:r>
                <a:r>
                  <a:rPr lang="en-US" sz="2400" dirty="0">
                    <a:solidFill>
                      <a:srgbClr val="212121"/>
                    </a:solidFill>
                    <a:latin typeface="Trebuchet MS" panose="020B0603020202020204" pitchFamily="34" charset="0"/>
                  </a:rPr>
                  <a:t>answer) that can be solved by a deterministic machine in polynomial time. </a:t>
                </a:r>
                <a:endParaRPr lang="en-US" sz="2400" dirty="0">
                  <a:solidFill>
                    <a:srgbClr val="AD1457"/>
                  </a:solidFill>
                  <a:latin typeface="Trebuchet MS" panose="020B0603020202020204" pitchFamily="34" charset="0"/>
                </a:endParaRPr>
              </a:p>
              <a:p>
                <a:pPr marL="342900" marR="0" lvl="0" indent="-342900"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Polynomial</a:t>
                </a:r>
                <a:r>
                  <a:rPr kumimoji="0" lang="en-US" sz="2400" b="0" i="0" u="none" strike="noStrike" kern="1200" cap="none" spc="0" normalizeH="0" noProof="0" dirty="0">
                    <a:ln>
                      <a:noFill/>
                    </a:ln>
                    <a:solidFill>
                      <a:srgbClr val="212121"/>
                    </a:solidFill>
                    <a:effectLst/>
                    <a:uLnTx/>
                    <a:uFillTx/>
                    <a:latin typeface="Trebuchet MS" panose="020B0603020202020204" pitchFamily="34" charset="0"/>
                  </a:rPr>
                  <a:t> time -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More specifically, they are problems that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can be solved in time </a:t>
                </a:r>
                <a14:m>
                  <m:oMath xmlns:m="http://schemas.openxmlformats.org/officeDocument/2006/math">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𝑂</m:t>
                    </m:r>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m:t>
                    </m:r>
                    <m:sSup>
                      <m:sSupPr>
                        <m:ctrlP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ctrlPr>
                      </m:sSupPr>
                      <m:e>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𝑛</m:t>
                        </m:r>
                      </m:e>
                      <m: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𝑘</m:t>
                        </m:r>
                      </m:sup>
                    </m:s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m:t>
                    </m:r>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some constant </a:t>
                </a:r>
                <a14:m>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rPr>
                      <m:t>𝑘</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where </a:t>
                </a:r>
                <a14:m>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rPr>
                      <m:t>𝑛</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is the size of the input to the problem.</a:t>
                </a:r>
              </a:p>
              <a:p>
                <a:pPr marL="342900" marR="0" lvl="0" indent="-342900"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example,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𝑂(</a:t>
                </a:r>
                <a14:m>
                  <m:oMath xmlns:m="http://schemas.openxmlformats.org/officeDocument/2006/math">
                    <m:sSup>
                      <m:sSupPr>
                        <m:ctrlP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ctrlPr>
                      </m:sSupPr>
                      <m:e>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t>𝑛</m:t>
                        </m:r>
                      </m:e>
                      <m: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3</m:t>
                        </m:r>
                      </m:sup>
                    </m:sSup>
                  </m:oMath>
                </a14:m>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𝑂(</a:t>
                </a:r>
                <a14:m>
                  <m:oMath xmlns:m="http://schemas.openxmlformats.org/officeDocument/2006/math">
                    <m:sSup>
                      <m:sSupPr>
                        <m:ctrlP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ctrlPr>
                      </m:sSupPr>
                      <m:e>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t>𝑛</m:t>
                        </m:r>
                      </m:e>
                      <m: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4</m:t>
                        </m:r>
                      </m:sup>
                    </m:sSup>
                  </m:oMath>
                </a14:m>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𝑂(𝑙𝑜𝑔𝑛),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Fractional Knapsack, MST, Sorting algorithms etc…</a:t>
                </a:r>
              </a:p>
            </p:txBody>
          </p:sp>
        </mc:Choice>
        <mc:Fallback xmlns="">
          <p:sp>
            <p:nvSpPr>
              <p:cNvPr id="8" name="TextBox 7">
                <a:extLst>
                  <a:ext uri="{FF2B5EF4-FFF2-40B4-BE49-F238E27FC236}">
                    <a16:creationId xmlns:a16="http://schemas.microsoft.com/office/drawing/2014/main" id="{262EE4D6-8DCA-AB2D-02D9-3661EF64D785}"/>
                  </a:ext>
                </a:extLst>
              </p:cNvPr>
              <p:cNvSpPr txBox="1">
                <a:spLocks noRot="1" noChangeAspect="1" noMove="1" noResize="1" noEditPoints="1" noAdjustHandles="1" noChangeArrowheads="1" noChangeShapeType="1" noTextEdit="1"/>
              </p:cNvSpPr>
              <p:nvPr/>
            </p:nvSpPr>
            <p:spPr>
              <a:xfrm>
                <a:off x="235974" y="991311"/>
                <a:ext cx="11575860" cy="5642122"/>
              </a:xfrm>
              <a:prstGeom prst="rect">
                <a:avLst/>
              </a:prstGeom>
              <a:blipFill>
                <a:blip r:embed="rId6"/>
                <a:stretch>
                  <a:fillRect l="-737" b="-324"/>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58EC8C91-21F6-C5C4-89C0-E58AF82404A8}"/>
              </a:ext>
            </a:extLst>
          </p:cNvPr>
          <p:cNvSpPr txBox="1"/>
          <p:nvPr/>
        </p:nvSpPr>
        <p:spPr>
          <a:xfrm>
            <a:off x="430123" y="304227"/>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Class P</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34426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262EE4D6-8DCA-AB2D-02D9-3661EF64D785}"/>
              </a:ext>
            </a:extLst>
          </p:cNvPr>
          <p:cNvSpPr txBox="1"/>
          <p:nvPr/>
        </p:nvSpPr>
        <p:spPr>
          <a:xfrm>
            <a:off x="235974" y="991311"/>
            <a:ext cx="11575860" cy="5632311"/>
          </a:xfrm>
          <a:prstGeom prst="rect">
            <a:avLst/>
          </a:prstGeom>
          <a:noFill/>
        </p:spPr>
        <p:txBody>
          <a:bodyPr wrap="square">
            <a:spAutoFit/>
          </a:bodyPr>
          <a:lstStyle/>
          <a:p>
            <a:pPr fontAlgn="base">
              <a:lnSpc>
                <a:spcPct val="150000"/>
              </a:lnSpc>
            </a:pPr>
            <a:r>
              <a:rPr lang="en-US" sz="2400" b="1" dirty="0">
                <a:solidFill>
                  <a:srgbClr val="0070C0"/>
                </a:solidFill>
                <a:latin typeface="Trebuchet MS" panose="020B0603020202020204" pitchFamily="34" charset="0"/>
              </a:rPr>
              <a:t>Features:</a:t>
            </a:r>
            <a:endParaRPr lang="en-US" sz="2400" dirty="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400" dirty="0">
                <a:solidFill>
                  <a:srgbClr val="273239"/>
                </a:solidFill>
                <a:latin typeface="Trebuchet MS" panose="020B0603020202020204" pitchFamily="34" charset="0"/>
              </a:rPr>
              <a:t>The solution to </a:t>
            </a:r>
            <a:r>
              <a:rPr lang="en-US" sz="2400" b="1" dirty="0">
                <a:solidFill>
                  <a:srgbClr val="273239"/>
                </a:solidFill>
                <a:latin typeface="Trebuchet MS" panose="020B0603020202020204" pitchFamily="34" charset="0"/>
              </a:rPr>
              <a:t>P problem</a:t>
            </a:r>
            <a:r>
              <a:rPr lang="en-US" sz="2400" dirty="0">
                <a:solidFill>
                  <a:srgbClr val="273239"/>
                </a:solidFill>
                <a:latin typeface="Trebuchet MS" panose="020B0603020202020204" pitchFamily="34" charset="0"/>
              </a:rPr>
              <a:t>s is easy to find. </a:t>
            </a:r>
          </a:p>
          <a:p>
            <a:pPr marL="342900" indent="-342900" fontAlgn="base">
              <a:lnSpc>
                <a:spcPct val="150000"/>
              </a:lnSpc>
              <a:buFont typeface="Arial" panose="020B0604020202020204" pitchFamily="34" charset="0"/>
              <a:buChar char="•"/>
            </a:pPr>
            <a:r>
              <a:rPr lang="en-US" sz="2400" b="1" dirty="0">
                <a:solidFill>
                  <a:srgbClr val="273239"/>
                </a:solidFill>
                <a:latin typeface="Trebuchet MS" panose="020B0603020202020204" pitchFamily="34" charset="0"/>
              </a:rPr>
              <a:t>P</a:t>
            </a:r>
            <a:r>
              <a:rPr lang="en-US" sz="2400" dirty="0">
                <a:solidFill>
                  <a:srgbClr val="273239"/>
                </a:solidFill>
                <a:latin typeface="Trebuchet MS" panose="020B0603020202020204" pitchFamily="34" charset="0"/>
              </a:rPr>
              <a:t> is often a class of computational problems that are solvable and tractable. Tractable means that the problems can be solved in theory as well as in practice. But the problems that can be solved in theory but not in practice are known as intractable.</a:t>
            </a:r>
          </a:p>
          <a:p>
            <a:pPr fontAlgn="base">
              <a:lnSpc>
                <a:spcPct val="150000"/>
              </a:lnSpc>
            </a:pPr>
            <a:r>
              <a:rPr lang="en-US" sz="2400" b="1" dirty="0">
                <a:solidFill>
                  <a:srgbClr val="0070C0"/>
                </a:solidFill>
                <a:latin typeface="Trebuchet MS" panose="020B0603020202020204" pitchFamily="34" charset="0"/>
              </a:rPr>
              <a:t>Examples:</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Calculating the greatest common divisor</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Finding a maximum matching</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Merge Sort</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430123" y="304227"/>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Class P</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75866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4A881C8-E8C7-ABC5-1607-14D080BE2459}"/>
              </a:ext>
            </a:extLst>
          </p:cNvPr>
          <p:cNvSpPr txBox="1"/>
          <p:nvPr/>
        </p:nvSpPr>
        <p:spPr>
          <a:xfrm>
            <a:off x="265473" y="1034146"/>
            <a:ext cx="11257902" cy="5078313"/>
          </a:xfrm>
          <a:prstGeom prst="rect">
            <a:avLst/>
          </a:prstGeom>
          <a:noFill/>
        </p:spPr>
        <p:txBody>
          <a:bodyPr wrap="square">
            <a:spAutoFit/>
          </a:bodyPr>
          <a:lstStyle/>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NP is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Non-Deterministic</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polynomial time.</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class NP consists of those problems that are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verifiable in polynomial time</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NP is the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class of decision problems</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which it is easy to check the correctness of a claimed answer, with the help of a little extra information. </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Hence, we are not asking for a way to find a solution, but only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to verify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that an alleged solution really is correct.</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Every problem in this class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can be solved in exponential time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exhaustive search.</a:t>
            </a:r>
          </a:p>
        </p:txBody>
      </p:sp>
      <p:sp>
        <p:nvSpPr>
          <p:cNvPr id="7" name="TextBox 6">
            <a:extLst>
              <a:ext uri="{FF2B5EF4-FFF2-40B4-BE49-F238E27FC236}">
                <a16:creationId xmlns:a16="http://schemas.microsoft.com/office/drawing/2014/main" id="{05697BED-9E29-B1AD-6FEA-3F8BE48F26E8}"/>
              </a:ext>
            </a:extLst>
          </p:cNvPr>
          <p:cNvSpPr txBox="1"/>
          <p:nvPr/>
        </p:nvSpPr>
        <p:spPr>
          <a:xfrm>
            <a:off x="380166" y="202690"/>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NP class</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040278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4A881C8-E8C7-ABC5-1607-14D080BE2459}"/>
              </a:ext>
            </a:extLst>
          </p:cNvPr>
          <p:cNvSpPr txBox="1"/>
          <p:nvPr/>
        </p:nvSpPr>
        <p:spPr>
          <a:xfrm>
            <a:off x="265473" y="1034146"/>
            <a:ext cx="11429998" cy="5632311"/>
          </a:xfrm>
          <a:prstGeom prst="rect">
            <a:avLst/>
          </a:prstGeom>
          <a:noFill/>
        </p:spPr>
        <p:txBody>
          <a:bodyPr wrap="square">
            <a:spAutoFit/>
          </a:bodyPr>
          <a:lstStyle/>
          <a:p>
            <a:pPr fontAlgn="base">
              <a:lnSpc>
                <a:spcPct val="150000"/>
              </a:lnSpc>
            </a:pPr>
            <a:r>
              <a:rPr lang="en-US" sz="2400" b="1" dirty="0">
                <a:solidFill>
                  <a:srgbClr val="0070C0"/>
                </a:solidFill>
                <a:latin typeface="Trebuchet MS" panose="020B0603020202020204" pitchFamily="34" charset="0"/>
              </a:rPr>
              <a:t>Features</a:t>
            </a:r>
            <a:endParaRPr lang="en-US" sz="2400" dirty="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400" dirty="0">
                <a:latin typeface="Trebuchet MS" panose="020B0603020202020204" pitchFamily="34" charset="0"/>
              </a:rPr>
              <a:t>The solutions of the NP class are hard to find since they are being solved by a non-deterministic machine but the solutions are easy to verify.</a:t>
            </a:r>
          </a:p>
          <a:p>
            <a:pPr marL="342900" indent="-342900" fontAlgn="base">
              <a:lnSpc>
                <a:spcPct val="150000"/>
              </a:lnSpc>
              <a:buFont typeface="Arial" panose="020B0604020202020204" pitchFamily="34" charset="0"/>
              <a:buChar char="•"/>
            </a:pPr>
            <a:r>
              <a:rPr lang="en-US" sz="2400" dirty="0">
                <a:latin typeface="Trebuchet MS" panose="020B0603020202020204" pitchFamily="34" charset="0"/>
              </a:rPr>
              <a:t>Problems of NP can be verified by a Turing machine in polynomial time. </a:t>
            </a:r>
          </a:p>
          <a:p>
            <a:pPr fontAlgn="base">
              <a:lnSpc>
                <a:spcPct val="150000"/>
              </a:lnSpc>
            </a:pPr>
            <a:r>
              <a:rPr lang="en-US" sz="2400" b="1" dirty="0">
                <a:solidFill>
                  <a:srgbClr val="0070C0"/>
                </a:solidFill>
                <a:latin typeface="Trebuchet MS" panose="020B0603020202020204" pitchFamily="34" charset="0"/>
              </a:rPr>
              <a:t>Example </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Boolean Satisfiability Problem (SAT)</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Hamiltonian Path Problem</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Graph coloring</a:t>
            </a:r>
          </a:p>
          <a:p>
            <a:pPr marL="342900" indent="-342900" fontAlgn="base">
              <a:lnSpc>
                <a:spcPct val="150000"/>
              </a:lnSpc>
              <a:buFont typeface="Arial" panose="020B0604020202020204" pitchFamily="34" charset="0"/>
              <a:buChar char="•"/>
            </a:pPr>
            <a:endParaRPr lang="en-US" sz="2400" dirty="0">
              <a:solidFill>
                <a:srgbClr val="273239"/>
              </a:solidFill>
              <a:latin typeface="Trebuchet MS" panose="020B0603020202020204" pitchFamily="34" charset="0"/>
            </a:endParaRP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7" name="TextBox 6">
            <a:extLst>
              <a:ext uri="{FF2B5EF4-FFF2-40B4-BE49-F238E27FC236}">
                <a16:creationId xmlns:a16="http://schemas.microsoft.com/office/drawing/2014/main" id="{05697BED-9E29-B1AD-6FEA-3F8BE48F26E8}"/>
              </a:ext>
            </a:extLst>
          </p:cNvPr>
          <p:cNvSpPr txBox="1"/>
          <p:nvPr/>
        </p:nvSpPr>
        <p:spPr>
          <a:xfrm>
            <a:off x="380166" y="202690"/>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NP class</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905823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9CD461DE-09BC-EA37-53FF-4AFBF409B9E2}"/>
              </a:ext>
            </a:extLst>
          </p:cNvPr>
          <p:cNvSpPr txBox="1"/>
          <p:nvPr/>
        </p:nvSpPr>
        <p:spPr>
          <a:xfrm>
            <a:off x="265471" y="198118"/>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Classification of NP Problems </a:t>
            </a:r>
            <a:endParaRPr lang="en-IN" sz="1600" dirty="0">
              <a:solidFill>
                <a:schemeClr val="bg1"/>
              </a:solidFill>
              <a:latin typeface="Trebuchet MS" panose="020B0603020202020204" pitchFamily="34" charset="0"/>
            </a:endParaRPr>
          </a:p>
        </p:txBody>
      </p:sp>
      <p:sp>
        <p:nvSpPr>
          <p:cNvPr id="9" name="TextBox 8">
            <a:extLst>
              <a:ext uri="{FF2B5EF4-FFF2-40B4-BE49-F238E27FC236}">
                <a16:creationId xmlns:a16="http://schemas.microsoft.com/office/drawing/2014/main" id="{958BC973-53C7-2ED8-3689-6177035E4782}"/>
              </a:ext>
            </a:extLst>
          </p:cNvPr>
          <p:cNvSpPr txBox="1"/>
          <p:nvPr/>
        </p:nvSpPr>
        <p:spPr>
          <a:xfrm>
            <a:off x="389493" y="1013330"/>
            <a:ext cx="11400314" cy="5601533"/>
          </a:xfrm>
          <a:prstGeom prst="rect">
            <a:avLst/>
          </a:prstGeom>
          <a:noFill/>
        </p:spPr>
        <p:txBody>
          <a:bodyPr wrap="square">
            <a:spAutoFit/>
          </a:bodyPr>
          <a:lstStyle/>
          <a:p>
            <a:pPr marL="457200" marR="0" lvl="0" indent="-457200" algn="just" defTabSz="914400" rtl="0" eaLnBrk="1" fontAlgn="auto" latinLnBrk="0" hangingPunct="1">
              <a:spcBef>
                <a:spcPts val="1200"/>
              </a:spcBef>
              <a:spcAft>
                <a:spcPts val="1200"/>
              </a:spcAft>
              <a:buClr>
                <a:srgbClr val="CC3399"/>
              </a:buClr>
              <a:buSzTx/>
              <a:buFont typeface="+mj-lt"/>
              <a:buAutoNum type="arabicParenR"/>
              <a:tabLst/>
              <a:defRPr/>
            </a:pP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NP Hard</a:t>
            </a:r>
          </a:p>
          <a:p>
            <a:pPr marL="342900" lvl="0" indent="-342900" algn="just">
              <a:lnSpc>
                <a:spcPct val="150000"/>
              </a:lnSpc>
              <a:buClr>
                <a:schemeClr val="tx1"/>
              </a:buClr>
              <a:buFont typeface="Arial" panose="020B0604020202020204" pitchFamily="34" charset="0"/>
              <a:buChar char="•"/>
              <a:defRPr/>
            </a:pPr>
            <a:r>
              <a:rPr lang="en-US" sz="2400" dirty="0">
                <a:solidFill>
                  <a:srgbClr val="212121"/>
                </a:solidFill>
                <a:latin typeface="Trebuchet MS" panose="020B0603020202020204" pitchFamily="34" charset="0"/>
              </a:rPr>
              <a:t>An NP-hard problem is at least as hard as the hardest problem in NP and it is a class of problems such that every problem in NP reduces to NP-hard.</a:t>
            </a:r>
          </a:p>
          <a:p>
            <a:pPr lvl="0" algn="just">
              <a:lnSpc>
                <a:spcPct val="150000"/>
              </a:lnSpc>
              <a:buClr>
                <a:schemeClr val="tx1"/>
              </a:buClr>
              <a:defRPr/>
            </a:pPr>
            <a:r>
              <a:rPr lang="en-US" sz="2400" b="1" dirty="0">
                <a:solidFill>
                  <a:srgbClr val="0070C0"/>
                </a:solidFill>
                <a:latin typeface="Trebuchet MS" panose="020B0603020202020204" pitchFamily="34" charset="0"/>
              </a:rPr>
              <a:t>Features:</a:t>
            </a:r>
          </a:p>
          <a:p>
            <a:pPr marL="800100" lvl="1"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All NP-hard problems are not in NP.</a:t>
            </a:r>
          </a:p>
          <a:p>
            <a:pPr marL="800100" lvl="1"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It takes a long time to check them. This means if a solution for an NP-hard problem is given then it takes a long time to check whether it is right or not.</a:t>
            </a:r>
          </a:p>
          <a:p>
            <a:pPr marL="800100" lvl="1"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A problem A is in NP-hard if, for every problem L in NP, there exists a polynomial-time reduction from L to A.</a:t>
            </a:r>
          </a:p>
        </p:txBody>
      </p:sp>
    </p:spTree>
    <p:extLst>
      <p:ext uri="{BB962C8B-B14F-4D97-AF65-F5344CB8AC3E}">
        <p14:creationId xmlns:p14="http://schemas.microsoft.com/office/powerpoint/2010/main" val="234480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9CD461DE-09BC-EA37-53FF-4AFBF409B9E2}"/>
              </a:ext>
            </a:extLst>
          </p:cNvPr>
          <p:cNvSpPr txBox="1"/>
          <p:nvPr/>
        </p:nvSpPr>
        <p:spPr>
          <a:xfrm>
            <a:off x="265471" y="198118"/>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Classification of NP Problems </a:t>
            </a:r>
            <a:endParaRPr lang="en-IN" sz="1600" dirty="0">
              <a:solidFill>
                <a:schemeClr val="bg1"/>
              </a:solidFill>
              <a:latin typeface="Trebuchet MS" panose="020B0603020202020204" pitchFamily="34" charset="0"/>
            </a:endParaRPr>
          </a:p>
        </p:txBody>
      </p:sp>
      <p:sp>
        <p:nvSpPr>
          <p:cNvPr id="9" name="TextBox 8">
            <a:extLst>
              <a:ext uri="{FF2B5EF4-FFF2-40B4-BE49-F238E27FC236}">
                <a16:creationId xmlns:a16="http://schemas.microsoft.com/office/drawing/2014/main" id="{958BC973-53C7-2ED8-3689-6177035E4782}"/>
              </a:ext>
            </a:extLst>
          </p:cNvPr>
          <p:cNvSpPr txBox="1"/>
          <p:nvPr/>
        </p:nvSpPr>
        <p:spPr>
          <a:xfrm>
            <a:off x="265470" y="974677"/>
            <a:ext cx="11546363" cy="4431983"/>
          </a:xfrm>
          <a:prstGeom prst="rect">
            <a:avLst/>
          </a:prstGeom>
          <a:noFill/>
        </p:spPr>
        <p:txBody>
          <a:bodyPr wrap="square">
            <a:spAutoFit/>
          </a:bodyPr>
          <a:lstStyle/>
          <a:p>
            <a:pPr lvl="0" algn="just">
              <a:lnSpc>
                <a:spcPct val="150000"/>
              </a:lnSpc>
              <a:spcBef>
                <a:spcPts val="1200"/>
              </a:spcBef>
              <a:spcAft>
                <a:spcPts val="1200"/>
              </a:spcAft>
              <a:buClr>
                <a:srgbClr val="B84742"/>
              </a:buClr>
              <a:defRPr/>
            </a:pPr>
            <a:r>
              <a:rPr lang="en-US" sz="2400" b="1" dirty="0">
                <a:solidFill>
                  <a:srgbClr val="0070C0"/>
                </a:solidFill>
                <a:latin typeface="Trebuchet MS" panose="020B0603020202020204" pitchFamily="34" charset="0"/>
              </a:rPr>
              <a:t>Examples of problems in NP-Hard</a:t>
            </a:r>
          </a:p>
          <a:p>
            <a:pPr marL="1257300" lvl="2"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Halting problem</a:t>
            </a:r>
          </a:p>
          <a:p>
            <a:pPr marL="1257300" lvl="2"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Qualified Boolean formulas</a:t>
            </a:r>
          </a:p>
          <a:p>
            <a:pPr marL="1257300" lvl="2"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No Hamiltonian cycle</a:t>
            </a:r>
          </a:p>
          <a:p>
            <a:pPr lvl="0" algn="just">
              <a:lnSpc>
                <a:spcPct val="150000"/>
              </a:lnSpc>
              <a:spcBef>
                <a:spcPts val="1200"/>
              </a:spcBef>
              <a:spcAft>
                <a:spcPts val="1200"/>
              </a:spcAft>
              <a:buClr>
                <a:srgbClr val="B84742"/>
              </a:buClr>
              <a:defRPr/>
            </a:pPr>
            <a:r>
              <a:rPr lang="en-US" sz="2400" b="1" dirty="0">
                <a:solidFill>
                  <a:srgbClr val="AD1457"/>
                </a:solidFill>
                <a:latin typeface="Roboto Condensed"/>
              </a:rPr>
              <a:t>2. </a:t>
            </a:r>
            <a:r>
              <a:rPr lang="en-US" sz="2400" b="1" dirty="0">
                <a:solidFill>
                  <a:srgbClr val="AD1457"/>
                </a:solidFill>
                <a:latin typeface="Corbel" panose="020B0503020204020204" pitchFamily="34" charset="0"/>
              </a:rPr>
              <a:t>NP Complete </a:t>
            </a:r>
          </a:p>
          <a:p>
            <a:pPr fontAlgn="base">
              <a:lnSpc>
                <a:spcPct val="150000"/>
              </a:lnSpc>
            </a:pPr>
            <a:r>
              <a:rPr lang="en-US" sz="2400" dirty="0">
                <a:solidFill>
                  <a:srgbClr val="273239"/>
                </a:solidFill>
                <a:latin typeface="Trebuchet MS" panose="020B0603020202020204" pitchFamily="34" charset="0"/>
              </a:rPr>
              <a:t>A problem is NP-complete if it is both NP and NP-hard. NP-complete problems are the hard problems in NP.</a:t>
            </a:r>
          </a:p>
        </p:txBody>
      </p:sp>
    </p:spTree>
    <p:extLst>
      <p:ext uri="{BB962C8B-B14F-4D97-AF65-F5344CB8AC3E}">
        <p14:creationId xmlns:p14="http://schemas.microsoft.com/office/powerpoint/2010/main" val="3831144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2D46F040-C28B-D880-AD22-F33D457F69EE}"/>
              </a:ext>
            </a:extLst>
          </p:cNvPr>
          <p:cNvSpPr txBox="1"/>
          <p:nvPr/>
        </p:nvSpPr>
        <p:spPr>
          <a:xfrm>
            <a:off x="380166" y="151535"/>
            <a:ext cx="619432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Classification of NP Problems </a:t>
            </a:r>
            <a:endParaRPr kumimoji="0" lang="en-IN" sz="1600" b="0" i="0" u="none" strike="noStrike" kern="1200" cap="none" spc="0" normalizeH="0" baseline="0" noProof="0" dirty="0">
              <a:ln>
                <a:noFill/>
              </a:ln>
              <a:solidFill>
                <a:srgbClr val="FFFFFF"/>
              </a:solidFill>
              <a:effectLst/>
              <a:uLnTx/>
              <a:uFillTx/>
              <a:latin typeface="Corbel" panose="020B0503020204020204" pitchFamily="34" charset="0"/>
              <a:ea typeface="+mn-ea"/>
              <a:cs typeface="+mn-cs"/>
            </a:endParaRPr>
          </a:p>
        </p:txBody>
      </p:sp>
      <p:sp>
        <p:nvSpPr>
          <p:cNvPr id="3" name="Rectangle 2"/>
          <p:cNvSpPr/>
          <p:nvPr/>
        </p:nvSpPr>
        <p:spPr>
          <a:xfrm>
            <a:off x="380166" y="1045425"/>
            <a:ext cx="11431668" cy="5447645"/>
          </a:xfrm>
          <a:prstGeom prst="rect">
            <a:avLst/>
          </a:prstGeom>
        </p:spPr>
        <p:txBody>
          <a:bodyPr wrap="square">
            <a:spAutoFit/>
          </a:bodyPr>
          <a:lstStyle/>
          <a:p>
            <a:pPr fontAlgn="base">
              <a:lnSpc>
                <a:spcPct val="150000"/>
              </a:lnSpc>
            </a:pPr>
            <a:r>
              <a:rPr lang="en-US" sz="2400" b="1" dirty="0">
                <a:solidFill>
                  <a:srgbClr val="0070C0"/>
                </a:solidFill>
                <a:latin typeface="Trebuchet MS" panose="020B0603020202020204" pitchFamily="34" charset="0"/>
              </a:rPr>
              <a:t>Features:</a:t>
            </a:r>
            <a:endParaRPr lang="en-US" sz="2400" dirty="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400" dirty="0">
                <a:solidFill>
                  <a:srgbClr val="273239"/>
                </a:solidFill>
                <a:latin typeface="Trebuchet MS" panose="020B0603020202020204" pitchFamily="34" charset="0"/>
              </a:rPr>
              <a:t>NP-complete problems are special as any problem in NP class can be transformed or reduced into NP-complete problems in polynomial time.</a:t>
            </a:r>
          </a:p>
          <a:p>
            <a:pPr marL="342900" indent="-342900" fontAlgn="base">
              <a:lnSpc>
                <a:spcPct val="150000"/>
              </a:lnSpc>
              <a:buFont typeface="Arial" panose="020B0604020202020204" pitchFamily="34" charset="0"/>
              <a:buChar char="•"/>
            </a:pPr>
            <a:r>
              <a:rPr lang="en-US" sz="2400" dirty="0">
                <a:solidFill>
                  <a:srgbClr val="273239"/>
                </a:solidFill>
                <a:latin typeface="Trebuchet MS" panose="020B0603020202020204" pitchFamily="34" charset="0"/>
              </a:rPr>
              <a:t>If one could solve an NP-complete problem in polynomial time, then one could also solve any NP problem in polynomial time.</a:t>
            </a:r>
          </a:p>
          <a:p>
            <a:pPr lvl="0" fontAlgn="base">
              <a:lnSpc>
                <a:spcPct val="150000"/>
              </a:lnSpc>
            </a:pPr>
            <a:r>
              <a:rPr lang="en-US" sz="2400" dirty="0">
                <a:solidFill>
                  <a:srgbClr val="0070C0"/>
                </a:solidFill>
                <a:latin typeface="Trebuchet MS" panose="020B0603020202020204" pitchFamily="34" charset="0"/>
              </a:rPr>
              <a:t>Example problems:</a:t>
            </a:r>
          </a:p>
          <a:p>
            <a:pPr marL="800100" lvl="1" indent="-342900" fontAlgn="base">
              <a:lnSpc>
                <a:spcPct val="150000"/>
              </a:lnSpc>
              <a:buFont typeface="Wingdings" panose="05000000000000000000" pitchFamily="2" charset="2"/>
              <a:buChar char="ü"/>
            </a:pPr>
            <a:r>
              <a:rPr lang="en-US" sz="2400" dirty="0">
                <a:solidFill>
                  <a:srgbClr val="273239"/>
                </a:solidFill>
                <a:latin typeface="Trebuchet MS" panose="020B0603020202020204" pitchFamily="34" charset="0"/>
              </a:rPr>
              <a:t>Hamiltonian Cycle</a:t>
            </a:r>
          </a:p>
          <a:p>
            <a:pPr marL="800100" lvl="1" indent="-342900" fontAlgn="base">
              <a:lnSpc>
                <a:spcPct val="150000"/>
              </a:lnSpc>
              <a:buFont typeface="Wingdings" panose="05000000000000000000" pitchFamily="2" charset="2"/>
              <a:buChar char="ü"/>
            </a:pPr>
            <a:r>
              <a:rPr lang="en-US" sz="2400" dirty="0">
                <a:solidFill>
                  <a:srgbClr val="273239"/>
                </a:solidFill>
                <a:latin typeface="Trebuchet MS" panose="020B0603020202020204" pitchFamily="34" charset="0"/>
              </a:rPr>
              <a:t>Satisfiability</a:t>
            </a:r>
          </a:p>
          <a:p>
            <a:pPr marL="800100" lvl="1" indent="-342900" fontAlgn="base">
              <a:lnSpc>
                <a:spcPct val="150000"/>
              </a:lnSpc>
              <a:buFont typeface="Wingdings" panose="05000000000000000000" pitchFamily="2" charset="2"/>
              <a:buChar char="ü"/>
            </a:pPr>
            <a:r>
              <a:rPr lang="en-US" sz="2400" dirty="0">
                <a:solidFill>
                  <a:srgbClr val="273239"/>
                </a:solidFill>
                <a:latin typeface="Trebuchet MS" panose="020B0603020202020204" pitchFamily="34" charset="0"/>
              </a:rPr>
              <a:t>Vertex cover</a:t>
            </a:r>
            <a:endParaRPr lang="en-US" sz="2400" dirty="0">
              <a:solidFill>
                <a:srgbClr val="212121"/>
              </a:solidFill>
              <a:latin typeface="Trebuchet MS" panose="020B0603020202020204" pitchFamily="34" charset="0"/>
            </a:endParaRPr>
          </a:p>
          <a:p>
            <a:pPr marL="1257300" lvl="2" indent="-342900" algn="just">
              <a:buClr>
                <a:srgbClr val="000000"/>
              </a:buClr>
              <a:buFont typeface="Wingdings" panose="05000000000000000000" pitchFamily="2" charset="2"/>
              <a:buChar char="ü"/>
              <a:defRPr/>
            </a:pPr>
            <a:endParaRPr lang="en-US" sz="2400" dirty="0">
              <a:solidFill>
                <a:srgbClr val="212121"/>
              </a:solidFill>
              <a:latin typeface="Trebuchet MS" panose="020B0603020202020204" pitchFamily="34" charset="0"/>
            </a:endParaRPr>
          </a:p>
        </p:txBody>
      </p:sp>
    </p:spTree>
    <p:extLst>
      <p:ext uri="{BB962C8B-B14F-4D97-AF65-F5344CB8AC3E}">
        <p14:creationId xmlns:p14="http://schemas.microsoft.com/office/powerpoint/2010/main" val="2332844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P, NP </a:t>
            </a:r>
            <a:r>
              <a:rPr lang="en-US" sz="3200" b="1" dirty="0">
                <a:solidFill>
                  <a:schemeClr val="bg1"/>
                </a:solidFill>
                <a:latin typeface="Corbel" panose="020B0503020204020204" pitchFamily="34" charset="0"/>
                <a:ea typeface="+mj-ea"/>
                <a:cs typeface="+mj-cs"/>
              </a:rPr>
              <a:t>Hard and NP Complete </a:t>
            </a:r>
            <a:endParaRPr lang="en-IN" sz="1600" dirty="0">
              <a:solidFill>
                <a:schemeClr val="bg1"/>
              </a:solidFill>
              <a:latin typeface="Corbel" panose="020B0503020204020204" pitchFamily="34" charset="0"/>
            </a:endParaRPr>
          </a:p>
        </p:txBody>
      </p:sp>
      <p:pic>
        <p:nvPicPr>
          <p:cNvPr id="5" name="Picture 4">
            <a:extLst>
              <a:ext uri="{FF2B5EF4-FFF2-40B4-BE49-F238E27FC236}">
                <a16:creationId xmlns:a16="http://schemas.microsoft.com/office/drawing/2014/main" id="{862F451F-1899-9BB1-BB81-546290D2EE18}"/>
              </a:ext>
            </a:extLst>
          </p:cNvPr>
          <p:cNvPicPr>
            <a:picLocks noChangeAspect="1"/>
          </p:cNvPicPr>
          <p:nvPr/>
        </p:nvPicPr>
        <p:blipFill>
          <a:blip r:embed="rId6">
            <a:grayscl/>
          </a:blip>
          <a:stretch>
            <a:fillRect/>
          </a:stretch>
        </p:blipFill>
        <p:spPr>
          <a:xfrm>
            <a:off x="781665" y="1297858"/>
            <a:ext cx="9822425" cy="5161936"/>
          </a:xfrm>
          <a:prstGeom prst="rect">
            <a:avLst/>
          </a:prstGeom>
        </p:spPr>
      </p:pic>
    </p:spTree>
    <p:extLst>
      <p:ext uri="{BB962C8B-B14F-4D97-AF65-F5344CB8AC3E}">
        <p14:creationId xmlns:p14="http://schemas.microsoft.com/office/powerpoint/2010/main" val="3029051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475135" y="1407591"/>
            <a:ext cx="11229029" cy="4524315"/>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Venn Diagram</a:t>
            </a:r>
          </a:p>
          <a:p>
            <a:pPr marL="342900" indent="-342900">
              <a:lnSpc>
                <a:spcPct val="150000"/>
              </a:lnSpc>
              <a:buFont typeface="Arial" panose="020B0604020202020204" pitchFamily="34" charset="0"/>
              <a:buChar char="•"/>
            </a:pPr>
            <a:r>
              <a:rPr lang="en-US" sz="2400" dirty="0">
                <a:latin typeface="Trebuchet MS" panose="020B0603020202020204" pitchFamily="34" charset="0"/>
              </a:rPr>
              <a:t>A Venn diagram is a </a:t>
            </a:r>
            <a:r>
              <a:rPr lang="en-US" sz="2400" dirty="0">
                <a:solidFill>
                  <a:srgbClr val="0070C0"/>
                </a:solidFill>
                <a:latin typeface="Trebuchet MS" panose="020B0603020202020204" pitchFamily="34" charset="0"/>
              </a:rPr>
              <a:t>graphical representation of mathematical </a:t>
            </a:r>
            <a:r>
              <a:rPr lang="en-US" sz="2400" dirty="0">
                <a:latin typeface="Trebuchet MS" panose="020B0603020202020204" pitchFamily="34" charset="0"/>
              </a:rPr>
              <a:t>or </a:t>
            </a:r>
            <a:r>
              <a:rPr lang="en-US" sz="2400" dirty="0">
                <a:solidFill>
                  <a:srgbClr val="0070C0"/>
                </a:solidFill>
                <a:latin typeface="Trebuchet MS" panose="020B0603020202020204" pitchFamily="34" charset="0"/>
              </a:rPr>
              <a:t>logical relationships</a:t>
            </a:r>
            <a:r>
              <a:rPr lang="en-US" sz="2400" dirty="0">
                <a:latin typeface="Trebuchet MS" panose="020B0603020202020204" pitchFamily="34" charset="0"/>
              </a:rPr>
              <a:t> between </a:t>
            </a:r>
            <a:r>
              <a:rPr lang="en-US" sz="2400" dirty="0">
                <a:solidFill>
                  <a:srgbClr val="0070C0"/>
                </a:solidFill>
                <a:latin typeface="Trebuchet MS" panose="020B0603020202020204" pitchFamily="34" charset="0"/>
              </a:rPr>
              <a:t>different sets</a:t>
            </a:r>
            <a:r>
              <a:rPr lang="en-US" sz="2400" dirty="0">
                <a:latin typeface="Trebuchet MS" panose="020B0603020202020204" pitchFamily="34" charset="0"/>
              </a:rPr>
              <a:t>. </a:t>
            </a:r>
          </a:p>
          <a:p>
            <a:pPr>
              <a:lnSpc>
                <a:spcPct val="150000"/>
              </a:lnSpc>
            </a:pPr>
            <a:r>
              <a:rPr lang="en-US" sz="2400" b="1" dirty="0">
                <a:solidFill>
                  <a:srgbClr val="0070C0"/>
                </a:solidFill>
                <a:latin typeface="Trebuchet MS" panose="020B0603020202020204" pitchFamily="34" charset="0"/>
              </a:rPr>
              <a:t>Use of Venn Diagram</a:t>
            </a:r>
          </a:p>
          <a:p>
            <a:pPr marL="342900" indent="-342900">
              <a:lnSpc>
                <a:spcPct val="150000"/>
              </a:lnSpc>
              <a:buFont typeface="Arial" panose="020B0604020202020204" pitchFamily="34" charset="0"/>
              <a:buChar char="•"/>
            </a:pPr>
            <a:r>
              <a:rPr lang="en-US" sz="2400" dirty="0">
                <a:latin typeface="Trebuchet MS" panose="020B0603020202020204" pitchFamily="34" charset="0"/>
              </a:rPr>
              <a:t>Venn diagram is used in mathematics to understand the set theory.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We also use it to understand the relationship between or among sets of objects. It depicts the set of </a:t>
            </a:r>
            <a:r>
              <a:rPr lang="en-US" sz="2400" dirty="0">
                <a:solidFill>
                  <a:srgbClr val="FF0000"/>
                </a:solidFill>
                <a:latin typeface="Trebuchet MS" panose="020B0603020202020204" pitchFamily="34" charset="0"/>
              </a:rPr>
              <a:t>intersections</a:t>
            </a:r>
            <a:r>
              <a:rPr lang="en-US" sz="2400" dirty="0">
                <a:latin typeface="Trebuchet MS" panose="020B0603020202020204" pitchFamily="34" charset="0"/>
              </a:rPr>
              <a:t> and </a:t>
            </a:r>
            <a:r>
              <a:rPr lang="en-US" sz="2400" dirty="0">
                <a:solidFill>
                  <a:srgbClr val="FF0000"/>
                </a:solidFill>
                <a:latin typeface="Trebuchet MS" panose="020B0603020202020204" pitchFamily="34" charset="0"/>
              </a:rPr>
              <a:t>unions.</a:t>
            </a:r>
          </a:p>
          <a:p>
            <a:pPr marL="342900" indent="-342900">
              <a:lnSpc>
                <a:spcPct val="150000"/>
              </a:lnSpc>
              <a:buFont typeface="Arial" panose="020B0604020202020204" pitchFamily="34" charset="0"/>
              <a:buChar char="•"/>
            </a:pPr>
            <a:r>
              <a:rPr lang="en-US" sz="2400" dirty="0">
                <a:latin typeface="Trebuchet MS" panose="020B0603020202020204" pitchFamily="34" charset="0"/>
              </a:rPr>
              <a:t>Venn Diagrams are used to </a:t>
            </a:r>
            <a:r>
              <a:rPr lang="en-US" sz="2400" dirty="0">
                <a:solidFill>
                  <a:srgbClr val="0070C0"/>
                </a:solidFill>
                <a:latin typeface="Trebuchet MS" panose="020B0603020202020204" pitchFamily="34" charset="0"/>
              </a:rPr>
              <a:t>represent the groups of data </a:t>
            </a:r>
            <a:r>
              <a:rPr lang="en-US" sz="2400" dirty="0">
                <a:latin typeface="Trebuchet MS" panose="020B0603020202020204" pitchFamily="34" charset="0"/>
              </a:rPr>
              <a:t>in circles. </a:t>
            </a:r>
          </a:p>
        </p:txBody>
      </p:sp>
    </p:spTree>
    <p:extLst>
      <p:ext uri="{BB962C8B-B14F-4D97-AF65-F5344CB8AC3E}">
        <p14:creationId xmlns:p14="http://schemas.microsoft.com/office/powerpoint/2010/main" val="3971389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94345" y="1081007"/>
            <a:ext cx="11229029" cy="5632311"/>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Advantages of Venn Diagram</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It is used for both comparison and classification</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It groups the information into different parts</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It also highlights the similarities and differences</a:t>
            </a:r>
          </a:p>
          <a:p>
            <a:pPr marL="0" lvl="1">
              <a:lnSpc>
                <a:spcPct val="150000"/>
              </a:lnSpc>
            </a:pPr>
            <a:r>
              <a:rPr lang="en-US" sz="2400" b="1" dirty="0">
                <a:solidFill>
                  <a:srgbClr val="0070C0"/>
                </a:solidFill>
                <a:latin typeface="Trebuchet MS" panose="020B0603020202020204" pitchFamily="34" charset="0"/>
              </a:rPr>
              <a:t>Example </a:t>
            </a: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p:txBody>
      </p:sp>
      <p:pic>
        <p:nvPicPr>
          <p:cNvPr id="3" name="Picture 2"/>
          <p:cNvPicPr>
            <a:picLocks noChangeAspect="1"/>
          </p:cNvPicPr>
          <p:nvPr/>
        </p:nvPicPr>
        <p:blipFill>
          <a:blip r:embed="rId6">
            <a:extLst>
              <a:ext uri="{BEBA8EAE-BF5A-486C-A8C5-ECC9F3942E4B}">
                <a14:imgProps xmlns:a14="http://schemas.microsoft.com/office/drawing/2010/main">
                  <a14:imgLayer r:embed="rId7">
                    <a14:imgEffect>
                      <a14:saturation sat="33000"/>
                    </a14:imgEffect>
                  </a14:imgLayer>
                </a14:imgProps>
              </a:ext>
            </a:extLst>
          </a:blip>
          <a:stretch>
            <a:fillRect/>
          </a:stretch>
        </p:blipFill>
        <p:spPr>
          <a:xfrm>
            <a:off x="1165123" y="3956533"/>
            <a:ext cx="3339794" cy="2253955"/>
          </a:xfrm>
          <a:prstGeom prst="rect">
            <a:avLst/>
          </a:prstGeom>
        </p:spPr>
      </p:pic>
    </p:spTree>
    <p:extLst>
      <p:ext uri="{BB962C8B-B14F-4D97-AF65-F5344CB8AC3E}">
        <p14:creationId xmlns:p14="http://schemas.microsoft.com/office/powerpoint/2010/main" val="1068383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1225" y="885202"/>
            <a:ext cx="7051029" cy="6740307"/>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Venn Diagram Example</a:t>
            </a:r>
          </a:p>
          <a:p>
            <a:pPr marL="342900" indent="-342900">
              <a:lnSpc>
                <a:spcPct val="150000"/>
              </a:lnSpc>
              <a:buFont typeface="Arial" panose="020B0604020202020204" pitchFamily="34" charset="0"/>
              <a:buChar char="•"/>
            </a:pPr>
            <a:r>
              <a:rPr lang="en-US" sz="2400" dirty="0">
                <a:latin typeface="Trebuchet MS" panose="020B0603020202020204" pitchFamily="34" charset="0"/>
              </a:rPr>
              <a:t>Let us observe a Venn diagram example. Here is the Venn diagram that shows the correlation between the following set of numbers.</a:t>
            </a:r>
          </a:p>
          <a:p>
            <a:pPr marL="342900" indent="-342900">
              <a:lnSpc>
                <a:spcPct val="150000"/>
              </a:lnSpc>
              <a:buFont typeface="Arial" panose="020B0604020202020204" pitchFamily="34" charset="0"/>
              <a:buChar char="•"/>
            </a:pPr>
            <a:r>
              <a:rPr lang="en-US" sz="2400" dirty="0">
                <a:latin typeface="Trebuchet MS" panose="020B0603020202020204" pitchFamily="34" charset="0"/>
              </a:rPr>
              <a:t>One set contains even numbers from 1 to 25 and the other set contains the numbers in the 5x table from 1 to 25.</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 intersecting part shows that 10 and 20 are both even numbers and also multiples of 5 between 1 to 25.</a:t>
            </a: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p:txBody>
      </p:sp>
      <p:pic>
        <p:nvPicPr>
          <p:cNvPr id="5" name="Picture 4"/>
          <p:cNvPicPr>
            <a:picLocks noChangeAspect="1"/>
          </p:cNvPicPr>
          <p:nvPr/>
        </p:nvPicPr>
        <p:blipFill rotWithShape="1">
          <a:blip r:embed="rId6"/>
          <a:srcRect l="4469" r="4665"/>
          <a:stretch/>
        </p:blipFill>
        <p:spPr>
          <a:xfrm>
            <a:off x="7064477" y="1592826"/>
            <a:ext cx="4906233" cy="4350774"/>
          </a:xfrm>
          <a:prstGeom prst="rect">
            <a:avLst/>
          </a:prstGeom>
        </p:spPr>
      </p:pic>
    </p:spTree>
    <p:extLst>
      <p:ext uri="{BB962C8B-B14F-4D97-AF65-F5344CB8AC3E}">
        <p14:creationId xmlns:p14="http://schemas.microsoft.com/office/powerpoint/2010/main" val="2477068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7165" y="1066184"/>
            <a:ext cx="11296209" cy="5078313"/>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Terms for represents the Venn Diagram</a:t>
            </a:r>
          </a:p>
          <a:p>
            <a:pPr marL="342900" indent="-342900">
              <a:lnSpc>
                <a:spcPct val="150000"/>
              </a:lnSpc>
              <a:buFont typeface="Arial" panose="020B0604020202020204" pitchFamily="34" charset="0"/>
              <a:buChar char="•"/>
            </a:pPr>
            <a:r>
              <a:rPr lang="en-US" sz="2400" dirty="0">
                <a:latin typeface="Trebuchet MS" panose="020B0603020202020204" pitchFamily="34" charset="0"/>
              </a:rPr>
              <a:t>Let us understand the following terms and concepts related to Venn Diagram, to understand it better.</a:t>
            </a:r>
          </a:p>
          <a:p>
            <a:pPr>
              <a:lnSpc>
                <a:spcPct val="150000"/>
              </a:lnSpc>
            </a:pPr>
            <a:r>
              <a:rPr lang="en-US" sz="2400" b="1" dirty="0">
                <a:solidFill>
                  <a:srgbClr val="0070C0"/>
                </a:solidFill>
                <a:latin typeface="Trebuchet MS" panose="020B0603020202020204" pitchFamily="34" charset="0"/>
              </a:rPr>
              <a:t>Universal Set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Whenever we use a set, it is easier to first consider a </a:t>
            </a:r>
            <a:r>
              <a:rPr lang="en-US" sz="2400" b="1" dirty="0">
                <a:solidFill>
                  <a:srgbClr val="0070C0"/>
                </a:solidFill>
                <a:latin typeface="Trebuchet MS" panose="020B0603020202020204" pitchFamily="34" charset="0"/>
              </a:rPr>
              <a:t>larger set called a universal set </a:t>
            </a:r>
            <a:r>
              <a:rPr lang="en-US" sz="2400" dirty="0">
                <a:latin typeface="Trebuchet MS" panose="020B0603020202020204" pitchFamily="34" charset="0"/>
              </a:rPr>
              <a:t>that contains all of the elements in all of the sets that are being considered. Follow the below, </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A large rectangle is used to represent the universal set and it is usually denoted by the symbol E or sometimes U.</a:t>
            </a:r>
          </a:p>
        </p:txBody>
      </p:sp>
    </p:spTree>
    <p:extLst>
      <p:ext uri="{BB962C8B-B14F-4D97-AF65-F5344CB8AC3E}">
        <p14:creationId xmlns:p14="http://schemas.microsoft.com/office/powerpoint/2010/main" val="2904028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7165" y="1066184"/>
            <a:ext cx="11296209" cy="2794483"/>
          </a:xfrm>
          <a:prstGeom prst="rect">
            <a:avLst/>
          </a:prstGeom>
        </p:spPr>
        <p:txBody>
          <a:bodyPr wrap="square">
            <a:spAutoFit/>
          </a:bodyPr>
          <a:lstStyle/>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All the other sets are represented by circles or closed figures within this larger rectangle.</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Every set is the subset of the universal set U.</a:t>
            </a:r>
          </a:p>
          <a:p>
            <a:pPr>
              <a:lnSpc>
                <a:spcPct val="150000"/>
              </a:lnSpc>
            </a:pPr>
            <a:endParaRPr lang="en-US" sz="2400" b="1" dirty="0">
              <a:latin typeface="Trebuchet MS" panose="020B0603020202020204" pitchFamily="34" charset="0"/>
            </a:endParaRPr>
          </a:p>
          <a:p>
            <a:pPr>
              <a:lnSpc>
                <a:spcPct val="150000"/>
              </a:lnSpc>
            </a:pPr>
            <a:endParaRPr lang="en-US" sz="2400" b="1" dirty="0">
              <a:latin typeface="Trebuchet MS" panose="020B0603020202020204" pitchFamily="34" charset="0"/>
            </a:endParaRPr>
          </a:p>
        </p:txBody>
      </p:sp>
      <p:pic>
        <p:nvPicPr>
          <p:cNvPr id="3" name="Picture 2"/>
          <p:cNvPicPr>
            <a:picLocks noChangeAspect="1"/>
          </p:cNvPicPr>
          <p:nvPr/>
        </p:nvPicPr>
        <p:blipFill>
          <a:blip r:embed="rId6">
            <a:grayscl/>
          </a:blip>
          <a:stretch>
            <a:fillRect/>
          </a:stretch>
        </p:blipFill>
        <p:spPr>
          <a:xfrm>
            <a:off x="2197509" y="3170102"/>
            <a:ext cx="4483509" cy="2683733"/>
          </a:xfrm>
          <a:prstGeom prst="rect">
            <a:avLst/>
          </a:prstGeom>
        </p:spPr>
      </p:pic>
    </p:spTree>
    <p:extLst>
      <p:ext uri="{BB962C8B-B14F-4D97-AF65-F5344CB8AC3E}">
        <p14:creationId xmlns:p14="http://schemas.microsoft.com/office/powerpoint/2010/main" val="3318554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7165" y="933082"/>
            <a:ext cx="11584669" cy="5632311"/>
          </a:xfrm>
          <a:prstGeom prst="rect">
            <a:avLst/>
          </a:prstGeom>
        </p:spPr>
        <p:txBody>
          <a:bodyPr wrap="square">
            <a:spAutoFit/>
          </a:bodyPr>
          <a:lstStyle/>
          <a:p>
            <a:pPr marL="88900" lvl="2">
              <a:lnSpc>
                <a:spcPct val="150000"/>
              </a:lnSpc>
            </a:pPr>
            <a:r>
              <a:rPr lang="en-US" sz="2400" dirty="0">
                <a:solidFill>
                  <a:srgbClr val="0070C0"/>
                </a:solidFill>
                <a:latin typeface="Trebuchet MS" panose="020B0603020202020204" pitchFamily="34" charset="0"/>
              </a:rPr>
              <a:t>Subset</a:t>
            </a:r>
          </a:p>
          <a:p>
            <a:pPr marL="431800" lvl="2" indent="-342900">
              <a:lnSpc>
                <a:spcPct val="150000"/>
              </a:lnSpc>
              <a:buFont typeface="Arial" panose="020B0604020202020204" pitchFamily="34" charset="0"/>
              <a:buChar char="•"/>
            </a:pPr>
            <a:r>
              <a:rPr lang="en-US" sz="2400" dirty="0">
                <a:latin typeface="Trebuchet MS" panose="020B0603020202020204" pitchFamily="34" charset="0"/>
              </a:rPr>
              <a:t>Venn diagrams are used to show subsets. A subset is actually a set that is contained within another set. </a:t>
            </a:r>
          </a:p>
          <a:p>
            <a:pPr marL="431800" lvl="2" indent="-342900">
              <a:lnSpc>
                <a:spcPct val="150000"/>
              </a:lnSpc>
              <a:buFont typeface="Arial" panose="020B0604020202020204" pitchFamily="34" charset="0"/>
              <a:buChar char="•"/>
            </a:pPr>
            <a:r>
              <a:rPr lang="en-US" sz="2400" dirty="0">
                <a:latin typeface="Trebuchet MS" panose="020B0603020202020204" pitchFamily="34" charset="0"/>
              </a:rPr>
              <a:t>Let us consider the examples of two sets A and B in the below-given figure. Here, A is a subset of B. Circle A is contained entirely within circle B. Also, all the elements of A are elements of set B.</a:t>
            </a:r>
          </a:p>
          <a:p>
            <a:pPr marL="431800" lvl="2" indent="-342900">
              <a:lnSpc>
                <a:spcPct val="150000"/>
              </a:lnSpc>
              <a:buFont typeface="Arial" panose="020B0604020202020204" pitchFamily="34" charset="0"/>
              <a:buChar char="•"/>
            </a:pPr>
            <a:endParaRPr lang="en-US" sz="2400" b="1" dirty="0">
              <a:latin typeface="Trebuchet MS" panose="020B0603020202020204" pitchFamily="34" charset="0"/>
            </a:endParaRPr>
          </a:p>
          <a:p>
            <a:pPr marL="431800" lvl="2" indent="-342900">
              <a:lnSpc>
                <a:spcPct val="150000"/>
              </a:lnSpc>
              <a:buFont typeface="Arial" panose="020B0604020202020204" pitchFamily="34" charset="0"/>
              <a:buChar char="•"/>
            </a:pPr>
            <a:endParaRPr lang="en-US" sz="2400" b="1" dirty="0">
              <a:latin typeface="Trebuchet MS" panose="020B0603020202020204" pitchFamily="34" charset="0"/>
            </a:endParaRPr>
          </a:p>
          <a:p>
            <a:pPr marL="431800" lvl="2" indent="-342900">
              <a:lnSpc>
                <a:spcPct val="150000"/>
              </a:lnSpc>
              <a:buFont typeface="Arial" panose="020B0604020202020204" pitchFamily="34" charset="0"/>
              <a:buChar char="•"/>
            </a:pPr>
            <a:endParaRPr lang="en-US" sz="2400" b="1" dirty="0">
              <a:latin typeface="Trebuchet MS" panose="020B0603020202020204" pitchFamily="34" charset="0"/>
            </a:endParaRPr>
          </a:p>
          <a:p>
            <a:pPr>
              <a:lnSpc>
                <a:spcPct val="150000"/>
              </a:lnSpc>
            </a:pPr>
            <a:endParaRPr lang="en-US" sz="2400" b="1" dirty="0">
              <a:latin typeface="Trebuchet MS" panose="020B0603020202020204" pitchFamily="34" charset="0"/>
            </a:endParaRPr>
          </a:p>
        </p:txBody>
      </p:sp>
      <p:pic>
        <p:nvPicPr>
          <p:cNvPr id="5" name="Picture 4"/>
          <p:cNvPicPr>
            <a:picLocks noChangeAspect="1"/>
          </p:cNvPicPr>
          <p:nvPr/>
        </p:nvPicPr>
        <p:blipFill rotWithShape="1">
          <a:blip r:embed="rId6">
            <a:grayscl/>
          </a:blip>
          <a:srcRect t="3413" r="9232"/>
          <a:stretch/>
        </p:blipFill>
        <p:spPr>
          <a:xfrm>
            <a:off x="2713703" y="4173793"/>
            <a:ext cx="3628103" cy="2503907"/>
          </a:xfrm>
          <a:prstGeom prst="rect">
            <a:avLst/>
          </a:prstGeom>
        </p:spPr>
      </p:pic>
    </p:spTree>
    <p:extLst>
      <p:ext uri="{BB962C8B-B14F-4D97-AF65-F5344CB8AC3E}">
        <p14:creationId xmlns:p14="http://schemas.microsoft.com/office/powerpoint/2010/main" val="2018251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Diagram Representation </a:t>
            </a:r>
            <a:endParaRPr lang="en-IN" sz="1600" dirty="0">
              <a:solidFill>
                <a:schemeClr val="bg1"/>
              </a:solidFill>
              <a:latin typeface="Corbel" panose="020B0503020204020204" pitchFamily="34" charset="0"/>
            </a:endParaRPr>
          </a:p>
        </p:txBody>
      </p:sp>
      <p:pic>
        <p:nvPicPr>
          <p:cNvPr id="3" name="Picture 2"/>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62243" y="1100208"/>
            <a:ext cx="7506929" cy="5410366"/>
          </a:xfrm>
          <a:prstGeom prst="rect">
            <a:avLst/>
          </a:prstGeom>
        </p:spPr>
      </p:pic>
      <p:pic>
        <p:nvPicPr>
          <p:cNvPr id="7" name="Picture 6"/>
          <p:cNvPicPr>
            <a:picLocks noChangeAspect="1"/>
          </p:cNvPicPr>
          <p:nvPr/>
        </p:nvPicPr>
        <p:blipFill>
          <a:blip r:embed="rId8">
            <a:grayscl/>
          </a:blip>
          <a:stretch>
            <a:fillRect/>
          </a:stretch>
        </p:blipFill>
        <p:spPr>
          <a:xfrm>
            <a:off x="8703305" y="1271896"/>
            <a:ext cx="2702082" cy="2533495"/>
          </a:xfrm>
          <a:prstGeom prst="rect">
            <a:avLst/>
          </a:prstGeom>
        </p:spPr>
      </p:pic>
    </p:spTree>
    <p:extLst>
      <p:ext uri="{BB962C8B-B14F-4D97-AF65-F5344CB8AC3E}">
        <p14:creationId xmlns:p14="http://schemas.microsoft.com/office/powerpoint/2010/main" val="2289256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1122020"/>
            <a:ext cx="11143209" cy="3323987"/>
          </a:xfrm>
          <a:prstGeom prst="rect">
            <a:avLst/>
          </a:prstGeom>
          <a:noFill/>
        </p:spPr>
        <p:txBody>
          <a:bodyPr wrap="square">
            <a:spAutoFit/>
          </a:bodyPr>
          <a:lstStyle/>
          <a:p>
            <a:pPr marL="342900" lvl="0" indent="-342900" algn="just">
              <a:lnSpc>
                <a:spcPct val="150000"/>
              </a:lnSpc>
              <a:spcBef>
                <a:spcPts val="1200"/>
              </a:spcBef>
              <a:spcAft>
                <a:spcPts val="600"/>
              </a:spcAft>
              <a:buFont typeface="Arial" panose="020B0604020202020204" pitchFamily="34" charset="0"/>
              <a:buChar char="•"/>
              <a:defRPr/>
            </a:pPr>
            <a:r>
              <a:rPr lang="en-US" sz="2400" dirty="0">
                <a:latin typeface="Trebuchet MS" panose="020B0603020202020204" pitchFamily="34" charset="0"/>
              </a:rPr>
              <a:t>Bin Packing problem involves assigning </a:t>
            </a:r>
            <a:r>
              <a:rPr lang="en-US" sz="2400" dirty="0">
                <a:solidFill>
                  <a:srgbClr val="FF0000"/>
                </a:solidFill>
                <a:latin typeface="Trebuchet MS" panose="020B0603020202020204" pitchFamily="34" charset="0"/>
              </a:rPr>
              <a:t>n</a:t>
            </a:r>
            <a:r>
              <a:rPr lang="en-US" sz="2400" dirty="0">
                <a:latin typeface="Trebuchet MS" panose="020B0603020202020204" pitchFamily="34" charset="0"/>
              </a:rPr>
              <a:t> items of </a:t>
            </a:r>
            <a:r>
              <a:rPr lang="en-US" sz="2400" dirty="0">
                <a:solidFill>
                  <a:srgbClr val="FF0000"/>
                </a:solidFill>
                <a:latin typeface="Trebuchet MS" panose="020B0603020202020204" pitchFamily="34" charset="0"/>
              </a:rPr>
              <a:t>different weights </a:t>
            </a:r>
            <a:r>
              <a:rPr lang="en-US" sz="2400" dirty="0">
                <a:latin typeface="Trebuchet MS" panose="020B0603020202020204" pitchFamily="34" charset="0"/>
              </a:rPr>
              <a:t>and bins each of capacity C to a bin such that number of total used bins is minimized. It may be assumed that all items have weights smaller than bin capacity.</a:t>
            </a:r>
          </a:p>
          <a:p>
            <a:pPr marL="342900" lvl="0" indent="-342900" algn="just">
              <a:lnSpc>
                <a:spcPct val="150000"/>
              </a:lnSpc>
              <a:spcBef>
                <a:spcPts val="1200"/>
              </a:spcBef>
              <a:spcAft>
                <a:spcPts val="600"/>
              </a:spcAft>
              <a:buFont typeface="Arial" panose="020B0604020202020204" pitchFamily="34" charset="0"/>
              <a:buChar char="•"/>
              <a:defRPr/>
            </a:pPr>
            <a:endParaRPr lang="en-US" sz="2400" dirty="0">
              <a:latin typeface="Trebuchet MS" panose="020B0603020202020204" pitchFamily="34" charset="0"/>
            </a:endParaRPr>
          </a:p>
          <a:p>
            <a:pPr marL="342900" lvl="0" indent="-342900" algn="just">
              <a:lnSpc>
                <a:spcPct val="150000"/>
              </a:lnSpc>
              <a:spcBef>
                <a:spcPts val="1200"/>
              </a:spcBef>
              <a:spcAft>
                <a:spcPts val="600"/>
              </a:spcAft>
              <a:buFont typeface="Arial" panose="020B0604020202020204" pitchFamily="34" charset="0"/>
              <a:buChar char="•"/>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2272859" y="3422650"/>
            <a:ext cx="5620534" cy="2139043"/>
          </a:xfrm>
          <a:prstGeom prst="rect">
            <a:avLst/>
          </a:prstGeom>
        </p:spPr>
      </p:pic>
    </p:spTree>
    <p:extLst>
      <p:ext uri="{BB962C8B-B14F-4D97-AF65-F5344CB8AC3E}">
        <p14:creationId xmlns:p14="http://schemas.microsoft.com/office/powerpoint/2010/main" val="2714463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983821"/>
            <a:ext cx="11143209" cy="5232202"/>
          </a:xfrm>
          <a:prstGeom prst="rect">
            <a:avLst/>
          </a:prstGeom>
          <a:noFill/>
        </p:spPr>
        <p:txBody>
          <a:bodyPr wrap="square">
            <a:spAutoFit/>
          </a:bodyPr>
          <a:lstStyle/>
          <a:p>
            <a:pPr lvl="0" algn="just">
              <a:lnSpc>
                <a:spcPct val="150000"/>
              </a:lnSpc>
              <a:defRPr/>
            </a:pPr>
            <a:r>
              <a:rPr lang="en-US" sz="2400" b="1" dirty="0">
                <a:solidFill>
                  <a:srgbClr val="0070C0"/>
                </a:solidFill>
                <a:latin typeface="Trebuchet MS" panose="020B0603020202020204" pitchFamily="34" charset="0"/>
              </a:rPr>
              <a:t>Mathematical Formulation of Bin Packing</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The Bin-Packing Problem (BPP) can also be </a:t>
            </a:r>
            <a:r>
              <a:rPr lang="en-US" sz="2400" dirty="0" err="1">
                <a:latin typeface="Trebuchet MS" panose="020B0603020202020204" pitchFamily="34" charset="0"/>
              </a:rPr>
              <a:t>described,using</a:t>
            </a:r>
            <a:r>
              <a:rPr lang="en-US" sz="2400" dirty="0">
                <a:latin typeface="Trebuchet MS" panose="020B0603020202020204" pitchFamily="34" charset="0"/>
              </a:rPr>
              <a:t> the terminology of knapsack problems, as follows. </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Given n items and n knapsacks (or bins), with</a:t>
            </a:r>
          </a:p>
          <a:p>
            <a:pPr marL="1257300" lvl="2" indent="-342900" algn="just">
              <a:lnSpc>
                <a:spcPct val="150000"/>
              </a:lnSpc>
              <a:buFont typeface="Wingdings" panose="05000000000000000000" pitchFamily="2" charset="2"/>
              <a:buChar char="ü"/>
              <a:defRPr/>
            </a:pPr>
            <a:r>
              <a:rPr lang="en-US" sz="2400" dirty="0" err="1">
                <a:latin typeface="Trebuchet MS" panose="020B0603020202020204" pitchFamily="34" charset="0"/>
              </a:rPr>
              <a:t>Wj</a:t>
            </a:r>
            <a:r>
              <a:rPr lang="en-US" sz="2400" dirty="0">
                <a:latin typeface="Trebuchet MS" panose="020B0603020202020204" pitchFamily="34" charset="0"/>
              </a:rPr>
              <a:t> = weight of item j,</a:t>
            </a:r>
          </a:p>
          <a:p>
            <a:pPr marL="1257300" lvl="2" indent="-342900" algn="just">
              <a:lnSpc>
                <a:spcPct val="150000"/>
              </a:lnSpc>
              <a:buFont typeface="Wingdings" panose="05000000000000000000" pitchFamily="2" charset="2"/>
              <a:buChar char="ü"/>
              <a:defRPr/>
            </a:pPr>
            <a:r>
              <a:rPr lang="en-US" sz="2400" dirty="0" err="1">
                <a:latin typeface="Trebuchet MS" panose="020B0603020202020204" pitchFamily="34" charset="0"/>
              </a:rPr>
              <a:t>cj</a:t>
            </a:r>
            <a:r>
              <a:rPr lang="en-US" sz="2400" dirty="0">
                <a:latin typeface="Trebuchet MS" panose="020B0603020202020204" pitchFamily="34" charset="0"/>
              </a:rPr>
              <a:t> = capacity of each bin</a:t>
            </a:r>
          </a:p>
          <a:p>
            <a:pPr marL="457200" lvl="3">
              <a:lnSpc>
                <a:spcPct val="150000"/>
              </a:lnSpc>
              <a:defRPr/>
            </a:pPr>
            <a:r>
              <a:rPr lang="en-US" sz="2400" dirty="0">
                <a:latin typeface="Trebuchet MS" panose="020B0603020202020204" pitchFamily="34" charset="0"/>
              </a:rPr>
              <a:t>assign each item to one bin so that the total weight of the items in each bin does not exceed c and the number of bins used is a minimum. </a:t>
            </a:r>
          </a:p>
          <a:p>
            <a:pPr lvl="0" algn="just">
              <a:lnSpc>
                <a:spcPct val="150000"/>
              </a:lnSpc>
              <a:spcBef>
                <a:spcPts val="1200"/>
              </a:spcBef>
              <a:spcAft>
                <a:spcPts val="600"/>
              </a:spcAft>
              <a:defRPr/>
            </a:pPr>
            <a:endParaRPr lang="en-US" sz="2400" dirty="0">
              <a:latin typeface="Trebuchet MS" panose="020B0603020202020204" pitchFamily="34" charset="0"/>
            </a:endParaRPr>
          </a:p>
        </p:txBody>
      </p:sp>
    </p:spTree>
    <p:extLst>
      <p:ext uri="{BB962C8B-B14F-4D97-AF65-F5344CB8AC3E}">
        <p14:creationId xmlns:p14="http://schemas.microsoft.com/office/powerpoint/2010/main" val="2573728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885202"/>
            <a:ext cx="11143209" cy="1286378"/>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A possible  mathematical formulation of the problem is</a:t>
            </a:r>
          </a:p>
          <a:p>
            <a:pPr marL="342900" lvl="0" indent="-342900" algn="just">
              <a:lnSpc>
                <a:spcPct val="150000"/>
              </a:lnSpc>
              <a:spcBef>
                <a:spcPts val="1200"/>
              </a:spcBef>
              <a:spcAft>
                <a:spcPts val="600"/>
              </a:spcAft>
              <a:buFont typeface="Arial" panose="020B0604020202020204" pitchFamily="34" charset="0"/>
              <a:buChar char="•"/>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520505" y="1564412"/>
            <a:ext cx="7793502" cy="3190406"/>
          </a:xfrm>
          <a:prstGeom prst="rect">
            <a:avLst/>
          </a:prstGeom>
        </p:spPr>
      </p:pic>
      <p:pic>
        <p:nvPicPr>
          <p:cNvPr id="5" name="Picture 4"/>
          <p:cNvPicPr>
            <a:picLocks noChangeAspect="1"/>
          </p:cNvPicPr>
          <p:nvPr/>
        </p:nvPicPr>
        <p:blipFill>
          <a:blip r:embed="rId7"/>
          <a:stretch>
            <a:fillRect/>
          </a:stretch>
        </p:blipFill>
        <p:spPr>
          <a:xfrm>
            <a:off x="1112549" y="4852944"/>
            <a:ext cx="5887272" cy="1602235"/>
          </a:xfrm>
          <a:prstGeom prst="rect">
            <a:avLst/>
          </a:prstGeom>
        </p:spPr>
      </p:pic>
    </p:spTree>
    <p:extLst>
      <p:ext uri="{BB962C8B-B14F-4D97-AF65-F5344CB8AC3E}">
        <p14:creationId xmlns:p14="http://schemas.microsoft.com/office/powerpoint/2010/main" val="662859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662243" y="1437491"/>
            <a:ext cx="10803650" cy="3970318"/>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We will suppose, as is usual, that the weights </a:t>
            </a:r>
            <a:r>
              <a:rPr lang="en-US" sz="2400" dirty="0" err="1">
                <a:latin typeface="Trebuchet MS" panose="020B0603020202020204" pitchFamily="34" charset="0"/>
              </a:rPr>
              <a:t>Wj</a:t>
            </a:r>
            <a:r>
              <a:rPr lang="en-US" sz="2400" dirty="0">
                <a:latin typeface="Trebuchet MS" panose="020B0603020202020204" pitchFamily="34" charset="0"/>
              </a:rPr>
              <a:t> are positive integers. Hence, without loss of generality, we will also assume that c is a positive integer</a:t>
            </a:r>
          </a:p>
          <a:p>
            <a:pPr lvl="2" algn="just">
              <a:lnSpc>
                <a:spcPct val="150000"/>
              </a:lnSpc>
              <a:defRPr/>
            </a:pPr>
            <a:r>
              <a:rPr lang="en-US" sz="2400" dirty="0" err="1">
                <a:solidFill>
                  <a:srgbClr val="C00000"/>
                </a:solidFill>
                <a:latin typeface="Trebuchet MS" panose="020B0603020202020204" pitchFamily="34" charset="0"/>
              </a:rPr>
              <a:t>Wj</a:t>
            </a:r>
            <a:r>
              <a:rPr lang="en-US" sz="2400" dirty="0">
                <a:solidFill>
                  <a:srgbClr val="C00000"/>
                </a:solidFill>
                <a:latin typeface="Trebuchet MS" panose="020B0603020202020204" pitchFamily="34" charset="0"/>
              </a:rPr>
              <a:t> &lt; c for j belonging to N.</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As you can see, we have a broad rule of approximation and not an exact algorithm. Such algorithms are called NP problems. In fact Bin Packing Problem is a NP-hard problem.</a:t>
            </a:r>
          </a:p>
        </p:txBody>
      </p:sp>
    </p:spTree>
    <p:extLst>
      <p:ext uri="{BB962C8B-B14F-4D97-AF65-F5344CB8AC3E}">
        <p14:creationId xmlns:p14="http://schemas.microsoft.com/office/powerpoint/2010/main" val="2588080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1276207"/>
            <a:ext cx="10803650" cy="1754326"/>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For the Bin-Packing problem, let us consider bins of size 1,</a:t>
            </a:r>
          </a:p>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Assuming the sizes of the items be {0.5, 0.7, 0.5, 0.2, 0.4, 0.2, 0.5, 0.1, 0.6}.</a:t>
            </a:r>
          </a:p>
        </p:txBody>
      </p:sp>
      <p:pic>
        <p:nvPicPr>
          <p:cNvPr id="3" name="Picture 2"/>
          <p:cNvPicPr>
            <a:picLocks noChangeAspect="1"/>
          </p:cNvPicPr>
          <p:nvPr/>
        </p:nvPicPr>
        <p:blipFill>
          <a:blip r:embed="rId6"/>
          <a:stretch>
            <a:fillRect/>
          </a:stretch>
        </p:blipFill>
        <p:spPr>
          <a:xfrm>
            <a:off x="2381747" y="2644725"/>
            <a:ext cx="5487166" cy="1411907"/>
          </a:xfrm>
          <a:prstGeom prst="rect">
            <a:avLst/>
          </a:prstGeom>
        </p:spPr>
      </p:pic>
      <p:pic>
        <p:nvPicPr>
          <p:cNvPr id="5" name="Picture 4"/>
          <p:cNvPicPr>
            <a:picLocks noChangeAspect="1"/>
          </p:cNvPicPr>
          <p:nvPr/>
        </p:nvPicPr>
        <p:blipFill>
          <a:blip r:embed="rId7"/>
          <a:stretch>
            <a:fillRect/>
          </a:stretch>
        </p:blipFill>
        <p:spPr>
          <a:xfrm>
            <a:off x="1591480" y="4208972"/>
            <a:ext cx="7130489" cy="2388777"/>
          </a:xfrm>
          <a:prstGeom prst="rect">
            <a:avLst/>
          </a:prstGeom>
        </p:spPr>
      </p:pic>
    </p:spTree>
    <p:extLst>
      <p:ext uri="{BB962C8B-B14F-4D97-AF65-F5344CB8AC3E}">
        <p14:creationId xmlns:p14="http://schemas.microsoft.com/office/powerpoint/2010/main" val="281100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1276207"/>
            <a:ext cx="10803650" cy="1754326"/>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For the Bin-Packing problem, let us consider bins of size 1,</a:t>
            </a:r>
          </a:p>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Assuming the sizes of the items be {0.5, 0.7, 0.5, 0.2, 0.4, 0.2, 0.5, 0.1, 0.6}.</a:t>
            </a:r>
          </a:p>
        </p:txBody>
      </p:sp>
      <p:pic>
        <p:nvPicPr>
          <p:cNvPr id="3" name="Picture 2"/>
          <p:cNvPicPr>
            <a:picLocks noChangeAspect="1"/>
          </p:cNvPicPr>
          <p:nvPr/>
        </p:nvPicPr>
        <p:blipFill>
          <a:blip r:embed="rId6"/>
          <a:stretch>
            <a:fillRect/>
          </a:stretch>
        </p:blipFill>
        <p:spPr>
          <a:xfrm>
            <a:off x="2381747" y="2644725"/>
            <a:ext cx="5487166" cy="1411907"/>
          </a:xfrm>
          <a:prstGeom prst="rect">
            <a:avLst/>
          </a:prstGeom>
        </p:spPr>
      </p:pic>
      <p:pic>
        <p:nvPicPr>
          <p:cNvPr id="5" name="Picture 4"/>
          <p:cNvPicPr>
            <a:picLocks noChangeAspect="1"/>
          </p:cNvPicPr>
          <p:nvPr/>
        </p:nvPicPr>
        <p:blipFill>
          <a:blip r:embed="rId7"/>
          <a:stretch>
            <a:fillRect/>
          </a:stretch>
        </p:blipFill>
        <p:spPr>
          <a:xfrm>
            <a:off x="1591480" y="4208972"/>
            <a:ext cx="7130489" cy="2388777"/>
          </a:xfrm>
          <a:prstGeom prst="rect">
            <a:avLst/>
          </a:prstGeom>
        </p:spPr>
      </p:pic>
    </p:spTree>
    <p:extLst>
      <p:ext uri="{BB962C8B-B14F-4D97-AF65-F5344CB8AC3E}">
        <p14:creationId xmlns:p14="http://schemas.microsoft.com/office/powerpoint/2010/main" val="2243134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225421" y="906180"/>
            <a:ext cx="11431668" cy="6186309"/>
          </a:xfrm>
          <a:prstGeom prst="rect">
            <a:avLst/>
          </a:prstGeom>
          <a:noFill/>
        </p:spPr>
        <p:txBody>
          <a:bodyPr wrap="square">
            <a:spAutoFit/>
          </a:bodyPr>
          <a:lstStyle/>
          <a:p>
            <a:pPr lvl="0" algn="just">
              <a:lnSpc>
                <a:spcPct val="150000"/>
              </a:lnSpc>
              <a:defRPr/>
            </a:pPr>
            <a:r>
              <a:rPr lang="en-US" sz="2400" dirty="0">
                <a:solidFill>
                  <a:srgbClr val="0070C0"/>
                </a:solidFill>
                <a:latin typeface="Trebuchet MS" panose="020B0603020202020204" pitchFamily="34" charset="0"/>
              </a:rPr>
              <a:t>Lower Bound on Bins</a:t>
            </a:r>
          </a:p>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We can always find a lower bound on minimum number of bins required. The lower bound can be given as :</a:t>
            </a:r>
          </a:p>
          <a:p>
            <a:pPr lvl="0" algn="just">
              <a:lnSpc>
                <a:spcPct val="150000"/>
              </a:lnSpc>
              <a:defRPr/>
            </a:pPr>
            <a:r>
              <a:rPr lang="en-US" sz="2400" dirty="0">
                <a:solidFill>
                  <a:srgbClr val="000000"/>
                </a:solidFill>
                <a:latin typeface="Trebuchet MS" panose="020B0603020202020204" pitchFamily="34" charset="0"/>
              </a:rPr>
              <a:t>		</a:t>
            </a:r>
            <a:r>
              <a:rPr lang="en-US" sz="2400" dirty="0">
                <a:solidFill>
                  <a:srgbClr val="FF0000"/>
                </a:solidFill>
                <a:latin typeface="Trebuchet MS" panose="020B0603020202020204" pitchFamily="34" charset="0"/>
              </a:rPr>
              <a:t>Min no. of bins  &gt;=  Ceil ((Total Weight) / (Bin Capacity))</a:t>
            </a:r>
          </a:p>
          <a:p>
            <a:pPr lvl="0" algn="just">
              <a:lnSpc>
                <a:spcPct val="150000"/>
              </a:lnSpc>
              <a:defRPr/>
            </a:pPr>
            <a:r>
              <a:rPr lang="en-US" sz="2400" dirty="0">
                <a:solidFill>
                  <a:srgbClr val="0070C0"/>
                </a:solidFill>
                <a:latin typeface="Trebuchet MS" panose="020B0603020202020204" pitchFamily="34" charset="0"/>
              </a:rPr>
              <a:t>Different Algorithms: </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Let us now look at the various optimization algorithms for Bin Packing Problem. Here we are going to discuss about </a:t>
            </a:r>
            <a:r>
              <a:rPr lang="en-US" sz="2400" dirty="0">
                <a:solidFill>
                  <a:srgbClr val="0070C0"/>
                </a:solidFill>
                <a:latin typeface="Trebuchet MS" panose="020B0603020202020204" pitchFamily="34" charset="0"/>
              </a:rPr>
              <a:t>Input Order dependent or Online Algorithms.</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Under that we are going to see the following 4 algorithms depend on the order of their inputs. They pack the item given first and then move on to the next input or next item</a:t>
            </a:r>
          </a:p>
        </p:txBody>
      </p:sp>
    </p:spTree>
    <p:extLst>
      <p:ext uri="{BB962C8B-B14F-4D97-AF65-F5344CB8AC3E}">
        <p14:creationId xmlns:p14="http://schemas.microsoft.com/office/powerpoint/2010/main" val="2767392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225420" y="906180"/>
            <a:ext cx="11586413" cy="3416320"/>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They pack the item given first and then move on to the next input or next item. The following algorithms are </a:t>
            </a:r>
          </a:p>
          <a:p>
            <a:pPr lvl="0" algn="just">
              <a:lnSpc>
                <a:spcPct val="150000"/>
              </a:lnSpc>
              <a:defRPr/>
            </a:pPr>
            <a:r>
              <a:rPr lang="en-US" sz="2400" dirty="0">
                <a:latin typeface="Trebuchet MS" panose="020B0603020202020204" pitchFamily="34" charset="0"/>
              </a:rPr>
              <a:t>	1) Next Fit algorithm</a:t>
            </a:r>
          </a:p>
          <a:p>
            <a:pPr lvl="0" algn="just">
              <a:lnSpc>
                <a:spcPct val="150000"/>
              </a:lnSpc>
              <a:defRPr/>
            </a:pPr>
            <a:r>
              <a:rPr lang="en-US" sz="2400" dirty="0">
                <a:latin typeface="Trebuchet MS" panose="020B0603020202020204" pitchFamily="34" charset="0"/>
              </a:rPr>
              <a:t>	2) First Fit algorithm</a:t>
            </a:r>
          </a:p>
          <a:p>
            <a:pPr lvl="0" algn="just">
              <a:lnSpc>
                <a:spcPct val="150000"/>
              </a:lnSpc>
              <a:defRPr/>
            </a:pPr>
            <a:r>
              <a:rPr lang="en-US" sz="2400" dirty="0">
                <a:latin typeface="Trebuchet MS" panose="020B0603020202020204" pitchFamily="34" charset="0"/>
              </a:rPr>
              <a:t>	3) Best Fit Algorithm</a:t>
            </a:r>
          </a:p>
          <a:p>
            <a:pPr lvl="0" algn="just">
              <a:lnSpc>
                <a:spcPct val="150000"/>
              </a:lnSpc>
              <a:defRPr/>
            </a:pPr>
            <a:r>
              <a:rPr lang="en-US" sz="2400" dirty="0">
                <a:latin typeface="Trebuchet MS" panose="020B0603020202020204" pitchFamily="34" charset="0"/>
              </a:rPr>
              <a:t>	4) Worst Fit Algorithm</a:t>
            </a:r>
          </a:p>
        </p:txBody>
      </p:sp>
    </p:spTree>
    <p:extLst>
      <p:ext uri="{BB962C8B-B14F-4D97-AF65-F5344CB8AC3E}">
        <p14:creationId xmlns:p14="http://schemas.microsoft.com/office/powerpoint/2010/main" val="1431445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F78EF-1EA7-4B4F-9513-DA717330F9B4}"/>
              </a:ext>
            </a:extLst>
          </p:cNvPr>
          <p:cNvSpPr>
            <a:spLocks noGrp="1"/>
          </p:cNvSpPr>
          <p:nvPr>
            <p:ph type="title"/>
          </p:nvPr>
        </p:nvSpPr>
        <p:spPr/>
        <p:txBody>
          <a:bodyPr/>
          <a:lstStyle/>
          <a:p>
            <a:endParaRPr lang="en-IN"/>
          </a:p>
        </p:txBody>
      </p:sp>
      <p:sp>
        <p:nvSpPr>
          <p:cNvPr id="3" name="Subtitle 2">
            <a:extLst>
              <a:ext uri="{FF2B5EF4-FFF2-40B4-BE49-F238E27FC236}">
                <a16:creationId xmlns:a16="http://schemas.microsoft.com/office/drawing/2014/main" id="{342727F7-26BB-4819-AD09-11974BBFBB5E}"/>
              </a:ext>
            </a:extLst>
          </p:cNvPr>
          <p:cNvSpPr>
            <a:spLocks noGrp="1"/>
          </p:cNvSpPr>
          <p:nvPr>
            <p:ph type="subTitle" idx="1"/>
          </p:nvPr>
        </p:nvSpPr>
        <p:spPr/>
        <p:txBody>
          <a:bodyPr/>
          <a:lstStyle/>
          <a:p>
            <a:endParaRPr lang="en-IN"/>
          </a:p>
        </p:txBody>
      </p:sp>
      <p:sp>
        <p:nvSpPr>
          <p:cNvPr id="4" name="Text Placeholder 3">
            <a:extLst>
              <a:ext uri="{FF2B5EF4-FFF2-40B4-BE49-F238E27FC236}">
                <a16:creationId xmlns:a16="http://schemas.microsoft.com/office/drawing/2014/main" id="{AA47FFC8-FE65-48FA-A30F-251A578ECB74}"/>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C62BF1AA-10A2-4BF2-837E-00CFBAC41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53121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15093-581B-476D-A2D3-7DB4131704DE}"/>
              </a:ext>
            </a:extLst>
          </p:cNvPr>
          <p:cNvSpPr>
            <a:spLocks noGrp="1"/>
          </p:cNvSpPr>
          <p:nvPr>
            <p:ph type="title"/>
          </p:nvPr>
        </p:nvSpPr>
        <p:spPr/>
        <p:txBody>
          <a:bodyPr/>
          <a:lstStyle/>
          <a:p>
            <a:endParaRPr lang="en-IN" dirty="0"/>
          </a:p>
        </p:txBody>
      </p:sp>
      <p:sp>
        <p:nvSpPr>
          <p:cNvPr id="3" name="Subtitle 2">
            <a:extLst>
              <a:ext uri="{FF2B5EF4-FFF2-40B4-BE49-F238E27FC236}">
                <a16:creationId xmlns:a16="http://schemas.microsoft.com/office/drawing/2014/main" id="{3F8D554E-0A5B-475F-B76D-AE3F8A2D5602}"/>
              </a:ext>
            </a:extLst>
          </p:cNvPr>
          <p:cNvSpPr>
            <a:spLocks noGrp="1"/>
          </p:cNvSpPr>
          <p:nvPr>
            <p:ph type="subTitle" idx="1"/>
          </p:nvPr>
        </p:nvSpPr>
        <p:spPr/>
        <p:txBody>
          <a:bodyPr/>
          <a:lstStyle/>
          <a:p>
            <a:endParaRPr lang="en-IN"/>
          </a:p>
        </p:txBody>
      </p:sp>
      <p:sp>
        <p:nvSpPr>
          <p:cNvPr id="4" name="Text Placeholder 3">
            <a:extLst>
              <a:ext uri="{FF2B5EF4-FFF2-40B4-BE49-F238E27FC236}">
                <a16:creationId xmlns:a16="http://schemas.microsoft.com/office/drawing/2014/main" id="{D12A56F2-F067-4390-8094-1FA90D9DC6E6}"/>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A9DA111B-C6EC-4B7F-A431-D1DE5365C3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58807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F4B95-51C4-48CE-AF83-78B4D6214144}"/>
              </a:ext>
            </a:extLst>
          </p:cNvPr>
          <p:cNvSpPr>
            <a:spLocks noGrp="1"/>
          </p:cNvSpPr>
          <p:nvPr>
            <p:ph type="title"/>
          </p:nvPr>
        </p:nvSpPr>
        <p:spPr/>
        <p:txBody>
          <a:bodyPr/>
          <a:lstStyle/>
          <a:p>
            <a:endParaRPr lang="en-IN" dirty="0"/>
          </a:p>
        </p:txBody>
      </p:sp>
      <p:sp>
        <p:nvSpPr>
          <p:cNvPr id="3" name="Subtitle 2">
            <a:extLst>
              <a:ext uri="{FF2B5EF4-FFF2-40B4-BE49-F238E27FC236}">
                <a16:creationId xmlns:a16="http://schemas.microsoft.com/office/drawing/2014/main" id="{26484E3F-E2E5-443B-9302-3305CA131395}"/>
              </a:ext>
            </a:extLst>
          </p:cNvPr>
          <p:cNvSpPr>
            <a:spLocks noGrp="1"/>
          </p:cNvSpPr>
          <p:nvPr>
            <p:ph type="subTitle" idx="1"/>
          </p:nvPr>
        </p:nvSpPr>
        <p:spPr/>
        <p:txBody>
          <a:bodyPr/>
          <a:lstStyle/>
          <a:p>
            <a:endParaRPr lang="en-IN"/>
          </a:p>
        </p:txBody>
      </p:sp>
      <p:sp>
        <p:nvSpPr>
          <p:cNvPr id="4" name="Text Placeholder 3">
            <a:extLst>
              <a:ext uri="{FF2B5EF4-FFF2-40B4-BE49-F238E27FC236}">
                <a16:creationId xmlns:a16="http://schemas.microsoft.com/office/drawing/2014/main" id="{5EC46977-F696-4CF0-9E7C-66999C157988}"/>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4D7E6B37-04F7-4C72-BEAA-8A1D5C3D1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8806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F2A1377-0856-4F17-9692-7CBF38C39FB7}"/>
              </a:ext>
            </a:extLst>
          </p:cNvPr>
          <p:cNvSpPr>
            <a:spLocks noGrp="1"/>
          </p:cNvSpPr>
          <p:nvPr>
            <p:ph type="body" idx="2"/>
          </p:nvPr>
        </p:nvSpPr>
        <p:spPr/>
        <p:txBody>
          <a:bodyPr/>
          <a:lstStyle/>
          <a:p>
            <a:endParaRPr lang="en-IN"/>
          </a:p>
        </p:txBody>
      </p:sp>
      <p:sp>
        <p:nvSpPr>
          <p:cNvPr id="5" name="AutoShape 2" descr="Generated image 1">
            <a:extLst>
              <a:ext uri="{FF2B5EF4-FFF2-40B4-BE49-F238E27FC236}">
                <a16:creationId xmlns:a16="http://schemas.microsoft.com/office/drawing/2014/main" id="{7D7A8DDA-6397-498C-953C-CD7513D0DB1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Generated image 1">
            <a:extLst>
              <a:ext uri="{FF2B5EF4-FFF2-40B4-BE49-F238E27FC236}">
                <a16:creationId xmlns:a16="http://schemas.microsoft.com/office/drawing/2014/main" id="{9E598FE0-D6D3-48FE-B937-89FF00B274E2}"/>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7" name="AutoShape 6" descr="Generated image 1">
            <a:extLst>
              <a:ext uri="{FF2B5EF4-FFF2-40B4-BE49-F238E27FC236}">
                <a16:creationId xmlns:a16="http://schemas.microsoft.com/office/drawing/2014/main" id="{8925F794-139B-40D0-801B-D7477E4AA186}"/>
              </a:ext>
            </a:extLst>
          </p:cNvPr>
          <p:cNvSpPr>
            <a:spLocks noGrp="1" noChangeAspect="1" noChangeArrowheads="1"/>
          </p:cNvSpPr>
          <p:nvPr>
            <p:ph type="subTitle"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descr="Generated image 1">
            <a:extLst>
              <a:ext uri="{FF2B5EF4-FFF2-40B4-BE49-F238E27FC236}">
                <a16:creationId xmlns:a16="http://schemas.microsoft.com/office/drawing/2014/main" id="{EFE62BBF-AD9F-473D-83E5-D2A01EBB070B}"/>
              </a:ext>
            </a:extLst>
          </p:cNvPr>
          <p:cNvSpPr>
            <a:spLocks noChangeAspect="1" noChangeArrowheads="1"/>
          </p:cNvSpPr>
          <p:nvPr/>
        </p:nvSpPr>
        <p:spPr bwMode="auto">
          <a:xfrm>
            <a:off x="2894029" y="227029"/>
            <a:ext cx="3506771" cy="35067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1C0B7BA2-6F04-464A-A47B-7945F4B63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77973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1560333"/>
            <a:ext cx="10705177" cy="3416320"/>
          </a:xfrm>
          <a:prstGeom prst="rect">
            <a:avLst/>
          </a:prstGeom>
          <a:noFill/>
        </p:spPr>
        <p:txBody>
          <a:bodyPr wrap="square">
            <a:spAutoFit/>
          </a:bodyPr>
          <a:lstStyle/>
          <a:p>
            <a:pPr lvl="0" algn="just">
              <a:lnSpc>
                <a:spcPct val="150000"/>
              </a:lnSpc>
              <a:defRPr/>
            </a:pPr>
            <a:r>
              <a:rPr lang="en-US" sz="2400" b="1" dirty="0">
                <a:solidFill>
                  <a:srgbClr val="0070C0"/>
                </a:solidFill>
                <a:latin typeface="Trebuchet MS" panose="020B0603020202020204" pitchFamily="34" charset="0"/>
              </a:rPr>
              <a:t>Next Fit algorithm</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The simplest approximate approach to the bin packing problem is the Next-Fit (NF) algorithm which is explained later in this article. </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The first item is assigned to bin 1. Items 2,... ,n are then considered by increasing indices : each item is assigned to the current bin, if it fits; otherwise, it is assigned to a new bin, which becomes the current one.</a:t>
            </a:r>
          </a:p>
        </p:txBody>
      </p:sp>
    </p:spTree>
    <p:extLst>
      <p:ext uri="{BB962C8B-B14F-4D97-AF65-F5344CB8AC3E}">
        <p14:creationId xmlns:p14="http://schemas.microsoft.com/office/powerpoint/2010/main" val="1277401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211354" y="1114927"/>
            <a:ext cx="10705177" cy="2862322"/>
          </a:xfrm>
          <a:prstGeom prst="rect">
            <a:avLst/>
          </a:prstGeom>
          <a:noFill/>
        </p:spPr>
        <p:txBody>
          <a:bodyPr wrap="square">
            <a:spAutoFit/>
          </a:bodyPr>
          <a:lstStyle/>
          <a:p>
            <a:pPr lvl="0" algn="just">
              <a:lnSpc>
                <a:spcPct val="150000"/>
              </a:lnSpc>
              <a:defRPr/>
            </a:pPr>
            <a:r>
              <a:rPr lang="en-US" sz="2400" dirty="0">
                <a:solidFill>
                  <a:srgbClr val="0070C0"/>
                </a:solidFill>
                <a:latin typeface="Trebuchet MS" panose="020B0603020202020204" pitchFamily="34" charset="0"/>
              </a:rPr>
              <a:t>Visual Representation</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Let us consider the same example as used above and bins of size 1.</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Assuming the sizes of the items be {0.5, 0.7, 0.5, 0.2, 0.4, 0.2, 0.5, 0.1, 0.6}.</a:t>
            </a:r>
          </a:p>
          <a:p>
            <a:pPr marL="342900" lvl="0" indent="-342900" algn="just">
              <a:lnSpc>
                <a:spcPct val="150000"/>
              </a:lnSpc>
              <a:buFont typeface="Arial" panose="020B0604020202020204" pitchFamily="34" charset="0"/>
              <a:buChar char="•"/>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1460586" y="3767095"/>
            <a:ext cx="5753903" cy="1966044"/>
          </a:xfrm>
          <a:prstGeom prst="rect">
            <a:avLst/>
          </a:prstGeom>
        </p:spPr>
      </p:pic>
    </p:spTree>
    <p:extLst>
      <p:ext uri="{BB962C8B-B14F-4D97-AF65-F5344CB8AC3E}">
        <p14:creationId xmlns:p14="http://schemas.microsoft.com/office/powerpoint/2010/main" val="2596408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954060"/>
            <a:ext cx="11799134" cy="4524315"/>
          </a:xfrm>
          <a:prstGeom prst="rect">
            <a:avLst/>
          </a:prstGeom>
          <a:noFill/>
        </p:spPr>
        <p:txBody>
          <a:bodyPr wrap="square">
            <a:spAutoFit/>
          </a:bodyPr>
          <a:lstStyle/>
          <a:p>
            <a:pPr lvl="0" algn="just">
              <a:lnSpc>
                <a:spcPct val="150000"/>
              </a:lnSpc>
              <a:defRPr/>
            </a:pPr>
            <a:r>
              <a:rPr lang="en-US" sz="2400" dirty="0">
                <a:solidFill>
                  <a:srgbClr val="0070C0"/>
                </a:solidFill>
                <a:latin typeface="Trebuchet MS" panose="020B0603020202020204" pitchFamily="34" charset="0"/>
              </a:rPr>
              <a:t>Step 1 : </a:t>
            </a:r>
            <a:r>
              <a:rPr lang="en-US" sz="2400" dirty="0">
                <a:latin typeface="Trebuchet MS" panose="020B0603020202020204" pitchFamily="34" charset="0"/>
              </a:rPr>
              <a:t>The minimum number of bins required would be </a:t>
            </a:r>
          </a:p>
          <a:p>
            <a:pPr lvl="0" algn="just">
              <a:lnSpc>
                <a:spcPct val="150000"/>
              </a:lnSpc>
              <a:defRPr/>
            </a:pPr>
            <a:r>
              <a:rPr lang="en-US" sz="2400" dirty="0">
                <a:solidFill>
                  <a:srgbClr val="FF0000"/>
                </a:solidFill>
                <a:latin typeface="Trebuchet MS" panose="020B0603020202020204" pitchFamily="34" charset="0"/>
              </a:rPr>
              <a:t>	Ceil ((Total Weight) / (Bin Capacity))= </a:t>
            </a:r>
            <a:r>
              <a:rPr lang="en-US" sz="2400" dirty="0">
                <a:solidFill>
                  <a:srgbClr val="0070C0"/>
                </a:solidFill>
                <a:latin typeface="Trebuchet MS" panose="020B0603020202020204" pitchFamily="34" charset="0"/>
              </a:rPr>
              <a:t>Ceil(3.7/1) = 4 bins.</a:t>
            </a:r>
          </a:p>
          <a:p>
            <a:pPr lvl="0" algn="just">
              <a:lnSpc>
                <a:spcPct val="150000"/>
              </a:lnSpc>
              <a:defRPr/>
            </a:pPr>
            <a:r>
              <a:rPr lang="en-US" sz="2400" dirty="0">
                <a:solidFill>
                  <a:srgbClr val="0070C0"/>
                </a:solidFill>
                <a:latin typeface="Trebuchet MS" panose="020B0603020202020204" pitchFamily="34" charset="0"/>
              </a:rPr>
              <a:t>Step 2</a:t>
            </a:r>
            <a:r>
              <a:rPr lang="en-US" sz="2400" dirty="0">
                <a:latin typeface="Trebuchet MS" panose="020B0603020202020204" pitchFamily="34" charset="0"/>
              </a:rPr>
              <a:t>: The Next fit solution (NF(I))for this instance I would be</a:t>
            </a:r>
          </a:p>
          <a:p>
            <a:pPr lvl="0" algn="just">
              <a:lnSpc>
                <a:spcPct val="150000"/>
              </a:lnSpc>
              <a:defRPr/>
            </a:pPr>
            <a:endParaRPr lang="en-US" sz="2400" dirty="0">
              <a:latin typeface="Trebuchet MS" panose="020B0603020202020204" pitchFamily="34" charset="0"/>
            </a:endParaRPr>
          </a:p>
          <a:p>
            <a:pPr lvl="0" algn="just">
              <a:lnSpc>
                <a:spcPct val="150000"/>
              </a:lnSpc>
              <a:defRPr/>
            </a:pPr>
            <a:endParaRPr lang="en-US" sz="2400" dirty="0">
              <a:latin typeface="Trebuchet MS" panose="020B0603020202020204" pitchFamily="34" charset="0"/>
            </a:endParaRPr>
          </a:p>
          <a:p>
            <a:pPr lvl="0" algn="just">
              <a:lnSpc>
                <a:spcPct val="150000"/>
              </a:lnSpc>
              <a:defRPr/>
            </a:pPr>
            <a:endParaRPr lang="en-US" sz="2400" dirty="0">
              <a:latin typeface="Trebuchet MS" panose="020B0603020202020204" pitchFamily="34" charset="0"/>
            </a:endParaRPr>
          </a:p>
          <a:p>
            <a:pPr algn="just">
              <a:lnSpc>
                <a:spcPct val="150000"/>
              </a:lnSpc>
              <a:defRPr/>
            </a:pPr>
            <a:r>
              <a:rPr lang="en-US" sz="2400" dirty="0">
                <a:solidFill>
                  <a:srgbClr val="0070C0"/>
                </a:solidFill>
                <a:latin typeface="Trebuchet MS" panose="020B0603020202020204" pitchFamily="34" charset="0"/>
              </a:rPr>
              <a:t>Step 3:</a:t>
            </a:r>
            <a:r>
              <a:rPr lang="en-US" sz="2400" dirty="0">
                <a:latin typeface="Trebuchet MS" panose="020B0603020202020204" pitchFamily="34" charset="0"/>
              </a:rPr>
              <a:t> Considering 0.5 sized item first, we can place it in the first bin</a:t>
            </a:r>
            <a:endParaRPr lang="en-IN" sz="2400" dirty="0">
              <a:latin typeface="Trebuchet MS" panose="020B0603020202020204" pitchFamily="34" charset="0"/>
            </a:endParaRPr>
          </a:p>
          <a:p>
            <a:pPr lvl="0" algn="just">
              <a:lnSpc>
                <a:spcPct val="150000"/>
              </a:lnSpc>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1699736" y="2560073"/>
            <a:ext cx="5753903" cy="1725154"/>
          </a:xfrm>
          <a:prstGeom prst="rect">
            <a:avLst/>
          </a:prstGeom>
        </p:spPr>
      </p:pic>
      <p:pic>
        <p:nvPicPr>
          <p:cNvPr id="8" name="Picture 7"/>
          <p:cNvPicPr>
            <a:picLocks noChangeAspect="1"/>
          </p:cNvPicPr>
          <p:nvPr/>
        </p:nvPicPr>
        <p:blipFill>
          <a:blip r:embed="rId7"/>
          <a:stretch>
            <a:fillRect/>
          </a:stretch>
        </p:blipFill>
        <p:spPr>
          <a:xfrm>
            <a:off x="1280515" y="4931912"/>
            <a:ext cx="5429774" cy="1058689"/>
          </a:xfrm>
          <a:prstGeom prst="rect">
            <a:avLst/>
          </a:prstGeom>
        </p:spPr>
      </p:pic>
      <p:pic>
        <p:nvPicPr>
          <p:cNvPr id="9" name="Picture 8"/>
          <p:cNvPicPr>
            <a:picLocks noChangeAspect="1"/>
          </p:cNvPicPr>
          <p:nvPr/>
        </p:nvPicPr>
        <p:blipFill>
          <a:blip r:embed="rId8"/>
          <a:stretch>
            <a:fillRect/>
          </a:stretch>
        </p:blipFill>
        <p:spPr>
          <a:xfrm>
            <a:off x="7984486" y="5206731"/>
            <a:ext cx="1833448" cy="1219370"/>
          </a:xfrm>
          <a:prstGeom prst="rect">
            <a:avLst/>
          </a:prstGeom>
        </p:spPr>
      </p:pic>
    </p:spTree>
    <p:extLst>
      <p:ext uri="{BB962C8B-B14F-4D97-AF65-F5344CB8AC3E}">
        <p14:creationId xmlns:p14="http://schemas.microsoft.com/office/powerpoint/2010/main" val="3915768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39175"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7" name="Rectangle 6"/>
          <p:cNvSpPr/>
          <p:nvPr/>
        </p:nvSpPr>
        <p:spPr>
          <a:xfrm>
            <a:off x="429326" y="1136786"/>
            <a:ext cx="10698219" cy="5078313"/>
          </a:xfrm>
          <a:prstGeom prst="rect">
            <a:avLst/>
          </a:prstGeom>
        </p:spPr>
        <p:txBody>
          <a:bodyPr wrap="square">
            <a:spAutoFit/>
          </a:bodyPr>
          <a:lstStyle/>
          <a:p>
            <a:pPr>
              <a:lnSpc>
                <a:spcPct val="150000"/>
              </a:lnSpc>
            </a:pPr>
            <a:r>
              <a:rPr lang="en-US" sz="2400" dirty="0">
                <a:solidFill>
                  <a:srgbClr val="0070C0"/>
                </a:solidFill>
                <a:latin typeface="Trebuchet MS" panose="020B0603020202020204" pitchFamily="34" charset="0"/>
              </a:rPr>
              <a:t>Step 4:</a:t>
            </a:r>
            <a:r>
              <a:rPr lang="en-US" sz="2400" dirty="0">
                <a:solidFill>
                  <a:srgbClr val="3C484E"/>
                </a:solidFill>
                <a:latin typeface="Trebuchet MS" panose="020B0603020202020204" pitchFamily="34" charset="0"/>
              </a:rPr>
              <a:t> Moving on to the 0.7 sized item, we cannot place it in the first bin. Hence we place it in a new bin.</a:t>
            </a:r>
          </a:p>
          <a:p>
            <a:pPr>
              <a:lnSpc>
                <a:spcPct val="150000"/>
              </a:lnSpc>
            </a:pPr>
            <a:endParaRPr lang="en-US" sz="2400" dirty="0">
              <a:solidFill>
                <a:srgbClr val="3C484E"/>
              </a:solidFill>
              <a:latin typeface="Trebuchet MS" panose="020B0603020202020204" pitchFamily="34" charset="0"/>
            </a:endParaRPr>
          </a:p>
          <a:p>
            <a:pPr>
              <a:lnSpc>
                <a:spcPct val="150000"/>
              </a:lnSpc>
            </a:pPr>
            <a:r>
              <a:rPr lang="en-US" sz="2400" dirty="0">
                <a:solidFill>
                  <a:srgbClr val="0070C0"/>
                </a:solidFill>
                <a:latin typeface="Trebuchet MS" panose="020B0603020202020204" pitchFamily="34" charset="0"/>
              </a:rPr>
              <a:t>Step 5:</a:t>
            </a:r>
            <a:r>
              <a:rPr lang="en-US" sz="2400" dirty="0">
                <a:solidFill>
                  <a:srgbClr val="3C484E"/>
                </a:solidFill>
                <a:latin typeface="Trebuchet MS" panose="020B0603020202020204" pitchFamily="34" charset="0"/>
              </a:rPr>
              <a:t> Moving on to the 0.5 sized item, we cannot place it in the current bin. Hence we place it in a new bin.</a:t>
            </a:r>
          </a:p>
          <a:p>
            <a:pPr>
              <a:lnSpc>
                <a:spcPct val="150000"/>
              </a:lnSpc>
            </a:pPr>
            <a:endParaRPr lang="en-US" sz="2400" dirty="0">
              <a:solidFill>
                <a:srgbClr val="3C484E"/>
              </a:solidFill>
              <a:latin typeface="Trebuchet MS" panose="020B0603020202020204" pitchFamily="34" charset="0"/>
            </a:endParaRPr>
          </a:p>
          <a:p>
            <a:pPr>
              <a:lnSpc>
                <a:spcPct val="150000"/>
              </a:lnSpc>
            </a:pPr>
            <a:r>
              <a:rPr lang="en-US" sz="2400" dirty="0">
                <a:solidFill>
                  <a:srgbClr val="0070C0"/>
                </a:solidFill>
                <a:latin typeface="Trebuchet MS" panose="020B0603020202020204" pitchFamily="34" charset="0"/>
              </a:rPr>
              <a:t>Step 6:</a:t>
            </a:r>
            <a:r>
              <a:rPr lang="en-US" sz="2400" dirty="0">
                <a:latin typeface="Trebuchet MS" panose="020B0603020202020204" pitchFamily="34" charset="0"/>
              </a:rPr>
              <a:t> Moving on to the 0.2 sized item, we can place it in the current (third bin)</a:t>
            </a:r>
          </a:p>
          <a:p>
            <a:pPr>
              <a:lnSpc>
                <a:spcPct val="150000"/>
              </a:lnSpc>
            </a:pPr>
            <a:endParaRPr lang="en-IN" sz="2400" dirty="0">
              <a:solidFill>
                <a:srgbClr val="3C484E"/>
              </a:solidFill>
              <a:latin typeface="Trebuchet MS" panose="020B0603020202020204" pitchFamily="34" charset="0"/>
            </a:endParaRPr>
          </a:p>
        </p:txBody>
      </p:sp>
      <p:pic>
        <p:nvPicPr>
          <p:cNvPr id="9" name="Picture 8"/>
          <p:cNvPicPr>
            <a:picLocks noChangeAspect="1"/>
          </p:cNvPicPr>
          <p:nvPr/>
        </p:nvPicPr>
        <p:blipFill rotWithShape="1">
          <a:blip r:embed="rId6"/>
          <a:srcRect l="9036" r="7431"/>
          <a:stretch/>
        </p:blipFill>
        <p:spPr>
          <a:xfrm>
            <a:off x="5105400" y="1709708"/>
            <a:ext cx="3938954" cy="1258221"/>
          </a:xfrm>
          <a:prstGeom prst="rect">
            <a:avLst/>
          </a:prstGeom>
        </p:spPr>
      </p:pic>
      <p:pic>
        <p:nvPicPr>
          <p:cNvPr id="10" name="Picture 9"/>
          <p:cNvPicPr>
            <a:picLocks noChangeAspect="1"/>
          </p:cNvPicPr>
          <p:nvPr/>
        </p:nvPicPr>
        <p:blipFill>
          <a:blip r:embed="rId7"/>
          <a:stretch>
            <a:fillRect/>
          </a:stretch>
        </p:blipFill>
        <p:spPr>
          <a:xfrm>
            <a:off x="9375475" y="1679962"/>
            <a:ext cx="2257740" cy="1333686"/>
          </a:xfrm>
          <a:prstGeom prst="rect">
            <a:avLst/>
          </a:prstGeom>
        </p:spPr>
      </p:pic>
      <p:pic>
        <p:nvPicPr>
          <p:cNvPr id="11" name="Picture 10"/>
          <p:cNvPicPr>
            <a:picLocks noChangeAspect="1"/>
          </p:cNvPicPr>
          <p:nvPr/>
        </p:nvPicPr>
        <p:blipFill>
          <a:blip r:embed="rId8"/>
          <a:stretch>
            <a:fillRect/>
          </a:stretch>
        </p:blipFill>
        <p:spPr>
          <a:xfrm>
            <a:off x="5105400" y="3380152"/>
            <a:ext cx="3877216" cy="1262043"/>
          </a:xfrm>
          <a:prstGeom prst="rect">
            <a:avLst/>
          </a:prstGeom>
        </p:spPr>
      </p:pic>
      <p:pic>
        <p:nvPicPr>
          <p:cNvPr id="12" name="Picture 11"/>
          <p:cNvPicPr>
            <a:picLocks noChangeAspect="1"/>
          </p:cNvPicPr>
          <p:nvPr/>
        </p:nvPicPr>
        <p:blipFill>
          <a:blip r:embed="rId9"/>
          <a:stretch>
            <a:fillRect/>
          </a:stretch>
        </p:blipFill>
        <p:spPr>
          <a:xfrm>
            <a:off x="9141362" y="3555558"/>
            <a:ext cx="2772162" cy="1076475"/>
          </a:xfrm>
          <a:prstGeom prst="rect">
            <a:avLst/>
          </a:prstGeom>
        </p:spPr>
      </p:pic>
      <p:pic>
        <p:nvPicPr>
          <p:cNvPr id="15" name="Picture 14"/>
          <p:cNvPicPr>
            <a:picLocks noChangeAspect="1"/>
          </p:cNvPicPr>
          <p:nvPr/>
        </p:nvPicPr>
        <p:blipFill>
          <a:blip r:embed="rId10"/>
          <a:stretch>
            <a:fillRect/>
          </a:stretch>
        </p:blipFill>
        <p:spPr>
          <a:xfrm>
            <a:off x="4612064" y="5085563"/>
            <a:ext cx="3924848" cy="1135902"/>
          </a:xfrm>
          <a:prstGeom prst="rect">
            <a:avLst/>
          </a:prstGeom>
        </p:spPr>
      </p:pic>
      <p:pic>
        <p:nvPicPr>
          <p:cNvPr id="16" name="Picture 15"/>
          <p:cNvPicPr>
            <a:picLocks noChangeAspect="1"/>
          </p:cNvPicPr>
          <p:nvPr/>
        </p:nvPicPr>
        <p:blipFill rotWithShape="1">
          <a:blip r:embed="rId11"/>
          <a:srcRect t="22035"/>
          <a:stretch/>
        </p:blipFill>
        <p:spPr>
          <a:xfrm>
            <a:off x="8712946" y="5123219"/>
            <a:ext cx="2943636" cy="1305556"/>
          </a:xfrm>
          <a:prstGeom prst="rect">
            <a:avLst/>
          </a:prstGeom>
        </p:spPr>
      </p:pic>
    </p:spTree>
    <p:extLst>
      <p:ext uri="{BB962C8B-B14F-4D97-AF65-F5344CB8AC3E}">
        <p14:creationId xmlns:p14="http://schemas.microsoft.com/office/powerpoint/2010/main" val="3924835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39175"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7" name="Rectangle 6"/>
          <p:cNvSpPr/>
          <p:nvPr/>
        </p:nvSpPr>
        <p:spPr>
          <a:xfrm>
            <a:off x="380166" y="1195772"/>
            <a:ext cx="11431668" cy="5078313"/>
          </a:xfrm>
          <a:prstGeom prst="rect">
            <a:avLst/>
          </a:prstGeom>
        </p:spPr>
        <p:txBody>
          <a:bodyPr wrap="square">
            <a:spAutoFit/>
          </a:bodyPr>
          <a:lstStyle/>
          <a:p>
            <a:pPr>
              <a:lnSpc>
                <a:spcPct val="150000"/>
              </a:lnSpc>
            </a:pPr>
            <a:r>
              <a:rPr lang="en-US" sz="2400" dirty="0">
                <a:solidFill>
                  <a:srgbClr val="0070C0"/>
                </a:solidFill>
                <a:latin typeface="Trebuchet MS" panose="020B0603020202020204" pitchFamily="34" charset="0"/>
              </a:rPr>
              <a:t>Step 7:</a:t>
            </a:r>
            <a:r>
              <a:rPr lang="en-US" sz="2400" dirty="0">
                <a:solidFill>
                  <a:srgbClr val="3C484E"/>
                </a:solidFill>
                <a:latin typeface="Trebuchet MS" panose="020B0603020202020204" pitchFamily="34" charset="0"/>
              </a:rPr>
              <a:t> Similarly, placing all the other items following the Next-Fit algorithm we get,</a:t>
            </a:r>
          </a:p>
          <a:p>
            <a:pPr>
              <a:lnSpc>
                <a:spcPct val="150000"/>
              </a:lnSpc>
            </a:pPr>
            <a:endParaRPr lang="en-US" sz="2400" dirty="0">
              <a:solidFill>
                <a:srgbClr val="3C484E"/>
              </a:solidFill>
              <a:latin typeface="Trebuchet MS" panose="020B0603020202020204" pitchFamily="34" charset="0"/>
            </a:endParaRPr>
          </a:p>
          <a:p>
            <a:pPr>
              <a:lnSpc>
                <a:spcPct val="150000"/>
              </a:lnSpc>
            </a:pPr>
            <a:endParaRPr lang="en-US" sz="2400" dirty="0">
              <a:solidFill>
                <a:srgbClr val="3C484E"/>
              </a:solidFill>
              <a:latin typeface="Trebuchet MS" panose="020B0603020202020204" pitchFamily="34" charset="0"/>
            </a:endParaRPr>
          </a:p>
          <a:p>
            <a:pPr>
              <a:lnSpc>
                <a:spcPct val="150000"/>
              </a:lnSpc>
            </a:pPr>
            <a:endParaRPr lang="en-US" sz="2400" dirty="0">
              <a:solidFill>
                <a:srgbClr val="3C484E"/>
              </a:solidFill>
              <a:latin typeface="Trebuchet MS" panose="020B0603020202020204" pitchFamily="34" charset="0"/>
            </a:endParaRPr>
          </a:p>
          <a:p>
            <a:pPr>
              <a:lnSpc>
                <a:spcPct val="150000"/>
              </a:lnSpc>
            </a:pPr>
            <a:endParaRPr lang="en-US" sz="2400" dirty="0">
              <a:solidFill>
                <a:srgbClr val="3C484E"/>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Thus we need 6 bins as opposed to the 4 bins of the optimal solution. Thus we can see that this algorithm is not very efficient.</a:t>
            </a:r>
          </a:p>
          <a:p>
            <a:pPr>
              <a:lnSpc>
                <a:spcPct val="150000"/>
              </a:lnSpc>
            </a:pPr>
            <a:endParaRPr lang="en-US" sz="2400" dirty="0">
              <a:solidFill>
                <a:srgbClr val="3C484E"/>
              </a:solidFill>
              <a:latin typeface="Trebuchet MS" panose="020B0603020202020204" pitchFamily="34" charset="0"/>
            </a:endParaRPr>
          </a:p>
        </p:txBody>
      </p:sp>
      <p:pic>
        <p:nvPicPr>
          <p:cNvPr id="3" name="Picture 2"/>
          <p:cNvPicPr>
            <a:picLocks noChangeAspect="1"/>
          </p:cNvPicPr>
          <p:nvPr/>
        </p:nvPicPr>
        <p:blipFill rotWithShape="1">
          <a:blip r:embed="rId6"/>
          <a:srcRect t="31954" b="6928"/>
          <a:stretch/>
        </p:blipFill>
        <p:spPr>
          <a:xfrm>
            <a:off x="3190818" y="1827740"/>
            <a:ext cx="4377600" cy="590844"/>
          </a:xfrm>
          <a:prstGeom prst="rect">
            <a:avLst/>
          </a:prstGeom>
        </p:spPr>
      </p:pic>
      <p:pic>
        <p:nvPicPr>
          <p:cNvPr id="5" name="Picture 4"/>
          <p:cNvPicPr>
            <a:picLocks noChangeAspect="1"/>
          </p:cNvPicPr>
          <p:nvPr/>
        </p:nvPicPr>
        <p:blipFill>
          <a:blip r:embed="rId7"/>
          <a:stretch>
            <a:fillRect/>
          </a:stretch>
        </p:blipFill>
        <p:spPr>
          <a:xfrm>
            <a:off x="2249044" y="2424950"/>
            <a:ext cx="5668166" cy="1865696"/>
          </a:xfrm>
          <a:prstGeom prst="rect">
            <a:avLst/>
          </a:prstGeom>
        </p:spPr>
      </p:pic>
    </p:spTree>
    <p:extLst>
      <p:ext uri="{BB962C8B-B14F-4D97-AF65-F5344CB8AC3E}">
        <p14:creationId xmlns:p14="http://schemas.microsoft.com/office/powerpoint/2010/main" val="1158597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Rectangle 5"/>
          <p:cNvSpPr/>
          <p:nvPr/>
        </p:nvSpPr>
        <p:spPr>
          <a:xfrm>
            <a:off x="380166" y="1056810"/>
            <a:ext cx="2416046" cy="3693319"/>
          </a:xfrm>
          <a:prstGeom prst="rect">
            <a:avLst/>
          </a:prstGeom>
        </p:spPr>
        <p:txBody>
          <a:bodyPr wrap="none">
            <a:spAutoFit/>
          </a:bodyPr>
          <a:lstStyle/>
          <a:p>
            <a:pPr fontAlgn="base"/>
            <a:r>
              <a:rPr lang="en-IN" b="1" dirty="0">
                <a:solidFill>
                  <a:srgbClr val="090A0B"/>
                </a:solidFill>
                <a:latin typeface="-apple-system"/>
              </a:rPr>
              <a:t>2) First Fit algorithm</a:t>
            </a:r>
          </a:p>
          <a:p>
            <a:pPr fontAlgn="base"/>
            <a:endParaRPr lang="en-US" b="1" i="0" dirty="0">
              <a:solidFill>
                <a:srgbClr val="090A0B"/>
              </a:solidFill>
              <a:effectLst/>
              <a:latin typeface="-apple-system"/>
            </a:endParaRPr>
          </a:p>
          <a:p>
            <a:pPr fontAlgn="base"/>
            <a:r>
              <a:rPr lang="en-US" b="1" i="0" dirty="0">
                <a:solidFill>
                  <a:srgbClr val="090A0B"/>
                </a:solidFill>
                <a:effectLst/>
                <a:latin typeface="-apple-system"/>
              </a:rPr>
              <a:t>Step1 </a:t>
            </a: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a:solidFill>
                  <a:srgbClr val="090A0B"/>
                </a:solidFill>
                <a:effectLst/>
                <a:latin typeface="-apple-system"/>
              </a:rPr>
              <a:t>Step2 </a:t>
            </a:r>
            <a:endParaRPr lang="en-IN" b="1" i="0" dirty="0">
              <a:solidFill>
                <a:srgbClr val="090A0B"/>
              </a:solidFill>
              <a:effectLst/>
              <a:latin typeface="-apple-system"/>
            </a:endParaRPr>
          </a:p>
        </p:txBody>
      </p:sp>
      <p:pic>
        <p:nvPicPr>
          <p:cNvPr id="10" name="Picture 9"/>
          <p:cNvPicPr>
            <a:picLocks noChangeAspect="1"/>
          </p:cNvPicPr>
          <p:nvPr/>
        </p:nvPicPr>
        <p:blipFill>
          <a:blip r:embed="rId6"/>
          <a:stretch>
            <a:fillRect/>
          </a:stretch>
        </p:blipFill>
        <p:spPr>
          <a:xfrm>
            <a:off x="1139484" y="1772529"/>
            <a:ext cx="9017390" cy="4882463"/>
          </a:xfrm>
          <a:prstGeom prst="rect">
            <a:avLst/>
          </a:prstGeom>
        </p:spPr>
      </p:pic>
    </p:spTree>
    <p:extLst>
      <p:ext uri="{BB962C8B-B14F-4D97-AF65-F5344CB8AC3E}">
        <p14:creationId xmlns:p14="http://schemas.microsoft.com/office/powerpoint/2010/main" val="2450447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9" name="Rectangle 8"/>
          <p:cNvSpPr/>
          <p:nvPr/>
        </p:nvSpPr>
        <p:spPr>
          <a:xfrm>
            <a:off x="380166" y="1056810"/>
            <a:ext cx="941283" cy="3139321"/>
          </a:xfrm>
          <a:prstGeom prst="rect">
            <a:avLst/>
          </a:prstGeom>
        </p:spPr>
        <p:txBody>
          <a:bodyPr wrap="none">
            <a:spAutoFit/>
          </a:bodyPr>
          <a:lstStyle/>
          <a:p>
            <a:pPr fontAlgn="base"/>
            <a:r>
              <a:rPr lang="en-US" b="1" i="0" dirty="0">
                <a:solidFill>
                  <a:srgbClr val="090A0B"/>
                </a:solidFill>
                <a:effectLst/>
                <a:latin typeface="-apple-system"/>
              </a:rPr>
              <a:t>Step 3 </a:t>
            </a: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a:solidFill>
                  <a:srgbClr val="090A0B"/>
                </a:solidFill>
                <a:effectLst/>
                <a:latin typeface="-apple-system"/>
              </a:rPr>
              <a:t>Step 4 </a:t>
            </a:r>
            <a:endParaRPr lang="en-IN" b="1" i="0" dirty="0">
              <a:solidFill>
                <a:srgbClr val="090A0B"/>
              </a:solidFill>
              <a:effectLst/>
              <a:latin typeface="-apple-system"/>
            </a:endParaRPr>
          </a:p>
        </p:txBody>
      </p:sp>
      <p:pic>
        <p:nvPicPr>
          <p:cNvPr id="3" name="Picture 2"/>
          <p:cNvPicPr>
            <a:picLocks noChangeAspect="1"/>
          </p:cNvPicPr>
          <p:nvPr/>
        </p:nvPicPr>
        <p:blipFill>
          <a:blip r:embed="rId6"/>
          <a:stretch>
            <a:fillRect/>
          </a:stretch>
        </p:blipFill>
        <p:spPr>
          <a:xfrm>
            <a:off x="1327831" y="1090387"/>
            <a:ext cx="8754697" cy="5430008"/>
          </a:xfrm>
          <a:prstGeom prst="rect">
            <a:avLst/>
          </a:prstGeom>
        </p:spPr>
      </p:pic>
    </p:spTree>
    <p:extLst>
      <p:ext uri="{BB962C8B-B14F-4D97-AF65-F5344CB8AC3E}">
        <p14:creationId xmlns:p14="http://schemas.microsoft.com/office/powerpoint/2010/main" val="3373781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grpSp>
        <p:nvGrpSpPr>
          <p:cNvPr id="8" name="Group 7"/>
          <p:cNvGrpSpPr/>
          <p:nvPr/>
        </p:nvGrpSpPr>
        <p:grpSpPr>
          <a:xfrm>
            <a:off x="380165" y="983821"/>
            <a:ext cx="10184671" cy="5115639"/>
            <a:chOff x="380166" y="1056810"/>
            <a:chExt cx="8781452" cy="5115639"/>
          </a:xfrm>
        </p:grpSpPr>
        <p:sp>
          <p:nvSpPr>
            <p:cNvPr id="9" name="Rectangle 8"/>
            <p:cNvSpPr/>
            <p:nvPr/>
          </p:nvSpPr>
          <p:spPr>
            <a:xfrm>
              <a:off x="380166" y="1056810"/>
              <a:ext cx="941283" cy="3139321"/>
            </a:xfrm>
            <a:prstGeom prst="rect">
              <a:avLst/>
            </a:prstGeom>
          </p:spPr>
          <p:txBody>
            <a:bodyPr wrap="square">
              <a:spAutoFit/>
            </a:bodyPr>
            <a:lstStyle/>
            <a:p>
              <a:pPr fontAlgn="base"/>
              <a:r>
                <a:rPr lang="en-US" b="1" i="0" dirty="0">
                  <a:solidFill>
                    <a:srgbClr val="090A0B"/>
                  </a:solidFill>
                  <a:effectLst/>
                  <a:latin typeface="-apple-system"/>
                </a:rPr>
                <a:t>Step 5 </a:t>
              </a: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a:solidFill>
                    <a:srgbClr val="090A0B"/>
                  </a:solidFill>
                  <a:effectLst/>
                  <a:latin typeface="-apple-system"/>
                </a:rPr>
                <a:t>Step 6</a:t>
              </a:r>
              <a:endParaRPr lang="en-IN" b="1" i="0" dirty="0">
                <a:solidFill>
                  <a:srgbClr val="090A0B"/>
                </a:solidFill>
                <a:effectLst/>
                <a:latin typeface="-apple-system"/>
              </a:endParaRPr>
            </a:p>
          </p:txBody>
        </p:sp>
        <p:pic>
          <p:nvPicPr>
            <p:cNvPr id="5" name="Picture 4"/>
            <p:cNvPicPr>
              <a:picLocks noChangeAspect="1"/>
            </p:cNvPicPr>
            <p:nvPr/>
          </p:nvPicPr>
          <p:blipFill>
            <a:blip r:embed="rId6"/>
            <a:stretch>
              <a:fillRect/>
            </a:stretch>
          </p:blipFill>
          <p:spPr>
            <a:xfrm>
              <a:off x="1321449" y="1056810"/>
              <a:ext cx="7840169" cy="5115639"/>
            </a:xfrm>
            <a:prstGeom prst="rect">
              <a:avLst/>
            </a:prstGeom>
          </p:spPr>
        </p:pic>
      </p:grpSp>
      <p:sp>
        <p:nvSpPr>
          <p:cNvPr id="3" name="Rectangle 2"/>
          <p:cNvSpPr/>
          <p:nvPr/>
        </p:nvSpPr>
        <p:spPr>
          <a:xfrm>
            <a:off x="314314" y="6111478"/>
            <a:ext cx="11563305" cy="646331"/>
          </a:xfrm>
          <a:prstGeom prst="rect">
            <a:avLst/>
          </a:prstGeom>
        </p:spPr>
        <p:txBody>
          <a:bodyPr wrap="square">
            <a:spAutoFit/>
          </a:bodyPr>
          <a:lstStyle/>
          <a:p>
            <a:pPr marL="285750" indent="-285750">
              <a:buFont typeface="Arial" panose="020B0604020202020204" pitchFamily="34" charset="0"/>
              <a:buChar char="•"/>
            </a:pPr>
            <a:r>
              <a:rPr lang="en-US" b="1" dirty="0">
                <a:latin typeface="Trebuchet MS" panose="020B0603020202020204" pitchFamily="34" charset="0"/>
              </a:rPr>
              <a:t>Thus we need 5 bins as opposed to the 4 bins of the optimal solution but is much more efficient than Next-Fit algorithm.</a:t>
            </a:r>
            <a:endParaRPr lang="en-IN" b="1" dirty="0">
              <a:latin typeface="Trebuchet MS" panose="020B0603020202020204" pitchFamily="34" charset="0"/>
            </a:endParaRPr>
          </a:p>
        </p:txBody>
      </p:sp>
    </p:spTree>
    <p:extLst>
      <p:ext uri="{BB962C8B-B14F-4D97-AF65-F5344CB8AC3E}">
        <p14:creationId xmlns:p14="http://schemas.microsoft.com/office/powerpoint/2010/main" val="1399770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grpSp>
        <p:nvGrpSpPr>
          <p:cNvPr id="7" name="Group 6"/>
          <p:cNvGrpSpPr/>
          <p:nvPr/>
        </p:nvGrpSpPr>
        <p:grpSpPr>
          <a:xfrm>
            <a:off x="211353" y="983821"/>
            <a:ext cx="10775515" cy="5709332"/>
            <a:chOff x="211354" y="983821"/>
            <a:chExt cx="8580658" cy="5709332"/>
          </a:xfrm>
        </p:grpSpPr>
        <p:sp>
          <p:nvSpPr>
            <p:cNvPr id="9" name="Rectangle 8"/>
            <p:cNvSpPr/>
            <p:nvPr/>
          </p:nvSpPr>
          <p:spPr>
            <a:xfrm>
              <a:off x="211354" y="983821"/>
              <a:ext cx="2433102" cy="3693319"/>
            </a:xfrm>
            <a:prstGeom prst="rect">
              <a:avLst/>
            </a:prstGeom>
          </p:spPr>
          <p:txBody>
            <a:bodyPr wrap="none">
              <a:spAutoFit/>
            </a:bodyPr>
            <a:lstStyle/>
            <a:p>
              <a:pPr fontAlgn="base"/>
              <a:r>
                <a:rPr lang="en-IN" b="1" dirty="0">
                  <a:solidFill>
                    <a:srgbClr val="0070C0"/>
                  </a:solidFill>
                </a:rPr>
                <a:t>3. Best Fit Algorithm</a:t>
              </a:r>
            </a:p>
            <a:p>
              <a:pPr fontAlgn="base"/>
              <a:endParaRPr lang="en-US" b="1" i="0" dirty="0">
                <a:solidFill>
                  <a:srgbClr val="090A0B"/>
                </a:solidFill>
                <a:effectLst/>
                <a:latin typeface="-apple-system"/>
              </a:endParaRPr>
            </a:p>
            <a:p>
              <a:pPr fontAlgn="base"/>
              <a:r>
                <a:rPr lang="en-US" b="1" i="0" dirty="0">
                  <a:solidFill>
                    <a:srgbClr val="090A0B"/>
                  </a:solidFill>
                  <a:effectLst/>
                  <a:latin typeface="-apple-system"/>
                </a:rPr>
                <a:t>Step 1 </a:t>
              </a: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a:solidFill>
                    <a:srgbClr val="090A0B"/>
                  </a:solidFill>
                  <a:effectLst/>
                  <a:latin typeface="-apple-system"/>
                </a:rPr>
                <a:t>Step 2</a:t>
              </a:r>
              <a:endParaRPr lang="en-IN" b="1" i="0" dirty="0">
                <a:solidFill>
                  <a:srgbClr val="090A0B"/>
                </a:solidFill>
                <a:effectLst/>
                <a:latin typeface="-apple-system"/>
              </a:endParaRPr>
            </a:p>
          </p:txBody>
        </p:sp>
        <p:pic>
          <p:nvPicPr>
            <p:cNvPr id="6" name="Picture 5"/>
            <p:cNvPicPr>
              <a:picLocks noChangeAspect="1"/>
            </p:cNvPicPr>
            <p:nvPr/>
          </p:nvPicPr>
          <p:blipFill>
            <a:blip r:embed="rId6"/>
            <a:stretch>
              <a:fillRect/>
            </a:stretch>
          </p:blipFill>
          <p:spPr>
            <a:xfrm>
              <a:off x="1132843" y="1587040"/>
              <a:ext cx="7659169" cy="5106113"/>
            </a:xfrm>
            <a:prstGeom prst="rect">
              <a:avLst/>
            </a:prstGeom>
          </p:spPr>
        </p:pic>
      </p:grpSp>
    </p:spTree>
    <p:extLst>
      <p:ext uri="{BB962C8B-B14F-4D97-AF65-F5344CB8AC3E}">
        <p14:creationId xmlns:p14="http://schemas.microsoft.com/office/powerpoint/2010/main" val="15665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9" name="Rectangle 8"/>
          <p:cNvSpPr/>
          <p:nvPr/>
        </p:nvSpPr>
        <p:spPr>
          <a:xfrm>
            <a:off x="211353" y="983821"/>
            <a:ext cx="941283" cy="3139321"/>
          </a:xfrm>
          <a:prstGeom prst="rect">
            <a:avLst/>
          </a:prstGeom>
        </p:spPr>
        <p:txBody>
          <a:bodyPr wrap="none">
            <a:spAutoFit/>
          </a:bodyPr>
          <a:lstStyle/>
          <a:p>
            <a:pPr fontAlgn="base"/>
            <a:r>
              <a:rPr lang="en-US" b="1" i="0" dirty="0">
                <a:solidFill>
                  <a:srgbClr val="090A0B"/>
                </a:solidFill>
                <a:effectLst/>
                <a:latin typeface="-apple-system"/>
              </a:rPr>
              <a:t>Step 3 </a:t>
            </a: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a:solidFill>
                  <a:srgbClr val="090A0B"/>
                </a:solidFill>
                <a:effectLst/>
                <a:latin typeface="-apple-system"/>
              </a:rPr>
              <a:t>Step 4</a:t>
            </a:r>
            <a:endParaRPr lang="en-IN" b="1" i="0" dirty="0">
              <a:solidFill>
                <a:srgbClr val="090A0B"/>
              </a:solidFill>
              <a:effectLst/>
              <a:latin typeface="-apple-system"/>
            </a:endParaRPr>
          </a:p>
        </p:txBody>
      </p:sp>
      <p:pic>
        <p:nvPicPr>
          <p:cNvPr id="3" name="Picture 2"/>
          <p:cNvPicPr>
            <a:picLocks noChangeAspect="1"/>
          </p:cNvPicPr>
          <p:nvPr/>
        </p:nvPicPr>
        <p:blipFill rotWithShape="1">
          <a:blip r:embed="rId6"/>
          <a:srcRect b="2099"/>
          <a:stretch/>
        </p:blipFill>
        <p:spPr>
          <a:xfrm>
            <a:off x="1152636" y="983821"/>
            <a:ext cx="8863561" cy="5248167"/>
          </a:xfrm>
          <a:prstGeom prst="rect">
            <a:avLst/>
          </a:prstGeom>
        </p:spPr>
      </p:pic>
    </p:spTree>
    <p:extLst>
      <p:ext uri="{BB962C8B-B14F-4D97-AF65-F5344CB8AC3E}">
        <p14:creationId xmlns:p14="http://schemas.microsoft.com/office/powerpoint/2010/main" val="436190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9" name="Rectangle 8"/>
          <p:cNvSpPr/>
          <p:nvPr/>
        </p:nvSpPr>
        <p:spPr>
          <a:xfrm>
            <a:off x="211353" y="983821"/>
            <a:ext cx="941283" cy="3139321"/>
          </a:xfrm>
          <a:prstGeom prst="rect">
            <a:avLst/>
          </a:prstGeom>
        </p:spPr>
        <p:txBody>
          <a:bodyPr wrap="none">
            <a:spAutoFit/>
          </a:bodyPr>
          <a:lstStyle/>
          <a:p>
            <a:pPr fontAlgn="base"/>
            <a:r>
              <a:rPr lang="en-US" b="1" i="0" dirty="0">
                <a:solidFill>
                  <a:srgbClr val="090A0B"/>
                </a:solidFill>
                <a:effectLst/>
                <a:latin typeface="-apple-system"/>
              </a:rPr>
              <a:t>Step 5 </a:t>
            </a: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a:solidFill>
                  <a:srgbClr val="090A0B"/>
                </a:solidFill>
                <a:effectLst/>
                <a:latin typeface="-apple-system"/>
              </a:rPr>
              <a:t>Step 6</a:t>
            </a:r>
            <a:endParaRPr lang="en-IN" b="1" i="0" dirty="0">
              <a:solidFill>
                <a:srgbClr val="090A0B"/>
              </a:solidFill>
              <a:effectLst/>
              <a:latin typeface="-apple-system"/>
            </a:endParaRPr>
          </a:p>
        </p:txBody>
      </p:sp>
      <p:pic>
        <p:nvPicPr>
          <p:cNvPr id="5" name="Picture 4"/>
          <p:cNvPicPr>
            <a:picLocks noChangeAspect="1"/>
          </p:cNvPicPr>
          <p:nvPr/>
        </p:nvPicPr>
        <p:blipFill>
          <a:blip r:embed="rId6"/>
          <a:stretch>
            <a:fillRect/>
          </a:stretch>
        </p:blipFill>
        <p:spPr>
          <a:xfrm>
            <a:off x="1049169" y="1026804"/>
            <a:ext cx="8615336" cy="5125165"/>
          </a:xfrm>
          <a:prstGeom prst="rect">
            <a:avLst/>
          </a:prstGeom>
        </p:spPr>
      </p:pic>
    </p:spTree>
    <p:extLst>
      <p:ext uri="{BB962C8B-B14F-4D97-AF65-F5344CB8AC3E}">
        <p14:creationId xmlns:p14="http://schemas.microsoft.com/office/powerpoint/2010/main" val="1154548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1122020"/>
            <a:ext cx="10536363" cy="4601260"/>
          </a:xfrm>
          <a:prstGeom prst="rect">
            <a:avLst/>
          </a:prstGeom>
          <a:noFill/>
        </p:spPr>
        <p:txBody>
          <a:bodyPr wrap="square">
            <a:spAutoFit/>
          </a:bodyPr>
          <a:lstStyle/>
          <a:p>
            <a:pPr lvl="0" algn="just">
              <a:lnSpc>
                <a:spcPct val="150000"/>
              </a:lnSpc>
              <a:spcBef>
                <a:spcPts val="1200"/>
              </a:spcBef>
              <a:spcAft>
                <a:spcPts val="600"/>
              </a:spcAft>
              <a:buClr>
                <a:srgbClr val="D60093"/>
              </a:buClr>
              <a:defRPr/>
            </a:pPr>
            <a:r>
              <a:rPr lang="en-US" sz="2400" dirty="0">
                <a:solidFill>
                  <a:srgbClr val="0070C0"/>
                </a:solidFill>
                <a:latin typeface="Trebuchet MS" panose="020B0603020202020204" pitchFamily="34" charset="0"/>
              </a:rPr>
              <a:t>What is Problem Reduction?</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Problem reduction is an </a:t>
            </a:r>
            <a:r>
              <a:rPr lang="en-US" sz="2400" dirty="0">
                <a:solidFill>
                  <a:srgbClr val="0070C0"/>
                </a:solidFill>
                <a:latin typeface="Trebuchet MS" panose="020B0603020202020204" pitchFamily="34" charset="0"/>
              </a:rPr>
              <a:t>algorithm design technique </a:t>
            </a:r>
            <a:r>
              <a:rPr lang="en-US" sz="2400" dirty="0">
                <a:latin typeface="Trebuchet MS" panose="020B0603020202020204" pitchFamily="34" charset="0"/>
              </a:rPr>
              <a:t>that takes a complex problem and reduces it to a simpler one. </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The simpler problem is then solved and the solution of the simpler problem is then transformed to the solution of the original problem.</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Problem reduction is a powerful technique that can be used to simplify complex problems and make them easier to solve. It can also be used to reduce the time and space complexity of algorithms.</a:t>
            </a:r>
          </a:p>
        </p:txBody>
      </p:sp>
    </p:spTree>
    <p:extLst>
      <p:ext uri="{BB962C8B-B14F-4D97-AF65-F5344CB8AC3E}">
        <p14:creationId xmlns:p14="http://schemas.microsoft.com/office/powerpoint/2010/main" val="400526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5078313"/>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Example:</a:t>
            </a:r>
            <a:r>
              <a:rPr lang="en-US" sz="2400" dirty="0">
                <a:latin typeface="Trebuchet MS" panose="020B0603020202020204" pitchFamily="34" charset="0"/>
              </a:rPr>
              <a:t> Calculate the LCM (Least Common Multiple) of two numbers X and Y.</a:t>
            </a:r>
          </a:p>
          <a:p>
            <a:pPr lvl="0" algn="just">
              <a:lnSpc>
                <a:spcPct val="150000"/>
              </a:lnSpc>
              <a:buClr>
                <a:srgbClr val="D60093"/>
              </a:buClr>
              <a:defRPr/>
            </a:pPr>
            <a:r>
              <a:rPr lang="en-US" sz="2400" dirty="0">
                <a:solidFill>
                  <a:srgbClr val="FF0000"/>
                </a:solidFill>
                <a:latin typeface="Trebuchet MS" panose="020B0603020202020204" pitchFamily="34" charset="0"/>
              </a:rPr>
              <a:t>Approach 1:</a:t>
            </a:r>
          </a:p>
          <a:p>
            <a:pPr lvl="0" algn="just">
              <a:lnSpc>
                <a:spcPct val="150000"/>
              </a:lnSpc>
              <a:buClr>
                <a:srgbClr val="D60093"/>
              </a:buClr>
              <a:defRPr/>
            </a:pPr>
            <a:r>
              <a:rPr lang="en-US" sz="2400" dirty="0">
                <a:latin typeface="Trebuchet MS" panose="020B0603020202020204" pitchFamily="34" charset="0"/>
              </a:rPr>
              <a:t>To solve the problem one can iterate through the multiples of the bigger element (say X) until that is also a multiple of the other element. This can be written as follows:</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Select the bigger element (say X here).</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Iterate through the multiples of X:</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If this is also a multiple of Y, return this as the answer.</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Otherwise, continue the traversal.</a:t>
            </a:r>
          </a:p>
        </p:txBody>
      </p:sp>
    </p:spTree>
    <p:extLst>
      <p:ext uri="{BB962C8B-B14F-4D97-AF65-F5344CB8AC3E}">
        <p14:creationId xmlns:p14="http://schemas.microsoft.com/office/powerpoint/2010/main" val="12287987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5632311"/>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Example:</a:t>
            </a:r>
            <a:r>
              <a:rPr lang="en-US" sz="2400" dirty="0">
                <a:latin typeface="Trebuchet MS" panose="020B0603020202020204" pitchFamily="34" charset="0"/>
              </a:rPr>
              <a:t> Calculate the LCM (Least Common Multiple) of two numbers X and Y.</a:t>
            </a:r>
          </a:p>
          <a:p>
            <a:pPr lvl="0" algn="just">
              <a:lnSpc>
                <a:spcPct val="150000"/>
              </a:lnSpc>
              <a:buClr>
                <a:srgbClr val="D60093"/>
              </a:buClr>
              <a:defRPr/>
            </a:pPr>
            <a:r>
              <a:rPr lang="en-US" sz="2400" dirty="0">
                <a:solidFill>
                  <a:srgbClr val="FF0000"/>
                </a:solidFill>
                <a:latin typeface="Trebuchet MS" panose="020B0603020202020204" pitchFamily="34" charset="0"/>
              </a:rPr>
              <a:t>Approach 1:</a:t>
            </a:r>
          </a:p>
          <a:p>
            <a:pPr lvl="0" algn="just">
              <a:lnSpc>
                <a:spcPct val="150000"/>
              </a:lnSpc>
              <a:buClr>
                <a:srgbClr val="D60093"/>
              </a:buClr>
              <a:defRPr/>
            </a:pPr>
            <a:r>
              <a:rPr lang="en-US" sz="2400" dirty="0">
                <a:latin typeface="Trebuchet MS" panose="020B0603020202020204" pitchFamily="34" charset="0"/>
              </a:rPr>
              <a:t>To solve the problem one can iterate through the multiples of the bigger element (say X) until that is also a multiple of the other element. This can be written as follows:</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Select the bigger element (say X here).</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Iterate through the multiples of X:</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If this is also a multiple of Y, </a:t>
            </a:r>
          </a:p>
          <a:p>
            <a:pPr lvl="1" algn="just">
              <a:lnSpc>
                <a:spcPct val="150000"/>
              </a:lnSpc>
              <a:buClr>
                <a:schemeClr val="tx1"/>
              </a:buClr>
              <a:defRPr/>
            </a:pPr>
            <a:r>
              <a:rPr lang="en-US" sz="2400" dirty="0">
                <a:latin typeface="Trebuchet MS" panose="020B0603020202020204" pitchFamily="34" charset="0"/>
              </a:rPr>
              <a:t>    return this as the answer.</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Otherwise, continue the traversal.</a:t>
            </a:r>
          </a:p>
        </p:txBody>
      </p:sp>
      <p:pic>
        <p:nvPicPr>
          <p:cNvPr id="3" name="Picture 2"/>
          <p:cNvPicPr>
            <a:picLocks noChangeAspect="1"/>
          </p:cNvPicPr>
          <p:nvPr/>
        </p:nvPicPr>
        <p:blipFill>
          <a:blip r:embed="rId6"/>
          <a:stretch>
            <a:fillRect/>
          </a:stretch>
        </p:blipFill>
        <p:spPr>
          <a:xfrm>
            <a:off x="7181591" y="3637457"/>
            <a:ext cx="2896628" cy="2978675"/>
          </a:xfrm>
          <a:prstGeom prst="rect">
            <a:avLst/>
          </a:prstGeom>
        </p:spPr>
      </p:pic>
    </p:spTree>
    <p:extLst>
      <p:ext uri="{BB962C8B-B14F-4D97-AF65-F5344CB8AC3E}">
        <p14:creationId xmlns:p14="http://schemas.microsoft.com/office/powerpoint/2010/main" val="18591742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3416320"/>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Approach 2 (Problem Reduction):</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The above method required a linear amount of time and if the value of Y is very big it may not be a feasible solution. </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This problem can be reduced to another problem which is to “calculate GCD of X and Y” and the solution of that can be transformed to get the answer to the given problem as shown below:</a:t>
            </a:r>
          </a:p>
        </p:txBody>
      </p:sp>
      <p:sp>
        <p:nvSpPr>
          <p:cNvPr id="5" name="Rectangle 4"/>
          <p:cNvSpPr/>
          <p:nvPr/>
        </p:nvSpPr>
        <p:spPr>
          <a:xfrm>
            <a:off x="380166" y="4223466"/>
            <a:ext cx="7026645" cy="2308324"/>
          </a:xfrm>
          <a:prstGeom prst="rect">
            <a:avLst/>
          </a:prstGeom>
        </p:spPr>
        <p:txBody>
          <a:bodyPr wrap="square">
            <a:spAutoFit/>
          </a:bodyPr>
          <a:lstStyle/>
          <a:p>
            <a:pPr marL="342900" lvl="0" indent="-342900" algn="just">
              <a:lnSpc>
                <a:spcPct val="150000"/>
              </a:lnSpc>
              <a:buClr>
                <a:schemeClr val="tx1"/>
              </a:buClr>
              <a:buFont typeface="Arial" panose="020B0604020202020204" pitchFamily="34" charset="0"/>
              <a:buChar char="•"/>
              <a:defRPr/>
            </a:pPr>
            <a:r>
              <a:rPr lang="en-US" sz="2400" dirty="0">
                <a:solidFill>
                  <a:srgbClr val="0070C0"/>
                </a:solidFill>
                <a:latin typeface="Trebuchet MS" panose="020B0603020202020204" pitchFamily="34" charset="0"/>
              </a:rPr>
              <a:t>Calculate the GCD of X and Y using Euclid’s algorithm.</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Now we know that GCD * LCM = X*Y. So the LCM can be calculated as (X*Y/GCD).</a:t>
            </a:r>
          </a:p>
        </p:txBody>
      </p:sp>
      <p:pic>
        <p:nvPicPr>
          <p:cNvPr id="7" name="Picture 6"/>
          <p:cNvPicPr>
            <a:picLocks noChangeAspect="1"/>
          </p:cNvPicPr>
          <p:nvPr/>
        </p:nvPicPr>
        <p:blipFill>
          <a:blip r:embed="rId6"/>
          <a:stretch>
            <a:fillRect/>
          </a:stretch>
        </p:blipFill>
        <p:spPr>
          <a:xfrm>
            <a:off x="7780628" y="3899450"/>
            <a:ext cx="3473526" cy="2632340"/>
          </a:xfrm>
          <a:prstGeom prst="rect">
            <a:avLst/>
          </a:prstGeom>
        </p:spPr>
      </p:pic>
    </p:spTree>
    <p:extLst>
      <p:ext uri="{BB962C8B-B14F-4D97-AF65-F5344CB8AC3E}">
        <p14:creationId xmlns:p14="http://schemas.microsoft.com/office/powerpoint/2010/main" val="18711857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3416320"/>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Approach 2 (Problem Reduction):</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The above method required a linear amount of time and if the value of Y is very big it may not be a feasible solution. </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This problem can be reduced to another problem which is to “calculate GCD of X and Y” and the solution of that can be transformed to get the answer to the given problem as shown below:</a:t>
            </a:r>
          </a:p>
        </p:txBody>
      </p:sp>
      <p:sp>
        <p:nvSpPr>
          <p:cNvPr id="5" name="Rectangle 4"/>
          <p:cNvSpPr/>
          <p:nvPr/>
        </p:nvSpPr>
        <p:spPr>
          <a:xfrm>
            <a:off x="380166" y="4223466"/>
            <a:ext cx="7026645" cy="2308324"/>
          </a:xfrm>
          <a:prstGeom prst="rect">
            <a:avLst/>
          </a:prstGeom>
        </p:spPr>
        <p:txBody>
          <a:bodyPr wrap="square">
            <a:spAutoFit/>
          </a:bodyPr>
          <a:lstStyle/>
          <a:p>
            <a:pPr marL="342900" lvl="0" indent="-342900" algn="just">
              <a:lnSpc>
                <a:spcPct val="150000"/>
              </a:lnSpc>
              <a:buClr>
                <a:schemeClr val="tx1"/>
              </a:buClr>
              <a:buFont typeface="Arial" panose="020B0604020202020204" pitchFamily="34" charset="0"/>
              <a:buChar char="•"/>
              <a:defRPr/>
            </a:pPr>
            <a:r>
              <a:rPr lang="en-US" sz="2400" dirty="0">
                <a:solidFill>
                  <a:srgbClr val="0070C0"/>
                </a:solidFill>
                <a:latin typeface="Trebuchet MS" panose="020B0603020202020204" pitchFamily="34" charset="0"/>
              </a:rPr>
              <a:t>Calculate the GCD of X and Y using Euclid’s algorithm.</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Now we know that GCD * LCM = X*Y. So the LCM can be calculated as (X*Y/GCD).</a:t>
            </a:r>
          </a:p>
        </p:txBody>
      </p:sp>
      <p:pic>
        <p:nvPicPr>
          <p:cNvPr id="7" name="Picture 6"/>
          <p:cNvPicPr>
            <a:picLocks noChangeAspect="1"/>
          </p:cNvPicPr>
          <p:nvPr/>
        </p:nvPicPr>
        <p:blipFill>
          <a:blip r:embed="rId6"/>
          <a:stretch>
            <a:fillRect/>
          </a:stretch>
        </p:blipFill>
        <p:spPr>
          <a:xfrm>
            <a:off x="7780628" y="3899450"/>
            <a:ext cx="3473526" cy="2632340"/>
          </a:xfrm>
          <a:prstGeom prst="rect">
            <a:avLst/>
          </a:prstGeom>
        </p:spPr>
      </p:pic>
    </p:spTree>
    <p:extLst>
      <p:ext uri="{BB962C8B-B14F-4D97-AF65-F5344CB8AC3E}">
        <p14:creationId xmlns:p14="http://schemas.microsoft.com/office/powerpoint/2010/main" val="10366338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3 CNF Problem </a:t>
            </a:r>
            <a:endParaRPr lang="en-IN" sz="3200" dirty="0">
              <a:solidFill>
                <a:schemeClr val="bg1"/>
              </a:solidFill>
              <a:latin typeface="Trebuchet MS" panose="020B0603020202020204" pitchFamily="34" charset="0"/>
            </a:endParaRPr>
          </a:p>
        </p:txBody>
      </p:sp>
      <p:sp>
        <p:nvSpPr>
          <p:cNvPr id="3" name="Rectangle 2"/>
          <p:cNvSpPr/>
          <p:nvPr/>
        </p:nvSpPr>
        <p:spPr>
          <a:xfrm>
            <a:off x="239151" y="998401"/>
            <a:ext cx="11732455"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3-CNF</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stands for </a:t>
            </a:r>
            <a:r>
              <a:rPr lang="en-US" sz="2400" b="1" dirty="0">
                <a:solidFill>
                  <a:srgbClr val="0070C0"/>
                </a:solidFill>
                <a:latin typeface="Trebuchet MS" panose="020B0603020202020204" pitchFamily="34" charset="0"/>
              </a:rPr>
              <a:t>3-Conjunctive Normal Form</a:t>
            </a:r>
            <a:r>
              <a:rPr lang="en-US" sz="2400" dirty="0">
                <a:latin typeface="Trebuchet MS" panose="020B0603020202020204" pitchFamily="34" charset="0"/>
              </a:rPr>
              <a:t>, which is a special case of a Boolean formula written in </a:t>
            </a:r>
            <a:r>
              <a:rPr lang="en-US" sz="2400" b="1" dirty="0">
                <a:solidFill>
                  <a:srgbClr val="0070C0"/>
                </a:solidFill>
                <a:latin typeface="Trebuchet MS" panose="020B0603020202020204" pitchFamily="34" charset="0"/>
              </a:rPr>
              <a:t>Conjunctive Normal Form (CNF)</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A formula is in CNF if:</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It is a conjunction (AND) of one or more clauses.</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Each clause is a disjunction (OR) of literals.</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A literal is a Boolean variable or its negation.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In the </a:t>
            </a:r>
            <a:r>
              <a:rPr lang="en-US" sz="2400" b="1" dirty="0">
                <a:latin typeface="Trebuchet MS" panose="020B0603020202020204" pitchFamily="34" charset="0"/>
              </a:rPr>
              <a:t>3-CNF</a:t>
            </a:r>
            <a:r>
              <a:rPr lang="en-US" sz="2400" dirty="0">
                <a:latin typeface="Trebuchet MS" panose="020B0603020202020204" pitchFamily="34" charset="0"/>
              </a:rPr>
              <a:t> problem:</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Each clause contains exactly </a:t>
            </a:r>
            <a:r>
              <a:rPr lang="en-US" sz="2400" b="1" dirty="0">
                <a:solidFill>
                  <a:srgbClr val="0070C0"/>
                </a:solidFill>
                <a:latin typeface="Trebuchet MS" panose="020B0603020202020204" pitchFamily="34" charset="0"/>
              </a:rPr>
              <a:t>three literals</a:t>
            </a:r>
            <a:r>
              <a:rPr lang="en-US" sz="2400" dirty="0">
                <a:latin typeface="Trebuchet MS" panose="020B0603020202020204" pitchFamily="34" charset="0"/>
              </a:rPr>
              <a:t>.</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The goal is to determine if there exists an assignment of truth values (true or false) to the variables such that the entire formula evaluates to </a:t>
            </a:r>
            <a:r>
              <a:rPr lang="en-US" sz="2400" b="1" dirty="0">
                <a:latin typeface="Trebuchet MS" panose="020B0603020202020204" pitchFamily="34" charset="0"/>
              </a:rPr>
              <a:t>true</a:t>
            </a:r>
            <a:r>
              <a:rPr lang="en-US" sz="2400" dirty="0">
                <a:latin typeface="Trebuchet MS" panose="020B0603020202020204" pitchFamily="34" charset="0"/>
              </a:rPr>
              <a:t>.</a:t>
            </a:r>
          </a:p>
        </p:txBody>
      </p:sp>
    </p:spTree>
    <p:extLst>
      <p:ext uri="{BB962C8B-B14F-4D97-AF65-F5344CB8AC3E}">
        <p14:creationId xmlns:p14="http://schemas.microsoft.com/office/powerpoint/2010/main" val="15750314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3 CNF Problem </a:t>
            </a:r>
            <a:endParaRPr lang="en-IN" sz="3200" dirty="0">
              <a:solidFill>
                <a:schemeClr val="bg1"/>
              </a:solidFill>
              <a:latin typeface="Trebuchet MS" panose="020B0603020202020204" pitchFamily="34" charset="0"/>
            </a:endParaRPr>
          </a:p>
        </p:txBody>
      </p:sp>
      <p:sp>
        <p:nvSpPr>
          <p:cNvPr id="3" name="Rectangle 2"/>
          <p:cNvSpPr/>
          <p:nvPr/>
        </p:nvSpPr>
        <p:spPr>
          <a:xfrm>
            <a:off x="447538" y="1372239"/>
            <a:ext cx="11284223" cy="4524315"/>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Goal of 3-CNF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 goal of the 3-CNF problem is to determine whether a given Boolean formula in 3-Conjunctive Normal Form (3-CNF) is </a:t>
            </a:r>
            <a:r>
              <a:rPr lang="en-US" sz="2400" dirty="0" err="1">
                <a:latin typeface="Trebuchet MS" panose="020B0603020202020204" pitchFamily="34" charset="0"/>
              </a:rPr>
              <a:t>satisfiable</a:t>
            </a:r>
            <a:r>
              <a:rPr lang="en-US" sz="2400" dirty="0">
                <a:latin typeface="Trebuchet MS" panose="020B0603020202020204" pitchFamily="34" charset="0"/>
              </a:rPr>
              <a:t>.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This means finding whether there exists an </a:t>
            </a:r>
            <a:r>
              <a:rPr lang="en-US" sz="2400" u="sng" dirty="0">
                <a:solidFill>
                  <a:srgbClr val="0070C0"/>
                </a:solidFill>
                <a:latin typeface="Trebuchet MS" panose="020B0603020202020204" pitchFamily="34" charset="0"/>
              </a:rPr>
              <a:t>assignment of truth values </a:t>
            </a:r>
            <a:r>
              <a:rPr lang="en-US" sz="2400" dirty="0">
                <a:latin typeface="Trebuchet MS" panose="020B0603020202020204" pitchFamily="34" charset="0"/>
              </a:rPr>
              <a:t>(True or False) to the variables in the formula such that the entire formula evaluates to True.</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This is often called the </a:t>
            </a:r>
            <a:r>
              <a:rPr lang="en-US" sz="2400" u="sng" dirty="0">
                <a:solidFill>
                  <a:srgbClr val="FF0000"/>
                </a:solidFill>
                <a:latin typeface="Trebuchet MS" panose="020B0603020202020204" pitchFamily="34" charset="0"/>
              </a:rPr>
              <a:t>3-SAT (3-Satisfiability) </a:t>
            </a:r>
            <a:r>
              <a:rPr lang="en-US" sz="2400" dirty="0">
                <a:latin typeface="Trebuchet MS" panose="020B0603020202020204" pitchFamily="34" charset="0"/>
              </a:rPr>
              <a:t>problem.</a:t>
            </a:r>
          </a:p>
          <a:p>
            <a:pPr>
              <a:lnSpc>
                <a:spcPct val="150000"/>
              </a:lnSpc>
            </a:pPr>
            <a:endParaRPr lang="en-US" sz="2400" dirty="0">
              <a:latin typeface="Trebuchet MS" panose="020B0603020202020204" pitchFamily="34" charset="0"/>
            </a:endParaRPr>
          </a:p>
        </p:txBody>
      </p:sp>
    </p:spTree>
    <p:extLst>
      <p:ext uri="{BB962C8B-B14F-4D97-AF65-F5344CB8AC3E}">
        <p14:creationId xmlns:p14="http://schemas.microsoft.com/office/powerpoint/2010/main" val="1582860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3 CNF Problem </a:t>
            </a:r>
            <a:endParaRPr lang="en-IN" sz="3200" dirty="0">
              <a:solidFill>
                <a:schemeClr val="bg1"/>
              </a:solidFill>
              <a:latin typeface="Trebuchet MS" panose="020B0603020202020204" pitchFamily="34" charset="0"/>
            </a:endParaRPr>
          </a:p>
        </p:txBody>
      </p:sp>
      <p:sp>
        <p:nvSpPr>
          <p:cNvPr id="3" name="Rectangle 2"/>
          <p:cNvSpPr/>
          <p:nvPr/>
        </p:nvSpPr>
        <p:spPr>
          <a:xfrm>
            <a:off x="447538" y="1372239"/>
            <a:ext cx="11284223" cy="3729162"/>
          </a:xfrm>
          <a:prstGeom prst="rect">
            <a:avLst/>
          </a:prstGeom>
        </p:spPr>
        <p:txBody>
          <a:bodyPr wrap="square">
            <a:spAutoFit/>
          </a:bodyPr>
          <a:lstStyle/>
          <a:p>
            <a:pPr>
              <a:lnSpc>
                <a:spcPct val="150000"/>
              </a:lnSpc>
            </a:pPr>
            <a:r>
              <a:rPr lang="en-US" sz="2000" dirty="0">
                <a:latin typeface="Trebuchet MS" panose="020B0603020202020204" pitchFamily="34" charset="0"/>
              </a:rPr>
              <a:t>A Boolean formula is in 3-CNF if it is an AND of clauses, with each clause containing exactly three literals connected by OR.</a:t>
            </a:r>
          </a:p>
          <a:p>
            <a:pPr>
              <a:lnSpc>
                <a:spcPct val="150000"/>
              </a:lnSpc>
            </a:pPr>
            <a:r>
              <a:rPr lang="en-US" sz="2000" dirty="0">
                <a:latin typeface="Trebuchet MS" panose="020B0603020202020204" pitchFamily="34" charset="0"/>
              </a:rPr>
              <a:t>Example:    F=(x V y V z) ∧ (¬x V y V ¬z)</a:t>
            </a:r>
          </a:p>
          <a:p>
            <a:pPr marL="285750" indent="-285750">
              <a:lnSpc>
                <a:spcPct val="150000"/>
              </a:lnSpc>
              <a:buFont typeface="Arial" panose="020B0604020202020204" pitchFamily="34" charset="0"/>
              <a:buChar char="•"/>
            </a:pPr>
            <a:r>
              <a:rPr lang="en-US" sz="2000" dirty="0">
                <a:latin typeface="Trebuchet MS" panose="020B0603020202020204" pitchFamily="34" charset="0"/>
              </a:rPr>
              <a:t>∧ means AND.</a:t>
            </a:r>
          </a:p>
          <a:p>
            <a:pPr marL="285750" indent="-285750">
              <a:lnSpc>
                <a:spcPct val="150000"/>
              </a:lnSpc>
              <a:buFont typeface="Arial" panose="020B0604020202020204" pitchFamily="34" charset="0"/>
              <a:buChar char="•"/>
            </a:pPr>
            <a:r>
              <a:rPr lang="en-US" sz="2000" dirty="0">
                <a:latin typeface="Trebuchet MS" panose="020B0603020202020204" pitchFamily="34" charset="0"/>
              </a:rPr>
              <a:t>∨ means OR.</a:t>
            </a:r>
          </a:p>
          <a:p>
            <a:pPr marL="285750" indent="-285750">
              <a:lnSpc>
                <a:spcPct val="150000"/>
              </a:lnSpc>
              <a:buFont typeface="Arial" panose="020B0604020202020204" pitchFamily="34" charset="0"/>
              <a:buChar char="•"/>
            </a:pPr>
            <a:r>
              <a:rPr lang="en-US" sz="2000" dirty="0">
                <a:latin typeface="Trebuchet MS" panose="020B0603020202020204" pitchFamily="34" charset="0"/>
              </a:rPr>
              <a:t>¬ means NOT.</a:t>
            </a:r>
          </a:p>
          <a:p>
            <a:pPr>
              <a:lnSpc>
                <a:spcPct val="150000"/>
              </a:lnSpc>
            </a:pPr>
            <a:r>
              <a:rPr lang="en-US" sz="2000" dirty="0">
                <a:latin typeface="Trebuchet MS" panose="020B0603020202020204" pitchFamily="34" charset="0"/>
              </a:rPr>
              <a:t>Important: The 3-SAT problem, which asks whether a 3-CNF formula is satisfiable, is NP-complete.</a:t>
            </a:r>
          </a:p>
        </p:txBody>
      </p:sp>
    </p:spTree>
    <p:extLst>
      <p:ext uri="{BB962C8B-B14F-4D97-AF65-F5344CB8AC3E}">
        <p14:creationId xmlns:p14="http://schemas.microsoft.com/office/powerpoint/2010/main" val="1187903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Approximation algorithms </a:t>
            </a:r>
            <a:endParaRPr lang="en-IN" sz="3200" dirty="0">
              <a:solidFill>
                <a:schemeClr val="bg1"/>
              </a:solidFill>
              <a:latin typeface="Trebuchet MS" panose="020B0603020202020204" pitchFamily="34" charset="0"/>
            </a:endParaRPr>
          </a:p>
        </p:txBody>
      </p:sp>
      <p:sp>
        <p:nvSpPr>
          <p:cNvPr id="3" name="Rectangle 2"/>
          <p:cNvSpPr/>
          <p:nvPr/>
        </p:nvSpPr>
        <p:spPr>
          <a:xfrm>
            <a:off x="230456" y="885202"/>
            <a:ext cx="11783353" cy="655564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An approximation algorithm is a way of </a:t>
            </a:r>
            <a:r>
              <a:rPr lang="en-US" sz="2400" dirty="0">
                <a:solidFill>
                  <a:srgbClr val="0070C0"/>
                </a:solidFill>
                <a:latin typeface="Trebuchet MS" panose="020B0603020202020204" pitchFamily="34" charset="0"/>
              </a:rPr>
              <a:t>dealing with NP-completeness </a:t>
            </a:r>
            <a:r>
              <a:rPr lang="en-US" sz="2400" dirty="0">
                <a:latin typeface="Trebuchet MS" panose="020B0603020202020204" pitchFamily="34" charset="0"/>
              </a:rPr>
              <a:t>for an optimization problem. This technique </a:t>
            </a:r>
            <a:r>
              <a:rPr lang="en-US" sz="2400" dirty="0">
                <a:solidFill>
                  <a:srgbClr val="0070C0"/>
                </a:solidFill>
                <a:latin typeface="Trebuchet MS" panose="020B0603020202020204" pitchFamily="34" charset="0"/>
              </a:rPr>
              <a:t>does not guarantee </a:t>
            </a:r>
            <a:r>
              <a:rPr lang="en-US" sz="2400" dirty="0">
                <a:latin typeface="Trebuchet MS" panose="020B0603020202020204" pitchFamily="34" charset="0"/>
              </a:rPr>
              <a:t>the best solution.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 goal of the approximation algorithm is to come as close as possible to the optimal solution in polynomial time.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Such algorithms are called approximation algorithms or </a:t>
            </a:r>
            <a:r>
              <a:rPr lang="en-US" sz="2400" dirty="0">
                <a:solidFill>
                  <a:srgbClr val="0070C0"/>
                </a:solidFill>
                <a:latin typeface="Trebuchet MS" panose="020B0603020202020204" pitchFamily="34" charset="0"/>
              </a:rPr>
              <a:t>heuristic algorithms</a:t>
            </a:r>
            <a:r>
              <a:rPr lang="en-US" sz="2400" dirty="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Some examples of the Approximation algorithm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Here, Some examples of the Approximation Algorithm as follows.</a:t>
            </a: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The Vertex Cover Problem</a:t>
            </a:r>
          </a:p>
          <a:p>
            <a:pPr marL="1257300" lvl="2" indent="-342900">
              <a:lnSpc>
                <a:spcPct val="150000"/>
              </a:lnSpc>
              <a:buFont typeface="Wingdings" panose="05000000000000000000" pitchFamily="2" charset="2"/>
              <a:buChar char="ü"/>
            </a:pPr>
            <a:r>
              <a:rPr lang="en-IN" sz="2200" dirty="0">
                <a:solidFill>
                  <a:srgbClr val="0070C0"/>
                </a:solidFill>
                <a:latin typeface="Trebuchet MS" panose="020B0603020202020204" pitchFamily="34" charset="0"/>
              </a:rPr>
              <a:t>The Set Covering 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Travelling Salesman Problem</a:t>
            </a: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The Subset Sum Problem </a:t>
            </a:r>
          </a:p>
          <a:p>
            <a:pPr marL="342900"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2498143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Approximation algorithms </a:t>
            </a:r>
            <a:endParaRPr lang="en-IN" sz="3200" dirty="0">
              <a:solidFill>
                <a:schemeClr val="bg1"/>
              </a:solidFill>
              <a:latin typeface="Trebuchet MS" panose="020B0603020202020204" pitchFamily="34" charset="0"/>
            </a:endParaRPr>
          </a:p>
        </p:txBody>
      </p:sp>
      <p:sp>
        <p:nvSpPr>
          <p:cNvPr id="3" name="Rectangle 2"/>
          <p:cNvSpPr/>
          <p:nvPr/>
        </p:nvSpPr>
        <p:spPr>
          <a:xfrm>
            <a:off x="230456" y="885202"/>
            <a:ext cx="11783353" cy="655564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An approximation algorithm is a way of </a:t>
            </a:r>
            <a:r>
              <a:rPr lang="en-US" sz="2400" dirty="0">
                <a:solidFill>
                  <a:srgbClr val="0070C0"/>
                </a:solidFill>
                <a:latin typeface="Trebuchet MS" panose="020B0603020202020204" pitchFamily="34" charset="0"/>
              </a:rPr>
              <a:t>dealing with NP-completeness </a:t>
            </a:r>
            <a:r>
              <a:rPr lang="en-US" sz="2400" dirty="0">
                <a:latin typeface="Trebuchet MS" panose="020B0603020202020204" pitchFamily="34" charset="0"/>
              </a:rPr>
              <a:t>for an optimization problem. This technique </a:t>
            </a:r>
            <a:r>
              <a:rPr lang="en-US" sz="2400" dirty="0">
                <a:solidFill>
                  <a:srgbClr val="0070C0"/>
                </a:solidFill>
                <a:latin typeface="Trebuchet MS" panose="020B0603020202020204" pitchFamily="34" charset="0"/>
              </a:rPr>
              <a:t>does not guarantee </a:t>
            </a:r>
            <a:r>
              <a:rPr lang="en-US" sz="2400" dirty="0">
                <a:latin typeface="Trebuchet MS" panose="020B0603020202020204" pitchFamily="34" charset="0"/>
              </a:rPr>
              <a:t>the best solution.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 goal of the approximation algorithm is to come as close as possible to the optimal solution in polynomial time.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Such algorithms are called approximation algorithms or </a:t>
            </a:r>
            <a:r>
              <a:rPr lang="en-US" sz="2400" dirty="0">
                <a:solidFill>
                  <a:srgbClr val="0070C0"/>
                </a:solidFill>
                <a:latin typeface="Trebuchet MS" panose="020B0603020202020204" pitchFamily="34" charset="0"/>
              </a:rPr>
              <a:t>heuristic algorithms</a:t>
            </a:r>
            <a:r>
              <a:rPr lang="en-US" sz="2400" dirty="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Some examples of the Approximation algorithm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Here, Some examples of the Approximation Algorithm as follows.</a:t>
            </a: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The Vertex Cover Problem</a:t>
            </a:r>
          </a:p>
          <a:p>
            <a:pPr marL="1257300" lvl="2" indent="-342900">
              <a:lnSpc>
                <a:spcPct val="150000"/>
              </a:lnSpc>
              <a:buFont typeface="Wingdings" panose="05000000000000000000" pitchFamily="2" charset="2"/>
              <a:buChar char="ü"/>
            </a:pPr>
            <a:r>
              <a:rPr lang="en-IN" sz="2200" dirty="0">
                <a:solidFill>
                  <a:srgbClr val="0070C0"/>
                </a:solidFill>
                <a:latin typeface="Trebuchet MS" panose="020B0603020202020204" pitchFamily="34" charset="0"/>
              </a:rPr>
              <a:t>The Set Covering 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Travelling Salesman Problem</a:t>
            </a: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The Subset Sum Problem </a:t>
            </a:r>
          </a:p>
          <a:p>
            <a:pPr marL="342900"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4123896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3" name="Rectangle 2"/>
          <p:cNvSpPr/>
          <p:nvPr/>
        </p:nvSpPr>
        <p:spPr>
          <a:xfrm>
            <a:off x="408647" y="1160492"/>
            <a:ext cx="11114727" cy="4524315"/>
          </a:xfrm>
          <a:prstGeom prst="rect">
            <a:avLst/>
          </a:prstGeom>
        </p:spPr>
        <p:txBody>
          <a:bodyPr wrap="square">
            <a:spAutoFit/>
          </a:bodyPr>
          <a:lstStyle/>
          <a:p>
            <a:pPr>
              <a:lnSpc>
                <a:spcPct val="150000"/>
              </a:lnSpc>
            </a:pPr>
            <a:r>
              <a:rPr lang="en-US" sz="2400" b="1" dirty="0">
                <a:solidFill>
                  <a:srgbClr val="0070C0"/>
                </a:solidFill>
                <a:latin typeface="CIDFont+F4"/>
              </a:rPr>
              <a:t>Concept of Randomized Algorithms</a:t>
            </a:r>
          </a:p>
          <a:p>
            <a:pPr marL="342900" indent="-342900">
              <a:lnSpc>
                <a:spcPct val="150000"/>
              </a:lnSpc>
              <a:buFont typeface="Arial" panose="020B0604020202020204" pitchFamily="34" charset="0"/>
              <a:buChar char="•"/>
            </a:pPr>
            <a:r>
              <a:rPr lang="en-US" sz="2400" dirty="0">
                <a:latin typeface="CIDFont+F4"/>
              </a:rPr>
              <a:t>An algorithm that uses </a:t>
            </a:r>
            <a:r>
              <a:rPr lang="en-US" sz="2400" dirty="0">
                <a:solidFill>
                  <a:srgbClr val="0070C0"/>
                </a:solidFill>
                <a:latin typeface="CIDFont+F4"/>
              </a:rPr>
              <a:t>random numbers to decide </a:t>
            </a:r>
            <a:r>
              <a:rPr lang="en-US" sz="2400" dirty="0">
                <a:latin typeface="CIDFont+F4"/>
              </a:rPr>
              <a:t>what to do next anywhere in its logic is called a Randomized Algorithm.</a:t>
            </a:r>
          </a:p>
          <a:p>
            <a:pPr marL="342900" indent="-342900">
              <a:lnSpc>
                <a:spcPct val="150000"/>
              </a:lnSpc>
              <a:buFont typeface="Arial" panose="020B0604020202020204" pitchFamily="34" charset="0"/>
              <a:buChar char="•"/>
            </a:pPr>
            <a:r>
              <a:rPr lang="en-US" sz="2400" dirty="0">
                <a:latin typeface="Trebuchet MS" panose="020B0603020202020204" pitchFamily="34" charset="0"/>
              </a:rPr>
              <a:t>A randomized algorithm uses </a:t>
            </a:r>
            <a:r>
              <a:rPr lang="en-US" sz="2400" dirty="0">
                <a:solidFill>
                  <a:srgbClr val="0070C0"/>
                </a:solidFill>
                <a:latin typeface="Trebuchet MS" panose="020B0603020202020204" pitchFamily="34" charset="0"/>
              </a:rPr>
              <a:t>random numbers or random decisions </a:t>
            </a:r>
            <a:r>
              <a:rPr lang="en-US" sz="2400" dirty="0">
                <a:latin typeface="Trebuchet MS" panose="020B0603020202020204" pitchFamily="34" charset="0"/>
              </a:rPr>
              <a:t>during its execution.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Unlike deterministic algorithms, which always produce the same output for a given input, randomized algorithms may produce different outputs or have different execution paths for the same input.</a:t>
            </a:r>
          </a:p>
        </p:txBody>
      </p:sp>
    </p:spTree>
    <p:extLst>
      <p:ext uri="{BB962C8B-B14F-4D97-AF65-F5344CB8AC3E}">
        <p14:creationId xmlns:p14="http://schemas.microsoft.com/office/powerpoint/2010/main" val="36960274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5" name="Rectangle 4"/>
          <p:cNvSpPr/>
          <p:nvPr/>
        </p:nvSpPr>
        <p:spPr>
          <a:xfrm>
            <a:off x="371132" y="1066184"/>
            <a:ext cx="10981495" cy="5078313"/>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Types of Randomized Algorithms</a:t>
            </a:r>
          </a:p>
          <a:p>
            <a:pPr>
              <a:lnSpc>
                <a:spcPct val="150000"/>
              </a:lnSpc>
              <a:buFont typeface="+mj-lt"/>
              <a:buAutoNum type="arabicPeriod"/>
            </a:pPr>
            <a:r>
              <a:rPr lang="en-US" sz="2400" b="1" dirty="0">
                <a:solidFill>
                  <a:srgbClr val="0070C0"/>
                </a:solidFill>
                <a:latin typeface="Trebuchet MS" panose="020B0603020202020204" pitchFamily="34" charset="0"/>
              </a:rPr>
              <a:t>Las Vegas Algorithms</a:t>
            </a:r>
            <a:r>
              <a:rPr lang="en-US" sz="2400" dirty="0">
                <a:solidFill>
                  <a:srgbClr val="0070C0"/>
                </a:solidFill>
                <a:latin typeface="Trebuchet MS" panose="020B0603020202020204" pitchFamily="34" charset="0"/>
              </a:rPr>
              <a: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Always produce the correct result.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Randomization only affects the runtime.</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Example: Randomized Quick Sort.</a:t>
            </a:r>
          </a:p>
          <a:p>
            <a:pPr>
              <a:lnSpc>
                <a:spcPct val="150000"/>
              </a:lnSpc>
              <a:buFont typeface="+mj-lt"/>
              <a:buAutoNum type="arabicPeriod"/>
            </a:pPr>
            <a:r>
              <a:rPr lang="en-US" sz="2400" b="1" dirty="0">
                <a:solidFill>
                  <a:srgbClr val="0070C0"/>
                </a:solidFill>
                <a:latin typeface="Trebuchet MS" panose="020B0603020202020204" pitchFamily="34" charset="0"/>
              </a:rPr>
              <a:t>Monte Carlo Algorithms</a:t>
            </a:r>
            <a:r>
              <a:rPr lang="en-US" sz="2400" dirty="0">
                <a:solidFill>
                  <a:srgbClr val="0070C0"/>
                </a:solidFill>
                <a:latin typeface="Trebuchet MS" panose="020B0603020202020204" pitchFamily="34" charset="0"/>
              </a:rPr>
              <a: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May produce an incorrect result with a small probability.</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Randomization affects both the output and runtime.</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Example: Randomized primality testing</a:t>
            </a:r>
            <a:r>
              <a:rPr lang="en-US" sz="2400" dirty="0"/>
              <a:t>.</a:t>
            </a:r>
          </a:p>
        </p:txBody>
      </p:sp>
    </p:spTree>
    <p:extLst>
      <p:ext uri="{BB962C8B-B14F-4D97-AF65-F5344CB8AC3E}">
        <p14:creationId xmlns:p14="http://schemas.microsoft.com/office/powerpoint/2010/main" val="27838210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5" name="Rectangle 4"/>
          <p:cNvSpPr/>
          <p:nvPr/>
        </p:nvSpPr>
        <p:spPr>
          <a:xfrm>
            <a:off x="230456" y="983821"/>
            <a:ext cx="10981495" cy="4524315"/>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Applications of Randomized Algorithms</a:t>
            </a:r>
          </a:p>
          <a:p>
            <a:pPr marL="1371600" lvl="2" indent="-457200">
              <a:lnSpc>
                <a:spcPct val="150000"/>
              </a:lnSpc>
              <a:buFont typeface="+mj-lt"/>
              <a:buAutoNum type="arabicPeriod"/>
            </a:pPr>
            <a:r>
              <a:rPr lang="en-US" sz="2400" dirty="0"/>
              <a:t>Primality testing </a:t>
            </a:r>
          </a:p>
          <a:p>
            <a:pPr marL="1371600" lvl="2" indent="-457200">
              <a:lnSpc>
                <a:spcPct val="150000"/>
              </a:lnSpc>
              <a:buFont typeface="+mj-lt"/>
              <a:buAutoNum type="arabicPeriod"/>
            </a:pPr>
            <a:r>
              <a:rPr lang="en-US" sz="2400" dirty="0"/>
              <a:t>Randomized quick sort </a:t>
            </a:r>
          </a:p>
          <a:p>
            <a:pPr marL="1371600" lvl="2" indent="-457200">
              <a:lnSpc>
                <a:spcPct val="150000"/>
              </a:lnSpc>
              <a:buFont typeface="+mj-lt"/>
              <a:buAutoNum type="arabicPeriod"/>
            </a:pPr>
            <a:r>
              <a:rPr lang="en-US" sz="2400" dirty="0"/>
              <a:t>Finding kth smallest number</a:t>
            </a:r>
          </a:p>
          <a:p>
            <a:pPr>
              <a:lnSpc>
                <a:spcPct val="150000"/>
              </a:lnSpc>
            </a:pPr>
            <a:r>
              <a:rPr lang="en-US" sz="2400" b="1" u="sng" dirty="0">
                <a:solidFill>
                  <a:srgbClr val="0070C0"/>
                </a:solidFill>
                <a:latin typeface="Trebuchet MS" panose="020B0603020202020204" pitchFamily="34" charset="0"/>
              </a:rPr>
              <a:t>1. Primality Testing</a:t>
            </a:r>
          </a:p>
          <a:p>
            <a:pPr marL="34290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Problem</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Determine if a given number </a:t>
            </a:r>
            <a:r>
              <a:rPr lang="en-US" sz="2400" dirty="0">
                <a:solidFill>
                  <a:srgbClr val="0070C0"/>
                </a:solidFill>
                <a:latin typeface="Trebuchet MS" panose="020B0603020202020204" pitchFamily="34" charset="0"/>
              </a:rPr>
              <a:t>n</a:t>
            </a:r>
            <a:r>
              <a:rPr lang="en-US" sz="2400" dirty="0">
                <a:latin typeface="Trebuchet MS" panose="020B0603020202020204" pitchFamily="34" charset="0"/>
              </a:rPr>
              <a:t> is a prime number.</a:t>
            </a:r>
          </a:p>
          <a:p>
            <a:pPr marL="34290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Algorithm</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The </a:t>
            </a:r>
            <a:r>
              <a:rPr lang="en-US" sz="2400" b="1" dirty="0">
                <a:latin typeface="Trebuchet MS" panose="020B0603020202020204" pitchFamily="34" charset="0"/>
              </a:rPr>
              <a:t>Miller-Rabin Primality Test</a:t>
            </a:r>
            <a:r>
              <a:rPr lang="en-US" sz="2400" dirty="0">
                <a:latin typeface="Trebuchet MS" panose="020B0603020202020204" pitchFamily="34" charset="0"/>
              </a:rPr>
              <a:t> is a popular randomized algorithm for primality testing</a:t>
            </a:r>
            <a:endParaRPr lang="en-US" sz="2400" dirty="0"/>
          </a:p>
        </p:txBody>
      </p:sp>
    </p:spTree>
    <p:extLst>
      <p:ext uri="{BB962C8B-B14F-4D97-AF65-F5344CB8AC3E}">
        <p14:creationId xmlns:p14="http://schemas.microsoft.com/office/powerpoint/2010/main" val="4127835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3" name="Rectangle 2"/>
          <p:cNvSpPr/>
          <p:nvPr/>
        </p:nvSpPr>
        <p:spPr>
          <a:xfrm>
            <a:off x="230456" y="983821"/>
            <a:ext cx="11741150" cy="5632311"/>
          </a:xfrm>
          <a:prstGeom prst="rect">
            <a:avLst/>
          </a:prstGeom>
        </p:spPr>
        <p:txBody>
          <a:bodyPr wrap="square">
            <a:spAutoFit/>
          </a:bodyPr>
          <a:lstStyle/>
          <a:p>
            <a:pPr>
              <a:lnSpc>
                <a:spcPct val="150000"/>
              </a:lnSpc>
            </a:pPr>
            <a:r>
              <a:rPr lang="en-US" sz="2400" b="1" dirty="0">
                <a:solidFill>
                  <a:srgbClr val="FF0000"/>
                </a:solidFill>
                <a:latin typeface="Trebuchet MS" panose="020B0603020202020204" pitchFamily="34" charset="0"/>
              </a:rPr>
              <a:t>Miller-Rabin Primality Test</a:t>
            </a:r>
            <a:r>
              <a:rPr lang="en-US" sz="2400" dirty="0">
                <a:solidFill>
                  <a:srgbClr val="FF0000"/>
                </a:solidFill>
                <a:latin typeface="Trebuchet MS" panose="020B0603020202020204" pitchFamily="34" charset="0"/>
              </a:rPr>
              <a:t>:</a:t>
            </a:r>
          </a:p>
          <a:p>
            <a:pPr marL="457200" indent="-457200">
              <a:lnSpc>
                <a:spcPct val="150000"/>
              </a:lnSpc>
              <a:buFont typeface="+mj-lt"/>
              <a:buAutoNum type="arabicPeriod"/>
            </a:pPr>
            <a:r>
              <a:rPr lang="en-US" sz="2400" dirty="0">
                <a:latin typeface="Trebuchet MS" panose="020B0603020202020204" pitchFamily="34" charset="0"/>
              </a:rPr>
              <a:t>Select a random integer a between 2 and n−2.</a:t>
            </a:r>
          </a:p>
          <a:p>
            <a:pPr marL="457200" indent="-457200">
              <a:lnSpc>
                <a:spcPct val="150000"/>
              </a:lnSpc>
              <a:buFont typeface="+mj-lt"/>
              <a:buAutoNum type="arabicPeriod"/>
            </a:pPr>
            <a:r>
              <a:rPr lang="en-US" sz="2400" dirty="0">
                <a:latin typeface="Trebuchet MS" panose="020B0603020202020204" pitchFamily="34" charset="0"/>
              </a:rPr>
              <a:t>Perform modular exponentiation to test a mathematical property of n (related to Fermat's Little Theorem).</a:t>
            </a:r>
          </a:p>
          <a:p>
            <a:pPr marL="457200" indent="-457200">
              <a:lnSpc>
                <a:spcPct val="150000"/>
              </a:lnSpc>
              <a:buFont typeface="+mj-lt"/>
              <a:buAutoNum type="arabicPeriod"/>
            </a:pPr>
            <a:r>
              <a:rPr lang="en-US" sz="2400" dirty="0">
                <a:latin typeface="Trebuchet MS" panose="020B0603020202020204" pitchFamily="34" charset="0"/>
              </a:rPr>
              <a:t>If n fails the test for any </a:t>
            </a:r>
            <a:r>
              <a:rPr lang="en-US" sz="2400" dirty="0" err="1">
                <a:latin typeface="Trebuchet MS" panose="020B0603020202020204" pitchFamily="34" charset="0"/>
              </a:rPr>
              <a:t>aaa</a:t>
            </a:r>
            <a:r>
              <a:rPr lang="en-US" sz="2400" dirty="0">
                <a:latin typeface="Trebuchet MS" panose="020B0603020202020204" pitchFamily="34" charset="0"/>
              </a:rPr>
              <a:t>, it is composite.</a:t>
            </a:r>
          </a:p>
          <a:p>
            <a:pPr marL="457200" indent="-457200">
              <a:lnSpc>
                <a:spcPct val="150000"/>
              </a:lnSpc>
              <a:buFont typeface="+mj-lt"/>
              <a:buAutoNum type="arabicPeriod"/>
            </a:pPr>
            <a:r>
              <a:rPr lang="en-US" sz="2400" dirty="0">
                <a:latin typeface="Trebuchet MS" panose="020B0603020202020204" pitchFamily="34" charset="0"/>
              </a:rPr>
              <a:t>If n passes the test for all chosen a, it is probably prime.</a:t>
            </a:r>
          </a:p>
          <a:p>
            <a:pPr marL="342900" lvl="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Type</a:t>
            </a:r>
            <a:r>
              <a:rPr lang="en-US" sz="2400" dirty="0">
                <a:solidFill>
                  <a:srgbClr val="FF0000"/>
                </a:solidFill>
                <a:latin typeface="Trebuchet MS" panose="020B0603020202020204" pitchFamily="34" charset="0"/>
              </a:rPr>
              <a:t>:</a:t>
            </a:r>
            <a:r>
              <a:rPr lang="en-US" sz="2400" dirty="0">
                <a:solidFill>
                  <a:srgbClr val="000000"/>
                </a:solidFill>
                <a:latin typeface="Trebuchet MS" panose="020B0603020202020204" pitchFamily="34" charset="0"/>
              </a:rPr>
              <a:t> Monte Carlo algorithm (can incorrectly classify a composite number as prime with a small probability).</a:t>
            </a:r>
          </a:p>
          <a:p>
            <a:pPr marL="342900" lvl="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Application</a:t>
            </a:r>
            <a:r>
              <a:rPr lang="en-US" sz="2400" dirty="0">
                <a:solidFill>
                  <a:srgbClr val="FF0000"/>
                </a:solidFill>
                <a:latin typeface="Trebuchet MS" panose="020B0603020202020204" pitchFamily="34" charset="0"/>
              </a:rPr>
              <a:t>:</a:t>
            </a:r>
            <a:r>
              <a:rPr lang="en-US" sz="2400" dirty="0">
                <a:solidFill>
                  <a:srgbClr val="000000"/>
                </a:solidFill>
                <a:latin typeface="Trebuchet MS" panose="020B0603020202020204" pitchFamily="34" charset="0"/>
              </a:rPr>
              <a:t> Used in cryptography (e.g., RSA key generation).</a:t>
            </a:r>
          </a:p>
          <a:p>
            <a:pPr marL="457200" indent="-457200">
              <a:lnSpc>
                <a:spcPct val="150000"/>
              </a:lnSpc>
              <a:buFont typeface="+mj-lt"/>
              <a:buAutoNum type="arabicPeriod"/>
            </a:pPr>
            <a:endParaRPr lang="en-US" sz="2400" dirty="0">
              <a:latin typeface="Trebuchet MS" panose="020B0603020202020204" pitchFamily="34" charset="0"/>
            </a:endParaRPr>
          </a:p>
        </p:txBody>
      </p:sp>
    </p:spTree>
    <p:extLst>
      <p:ext uri="{BB962C8B-B14F-4D97-AF65-F5344CB8AC3E}">
        <p14:creationId xmlns:p14="http://schemas.microsoft.com/office/powerpoint/2010/main" val="29510159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6" name="Rectangle 5"/>
          <p:cNvSpPr/>
          <p:nvPr/>
        </p:nvSpPr>
        <p:spPr>
          <a:xfrm>
            <a:off x="230457" y="983821"/>
            <a:ext cx="11581378" cy="6186309"/>
          </a:xfrm>
          <a:prstGeom prst="rect">
            <a:avLst/>
          </a:prstGeom>
        </p:spPr>
        <p:txBody>
          <a:bodyPr wrap="square">
            <a:spAutoFit/>
          </a:bodyPr>
          <a:lstStyle/>
          <a:p>
            <a:pPr>
              <a:lnSpc>
                <a:spcPct val="150000"/>
              </a:lnSpc>
            </a:pPr>
            <a:r>
              <a:rPr lang="en-US" sz="2400" b="1" u="sng" dirty="0">
                <a:solidFill>
                  <a:srgbClr val="0070C0"/>
                </a:solidFill>
                <a:latin typeface="Trebuchet MS" panose="020B0603020202020204" pitchFamily="34" charset="0"/>
              </a:rPr>
              <a:t>2.Randomized Quick Sort</a:t>
            </a:r>
          </a:p>
          <a:p>
            <a:pPr>
              <a:lnSpc>
                <a:spcPct val="150000"/>
              </a:lnSpc>
            </a:pPr>
            <a:r>
              <a:rPr lang="en-US" sz="2400" b="1" dirty="0">
                <a:solidFill>
                  <a:srgbClr val="FF0000"/>
                </a:solidFill>
                <a:latin typeface="Trebuchet MS" panose="020B0603020202020204" pitchFamily="34" charset="0"/>
              </a:rPr>
              <a:t>Problem</a:t>
            </a:r>
            <a:r>
              <a:rPr lang="en-US" sz="2400" dirty="0">
                <a:solidFill>
                  <a:srgbClr val="FF0000"/>
                </a:solidFill>
                <a:latin typeface="Trebuchet MS" panose="020B0603020202020204" pitchFamily="34" charset="0"/>
              </a:rPr>
              <a:t>:</a:t>
            </a:r>
            <a:r>
              <a:rPr lang="en-US" sz="2400" dirty="0">
                <a:latin typeface="Trebuchet MS" panose="020B0603020202020204" pitchFamily="34" charset="0"/>
              </a:rPr>
              <a:t> Sort an array of n elements.</a:t>
            </a:r>
          </a:p>
          <a:p>
            <a:pPr>
              <a:lnSpc>
                <a:spcPct val="150000"/>
              </a:lnSpc>
            </a:pPr>
            <a:r>
              <a:rPr lang="en-US" sz="2400" b="1" dirty="0">
                <a:solidFill>
                  <a:srgbClr val="FF0000"/>
                </a:solidFill>
                <a:latin typeface="Trebuchet MS" panose="020B0603020202020204" pitchFamily="34" charset="0"/>
              </a:rPr>
              <a:t>Algorithm</a:t>
            </a:r>
            <a:r>
              <a:rPr lang="en-US" sz="2400" dirty="0">
                <a:solidFill>
                  <a:srgbClr val="FF0000"/>
                </a:solidFill>
                <a:latin typeface="Trebuchet MS" panose="020B0603020202020204" pitchFamily="34" charset="0"/>
              </a:rPr>
              <a: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Choose a random element as the pivot.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Partition the array into two parts: elements less than the pivot and elements greater than the pivot.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Recursively sort the two parts.</a:t>
            </a:r>
          </a:p>
          <a:p>
            <a:pPr>
              <a:lnSpc>
                <a:spcPct val="150000"/>
              </a:lnSpc>
            </a:pPr>
            <a:r>
              <a:rPr lang="en-US" sz="2400" b="1" dirty="0">
                <a:solidFill>
                  <a:srgbClr val="FF0000"/>
                </a:solidFill>
                <a:latin typeface="Trebuchet MS" panose="020B0603020202020204" pitchFamily="34" charset="0"/>
              </a:rPr>
              <a:t>Randomization</a:t>
            </a:r>
            <a:r>
              <a:rPr lang="en-US" sz="2400" dirty="0">
                <a:solidFill>
                  <a:srgbClr val="FF0000"/>
                </a:solidFill>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Randomly selecting the pivot ensures balanced partitions on average, reducing the chance of worst-case performance.</a:t>
            </a:r>
          </a:p>
          <a:p>
            <a:pPr>
              <a:lnSpc>
                <a:spcPct val="150000"/>
              </a:lnSpc>
            </a:pPr>
            <a:endParaRPr lang="en-US" sz="2400" dirty="0">
              <a:latin typeface="Trebuchet MS" panose="020B0603020202020204" pitchFamily="34" charset="0"/>
            </a:endParaRPr>
          </a:p>
        </p:txBody>
      </p:sp>
    </p:spTree>
    <p:extLst>
      <p:ext uri="{BB962C8B-B14F-4D97-AF65-F5344CB8AC3E}">
        <p14:creationId xmlns:p14="http://schemas.microsoft.com/office/powerpoint/2010/main" val="10348510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3" name="Rectangle 2"/>
          <p:cNvSpPr/>
          <p:nvPr/>
        </p:nvSpPr>
        <p:spPr>
          <a:xfrm>
            <a:off x="380100" y="936274"/>
            <a:ext cx="11431734" cy="5632311"/>
          </a:xfrm>
          <a:prstGeom prst="rect">
            <a:avLst/>
          </a:prstGeom>
        </p:spPr>
        <p:txBody>
          <a:bodyPr wrap="square">
            <a:spAutoFit/>
          </a:bodyPr>
          <a:lstStyle/>
          <a:p>
            <a:pPr lvl="0">
              <a:lnSpc>
                <a:spcPct val="150000"/>
              </a:lnSpc>
            </a:pPr>
            <a:r>
              <a:rPr lang="en-US" sz="2400" b="1" dirty="0">
                <a:solidFill>
                  <a:srgbClr val="FF0000"/>
                </a:solidFill>
                <a:latin typeface="Trebuchet MS" panose="020B0603020202020204" pitchFamily="34" charset="0"/>
              </a:rPr>
              <a:t>Time Complexity</a:t>
            </a:r>
            <a:r>
              <a:rPr lang="en-US" sz="2400" dirty="0">
                <a:solidFill>
                  <a:srgbClr val="FF0000"/>
                </a:solidFill>
                <a:latin typeface="Trebuchet MS" panose="020B0603020202020204" pitchFamily="34" charset="0"/>
              </a:rPr>
              <a:t>:</a:t>
            </a:r>
          </a:p>
          <a:p>
            <a:pPr marL="742950" lvl="1" indent="-28575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Best/Average Case: O(n log n)</a:t>
            </a:r>
          </a:p>
          <a:p>
            <a:pPr marL="742950" lvl="1" indent="-28575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Worst Case: O(n^2) (rare due to randomization)</a:t>
            </a:r>
          </a:p>
          <a:p>
            <a:pPr lvl="0">
              <a:lnSpc>
                <a:spcPct val="150000"/>
              </a:lnSpc>
            </a:pPr>
            <a:r>
              <a:rPr lang="en-US" sz="2400" b="1" dirty="0">
                <a:solidFill>
                  <a:srgbClr val="FF0000"/>
                </a:solidFill>
                <a:latin typeface="Trebuchet MS" panose="020B0603020202020204" pitchFamily="34" charset="0"/>
              </a:rPr>
              <a:t>Application</a:t>
            </a:r>
            <a:r>
              <a:rPr lang="en-US" sz="2400" dirty="0">
                <a:solidFill>
                  <a:srgbClr val="FF0000"/>
                </a:solidFill>
                <a:latin typeface="Trebuchet MS" panose="020B0603020202020204" pitchFamily="34" charset="0"/>
              </a:rPr>
              <a:t>: </a:t>
            </a:r>
            <a:r>
              <a:rPr lang="en-US" sz="2400" dirty="0">
                <a:solidFill>
                  <a:srgbClr val="000000"/>
                </a:solidFill>
                <a:latin typeface="Trebuchet MS" panose="020B0603020202020204" pitchFamily="34" charset="0"/>
              </a:rPr>
              <a:t>Efficient sorting in databases, systems, and libraries.</a:t>
            </a:r>
          </a:p>
          <a:p>
            <a:pPr>
              <a:lnSpc>
                <a:spcPct val="150000"/>
              </a:lnSpc>
            </a:pPr>
            <a:r>
              <a:rPr lang="en-US" sz="2400" b="1" u="sng" dirty="0">
                <a:solidFill>
                  <a:srgbClr val="0070C0"/>
                </a:solidFill>
                <a:latin typeface="Trebuchet MS" panose="020B0603020202020204" pitchFamily="34" charset="0"/>
              </a:rPr>
              <a:t>3. Finding the k-</a:t>
            </a:r>
            <a:r>
              <a:rPr lang="en-US" sz="2400" b="1" u="sng" dirty="0" err="1">
                <a:solidFill>
                  <a:srgbClr val="0070C0"/>
                </a:solidFill>
                <a:latin typeface="Trebuchet MS" panose="020B0603020202020204" pitchFamily="34" charset="0"/>
              </a:rPr>
              <a:t>th</a:t>
            </a:r>
            <a:r>
              <a:rPr lang="en-US" sz="2400" b="1" u="sng" dirty="0">
                <a:solidFill>
                  <a:srgbClr val="0070C0"/>
                </a:solidFill>
                <a:latin typeface="Trebuchet MS" panose="020B0603020202020204" pitchFamily="34" charset="0"/>
              </a:rPr>
              <a:t> Smallest Number</a:t>
            </a:r>
          </a:p>
          <a:p>
            <a:pPr>
              <a:lnSpc>
                <a:spcPct val="150000"/>
              </a:lnSpc>
            </a:pPr>
            <a:r>
              <a:rPr lang="en-US" sz="2400" b="1" dirty="0">
                <a:solidFill>
                  <a:srgbClr val="FF0000"/>
                </a:solidFill>
                <a:latin typeface="Trebuchet MS" panose="020B0603020202020204" pitchFamily="34" charset="0"/>
              </a:rPr>
              <a:t>Problem</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Find the k-</a:t>
            </a:r>
            <a:r>
              <a:rPr lang="en-US" sz="2400" dirty="0" err="1">
                <a:latin typeface="Trebuchet MS" panose="020B0603020202020204" pitchFamily="34" charset="0"/>
              </a:rPr>
              <a:t>th</a:t>
            </a:r>
            <a:r>
              <a:rPr lang="en-US" sz="2400" dirty="0">
                <a:latin typeface="Trebuchet MS" panose="020B0603020202020204" pitchFamily="34" charset="0"/>
              </a:rPr>
              <a:t> smallest element in an unsorted array of n elements.</a:t>
            </a:r>
          </a:p>
          <a:p>
            <a:pPr>
              <a:lnSpc>
                <a:spcPct val="150000"/>
              </a:lnSpc>
            </a:pPr>
            <a:r>
              <a:rPr lang="en-US" sz="2400" b="1" dirty="0">
                <a:solidFill>
                  <a:srgbClr val="FF0000"/>
                </a:solidFill>
                <a:latin typeface="Trebuchet MS" panose="020B0603020202020204" pitchFamily="34" charset="0"/>
              </a:rPr>
              <a:t>Algorithm</a:t>
            </a:r>
            <a:r>
              <a:rPr lang="en-US" sz="2400" dirty="0">
                <a:solidFill>
                  <a:srgbClr val="FF0000"/>
                </a:solidFill>
                <a:latin typeface="Trebuchet MS" panose="020B0603020202020204" pitchFamily="34" charset="0"/>
              </a:rPr>
              <a:t>: </a:t>
            </a:r>
            <a:r>
              <a:rPr lang="en-US" sz="2400" b="1" dirty="0">
                <a:latin typeface="Trebuchet MS" panose="020B0603020202020204" pitchFamily="34" charset="0"/>
              </a:rPr>
              <a:t>Randomized Quick Select</a:t>
            </a:r>
            <a:r>
              <a:rPr lang="en-US" sz="2400" dirty="0">
                <a:latin typeface="Trebuchet MS" panose="020B0603020202020204" pitchFamily="34" charset="0"/>
              </a:rPr>
              <a:t> (a variation of Quick Sort).</a:t>
            </a:r>
          </a:p>
          <a:p>
            <a:pPr>
              <a:lnSpc>
                <a:spcPct val="150000"/>
              </a:lnSpc>
            </a:pPr>
            <a:r>
              <a:rPr lang="en-US" sz="2400" b="1" dirty="0">
                <a:solidFill>
                  <a:srgbClr val="7030A0"/>
                </a:solidFill>
                <a:latin typeface="Trebuchet MS" panose="020B0603020202020204" pitchFamily="34" charset="0"/>
              </a:rPr>
              <a:t>Randomized Quick Select</a:t>
            </a:r>
            <a:r>
              <a:rPr lang="en-US" sz="2400" dirty="0">
                <a:solidFill>
                  <a:srgbClr val="7030A0"/>
                </a:solidFill>
                <a:latin typeface="Trebuchet MS" panose="020B0603020202020204" pitchFamily="34" charset="0"/>
              </a:rPr>
              <a:t>:</a:t>
            </a:r>
          </a:p>
          <a:p>
            <a:pPr marL="457200" indent="-457200">
              <a:lnSpc>
                <a:spcPct val="150000"/>
              </a:lnSpc>
              <a:buFont typeface="+mj-lt"/>
              <a:buAutoNum type="arabicParenR"/>
            </a:pPr>
            <a:r>
              <a:rPr lang="en-US" sz="2400" dirty="0">
                <a:latin typeface="Trebuchet MS" panose="020B0603020202020204" pitchFamily="34" charset="0"/>
              </a:rPr>
              <a:t>Randomly select a pivot.</a:t>
            </a:r>
          </a:p>
          <a:p>
            <a:pPr marL="457200" indent="-457200">
              <a:lnSpc>
                <a:spcPct val="150000"/>
              </a:lnSpc>
              <a:buFont typeface="+mj-lt"/>
              <a:buAutoNum type="arabicParenR"/>
            </a:pPr>
            <a:r>
              <a:rPr lang="en-US" sz="2400" dirty="0">
                <a:latin typeface="Trebuchet MS" panose="020B0603020202020204" pitchFamily="34" charset="0"/>
              </a:rPr>
              <a:t>Partition the array into elements less than and greater than the pivot</a:t>
            </a:r>
            <a:endParaRPr lang="en-IN" sz="2400" dirty="0">
              <a:latin typeface="Trebuchet MS" panose="020B0603020202020204" pitchFamily="34" charset="0"/>
            </a:endParaRPr>
          </a:p>
        </p:txBody>
      </p:sp>
    </p:spTree>
    <p:extLst>
      <p:ext uri="{BB962C8B-B14F-4D97-AF65-F5344CB8AC3E}">
        <p14:creationId xmlns:p14="http://schemas.microsoft.com/office/powerpoint/2010/main" val="6858228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Randomized Algorithms: Concept and Applications</a:t>
            </a:r>
          </a:p>
        </p:txBody>
      </p:sp>
      <p:sp>
        <p:nvSpPr>
          <p:cNvPr id="3" name="Rectangle 2"/>
          <p:cNvSpPr/>
          <p:nvPr/>
        </p:nvSpPr>
        <p:spPr>
          <a:xfrm>
            <a:off x="230456" y="983821"/>
            <a:ext cx="11540197" cy="5632311"/>
          </a:xfrm>
          <a:prstGeom prst="rect">
            <a:avLst/>
          </a:prstGeom>
        </p:spPr>
        <p:txBody>
          <a:bodyPr wrap="square">
            <a:spAutoFit/>
          </a:bodyPr>
          <a:lstStyle/>
          <a:p>
            <a:pPr>
              <a:lnSpc>
                <a:spcPct val="150000"/>
              </a:lnSpc>
            </a:pPr>
            <a:r>
              <a:rPr lang="en-US" sz="2400" dirty="0">
                <a:latin typeface="Trebuchet MS" panose="020B0603020202020204" pitchFamily="34" charset="0"/>
              </a:rPr>
              <a:t>3) Compare the pivot’s position to </a:t>
            </a:r>
            <a:r>
              <a:rPr lang="en-US" sz="2400" dirty="0" err="1">
                <a:latin typeface="Trebuchet MS" panose="020B0603020202020204" pitchFamily="34" charset="0"/>
              </a:rPr>
              <a:t>kkk</a:t>
            </a:r>
            <a:r>
              <a:rPr lang="en-US" sz="2400" dirty="0">
                <a:latin typeface="Trebuchet MS" panose="020B0603020202020204" pitchFamily="34" charset="0"/>
              </a:rPr>
              <a:t>:</a:t>
            </a:r>
          </a:p>
          <a:p>
            <a:pPr marL="914400" lvl="1" indent="-457200">
              <a:lnSpc>
                <a:spcPct val="150000"/>
              </a:lnSpc>
              <a:buFont typeface="Wingdings" panose="05000000000000000000" pitchFamily="2" charset="2"/>
              <a:buChar char="ü"/>
            </a:pPr>
            <a:r>
              <a:rPr lang="en-US" sz="2400" dirty="0">
                <a:latin typeface="Trebuchet MS" panose="020B0603020202020204" pitchFamily="34" charset="0"/>
              </a:rPr>
              <a:t>If the pivot is the k-</a:t>
            </a:r>
            <a:r>
              <a:rPr lang="en-US" sz="2400" dirty="0" err="1">
                <a:latin typeface="Trebuchet MS" panose="020B0603020202020204" pitchFamily="34" charset="0"/>
              </a:rPr>
              <a:t>th</a:t>
            </a:r>
            <a:r>
              <a:rPr lang="en-US" sz="2400" dirty="0">
                <a:latin typeface="Trebuchet MS" panose="020B0603020202020204" pitchFamily="34" charset="0"/>
              </a:rPr>
              <a:t> smallest, return it.</a:t>
            </a:r>
          </a:p>
          <a:p>
            <a:pPr marL="914400" lvl="1" indent="-457200">
              <a:lnSpc>
                <a:spcPct val="150000"/>
              </a:lnSpc>
              <a:buFont typeface="Wingdings" panose="05000000000000000000" pitchFamily="2" charset="2"/>
              <a:buChar char="ü"/>
            </a:pPr>
            <a:r>
              <a:rPr lang="en-US" sz="2400" dirty="0">
                <a:latin typeface="Trebuchet MS" panose="020B0603020202020204" pitchFamily="34" charset="0"/>
              </a:rPr>
              <a:t>If k lies in the left partition, recursively find the k-</a:t>
            </a:r>
            <a:r>
              <a:rPr lang="en-US" sz="2400" dirty="0" err="1">
                <a:latin typeface="Trebuchet MS" panose="020B0603020202020204" pitchFamily="34" charset="0"/>
              </a:rPr>
              <a:t>th</a:t>
            </a:r>
            <a:r>
              <a:rPr lang="en-US" sz="2400" dirty="0">
                <a:latin typeface="Trebuchet MS" panose="020B0603020202020204" pitchFamily="34" charset="0"/>
              </a:rPr>
              <a:t> smallest in the left part.</a:t>
            </a:r>
          </a:p>
          <a:p>
            <a:pPr marL="914400" lvl="1" indent="-457200">
              <a:lnSpc>
                <a:spcPct val="150000"/>
              </a:lnSpc>
              <a:buFont typeface="Wingdings" panose="05000000000000000000" pitchFamily="2" charset="2"/>
              <a:buChar char="ü"/>
            </a:pPr>
            <a:r>
              <a:rPr lang="en-US" sz="2400" dirty="0">
                <a:latin typeface="Trebuchet MS" panose="020B0603020202020204" pitchFamily="34" charset="0"/>
              </a:rPr>
              <a:t>If k lies in the right partition, adjust k and recursively search the right part.</a:t>
            </a:r>
          </a:p>
          <a:p>
            <a:pPr>
              <a:lnSpc>
                <a:spcPct val="150000"/>
              </a:lnSpc>
            </a:pPr>
            <a:r>
              <a:rPr lang="en-US" sz="2400" b="1" dirty="0">
                <a:solidFill>
                  <a:srgbClr val="FF0000"/>
                </a:solidFill>
                <a:latin typeface="Trebuchet MS" panose="020B0603020202020204" pitchFamily="34" charset="0"/>
              </a:rPr>
              <a:t>Time Complexity</a:t>
            </a:r>
            <a:r>
              <a:rPr lang="en-US" sz="2400" dirty="0">
                <a:solidFill>
                  <a:srgbClr val="FF0000"/>
                </a:solidFill>
                <a:latin typeface="Trebuchet MS" panose="020B0603020202020204" pitchFamily="34" charset="0"/>
              </a:rPr>
              <a:t>:</a:t>
            </a:r>
          </a:p>
          <a:p>
            <a:pPr marL="742950" lvl="1" indent="-285750">
              <a:lnSpc>
                <a:spcPct val="150000"/>
              </a:lnSpc>
              <a:buFont typeface="Arial" panose="020B0604020202020204" pitchFamily="34" charset="0"/>
              <a:buChar char="•"/>
            </a:pPr>
            <a:r>
              <a:rPr lang="en-US" sz="2400" dirty="0">
                <a:latin typeface="Trebuchet MS" panose="020B0603020202020204" pitchFamily="34" charset="0"/>
              </a:rPr>
              <a:t>Average Case: O(n)</a:t>
            </a:r>
          </a:p>
          <a:p>
            <a:pPr marL="742950" lvl="1" indent="-285750">
              <a:lnSpc>
                <a:spcPct val="150000"/>
              </a:lnSpc>
              <a:buFont typeface="Arial" panose="020B0604020202020204" pitchFamily="34" charset="0"/>
              <a:buChar char="•"/>
            </a:pPr>
            <a:r>
              <a:rPr lang="en-US" sz="2400" dirty="0">
                <a:latin typeface="Trebuchet MS" panose="020B0603020202020204" pitchFamily="34" charset="0"/>
              </a:rPr>
              <a:t>Worst Case: O(n^2) (rare due to randomization).</a:t>
            </a:r>
          </a:p>
          <a:p>
            <a:pPr>
              <a:lnSpc>
                <a:spcPct val="150000"/>
              </a:lnSpc>
            </a:pPr>
            <a:r>
              <a:rPr lang="en-US" sz="2400" b="1" dirty="0">
                <a:solidFill>
                  <a:srgbClr val="FF0000"/>
                </a:solidFill>
                <a:latin typeface="Trebuchet MS" panose="020B0603020202020204" pitchFamily="34" charset="0"/>
              </a:rPr>
              <a:t>Application</a:t>
            </a:r>
            <a:r>
              <a:rPr lang="en-US" sz="2400" dirty="0">
                <a:solidFill>
                  <a:srgbClr val="FF0000"/>
                </a:solidFill>
                <a:latin typeface="Trebuchet MS" panose="020B0603020202020204" pitchFamily="34" charset="0"/>
              </a:rPr>
              <a:t>:</a:t>
            </a:r>
            <a:r>
              <a:rPr lang="en-US" sz="2400" dirty="0">
                <a:latin typeface="Trebuchet MS" panose="020B0603020202020204" pitchFamily="34" charset="0"/>
              </a:rPr>
              <a:t> Used in statistics (median finding), data analysis, and machine learning for feature selection.</a:t>
            </a:r>
          </a:p>
        </p:txBody>
      </p:sp>
    </p:spTree>
    <p:extLst>
      <p:ext uri="{BB962C8B-B14F-4D97-AF65-F5344CB8AC3E}">
        <p14:creationId xmlns:p14="http://schemas.microsoft.com/office/powerpoint/2010/main" val="21947703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263868" y="2921168"/>
            <a:ext cx="8554066" cy="1015663"/>
          </a:xfrm>
          <a:prstGeom prst="rect">
            <a:avLst/>
          </a:prstGeom>
          <a:noFill/>
        </p:spPr>
        <p:txBody>
          <a:bodyPr wrap="square">
            <a:spAutoFit/>
          </a:bodyPr>
          <a:lstStyle/>
          <a:p>
            <a:pPr marL="354013" algn="ctr">
              <a:spcBef>
                <a:spcPts val="600"/>
              </a:spcBef>
              <a:spcAft>
                <a:spcPts val="600"/>
              </a:spcAft>
            </a:pPr>
            <a:r>
              <a:rPr lang="en-IN" sz="6000" b="1" dirty="0">
                <a:latin typeface="Corbel" panose="020B0503020204020204" pitchFamily="34" charset="0"/>
              </a:rPr>
              <a:t>Thank you!!</a:t>
            </a:r>
            <a:endParaRPr lang="en-IN" sz="6000" b="1" i="0" u="none" strike="noStrike" baseline="0" dirty="0">
              <a:latin typeface="Corbel" panose="020B0503020204020204" pitchFamily="34" charset="0"/>
            </a:endParaRPr>
          </a:p>
        </p:txBody>
      </p:sp>
    </p:spTree>
    <p:extLst>
      <p:ext uri="{BB962C8B-B14F-4D97-AF65-F5344CB8AC3E}">
        <p14:creationId xmlns:p14="http://schemas.microsoft.com/office/powerpoint/2010/main" val="38035636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PT Templat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1596</TotalTime>
  <Words>3758</Words>
  <Application>Microsoft Office PowerPoint</Application>
  <PresentationFormat>Widescreen</PresentationFormat>
  <Paragraphs>408</Paragraphs>
  <Slides>63</Slides>
  <Notes>59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63</vt:i4>
      </vt:variant>
    </vt:vector>
  </HeadingPairs>
  <TitlesOfParts>
    <vt:vector size="77" baseType="lpstr">
      <vt:lpstr>-apple-system</vt:lpstr>
      <vt:lpstr>Arial</vt:lpstr>
      <vt:lpstr>Calibri</vt:lpstr>
      <vt:lpstr>Cambria Math</vt:lpstr>
      <vt:lpstr>CIDFont+F4</vt:lpstr>
      <vt:lpstr>Corbel</vt:lpstr>
      <vt:lpstr>Roboto Condensed</vt:lpstr>
      <vt:lpstr>Roboto Condensed Light</vt:lpstr>
      <vt:lpstr>Symbol</vt:lpstr>
      <vt:lpstr>Trebuchet MS</vt:lpstr>
      <vt:lpstr>Wingdings</vt:lpstr>
      <vt:lpstr>Wingdings 3</vt:lpstr>
      <vt:lpstr>Simple Light</vt:lpstr>
      <vt:lpstr>PPT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Abhishek Chauhan</cp:lastModifiedBy>
  <cp:revision>191</cp:revision>
  <dcterms:created xsi:type="dcterms:W3CDTF">2022-10-02T17:32:59Z</dcterms:created>
  <dcterms:modified xsi:type="dcterms:W3CDTF">2026-10-21T08:33:47Z</dcterms:modified>
</cp:coreProperties>
</file>