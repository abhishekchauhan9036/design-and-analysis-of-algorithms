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9" r:id="rId2"/>
  </p:sldMasterIdLst>
  <p:notesMasterIdLst>
    <p:notesMasterId r:id="rId96"/>
  </p:notesMasterIdLst>
  <p:sldIdLst>
    <p:sldId id="307" r:id="rId3"/>
    <p:sldId id="309" r:id="rId4"/>
    <p:sldId id="581" r:id="rId5"/>
    <p:sldId id="614" r:id="rId6"/>
    <p:sldId id="654" r:id="rId7"/>
    <p:sldId id="657" r:id="rId8"/>
    <p:sldId id="656" r:id="rId9"/>
    <p:sldId id="658" r:id="rId10"/>
    <p:sldId id="580" r:id="rId11"/>
    <p:sldId id="599" r:id="rId12"/>
    <p:sldId id="601" r:id="rId13"/>
    <p:sldId id="602" r:id="rId14"/>
    <p:sldId id="603" r:id="rId15"/>
    <p:sldId id="583" r:id="rId16"/>
    <p:sldId id="604" r:id="rId17"/>
    <p:sldId id="605" r:id="rId18"/>
    <p:sldId id="606" r:id="rId19"/>
    <p:sldId id="607" r:id="rId20"/>
    <p:sldId id="608" r:id="rId21"/>
    <p:sldId id="609" r:id="rId22"/>
    <p:sldId id="610" r:id="rId23"/>
    <p:sldId id="612" r:id="rId24"/>
    <p:sldId id="613" r:id="rId25"/>
    <p:sldId id="600" r:id="rId26"/>
    <p:sldId id="615" r:id="rId27"/>
    <p:sldId id="616" r:id="rId28"/>
    <p:sldId id="617" r:id="rId29"/>
    <p:sldId id="618" r:id="rId30"/>
    <p:sldId id="586" r:id="rId31"/>
    <p:sldId id="637" r:id="rId32"/>
    <p:sldId id="639" r:id="rId33"/>
    <p:sldId id="640" r:id="rId34"/>
    <p:sldId id="641" r:id="rId35"/>
    <p:sldId id="642" r:id="rId36"/>
    <p:sldId id="643" r:id="rId37"/>
    <p:sldId id="659" r:id="rId38"/>
    <p:sldId id="660" r:id="rId39"/>
    <p:sldId id="661" r:id="rId40"/>
    <p:sldId id="644" r:id="rId41"/>
    <p:sldId id="645" r:id="rId42"/>
    <p:sldId id="647" r:id="rId43"/>
    <p:sldId id="646" r:id="rId44"/>
    <p:sldId id="648" r:id="rId45"/>
    <p:sldId id="649" r:id="rId46"/>
    <p:sldId id="651" r:id="rId47"/>
    <p:sldId id="652" r:id="rId48"/>
    <p:sldId id="664" r:id="rId49"/>
    <p:sldId id="663" r:id="rId50"/>
    <p:sldId id="662" r:id="rId51"/>
    <p:sldId id="653" r:id="rId52"/>
    <p:sldId id="665" r:id="rId53"/>
    <p:sldId id="666" r:id="rId54"/>
    <p:sldId id="667" r:id="rId55"/>
    <p:sldId id="668" r:id="rId56"/>
    <p:sldId id="669" r:id="rId57"/>
    <p:sldId id="670" r:id="rId58"/>
    <p:sldId id="671" r:id="rId59"/>
    <p:sldId id="672" r:id="rId60"/>
    <p:sldId id="674" r:id="rId61"/>
    <p:sldId id="673" r:id="rId62"/>
    <p:sldId id="675" r:id="rId63"/>
    <p:sldId id="676" r:id="rId64"/>
    <p:sldId id="677" r:id="rId65"/>
    <p:sldId id="678" r:id="rId66"/>
    <p:sldId id="650" r:id="rId67"/>
    <p:sldId id="635" r:id="rId68"/>
    <p:sldId id="679" r:id="rId69"/>
    <p:sldId id="589" r:id="rId70"/>
    <p:sldId id="590" r:id="rId71"/>
    <p:sldId id="619" r:id="rId72"/>
    <p:sldId id="620" r:id="rId73"/>
    <p:sldId id="621" r:id="rId74"/>
    <p:sldId id="623" r:id="rId75"/>
    <p:sldId id="624" r:id="rId76"/>
    <p:sldId id="625" r:id="rId77"/>
    <p:sldId id="626" r:id="rId78"/>
    <p:sldId id="622" r:id="rId79"/>
    <p:sldId id="631" r:id="rId80"/>
    <p:sldId id="627" r:id="rId81"/>
    <p:sldId id="628" r:id="rId82"/>
    <p:sldId id="629" r:id="rId83"/>
    <p:sldId id="630" r:id="rId84"/>
    <p:sldId id="597" r:id="rId85"/>
    <p:sldId id="681" r:id="rId86"/>
    <p:sldId id="682" r:id="rId87"/>
    <p:sldId id="683" r:id="rId88"/>
    <p:sldId id="684" r:id="rId89"/>
    <p:sldId id="685" r:id="rId90"/>
    <p:sldId id="686" r:id="rId91"/>
    <p:sldId id="687" r:id="rId92"/>
    <p:sldId id="689" r:id="rId93"/>
    <p:sldId id="688" r:id="rId94"/>
    <p:sldId id="680" r:id="rId9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0093"/>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83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BB437-A6EA-4293-BBAE-0AB322C2F18F}" type="datetimeFigureOut">
              <a:rPr lang="en-IN" smtClean="0"/>
              <a:t>11-11-2024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31E7B0-72F8-44DA-9C2B-76615B29C4DF}" type="slidenum">
              <a:rPr lang="en-IN" smtClean="0"/>
              <a:t>‹#›</a:t>
            </a:fld>
            <a:endParaRPr lang="en-IN"/>
          </a:p>
        </p:txBody>
      </p:sp>
    </p:spTree>
    <p:extLst>
      <p:ext uri="{BB962C8B-B14F-4D97-AF65-F5344CB8AC3E}">
        <p14:creationId xmlns:p14="http://schemas.microsoft.com/office/powerpoint/2010/main" val="3268623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b6c834fc22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b6c834fc22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9103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3724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3317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4514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96189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7663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4544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28605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18011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26928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28641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8065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1407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71377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23774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7945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59977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05497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78174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00719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83346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45153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35052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17891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97192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7354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93894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90363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19891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39919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35572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1812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38971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34596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06148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2115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54188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47592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33031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8488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94050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39828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76189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79917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56795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75098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05524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375107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68305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112943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70292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60255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285024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52581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759441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745763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264742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50433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606697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527841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763110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219490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151585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77440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941585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933705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302032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113181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870597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690741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516468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473504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130363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269769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375683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758230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266402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540233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710558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82524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98984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755476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505456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973706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519022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48040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08923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803681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3074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667050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378624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39090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1122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6007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99483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Gopi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Sanghani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599" y="6604000"/>
            <a:ext cx="4383505"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7 – Backtracking and Branch &amp; Bound</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id="{C9B183D5-5DE8-48E7-85E7-60CE9D0FD2D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52638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Gopi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Sanghani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599" y="6604000"/>
            <a:ext cx="433537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7 – Backtracking and Branch &amp; Bound</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76472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4998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463730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937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238259" y="88997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6" name="PlaceHolder 2"/>
          <p:cNvSpPr>
            <a:spLocks noGrp="1"/>
          </p:cNvSpPr>
          <p:nvPr>
            <p:ph type="subTitle"/>
          </p:nvPr>
        </p:nvSpPr>
        <p:spPr>
          <a:xfrm>
            <a:off x="415680" y="1151520"/>
            <a:ext cx="11360160" cy="4554720"/>
          </a:xfrm>
          <a:prstGeom prst="rect">
            <a:avLst/>
          </a:prstGeom>
        </p:spPr>
        <p:txBody>
          <a:bodyPr lIns="0" tIns="0" rIns="0" bIns="0" anchor="ctr">
            <a:noAutofit/>
          </a:bodyPr>
          <a:lstStyle/>
          <a:p>
            <a:pPr algn="ctr"/>
            <a:r>
              <a:rPr lang="en-US" sz="4267" b="0" strike="noStrike" spc="-1">
                <a:latin typeface="Arial"/>
              </a:rPr>
              <a:t>Click to edit Master subtitle style</a:t>
            </a:r>
          </a:p>
        </p:txBody>
      </p:sp>
    </p:spTree>
    <p:extLst>
      <p:ext uri="{BB962C8B-B14F-4D97-AF65-F5344CB8AC3E}">
        <p14:creationId xmlns:p14="http://schemas.microsoft.com/office/powerpoint/2010/main" val="1403146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8" name="PlaceHolder 2"/>
          <p:cNvSpPr>
            <a:spLocks noGrp="1"/>
          </p:cNvSpPr>
          <p:nvPr>
            <p:ph type="body"/>
          </p:nvPr>
        </p:nvSpPr>
        <p:spPr>
          <a:xfrm>
            <a:off x="415680" y="1151520"/>
            <a:ext cx="11360160" cy="455472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2820397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10" name="PlaceHolder 2"/>
          <p:cNvSpPr>
            <a:spLocks noGrp="1"/>
          </p:cNvSpPr>
          <p:nvPr>
            <p:ph type="body"/>
          </p:nvPr>
        </p:nvSpPr>
        <p:spPr>
          <a:xfrm>
            <a:off x="415680" y="1151520"/>
            <a:ext cx="5543520" cy="455472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11" name="PlaceHolder 3"/>
          <p:cNvSpPr>
            <a:spLocks noGrp="1"/>
          </p:cNvSpPr>
          <p:nvPr>
            <p:ph type="body"/>
          </p:nvPr>
        </p:nvSpPr>
        <p:spPr>
          <a:xfrm>
            <a:off x="6237120" y="1151520"/>
            <a:ext cx="5543520" cy="455472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3536633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Dr. Gopi Sanghani</a:t>
            </a:r>
          </a:p>
        </p:txBody>
      </p:sp>
      <p:sp>
        <p:nvSpPr>
          <p:cNvPr id="17" name="Footer Placeholder 2">
            <a:extLst>
              <a:ext uri="{FF2B5EF4-FFF2-40B4-BE49-F238E27FC236}">
                <a16:creationId xmlns:a16="http://schemas.microsoft.com/office/drawing/2014/main" id="{59055D82-7978-44A5-82D1-0A4E00B382BF}"/>
              </a:ext>
            </a:extLst>
          </p:cNvPr>
          <p:cNvSpPr txBox="1"/>
          <p:nvPr userDrawn="1"/>
        </p:nvSpPr>
        <p:spPr>
          <a:xfrm>
            <a:off x="4038599" y="6604000"/>
            <a:ext cx="4383505"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4  – Dynamic</a:t>
            </a:r>
            <a:r>
              <a:rPr lang="en-US" baseline="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id="{C9B183D5-5DE8-48E7-85E7-60CE9D0FD2D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8736926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Dr. Gopi Sanghani</a:t>
            </a:r>
          </a:p>
        </p:txBody>
      </p:sp>
      <p:sp>
        <p:nvSpPr>
          <p:cNvPr id="17" name="Footer Placeholder 2">
            <a:extLst>
              <a:ext uri="{FF2B5EF4-FFF2-40B4-BE49-F238E27FC236}">
                <a16:creationId xmlns:a16="http://schemas.microsoft.com/office/drawing/2014/main" id="{59055D82-7978-44A5-82D1-0A4E00B382BF}"/>
              </a:ext>
            </a:extLst>
          </p:cNvPr>
          <p:cNvSpPr txBox="1"/>
          <p:nvPr userDrawn="1"/>
        </p:nvSpPr>
        <p:spPr>
          <a:xfrm>
            <a:off x="4038599" y="6604000"/>
            <a:ext cx="439954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4  – Dynamic</a:t>
            </a:r>
            <a:r>
              <a:rPr lang="en-US" baseline="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80927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Dr. Gopi Sanghani</a:t>
            </a:r>
          </a:p>
        </p:txBody>
      </p:sp>
      <p:sp>
        <p:nvSpPr>
          <p:cNvPr id="17" name="Footer Placeholder 2">
            <a:extLst>
              <a:ext uri="{FF2B5EF4-FFF2-40B4-BE49-F238E27FC236}">
                <a16:creationId xmlns:a16="http://schemas.microsoft.com/office/drawing/2014/main" id="{59055D82-7978-44A5-82D1-0A4E00B382BF}"/>
              </a:ext>
            </a:extLst>
          </p:cNvPr>
          <p:cNvSpPr txBox="1"/>
          <p:nvPr userDrawn="1"/>
        </p:nvSpPr>
        <p:spPr>
          <a:xfrm>
            <a:off x="4038599" y="6604000"/>
            <a:ext cx="433537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4  – Dynamic</a:t>
            </a:r>
            <a:r>
              <a:rPr lang="en-US" baseline="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186549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75829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0808677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4.jpe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image" Target="../media/image3.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image" Target="../media/image2.png"/><Relationship Id="rId5" Type="http://schemas.openxmlformats.org/officeDocument/2006/relationships/slideLayout" Target="../slideLayouts/slideLayout11.xml"/><Relationship Id="rId10" Type="http://schemas.openxmlformats.org/officeDocument/2006/relationships/theme" Target="../theme/theme2.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84914274"/>
      </p:ext>
    </p:extLst>
  </p:cSld>
  <p:clrMap bg1="lt1" tx1="dk1" bg2="dk2" tx2="lt2" accent1="accent1" accent2="accent2" accent3="accent3" accent4="accent4" accent5="accent5" accent6="accent6" hlink="hlink" folHlink="folHlink"/>
  <p:sldLayoutIdLst>
    <p:sldLayoutId id="2147483661" r:id="rId1"/>
    <p:sldLayoutId id="2147483668" r:id="rId2"/>
    <p:sldLayoutId id="2147483711" r:id="rId3"/>
    <p:sldLayoutId id="2147483713" r:id="rId4"/>
    <p:sldLayoutId id="2147483714" r:id="rId5"/>
    <p:sldLayoutId id="2147483715"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5" name="Google Shape;6;p1"/>
          <p:cNvPicPr/>
          <p:nvPr/>
        </p:nvPicPr>
        <p:blipFill>
          <a:blip r:embed="rId11"/>
          <a:stretch/>
        </p:blipFill>
        <p:spPr>
          <a:xfrm>
            <a:off x="7680" y="2880"/>
            <a:ext cx="12176160" cy="6852000"/>
          </a:xfrm>
          <a:prstGeom prst="rect">
            <a:avLst/>
          </a:prstGeom>
          <a:ln>
            <a:noFill/>
          </a:ln>
        </p:spPr>
      </p:pic>
      <p:pic>
        <p:nvPicPr>
          <p:cNvPr id="6" name="Google Shape;7;p1"/>
          <p:cNvPicPr/>
          <p:nvPr/>
        </p:nvPicPr>
        <p:blipFill>
          <a:blip r:embed="rId12"/>
          <a:stretch/>
        </p:blipFill>
        <p:spPr>
          <a:xfrm>
            <a:off x="-17280" y="-2880"/>
            <a:ext cx="12201600" cy="6857760"/>
          </a:xfrm>
          <a:prstGeom prst="rect">
            <a:avLst/>
          </a:prstGeom>
          <a:ln>
            <a:noFill/>
          </a:ln>
        </p:spPr>
      </p:pic>
      <p:pic>
        <p:nvPicPr>
          <p:cNvPr id="2" name="Google Shape;10;p1"/>
          <p:cNvPicPr/>
          <p:nvPr/>
        </p:nvPicPr>
        <p:blipFill>
          <a:blip r:embed="rId13" cstate="hqprint">
            <a:extLst>
              <a:ext uri="{28A0092B-C50C-407E-A947-70E740481C1C}">
                <a14:useLocalDpi xmlns:a14="http://schemas.microsoft.com/office/drawing/2010/main" val="0"/>
              </a:ext>
            </a:extLst>
          </a:blip>
          <a:stretch>
            <a:fillRect/>
          </a:stretch>
        </p:blipFill>
        <p:spPr>
          <a:xfrm>
            <a:off x="10068392" y="95535"/>
            <a:ext cx="1927990" cy="777922"/>
          </a:xfrm>
          <a:prstGeom prst="rect">
            <a:avLst/>
          </a:prstGeom>
          <a:ln>
            <a:noFill/>
          </a:ln>
        </p:spPr>
      </p:pic>
      <p:sp>
        <p:nvSpPr>
          <p:cNvPr id="3" name="PlaceHolder 1"/>
          <p:cNvSpPr>
            <a:spLocks noGrp="1"/>
          </p:cNvSpPr>
          <p:nvPr>
            <p:ph type="title"/>
          </p:nvPr>
        </p:nvSpPr>
        <p:spPr>
          <a:xfrm>
            <a:off x="415680" y="992640"/>
            <a:ext cx="11360160" cy="2736480"/>
          </a:xfrm>
          <a:prstGeom prst="rect">
            <a:avLst/>
          </a:prstGeom>
        </p:spPr>
        <p:txBody>
          <a:bodyPr tIns="91440" bIns="91440" anchor="b">
            <a:normAutofit/>
          </a:bodyPr>
          <a:lstStyle/>
          <a:p>
            <a:pPr algn="ctr"/>
            <a:r>
              <a:rPr lang="en-US" sz="6933" b="0" strike="noStrike" spc="-1">
                <a:solidFill>
                  <a:srgbClr val="000000"/>
                </a:solidFill>
                <a:latin typeface="Arial"/>
              </a:rPr>
              <a:t>Click to edit the title text format</a:t>
            </a:r>
          </a:p>
        </p:txBody>
      </p:sp>
      <p:sp>
        <p:nvSpPr>
          <p:cNvPr id="4" name="PlaceHolder 2"/>
          <p:cNvSpPr>
            <a:spLocks noGrp="1"/>
          </p:cNvSpPr>
          <p:nvPr>
            <p:ph type="body"/>
          </p:nvPr>
        </p:nvSpPr>
        <p:spPr>
          <a:xfrm>
            <a:off x="609600" y="1604640"/>
            <a:ext cx="1097232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1867" b="0" strike="noStrike" spc="-1" dirty="0">
                <a:solidFill>
                  <a:srgbClr val="000000"/>
                </a:solidFill>
                <a:latin typeface="Arial"/>
              </a:rPr>
              <a:t>Click to edit the outline text format</a:t>
            </a:r>
          </a:p>
          <a:p>
            <a:pPr marL="1151971" lvl="1" indent="-431989">
              <a:spcBef>
                <a:spcPts val="1512"/>
              </a:spcBef>
              <a:buClr>
                <a:srgbClr val="000000"/>
              </a:buClr>
              <a:buSzPct val="75000"/>
              <a:buFont typeface="Symbol" charset="2"/>
              <a:buChar char=""/>
            </a:pPr>
            <a:r>
              <a:rPr lang="en-US" sz="1867" b="0" strike="noStrike" spc="-1" dirty="0">
                <a:solidFill>
                  <a:srgbClr val="000000"/>
                </a:solidFill>
                <a:latin typeface="Arial"/>
              </a:rPr>
              <a:t>Second Outline Level</a:t>
            </a:r>
          </a:p>
          <a:p>
            <a:pPr marL="1727957" lvl="2" indent="-383990">
              <a:spcBef>
                <a:spcPts val="1133"/>
              </a:spcBef>
              <a:buClr>
                <a:srgbClr val="000000"/>
              </a:buClr>
              <a:buSzPct val="45000"/>
              <a:buFont typeface="Wingdings" charset="2"/>
              <a:buChar char=""/>
            </a:pPr>
            <a:r>
              <a:rPr lang="en-US" sz="1867" b="0" strike="noStrike" spc="-1" dirty="0">
                <a:solidFill>
                  <a:srgbClr val="000000"/>
                </a:solidFill>
                <a:latin typeface="Arial"/>
              </a:rPr>
              <a:t>Third Outline Level</a:t>
            </a:r>
          </a:p>
          <a:p>
            <a:pPr marL="2303942" lvl="3" indent="-287993">
              <a:spcBef>
                <a:spcPts val="756"/>
              </a:spcBef>
              <a:buClr>
                <a:srgbClr val="000000"/>
              </a:buClr>
              <a:buSzPct val="75000"/>
              <a:buFont typeface="Symbol" charset="2"/>
              <a:buChar char=""/>
            </a:pPr>
            <a:r>
              <a:rPr lang="en-US" sz="1867" b="0" strike="noStrike" spc="-1" dirty="0">
                <a:solidFill>
                  <a:srgbClr val="000000"/>
                </a:solidFill>
                <a:latin typeface="Arial"/>
              </a:rPr>
              <a:t>Fourth Outline Level</a:t>
            </a:r>
          </a:p>
          <a:p>
            <a:pPr marL="2879928" lvl="4" indent="-287993">
              <a:spcBef>
                <a:spcPts val="377"/>
              </a:spcBef>
              <a:buClr>
                <a:srgbClr val="000000"/>
              </a:buClr>
              <a:buSzPct val="45000"/>
              <a:buFont typeface="Wingdings" charset="2"/>
              <a:buChar char=""/>
            </a:pPr>
            <a:r>
              <a:rPr lang="en-US" sz="2667" b="0" strike="noStrike" spc="-1" dirty="0">
                <a:solidFill>
                  <a:srgbClr val="000000"/>
                </a:solidFill>
                <a:latin typeface="Arial"/>
              </a:rPr>
              <a:t>Fifth Outline Level</a:t>
            </a:r>
          </a:p>
          <a:p>
            <a:pPr marL="3455914" lvl="5" indent="-287993">
              <a:spcBef>
                <a:spcPts val="377"/>
              </a:spcBef>
              <a:buClr>
                <a:srgbClr val="000000"/>
              </a:buClr>
              <a:buSzPct val="45000"/>
              <a:buFont typeface="Wingdings" charset="2"/>
              <a:buChar char=""/>
            </a:pPr>
            <a:r>
              <a:rPr lang="en-US" sz="2667" b="0" strike="noStrike" spc="-1" dirty="0">
                <a:solidFill>
                  <a:srgbClr val="000000"/>
                </a:solidFill>
                <a:latin typeface="Arial"/>
              </a:rPr>
              <a:t>Sixth Outline Level</a:t>
            </a:r>
          </a:p>
          <a:p>
            <a:pPr marL="4031899" lvl="6" indent="-287993">
              <a:spcBef>
                <a:spcPts val="377"/>
              </a:spcBef>
              <a:buClr>
                <a:srgbClr val="000000"/>
              </a:buClr>
              <a:buSzPct val="45000"/>
              <a:buFont typeface="Wingdings" charset="2"/>
              <a:buChar char=""/>
            </a:pPr>
            <a:r>
              <a:rPr lang="en-US" sz="2667" b="0" strike="noStrike" spc="-1" dirty="0">
                <a:solidFill>
                  <a:srgbClr val="000000"/>
                </a:solidFill>
                <a:latin typeface="Arial"/>
              </a:rPr>
              <a:t>Seventh Outline Level</a:t>
            </a:r>
          </a:p>
        </p:txBody>
      </p:sp>
    </p:spTree>
    <p:extLst>
      <p:ext uri="{BB962C8B-B14F-4D97-AF65-F5344CB8AC3E}">
        <p14:creationId xmlns:p14="http://schemas.microsoft.com/office/powerpoint/2010/main" val="47532003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84" r:id="rId5"/>
    <p:sldLayoutId id="2147483689" r:id="rId6"/>
    <p:sldLayoutId id="2147483690" r:id="rId7"/>
    <p:sldLayoutId id="2147483691" r:id="rId8"/>
    <p:sldLayoutId id="2147483692" r:id="rId9"/>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575986" indent="-431989" algn="l" defTabSz="1219170" rtl="0" eaLnBrk="1" latinLnBrk="0" hangingPunct="1">
        <a:lnSpc>
          <a:spcPct val="90000"/>
        </a:lnSpc>
        <a:spcBef>
          <a:spcPts val="1889"/>
        </a:spcBef>
        <a:buClr>
          <a:srgbClr val="000000"/>
        </a:buClr>
        <a:buSzPct val="45000"/>
        <a:buFont typeface="Wingdings" charset="2"/>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0.png"/><Relationship Id="rId10" Type="http://schemas.openxmlformats.org/officeDocument/2006/relationships/image" Target="../media/image16.png"/><Relationship Id="rId4" Type="http://schemas.openxmlformats.org/officeDocument/2006/relationships/image" Target="../media/image9.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10.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10.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10.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10.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10.png"/><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10.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0.png"/><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10.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10.png"/><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10.png"/><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10.png"/><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10.png"/><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10.png"/><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7" Type="http://schemas.microsoft.com/office/2007/relationships/hdphoto" Target="../media/hdphoto1.wdp"/><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10.png"/><Relationship Id="rId4" Type="http://schemas.openxmlformats.org/officeDocument/2006/relationships/image" Target="../media/image9.png"/></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10.png"/><Relationship Id="rId4" Type="http://schemas.openxmlformats.org/officeDocument/2006/relationships/image" Target="../media/image9.png"/></Relationships>
</file>

<file path=ppt/slides/_rels/slide4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8.png"/><Relationship Id="rId7" Type="http://schemas.openxmlformats.org/officeDocument/2006/relationships/image" Target="../media/image45.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47.png"/></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9.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10.png"/><Relationship Id="rId4" Type="http://schemas.openxmlformats.org/officeDocument/2006/relationships/image" Target="../media/image9.png"/></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2.xml.rels><?xml version="1.0" encoding="UTF-8" standalone="yes"?>
<Relationships xmlns="http://schemas.openxmlformats.org/package/2006/relationships"><Relationship Id="rId3" Type="http://schemas.openxmlformats.org/officeDocument/2006/relationships/image" Target="../media/image8.png"/><Relationship Id="rId7" Type="http://schemas.microsoft.com/office/2007/relationships/hdphoto" Target="../media/hdphoto2.wdp"/><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10.png"/><Relationship Id="rId4" Type="http://schemas.openxmlformats.org/officeDocument/2006/relationships/image" Target="../media/image9.png"/></Relationships>
</file>

<file path=ppt/slides/_rels/slide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10.png"/><Relationship Id="rId4" Type="http://schemas.openxmlformats.org/officeDocument/2006/relationships/image" Target="../media/image9.png"/></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53.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10.png"/><Relationship Id="rId4" Type="http://schemas.openxmlformats.org/officeDocument/2006/relationships/image" Target="../media/image9.png"/></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53.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10.png"/><Relationship Id="rId4" Type="http://schemas.openxmlformats.org/officeDocument/2006/relationships/image" Target="../media/image9.png"/></Relationships>
</file>

<file path=ppt/slides/_rels/slide56.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8.png"/><Relationship Id="rId7" Type="http://schemas.microsoft.com/office/2007/relationships/hdphoto" Target="../media/hdphoto3.wdp"/><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10.png"/><Relationship Id="rId4" Type="http://schemas.openxmlformats.org/officeDocument/2006/relationships/image" Target="../media/image9.png"/><Relationship Id="rId9" Type="http://schemas.microsoft.com/office/2007/relationships/hdphoto" Target="../media/hdphoto4.wdp"/></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1.xml.rels><?xml version="1.0" encoding="UTF-8" standalone="yes"?>
<Relationships xmlns="http://schemas.openxmlformats.org/package/2006/relationships"><Relationship Id="rId3" Type="http://schemas.openxmlformats.org/officeDocument/2006/relationships/image" Target="../media/image8.png"/><Relationship Id="rId7" Type="http://schemas.microsoft.com/office/2007/relationships/hdphoto" Target="../media/hdphoto5.wdp"/><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10.png"/><Relationship Id="rId4" Type="http://schemas.openxmlformats.org/officeDocument/2006/relationships/image" Target="../media/image9.png"/></Relationships>
</file>

<file path=ppt/slides/_rels/slide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10.png"/><Relationship Id="rId4" Type="http://schemas.openxmlformats.org/officeDocument/2006/relationships/image" Target="../media/image9.png"/></Relationships>
</file>

<file path=ppt/slides/_rels/slide7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7.xml"/><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10.png"/><Relationship Id="rId4" Type="http://schemas.openxmlformats.org/officeDocument/2006/relationships/image" Target="../media/image9.png"/></Relationships>
</file>

<file path=ppt/slides/_rels/slide7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60.png"/><Relationship Id="rId2" Type="http://schemas.openxmlformats.org/officeDocument/2006/relationships/notesSlide" Target="../notesSlides/notesSlide82.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10.png"/><Relationship Id="rId4" Type="http://schemas.openxmlformats.org/officeDocument/2006/relationships/image" Target="../media/image9.png"/></Relationships>
</file>

<file path=ppt/slides/_rels/slide8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6.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10.png"/><Relationship Id="rId4" Type="http://schemas.openxmlformats.org/officeDocument/2006/relationships/image" Target="../media/image9.png"/></Relationships>
</file>

<file path=ppt/slides/_rels/slide8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9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0.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10.png"/><Relationship Id="rId4" Type="http://schemas.openxmlformats.org/officeDocument/2006/relationships/image" Target="../media/image9.png"/></Relationships>
</file>

<file path=ppt/slides/_rels/slide9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1.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10.png"/><Relationship Id="rId4" Type="http://schemas.openxmlformats.org/officeDocument/2006/relationships/image" Target="../media/image9.png"/></Relationships>
</file>

<file path=ppt/slides/_rels/slide9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2.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10.png"/><Relationship Id="rId4" Type="http://schemas.openxmlformats.org/officeDocument/2006/relationships/image" Target="../media/image9.png"/></Relationships>
</file>

<file path=ppt/slides/_rels/slide9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22"/>
          <p:cNvPicPr preferRelativeResize="0"/>
          <p:nvPr/>
        </p:nvPicPr>
        <p:blipFill>
          <a:blip r:embed="rId3">
            <a:alphaModFix/>
          </a:blip>
          <a:stretch>
            <a:fillRect/>
          </a:stretch>
        </p:blipFill>
        <p:spPr>
          <a:xfrm>
            <a:off x="6334" y="6334"/>
            <a:ext cx="12179300" cy="6845300"/>
          </a:xfrm>
          <a:prstGeom prst="rect">
            <a:avLst/>
          </a:prstGeom>
          <a:noFill/>
          <a:ln>
            <a:noFill/>
          </a:ln>
        </p:spPr>
      </p:pic>
      <p:pic>
        <p:nvPicPr>
          <p:cNvPr id="166" name="Google Shape;166;p22"/>
          <p:cNvPicPr preferRelativeResize="0"/>
          <p:nvPr/>
        </p:nvPicPr>
        <p:blipFill>
          <a:blip r:embed="rId4">
            <a:alphaModFix/>
          </a:blip>
          <a:stretch>
            <a:fillRect/>
          </a:stretch>
        </p:blipFill>
        <p:spPr>
          <a:xfrm>
            <a:off x="-52656" y="6334"/>
            <a:ext cx="12179300" cy="6845300"/>
          </a:xfrm>
          <a:prstGeom prst="rect">
            <a:avLst/>
          </a:prstGeom>
          <a:noFill/>
          <a:ln>
            <a:noFill/>
          </a:ln>
        </p:spPr>
      </p:pic>
      <p:pic>
        <p:nvPicPr>
          <p:cNvPr id="171" name="Google Shape;171;p22"/>
          <p:cNvPicPr preferRelativeResize="0"/>
          <p:nvPr/>
        </p:nvPicPr>
        <p:blipFill>
          <a:blip r:embed="rId5" cstate="hqprint">
            <a:extLst>
              <a:ext uri="{28A0092B-C50C-407E-A947-70E740481C1C}">
                <a14:useLocalDpi xmlns:a14="http://schemas.microsoft.com/office/drawing/2010/main" val="0"/>
              </a:ext>
            </a:extLst>
          </a:blip>
          <a:stretch>
            <a:fillRect/>
          </a:stretch>
        </p:blipFill>
        <p:spPr>
          <a:xfrm>
            <a:off x="9748685" y="6334"/>
            <a:ext cx="2079522" cy="893318"/>
          </a:xfrm>
          <a:prstGeom prst="rect">
            <a:avLst/>
          </a:prstGeom>
          <a:noFill/>
          <a:ln>
            <a:noFill/>
          </a:ln>
        </p:spPr>
      </p:pic>
      <p:sp>
        <p:nvSpPr>
          <p:cNvPr id="11" name="Google Shape;71;p15"/>
          <p:cNvSpPr txBox="1"/>
          <p:nvPr/>
        </p:nvSpPr>
        <p:spPr>
          <a:xfrm>
            <a:off x="445083" y="2794392"/>
            <a:ext cx="6441204" cy="1949276"/>
          </a:xfrm>
          <a:prstGeom prst="rect">
            <a:avLst/>
          </a:prstGeom>
          <a:noFill/>
          <a:ln>
            <a:noFill/>
          </a:ln>
        </p:spPr>
        <p:txBody>
          <a:bodyPr spcFirstLastPara="1" wrap="square" lIns="121900" tIns="121900" rIns="121900" bIns="121900" anchor="t" anchorCtr="0">
            <a:spAutoFit/>
          </a:bodyPr>
          <a:lstStyle/>
          <a:p>
            <a:pPr marL="0" marR="0" lvl="0" indent="0" algn="l" defTabSz="1219170" rtl="0" eaLnBrk="1" fontAlgn="auto" latinLnBrk="0" hangingPunct="1">
              <a:spcBef>
                <a:spcPts val="1200"/>
              </a:spcBef>
              <a:spcAft>
                <a:spcPts val="0"/>
              </a:spcAft>
              <a:buClr>
                <a:srgbClr val="000000"/>
              </a:buClr>
              <a:buSzTx/>
              <a:buFontTx/>
              <a:buNone/>
              <a:tabLst/>
              <a:defRPr/>
            </a:pPr>
            <a:r>
              <a:rPr kumimoji="0" lang="en-US" sz="2800" b="1" i="0" u="none" strike="noStrike" kern="0" cap="none" spc="0" normalizeH="0" baseline="0" noProof="0" dirty="0">
                <a:ln>
                  <a:noFill/>
                </a:ln>
                <a:solidFill>
                  <a:srgbClr val="000000"/>
                </a:solidFill>
                <a:effectLst/>
                <a:uLnTx/>
                <a:uFillTx/>
                <a:latin typeface="Proxima Nova" panose="020B0604020202020204" charset="0"/>
                <a:ea typeface="Proxima Nova"/>
                <a:cs typeface="Proxima Nova"/>
                <a:sym typeface="Proxima Nova"/>
              </a:rPr>
              <a:t>Unit – </a:t>
            </a:r>
            <a:r>
              <a:rPr kumimoji="0" lang="en-US" sz="2800" b="1" i="0" u="none" strike="noStrike" kern="0" cap="none" spc="0" normalizeH="0" baseline="0" noProof="0" dirty="0" smtClean="0">
                <a:ln>
                  <a:noFill/>
                </a:ln>
                <a:solidFill>
                  <a:srgbClr val="000000"/>
                </a:solidFill>
                <a:effectLst/>
                <a:uLnTx/>
                <a:uFillTx/>
                <a:latin typeface="Proxima Nova" panose="020B0604020202020204" charset="0"/>
                <a:ea typeface="Proxima Nova"/>
                <a:cs typeface="Proxima Nova"/>
                <a:sym typeface="Proxima Nova"/>
              </a:rPr>
              <a:t>5</a:t>
            </a:r>
            <a:endParaRPr kumimoji="0" lang="en-US" sz="2800" b="1" i="0" u="none" strike="noStrike" kern="0" cap="none" spc="0" normalizeH="0" baseline="0" noProof="0" dirty="0">
              <a:ln>
                <a:noFill/>
              </a:ln>
              <a:solidFill>
                <a:srgbClr val="000000"/>
              </a:solidFill>
              <a:effectLst/>
              <a:uLnTx/>
              <a:uFillTx/>
              <a:latin typeface="Proxima Nova" panose="020B0604020202020204" charset="0"/>
              <a:ea typeface="Proxima Nova"/>
              <a:cs typeface="Proxima Nova"/>
              <a:sym typeface="Proxima Nova"/>
            </a:endParaRPr>
          </a:p>
          <a:p>
            <a:pPr>
              <a:spcBef>
                <a:spcPts val="1200"/>
              </a:spcBef>
            </a:pPr>
            <a:r>
              <a:rPr lang="en-IN" sz="2667" b="1" kern="0" dirty="0">
                <a:solidFill>
                  <a:srgbClr val="000000"/>
                </a:solidFill>
                <a:latin typeface="Proxima Nova"/>
              </a:rPr>
              <a:t>Backtracking and Branch and Bound </a:t>
            </a:r>
            <a:r>
              <a:rPr lang="en-IN" sz="1800" b="0" i="0" u="none" strike="noStrike" baseline="0" dirty="0">
                <a:solidFill>
                  <a:srgbClr val="000000"/>
                </a:solidFill>
                <a:latin typeface="Cambria" panose="02040503050406030204" pitchFamily="18" charset="0"/>
              </a:rPr>
              <a:t>	</a:t>
            </a:r>
          </a:p>
          <a:p>
            <a:r>
              <a:rPr lang="en-IN" sz="1800" b="0" i="0" u="none" strike="noStrike" baseline="0" dirty="0">
                <a:solidFill>
                  <a:srgbClr val="000000"/>
                </a:solidFill>
                <a:latin typeface="Cambria" panose="02040503050406030204" pitchFamily="18" charset="0"/>
              </a:rPr>
              <a:t>	</a:t>
            </a:r>
          </a:p>
        </p:txBody>
      </p:sp>
      <p:sp>
        <p:nvSpPr>
          <p:cNvPr id="12" name="Google Shape;73;p15"/>
          <p:cNvSpPr txBox="1"/>
          <p:nvPr/>
        </p:nvSpPr>
        <p:spPr>
          <a:xfrm>
            <a:off x="445083" y="5494354"/>
            <a:ext cx="4760491" cy="1128602"/>
          </a:xfrm>
          <a:prstGeom prst="rect">
            <a:avLst/>
          </a:prstGeom>
          <a:noFill/>
          <a:ln>
            <a:noFill/>
          </a:ln>
        </p:spPr>
        <p:txBody>
          <a:bodyPr spcFirstLastPara="1" wrap="square" lIns="121900" tIns="121900" rIns="121900" bIns="121900" anchor="t" anchorCtr="0">
            <a:spAutoFit/>
          </a:bodyPr>
          <a:lstStyle/>
          <a:p>
            <a:pPr marL="0" marR="0" lvl="0" indent="0" algn="l" defTabSz="1219170" rtl="0" eaLnBrk="1" fontAlgn="auto" latinLnBrk="0" hangingPunct="1">
              <a:lnSpc>
                <a:spcPct val="100000"/>
              </a:lnSpc>
              <a:spcBef>
                <a:spcPts val="600"/>
              </a:spcBef>
              <a:spcAft>
                <a:spcPts val="600"/>
              </a:spcAft>
              <a:buClr>
                <a:srgbClr val="000000"/>
              </a:buClr>
              <a:buSzTx/>
              <a:buFontTx/>
              <a:buNone/>
              <a:tabLst/>
              <a:defRPr/>
            </a:pPr>
            <a:r>
              <a:rPr kumimoji="0" lang="en-US" sz="1867" b="1" i="0" u="none" strike="noStrike" kern="0" cap="none" spc="0" normalizeH="0" baseline="0" noProof="0" dirty="0">
                <a:ln>
                  <a:noFill/>
                </a:ln>
                <a:solidFill>
                  <a:srgbClr val="000000"/>
                </a:solidFill>
                <a:effectLst/>
                <a:uLnTx/>
                <a:uFillTx/>
                <a:latin typeface="Arial"/>
                <a:ea typeface="+mn-ea"/>
                <a:cs typeface="Arial"/>
                <a:sym typeface="Arial"/>
              </a:rPr>
              <a:t>Prof. </a:t>
            </a:r>
            <a:r>
              <a:rPr kumimoji="0" lang="en-US" sz="1867" b="1" i="0" u="none" strike="noStrike" kern="0" cap="none" spc="0" normalizeH="0" baseline="0" noProof="0" dirty="0" err="1">
                <a:ln>
                  <a:noFill/>
                </a:ln>
                <a:solidFill>
                  <a:srgbClr val="000000"/>
                </a:solidFill>
                <a:effectLst/>
                <a:uLnTx/>
                <a:uFillTx/>
                <a:latin typeface="Arial"/>
                <a:ea typeface="+mn-ea"/>
                <a:cs typeface="Arial"/>
                <a:sym typeface="Arial"/>
              </a:rPr>
              <a:t>Premavathi</a:t>
            </a:r>
            <a:r>
              <a:rPr kumimoji="0" lang="en-US" sz="1867" b="1" i="0" u="none" strike="noStrike" kern="0" cap="none" spc="0" normalizeH="0" baseline="0" noProof="0" dirty="0">
                <a:ln>
                  <a:noFill/>
                </a:ln>
                <a:solidFill>
                  <a:srgbClr val="000000"/>
                </a:solidFill>
                <a:effectLst/>
                <a:uLnTx/>
                <a:uFillTx/>
                <a:latin typeface="Arial"/>
                <a:ea typeface="+mn-ea"/>
                <a:cs typeface="Arial"/>
                <a:sym typeface="Arial"/>
              </a:rPr>
              <a:t> T </a:t>
            </a:r>
          </a:p>
          <a:p>
            <a:pPr marL="0" marR="0" lvl="0" indent="0" algn="l" defTabSz="1219170" rtl="0" eaLnBrk="1" fontAlgn="auto" latinLnBrk="0" hangingPunct="1">
              <a:lnSpc>
                <a:spcPct val="100000"/>
              </a:lnSpc>
              <a:spcBef>
                <a:spcPts val="600"/>
              </a:spcBef>
              <a:spcAft>
                <a:spcPts val="600"/>
              </a:spcAft>
              <a:buClr>
                <a:srgbClr val="000000"/>
              </a:buClr>
              <a:buSzTx/>
              <a:buFontTx/>
              <a:buNone/>
              <a:tabLst/>
              <a:defRPr/>
            </a:pPr>
            <a:r>
              <a:rPr kumimoji="0" lang="en-US" sz="1867" b="1" i="0" u="none" strike="noStrike" kern="0" cap="none" spc="0" normalizeH="0" baseline="0" noProof="0" dirty="0">
                <a:ln>
                  <a:noFill/>
                </a:ln>
                <a:solidFill>
                  <a:srgbClr val="000000"/>
                </a:solidFill>
                <a:effectLst/>
                <a:uLnTx/>
                <a:uFillTx/>
                <a:latin typeface="Arial"/>
                <a:ea typeface="+mn-ea"/>
                <a:cs typeface="Arial"/>
                <a:sym typeface="Arial"/>
              </a:rPr>
              <a:t>CE- AI Department</a:t>
            </a:r>
            <a:endParaRPr kumimoji="0" sz="1867" b="1"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3" name="Google Shape;71;p15"/>
          <p:cNvSpPr txBox="1"/>
          <p:nvPr/>
        </p:nvSpPr>
        <p:spPr>
          <a:xfrm>
            <a:off x="445083" y="1072056"/>
            <a:ext cx="8182724" cy="656614"/>
          </a:xfrm>
          <a:prstGeom prst="rect">
            <a:avLst/>
          </a:prstGeom>
          <a:noFill/>
          <a:ln>
            <a:noFill/>
          </a:ln>
        </p:spPr>
        <p:txBody>
          <a:bodyPr spcFirstLastPara="1" wrap="square" lIns="121900" tIns="121900" rIns="121900" bIns="121900" anchor="t" anchorCtr="0">
            <a:spAutoFit/>
          </a:bodyPr>
          <a:lstStyle/>
          <a:p>
            <a:pPr lvl="0" defTabSz="1219170">
              <a:buClr>
                <a:srgbClr val="000000"/>
              </a:buClr>
              <a:defRPr/>
            </a:pPr>
            <a:r>
              <a:rPr lang="en-IN" sz="2667" b="1" kern="0" dirty="0">
                <a:solidFill>
                  <a:srgbClr val="000000"/>
                </a:solidFill>
                <a:latin typeface="Proxima Nova"/>
                <a:ea typeface="Proxima Nova"/>
                <a:cs typeface="Proxima Nova"/>
                <a:sym typeface="Proxima Nova"/>
              </a:rPr>
              <a:t>01AI0506 </a:t>
            </a:r>
            <a:r>
              <a:rPr kumimoji="0" lang="en-IN" sz="2667" b="1" i="0" u="none" strike="noStrike" kern="0" cap="none" spc="0" normalizeH="0" baseline="0" noProof="0" dirty="0">
                <a:ln>
                  <a:noFill/>
                </a:ln>
                <a:solidFill>
                  <a:srgbClr val="000000"/>
                </a:solidFill>
                <a:effectLst/>
                <a:uLnTx/>
                <a:uFillTx/>
                <a:latin typeface="Proxima Nova"/>
                <a:ea typeface="Proxima Nova"/>
                <a:cs typeface="Proxima Nova"/>
                <a:sym typeface="Proxima Nova"/>
              </a:rPr>
              <a:t>- </a:t>
            </a:r>
            <a:r>
              <a:rPr kumimoji="0" lang="en-IN" sz="2667" b="1" i="0" u="none" strike="noStrike" kern="0" cap="none" spc="0" normalizeH="0" baseline="0" noProof="0" dirty="0">
                <a:ln>
                  <a:noFill/>
                </a:ln>
                <a:solidFill>
                  <a:srgbClr val="000000"/>
                </a:solidFill>
                <a:effectLst/>
                <a:uLnTx/>
                <a:uFillTx/>
                <a:latin typeface="Proxima Nova"/>
                <a:ea typeface="Proxima Nova"/>
                <a:cs typeface="Proxima Nova"/>
                <a:sym typeface="Arial"/>
              </a:rPr>
              <a:t>Design and Analysis of Algorithm</a:t>
            </a:r>
            <a:endParaRPr kumimoji="0" lang="en-IN" sz="2667" b="1" i="0" u="none" strike="noStrike" kern="0" cap="none" spc="0" normalizeH="0" baseline="0" noProof="0" dirty="0">
              <a:ln>
                <a:noFill/>
              </a:ln>
              <a:solidFill>
                <a:srgbClr val="000000"/>
              </a:solidFill>
              <a:effectLst/>
              <a:uLnTx/>
              <a:uFillTx/>
              <a:latin typeface="Proxima Nova"/>
              <a:ea typeface="Proxima Nova"/>
              <a:cs typeface="Proxima Nova"/>
              <a:sym typeface="Proxima Nov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6334" y="6334"/>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97" name="Google Shape;97;p17"/>
          <p:cNvSpPr txBox="1"/>
          <p:nvPr/>
        </p:nvSpPr>
        <p:spPr>
          <a:xfrm>
            <a:off x="398206" y="179000"/>
            <a:ext cx="2787827" cy="738623"/>
          </a:xfrm>
          <a:prstGeom prst="rect">
            <a:avLst/>
          </a:prstGeom>
          <a:noFill/>
          <a:ln>
            <a:noFill/>
          </a:ln>
        </p:spPr>
        <p:txBody>
          <a:bodyPr spcFirstLastPara="1" wrap="square" lIns="121900" tIns="121900" rIns="121900" bIns="12190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3200" b="1" i="0" u="none" strike="noStrike" kern="0" cap="none" spc="0" normalizeH="0" baseline="0" noProof="0" dirty="0">
                <a:ln>
                  <a:noFill/>
                </a:ln>
                <a:solidFill>
                  <a:srgbClr val="FFFFFF"/>
                </a:solidFill>
                <a:effectLst/>
                <a:uLnTx/>
                <a:uFillTx/>
                <a:latin typeface="Trebuchet MS" panose="020B0603020202020204" pitchFamily="34" charset="0"/>
                <a:ea typeface="Proxima Nova"/>
                <a:cs typeface="Proxima Nova"/>
                <a:sym typeface="Proxima Nova"/>
              </a:rPr>
              <a:t>OUTLINE</a:t>
            </a:r>
            <a:endParaRPr kumimoji="0" sz="3200" b="1" i="0" u="none" strike="noStrike" kern="0" cap="none" spc="0" normalizeH="0" baseline="0" noProof="0" dirty="0">
              <a:ln>
                <a:noFill/>
              </a:ln>
              <a:solidFill>
                <a:srgbClr val="FFFFFF"/>
              </a:solidFill>
              <a:effectLst/>
              <a:uLnTx/>
              <a:uFillTx/>
              <a:latin typeface="Trebuchet MS" panose="020B0603020202020204" pitchFamily="34" charset="0"/>
              <a:ea typeface="Proxima Nova"/>
              <a:cs typeface="Proxima Nova"/>
              <a:sym typeface="Proxima Nova"/>
            </a:endParaRPr>
          </a:p>
        </p:txBody>
      </p:sp>
      <p:sp>
        <p:nvSpPr>
          <p:cNvPr id="99" name="Google Shape;99;p17"/>
          <p:cNvSpPr txBox="1"/>
          <p:nvPr/>
        </p:nvSpPr>
        <p:spPr>
          <a:xfrm>
            <a:off x="861233" y="1729712"/>
            <a:ext cx="9978832" cy="4278054"/>
          </a:xfrm>
          <a:prstGeom prst="rect">
            <a:avLst/>
          </a:prstGeom>
          <a:noFill/>
          <a:ln>
            <a:noFill/>
          </a:ln>
        </p:spPr>
        <p:txBody>
          <a:bodyPr spcFirstLastPara="1" wrap="square" lIns="121900" tIns="121900" rIns="121900" bIns="121900" anchor="t" anchorCtr="0">
            <a:spAutoFit/>
          </a:bodyPr>
          <a:lstStyle/>
          <a:p>
            <a:pPr marL="342900" indent="-342900">
              <a:lnSpc>
                <a:spcPct val="150000"/>
              </a:lnSpc>
              <a:buFont typeface="Wingdings" panose="05000000000000000000" pitchFamily="2" charset="2"/>
              <a:buChar char="q"/>
            </a:pPr>
            <a:r>
              <a:rPr lang="en-IN" sz="2800" b="0" i="0" u="none" strike="noStrike" baseline="0" dirty="0">
                <a:solidFill>
                  <a:srgbClr val="000000"/>
                </a:solidFill>
                <a:latin typeface="Trebuchet MS" panose="020B0603020202020204" pitchFamily="34" charset="0"/>
              </a:rPr>
              <a:t>Introduction</a:t>
            </a:r>
          </a:p>
          <a:p>
            <a:pPr marL="342900" indent="-342900">
              <a:lnSpc>
                <a:spcPct val="150000"/>
              </a:lnSpc>
              <a:buFont typeface="Wingdings" panose="05000000000000000000" pitchFamily="2" charset="2"/>
              <a:buChar char="q"/>
            </a:pPr>
            <a:r>
              <a:rPr lang="en-IN" sz="2800" b="0" i="0" u="none" strike="noStrike" baseline="0" dirty="0">
                <a:solidFill>
                  <a:srgbClr val="000000"/>
                </a:solidFill>
                <a:latin typeface="Trebuchet MS" panose="020B0603020202020204" pitchFamily="34" charset="0"/>
              </a:rPr>
              <a:t>The Eight queens problem</a:t>
            </a:r>
          </a:p>
          <a:p>
            <a:pPr marL="342900" indent="-342900">
              <a:lnSpc>
                <a:spcPct val="150000"/>
              </a:lnSpc>
              <a:buFont typeface="Wingdings" panose="05000000000000000000" pitchFamily="2" charset="2"/>
              <a:buChar char="q"/>
            </a:pPr>
            <a:r>
              <a:rPr lang="en-IN" sz="2800" b="0" i="0" u="none" strike="noStrike" baseline="0" dirty="0">
                <a:solidFill>
                  <a:srgbClr val="000000"/>
                </a:solidFill>
                <a:latin typeface="Trebuchet MS" panose="020B0603020202020204" pitchFamily="34" charset="0"/>
              </a:rPr>
              <a:t>Knapsack problem</a:t>
            </a:r>
          </a:p>
          <a:p>
            <a:pPr marL="342900" indent="-342900">
              <a:lnSpc>
                <a:spcPct val="150000"/>
              </a:lnSpc>
              <a:buFont typeface="Wingdings" panose="05000000000000000000" pitchFamily="2" charset="2"/>
              <a:buChar char="q"/>
            </a:pPr>
            <a:r>
              <a:rPr lang="en-IN" sz="2800" b="0" i="0" u="none" strike="noStrike" baseline="0" dirty="0">
                <a:solidFill>
                  <a:srgbClr val="000000"/>
                </a:solidFill>
                <a:latin typeface="Trebuchet MS" panose="020B0603020202020204" pitchFamily="34" charset="0"/>
              </a:rPr>
              <a:t>Travelling Salesman problem</a:t>
            </a:r>
          </a:p>
          <a:p>
            <a:pPr marL="342900" indent="-342900">
              <a:lnSpc>
                <a:spcPct val="150000"/>
              </a:lnSpc>
              <a:buFont typeface="Wingdings" panose="05000000000000000000" pitchFamily="2" charset="2"/>
              <a:buChar char="q"/>
            </a:pPr>
            <a:r>
              <a:rPr lang="en-IN" sz="2800" b="0" i="0" u="none" strike="noStrike" baseline="0" dirty="0">
                <a:solidFill>
                  <a:srgbClr val="000000"/>
                </a:solidFill>
                <a:latin typeface="Trebuchet MS" panose="020B0603020202020204" pitchFamily="34" charset="0"/>
              </a:rPr>
              <a:t>Minimax principle	</a:t>
            </a:r>
          </a:p>
          <a:p>
            <a:pPr>
              <a:lnSpc>
                <a:spcPct val="150000"/>
              </a:lnSpc>
              <a:spcBef>
                <a:spcPts val="600"/>
              </a:spcBef>
              <a:spcAft>
                <a:spcPts val="600"/>
              </a:spcAft>
            </a:pPr>
            <a:r>
              <a:rPr lang="en-IN" sz="2800" b="0" i="0" u="none" strike="noStrike" baseline="0" dirty="0">
                <a:solidFill>
                  <a:srgbClr val="000000"/>
                </a:solidFill>
                <a:latin typeface="Trebuchet MS" panose="020B0603020202020204" pitchFamily="34" charset="0"/>
              </a:rPr>
              <a:t>	</a:t>
            </a:r>
            <a:endParaRPr lang="en-IN" sz="2400" b="0" i="0" u="none" strike="noStrike" baseline="0" dirty="0">
              <a:solidFill>
                <a:srgbClr val="000000"/>
              </a:solidFill>
              <a:latin typeface="Trebuchet MS" panose="020B0603020202020204" pitchFamily="34" charset="0"/>
            </a:endParaRPr>
          </a:p>
        </p:txBody>
      </p:sp>
      <p:pic>
        <p:nvPicPr>
          <p:cNvPr id="7" name="Google Shape;171;p22"/>
          <p:cNvPicPr preferRelativeResize="0"/>
          <p:nvPr/>
        </p:nvPicPr>
        <p:blipFill>
          <a:blip r:embed="rId6" cstate="hqprint">
            <a:extLst>
              <a:ext uri="{28A0092B-C50C-407E-A947-70E740481C1C}">
                <a14:useLocalDpi xmlns:a14="http://schemas.microsoft.com/office/drawing/2010/main" val="0"/>
              </a:ext>
            </a:extLst>
          </a:blip>
          <a:stretch>
            <a:fillRect/>
          </a:stretch>
        </p:blipFill>
        <p:spPr>
          <a:xfrm>
            <a:off x="9748685" y="179000"/>
            <a:ext cx="2079522" cy="720652"/>
          </a:xfrm>
          <a:prstGeom prst="rect">
            <a:avLst/>
          </a:prstGeom>
          <a:noFill/>
          <a:ln>
            <a:noFill/>
          </a:ln>
        </p:spPr>
      </p:pic>
    </p:spTree>
    <p:extLst>
      <p:ext uri="{BB962C8B-B14F-4D97-AF65-F5344CB8AC3E}">
        <p14:creationId xmlns:p14="http://schemas.microsoft.com/office/powerpoint/2010/main" val="24180915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20E1227C-9057-3700-3837-66366ED36578}"/>
              </a:ext>
            </a:extLst>
          </p:cNvPr>
          <p:cNvSpPr txBox="1"/>
          <p:nvPr/>
        </p:nvSpPr>
        <p:spPr>
          <a:xfrm>
            <a:off x="236794" y="1035658"/>
            <a:ext cx="11575040" cy="5593839"/>
          </a:xfrm>
          <a:prstGeom prst="rect">
            <a:avLst/>
          </a:prstGeom>
          <a:noFill/>
        </p:spPr>
        <p:txBody>
          <a:bodyPr wrap="square">
            <a:spAutoFit/>
          </a:bodyPr>
          <a:lstStyle/>
          <a:p>
            <a:pPr marL="342900" marR="0" lvl="0" indent="-342900" algn="just" defTabSz="914400" rtl="0" eaLnBrk="1" fontAlgn="auto" latinLnBrk="0" hangingPunct="1">
              <a:lnSpc>
                <a:spcPts val="3900"/>
              </a:lnSpc>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Backtracking can be defined as a general algorithmic technique that considers </a:t>
            </a: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rPr>
              <a:t>searching every possible combination</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in order to solve an optimization problem.</a:t>
            </a:r>
          </a:p>
          <a:p>
            <a:pPr marL="342900" marR="0" lvl="0" indent="-342900" algn="just" defTabSz="914400" rtl="0" eaLnBrk="1" fontAlgn="auto" latinLnBrk="0" hangingPunct="1">
              <a:lnSpc>
                <a:spcPts val="3900"/>
              </a:lnSpc>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It is a </a:t>
            </a:r>
            <a:r>
              <a:rPr kumimoji="0" lang="en-US" sz="2400" b="0" i="0" u="none" strike="noStrike" kern="1200" cap="none" spc="0" normalizeH="0" baseline="0" noProof="0" dirty="0">
                <a:ln>
                  <a:noFill/>
                </a:ln>
                <a:solidFill>
                  <a:srgbClr val="FF0000"/>
                </a:solidFill>
                <a:effectLst/>
                <a:uLnTx/>
                <a:uFillTx/>
                <a:latin typeface="Trebuchet MS" panose="020B0603020202020204" pitchFamily="34" charset="0"/>
              </a:rPr>
              <a:t>recursive</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technique</a:t>
            </a: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rPr>
              <a:t>. It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generates a </a:t>
            </a:r>
            <a:r>
              <a:rPr kumimoji="0" lang="en-US" sz="2400" b="0" i="0" u="none" strike="noStrike" kern="1200" cap="none" spc="0" normalizeH="0" baseline="0" noProof="0" dirty="0">
                <a:ln>
                  <a:noFill/>
                </a:ln>
                <a:solidFill>
                  <a:srgbClr val="FF0000"/>
                </a:solidFill>
                <a:effectLst/>
                <a:uLnTx/>
                <a:uFillTx/>
                <a:latin typeface="Trebuchet MS" panose="020B0603020202020204" pitchFamily="34" charset="0"/>
              </a:rPr>
              <a:t>state space tree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for all possible solutions. </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A space state tree is a tree representing all the possible states (solution or nonsolution) of the problem from the root as an initial state to the leaf as a terminal state.</a:t>
            </a:r>
            <a:endPar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ndParaRPr>
          </a:p>
          <a:p>
            <a:pPr marL="342900" marR="0" lvl="0" indent="-342900" algn="just" defTabSz="914400" rtl="0" eaLnBrk="1" fontAlgn="auto" latinLnBrk="0" hangingPunct="1">
              <a:lnSpc>
                <a:spcPts val="3900"/>
              </a:lnSpc>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It traverse the state space tree in the </a:t>
            </a:r>
            <a:r>
              <a:rPr kumimoji="0" lang="en-US" sz="2400" b="0" i="0" u="none" strike="noStrike" kern="1200" cap="none" spc="0" normalizeH="0" baseline="0" noProof="0" dirty="0">
                <a:ln>
                  <a:noFill/>
                </a:ln>
                <a:solidFill>
                  <a:srgbClr val="FF0000"/>
                </a:solidFill>
                <a:effectLst/>
                <a:uLnTx/>
                <a:uFillTx/>
                <a:latin typeface="Trebuchet MS" panose="020B0603020202020204" pitchFamily="34" charset="0"/>
              </a:rPr>
              <a:t>depth first order</a:t>
            </a:r>
            <a:r>
              <a:rPr kumimoji="0" lang="en-US" sz="2400" b="0" i="0" u="none" strike="noStrike" kern="1200" cap="none" spc="0" normalizeH="0" baseline="0" noProof="0" dirty="0" smtClean="0">
                <a:ln>
                  <a:noFill/>
                </a:ln>
                <a:solidFill>
                  <a:srgbClr val="FF0000"/>
                </a:solidFill>
                <a:effectLst/>
                <a:uLnTx/>
                <a:uFillTx/>
                <a:latin typeface="Trebuchet MS" panose="020B0603020202020204" pitchFamily="34" charset="0"/>
              </a:rPr>
              <a:t>. </a:t>
            </a: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rPr>
              <a:t>So</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in a backtracking we attempt solving a sub-problem, and if we don't reach the desired solution, </a:t>
            </a:r>
            <a:r>
              <a:rPr kumimoji="0" lang="en-US" sz="2400" b="0" i="0" u="none" strike="noStrike" kern="1200" cap="none" spc="0" normalizeH="0" baseline="0" noProof="0" dirty="0">
                <a:ln>
                  <a:noFill/>
                </a:ln>
                <a:solidFill>
                  <a:srgbClr val="FF0000"/>
                </a:solidFill>
                <a:effectLst/>
                <a:uLnTx/>
                <a:uFillTx/>
                <a:latin typeface="Trebuchet MS" panose="020B0603020202020204" pitchFamily="34" charset="0"/>
              </a:rPr>
              <a:t>then undo whatever we did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for solving that sub-problem, and try solving another sub-problem.</a:t>
            </a:r>
          </a:p>
        </p:txBody>
      </p:sp>
      <p:sp>
        <p:nvSpPr>
          <p:cNvPr id="7" name="TextBox 6">
            <a:extLst>
              <a:ext uri="{FF2B5EF4-FFF2-40B4-BE49-F238E27FC236}">
                <a16:creationId xmlns:a16="http://schemas.microsoft.com/office/drawing/2014/main" id="{0623B2C0-D3CD-2EE8-0510-621A662D563A}"/>
              </a:ext>
            </a:extLst>
          </p:cNvPr>
          <p:cNvSpPr txBox="1"/>
          <p:nvPr/>
        </p:nvSpPr>
        <p:spPr>
          <a:xfrm>
            <a:off x="236794" y="130765"/>
            <a:ext cx="7508363"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Introduction to backtracking  </a:t>
            </a:r>
            <a:endParaRPr lang="en-IN" sz="3200"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31316181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0623B2C0-D3CD-2EE8-0510-621A662D563A}"/>
              </a:ext>
            </a:extLst>
          </p:cNvPr>
          <p:cNvSpPr txBox="1"/>
          <p:nvPr/>
        </p:nvSpPr>
        <p:spPr>
          <a:xfrm>
            <a:off x="277163" y="198118"/>
            <a:ext cx="6194322"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Introduction to backtracking </a:t>
            </a:r>
            <a:r>
              <a:rPr kumimoji="0" lang="en-US" sz="34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 </a:t>
            </a:r>
            <a:endParaRPr lang="en-IN" dirty="0">
              <a:solidFill>
                <a:schemeClr val="bg1"/>
              </a:solidFill>
              <a:latin typeface="Corbel" panose="020B0503020204020204" pitchFamily="34" charset="0"/>
            </a:endParaRPr>
          </a:p>
        </p:txBody>
      </p:sp>
      <p:sp>
        <p:nvSpPr>
          <p:cNvPr id="14" name="TextBox 13">
            <a:extLst>
              <a:ext uri="{FF2B5EF4-FFF2-40B4-BE49-F238E27FC236}">
                <a16:creationId xmlns:a16="http://schemas.microsoft.com/office/drawing/2014/main" id="{5F482744-73A0-D896-E90D-5E5DCCE8A8D0}"/>
              </a:ext>
            </a:extLst>
          </p:cNvPr>
          <p:cNvSpPr txBox="1"/>
          <p:nvPr/>
        </p:nvSpPr>
        <p:spPr>
          <a:xfrm>
            <a:off x="277163" y="1072851"/>
            <a:ext cx="11246211" cy="5293757"/>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All the solutions require a </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set of constraints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divided into two categories: explicit and implicit constraints.</a:t>
            </a:r>
            <a:endParaRPr kumimoji="0" lang="en-US" sz="2400" b="1" i="0" u="none" strike="noStrike" kern="1200" cap="none" spc="0" normalizeH="0" baseline="0" noProof="0" dirty="0">
              <a:ln>
                <a:noFill/>
              </a:ln>
              <a:solidFill>
                <a:srgbClr val="212121"/>
              </a:solidFill>
              <a:effectLst/>
              <a:uLnTx/>
              <a:uFillTx/>
              <a:latin typeface="Trebuchet MS" panose="020B0603020202020204" pitchFamily="34" charset="0"/>
            </a:endParaRPr>
          </a:p>
          <a:p>
            <a:pPr marL="285750" indent="-285750" algn="just">
              <a:spcBef>
                <a:spcPts val="600"/>
              </a:spcBef>
              <a:spcAft>
                <a:spcPts val="600"/>
              </a:spcAft>
              <a:buFont typeface="Arial" panose="020B0604020202020204" pitchFamily="34" charset="0"/>
              <a:buChar char="•"/>
            </a:pPr>
            <a:r>
              <a:rPr lang="en-IN" sz="2400" b="1" dirty="0">
                <a:solidFill>
                  <a:srgbClr val="FF0000"/>
                </a:solidFill>
                <a:effectLst/>
                <a:latin typeface="Trebuchet MS" panose="020B0603020202020204" pitchFamily="34" charset="0"/>
                <a:ea typeface="Calibri" panose="020F0502020204030204" pitchFamily="34" charset="0"/>
                <a:cs typeface="Times New Roman" panose="02020603050405020304" pitchFamily="18" charset="0"/>
              </a:rPr>
              <a:t>Explicit constraints</a:t>
            </a:r>
            <a:r>
              <a:rPr lang="en-IN" sz="2400" dirty="0">
                <a:solidFill>
                  <a:srgbClr val="FF0000"/>
                </a:solidFill>
                <a:effectLst/>
                <a:latin typeface="Trebuchet MS" panose="020B0603020202020204" pitchFamily="34" charset="0"/>
                <a:ea typeface="Calibri" panose="020F0502020204030204" pitchFamily="34" charset="0"/>
                <a:cs typeface="Times New Roman" panose="02020603050405020304" pitchFamily="18" charset="0"/>
              </a:rPr>
              <a:t> </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are rules that restrict each x</a:t>
            </a:r>
            <a:r>
              <a:rPr lang="en-IN" sz="2400" baseline="-25000" dirty="0">
                <a:effectLst/>
                <a:latin typeface="Trebuchet MS" panose="020B0603020202020204" pitchFamily="34" charset="0"/>
                <a:ea typeface="Calibri" panose="020F0502020204030204" pitchFamily="34" charset="0"/>
                <a:cs typeface="Times New Roman" panose="02020603050405020304" pitchFamily="18" charset="0"/>
              </a:rPr>
              <a:t>i</a:t>
            </a:r>
            <a:r>
              <a:rPr lang="en-IN" sz="2400" baseline="-25000" dirty="0">
                <a:latin typeface="Trebuchet MS" panose="020B0603020202020204" pitchFamily="34" charset="0"/>
                <a:ea typeface="Calibri" panose="020F0502020204030204" pitchFamily="34" charset="0"/>
                <a:cs typeface="Times New Roman" panose="02020603050405020304" pitchFamily="18" charset="0"/>
              </a:rPr>
              <a:t> </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to take on values only from a given set.</a:t>
            </a:r>
          </a:p>
          <a:p>
            <a:pPr marL="914400" lvl="1" indent="-457200" algn="just">
              <a:spcBef>
                <a:spcPts val="600"/>
              </a:spcBef>
              <a:spcAft>
                <a:spcPts val="600"/>
              </a:spcAft>
              <a:buFont typeface="Wingdings" panose="05000000000000000000" pitchFamily="2" charset="2"/>
              <a:buChar char="ü"/>
            </a:pPr>
            <a:r>
              <a:rPr lang="en-IN" sz="2400" dirty="0" smtClean="0">
                <a:effectLst/>
                <a:latin typeface="Trebuchet MS" panose="020B0603020202020204" pitchFamily="34" charset="0"/>
                <a:ea typeface="Calibri" panose="020F0502020204030204" pitchFamily="34" charset="0"/>
                <a:cs typeface="Times New Roman" panose="02020603050405020304" pitchFamily="18" charset="0"/>
              </a:rPr>
              <a:t>Explicit </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constraints depend on the particular instance I of problem being solved</a:t>
            </a:r>
          </a:p>
          <a:p>
            <a:pPr marL="914400" lvl="1" indent="-457200" algn="just">
              <a:spcBef>
                <a:spcPts val="600"/>
              </a:spcBef>
              <a:spcAft>
                <a:spcPts val="600"/>
              </a:spcAft>
              <a:buFont typeface="Wingdings" panose="05000000000000000000" pitchFamily="2" charset="2"/>
              <a:buChar char="ü"/>
            </a:pPr>
            <a:r>
              <a:rPr lang="en-IN" sz="2400" dirty="0" smtClean="0">
                <a:effectLst/>
                <a:latin typeface="Trebuchet MS" panose="020B0603020202020204" pitchFamily="34" charset="0"/>
                <a:ea typeface="Calibri" panose="020F0502020204030204" pitchFamily="34" charset="0"/>
                <a:cs typeface="Times New Roman" panose="02020603050405020304" pitchFamily="18" charset="0"/>
              </a:rPr>
              <a:t>All </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tuples that satisfy the explicit constraints define a possible solution space  for I</a:t>
            </a:r>
          </a:p>
          <a:p>
            <a:pPr marL="285750" indent="-285750" algn="just">
              <a:spcBef>
                <a:spcPts val="600"/>
              </a:spcBef>
              <a:spcAft>
                <a:spcPts val="600"/>
              </a:spcAft>
              <a:buFont typeface="Arial" panose="020B0604020202020204" pitchFamily="34" charset="0"/>
              <a:buChar char="•"/>
            </a:pPr>
            <a:r>
              <a:rPr lang="en-IN" sz="2400" b="1" dirty="0">
                <a:solidFill>
                  <a:srgbClr val="FF0000"/>
                </a:solidFill>
                <a:effectLst/>
                <a:latin typeface="Trebuchet MS" panose="020B0603020202020204" pitchFamily="34" charset="0"/>
                <a:ea typeface="Calibri" panose="020F0502020204030204" pitchFamily="34" charset="0"/>
                <a:cs typeface="Times New Roman" panose="02020603050405020304" pitchFamily="18" charset="0"/>
              </a:rPr>
              <a:t>Implicit constraints</a:t>
            </a:r>
            <a:r>
              <a:rPr lang="en-IN" sz="2400" dirty="0">
                <a:solidFill>
                  <a:srgbClr val="FF0000"/>
                </a:solidFill>
                <a:effectLst/>
                <a:latin typeface="Trebuchet MS" panose="020B0603020202020204" pitchFamily="34" charset="0"/>
                <a:ea typeface="Calibri" panose="020F0502020204030204" pitchFamily="34" charset="0"/>
                <a:cs typeface="Times New Roman" panose="02020603050405020304" pitchFamily="18" charset="0"/>
              </a:rPr>
              <a:t> </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are rules that determine which of the tuples in the solution space of I satisfy the criterion function.</a:t>
            </a:r>
          </a:p>
          <a:p>
            <a:pPr marL="914400" lvl="1" indent="-457200" algn="just">
              <a:spcBef>
                <a:spcPts val="600"/>
              </a:spcBef>
              <a:spcAft>
                <a:spcPts val="600"/>
              </a:spcAft>
              <a:buFont typeface="Wingdings" panose="05000000000000000000" pitchFamily="2" charset="2"/>
              <a:buChar char="ü"/>
            </a:pPr>
            <a:r>
              <a:rPr lang="en-IN" sz="2400" dirty="0" smtClean="0">
                <a:effectLst/>
                <a:latin typeface="Trebuchet MS" panose="020B0603020202020204" pitchFamily="34" charset="0"/>
                <a:ea typeface="Calibri" panose="020F0502020204030204" pitchFamily="34" charset="0"/>
                <a:cs typeface="Times New Roman" panose="02020603050405020304" pitchFamily="18" charset="0"/>
              </a:rPr>
              <a:t>Implicit </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constraints describe the way in which the </a:t>
            </a:r>
            <a:r>
              <a:rPr lang="en-IN" sz="2400" dirty="0" err="1">
                <a:effectLst/>
                <a:latin typeface="Trebuchet MS" panose="020B0603020202020204" pitchFamily="34" charset="0"/>
                <a:ea typeface="Calibri" panose="020F0502020204030204" pitchFamily="34" charset="0"/>
                <a:cs typeface="Times New Roman" panose="02020603050405020304" pitchFamily="18" charset="0"/>
              </a:rPr>
              <a:t>x</a:t>
            </a:r>
            <a:r>
              <a:rPr lang="en-IN" sz="2400" baseline="-25000" dirty="0" err="1">
                <a:effectLst/>
                <a:latin typeface="Trebuchet MS" panose="020B0603020202020204" pitchFamily="34" charset="0"/>
                <a:ea typeface="Calibri" panose="020F0502020204030204" pitchFamily="34" charset="0"/>
                <a:cs typeface="Times New Roman" panose="02020603050405020304" pitchFamily="18" charset="0"/>
              </a:rPr>
              <a:t>i</a:t>
            </a:r>
            <a:r>
              <a:rPr lang="en-IN" sz="2400" dirty="0" err="1">
                <a:effectLst/>
                <a:latin typeface="Trebuchet MS" panose="020B0603020202020204" pitchFamily="34" charset="0"/>
                <a:ea typeface="Calibri" panose="020F0502020204030204" pitchFamily="34" charset="0"/>
                <a:cs typeface="Times New Roman" panose="02020603050405020304" pitchFamily="18" charset="0"/>
              </a:rPr>
              <a:t>s</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 must relate to each other.</a:t>
            </a:r>
            <a:endParaRPr lang="en-IN" sz="1600" dirty="0">
              <a:effectLst/>
              <a:latin typeface="Trebuchet MS" panose="020B0603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451436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0623B2C0-D3CD-2EE8-0510-621A662D563A}"/>
              </a:ext>
            </a:extLst>
          </p:cNvPr>
          <p:cNvSpPr txBox="1"/>
          <p:nvPr/>
        </p:nvSpPr>
        <p:spPr>
          <a:xfrm>
            <a:off x="277163" y="198118"/>
            <a:ext cx="6194322"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Introduction to backtracking </a:t>
            </a:r>
            <a:r>
              <a:rPr kumimoji="0" lang="en-US" sz="34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 </a:t>
            </a:r>
            <a:endParaRPr lang="en-IN" dirty="0">
              <a:solidFill>
                <a:schemeClr val="bg1"/>
              </a:solidFill>
              <a:latin typeface="Corbel" panose="020B0503020204020204" pitchFamily="34" charset="0"/>
            </a:endParaRPr>
          </a:p>
        </p:txBody>
      </p:sp>
      <p:sp>
        <p:nvSpPr>
          <p:cNvPr id="14" name="TextBox 13">
            <a:extLst>
              <a:ext uri="{FF2B5EF4-FFF2-40B4-BE49-F238E27FC236}">
                <a16:creationId xmlns:a16="http://schemas.microsoft.com/office/drawing/2014/main" id="{5F482744-73A0-D896-E90D-5E5DCCE8A8D0}"/>
              </a:ext>
            </a:extLst>
          </p:cNvPr>
          <p:cNvSpPr txBox="1"/>
          <p:nvPr/>
        </p:nvSpPr>
        <p:spPr>
          <a:xfrm>
            <a:off x="277163" y="931821"/>
            <a:ext cx="11654282" cy="5955476"/>
          </a:xfrm>
          <a:prstGeom prst="rect">
            <a:avLst/>
          </a:prstGeom>
          <a:noFill/>
        </p:spPr>
        <p:txBody>
          <a:bodyPr wrap="square">
            <a:spAutoFit/>
          </a:bodyPr>
          <a:lstStyle/>
          <a:p>
            <a:pPr algn="just">
              <a:lnSpc>
                <a:spcPct val="150000"/>
              </a:lnSpc>
            </a:pPr>
            <a:r>
              <a:rPr lang="en-US" sz="2400" dirty="0">
                <a:solidFill>
                  <a:srgbClr val="FF0000"/>
                </a:solidFill>
                <a:latin typeface="Trebuchet MS" panose="020B0603020202020204" pitchFamily="34" charset="0"/>
              </a:rPr>
              <a:t>Terminologies which is used b</a:t>
            </a:r>
            <a:r>
              <a:rPr lang="en-US" sz="2400" dirty="0" smtClean="0">
                <a:solidFill>
                  <a:srgbClr val="FF0000"/>
                </a:solidFill>
                <a:latin typeface="Trebuchet MS" panose="020B0603020202020204" pitchFamily="34" charset="0"/>
              </a:rPr>
              <a:t>acktracking:</a:t>
            </a:r>
          </a:p>
          <a:p>
            <a:pPr algn="just">
              <a:lnSpc>
                <a:spcPct val="150000"/>
              </a:lnSpc>
            </a:pPr>
            <a:r>
              <a:rPr lang="en-US" sz="2400" dirty="0" smtClean="0">
                <a:solidFill>
                  <a:srgbClr val="0070C0"/>
                </a:solidFill>
                <a:latin typeface="Trebuchet MS" panose="020B0603020202020204" pitchFamily="34" charset="0"/>
                <a:ea typeface="Calibri" panose="020F0502020204030204" pitchFamily="34" charset="0"/>
                <a:cs typeface="Times New Roman" panose="02020603050405020304" pitchFamily="18" charset="0"/>
              </a:rPr>
              <a:t>1.Solution </a:t>
            </a:r>
            <a:r>
              <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rPr>
              <a:t>Space: </a:t>
            </a:r>
            <a:r>
              <a:rPr lang="en-US" sz="2400" dirty="0">
                <a:latin typeface="Trebuchet MS" panose="020B0603020202020204" pitchFamily="34" charset="0"/>
                <a:ea typeface="Calibri" panose="020F0502020204030204" pitchFamily="34" charset="0"/>
                <a:cs typeface="Times New Roman" panose="02020603050405020304" pitchFamily="18" charset="0"/>
              </a:rPr>
              <a:t>All tuples that satisfy the explicit constraints define a possible solution space for a particular instance T of the problem.</a:t>
            </a:r>
          </a:p>
          <a:p>
            <a:pPr algn="just">
              <a:lnSpc>
                <a:spcPct val="150000"/>
              </a:lnSpc>
            </a:pPr>
            <a:r>
              <a:rPr lang="en-US" sz="2400" dirty="0" smtClean="0">
                <a:solidFill>
                  <a:srgbClr val="0070C0"/>
                </a:solidFill>
                <a:latin typeface="Trebuchet MS" panose="020B0603020202020204" pitchFamily="34" charset="0"/>
                <a:ea typeface="Calibri" panose="020F0502020204030204" pitchFamily="34" charset="0"/>
                <a:cs typeface="Times New Roman" panose="02020603050405020304" pitchFamily="18" charset="0"/>
              </a:rPr>
              <a:t>2.Problem </a:t>
            </a:r>
            <a:r>
              <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rPr>
              <a:t>State: </a:t>
            </a:r>
            <a:r>
              <a:rPr lang="en-US" sz="2400" dirty="0">
                <a:latin typeface="Trebuchet MS" panose="020B0603020202020204" pitchFamily="34" charset="0"/>
                <a:ea typeface="Calibri" panose="020F0502020204030204" pitchFamily="34" charset="0"/>
                <a:cs typeface="Times New Roman" panose="02020603050405020304" pitchFamily="18" charset="0"/>
              </a:rPr>
              <a:t>A problem state is the state that is defined by all the nodes within the tree organization</a:t>
            </a:r>
            <a:r>
              <a:rPr lang="en-US" sz="2400" dirty="0" smtClean="0">
                <a:latin typeface="Trebuchet MS" panose="020B0603020202020204" pitchFamily="34" charset="0"/>
                <a:ea typeface="Calibri" panose="020F0502020204030204" pitchFamily="34" charset="0"/>
                <a:cs typeface="Times New Roman" panose="02020603050405020304" pitchFamily="18" charset="0"/>
              </a:rPr>
              <a:t>.</a:t>
            </a:r>
          </a:p>
          <a:p>
            <a:pPr algn="just">
              <a:lnSpc>
                <a:spcPct val="150000"/>
              </a:lnSpc>
            </a:pPr>
            <a:r>
              <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rPr>
              <a:t>3.Solution States: </a:t>
            </a:r>
            <a:r>
              <a:rPr lang="en-US" sz="2400" dirty="0">
                <a:latin typeface="Trebuchet MS" panose="020B0603020202020204" pitchFamily="34" charset="0"/>
                <a:ea typeface="Calibri" panose="020F0502020204030204" pitchFamily="34" charset="0"/>
                <a:cs typeface="Times New Roman" panose="02020603050405020304" pitchFamily="18" charset="0"/>
              </a:rPr>
              <a:t>These are the problem states S for which the path form the root to S defines a tuple in the solution space. Here, square nodes ( ) indicate solution. For the above solution space, there exists 3 solution states. These solution states represented in the form of tuples i.e., (</a:t>
            </a:r>
            <a:r>
              <a:rPr lang="en-US" sz="2400" dirty="0" err="1">
                <a:latin typeface="Trebuchet MS" panose="020B0603020202020204" pitchFamily="34" charset="0"/>
                <a:ea typeface="Calibri" panose="020F0502020204030204" pitchFamily="34" charset="0"/>
                <a:cs typeface="Times New Roman" panose="02020603050405020304" pitchFamily="18" charset="0"/>
              </a:rPr>
              <a:t>ghk</a:t>
            </a:r>
            <a:r>
              <a:rPr lang="en-US" sz="2400" dirty="0">
                <a:latin typeface="Trebuchet MS" panose="020B0603020202020204" pitchFamily="34" charset="0"/>
                <a:ea typeface="Calibri" panose="020F0502020204030204" pitchFamily="34" charset="0"/>
                <a:cs typeface="Times New Roman" panose="02020603050405020304" pitchFamily="18" charset="0"/>
              </a:rPr>
              <a:t>-,B,D),(A,C,F) and (A,C,G) are the solution states</a:t>
            </a:r>
            <a:r>
              <a:rPr lang="en-US" sz="2400" dirty="0" smtClean="0">
                <a:latin typeface="Trebuchet MS" panose="020B0603020202020204" pitchFamily="34" charset="0"/>
                <a:ea typeface="Calibri" panose="020F0502020204030204" pitchFamily="34" charset="0"/>
                <a:cs typeface="Times New Roman" panose="02020603050405020304" pitchFamily="18" charset="0"/>
              </a:rPr>
              <a:t>.</a:t>
            </a:r>
            <a:endPar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endParaRPr>
          </a:p>
          <a:p>
            <a:pPr algn="just">
              <a:spcBef>
                <a:spcPts val="600"/>
              </a:spcBef>
              <a:spcAft>
                <a:spcPts val="600"/>
              </a:spcAft>
            </a:pPr>
            <a:endParaRPr lang="en-IN" sz="1600" dirty="0">
              <a:effectLst/>
              <a:latin typeface="Trebuchet MS" panose="020B0603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541176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0623B2C0-D3CD-2EE8-0510-621A662D563A}"/>
              </a:ext>
            </a:extLst>
          </p:cNvPr>
          <p:cNvSpPr txBox="1"/>
          <p:nvPr/>
        </p:nvSpPr>
        <p:spPr>
          <a:xfrm>
            <a:off x="277163" y="198118"/>
            <a:ext cx="6194322"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Introduction to backtracking </a:t>
            </a:r>
            <a:r>
              <a:rPr kumimoji="0" lang="en-US" sz="34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 </a:t>
            </a:r>
            <a:endParaRPr lang="en-IN" dirty="0">
              <a:solidFill>
                <a:schemeClr val="bg1"/>
              </a:solidFill>
              <a:latin typeface="Corbel" panose="020B0503020204020204" pitchFamily="34" charset="0"/>
            </a:endParaRPr>
          </a:p>
        </p:txBody>
      </p:sp>
      <p:pic>
        <p:nvPicPr>
          <p:cNvPr id="3" name="Picture 2"/>
          <p:cNvPicPr>
            <a:picLocks noChangeAspect="1"/>
          </p:cNvPicPr>
          <p:nvPr/>
        </p:nvPicPr>
        <p:blipFill rotWithShape="1">
          <a:blip r:embed="rId6"/>
          <a:srcRect r="6323"/>
          <a:stretch/>
        </p:blipFill>
        <p:spPr>
          <a:xfrm>
            <a:off x="277163" y="1029867"/>
            <a:ext cx="3542669" cy="2507185"/>
          </a:xfrm>
          <a:prstGeom prst="rect">
            <a:avLst/>
          </a:prstGeom>
        </p:spPr>
      </p:pic>
      <p:pic>
        <p:nvPicPr>
          <p:cNvPr id="4" name="Picture 3"/>
          <p:cNvPicPr>
            <a:picLocks noChangeAspect="1"/>
          </p:cNvPicPr>
          <p:nvPr/>
        </p:nvPicPr>
        <p:blipFill>
          <a:blip r:embed="rId7"/>
          <a:stretch>
            <a:fillRect/>
          </a:stretch>
        </p:blipFill>
        <p:spPr>
          <a:xfrm>
            <a:off x="3819832" y="1079997"/>
            <a:ext cx="2816942" cy="2507185"/>
          </a:xfrm>
          <a:prstGeom prst="rect">
            <a:avLst/>
          </a:prstGeom>
        </p:spPr>
      </p:pic>
      <p:pic>
        <p:nvPicPr>
          <p:cNvPr id="5" name="Picture 4"/>
          <p:cNvPicPr>
            <a:picLocks noChangeAspect="1"/>
          </p:cNvPicPr>
          <p:nvPr/>
        </p:nvPicPr>
        <p:blipFill>
          <a:blip r:embed="rId8"/>
          <a:stretch>
            <a:fillRect/>
          </a:stretch>
        </p:blipFill>
        <p:spPr>
          <a:xfrm>
            <a:off x="6636774" y="1079707"/>
            <a:ext cx="4321839" cy="2670279"/>
          </a:xfrm>
          <a:prstGeom prst="rect">
            <a:avLst/>
          </a:prstGeom>
        </p:spPr>
      </p:pic>
      <p:pic>
        <p:nvPicPr>
          <p:cNvPr id="13" name="Picture 12"/>
          <p:cNvPicPr>
            <a:picLocks noChangeAspect="1"/>
          </p:cNvPicPr>
          <p:nvPr/>
        </p:nvPicPr>
        <p:blipFill rotWithShape="1">
          <a:blip r:embed="rId9"/>
          <a:srcRect t="12037"/>
          <a:stretch/>
        </p:blipFill>
        <p:spPr>
          <a:xfrm>
            <a:off x="3917647" y="4247534"/>
            <a:ext cx="2172003" cy="2002835"/>
          </a:xfrm>
          <a:prstGeom prst="rect">
            <a:avLst/>
          </a:prstGeom>
        </p:spPr>
      </p:pic>
      <p:pic>
        <p:nvPicPr>
          <p:cNvPr id="15" name="Picture 14"/>
          <p:cNvPicPr>
            <a:picLocks noChangeAspect="1"/>
          </p:cNvPicPr>
          <p:nvPr/>
        </p:nvPicPr>
        <p:blipFill rotWithShape="1">
          <a:blip r:embed="rId10"/>
          <a:srcRect l="8759"/>
          <a:stretch/>
        </p:blipFill>
        <p:spPr>
          <a:xfrm>
            <a:off x="322580" y="3973472"/>
            <a:ext cx="3407233" cy="2244952"/>
          </a:xfrm>
          <a:prstGeom prst="rect">
            <a:avLst/>
          </a:prstGeom>
        </p:spPr>
      </p:pic>
    </p:spTree>
    <p:extLst>
      <p:ext uri="{BB962C8B-B14F-4D97-AF65-F5344CB8AC3E}">
        <p14:creationId xmlns:p14="http://schemas.microsoft.com/office/powerpoint/2010/main" val="30817253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0623B2C0-D3CD-2EE8-0510-621A662D563A}"/>
              </a:ext>
            </a:extLst>
          </p:cNvPr>
          <p:cNvSpPr txBox="1"/>
          <p:nvPr/>
        </p:nvSpPr>
        <p:spPr>
          <a:xfrm>
            <a:off x="277163" y="198118"/>
            <a:ext cx="6194322"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Introduction to backtracking </a:t>
            </a:r>
            <a:r>
              <a:rPr kumimoji="0" lang="en-US" sz="34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 </a:t>
            </a:r>
            <a:endParaRPr lang="en-IN" dirty="0">
              <a:solidFill>
                <a:schemeClr val="bg1"/>
              </a:solidFill>
              <a:latin typeface="Corbel" panose="020B0503020204020204" pitchFamily="34" charset="0"/>
            </a:endParaRPr>
          </a:p>
        </p:txBody>
      </p:sp>
      <p:sp>
        <p:nvSpPr>
          <p:cNvPr id="14" name="TextBox 13">
            <a:extLst>
              <a:ext uri="{FF2B5EF4-FFF2-40B4-BE49-F238E27FC236}">
                <a16:creationId xmlns:a16="http://schemas.microsoft.com/office/drawing/2014/main" id="{5F482744-73A0-D896-E90D-5E5DCCE8A8D0}"/>
              </a:ext>
            </a:extLst>
          </p:cNvPr>
          <p:cNvSpPr txBox="1"/>
          <p:nvPr/>
        </p:nvSpPr>
        <p:spPr>
          <a:xfrm>
            <a:off x="277163" y="931821"/>
            <a:ext cx="11246211" cy="5632311"/>
          </a:xfrm>
          <a:prstGeom prst="rect">
            <a:avLst/>
          </a:prstGeom>
          <a:noFill/>
        </p:spPr>
        <p:txBody>
          <a:bodyPr wrap="square">
            <a:spAutoFit/>
          </a:bodyPr>
          <a:lstStyle/>
          <a:p>
            <a:pPr algn="just">
              <a:lnSpc>
                <a:spcPct val="150000"/>
              </a:lnSpc>
            </a:pPr>
            <a:r>
              <a:rPr lang="en-US" sz="2400" dirty="0" smtClean="0">
                <a:solidFill>
                  <a:srgbClr val="0070C0"/>
                </a:solidFill>
                <a:latin typeface="Trebuchet MS" panose="020B0603020202020204" pitchFamily="34" charset="0"/>
                <a:ea typeface="Calibri" panose="020F0502020204030204" pitchFamily="34" charset="0"/>
                <a:cs typeface="Times New Roman" panose="02020603050405020304" pitchFamily="18" charset="0"/>
              </a:rPr>
              <a:t>4.State </a:t>
            </a:r>
            <a:r>
              <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rPr>
              <a:t>Space Tree: </a:t>
            </a:r>
            <a:r>
              <a:rPr lang="en-US" sz="2400" dirty="0">
                <a:latin typeface="Trebuchet MS" panose="020B0603020202020204" pitchFamily="34" charset="0"/>
                <a:ea typeface="Calibri" panose="020F0502020204030204" pitchFamily="34" charset="0"/>
                <a:cs typeface="Times New Roman" panose="02020603050405020304" pitchFamily="18" charset="0"/>
              </a:rPr>
              <a:t>Is the set of paths from root node to other nodes. State space tree is the tree organization of the solution of the solution space.</a:t>
            </a:r>
          </a:p>
          <a:p>
            <a:pPr algn="just">
              <a:lnSpc>
                <a:spcPct val="150000"/>
              </a:lnSpc>
            </a:pPr>
            <a:r>
              <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rPr>
              <a:t>Example: </a:t>
            </a:r>
            <a:r>
              <a:rPr lang="en-US" sz="2400" dirty="0">
                <a:latin typeface="Trebuchet MS" panose="020B0603020202020204" pitchFamily="34" charset="0"/>
                <a:ea typeface="Calibri" panose="020F0502020204030204" pitchFamily="34" charset="0"/>
                <a:cs typeface="Times New Roman" panose="02020603050405020304" pitchFamily="18" charset="0"/>
              </a:rPr>
              <a:t>State space tree of a 4-queen problem</a:t>
            </a:r>
            <a:r>
              <a:rPr lang="en-US" sz="2400" dirty="0" smtClean="0">
                <a:latin typeface="Trebuchet MS" panose="020B0603020202020204" pitchFamily="34" charset="0"/>
                <a:ea typeface="Calibri" panose="020F0502020204030204" pitchFamily="34" charset="0"/>
                <a:cs typeface="Times New Roman" panose="02020603050405020304" pitchFamily="18" charset="0"/>
              </a:rPr>
              <a:t>.</a:t>
            </a:r>
          </a:p>
          <a:p>
            <a:pPr lvl="0" algn="just">
              <a:lnSpc>
                <a:spcPct val="150000"/>
              </a:lnSpc>
            </a:pPr>
            <a:r>
              <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rPr>
              <a:t>5.Live </a:t>
            </a:r>
            <a:r>
              <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rPr>
              <a:t>Node: </a:t>
            </a:r>
            <a:r>
              <a:rPr lang="en-US" sz="2400" dirty="0">
                <a:latin typeface="Trebuchet MS" panose="020B0603020202020204" pitchFamily="34" charset="0"/>
                <a:ea typeface="Calibri" panose="020F0502020204030204" pitchFamily="34" charset="0"/>
                <a:cs typeface="Times New Roman" panose="02020603050405020304" pitchFamily="18" charset="0"/>
              </a:rPr>
              <a:t>A node which has been generated but whose children have not yet been generated is live node.</a:t>
            </a:r>
            <a:endParaRPr lang="en-IN" sz="2400" dirty="0">
              <a:latin typeface="Trebuchet MS" panose="020B0603020202020204" pitchFamily="34" charset="0"/>
              <a:ea typeface="Calibri" panose="020F0502020204030204" pitchFamily="34" charset="0"/>
              <a:cs typeface="Times New Roman" panose="02020603050405020304" pitchFamily="18" charset="0"/>
            </a:endParaRPr>
          </a:p>
          <a:p>
            <a:pPr algn="just">
              <a:lnSpc>
                <a:spcPct val="150000"/>
              </a:lnSpc>
            </a:pPr>
            <a:r>
              <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rPr>
              <a:t>6.E-Node</a:t>
            </a:r>
            <a:r>
              <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rPr>
              <a:t>: </a:t>
            </a:r>
            <a:r>
              <a:rPr lang="en-US" sz="2400" dirty="0">
                <a:latin typeface="Trebuchet MS" panose="020B0603020202020204" pitchFamily="34" charset="0"/>
                <a:ea typeface="Calibri" panose="020F0502020204030204" pitchFamily="34" charset="0"/>
                <a:cs typeface="Times New Roman" panose="02020603050405020304" pitchFamily="18" charset="0"/>
              </a:rPr>
              <a:t>The live nodes whose children are currently being generated is called the E-node (node being expanded</a:t>
            </a:r>
            <a:r>
              <a:rPr lang="en-US" sz="2400" dirty="0">
                <a:latin typeface="Trebuchet MS" panose="020B0603020202020204" pitchFamily="34" charset="0"/>
                <a:ea typeface="Calibri" panose="020F0502020204030204" pitchFamily="34" charset="0"/>
                <a:cs typeface="Times New Roman" panose="02020603050405020304" pitchFamily="18" charset="0"/>
              </a:rPr>
              <a:t>).</a:t>
            </a:r>
          </a:p>
          <a:p>
            <a:pPr lvl="0" algn="just">
              <a:lnSpc>
                <a:spcPct val="150000"/>
              </a:lnSpc>
            </a:pPr>
            <a:r>
              <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rPr>
              <a:t>7.Dead </a:t>
            </a:r>
            <a:r>
              <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rPr>
              <a:t>Node: </a:t>
            </a:r>
            <a:r>
              <a:rPr lang="en-US" sz="2400" dirty="0">
                <a:latin typeface="Trebuchet MS" panose="020B0603020202020204" pitchFamily="34" charset="0"/>
                <a:ea typeface="Calibri" panose="020F0502020204030204" pitchFamily="34" charset="0"/>
                <a:cs typeface="Times New Roman" panose="02020603050405020304" pitchFamily="18" charset="0"/>
              </a:rPr>
              <a:t>It is generated node, that is either not to be expanded further or one for which all of its children has been generated.</a:t>
            </a:r>
            <a:endParaRPr lang="en-IN" sz="2400" dirty="0">
              <a:latin typeface="Trebuchet MS" panose="020B0603020202020204" pitchFamily="34" charset="0"/>
              <a:ea typeface="Calibri" panose="020F0502020204030204" pitchFamily="34" charset="0"/>
              <a:cs typeface="Times New Roman" panose="02020603050405020304" pitchFamily="18" charset="0"/>
            </a:endParaRPr>
          </a:p>
          <a:p>
            <a:pPr algn="just">
              <a:lnSpc>
                <a:spcPct val="150000"/>
              </a:lnSpc>
            </a:pPr>
            <a:endParaRPr lang="en-US" sz="2400" dirty="0">
              <a:latin typeface="Trebuchet MS" panose="020B0603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41420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0623B2C0-D3CD-2EE8-0510-621A662D563A}"/>
              </a:ext>
            </a:extLst>
          </p:cNvPr>
          <p:cNvSpPr txBox="1"/>
          <p:nvPr/>
        </p:nvSpPr>
        <p:spPr>
          <a:xfrm>
            <a:off x="277163" y="198118"/>
            <a:ext cx="6194322"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Introduction to backtracking </a:t>
            </a:r>
            <a:r>
              <a:rPr kumimoji="0" lang="en-US" sz="34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 </a:t>
            </a:r>
            <a:endParaRPr lang="en-IN" dirty="0">
              <a:solidFill>
                <a:schemeClr val="bg1"/>
              </a:solidFill>
              <a:latin typeface="Corbel" panose="020B0503020204020204" pitchFamily="34" charset="0"/>
            </a:endParaRPr>
          </a:p>
        </p:txBody>
      </p:sp>
      <p:pic>
        <p:nvPicPr>
          <p:cNvPr id="3" name="Picture 2"/>
          <p:cNvPicPr>
            <a:picLocks noChangeAspect="1"/>
          </p:cNvPicPr>
          <p:nvPr/>
        </p:nvPicPr>
        <p:blipFill>
          <a:blip r:embed="rId6"/>
          <a:stretch>
            <a:fillRect/>
          </a:stretch>
        </p:blipFill>
        <p:spPr>
          <a:xfrm>
            <a:off x="542909" y="1290879"/>
            <a:ext cx="7322416" cy="4726463"/>
          </a:xfrm>
          <a:prstGeom prst="rect">
            <a:avLst/>
          </a:prstGeom>
        </p:spPr>
      </p:pic>
    </p:spTree>
    <p:extLst>
      <p:ext uri="{BB962C8B-B14F-4D97-AF65-F5344CB8AC3E}">
        <p14:creationId xmlns:p14="http://schemas.microsoft.com/office/powerpoint/2010/main" val="501935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8C045E4A-4B02-ACC3-56C1-8D954F99A122}"/>
              </a:ext>
            </a:extLst>
          </p:cNvPr>
          <p:cNvSpPr txBox="1"/>
          <p:nvPr/>
        </p:nvSpPr>
        <p:spPr>
          <a:xfrm>
            <a:off x="235974" y="1000120"/>
            <a:ext cx="11754466" cy="5738238"/>
          </a:xfrm>
          <a:prstGeom prst="rect">
            <a:avLst/>
          </a:prstGeom>
          <a:noFill/>
        </p:spPr>
        <p:txBody>
          <a:bodyPr wrap="square">
            <a:spAutoFit/>
          </a:bodyPr>
          <a:lstStyle/>
          <a:p>
            <a:pPr marL="342900" marR="0" lvl="0" indent="-342900" algn="just" defTabSz="914400" rtl="0" eaLnBrk="1" fontAlgn="auto" latinLnBrk="0" hangingPunct="1">
              <a:lnSpc>
                <a:spcPts val="3700"/>
              </a:lnSpc>
              <a:buSzPct val="100000"/>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The 𝑁 - queen is the problem of </a:t>
            </a:r>
            <a:r>
              <a:rPr kumimoji="0" lang="en-US" sz="2400" b="0" i="0" u="none" strike="noStrike" kern="1200" cap="none" spc="0" normalizeH="0" baseline="0" noProof="0" dirty="0">
                <a:ln>
                  <a:noFill/>
                </a:ln>
                <a:solidFill>
                  <a:srgbClr val="FF0000"/>
                </a:solidFill>
                <a:effectLst/>
                <a:uLnTx/>
                <a:uFillTx/>
                <a:latin typeface="Trebuchet MS" panose="020B0603020202020204" pitchFamily="34" charset="0"/>
              </a:rPr>
              <a:t>placing N chess queens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on an 𝑁×𝑁 chessboard so that, no two queens attack each other.</a:t>
            </a:r>
            <a:r>
              <a:rPr lang="en-IN" sz="2400" dirty="0">
                <a:solidFill>
                  <a:srgbClr val="212121"/>
                </a:solidFill>
                <a:latin typeface="Trebuchet MS" panose="020B0603020202020204" pitchFamily="34" charset="0"/>
              </a:rPr>
              <a:t>Here, we solve the problem for</a:t>
            </a:r>
            <a:r>
              <a:rPr lang="en-IN" sz="2400" dirty="0">
                <a:solidFill>
                  <a:srgbClr val="D60093"/>
                </a:solidFill>
                <a:latin typeface="Trebuchet MS" panose="020B0603020202020204" pitchFamily="34" charset="0"/>
              </a:rPr>
              <a:t> </a:t>
            </a:r>
            <a:r>
              <a:rPr lang="en-IN" sz="2400" dirty="0">
                <a:solidFill>
                  <a:srgbClr val="FF0000"/>
                </a:solidFill>
                <a:latin typeface="Trebuchet MS" panose="020B0603020202020204" pitchFamily="34" charset="0"/>
              </a:rPr>
              <a:t>N = 4 Queens.</a:t>
            </a:r>
          </a:p>
          <a:p>
            <a:pPr marL="342900" lvl="0" indent="-342900">
              <a:lnSpc>
                <a:spcPts val="3700"/>
              </a:lnSpc>
              <a:buSzPct val="100000"/>
              <a:buFont typeface="Arial" panose="020B0604020202020204" pitchFamily="34" charset="0"/>
              <a:buChar char="•"/>
              <a:tabLst>
                <a:tab pos="457200" algn="l"/>
              </a:tabLst>
            </a:pPr>
            <a:r>
              <a:rPr lang="en-IN" sz="2400" dirty="0">
                <a:solidFill>
                  <a:srgbClr val="212121"/>
                </a:solidFill>
                <a:latin typeface="Trebuchet MS" panose="020B0603020202020204" pitchFamily="34" charset="0"/>
              </a:rPr>
              <a:t>Before solving the problem, let's know about the movement of the queen in chess.</a:t>
            </a:r>
          </a:p>
          <a:p>
            <a:pPr marL="342900" indent="-342900">
              <a:lnSpc>
                <a:spcPts val="3700"/>
              </a:lnSpc>
              <a:buSzPct val="100000"/>
              <a:buFont typeface="Arial" panose="020B0604020202020204" pitchFamily="34" charset="0"/>
              <a:buChar char="•"/>
              <a:tabLst>
                <a:tab pos="457200" algn="l"/>
              </a:tabLst>
            </a:pPr>
            <a:r>
              <a:rPr lang="en-IN" sz="2400" dirty="0">
                <a:solidFill>
                  <a:srgbClr val="212121"/>
                </a:solidFill>
                <a:latin typeface="Trebuchet MS" panose="020B0603020202020204" pitchFamily="34" charset="0"/>
              </a:rPr>
              <a:t>In the chess game, a queen can move any number of steps in any direction like vertical, horizontal, and diagonal.</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 </a:t>
            </a:r>
          </a:p>
          <a:p>
            <a:pPr marL="342900" indent="-342900">
              <a:lnSpc>
                <a:spcPts val="3700"/>
              </a:lnSpc>
              <a:buSzPct val="100000"/>
              <a:buFont typeface="Arial" panose="020B0604020202020204" pitchFamily="34" charset="0"/>
              <a:buChar char="•"/>
              <a:tabLst>
                <a:tab pos="457200" algn="l"/>
              </a:tabLst>
            </a:pPr>
            <a:r>
              <a:rPr lang="en-IN" sz="2400" dirty="0">
                <a:solidFill>
                  <a:srgbClr val="212121"/>
                </a:solidFill>
                <a:latin typeface="Trebuchet MS" panose="020B0603020202020204" pitchFamily="34" charset="0"/>
              </a:rPr>
              <a:t>The constraint is that t</a:t>
            </a:r>
            <a:r>
              <a:rPr lang="en-US" sz="2400" dirty="0">
                <a:solidFill>
                  <a:srgbClr val="212121"/>
                </a:solidFill>
                <a:latin typeface="Trebuchet MS" panose="020B0603020202020204" pitchFamily="34" charset="0"/>
              </a:rPr>
              <a:t>wo queens of </a:t>
            </a:r>
            <a:r>
              <a:rPr lang="en-US" sz="2400" dirty="0">
                <a:solidFill>
                  <a:srgbClr val="FF0000"/>
                </a:solidFill>
                <a:latin typeface="Trebuchet MS" panose="020B0603020202020204" pitchFamily="34" charset="0"/>
              </a:rPr>
              <a:t>same row, same column or the same diagonal can attack </a:t>
            </a:r>
            <a:r>
              <a:rPr lang="en-US" sz="2400" dirty="0">
                <a:solidFill>
                  <a:srgbClr val="212121"/>
                </a:solidFill>
                <a:latin typeface="Trebuchet MS" panose="020B0603020202020204" pitchFamily="34" charset="0"/>
              </a:rPr>
              <a:t>each other.</a:t>
            </a:r>
          </a:p>
          <a:p>
            <a:pPr marL="342900" lvl="0" indent="-342900">
              <a:lnSpc>
                <a:spcPts val="3700"/>
              </a:lnSpc>
              <a:buSzPct val="100000"/>
              <a:buFont typeface="Arial" panose="020B0604020202020204" pitchFamily="34" charset="0"/>
              <a:buChar char="•"/>
              <a:tabLst>
                <a:tab pos="457200" algn="l"/>
              </a:tabLst>
            </a:pPr>
            <a:r>
              <a:rPr lang="en-IN" sz="2400" dirty="0">
                <a:solidFill>
                  <a:srgbClr val="212121"/>
                </a:solidFill>
                <a:latin typeface="Trebuchet MS" panose="020B0603020202020204" pitchFamily="34" charset="0"/>
              </a:rPr>
              <a:t>In the 4 - Queens problem we have to place 4 queens such as Q1, Q2, Q3, and Q4 on the chessboard, in such a way that no two queens attack each other.</a:t>
            </a:r>
          </a:p>
          <a:p>
            <a:pPr marL="342900" lvl="0" indent="-342900">
              <a:lnSpc>
                <a:spcPts val="3700"/>
              </a:lnSpc>
              <a:buSzPct val="100000"/>
              <a:buFont typeface="Arial" panose="020B0604020202020204" pitchFamily="34" charset="0"/>
              <a:buChar char="•"/>
              <a:tabLst>
                <a:tab pos="457200" algn="l"/>
              </a:tabLst>
            </a:pPr>
            <a:r>
              <a:rPr lang="en-IN" sz="2400" dirty="0">
                <a:solidFill>
                  <a:srgbClr val="212121"/>
                </a:solidFill>
                <a:latin typeface="Trebuchet MS" panose="020B0603020202020204" pitchFamily="34" charset="0"/>
              </a:rPr>
              <a:t>To solve this problem generally Backtracking algorithm or approach is used.</a:t>
            </a:r>
            <a:endPar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ndParaRPr>
          </a:p>
        </p:txBody>
      </p:sp>
      <p:sp>
        <p:nvSpPr>
          <p:cNvPr id="7" name="TextBox 6">
            <a:extLst>
              <a:ext uri="{FF2B5EF4-FFF2-40B4-BE49-F238E27FC236}">
                <a16:creationId xmlns:a16="http://schemas.microsoft.com/office/drawing/2014/main" id="{8CC5427E-AA6E-FB0F-A88A-1EBF8EB04632}"/>
              </a:ext>
            </a:extLst>
          </p:cNvPr>
          <p:cNvSpPr txBox="1"/>
          <p:nvPr/>
        </p:nvSpPr>
        <p:spPr>
          <a:xfrm>
            <a:off x="523292" y="202629"/>
            <a:ext cx="6194322" cy="615553"/>
          </a:xfrm>
          <a:prstGeom prst="rect">
            <a:avLst/>
          </a:prstGeom>
          <a:noFill/>
        </p:spPr>
        <p:txBody>
          <a:bodyPr wrap="square">
            <a:spAutoFit/>
          </a:bodyPr>
          <a:lstStyle/>
          <a:p>
            <a:r>
              <a:rPr kumimoji="0" lang="en-US" sz="34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N - Queen Problem</a:t>
            </a:r>
            <a:endParaRPr lang="en-IN" sz="3600"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33442612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8CC5427E-AA6E-FB0F-A88A-1EBF8EB04632}"/>
              </a:ext>
            </a:extLst>
          </p:cNvPr>
          <p:cNvSpPr txBox="1"/>
          <p:nvPr/>
        </p:nvSpPr>
        <p:spPr>
          <a:xfrm>
            <a:off x="523292" y="202629"/>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N - Queen Problem</a:t>
            </a:r>
            <a:endParaRPr lang="en-IN" sz="3200" dirty="0">
              <a:solidFill>
                <a:schemeClr val="bg1"/>
              </a:solidFill>
              <a:latin typeface="Trebuchet MS" panose="020B0603020202020204" pitchFamily="34" charset="0"/>
            </a:endParaRPr>
          </a:p>
        </p:txBody>
      </p:sp>
      <p:sp>
        <p:nvSpPr>
          <p:cNvPr id="18" name="TextBox 17">
            <a:extLst>
              <a:ext uri="{FF2B5EF4-FFF2-40B4-BE49-F238E27FC236}">
                <a16:creationId xmlns:a16="http://schemas.microsoft.com/office/drawing/2014/main" id="{ADA7CA50-A22A-8031-34A4-68FF8637AB84}"/>
              </a:ext>
            </a:extLst>
          </p:cNvPr>
          <p:cNvSpPr txBox="1"/>
          <p:nvPr/>
        </p:nvSpPr>
        <p:spPr>
          <a:xfrm>
            <a:off x="523292" y="1160492"/>
            <a:ext cx="11000082" cy="4524315"/>
          </a:xfrm>
          <a:prstGeom prst="rect">
            <a:avLst/>
          </a:prstGeom>
          <a:noFill/>
        </p:spPr>
        <p:txBody>
          <a:bodyPr wrap="square">
            <a:spAutoFit/>
          </a:bodyPr>
          <a:lstStyle/>
          <a:p>
            <a:pPr>
              <a:lnSpc>
                <a:spcPct val="150000"/>
              </a:lnSpc>
            </a:pPr>
            <a:r>
              <a:rPr lang="en-IN" sz="2400" b="1" dirty="0" smtClean="0">
                <a:solidFill>
                  <a:srgbClr val="0070C0"/>
                </a:solidFill>
                <a:latin typeface="Trebuchet MS" panose="020B0603020202020204" pitchFamily="34" charset="0"/>
              </a:rPr>
              <a:t>Backtracking for N </a:t>
            </a:r>
            <a:r>
              <a:rPr lang="en-IN" sz="2400" b="1" dirty="0">
                <a:solidFill>
                  <a:srgbClr val="0070C0"/>
                </a:solidFill>
                <a:latin typeface="Trebuchet MS" panose="020B0603020202020204" pitchFamily="34" charset="0"/>
              </a:rPr>
              <a:t>- Queen </a:t>
            </a:r>
            <a:r>
              <a:rPr lang="en-IN" sz="2400" b="1" dirty="0" smtClean="0">
                <a:solidFill>
                  <a:srgbClr val="0070C0"/>
                </a:solidFill>
                <a:latin typeface="Trebuchet MS" panose="020B0603020202020204" pitchFamily="34" charset="0"/>
              </a:rPr>
              <a:t>Problem</a:t>
            </a:r>
            <a:r>
              <a:rPr lang="en-IN" sz="2400" b="1" dirty="0" smtClean="0">
                <a:solidFill>
                  <a:srgbClr val="0070C0"/>
                </a:solidFill>
                <a:latin typeface="Trebuchet MS" panose="020B0603020202020204" pitchFamily="34" charset="0"/>
              </a:rPr>
              <a:t>  </a:t>
            </a:r>
          </a:p>
          <a:p>
            <a:pPr marL="342900" lvl="0" indent="-342900" algn="just">
              <a:lnSpc>
                <a:spcPct val="150000"/>
              </a:lnSpc>
              <a:buSzPct val="100000"/>
              <a:buFont typeface="Symbol" panose="05050102010706020507" pitchFamily="18" charset="2"/>
              <a:buChar char=""/>
              <a:tabLst>
                <a:tab pos="457200" algn="l"/>
              </a:tabLst>
            </a:pPr>
            <a:r>
              <a:rPr lang="en-IN" sz="2400" dirty="0" smtClean="0">
                <a:latin typeface="Trebuchet MS" panose="020B0603020202020204" pitchFamily="34" charset="0"/>
              </a:rPr>
              <a:t>In backtracking, start with one possible move out of many available moves, then try to solve the problem.</a:t>
            </a:r>
          </a:p>
          <a:p>
            <a:pPr marL="342900" lvl="0" indent="-342900" algn="just">
              <a:lnSpc>
                <a:spcPct val="150000"/>
              </a:lnSpc>
              <a:buSzPct val="100000"/>
              <a:buFont typeface="Symbol" panose="05050102010706020507" pitchFamily="18" charset="2"/>
              <a:buChar char=""/>
              <a:tabLst>
                <a:tab pos="457200" algn="l"/>
              </a:tabLst>
            </a:pPr>
            <a:r>
              <a:rPr lang="en-IN" sz="2400" dirty="0" smtClean="0">
                <a:latin typeface="Trebuchet MS" panose="020B0603020202020204" pitchFamily="34" charset="0"/>
              </a:rPr>
              <a:t>If </a:t>
            </a:r>
            <a:r>
              <a:rPr lang="en-IN" sz="2400" dirty="0">
                <a:latin typeface="Trebuchet MS" panose="020B0603020202020204" pitchFamily="34" charset="0"/>
              </a:rPr>
              <a:t>it can solve the problem with the selected move then it will print the solution, else it will backtrack and select some other move and try to solve it.</a:t>
            </a:r>
          </a:p>
          <a:p>
            <a:pPr marL="342900" lvl="0" indent="-342900" algn="just">
              <a:lnSpc>
                <a:spcPct val="150000"/>
              </a:lnSpc>
              <a:buSzPct val="100000"/>
              <a:buFont typeface="Symbol" panose="05050102010706020507" pitchFamily="18" charset="2"/>
              <a:buChar char=""/>
              <a:tabLst>
                <a:tab pos="457200" algn="l"/>
              </a:tabLst>
            </a:pPr>
            <a:r>
              <a:rPr lang="en-IN" sz="2400" dirty="0">
                <a:latin typeface="Trebuchet MS" panose="020B0603020202020204" pitchFamily="34" charset="0"/>
              </a:rPr>
              <a:t>If none of the moves works out the claim that there is no solution for the problem.</a:t>
            </a:r>
          </a:p>
        </p:txBody>
      </p:sp>
    </p:spTree>
    <p:extLst>
      <p:ext uri="{BB962C8B-B14F-4D97-AF65-F5344CB8AC3E}">
        <p14:creationId xmlns:p14="http://schemas.microsoft.com/office/powerpoint/2010/main" val="13380347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65472" y="324086"/>
            <a:ext cx="6414996"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Roboto Condensed"/>
                <a:ea typeface="+mj-ea"/>
                <a:cs typeface="+mj-cs"/>
              </a:rPr>
              <a:t>N - Queen Problem</a:t>
            </a:r>
            <a:endParaRPr lang="en-IN" sz="3200" dirty="0">
              <a:solidFill>
                <a:schemeClr val="bg1"/>
              </a:solidFill>
            </a:endParaRPr>
          </a:p>
        </p:txBody>
      </p:sp>
      <p:sp>
        <p:nvSpPr>
          <p:cNvPr id="4" name="TextBox 3">
            <a:extLst>
              <a:ext uri="{FF2B5EF4-FFF2-40B4-BE49-F238E27FC236}">
                <a16:creationId xmlns:a16="http://schemas.microsoft.com/office/drawing/2014/main" id="{1F8249B2-16C7-7EE9-EB3C-C95C7EEF45EF}"/>
              </a:ext>
            </a:extLst>
          </p:cNvPr>
          <p:cNvSpPr txBox="1"/>
          <p:nvPr/>
        </p:nvSpPr>
        <p:spPr>
          <a:xfrm>
            <a:off x="433122" y="1128789"/>
            <a:ext cx="11325689" cy="5072030"/>
          </a:xfrm>
          <a:prstGeom prst="rect">
            <a:avLst/>
          </a:prstGeom>
          <a:noFill/>
        </p:spPr>
        <p:txBody>
          <a:bodyPr wrap="square">
            <a:spAutoFit/>
          </a:bodyPr>
          <a:lstStyle/>
          <a:p>
            <a:pPr algn="just">
              <a:lnSpc>
                <a:spcPct val="150000"/>
              </a:lnSpc>
              <a:spcBef>
                <a:spcPts val="600"/>
              </a:spcBef>
              <a:spcAft>
                <a:spcPts val="600"/>
              </a:spcAft>
            </a:pPr>
            <a:r>
              <a:rPr lang="en-IN" sz="2400" b="1" dirty="0">
                <a:solidFill>
                  <a:srgbClr val="FF0000"/>
                </a:solidFill>
                <a:effectLst/>
                <a:latin typeface="Trebuchet MS" panose="020B0603020202020204" pitchFamily="34" charset="0"/>
                <a:ea typeface="Times New Roman" panose="02020603050405020304" pitchFamily="18" charset="0"/>
                <a:cs typeface="Times New Roman" panose="02020603050405020304" pitchFamily="18" charset="0"/>
              </a:rPr>
              <a:t>Algorithm for N-Queens Problem using Backtracking</a:t>
            </a:r>
            <a:endParaRPr lang="en-IN" sz="2400" dirty="0">
              <a:solidFill>
                <a:srgbClr val="FF0000"/>
              </a:solidFill>
              <a:effectLst/>
              <a:latin typeface="Trebuchet MS" panose="020B060302020202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1</a:t>
            </a:r>
            <a:r>
              <a:rPr lang="en-IN" sz="2400" b="1"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 Place the </a:t>
            </a:r>
            <a:r>
              <a:rPr lang="en-IN" sz="2400" dirty="0">
                <a:solidFill>
                  <a:srgbClr val="333333"/>
                </a:solidFill>
                <a:latin typeface="Trebuchet MS" panose="020B0603020202020204" pitchFamily="34" charset="0"/>
                <a:cs typeface="Times New Roman" panose="02020603050405020304" pitchFamily="18" charset="0"/>
              </a:rPr>
              <a:t>queen</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 row-wise, starting from the left-most cell.</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2 -</a:t>
            </a:r>
            <a:r>
              <a:rPr lang="en-IN" sz="24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If all queens are placed then return true and print the solution matrix.</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3</a:t>
            </a:r>
            <a:r>
              <a:rPr lang="en-IN" sz="2400" b="1"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 Else try all columns in the current row.</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p>
            <a:pPr marL="800100" lvl="1" indent="-342900" algn="just">
              <a:lnSpc>
                <a:spcPct val="150000"/>
              </a:lnSpc>
              <a:spcBef>
                <a:spcPts val="600"/>
              </a:spcBef>
              <a:spcAft>
                <a:spcPts val="600"/>
              </a:spcAft>
              <a:buSzPct val="100000"/>
              <a:buFont typeface="Arial" panose="020B0604020202020204" pitchFamily="34" charset="0"/>
              <a:buChar char="•"/>
              <a:tabLst>
                <a:tab pos="457200" algn="l"/>
              </a:tabLst>
            </a:pPr>
            <a:r>
              <a:rPr lang="en-IN" sz="2400" b="1" dirty="0">
                <a:solidFill>
                  <a:srgbClr val="FF0000"/>
                </a:solidFill>
                <a:effectLst/>
                <a:latin typeface="Trebuchet MS" panose="020B0603020202020204" pitchFamily="34" charset="0"/>
                <a:ea typeface="Times New Roman" panose="02020603050405020304" pitchFamily="18" charset="0"/>
                <a:cs typeface="Times New Roman" panose="02020603050405020304" pitchFamily="18" charset="0"/>
              </a:rPr>
              <a:t>Condition 1 -</a:t>
            </a:r>
            <a:r>
              <a:rPr lang="en-IN" sz="2400" dirty="0">
                <a:solidFill>
                  <a:srgbClr val="FF000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Check if the queen can be placed safely in this column then mark the current cell [Row, Column] in the solution matrix as 1 and try to check the rest of the problem recursively by placing the queen here leads to a solution or not.</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541530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Roboto Condensed"/>
                <a:ea typeface="+mj-ea"/>
                <a:cs typeface="+mj-cs"/>
              </a:rPr>
              <a:t>N - Queen Problem</a:t>
            </a:r>
            <a:endParaRPr lang="en-IN" sz="3200" dirty="0">
              <a:solidFill>
                <a:schemeClr val="bg1"/>
              </a:solidFill>
            </a:endParaRPr>
          </a:p>
        </p:txBody>
      </p:sp>
      <p:sp>
        <p:nvSpPr>
          <p:cNvPr id="4" name="TextBox 3">
            <a:extLst>
              <a:ext uri="{FF2B5EF4-FFF2-40B4-BE49-F238E27FC236}">
                <a16:creationId xmlns:a16="http://schemas.microsoft.com/office/drawing/2014/main" id="{785466A8-5EA1-DAF2-FF35-5E522DE8916E}"/>
              </a:ext>
            </a:extLst>
          </p:cNvPr>
          <p:cNvSpPr txBox="1"/>
          <p:nvPr/>
        </p:nvSpPr>
        <p:spPr>
          <a:xfrm>
            <a:off x="367274" y="1314380"/>
            <a:ext cx="11444560" cy="4278094"/>
          </a:xfrm>
          <a:prstGeom prst="rect">
            <a:avLst/>
          </a:prstGeom>
          <a:noFill/>
        </p:spPr>
        <p:txBody>
          <a:bodyPr wrap="square">
            <a:spAutoFit/>
          </a:bodyPr>
          <a:lstStyle/>
          <a:p>
            <a:pPr marL="800100" lvl="1" indent="-342900" algn="just">
              <a:lnSpc>
                <a:spcPct val="150000"/>
              </a:lnSpc>
              <a:spcBef>
                <a:spcPts val="600"/>
              </a:spcBef>
              <a:spcAft>
                <a:spcPts val="600"/>
              </a:spcAft>
              <a:buSzPct val="100000"/>
              <a:buFont typeface="Symbol" panose="05050102010706020507" pitchFamily="18" charset="2"/>
              <a:buChar char=""/>
              <a:tabLst>
                <a:tab pos="457200" algn="l"/>
              </a:tabLst>
            </a:pPr>
            <a:r>
              <a:rPr lang="en-IN" sz="2400" b="1" dirty="0">
                <a:solidFill>
                  <a:srgbClr val="FF0000"/>
                </a:solidFill>
                <a:effectLst/>
                <a:latin typeface="Trebuchet MS" panose="020B0603020202020204" pitchFamily="34" charset="0"/>
                <a:ea typeface="Times New Roman" panose="02020603050405020304" pitchFamily="18" charset="0"/>
                <a:cs typeface="Times New Roman" panose="02020603050405020304" pitchFamily="18" charset="0"/>
              </a:rPr>
              <a:t>Condition 2 -</a:t>
            </a:r>
            <a:r>
              <a:rPr lang="en-IN" sz="2400" dirty="0">
                <a:solidFill>
                  <a:srgbClr val="FF000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If placing the queen [Row, Column] can lead to the solution return true and print the solution for each queen's position.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800100" lvl="1" indent="-342900" algn="just">
              <a:lnSpc>
                <a:spcPct val="150000"/>
              </a:lnSpc>
              <a:spcBef>
                <a:spcPts val="600"/>
              </a:spcBef>
              <a:spcAft>
                <a:spcPts val="600"/>
              </a:spcAft>
              <a:buSzPct val="100000"/>
              <a:buFont typeface="Symbol" panose="05050102010706020507" pitchFamily="18" charset="2"/>
              <a:buChar char=""/>
              <a:tabLst>
                <a:tab pos="457200" algn="l"/>
              </a:tabLst>
            </a:pPr>
            <a:r>
              <a:rPr lang="en-IN" sz="2400" b="1" dirty="0">
                <a:solidFill>
                  <a:srgbClr val="FF0000"/>
                </a:solidFill>
                <a:effectLst/>
                <a:latin typeface="Trebuchet MS" panose="020B0603020202020204" pitchFamily="34" charset="0"/>
                <a:ea typeface="Times New Roman" panose="02020603050405020304" pitchFamily="18" charset="0"/>
                <a:cs typeface="Times New Roman" panose="02020603050405020304" pitchFamily="18" charset="0"/>
              </a:rPr>
              <a:t>Condition 3 -</a:t>
            </a:r>
            <a:r>
              <a:rPr lang="en-IN" sz="24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If placing the queen cannot lead to the solution then unmark this [row, column] in the solution matrix as 0, BACKTRACK, and go back to condition 1 to try other rows.</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4 -</a:t>
            </a:r>
            <a:r>
              <a:rPr lang="en-IN" sz="24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If all the rows have been tried and nothing worked, return false to trigger backtracking</a:t>
            </a:r>
            <a:endParaRPr lang="en-IN" sz="2400" dirty="0">
              <a:latin typeface="Trebuchet MS" panose="020B0603020202020204" pitchFamily="34" charset="0"/>
            </a:endParaRPr>
          </a:p>
        </p:txBody>
      </p:sp>
    </p:spTree>
    <p:extLst>
      <p:ext uri="{BB962C8B-B14F-4D97-AF65-F5344CB8AC3E}">
        <p14:creationId xmlns:p14="http://schemas.microsoft.com/office/powerpoint/2010/main" val="36603332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Roboto Condensed"/>
                <a:ea typeface="+mj-ea"/>
                <a:cs typeface="+mj-cs"/>
              </a:rPr>
              <a:t>N - Queen Problem</a:t>
            </a:r>
            <a:endParaRPr lang="en-IN" sz="3200" dirty="0">
              <a:solidFill>
                <a:schemeClr val="bg1"/>
              </a:solidFill>
            </a:endParaRPr>
          </a:p>
        </p:txBody>
      </p:sp>
      <p:sp>
        <p:nvSpPr>
          <p:cNvPr id="4" name="TextBox 3">
            <a:extLst>
              <a:ext uri="{FF2B5EF4-FFF2-40B4-BE49-F238E27FC236}">
                <a16:creationId xmlns:a16="http://schemas.microsoft.com/office/drawing/2014/main" id="{EB4C61BE-B2F7-E798-9A83-1AB7CBDF20BC}"/>
              </a:ext>
            </a:extLst>
          </p:cNvPr>
          <p:cNvSpPr txBox="1"/>
          <p:nvPr/>
        </p:nvSpPr>
        <p:spPr>
          <a:xfrm>
            <a:off x="284536" y="1011170"/>
            <a:ext cx="11527298" cy="5632311"/>
          </a:xfrm>
          <a:prstGeom prst="rect">
            <a:avLst/>
          </a:prstGeom>
          <a:noFill/>
        </p:spPr>
        <p:txBody>
          <a:bodyPr wrap="square">
            <a:spAutoFit/>
          </a:bodyPr>
          <a:lstStyle/>
          <a:p>
            <a:pPr lvl="0" algn="just">
              <a:lnSpc>
                <a:spcPct val="150000"/>
              </a:lnSpc>
              <a:buSzPct val="100000"/>
              <a:tabLst>
                <a:tab pos="457200" algn="l"/>
              </a:tabLst>
            </a:pPr>
            <a:r>
              <a:rPr lang="en-US" sz="2400" dirty="0">
                <a:solidFill>
                  <a:srgbClr val="0070C0"/>
                </a:solidFill>
                <a:latin typeface="Trebuchet MS" panose="020B0603020202020204" pitchFamily="34" charset="0"/>
                <a:ea typeface="Times New Roman" panose="02020603050405020304" pitchFamily="18" charset="0"/>
                <a:cs typeface="Times New Roman" panose="02020603050405020304" pitchFamily="18" charset="0"/>
              </a:rPr>
              <a:t>Working of an Algorithm to solve the 4-Queens Problem</a:t>
            </a:r>
          </a:p>
          <a:p>
            <a:pPr marL="342900" lvl="0" indent="-342900" algn="just">
              <a:lnSpc>
                <a:spcPct val="150000"/>
              </a:lnSpc>
              <a:buSzPct val="100000"/>
              <a:buFont typeface="Arial" panose="020B0604020202020204" pitchFamily="34" charset="0"/>
              <a:buChar char="•"/>
              <a:tabLst>
                <a:tab pos="457200" algn="l"/>
              </a:tabLst>
            </a:pPr>
            <a:r>
              <a:rPr lang="en-IN" sz="2400" dirty="0" smtClean="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To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solve the problem place a queen in a position and try to find out all the possibilities for any queen being under attack or not.</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Based on the findings place only one queen in each row/column.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If we found that the queen is under attack at its chosen position, then try for the next position.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If a queen is under attack at all the positions in a row, we backtrack and change the position of the queen placed prior to the current position.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Repeat this process of placing a queen and backtracking until all the N queens are placed successfully.</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214701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EB18479F-2FBF-2D5F-9BB2-AE35B12F78A8}"/>
              </a:ext>
            </a:extLst>
          </p:cNvPr>
          <p:cNvSpPr txBox="1"/>
          <p:nvPr/>
        </p:nvSpPr>
        <p:spPr>
          <a:xfrm>
            <a:off x="380166" y="198118"/>
            <a:ext cx="6194322" cy="615553"/>
          </a:xfrm>
          <a:prstGeom prst="rect">
            <a:avLst/>
          </a:prstGeom>
          <a:noFill/>
        </p:spPr>
        <p:txBody>
          <a:bodyPr wrap="square">
            <a:spAutoFit/>
          </a:bodyPr>
          <a:lstStyle/>
          <a:p>
            <a:r>
              <a:rPr kumimoji="0" lang="en-US" sz="3400" b="1" i="0" u="none" strike="noStrike" kern="1200" cap="none" spc="0" normalizeH="0" baseline="0" noProof="0" dirty="0">
                <a:ln>
                  <a:noFill/>
                </a:ln>
                <a:solidFill>
                  <a:schemeClr val="bg1"/>
                </a:solidFill>
                <a:effectLst/>
                <a:uLnTx/>
                <a:uFillTx/>
                <a:latin typeface="Roboto Condensed"/>
                <a:ea typeface="+mj-ea"/>
                <a:cs typeface="+mj-cs"/>
              </a:rPr>
              <a:t>N - Queen Problem</a:t>
            </a:r>
            <a:endParaRPr lang="en-IN" dirty="0">
              <a:solidFill>
                <a:schemeClr val="bg1"/>
              </a:solidFill>
            </a:endParaRPr>
          </a:p>
        </p:txBody>
      </p:sp>
      <p:pic>
        <p:nvPicPr>
          <p:cNvPr id="3" name="Picture 2">
            <a:extLst>
              <a:ext uri="{FF2B5EF4-FFF2-40B4-BE49-F238E27FC236}">
                <a16:creationId xmlns:a16="http://schemas.microsoft.com/office/drawing/2014/main" id="{5B777292-0989-BC3F-8A0B-CD830EF09F9A}"/>
              </a:ext>
            </a:extLst>
          </p:cNvPr>
          <p:cNvPicPr>
            <a:picLocks noChangeAspect="1"/>
          </p:cNvPicPr>
          <p:nvPr/>
        </p:nvPicPr>
        <p:blipFill>
          <a:blip r:embed="rId6"/>
          <a:stretch>
            <a:fillRect/>
          </a:stretch>
        </p:blipFill>
        <p:spPr>
          <a:xfrm>
            <a:off x="337150" y="999089"/>
            <a:ext cx="2909490" cy="2442298"/>
          </a:xfrm>
          <a:prstGeom prst="rect">
            <a:avLst/>
          </a:prstGeom>
        </p:spPr>
      </p:pic>
      <p:sp>
        <p:nvSpPr>
          <p:cNvPr id="6" name="TextBox 5">
            <a:extLst>
              <a:ext uri="{FF2B5EF4-FFF2-40B4-BE49-F238E27FC236}">
                <a16:creationId xmlns:a16="http://schemas.microsoft.com/office/drawing/2014/main" id="{43974E34-0376-4F7C-9AB9-831F2D9EDBBB}"/>
              </a:ext>
            </a:extLst>
          </p:cNvPr>
          <p:cNvSpPr txBox="1"/>
          <p:nvPr/>
        </p:nvSpPr>
        <p:spPr>
          <a:xfrm>
            <a:off x="3344678" y="905074"/>
            <a:ext cx="8509818" cy="5734903"/>
          </a:xfrm>
          <a:prstGeom prst="rect">
            <a:avLst/>
          </a:prstGeom>
          <a:noFill/>
        </p:spPr>
        <p:txBody>
          <a:bodyPr wrap="square">
            <a:spAutoFit/>
          </a:bodyPr>
          <a:lstStyle/>
          <a:p>
            <a:pPr>
              <a:lnSpc>
                <a:spcPts val="4000"/>
              </a:lnSpc>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1 :</a:t>
            </a:r>
            <a:endParaRPr lang="en-IN" sz="2400" u="sng"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indent="-342900" algn="just">
              <a:lnSpc>
                <a:spcPts val="4000"/>
              </a:lnSpc>
              <a:buFont typeface="Arial" panose="020B0604020202020204" pitchFamily="34" charset="0"/>
              <a:buChar char="•"/>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As this is the 4-Queens problem, therefore, create a 4×4 chessboard.</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p>
            <a:pPr algn="just">
              <a:lnSpc>
                <a:spcPts val="4000"/>
              </a:lnSpc>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2 :</a:t>
            </a:r>
            <a:endParaRPr lang="en-IN" sz="2400" u="sng"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4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Place the Queen Q1 at the left-most position which means row 1 and column 1.</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4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Mark the cells of the chessboard with cross marks that are under attack from a queen Q1. (horizontal, vertical, and diagonal move of the queen)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4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chessboard looks as follows after placing</a:t>
            </a:r>
            <a:r>
              <a:rPr lang="en-IN" sz="24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 </a:t>
            </a:r>
            <a:endParaRPr lang="en-IN" sz="2400"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endParaRPr>
          </a:p>
          <a:p>
            <a:pPr lvl="0" algn="just">
              <a:lnSpc>
                <a:spcPts val="4000"/>
              </a:lnSpc>
              <a:buSzPct val="100000"/>
              <a:tabLst>
                <a:tab pos="457200" algn="l"/>
              </a:tabLst>
            </a:pPr>
            <a:r>
              <a:rPr lang="en-IN" sz="2400" b="1" dirty="0">
                <a:solidFill>
                  <a:srgbClr val="0070C0"/>
                </a:solidFill>
                <a:latin typeface="Trebuchet MS" panose="020B0603020202020204" pitchFamily="34" charset="0"/>
                <a:ea typeface="Times New Roman" panose="02020603050405020304" pitchFamily="18" charset="0"/>
                <a:cs typeface="Times New Roman" panose="02020603050405020304" pitchFamily="18" charset="0"/>
              </a:rPr>
              <a:t> </a:t>
            </a:r>
            <a:r>
              <a:rPr lang="en-IN" sz="2400" b="1" dirty="0" smtClean="0">
                <a:solidFill>
                  <a:srgbClr val="0070C0"/>
                </a:solidFill>
                <a:latin typeface="Trebuchet MS" panose="020B0603020202020204" pitchFamily="34" charset="0"/>
                <a:ea typeface="Times New Roman" panose="02020603050405020304" pitchFamily="18" charset="0"/>
                <a:cs typeface="Times New Roman" panose="02020603050405020304" pitchFamily="18" charset="0"/>
              </a:rPr>
              <a:t>   </a:t>
            </a:r>
            <a:r>
              <a:rPr lang="en-IN" sz="2400" b="1"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Q1 </a:t>
            </a: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at [1, 1] </a:t>
            </a:r>
            <a:r>
              <a:rPr lang="en-IN" sz="2400" b="1"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position.</a:t>
            </a:r>
            <a:endParaRPr lang="en-IN" sz="24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p:txBody>
      </p:sp>
      <p:pic>
        <p:nvPicPr>
          <p:cNvPr id="7" name="Picture 6" descr="Q1">
            <a:extLst>
              <a:ext uri="{FF2B5EF4-FFF2-40B4-BE49-F238E27FC236}">
                <a16:creationId xmlns:a16="http://schemas.microsoft.com/office/drawing/2014/main" id="{82DBFCDB-5F6B-1606-6191-C42722C60D28}"/>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32489" y="3733970"/>
            <a:ext cx="2952750" cy="2416893"/>
          </a:xfrm>
          <a:prstGeom prst="rect">
            <a:avLst/>
          </a:prstGeom>
          <a:noFill/>
          <a:ln>
            <a:noFill/>
          </a:ln>
        </p:spPr>
      </p:pic>
      <p:cxnSp>
        <p:nvCxnSpPr>
          <p:cNvPr id="8" name="Curved Connector 7"/>
          <p:cNvCxnSpPr/>
          <p:nvPr/>
        </p:nvCxnSpPr>
        <p:spPr>
          <a:xfrm>
            <a:off x="914400" y="4284217"/>
            <a:ext cx="2920180" cy="2152863"/>
          </a:xfrm>
          <a:prstGeom prst="curvedConnector3">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04443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200" dirty="0">
              <a:solidFill>
                <a:schemeClr val="bg1"/>
              </a:solidFill>
              <a:latin typeface="Corbel" panose="020B0503020204020204" pitchFamily="34" charset="0"/>
            </a:endParaRPr>
          </a:p>
        </p:txBody>
      </p:sp>
      <p:sp>
        <p:nvSpPr>
          <p:cNvPr id="4" name="TextBox 3">
            <a:extLst>
              <a:ext uri="{FF2B5EF4-FFF2-40B4-BE49-F238E27FC236}">
                <a16:creationId xmlns:a16="http://schemas.microsoft.com/office/drawing/2014/main" id="{9F5EF069-EA42-6BEE-80BB-689554329163}"/>
              </a:ext>
            </a:extLst>
          </p:cNvPr>
          <p:cNvSpPr txBox="1"/>
          <p:nvPr/>
        </p:nvSpPr>
        <p:spPr>
          <a:xfrm>
            <a:off x="262949" y="908861"/>
            <a:ext cx="8530881" cy="5616409"/>
          </a:xfrm>
          <a:prstGeom prst="rect">
            <a:avLst/>
          </a:prstGeom>
          <a:noFill/>
        </p:spPr>
        <p:txBody>
          <a:bodyPr wrap="square">
            <a:spAutoFit/>
          </a:bodyPr>
          <a:lstStyle/>
          <a:p>
            <a:pPr>
              <a:lnSpc>
                <a:spcPts val="3900"/>
              </a:lnSpc>
              <a:spcBef>
                <a:spcPts val="1200"/>
              </a:spcBef>
              <a:spcAft>
                <a:spcPts val="600"/>
              </a:spcAft>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3:</a:t>
            </a:r>
            <a:endParaRPr lang="en-IN" sz="2400" b="1" u="sng"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ts val="3900"/>
              </a:lnSpc>
              <a:buSzPct val="100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possible safe cells for Queen Q2 at row 2 are of column3 and 4 because these cells do not come under the attack from a queen Q1.</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ts val="3900"/>
              </a:lnSpc>
              <a:buSzPct val="100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So, here we place Q2 at the first possible safe cell which is row 2 and column 3.</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ts val="3900"/>
              </a:lnSpc>
              <a:buSzPct val="100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Mark the cells of the chessboard with cross marks that are under attack from a queen Q2. (horizontal, vertical, and diagonal move of the queen)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ts val="3900"/>
              </a:lnSpc>
              <a:buSzPct val="100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chessboard looks as follows after placing </a:t>
            </a: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Q2 at [2, 3] </a:t>
            </a:r>
            <a:r>
              <a:rPr lang="en-IN" sz="2400" b="1"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position.</a:t>
            </a:r>
            <a:endParaRPr lang="en-IN" sz="24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2F3AE0BA-19E5-02D2-3980-B8F32F7E3EBB}"/>
              </a:ext>
            </a:extLst>
          </p:cNvPr>
          <p:cNvPicPr>
            <a:picLocks noChangeAspect="1"/>
          </p:cNvPicPr>
          <p:nvPr/>
        </p:nvPicPr>
        <p:blipFill>
          <a:blip r:embed="rId6"/>
          <a:stretch>
            <a:fillRect/>
          </a:stretch>
        </p:blipFill>
        <p:spPr>
          <a:xfrm>
            <a:off x="8972812" y="1250843"/>
            <a:ext cx="2878525" cy="2646240"/>
          </a:xfrm>
          <a:prstGeom prst="rect">
            <a:avLst/>
          </a:prstGeom>
        </p:spPr>
      </p:pic>
      <p:cxnSp>
        <p:nvCxnSpPr>
          <p:cNvPr id="6" name="Curved Connector 5"/>
          <p:cNvCxnSpPr/>
          <p:nvPr/>
        </p:nvCxnSpPr>
        <p:spPr>
          <a:xfrm rot="5400000" flipH="1" flipV="1">
            <a:off x="8070138" y="2942339"/>
            <a:ext cx="3105066" cy="2012216"/>
          </a:xfrm>
          <a:prstGeom prst="curvedConnector3">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90920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200" dirty="0">
              <a:solidFill>
                <a:schemeClr val="bg1"/>
              </a:solidFill>
              <a:latin typeface="Corbel" panose="020B0503020204020204" pitchFamily="34" charset="0"/>
            </a:endParaRPr>
          </a:p>
        </p:txBody>
      </p:sp>
      <p:sp>
        <p:nvSpPr>
          <p:cNvPr id="6" name="TextBox 5">
            <a:extLst>
              <a:ext uri="{FF2B5EF4-FFF2-40B4-BE49-F238E27FC236}">
                <a16:creationId xmlns:a16="http://schemas.microsoft.com/office/drawing/2014/main" id="{AB31D6D8-082C-4F48-3378-10C7461E3B41}"/>
              </a:ext>
            </a:extLst>
          </p:cNvPr>
          <p:cNvSpPr txBox="1"/>
          <p:nvPr/>
        </p:nvSpPr>
        <p:spPr>
          <a:xfrm>
            <a:off x="315343" y="903388"/>
            <a:ext cx="8688245" cy="5940088"/>
          </a:xfrm>
          <a:prstGeom prst="rect">
            <a:avLst/>
          </a:prstGeom>
          <a:noFill/>
        </p:spPr>
        <p:txBody>
          <a:bodyPr wrap="square">
            <a:spAutoFit/>
          </a:bodyPr>
          <a:lstStyle/>
          <a:p>
            <a:pPr algn="just">
              <a:lnSpc>
                <a:spcPts val="3800"/>
              </a:lnSpc>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4 :</a:t>
            </a:r>
            <a:endParaRPr lang="en-IN" sz="2400" u="sng"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800"/>
              </a:lnSpc>
              <a:buSzPct val="85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We see that no safe place is remaining for the Queen Q3 if we place Q2 at position [2, 3]</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800"/>
              </a:lnSpc>
              <a:buSzPct val="85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Therefore make position [2, 3] false and backtrack.</a:t>
            </a:r>
          </a:p>
          <a:p>
            <a:pPr algn="just">
              <a:lnSpc>
                <a:spcPts val="3800"/>
              </a:lnSpc>
            </a:pPr>
            <a:r>
              <a:rPr lang="en-IN" sz="2400" b="1" u="sng" dirty="0" smtClean="0">
                <a:solidFill>
                  <a:srgbClr val="0070C0"/>
                </a:solidFill>
                <a:latin typeface="Trebuchet MS" panose="020B0603020202020204" pitchFamily="34" charset="0"/>
                <a:cs typeface="Times New Roman" panose="02020603050405020304" pitchFamily="18" charset="0"/>
              </a:rPr>
              <a:t>Step </a:t>
            </a:r>
            <a:r>
              <a:rPr lang="en-IN" sz="2400" b="1" u="sng" dirty="0">
                <a:solidFill>
                  <a:srgbClr val="0070C0"/>
                </a:solidFill>
                <a:latin typeface="Trebuchet MS" panose="020B0603020202020204" pitchFamily="34" charset="0"/>
                <a:cs typeface="Times New Roman" panose="02020603050405020304" pitchFamily="18" charset="0"/>
              </a:rPr>
              <a:t>5 :</a:t>
            </a:r>
          </a:p>
          <a:p>
            <a:pPr marL="342900" lvl="0" indent="-342900" algn="just">
              <a:lnSpc>
                <a:spcPts val="3800"/>
              </a:lnSpc>
              <a:buSzPct val="100000"/>
              <a:buFont typeface="Arial" panose="020B0604020202020204" pitchFamily="34" charset="0"/>
              <a:buChar char="•"/>
              <a:tabLst>
                <a:tab pos="457200" algn="l"/>
              </a:tabLst>
            </a:pPr>
            <a:r>
              <a:rPr lang="en-IN" sz="2400" dirty="0">
                <a:solidFill>
                  <a:srgbClr val="333333"/>
                </a:solidFill>
                <a:latin typeface="Trebuchet MS" panose="020B0603020202020204" pitchFamily="34" charset="0"/>
                <a:cs typeface="Times New Roman" panose="02020603050405020304" pitchFamily="18" charset="0"/>
              </a:rPr>
              <a:t>So, we place Q2 at the second possible safe cell which is row 2 and column 4.</a:t>
            </a:r>
          </a:p>
          <a:p>
            <a:pPr marL="342900" lvl="0" indent="-342900" algn="just">
              <a:lnSpc>
                <a:spcPts val="3800"/>
              </a:lnSpc>
              <a:buSzPct val="100000"/>
              <a:buFont typeface="Arial" panose="020B0604020202020204" pitchFamily="34" charset="0"/>
              <a:buChar char="•"/>
              <a:tabLst>
                <a:tab pos="457200" algn="l"/>
              </a:tabLst>
            </a:pPr>
            <a:r>
              <a:rPr lang="en-IN" sz="2400" dirty="0">
                <a:solidFill>
                  <a:srgbClr val="333333"/>
                </a:solidFill>
                <a:latin typeface="Trebuchet MS" panose="020B0603020202020204" pitchFamily="34" charset="0"/>
                <a:cs typeface="Times New Roman" panose="02020603050405020304" pitchFamily="18" charset="0"/>
              </a:rPr>
              <a:t>Mark the cells of the chessboard with cross marks that are under attack from a queen Q2. (horizontal, vertical, and diagonal move of the queen)</a:t>
            </a:r>
          </a:p>
          <a:p>
            <a:pPr marL="342900" lvl="0" indent="-342900" algn="just">
              <a:lnSpc>
                <a:spcPts val="3800"/>
              </a:lnSpc>
              <a:buSzPct val="100000"/>
              <a:buFont typeface="Arial" panose="020B0604020202020204" pitchFamily="34" charset="0"/>
              <a:buChar char="•"/>
              <a:tabLst>
                <a:tab pos="457200" algn="l"/>
              </a:tabLst>
            </a:pPr>
            <a:r>
              <a:rPr lang="en-IN" sz="2400" dirty="0">
                <a:solidFill>
                  <a:srgbClr val="333333"/>
                </a:solidFill>
                <a:latin typeface="Trebuchet MS" panose="020B0603020202020204" pitchFamily="34" charset="0"/>
                <a:cs typeface="Times New Roman" panose="02020603050405020304" pitchFamily="18" charset="0"/>
              </a:rPr>
              <a:t>The chessboard looks as follows after </a:t>
            </a:r>
            <a:r>
              <a:rPr lang="en-IN" sz="2400" dirty="0">
                <a:solidFill>
                  <a:srgbClr val="0070C0"/>
                </a:solidFill>
                <a:latin typeface="Trebuchet MS" panose="020B0603020202020204" pitchFamily="34" charset="0"/>
                <a:cs typeface="Times New Roman" panose="02020603050405020304" pitchFamily="18" charset="0"/>
              </a:rPr>
              <a:t>placing Q2 at [2, 4] </a:t>
            </a:r>
            <a:r>
              <a:rPr lang="en-IN" sz="2400" dirty="0" smtClean="0">
                <a:solidFill>
                  <a:srgbClr val="0070C0"/>
                </a:solidFill>
                <a:latin typeface="Trebuchet MS" panose="020B0603020202020204" pitchFamily="34" charset="0"/>
                <a:cs typeface="Times New Roman" panose="02020603050405020304" pitchFamily="18" charset="0"/>
              </a:rPr>
              <a:t>position.</a:t>
            </a:r>
            <a:endParaRPr lang="en-IN" sz="2400" dirty="0">
              <a:solidFill>
                <a:srgbClr val="0070C0"/>
              </a:solidFill>
              <a:latin typeface="Trebuchet MS" panose="020B060302020202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21A1403A-E267-B083-4AA6-93A078A0FFDA}"/>
              </a:ext>
            </a:extLst>
          </p:cNvPr>
          <p:cNvPicPr>
            <a:picLocks noChangeAspect="1"/>
          </p:cNvPicPr>
          <p:nvPr/>
        </p:nvPicPr>
        <p:blipFill>
          <a:blip r:embed="rId6"/>
          <a:stretch>
            <a:fillRect/>
          </a:stretch>
        </p:blipFill>
        <p:spPr>
          <a:xfrm>
            <a:off x="9306231" y="1084731"/>
            <a:ext cx="2675363" cy="2743438"/>
          </a:xfrm>
          <a:prstGeom prst="rect">
            <a:avLst/>
          </a:prstGeom>
        </p:spPr>
      </p:pic>
      <p:cxnSp>
        <p:nvCxnSpPr>
          <p:cNvPr id="4" name="Curved Connector 3"/>
          <p:cNvCxnSpPr/>
          <p:nvPr/>
        </p:nvCxnSpPr>
        <p:spPr>
          <a:xfrm rot="5400000" flipH="1" flipV="1">
            <a:off x="8340641" y="2769616"/>
            <a:ext cx="3528730" cy="2620492"/>
          </a:xfrm>
          <a:prstGeom prst="curvedConnector3">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89638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93407" y="102439"/>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200" dirty="0">
              <a:solidFill>
                <a:schemeClr val="bg1"/>
              </a:solidFill>
              <a:latin typeface="Corbel" panose="020B0503020204020204" pitchFamily="34" charset="0"/>
            </a:endParaRPr>
          </a:p>
        </p:txBody>
      </p:sp>
      <p:sp>
        <p:nvSpPr>
          <p:cNvPr id="4" name="TextBox 3">
            <a:extLst>
              <a:ext uri="{FF2B5EF4-FFF2-40B4-BE49-F238E27FC236}">
                <a16:creationId xmlns:a16="http://schemas.microsoft.com/office/drawing/2014/main" id="{0482F825-E9ED-F3D5-998C-2A0A84F9D5EC}"/>
              </a:ext>
            </a:extLst>
          </p:cNvPr>
          <p:cNvSpPr txBox="1"/>
          <p:nvPr/>
        </p:nvSpPr>
        <p:spPr>
          <a:xfrm>
            <a:off x="309164" y="1102001"/>
            <a:ext cx="8631872" cy="5042495"/>
          </a:xfrm>
          <a:prstGeom prst="rect">
            <a:avLst/>
          </a:prstGeom>
          <a:noFill/>
        </p:spPr>
        <p:txBody>
          <a:bodyPr wrap="square">
            <a:spAutoFit/>
          </a:bodyPr>
          <a:lstStyle/>
          <a:p>
            <a:pPr>
              <a:lnSpc>
                <a:spcPts val="3800"/>
              </a:lnSpc>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6 :</a:t>
            </a:r>
            <a:endParaRPr lang="en-IN" sz="2400" b="1" u="sng"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800"/>
              </a:lnSpc>
              <a:buSzPct val="75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only possible safe cell for Queen Q3 is remaining in row 3 and column 2.</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800"/>
              </a:lnSpc>
              <a:buSzPct val="75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Therefore, we place Q3 at the only possible safe cell which is row 3 and column 2.</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800"/>
              </a:lnSpc>
              <a:buSzPct val="75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Mark the cells of the chessboard with cross marks that are under attack from a queen Q3. (horizontal, vertical, and diagonal move of the queen)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800"/>
              </a:lnSpc>
              <a:buSzPct val="75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chessboard looks as follows after placing </a:t>
            </a: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Q3 at </a:t>
            </a:r>
            <a:endParaRPr lang="en-IN" sz="2400" b="1"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endParaRPr>
          </a:p>
          <a:p>
            <a:pPr lvl="0" algn="just">
              <a:lnSpc>
                <a:spcPts val="3800"/>
              </a:lnSpc>
              <a:buSzPct val="75000"/>
              <a:tabLst>
                <a:tab pos="457200" algn="l"/>
              </a:tabLst>
            </a:pPr>
            <a:r>
              <a:rPr lang="en-IN" sz="2400" b="1" dirty="0">
                <a:solidFill>
                  <a:srgbClr val="0070C0"/>
                </a:solidFill>
                <a:latin typeface="Trebuchet MS" panose="020B0603020202020204" pitchFamily="34" charset="0"/>
                <a:ea typeface="Times New Roman" panose="02020603050405020304" pitchFamily="18" charset="0"/>
                <a:cs typeface="Times New Roman" panose="02020603050405020304" pitchFamily="18" charset="0"/>
              </a:rPr>
              <a:t> </a:t>
            </a:r>
            <a:r>
              <a:rPr lang="en-IN" sz="2400" b="1" dirty="0" smtClean="0">
                <a:solidFill>
                  <a:srgbClr val="0070C0"/>
                </a:solidFill>
                <a:latin typeface="Trebuchet MS" panose="020B0603020202020204" pitchFamily="34" charset="0"/>
                <a:ea typeface="Times New Roman" panose="02020603050405020304" pitchFamily="18" charset="0"/>
                <a:cs typeface="Times New Roman" panose="02020603050405020304" pitchFamily="18" charset="0"/>
              </a:rPr>
              <a:t>   </a:t>
            </a:r>
            <a:r>
              <a:rPr lang="en-IN" sz="2400" b="1"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a:t>
            </a: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3, 2] </a:t>
            </a:r>
            <a:r>
              <a:rPr lang="en-IN" sz="2400" b="1"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position.</a:t>
            </a:r>
            <a:endParaRPr lang="en-IN" sz="24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943888B9-4894-6421-DECF-F0FBBF0CF6A6}"/>
              </a:ext>
            </a:extLst>
          </p:cNvPr>
          <p:cNvPicPr>
            <a:picLocks noChangeAspect="1"/>
          </p:cNvPicPr>
          <p:nvPr/>
        </p:nvPicPr>
        <p:blipFill rotWithShape="1">
          <a:blip r:embed="rId6"/>
          <a:srcRect r="3926"/>
          <a:stretch/>
        </p:blipFill>
        <p:spPr>
          <a:xfrm>
            <a:off x="9134165" y="2153370"/>
            <a:ext cx="2858324" cy="2743438"/>
          </a:xfrm>
          <a:prstGeom prst="rect">
            <a:avLst/>
          </a:prstGeom>
        </p:spPr>
      </p:pic>
      <p:cxnSp>
        <p:nvCxnSpPr>
          <p:cNvPr id="6" name="Curved Connector 5"/>
          <p:cNvCxnSpPr/>
          <p:nvPr/>
        </p:nvCxnSpPr>
        <p:spPr>
          <a:xfrm flipV="1">
            <a:off x="7374194" y="3839337"/>
            <a:ext cx="2604357" cy="1250611"/>
          </a:xfrm>
          <a:prstGeom prst="curvedConnector3">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43806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6" name="Google Shape;96;p17"/>
          <p:cNvPicPr preferRelativeResize="0"/>
          <p:nvPr/>
        </p:nvPicPr>
        <p:blipFill>
          <a:blip r:embed="rId4">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200" dirty="0">
              <a:solidFill>
                <a:schemeClr val="bg1"/>
              </a:solidFill>
              <a:latin typeface="Corbel" panose="020B0503020204020204" pitchFamily="34" charset="0"/>
            </a:endParaRPr>
          </a:p>
        </p:txBody>
      </p:sp>
      <p:sp>
        <p:nvSpPr>
          <p:cNvPr id="6" name="TextBox 5">
            <a:extLst>
              <a:ext uri="{FF2B5EF4-FFF2-40B4-BE49-F238E27FC236}">
                <a16:creationId xmlns:a16="http://schemas.microsoft.com/office/drawing/2014/main" id="{AE481646-F4ED-7D43-C2FF-92D37A071782}"/>
              </a:ext>
            </a:extLst>
          </p:cNvPr>
          <p:cNvSpPr txBox="1"/>
          <p:nvPr/>
        </p:nvSpPr>
        <p:spPr>
          <a:xfrm>
            <a:off x="242032" y="989640"/>
            <a:ext cx="8956001" cy="5888920"/>
          </a:xfrm>
          <a:prstGeom prst="rect">
            <a:avLst/>
          </a:prstGeom>
          <a:noFill/>
        </p:spPr>
        <p:txBody>
          <a:bodyPr wrap="square">
            <a:spAutoFit/>
          </a:bodyPr>
          <a:lstStyle/>
          <a:p>
            <a:pPr algn="just">
              <a:lnSpc>
                <a:spcPts val="3700"/>
              </a:lnSpc>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7:</a:t>
            </a:r>
            <a:endParaRPr lang="en-IN" sz="2400" u="sng"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7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We see that no safe place is remaining for the </a:t>
            </a:r>
            <a:r>
              <a:rPr lang="en-IN" sz="24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Queen Q4</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 if we place Q3 at position [3, 2]</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7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Therefore make </a:t>
            </a:r>
            <a:r>
              <a:rPr lang="en-IN" sz="24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position [3, 2] false and backtrack</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algn="just">
              <a:lnSpc>
                <a:spcPts val="3700"/>
              </a:lnSpc>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8:</a:t>
            </a:r>
            <a:endParaRPr lang="en-IN" sz="2400" u="sng"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7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This time we backtrack to the </a:t>
            </a:r>
            <a:r>
              <a:rPr lang="en-IN" sz="24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first queen Q1</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7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Place the Queen Q1 at column 2 of row 1.</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7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Mark the cells of the chessboard with cross marks that are under attack from a queen Q1. (horizontal, vertical, and diagonal move of the queen)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7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chessboard looks as follows after placing </a:t>
            </a: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Q1 at </a:t>
            </a:r>
            <a:r>
              <a:rPr lang="en-IN" sz="2400" b="1"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a:t>
            </a: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1, 2] </a:t>
            </a:r>
            <a:r>
              <a:rPr lang="en-IN" sz="2400" b="1"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position.</a:t>
            </a:r>
            <a:endParaRPr lang="en-IN" sz="24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B8DEFF75-19F3-42F3-1DE3-0C9202CD967C}"/>
              </a:ext>
            </a:extLst>
          </p:cNvPr>
          <p:cNvPicPr>
            <a:picLocks noChangeAspect="1"/>
          </p:cNvPicPr>
          <p:nvPr/>
        </p:nvPicPr>
        <p:blipFill>
          <a:blip r:embed="rId5"/>
          <a:stretch>
            <a:fillRect/>
          </a:stretch>
        </p:blipFill>
        <p:spPr>
          <a:xfrm>
            <a:off x="9374258" y="3805391"/>
            <a:ext cx="2575645" cy="2534560"/>
          </a:xfrm>
          <a:prstGeom prst="rect">
            <a:avLst/>
          </a:prstGeom>
        </p:spPr>
      </p:pic>
      <p:cxnSp>
        <p:nvCxnSpPr>
          <p:cNvPr id="16" name="Curved Connector 15"/>
          <p:cNvCxnSpPr/>
          <p:nvPr/>
        </p:nvCxnSpPr>
        <p:spPr>
          <a:xfrm>
            <a:off x="6759286" y="3753082"/>
            <a:ext cx="3396807" cy="517113"/>
          </a:xfrm>
          <a:prstGeom prst="curvedConnector3">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3254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200" dirty="0">
              <a:solidFill>
                <a:schemeClr val="bg1"/>
              </a:solidFill>
              <a:latin typeface="Corbel" panose="020B0503020204020204" pitchFamily="34" charset="0"/>
            </a:endParaRPr>
          </a:p>
        </p:txBody>
      </p:sp>
      <p:sp>
        <p:nvSpPr>
          <p:cNvPr id="6" name="TextBox 5">
            <a:extLst>
              <a:ext uri="{FF2B5EF4-FFF2-40B4-BE49-F238E27FC236}">
                <a16:creationId xmlns:a16="http://schemas.microsoft.com/office/drawing/2014/main" id="{AE481646-F4ED-7D43-C2FF-92D37A071782}"/>
              </a:ext>
            </a:extLst>
          </p:cNvPr>
          <p:cNvSpPr txBox="1"/>
          <p:nvPr/>
        </p:nvSpPr>
        <p:spPr>
          <a:xfrm>
            <a:off x="184632" y="1008851"/>
            <a:ext cx="8822894" cy="5632311"/>
          </a:xfrm>
          <a:prstGeom prst="rect">
            <a:avLst/>
          </a:prstGeom>
          <a:noFill/>
        </p:spPr>
        <p:txBody>
          <a:bodyPr wrap="square">
            <a:spAutoFit/>
          </a:bodyPr>
          <a:lstStyle/>
          <a:p>
            <a:pPr algn="just">
              <a:lnSpc>
                <a:spcPct val="150000"/>
              </a:lnSpc>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9:</a:t>
            </a:r>
            <a:endParaRPr lang="en-IN" sz="2400" u="sng"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only possible safe cell for Queen Q2 is remaining in row 2 and column 4.</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Therefore, we place Q2 at the only possible safe cell which is row 2 and column 4.</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Mark the cells of the chessboard with cross marks that are under attack from a queen Q2. (horizontal, vertical, and diagonal move of the queen)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chessboard looks as follows after placing </a:t>
            </a: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Q2 at [2, 4] </a:t>
            </a:r>
            <a:r>
              <a:rPr lang="en-IN" sz="2400" b="1"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position.</a:t>
            </a:r>
            <a:endParaRPr lang="en-IN" sz="24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E9A552F7-09A0-56A3-6D36-82D87DF569BE}"/>
              </a:ext>
            </a:extLst>
          </p:cNvPr>
          <p:cNvPicPr>
            <a:picLocks noChangeAspect="1"/>
          </p:cNvPicPr>
          <p:nvPr/>
        </p:nvPicPr>
        <p:blipFill rotWithShape="1">
          <a:blip r:embed="rId6"/>
          <a:srcRect r="4505"/>
          <a:stretch/>
        </p:blipFill>
        <p:spPr>
          <a:xfrm>
            <a:off x="9179458" y="2032507"/>
            <a:ext cx="2858544" cy="2743438"/>
          </a:xfrm>
          <a:prstGeom prst="rect">
            <a:avLst/>
          </a:prstGeom>
        </p:spPr>
      </p:pic>
      <p:cxnSp>
        <p:nvCxnSpPr>
          <p:cNvPr id="5" name="Curved Connector 4"/>
          <p:cNvCxnSpPr/>
          <p:nvPr/>
        </p:nvCxnSpPr>
        <p:spPr>
          <a:xfrm flipV="1">
            <a:off x="7624916" y="3185652"/>
            <a:ext cx="3746090" cy="2418735"/>
          </a:xfrm>
          <a:prstGeom prst="curvedConnector3">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92890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5891" y="3303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307587" y="324086"/>
            <a:ext cx="6372880"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200" dirty="0">
              <a:solidFill>
                <a:schemeClr val="bg1"/>
              </a:solidFill>
              <a:latin typeface="Corbel" panose="020B0503020204020204" pitchFamily="34" charset="0"/>
            </a:endParaRPr>
          </a:p>
        </p:txBody>
      </p:sp>
      <p:sp>
        <p:nvSpPr>
          <p:cNvPr id="6" name="TextBox 5">
            <a:extLst>
              <a:ext uri="{FF2B5EF4-FFF2-40B4-BE49-F238E27FC236}">
                <a16:creationId xmlns:a16="http://schemas.microsoft.com/office/drawing/2014/main" id="{AE481646-F4ED-7D43-C2FF-92D37A071782}"/>
              </a:ext>
            </a:extLst>
          </p:cNvPr>
          <p:cNvSpPr txBox="1"/>
          <p:nvPr/>
        </p:nvSpPr>
        <p:spPr>
          <a:xfrm>
            <a:off x="307587" y="1013855"/>
            <a:ext cx="8566814" cy="6155531"/>
          </a:xfrm>
          <a:prstGeom prst="rect">
            <a:avLst/>
          </a:prstGeom>
          <a:noFill/>
        </p:spPr>
        <p:txBody>
          <a:bodyPr wrap="square">
            <a:spAutoFit/>
          </a:bodyPr>
          <a:lstStyle/>
          <a:p>
            <a:pPr algn="just">
              <a:lnSpc>
                <a:spcPct val="150000"/>
              </a:lnSpc>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10:</a:t>
            </a:r>
          </a:p>
          <a:p>
            <a:pPr marL="342900" marR="0" lvl="0" indent="-342900" algn="l" defTabSz="914400" rtl="0" eaLnBrk="0" fontAlgn="base" latinLnBrk="0" hangingPunct="0">
              <a:lnSpc>
                <a:spcPct val="150000"/>
              </a:lnSpc>
              <a:buClrTx/>
              <a:buSzTx/>
              <a:buFont typeface="Arial" panose="020B0604020202020204" pitchFamily="34" charset="0"/>
              <a:buChar char="•"/>
              <a:tabLst/>
            </a:pPr>
            <a:r>
              <a:rPr kumimoji="0" lang="en-US" altLang="en-US" sz="2400" b="0" i="0" u="none" strike="noStrike" cap="none" normalizeH="0" baseline="0" dirty="0">
                <a:ln>
                  <a:noFill/>
                </a:ln>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only possible safe cell for Queen Q3 is remaining in row 3 and column 1.</a:t>
            </a:r>
            <a:endParaRPr kumimoji="0" lang="en-US" altLang="en-US" sz="2400" b="0" i="0" u="none" strike="noStrike" cap="none" normalizeH="0" baseline="0" dirty="0">
              <a:ln>
                <a:noFill/>
              </a:ln>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marR="0" lvl="0" indent="-342900" algn="l" defTabSz="914400" rtl="0" eaLnBrk="0" fontAlgn="base" latinLnBrk="0" hangingPunct="0">
              <a:lnSpc>
                <a:spcPct val="150000"/>
              </a:lnSpc>
              <a:buClrTx/>
              <a:buSzTx/>
              <a:buFont typeface="Arial" panose="020B0604020202020204" pitchFamily="34" charset="0"/>
              <a:buChar char="•"/>
              <a:tabLst/>
            </a:pPr>
            <a:r>
              <a:rPr kumimoji="0" lang="en-US" altLang="en-US" sz="2400" b="0" i="0" u="none" strike="noStrike" cap="none" normalizeH="0" baseline="0" dirty="0">
                <a:ln>
                  <a:noFill/>
                </a:ln>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Therefore, we place Q3 at the only possible safe cell which is row 3 and column 1.</a:t>
            </a:r>
            <a:endParaRPr kumimoji="0" lang="en-US" altLang="en-US" sz="2400" b="0" i="0" u="none" strike="noStrike" cap="none" normalizeH="0" baseline="0" dirty="0">
              <a:ln>
                <a:noFill/>
              </a:ln>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marR="0" lvl="0" indent="-342900" algn="l" defTabSz="914400" rtl="0" eaLnBrk="0" fontAlgn="base" latinLnBrk="0" hangingPunct="0">
              <a:lnSpc>
                <a:spcPct val="150000"/>
              </a:lnSpc>
              <a:buClrTx/>
              <a:buSzTx/>
              <a:buFont typeface="Arial" panose="020B0604020202020204" pitchFamily="34" charset="0"/>
              <a:buChar char="•"/>
              <a:tabLst/>
            </a:pPr>
            <a:r>
              <a:rPr kumimoji="0" lang="en-US" altLang="en-US" sz="2400" b="0" i="0" u="none" strike="noStrike" cap="none" normalizeH="0" baseline="0" dirty="0">
                <a:ln>
                  <a:noFill/>
                </a:ln>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Mark the cells of the chessboard with cross marks that are under attack from a queen Q3. (horizontal, vertical, and diagonal move of the queen)</a:t>
            </a:r>
            <a:endParaRPr kumimoji="0" lang="en-US" altLang="en-US" sz="2400" b="0" i="0" u="none" strike="noStrike" cap="none" normalizeH="0" baseline="0" dirty="0">
              <a:ln>
                <a:noFill/>
              </a:ln>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marR="0" lvl="0" indent="-342900" algn="l" defTabSz="914400" rtl="0" eaLnBrk="0" fontAlgn="base" latinLnBrk="0" hangingPunct="0">
              <a:lnSpc>
                <a:spcPct val="150000"/>
              </a:lnSpc>
              <a:buClrTx/>
              <a:buSzTx/>
              <a:buFont typeface="Arial" panose="020B0604020202020204" pitchFamily="34" charset="0"/>
              <a:buChar char="•"/>
              <a:tabLst/>
            </a:pPr>
            <a:r>
              <a:rPr kumimoji="0" lang="en-US" altLang="en-US" sz="2400" b="0" i="0" u="none" strike="noStrike" cap="none" normalizeH="0" baseline="0" dirty="0">
                <a:ln>
                  <a:noFill/>
                </a:ln>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chessboard looks as follows after placing </a:t>
            </a:r>
            <a:r>
              <a:rPr kumimoji="0" lang="en-US" altLang="en-US" sz="2400" b="1" i="0" u="none" strike="noStrike" cap="none" normalizeH="0" baseline="0" dirty="0">
                <a:ln>
                  <a:noFill/>
                </a:ln>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Q3 at [3, 1] </a:t>
            </a:r>
            <a:r>
              <a:rPr kumimoji="0" lang="en-US" altLang="en-US" sz="2400" b="1" i="0" u="none" strike="noStrike" cap="none" normalizeH="0" baseline="0" dirty="0" smtClean="0">
                <a:ln>
                  <a:noFill/>
                </a:ln>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position</a:t>
            </a:r>
            <a:endParaRPr kumimoji="0" lang="en-US" altLang="en-US" sz="2400" b="0" i="0" u="none" strike="noStrike" cap="none" normalizeH="0" baseline="0" dirty="0">
              <a:ln>
                <a:noFill/>
              </a:ln>
              <a:solidFill>
                <a:srgbClr val="0070C0"/>
              </a:solidFill>
              <a:effectLst/>
              <a:latin typeface="Trebuchet MS" panose="020B0603020202020204" pitchFamily="34" charset="0"/>
            </a:endParaRPr>
          </a:p>
          <a:p>
            <a:pPr algn="just">
              <a:spcBef>
                <a:spcPts val="1200"/>
              </a:spcBef>
              <a:spcAft>
                <a:spcPts val="600"/>
              </a:spcAft>
            </a:pPr>
            <a:endParaRPr lang="en-IN" sz="2400" dirty="0">
              <a:solidFill>
                <a:srgbClr val="0070C0"/>
              </a:solidFill>
              <a:effectLst/>
              <a:latin typeface="Corbel" panose="020B0503020204020204" pitchFamily="34" charset="0"/>
              <a:ea typeface="Calibri" panose="020F0502020204030204" pitchFamily="34" charset="0"/>
              <a:cs typeface="Times New Roman" panose="02020603050405020304" pitchFamily="18" charset="0"/>
            </a:endParaRPr>
          </a:p>
        </p:txBody>
      </p:sp>
      <p:pic>
        <p:nvPicPr>
          <p:cNvPr id="1025" name="Picture 22" descr="Q7">
            <a:extLst>
              <a:ext uri="{FF2B5EF4-FFF2-40B4-BE49-F238E27FC236}">
                <a16:creationId xmlns:a16="http://schemas.microsoft.com/office/drawing/2014/main" id="{86A8D065-7108-39E8-B812-057468AF09A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4766"/>
          <a:stretch/>
        </p:blipFill>
        <p:spPr bwMode="auto">
          <a:xfrm>
            <a:off x="9132722" y="2182437"/>
            <a:ext cx="2857378" cy="2743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AFF708AF-B132-761C-0AD4-F129BAACECDC}"/>
              </a:ext>
            </a:extLst>
          </p:cNvPr>
          <p:cNvSpPr>
            <a:spLocks noChangeArrowheads="1"/>
          </p:cNvSpPr>
          <p:nvPr/>
        </p:nvSpPr>
        <p:spPr bwMode="auto">
          <a:xfrm>
            <a:off x="0" y="320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cxnSp>
        <p:nvCxnSpPr>
          <p:cNvPr id="4" name="Curved Connector 3"/>
          <p:cNvCxnSpPr/>
          <p:nvPr/>
        </p:nvCxnSpPr>
        <p:spPr>
          <a:xfrm flipV="1">
            <a:off x="7415661" y="3973269"/>
            <a:ext cx="2008558" cy="1665982"/>
          </a:xfrm>
          <a:prstGeom prst="curvedConnector3">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029392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64" y="-27716"/>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200" dirty="0">
              <a:solidFill>
                <a:schemeClr val="bg1"/>
              </a:solidFill>
              <a:latin typeface="Corbel" panose="020B0503020204020204" pitchFamily="34" charset="0"/>
            </a:endParaRPr>
          </a:p>
        </p:txBody>
      </p:sp>
      <p:sp>
        <p:nvSpPr>
          <p:cNvPr id="6" name="TextBox 5">
            <a:extLst>
              <a:ext uri="{FF2B5EF4-FFF2-40B4-BE49-F238E27FC236}">
                <a16:creationId xmlns:a16="http://schemas.microsoft.com/office/drawing/2014/main" id="{AE481646-F4ED-7D43-C2FF-92D37A071782}"/>
              </a:ext>
            </a:extLst>
          </p:cNvPr>
          <p:cNvSpPr txBox="1"/>
          <p:nvPr/>
        </p:nvSpPr>
        <p:spPr>
          <a:xfrm>
            <a:off x="267495" y="915227"/>
            <a:ext cx="8433492" cy="3970318"/>
          </a:xfrm>
          <a:prstGeom prst="rect">
            <a:avLst/>
          </a:prstGeom>
          <a:noFill/>
        </p:spPr>
        <p:txBody>
          <a:bodyPr wrap="square">
            <a:spAutoFit/>
          </a:bodyPr>
          <a:lstStyle/>
          <a:p>
            <a:pPr algn="just">
              <a:lnSpc>
                <a:spcPct val="150000"/>
              </a:lnSpc>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11:</a:t>
            </a:r>
          </a:p>
          <a:p>
            <a:pPr marL="342900" lvl="0" indent="-342900" algn="just">
              <a:lnSpc>
                <a:spcPct val="150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only possible safe cell for Queen Q4 is remaining in row 4 and column 3.</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Therefore, we place Q4 at the only possible safe cell which is row 4 and column 3.</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chessboard looks as follows after placing </a:t>
            </a:r>
            <a:r>
              <a:rPr lang="en-IN" sz="2400"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Q4 </a:t>
            </a:r>
            <a:r>
              <a:rPr lang="en-IN" sz="24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at [4, 3] </a:t>
            </a:r>
            <a:r>
              <a:rPr lang="en-IN" sz="2400"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position.</a:t>
            </a:r>
          </a:p>
        </p:txBody>
      </p:sp>
      <p:sp>
        <p:nvSpPr>
          <p:cNvPr id="5" name="Rectangle 3">
            <a:extLst>
              <a:ext uri="{FF2B5EF4-FFF2-40B4-BE49-F238E27FC236}">
                <a16:creationId xmlns:a16="http://schemas.microsoft.com/office/drawing/2014/main" id="{AFF708AF-B132-761C-0AD4-F129BAACECDC}"/>
              </a:ext>
            </a:extLst>
          </p:cNvPr>
          <p:cNvSpPr>
            <a:spLocks noChangeArrowheads="1"/>
          </p:cNvSpPr>
          <p:nvPr/>
        </p:nvSpPr>
        <p:spPr bwMode="auto">
          <a:xfrm>
            <a:off x="0" y="320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descr="Q8">
            <a:extLst>
              <a:ext uri="{FF2B5EF4-FFF2-40B4-BE49-F238E27FC236}">
                <a16:creationId xmlns:a16="http://schemas.microsoft.com/office/drawing/2014/main" id="{88859209-7ED9-1EDF-641F-D1B9489ACDEF}"/>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962165" y="1012739"/>
            <a:ext cx="2962275" cy="2743200"/>
          </a:xfrm>
          <a:prstGeom prst="rect">
            <a:avLst/>
          </a:prstGeom>
          <a:noFill/>
          <a:ln>
            <a:noFill/>
          </a:ln>
        </p:spPr>
      </p:pic>
      <p:sp>
        <p:nvSpPr>
          <p:cNvPr id="4" name="Rectangle 3"/>
          <p:cNvSpPr/>
          <p:nvPr/>
        </p:nvSpPr>
        <p:spPr>
          <a:xfrm>
            <a:off x="294968" y="4843718"/>
            <a:ext cx="8406019" cy="1754326"/>
          </a:xfrm>
          <a:prstGeom prst="rect">
            <a:avLst/>
          </a:prstGeom>
        </p:spPr>
        <p:txBody>
          <a:bodyPr wrap="square">
            <a:spAutoFit/>
          </a:bodyPr>
          <a:lstStyle/>
          <a:p>
            <a:pPr marL="342900" indent="-342900" algn="just">
              <a:lnSpc>
                <a:spcPct val="150000"/>
              </a:lnSpc>
              <a:spcBef>
                <a:spcPts val="1200"/>
              </a:spcBef>
              <a:spcAft>
                <a:spcPts val="600"/>
              </a:spcAft>
              <a:buFont typeface="Arial" panose="020B0604020202020204" pitchFamily="34" charset="0"/>
              <a:buChar char="•"/>
            </a:pPr>
            <a:r>
              <a:rPr lang="en-IN" sz="2400" dirty="0">
                <a:solidFill>
                  <a:srgbClr val="333333"/>
                </a:solidFill>
                <a:latin typeface="Trebuchet MS" panose="020B0603020202020204" pitchFamily="34" charset="0"/>
                <a:ea typeface="Times New Roman" panose="02020603050405020304" pitchFamily="18" charset="0"/>
                <a:cs typeface="Times New Roman" panose="02020603050405020304" pitchFamily="18" charset="0"/>
              </a:rPr>
              <a:t>Now, here we got the </a:t>
            </a:r>
            <a:r>
              <a:rPr lang="en-IN" sz="2400" dirty="0">
                <a:solidFill>
                  <a:srgbClr val="0070C0"/>
                </a:solidFill>
                <a:latin typeface="Trebuchet MS" panose="020B0603020202020204" pitchFamily="34" charset="0"/>
                <a:ea typeface="Times New Roman" panose="02020603050405020304" pitchFamily="18" charset="0"/>
                <a:cs typeface="Times New Roman" panose="02020603050405020304" pitchFamily="18" charset="0"/>
              </a:rPr>
              <a:t>solution for the 4-queens problem </a:t>
            </a:r>
            <a:r>
              <a:rPr lang="en-IN" sz="2400" dirty="0">
                <a:solidFill>
                  <a:srgbClr val="333333"/>
                </a:solidFill>
                <a:latin typeface="Trebuchet MS" panose="020B0603020202020204" pitchFamily="34" charset="0"/>
                <a:ea typeface="Times New Roman" panose="02020603050405020304" pitchFamily="18" charset="0"/>
                <a:cs typeface="Times New Roman" panose="02020603050405020304" pitchFamily="18" charset="0"/>
              </a:rPr>
              <a:t>because all </a:t>
            </a:r>
            <a:r>
              <a:rPr lang="en-IN" sz="2400" dirty="0">
                <a:solidFill>
                  <a:srgbClr val="0070C0"/>
                </a:solidFill>
                <a:latin typeface="Trebuchet MS" panose="020B0603020202020204" pitchFamily="34" charset="0"/>
                <a:ea typeface="Times New Roman" panose="02020603050405020304" pitchFamily="18" charset="0"/>
                <a:cs typeface="Times New Roman" panose="02020603050405020304" pitchFamily="18" charset="0"/>
              </a:rPr>
              <a:t>4 queens are placed exact</a:t>
            </a:r>
            <a:r>
              <a:rPr lang="en-IN" sz="2400" dirty="0">
                <a:solidFill>
                  <a:srgbClr val="333333"/>
                </a:solidFill>
                <a:latin typeface="Trebuchet MS" panose="020B0603020202020204" pitchFamily="34" charset="0"/>
                <a:ea typeface="Times New Roman" panose="02020603050405020304" pitchFamily="18" charset="0"/>
                <a:cs typeface="Times New Roman" panose="02020603050405020304" pitchFamily="18" charset="0"/>
              </a:rPr>
              <a:t>ly in each row/column individually</a:t>
            </a:r>
            <a:r>
              <a:rPr lang="en-IN" sz="2400" dirty="0" smtClean="0">
                <a:solidFill>
                  <a:srgbClr val="333333"/>
                </a:solidFill>
                <a:latin typeface="Trebuchet MS" panose="020B0603020202020204" pitchFamily="34" charset="0"/>
                <a:ea typeface="Times New Roman" panose="02020603050405020304" pitchFamily="18" charset="0"/>
                <a:cs typeface="Times New Roman" panose="02020603050405020304" pitchFamily="18" charset="0"/>
              </a:rPr>
              <a:t>.</a:t>
            </a:r>
            <a:endParaRPr lang="en-IN" dirty="0">
              <a:solidFill>
                <a:srgbClr val="0070C0"/>
              </a:solidFill>
              <a:latin typeface="Trebuchet MS" panose="020B0603020202020204" pitchFamily="34" charset="0"/>
              <a:ea typeface="Calibri" panose="020F0502020204030204" pitchFamily="34" charset="0"/>
              <a:cs typeface="Times New Roman" panose="02020603050405020304" pitchFamily="18" charset="0"/>
            </a:endParaRPr>
          </a:p>
        </p:txBody>
      </p:sp>
      <p:pic>
        <p:nvPicPr>
          <p:cNvPr id="8" name="Picture 7"/>
          <p:cNvPicPr>
            <a:picLocks noChangeAspect="1"/>
          </p:cNvPicPr>
          <p:nvPr/>
        </p:nvPicPr>
        <p:blipFill>
          <a:blip r:embed="rId7"/>
          <a:stretch>
            <a:fillRect/>
          </a:stretch>
        </p:blipFill>
        <p:spPr>
          <a:xfrm>
            <a:off x="8989637" y="3789989"/>
            <a:ext cx="2907330" cy="2792210"/>
          </a:xfrm>
          <a:prstGeom prst="rect">
            <a:avLst/>
          </a:prstGeom>
        </p:spPr>
      </p:pic>
    </p:spTree>
    <p:extLst>
      <p:ext uri="{BB962C8B-B14F-4D97-AF65-F5344CB8AC3E}">
        <p14:creationId xmlns:p14="http://schemas.microsoft.com/office/powerpoint/2010/main" val="18064550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200" dirty="0">
              <a:solidFill>
                <a:schemeClr val="bg1"/>
              </a:solidFill>
              <a:latin typeface="Corbel" panose="020B0503020204020204" pitchFamily="34" charset="0"/>
            </a:endParaRPr>
          </a:p>
        </p:txBody>
      </p:sp>
      <p:sp>
        <p:nvSpPr>
          <p:cNvPr id="6" name="TextBox 5">
            <a:extLst>
              <a:ext uri="{FF2B5EF4-FFF2-40B4-BE49-F238E27FC236}">
                <a16:creationId xmlns:a16="http://schemas.microsoft.com/office/drawing/2014/main" id="{AE481646-F4ED-7D43-C2FF-92D37A071782}"/>
              </a:ext>
            </a:extLst>
          </p:cNvPr>
          <p:cNvSpPr txBox="1"/>
          <p:nvPr/>
        </p:nvSpPr>
        <p:spPr>
          <a:xfrm>
            <a:off x="486144" y="958417"/>
            <a:ext cx="11165081" cy="461665"/>
          </a:xfrm>
          <a:prstGeom prst="rect">
            <a:avLst/>
          </a:prstGeom>
          <a:noFill/>
        </p:spPr>
        <p:txBody>
          <a:bodyPr wrap="square">
            <a:spAutoFit/>
          </a:bodyPr>
          <a:lstStyle/>
          <a:p>
            <a:pPr>
              <a:spcBef>
                <a:spcPts val="1200"/>
              </a:spcBef>
              <a:spcAft>
                <a:spcPts val="600"/>
              </a:spcAft>
            </a:pPr>
            <a:r>
              <a:rPr lang="en-IN" sz="2400" dirty="0">
                <a:solidFill>
                  <a:srgbClr val="0070C0"/>
                </a:solidFill>
                <a:latin typeface="Trebuchet MS" panose="020B0603020202020204" pitchFamily="34" charset="0"/>
                <a:ea typeface="Times New Roman" panose="02020603050405020304" pitchFamily="18" charset="0"/>
                <a:cs typeface="Times New Roman" panose="02020603050405020304" pitchFamily="18" charset="0"/>
                <a:sym typeface="Wingdings" panose="05000000000000000000" pitchFamily="2" charset="2"/>
              </a:rPr>
              <a:t>Solution </a:t>
            </a:r>
            <a:r>
              <a:rPr lang="en-IN" sz="2400" dirty="0" smtClean="0">
                <a:solidFill>
                  <a:srgbClr val="0070C0"/>
                </a:solidFill>
                <a:latin typeface="Trebuchet MS" panose="020B0603020202020204" pitchFamily="34" charset="0"/>
                <a:ea typeface="Times New Roman" panose="02020603050405020304" pitchFamily="18" charset="0"/>
                <a:cs typeface="Times New Roman" panose="02020603050405020304" pitchFamily="18" charset="0"/>
                <a:sym typeface="Wingdings" panose="05000000000000000000" pitchFamily="2" charset="2"/>
              </a:rPr>
              <a:t>1: </a:t>
            </a:r>
            <a:r>
              <a:rPr lang="en-IN" sz="2400" dirty="0" smtClean="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All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these procedures are shown sequentially in the below </a:t>
            </a:r>
            <a:r>
              <a:rPr lang="en-IN" sz="2400" dirty="0" smtClean="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figure</a:t>
            </a:r>
            <a:endParaRPr lang="en-IN" sz="24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p:txBody>
      </p:sp>
      <p:sp>
        <p:nvSpPr>
          <p:cNvPr id="5" name="Rectangle 3">
            <a:extLst>
              <a:ext uri="{FF2B5EF4-FFF2-40B4-BE49-F238E27FC236}">
                <a16:creationId xmlns:a16="http://schemas.microsoft.com/office/drawing/2014/main" id="{AFF708AF-B132-761C-0AD4-F129BAACECDC}"/>
              </a:ext>
            </a:extLst>
          </p:cNvPr>
          <p:cNvSpPr>
            <a:spLocks noChangeArrowheads="1"/>
          </p:cNvSpPr>
          <p:nvPr/>
        </p:nvSpPr>
        <p:spPr bwMode="auto">
          <a:xfrm>
            <a:off x="0" y="320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2D4BC55A-665C-A014-804E-41BF81503687}"/>
              </a:ext>
            </a:extLst>
          </p:cNvPr>
          <p:cNvSpPr txBox="1"/>
          <p:nvPr/>
        </p:nvSpPr>
        <p:spPr>
          <a:xfrm>
            <a:off x="9514860" y="1487814"/>
            <a:ext cx="2417736" cy="5201424"/>
          </a:xfrm>
          <a:prstGeom prst="rect">
            <a:avLst/>
          </a:prstGeom>
          <a:noFill/>
        </p:spPr>
        <p:txBody>
          <a:bodyPr wrap="square">
            <a:spAutoFit/>
          </a:bodyPr>
          <a:lstStyle/>
          <a:p>
            <a:pPr marL="342900" lvl="0" indent="-342900">
              <a:spcBef>
                <a:spcPts val="1200"/>
              </a:spcBef>
              <a:spcAft>
                <a:spcPts val="1200"/>
              </a:spcAft>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This is not the only possible solution to the problem</a:t>
            </a:r>
            <a:r>
              <a:rPr lang="en-IN" sz="2400" dirty="0" smtClean="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a:t>
            </a:r>
          </a:p>
          <a:p>
            <a:pPr marL="342900" lvl="0" indent="-342900">
              <a:spcBef>
                <a:spcPts val="1200"/>
              </a:spcBef>
              <a:spcAft>
                <a:spcPts val="1200"/>
              </a:spcAft>
              <a:buSzPct val="100000"/>
              <a:buFont typeface="Arial" panose="020B0604020202020204" pitchFamily="34" charset="0"/>
              <a:buChar char="•"/>
              <a:tabLst>
                <a:tab pos="457200" algn="l"/>
              </a:tabLst>
            </a:pPr>
            <a:r>
              <a:rPr lang="en-US" sz="2400" dirty="0">
                <a:solidFill>
                  <a:srgbClr val="333333"/>
                </a:solidFill>
                <a:latin typeface="Trebuchet MS" panose="020B0603020202020204" pitchFamily="34" charset="0"/>
                <a:ea typeface="Times New Roman" panose="02020603050405020304" pitchFamily="18" charset="0"/>
                <a:cs typeface="Times New Roman" panose="02020603050405020304" pitchFamily="18" charset="0"/>
              </a:rPr>
              <a:t>If we move each queen one step forward in a clockwise manner, we get another solution</a:t>
            </a:r>
            <a:r>
              <a:rPr lang="en-US" sz="2400" dirty="0" smtClean="0">
                <a:solidFill>
                  <a:srgbClr val="333333"/>
                </a:solidFill>
                <a:latin typeface="Trebuchet MS" panose="020B0603020202020204" pitchFamily="34" charset="0"/>
                <a:ea typeface="Times New Roman" panose="02020603050405020304" pitchFamily="18" charset="0"/>
                <a:cs typeface="Times New Roman" panose="02020603050405020304" pitchFamily="18" charset="0"/>
              </a:rPr>
              <a:t>.</a:t>
            </a:r>
            <a:endParaRPr lang="en-IN" sz="20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p:txBody>
      </p:sp>
      <p:pic>
        <p:nvPicPr>
          <p:cNvPr id="3" name="Picture 2"/>
          <p:cNvPicPr>
            <a:picLocks noChangeAspect="1"/>
          </p:cNvPicPr>
          <p:nvPr/>
        </p:nvPicPr>
        <p:blipFill>
          <a:blip r:embed="rId6"/>
          <a:stretch>
            <a:fillRect/>
          </a:stretch>
        </p:blipFill>
        <p:spPr>
          <a:xfrm>
            <a:off x="486145" y="1466286"/>
            <a:ext cx="9138302" cy="5244480"/>
          </a:xfrm>
          <a:prstGeom prst="rect">
            <a:avLst/>
          </a:prstGeom>
        </p:spPr>
      </p:pic>
    </p:spTree>
    <p:extLst>
      <p:ext uri="{BB962C8B-B14F-4D97-AF65-F5344CB8AC3E}">
        <p14:creationId xmlns:p14="http://schemas.microsoft.com/office/powerpoint/2010/main" val="302055577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6382"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200" dirty="0">
              <a:solidFill>
                <a:schemeClr val="bg1"/>
              </a:solidFill>
              <a:latin typeface="Corbel" panose="020B0503020204020204" pitchFamily="34" charset="0"/>
            </a:endParaRPr>
          </a:p>
        </p:txBody>
      </p:sp>
      <p:sp>
        <p:nvSpPr>
          <p:cNvPr id="5" name="Rectangle 3">
            <a:extLst>
              <a:ext uri="{FF2B5EF4-FFF2-40B4-BE49-F238E27FC236}">
                <a16:creationId xmlns:a16="http://schemas.microsoft.com/office/drawing/2014/main" id="{AFF708AF-B132-761C-0AD4-F129BAACECDC}"/>
              </a:ext>
            </a:extLst>
          </p:cNvPr>
          <p:cNvSpPr>
            <a:spLocks noChangeArrowheads="1"/>
          </p:cNvSpPr>
          <p:nvPr/>
        </p:nvSpPr>
        <p:spPr bwMode="auto">
          <a:xfrm>
            <a:off x="0" y="320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a:extLst>
              <a:ext uri="{FF2B5EF4-FFF2-40B4-BE49-F238E27FC236}">
                <a16:creationId xmlns:a16="http://schemas.microsoft.com/office/drawing/2014/main" id="{0DEAEEEA-A54F-6AFD-1B5E-BF524401AA95}"/>
              </a:ext>
            </a:extLst>
          </p:cNvPr>
          <p:cNvPicPr>
            <a:picLocks noChangeAspect="1"/>
          </p:cNvPicPr>
          <p:nvPr/>
        </p:nvPicPr>
        <p:blipFill>
          <a:blip r:embed="rId6"/>
          <a:stretch>
            <a:fillRect/>
          </a:stretch>
        </p:blipFill>
        <p:spPr>
          <a:xfrm>
            <a:off x="405044" y="1226613"/>
            <a:ext cx="7941403" cy="5118560"/>
          </a:xfrm>
          <a:prstGeom prst="rect">
            <a:avLst/>
          </a:prstGeom>
        </p:spPr>
      </p:pic>
      <p:sp>
        <p:nvSpPr>
          <p:cNvPr id="9" name="TextBox 8">
            <a:extLst>
              <a:ext uri="{FF2B5EF4-FFF2-40B4-BE49-F238E27FC236}">
                <a16:creationId xmlns:a16="http://schemas.microsoft.com/office/drawing/2014/main" id="{6DF7C603-5417-C179-2944-BFA6EA30596C}"/>
              </a:ext>
            </a:extLst>
          </p:cNvPr>
          <p:cNvSpPr txBox="1"/>
          <p:nvPr/>
        </p:nvSpPr>
        <p:spPr>
          <a:xfrm>
            <a:off x="8526048" y="1459952"/>
            <a:ext cx="3285786" cy="4247317"/>
          </a:xfrm>
          <a:prstGeom prst="rect">
            <a:avLst/>
          </a:prstGeom>
          <a:noFill/>
        </p:spPr>
        <p:txBody>
          <a:bodyPr wrap="square">
            <a:spAutoFit/>
          </a:bodyPr>
          <a:lstStyle/>
          <a:p>
            <a:pPr lvl="0">
              <a:spcBef>
                <a:spcPts val="1200"/>
              </a:spcBef>
              <a:spcAft>
                <a:spcPts val="600"/>
              </a:spcAft>
              <a:buSzPct val="100000"/>
              <a:tabLst>
                <a:tab pos="457200" algn="l"/>
              </a:tabLst>
            </a:pPr>
            <a:r>
              <a:rPr lang="en-IN" sz="2400"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Solution 2 </a:t>
            </a:r>
          </a:p>
          <a:p>
            <a:pPr marL="342900" lvl="0" indent="-342900">
              <a:spcBef>
                <a:spcPts val="1200"/>
              </a:spcBef>
              <a:spcAft>
                <a:spcPts val="600"/>
              </a:spcAft>
              <a:buSzPct val="100000"/>
              <a:buFont typeface="Symbol" panose="05050102010706020507" pitchFamily="18" charset="2"/>
              <a:buChar char=""/>
              <a:tabLst>
                <a:tab pos="457200" algn="l"/>
              </a:tabLst>
            </a:pPr>
            <a:r>
              <a:rPr lang="en-IN" sz="2400" dirty="0" smtClean="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In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this example we placed the queens according to rows, we can do the same thing column-wise also.</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spcBef>
                <a:spcPts val="1200"/>
              </a:spcBef>
              <a:spcAft>
                <a:spcPts val="600"/>
              </a:spcAft>
              <a:buSzPct val="100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In that case, each queen will belong to a column.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27498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8CC5427E-AA6E-FB0F-A88A-1EBF8EB04632}"/>
              </a:ext>
            </a:extLst>
          </p:cNvPr>
          <p:cNvSpPr txBox="1"/>
          <p:nvPr/>
        </p:nvSpPr>
        <p:spPr>
          <a:xfrm>
            <a:off x="523292" y="202629"/>
            <a:ext cx="7721056" cy="1200329"/>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 -State space tree </a:t>
            </a:r>
            <a:endParaRPr lang="en-IN" sz="3600" dirty="0">
              <a:solidFill>
                <a:schemeClr val="bg1"/>
              </a:solidFill>
              <a:latin typeface="Corbel" panose="020B0503020204020204" pitchFamily="34" charset="0"/>
            </a:endParaRPr>
          </a:p>
          <a:p>
            <a:endParaRPr lang="en-IN" sz="3600" dirty="0">
              <a:solidFill>
                <a:schemeClr val="bg1"/>
              </a:solidFill>
              <a:latin typeface="Corbel" panose="020B0503020204020204" pitchFamily="34" charset="0"/>
            </a:endParaRPr>
          </a:p>
        </p:txBody>
      </p:sp>
      <p:pic>
        <p:nvPicPr>
          <p:cNvPr id="4" name="Picture 3">
            <a:extLst>
              <a:ext uri="{FF2B5EF4-FFF2-40B4-BE49-F238E27FC236}">
                <a16:creationId xmlns:a16="http://schemas.microsoft.com/office/drawing/2014/main" id="{3BCB75C9-45ED-5914-6782-3AFDD26594E3}"/>
              </a:ext>
            </a:extLst>
          </p:cNvPr>
          <p:cNvPicPr>
            <a:picLocks noChangeAspect="1"/>
          </p:cNvPicPr>
          <p:nvPr/>
        </p:nvPicPr>
        <p:blipFill rotWithShape="1">
          <a:blip r:embed="rId6"/>
          <a:srcRect b="1375"/>
          <a:stretch/>
        </p:blipFill>
        <p:spPr>
          <a:xfrm>
            <a:off x="991214" y="984943"/>
            <a:ext cx="8672052" cy="5563341"/>
          </a:xfrm>
          <a:prstGeom prst="rect">
            <a:avLst/>
          </a:prstGeom>
        </p:spPr>
      </p:pic>
    </p:spTree>
    <p:extLst>
      <p:ext uri="{BB962C8B-B14F-4D97-AF65-F5344CB8AC3E}">
        <p14:creationId xmlns:p14="http://schemas.microsoft.com/office/powerpoint/2010/main" val="26191273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8CC5427E-AA6E-FB0F-A88A-1EBF8EB04632}"/>
              </a:ext>
            </a:extLst>
          </p:cNvPr>
          <p:cNvSpPr txBox="1"/>
          <p:nvPr/>
        </p:nvSpPr>
        <p:spPr>
          <a:xfrm>
            <a:off x="289988" y="202629"/>
            <a:ext cx="7954360"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600" dirty="0">
              <a:solidFill>
                <a:schemeClr val="bg1"/>
              </a:solidFill>
              <a:latin typeface="Corbel" panose="020B0503020204020204" pitchFamily="34" charset="0"/>
            </a:endParaRPr>
          </a:p>
        </p:txBody>
      </p:sp>
      <p:sp>
        <p:nvSpPr>
          <p:cNvPr id="8" name="TextBox 7">
            <a:extLst>
              <a:ext uri="{FF2B5EF4-FFF2-40B4-BE49-F238E27FC236}">
                <a16:creationId xmlns:a16="http://schemas.microsoft.com/office/drawing/2014/main" id="{40AF8164-AAC0-D843-7DA2-A8CB27937B84}"/>
              </a:ext>
            </a:extLst>
          </p:cNvPr>
          <p:cNvSpPr txBox="1"/>
          <p:nvPr/>
        </p:nvSpPr>
        <p:spPr>
          <a:xfrm>
            <a:off x="411456" y="1782878"/>
            <a:ext cx="10856312" cy="452431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400" dirty="0">
                <a:solidFill>
                  <a:srgbClr val="333333"/>
                </a:solidFill>
                <a:latin typeface="Trebuchet MS" panose="020B0603020202020204" pitchFamily="34" charset="0"/>
                <a:cs typeface="Times New Roman" panose="02020603050405020304" pitchFamily="18" charset="0"/>
              </a:rPr>
              <a:t>We can solve this problem in the same way as in 4-queens. </a:t>
            </a:r>
          </a:p>
          <a:p>
            <a:pPr marL="285750" indent="-285750">
              <a:lnSpc>
                <a:spcPct val="150000"/>
              </a:lnSpc>
              <a:buFont typeface="Arial" panose="020B0604020202020204" pitchFamily="34" charset="0"/>
              <a:buChar char="•"/>
            </a:pPr>
            <a:r>
              <a:rPr lang="en-IN" sz="2400" dirty="0">
                <a:solidFill>
                  <a:srgbClr val="333333"/>
                </a:solidFill>
                <a:latin typeface="Trebuchet MS" panose="020B0603020202020204" pitchFamily="34" charset="0"/>
                <a:cs typeface="Times New Roman" panose="02020603050405020304" pitchFamily="18" charset="0"/>
              </a:rPr>
              <a:t>Place eight queen on </a:t>
            </a:r>
            <a:r>
              <a:rPr lang="en-IN" sz="2400" dirty="0">
                <a:solidFill>
                  <a:srgbClr val="0070C0"/>
                </a:solidFill>
                <a:latin typeface="Trebuchet MS" panose="020B0603020202020204" pitchFamily="34" charset="0"/>
                <a:cs typeface="Times New Roman" panose="02020603050405020304" pitchFamily="18" charset="0"/>
              </a:rPr>
              <a:t>8 x 8 chessboard </a:t>
            </a:r>
            <a:r>
              <a:rPr lang="en-IN" sz="2400" dirty="0">
                <a:solidFill>
                  <a:srgbClr val="333333"/>
                </a:solidFill>
                <a:latin typeface="Trebuchet MS" panose="020B0603020202020204" pitchFamily="34" charset="0"/>
                <a:cs typeface="Times New Roman" panose="02020603050405020304" pitchFamily="18" charset="0"/>
              </a:rPr>
              <a:t>so that no queen attacks another queen. </a:t>
            </a:r>
          </a:p>
          <a:p>
            <a:pPr marL="285750" indent="-285750">
              <a:lnSpc>
                <a:spcPct val="150000"/>
              </a:lnSpc>
              <a:buFont typeface="Arial" panose="020B0604020202020204" pitchFamily="34" charset="0"/>
              <a:buChar char="•"/>
            </a:pPr>
            <a:r>
              <a:rPr lang="en-IN" sz="2400" dirty="0">
                <a:solidFill>
                  <a:srgbClr val="333333"/>
                </a:solidFill>
                <a:latin typeface="Trebuchet MS" panose="020B0603020202020204" pitchFamily="34" charset="0"/>
                <a:cs typeface="Times New Roman" panose="02020603050405020304" pitchFamily="18" charset="0"/>
              </a:rPr>
              <a:t>A queen attacks another queen if the two are in the same row, column or diagonal. </a:t>
            </a:r>
          </a:p>
          <a:p>
            <a:pPr marL="285750" indent="-285750">
              <a:lnSpc>
                <a:spcPct val="150000"/>
              </a:lnSpc>
              <a:buFont typeface="Arial" panose="020B0604020202020204" pitchFamily="34" charset="0"/>
              <a:buChar char="•"/>
            </a:pPr>
            <a:r>
              <a:rPr lang="en-IN" sz="2400" dirty="0">
                <a:solidFill>
                  <a:srgbClr val="333333"/>
                </a:solidFill>
                <a:latin typeface="Trebuchet MS" panose="020B0603020202020204" pitchFamily="34" charset="0"/>
                <a:cs typeface="Times New Roman" panose="02020603050405020304" pitchFamily="18" charset="0"/>
              </a:rPr>
              <a:t>We can solve this problem in the same way as in 4 queens. </a:t>
            </a:r>
            <a:endParaRPr lang="en-IN" sz="2400" dirty="0" smtClean="0">
              <a:solidFill>
                <a:srgbClr val="333333"/>
              </a:solidFill>
              <a:latin typeface="Trebuchet MS" panose="020B0603020202020204" pitchFamily="34" charset="0"/>
              <a:cs typeface="Times New Roman" panose="02020603050405020304" pitchFamily="18" charset="0"/>
            </a:endParaRPr>
          </a:p>
          <a:p>
            <a:pPr marL="285750" indent="-285750">
              <a:lnSpc>
                <a:spcPct val="150000"/>
              </a:lnSpc>
              <a:buFont typeface="Arial" panose="020B0604020202020204" pitchFamily="34" charset="0"/>
              <a:buChar char="•"/>
            </a:pPr>
            <a:r>
              <a:rPr lang="en-IN" sz="2400" dirty="0" smtClean="0">
                <a:solidFill>
                  <a:srgbClr val="333333"/>
                </a:solidFill>
                <a:latin typeface="Trebuchet MS" panose="020B0603020202020204" pitchFamily="34" charset="0"/>
                <a:cs typeface="Times New Roman" panose="02020603050405020304" pitchFamily="18" charset="0"/>
              </a:rPr>
              <a:t>For </a:t>
            </a:r>
            <a:r>
              <a:rPr lang="en-IN" sz="2400" dirty="0">
                <a:solidFill>
                  <a:srgbClr val="333333"/>
                </a:solidFill>
                <a:latin typeface="Trebuchet MS" panose="020B0603020202020204" pitchFamily="34" charset="0"/>
                <a:cs typeface="Times New Roman" panose="02020603050405020304" pitchFamily="18" charset="0"/>
              </a:rPr>
              <a:t>8-queens, generally 92 solutions are possible, excluding symmetry, only 12 unique solutions exist.</a:t>
            </a:r>
          </a:p>
        </p:txBody>
      </p:sp>
      <p:sp>
        <p:nvSpPr>
          <p:cNvPr id="10" name="TextBox 9">
            <a:extLst>
              <a:ext uri="{FF2B5EF4-FFF2-40B4-BE49-F238E27FC236}">
                <a16:creationId xmlns:a16="http://schemas.microsoft.com/office/drawing/2014/main" id="{A6EDFBD3-37B5-8CF6-15AA-3486697E20DB}"/>
              </a:ext>
            </a:extLst>
          </p:cNvPr>
          <p:cNvSpPr txBox="1"/>
          <p:nvPr/>
        </p:nvSpPr>
        <p:spPr>
          <a:xfrm>
            <a:off x="289988" y="1137410"/>
            <a:ext cx="5812362" cy="523220"/>
          </a:xfrm>
          <a:prstGeom prst="rect">
            <a:avLst/>
          </a:prstGeom>
          <a:noFill/>
        </p:spPr>
        <p:txBody>
          <a:bodyPr wrap="square">
            <a:spAutoFit/>
          </a:bodyPr>
          <a:lstStyle/>
          <a:p>
            <a:r>
              <a:rPr lang="en-IN" sz="2800" b="1" dirty="0">
                <a:solidFill>
                  <a:srgbClr val="0070C0"/>
                </a:solidFill>
                <a:latin typeface="Trebuchet MS" panose="020B0603020202020204" pitchFamily="34" charset="0"/>
                <a:cs typeface="Times New Roman" panose="02020603050405020304" pitchFamily="18" charset="0"/>
              </a:rPr>
              <a:t>8-queens </a:t>
            </a:r>
            <a:r>
              <a:rPr lang="en-IN" sz="2800" b="1" dirty="0" smtClean="0">
                <a:solidFill>
                  <a:srgbClr val="0070C0"/>
                </a:solidFill>
                <a:latin typeface="Trebuchet MS" panose="020B0603020202020204" pitchFamily="34" charset="0"/>
                <a:cs typeface="Times New Roman" panose="02020603050405020304" pitchFamily="18" charset="0"/>
              </a:rPr>
              <a:t>Problem</a:t>
            </a:r>
            <a:r>
              <a:rPr lang="en-IN" sz="2800" dirty="0" smtClean="0">
                <a:solidFill>
                  <a:srgbClr val="0070C0"/>
                </a:solidFill>
                <a:latin typeface="Trebuchet MS" panose="020B0603020202020204" pitchFamily="34" charset="0"/>
                <a:cs typeface="Times New Roman" panose="02020603050405020304" pitchFamily="18" charset="0"/>
              </a:rPr>
              <a:t>:</a:t>
            </a:r>
            <a:endParaRPr lang="en-IN" sz="2800" dirty="0">
              <a:solidFill>
                <a:srgbClr val="0070C0"/>
              </a:solidFill>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37674087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8CC5427E-AA6E-FB0F-A88A-1EBF8EB04632}"/>
              </a:ext>
            </a:extLst>
          </p:cNvPr>
          <p:cNvSpPr txBox="1"/>
          <p:nvPr/>
        </p:nvSpPr>
        <p:spPr>
          <a:xfrm>
            <a:off x="523292" y="202629"/>
            <a:ext cx="7721056"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600" dirty="0">
              <a:solidFill>
                <a:schemeClr val="bg1"/>
              </a:solidFill>
              <a:latin typeface="Corbel" panose="020B0503020204020204" pitchFamily="34" charset="0"/>
            </a:endParaRPr>
          </a:p>
        </p:txBody>
      </p:sp>
      <p:pic>
        <p:nvPicPr>
          <p:cNvPr id="3" name="Picture 2">
            <a:extLst>
              <a:ext uri="{FF2B5EF4-FFF2-40B4-BE49-F238E27FC236}">
                <a16:creationId xmlns:a16="http://schemas.microsoft.com/office/drawing/2014/main" id="{B57048C3-921C-6939-61F4-B51CEB04026D}"/>
              </a:ext>
            </a:extLst>
          </p:cNvPr>
          <p:cNvPicPr>
            <a:picLocks noChangeAspect="1"/>
          </p:cNvPicPr>
          <p:nvPr/>
        </p:nvPicPr>
        <p:blipFill>
          <a:blip r:embed="rId6"/>
          <a:stretch>
            <a:fillRect/>
          </a:stretch>
        </p:blipFill>
        <p:spPr>
          <a:xfrm>
            <a:off x="1117599" y="1059803"/>
            <a:ext cx="9697285" cy="5595567"/>
          </a:xfrm>
          <a:prstGeom prst="rect">
            <a:avLst/>
          </a:prstGeom>
        </p:spPr>
      </p:pic>
    </p:spTree>
    <p:extLst>
      <p:ext uri="{BB962C8B-B14F-4D97-AF65-F5344CB8AC3E}">
        <p14:creationId xmlns:p14="http://schemas.microsoft.com/office/powerpoint/2010/main" val="90336664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8CC5427E-AA6E-FB0F-A88A-1EBF8EB04632}"/>
              </a:ext>
            </a:extLst>
          </p:cNvPr>
          <p:cNvSpPr txBox="1"/>
          <p:nvPr/>
        </p:nvSpPr>
        <p:spPr>
          <a:xfrm>
            <a:off x="523292" y="202629"/>
            <a:ext cx="7721056"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600" dirty="0">
              <a:solidFill>
                <a:schemeClr val="bg1"/>
              </a:solidFill>
              <a:latin typeface="Corbel" panose="020B0503020204020204" pitchFamily="34" charset="0"/>
            </a:endParaRPr>
          </a:p>
        </p:txBody>
      </p:sp>
      <p:pic>
        <p:nvPicPr>
          <p:cNvPr id="10" name="Picture 9">
            <a:extLst>
              <a:ext uri="{FF2B5EF4-FFF2-40B4-BE49-F238E27FC236}">
                <a16:creationId xmlns:a16="http://schemas.microsoft.com/office/drawing/2014/main" id="{C67756BA-1E4D-B644-9E73-82FA79017D91}"/>
              </a:ext>
            </a:extLst>
          </p:cNvPr>
          <p:cNvPicPr>
            <a:picLocks noChangeAspect="1"/>
          </p:cNvPicPr>
          <p:nvPr/>
        </p:nvPicPr>
        <p:blipFill>
          <a:blip r:embed="rId6"/>
          <a:stretch>
            <a:fillRect/>
          </a:stretch>
        </p:blipFill>
        <p:spPr>
          <a:xfrm>
            <a:off x="1228007" y="1276703"/>
            <a:ext cx="9936521" cy="5147187"/>
          </a:xfrm>
          <a:prstGeom prst="rect">
            <a:avLst/>
          </a:prstGeom>
        </p:spPr>
      </p:pic>
      <p:cxnSp>
        <p:nvCxnSpPr>
          <p:cNvPr id="12" name="Straight Connector 11">
            <a:extLst>
              <a:ext uri="{FF2B5EF4-FFF2-40B4-BE49-F238E27FC236}">
                <a16:creationId xmlns:a16="http://schemas.microsoft.com/office/drawing/2014/main" id="{9A7A7CCE-4430-D34B-7752-8136ABC06A43}"/>
              </a:ext>
            </a:extLst>
          </p:cNvPr>
          <p:cNvCxnSpPr>
            <a:cxnSpLocks/>
          </p:cNvCxnSpPr>
          <p:nvPr/>
        </p:nvCxnSpPr>
        <p:spPr>
          <a:xfrm flipH="1">
            <a:off x="6946490" y="1276703"/>
            <a:ext cx="1" cy="5147187"/>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36252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8CC5427E-AA6E-FB0F-A88A-1EBF8EB04632}"/>
              </a:ext>
            </a:extLst>
          </p:cNvPr>
          <p:cNvSpPr txBox="1"/>
          <p:nvPr/>
        </p:nvSpPr>
        <p:spPr>
          <a:xfrm>
            <a:off x="523292" y="202629"/>
            <a:ext cx="7721056"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600" dirty="0">
              <a:solidFill>
                <a:schemeClr val="bg1"/>
              </a:solidFill>
              <a:latin typeface="Corbel" panose="020B0503020204020204" pitchFamily="34" charset="0"/>
            </a:endParaRPr>
          </a:p>
        </p:txBody>
      </p:sp>
      <p:pic>
        <p:nvPicPr>
          <p:cNvPr id="4" name="Picture 3">
            <a:extLst>
              <a:ext uri="{FF2B5EF4-FFF2-40B4-BE49-F238E27FC236}">
                <a16:creationId xmlns:a16="http://schemas.microsoft.com/office/drawing/2014/main" id="{34880519-97FA-191A-FB17-E0A9616D0831}"/>
              </a:ext>
            </a:extLst>
          </p:cNvPr>
          <p:cNvPicPr>
            <a:picLocks noChangeAspect="1"/>
          </p:cNvPicPr>
          <p:nvPr/>
        </p:nvPicPr>
        <p:blipFill rotWithShape="1">
          <a:blip r:embed="rId6"/>
          <a:srcRect l="7235" t="7204" r="2947"/>
          <a:stretch/>
        </p:blipFill>
        <p:spPr>
          <a:xfrm>
            <a:off x="1415844" y="1252587"/>
            <a:ext cx="8745794" cy="5105607"/>
          </a:xfrm>
          <a:prstGeom prst="rect">
            <a:avLst/>
          </a:prstGeom>
        </p:spPr>
      </p:pic>
    </p:spTree>
    <p:extLst>
      <p:ext uri="{BB962C8B-B14F-4D97-AF65-F5344CB8AC3E}">
        <p14:creationId xmlns:p14="http://schemas.microsoft.com/office/powerpoint/2010/main" val="376598513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using </a:t>
            </a:r>
            <a:r>
              <a:rPr lang="en-US" sz="3600" b="1" dirty="0" smtClean="0">
                <a:solidFill>
                  <a:schemeClr val="bg1"/>
                </a:solidFill>
                <a:latin typeface="Corbel" panose="020B0503020204020204" pitchFamily="34" charset="0"/>
              </a:rPr>
              <a:t>Backtracking</a:t>
            </a:r>
            <a:endParaRPr lang="en-IN" sz="3600" b="1" dirty="0">
              <a:solidFill>
                <a:schemeClr val="bg1"/>
              </a:solidFill>
              <a:latin typeface="Corbel" panose="020B0503020204020204" pitchFamily="34" charset="0"/>
            </a:endParaRPr>
          </a:p>
        </p:txBody>
      </p:sp>
      <p:sp>
        <p:nvSpPr>
          <p:cNvPr id="3" name="Rectangle 2"/>
          <p:cNvSpPr/>
          <p:nvPr/>
        </p:nvSpPr>
        <p:spPr>
          <a:xfrm>
            <a:off x="390192" y="1036233"/>
            <a:ext cx="11421641" cy="2862322"/>
          </a:xfrm>
          <a:prstGeom prst="rect">
            <a:avLst/>
          </a:prstGeom>
        </p:spPr>
        <p:txBody>
          <a:bodyPr wrap="square">
            <a:spAutoFit/>
          </a:bodyPr>
          <a:lstStyle/>
          <a:p>
            <a:pPr marL="457200" indent="-457200">
              <a:lnSpc>
                <a:spcPct val="150000"/>
              </a:lnSpc>
              <a:buFont typeface="Arial" panose="020B0604020202020204" pitchFamily="34" charset="0"/>
              <a:buChar char="•"/>
            </a:pPr>
            <a:r>
              <a:rPr lang="en-US" sz="2400" dirty="0">
                <a:solidFill>
                  <a:srgbClr val="212121"/>
                </a:solidFill>
                <a:latin typeface="Trebuchet MS" panose="020B0603020202020204" pitchFamily="34" charset="0"/>
              </a:rPr>
              <a:t>The Hamiltonian cycle is the cycle in the graph </a:t>
            </a:r>
            <a:r>
              <a:rPr lang="en-US" sz="2400" dirty="0">
                <a:solidFill>
                  <a:srgbClr val="0070C0"/>
                </a:solidFill>
                <a:latin typeface="Trebuchet MS" panose="020B0603020202020204" pitchFamily="34" charset="0"/>
              </a:rPr>
              <a:t>which visits all the vertices </a:t>
            </a:r>
            <a:r>
              <a:rPr lang="en-US" sz="2400" dirty="0">
                <a:solidFill>
                  <a:srgbClr val="212121"/>
                </a:solidFill>
                <a:latin typeface="Trebuchet MS" panose="020B0603020202020204" pitchFamily="34" charset="0"/>
              </a:rPr>
              <a:t>in graph </a:t>
            </a:r>
            <a:r>
              <a:rPr lang="en-US" sz="2400" dirty="0">
                <a:solidFill>
                  <a:srgbClr val="0070C0"/>
                </a:solidFill>
                <a:latin typeface="Trebuchet MS" panose="020B0603020202020204" pitchFamily="34" charset="0"/>
              </a:rPr>
              <a:t>exactly once </a:t>
            </a:r>
            <a:r>
              <a:rPr lang="en-US" sz="2400" dirty="0">
                <a:solidFill>
                  <a:srgbClr val="212121"/>
                </a:solidFill>
                <a:latin typeface="Trebuchet MS" panose="020B0603020202020204" pitchFamily="34" charset="0"/>
              </a:rPr>
              <a:t>and </a:t>
            </a:r>
            <a:r>
              <a:rPr lang="en-US" sz="2400" dirty="0">
                <a:solidFill>
                  <a:srgbClr val="0070C0"/>
                </a:solidFill>
                <a:latin typeface="Trebuchet MS" panose="020B0603020202020204" pitchFamily="34" charset="0"/>
              </a:rPr>
              <a:t>terminates at the starting node</a:t>
            </a:r>
            <a:r>
              <a:rPr lang="en-US" sz="2400" dirty="0">
                <a:solidFill>
                  <a:srgbClr val="212121"/>
                </a:solidFill>
                <a:latin typeface="Trebuchet MS" panose="020B0603020202020204" pitchFamily="34" charset="0"/>
              </a:rPr>
              <a:t>. It may </a:t>
            </a:r>
            <a:r>
              <a:rPr lang="en-US" sz="2400" dirty="0">
                <a:solidFill>
                  <a:srgbClr val="0070C0"/>
                </a:solidFill>
                <a:latin typeface="Trebuchet MS" panose="020B0603020202020204" pitchFamily="34" charset="0"/>
              </a:rPr>
              <a:t>not include </a:t>
            </a:r>
            <a:r>
              <a:rPr lang="en-US" sz="2400" dirty="0">
                <a:solidFill>
                  <a:srgbClr val="212121"/>
                </a:solidFill>
                <a:latin typeface="Trebuchet MS" panose="020B0603020202020204" pitchFamily="34" charset="0"/>
              </a:rPr>
              <a:t>all the </a:t>
            </a:r>
            <a:r>
              <a:rPr lang="en-US" sz="2400" dirty="0" smtClean="0">
                <a:solidFill>
                  <a:srgbClr val="212121"/>
                </a:solidFill>
                <a:latin typeface="Trebuchet MS" panose="020B0603020202020204" pitchFamily="34" charset="0"/>
              </a:rPr>
              <a:t>edges.</a:t>
            </a:r>
          </a:p>
          <a:p>
            <a:pPr marL="457200" indent="-457200">
              <a:lnSpc>
                <a:spcPct val="150000"/>
              </a:lnSpc>
              <a:buFont typeface="Arial" panose="020B0604020202020204" pitchFamily="34" charset="0"/>
              <a:buChar char="•"/>
            </a:pPr>
            <a:r>
              <a:rPr lang="en-US" sz="2400" dirty="0">
                <a:solidFill>
                  <a:srgbClr val="212121"/>
                </a:solidFill>
                <a:latin typeface="Trebuchet MS" panose="020B0603020202020204" pitchFamily="34" charset="0"/>
              </a:rPr>
              <a:t>The Hamiltonian cycle problem is the problem of finding a Hamiltonian cycle in a graph if there exists any such cycle</a:t>
            </a:r>
            <a:r>
              <a:rPr lang="en-US" sz="2400" dirty="0" smtClean="0">
                <a:solidFill>
                  <a:srgbClr val="212121"/>
                </a:solidFill>
                <a:latin typeface="Trebuchet MS" panose="020B0603020202020204" pitchFamily="34" charset="0"/>
              </a:rPr>
              <a:t>.</a:t>
            </a:r>
            <a:endParaRPr lang="en-IN" sz="2400" dirty="0">
              <a:solidFill>
                <a:srgbClr val="212121"/>
              </a:solidFill>
              <a:latin typeface="Trebuchet MS" panose="020B0603020202020204" pitchFamily="34" charset="0"/>
            </a:endParaRPr>
          </a:p>
        </p:txBody>
      </p:sp>
      <p:sp>
        <p:nvSpPr>
          <p:cNvPr id="4" name="Rectangle 3"/>
          <p:cNvSpPr/>
          <p:nvPr/>
        </p:nvSpPr>
        <p:spPr>
          <a:xfrm>
            <a:off x="436626" y="3919633"/>
            <a:ext cx="8634803" cy="2308324"/>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400" dirty="0">
                <a:solidFill>
                  <a:srgbClr val="212121"/>
                </a:solidFill>
                <a:latin typeface="Trebuchet MS" panose="020B0603020202020204" pitchFamily="34" charset="0"/>
              </a:rPr>
              <a:t>The input to the problem is an undirected, connected graph. For the graph shown in graph, a path A – B – E – D – C – A forms a Hamiltonian cycle. It visits all the vertices exactly once, but does not visit the edges &lt;B, D&gt;.</a:t>
            </a:r>
            <a:endParaRPr lang="en-IN" sz="2400" dirty="0">
              <a:solidFill>
                <a:srgbClr val="212121"/>
              </a:solidFill>
              <a:latin typeface="Trebuchet MS" panose="020B0603020202020204" pitchFamily="34" charset="0"/>
            </a:endParaRPr>
          </a:p>
        </p:txBody>
      </p:sp>
      <p:pic>
        <p:nvPicPr>
          <p:cNvPr id="6" name="Picture 5"/>
          <p:cNvPicPr>
            <a:picLocks noChangeAspect="1"/>
          </p:cNvPicPr>
          <p:nvPr/>
        </p:nvPicPr>
        <p:blipFill>
          <a:blip r:embed="rId6"/>
          <a:stretch>
            <a:fillRect/>
          </a:stretch>
        </p:blipFill>
        <p:spPr>
          <a:xfrm>
            <a:off x="9501738" y="3898555"/>
            <a:ext cx="2542030" cy="2245942"/>
          </a:xfrm>
          <a:prstGeom prst="rect">
            <a:avLst/>
          </a:prstGeom>
        </p:spPr>
      </p:pic>
    </p:spTree>
    <p:extLst>
      <p:ext uri="{BB962C8B-B14F-4D97-AF65-F5344CB8AC3E}">
        <p14:creationId xmlns:p14="http://schemas.microsoft.com/office/powerpoint/2010/main" val="34576332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using </a:t>
            </a:r>
            <a:r>
              <a:rPr lang="en-US" sz="3600" b="1" dirty="0" smtClean="0">
                <a:solidFill>
                  <a:schemeClr val="bg1"/>
                </a:solidFill>
                <a:latin typeface="Corbel" panose="020B0503020204020204" pitchFamily="34" charset="0"/>
              </a:rPr>
              <a:t>Backtracking</a:t>
            </a:r>
            <a:endParaRPr lang="en-IN" sz="3600" b="1" dirty="0">
              <a:solidFill>
                <a:schemeClr val="bg1"/>
              </a:solidFill>
              <a:latin typeface="Corbel" panose="020B0503020204020204" pitchFamily="34" charset="0"/>
            </a:endParaRPr>
          </a:p>
        </p:txBody>
      </p:sp>
      <p:sp>
        <p:nvSpPr>
          <p:cNvPr id="5" name="Rectangle 4"/>
          <p:cNvSpPr/>
          <p:nvPr/>
        </p:nvSpPr>
        <p:spPr>
          <a:xfrm>
            <a:off x="295258" y="885202"/>
            <a:ext cx="11588783" cy="2862322"/>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rebuchet MS" panose="020B0603020202020204" pitchFamily="34" charset="0"/>
              </a:rPr>
              <a:t>The Hamiltonian cycle problem is also both, decision problem and an optimization problem. A decision problem is stated as, “Given a path, is it a Hamiltonian cycle of the </a:t>
            </a:r>
            <a:r>
              <a:rPr lang="en-US" sz="2400" dirty="0" smtClean="0">
                <a:latin typeface="Trebuchet MS" panose="020B0603020202020204" pitchFamily="34" charset="0"/>
              </a:rPr>
              <a:t>graph”.</a:t>
            </a:r>
            <a:endParaRPr lang="en-US" sz="2400" dirty="0">
              <a:latin typeface="Trebuchet MS" panose="020B0603020202020204" pitchFamily="34" charset="0"/>
            </a:endParaRPr>
          </a:p>
          <a:p>
            <a:pPr marL="342900" indent="-342900">
              <a:lnSpc>
                <a:spcPct val="150000"/>
              </a:lnSpc>
              <a:buFont typeface="Arial" panose="020B0604020202020204" pitchFamily="34" charset="0"/>
              <a:buChar char="•"/>
            </a:pPr>
            <a:r>
              <a:rPr lang="en-US" sz="2400" dirty="0">
                <a:latin typeface="Trebuchet MS" panose="020B0603020202020204" pitchFamily="34" charset="0"/>
              </a:rPr>
              <a:t>The optimization problem is stated as, “Given graph G, find the Hamiltonian cycle for the graph</a:t>
            </a:r>
            <a:r>
              <a:rPr lang="en-US" sz="2400" dirty="0" smtClean="0">
                <a:latin typeface="Trebuchet MS" panose="020B0603020202020204" pitchFamily="34" charset="0"/>
              </a:rPr>
              <a:t>.”</a:t>
            </a:r>
            <a:endParaRPr lang="en-US" sz="2400" dirty="0">
              <a:latin typeface="Trebuchet MS" panose="020B0603020202020204" pitchFamily="34" charset="0"/>
            </a:endParaRPr>
          </a:p>
        </p:txBody>
      </p:sp>
    </p:spTree>
    <p:extLst>
      <p:ext uri="{BB962C8B-B14F-4D97-AF65-F5344CB8AC3E}">
        <p14:creationId xmlns:p14="http://schemas.microsoft.com/office/powerpoint/2010/main" val="280361655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using </a:t>
            </a:r>
            <a:r>
              <a:rPr lang="en-US" sz="3600" b="1" dirty="0" smtClean="0">
                <a:solidFill>
                  <a:schemeClr val="bg1"/>
                </a:solidFill>
                <a:latin typeface="Corbel" panose="020B0503020204020204" pitchFamily="34" charset="0"/>
              </a:rPr>
              <a:t>Backtracking</a:t>
            </a:r>
            <a:endParaRPr lang="en-IN" sz="3600" b="1" dirty="0">
              <a:solidFill>
                <a:schemeClr val="bg1"/>
              </a:solidFill>
              <a:latin typeface="Corbel" panose="020B0503020204020204" pitchFamily="34" charset="0"/>
            </a:endParaRPr>
          </a:p>
        </p:txBody>
      </p:sp>
      <p:sp>
        <p:nvSpPr>
          <p:cNvPr id="5" name="Rectangle 4"/>
          <p:cNvSpPr/>
          <p:nvPr/>
        </p:nvSpPr>
        <p:spPr>
          <a:xfrm>
            <a:off x="295258" y="1230202"/>
            <a:ext cx="11588783" cy="578492"/>
          </a:xfrm>
          <a:prstGeom prst="rect">
            <a:avLst/>
          </a:prstGeom>
        </p:spPr>
        <p:txBody>
          <a:bodyPr wrap="square">
            <a:spAutoFit/>
          </a:bodyPr>
          <a:lstStyle/>
          <a:p>
            <a:pPr marL="342900" indent="-342900">
              <a:lnSpc>
                <a:spcPct val="150000"/>
              </a:lnSpc>
              <a:buFont typeface="Arial" panose="020B0604020202020204" pitchFamily="34" charset="0"/>
              <a:buChar char="•"/>
            </a:pPr>
            <a:endParaRPr lang="en-IN" sz="2400" dirty="0">
              <a:latin typeface="Trebuchet MS" panose="020B0603020202020204" pitchFamily="34" charset="0"/>
            </a:endParaRPr>
          </a:p>
        </p:txBody>
      </p:sp>
      <p:sp>
        <p:nvSpPr>
          <p:cNvPr id="3" name="Rectangle 2"/>
          <p:cNvSpPr/>
          <p:nvPr/>
        </p:nvSpPr>
        <p:spPr>
          <a:xfrm>
            <a:off x="373302" y="1036233"/>
            <a:ext cx="6701045" cy="5724644"/>
          </a:xfrm>
          <a:prstGeom prst="rect">
            <a:avLst/>
          </a:prstGeom>
        </p:spPr>
        <p:txBody>
          <a:bodyPr wrap="square">
            <a:spAutoFit/>
          </a:bodyPr>
          <a:lstStyle/>
          <a:p>
            <a:r>
              <a:rPr lang="en-IN" sz="2400" b="1" dirty="0">
                <a:solidFill>
                  <a:srgbClr val="0070C0"/>
                </a:solidFill>
                <a:latin typeface="Trebuchet MS" panose="020B0603020202020204" pitchFamily="34" charset="0"/>
              </a:rPr>
              <a:t>Algorithm</a:t>
            </a:r>
          </a:p>
          <a:p>
            <a:endParaRPr lang="en-IN" b="1" dirty="0">
              <a:latin typeface="Trebuchet MS" panose="020B0603020202020204" pitchFamily="34" charset="0"/>
            </a:endParaRPr>
          </a:p>
          <a:p>
            <a:r>
              <a:rPr lang="en-IN" b="1" dirty="0">
                <a:latin typeface="Trebuchet MS" panose="020B0603020202020204" pitchFamily="34" charset="0"/>
              </a:rPr>
              <a:t> </a:t>
            </a:r>
            <a:r>
              <a:rPr lang="en-IN" b="1" dirty="0" smtClean="0">
                <a:latin typeface="Trebuchet MS" panose="020B0603020202020204" pitchFamily="34" charset="0"/>
              </a:rPr>
              <a:t>Algorithm HAMILTONIAN </a:t>
            </a:r>
            <a:r>
              <a:rPr lang="en-IN" b="1" dirty="0">
                <a:latin typeface="Trebuchet MS" panose="020B0603020202020204" pitchFamily="34" charset="0"/>
              </a:rPr>
              <a:t>(</a:t>
            </a:r>
            <a:r>
              <a:rPr lang="en-IN" b="1" dirty="0" err="1">
                <a:latin typeface="Trebuchet MS" panose="020B0603020202020204" pitchFamily="34" charset="0"/>
              </a:rPr>
              <a:t>i</a:t>
            </a:r>
            <a:r>
              <a:rPr lang="en-IN" b="1" dirty="0">
                <a:latin typeface="Trebuchet MS" panose="020B0603020202020204" pitchFamily="34" charset="0"/>
              </a:rPr>
              <a:t>)</a:t>
            </a:r>
          </a:p>
          <a:p>
            <a:r>
              <a:rPr lang="en-IN" b="1" dirty="0">
                <a:solidFill>
                  <a:srgbClr val="FF0000"/>
                </a:solidFill>
                <a:latin typeface="Trebuchet MS" panose="020B0603020202020204" pitchFamily="34" charset="0"/>
              </a:rPr>
              <a:t>// Description : </a:t>
            </a:r>
            <a:r>
              <a:rPr lang="en-IN" b="1" dirty="0">
                <a:solidFill>
                  <a:srgbClr val="0070C0"/>
                </a:solidFill>
                <a:latin typeface="Trebuchet MS" panose="020B0603020202020204" pitchFamily="34" charset="0"/>
              </a:rPr>
              <a:t>Solve Hamiltonian cycle problem using backtracking.</a:t>
            </a:r>
          </a:p>
          <a:p>
            <a:r>
              <a:rPr lang="en-IN" b="1" dirty="0">
                <a:solidFill>
                  <a:srgbClr val="FF0000"/>
                </a:solidFill>
                <a:latin typeface="Trebuchet MS" panose="020B0603020202020204" pitchFamily="34" charset="0"/>
              </a:rPr>
              <a:t>// Input : </a:t>
            </a:r>
            <a:r>
              <a:rPr lang="en-IN" b="1" dirty="0">
                <a:solidFill>
                  <a:srgbClr val="0070C0"/>
                </a:solidFill>
                <a:latin typeface="Trebuchet MS" panose="020B0603020202020204" pitchFamily="34" charset="0"/>
              </a:rPr>
              <a:t>Undirected, connected graph G = &lt;V, E&gt; and initial vertex </a:t>
            </a:r>
            <a:r>
              <a:rPr lang="en-IN" b="1" dirty="0" err="1">
                <a:solidFill>
                  <a:srgbClr val="0070C0"/>
                </a:solidFill>
                <a:latin typeface="Trebuchet MS" panose="020B0603020202020204" pitchFamily="34" charset="0"/>
              </a:rPr>
              <a:t>i</a:t>
            </a:r>
            <a:endParaRPr lang="en-IN" b="1" dirty="0">
              <a:solidFill>
                <a:srgbClr val="0070C0"/>
              </a:solidFill>
              <a:latin typeface="Trebuchet MS" panose="020B0603020202020204" pitchFamily="34" charset="0"/>
            </a:endParaRPr>
          </a:p>
          <a:p>
            <a:r>
              <a:rPr lang="en-IN" b="1" dirty="0">
                <a:solidFill>
                  <a:srgbClr val="FF0000"/>
                </a:solidFill>
                <a:latin typeface="Trebuchet MS" panose="020B0603020202020204" pitchFamily="34" charset="0"/>
              </a:rPr>
              <a:t>// Output : </a:t>
            </a:r>
            <a:r>
              <a:rPr lang="en-IN" b="1" dirty="0">
                <a:solidFill>
                  <a:srgbClr val="0070C0"/>
                </a:solidFill>
                <a:latin typeface="Trebuchet MS" panose="020B0603020202020204" pitchFamily="34" charset="0"/>
              </a:rPr>
              <a:t>Hamiltonian cycle</a:t>
            </a:r>
          </a:p>
          <a:p>
            <a:r>
              <a:rPr lang="en-IN" b="1" dirty="0" smtClean="0">
                <a:latin typeface="Trebuchet MS" panose="020B0603020202020204" pitchFamily="34" charset="0"/>
              </a:rPr>
              <a:t>If FEASIBLE(</a:t>
            </a:r>
            <a:r>
              <a:rPr lang="en-IN" b="1" dirty="0" err="1" smtClean="0">
                <a:latin typeface="Trebuchet MS" panose="020B0603020202020204" pitchFamily="34" charset="0"/>
              </a:rPr>
              <a:t>i</a:t>
            </a:r>
            <a:r>
              <a:rPr lang="en-IN" b="1" dirty="0">
                <a:latin typeface="Trebuchet MS" panose="020B0603020202020204" pitchFamily="34" charset="0"/>
              </a:rPr>
              <a:t>) </a:t>
            </a:r>
            <a:r>
              <a:rPr lang="en-IN" b="1" dirty="0" smtClean="0">
                <a:latin typeface="Trebuchet MS" panose="020B0603020202020204" pitchFamily="34" charset="0"/>
              </a:rPr>
              <a:t> then</a:t>
            </a:r>
            <a:endParaRPr lang="en-IN" b="1" dirty="0">
              <a:latin typeface="Trebuchet MS" panose="020B0603020202020204" pitchFamily="34" charset="0"/>
            </a:endParaRPr>
          </a:p>
          <a:p>
            <a:r>
              <a:rPr lang="en-IN" b="1" dirty="0" smtClean="0">
                <a:latin typeface="Trebuchet MS" panose="020B0603020202020204" pitchFamily="34" charset="0"/>
              </a:rPr>
              <a:t>if  (</a:t>
            </a:r>
            <a:r>
              <a:rPr lang="en-IN" b="1" dirty="0" err="1">
                <a:latin typeface="Trebuchet MS" panose="020B0603020202020204" pitchFamily="34" charset="0"/>
              </a:rPr>
              <a:t>i</a:t>
            </a:r>
            <a:r>
              <a:rPr lang="en-IN" b="1" dirty="0">
                <a:latin typeface="Trebuchet MS" panose="020B0603020202020204" pitchFamily="34" charset="0"/>
              </a:rPr>
              <a:t> == n - 1) </a:t>
            </a:r>
            <a:r>
              <a:rPr lang="en-IN" b="1" dirty="0" smtClean="0">
                <a:latin typeface="Trebuchet MS" panose="020B0603020202020204" pitchFamily="34" charset="0"/>
              </a:rPr>
              <a:t>then</a:t>
            </a:r>
            <a:endParaRPr lang="en-IN" b="1" dirty="0">
              <a:latin typeface="Trebuchet MS" panose="020B0603020202020204" pitchFamily="34" charset="0"/>
            </a:endParaRPr>
          </a:p>
          <a:p>
            <a:r>
              <a:rPr lang="en-IN" b="1" dirty="0" smtClean="0">
                <a:latin typeface="Trebuchet MS" panose="020B0603020202020204" pitchFamily="34" charset="0"/>
              </a:rPr>
              <a:t>    </a:t>
            </a:r>
            <a:r>
              <a:rPr lang="en-IN" b="1" dirty="0">
                <a:latin typeface="Trebuchet MS" panose="020B0603020202020204" pitchFamily="34" charset="0"/>
              </a:rPr>
              <a:t>Print V[0… n – 1]</a:t>
            </a:r>
          </a:p>
          <a:p>
            <a:r>
              <a:rPr lang="en-IN" b="1" dirty="0">
                <a:latin typeface="Trebuchet MS" panose="020B0603020202020204" pitchFamily="34" charset="0"/>
              </a:rPr>
              <a:t>  </a:t>
            </a:r>
            <a:r>
              <a:rPr lang="en-IN" b="1" dirty="0" smtClean="0">
                <a:latin typeface="Trebuchet MS" panose="020B0603020202020204" pitchFamily="34" charset="0"/>
              </a:rPr>
              <a:t>else</a:t>
            </a:r>
            <a:endParaRPr lang="en-IN" b="1" dirty="0">
              <a:latin typeface="Trebuchet MS" panose="020B0603020202020204" pitchFamily="34" charset="0"/>
            </a:endParaRPr>
          </a:p>
          <a:p>
            <a:r>
              <a:rPr lang="en-IN" b="1" dirty="0" smtClean="0">
                <a:latin typeface="Trebuchet MS" panose="020B0603020202020204" pitchFamily="34" charset="0"/>
              </a:rPr>
              <a:t>    </a:t>
            </a:r>
            <a:r>
              <a:rPr lang="en-IN" b="1" dirty="0">
                <a:latin typeface="Trebuchet MS" panose="020B0603020202020204" pitchFamily="34" charset="0"/>
              </a:rPr>
              <a:t>j ← 2</a:t>
            </a:r>
          </a:p>
          <a:p>
            <a:r>
              <a:rPr lang="en-IN" b="1" dirty="0" smtClean="0">
                <a:latin typeface="Trebuchet MS" panose="020B0603020202020204" pitchFamily="34" charset="0"/>
              </a:rPr>
              <a:t>while(j </a:t>
            </a:r>
            <a:r>
              <a:rPr lang="en-IN" b="1" dirty="0">
                <a:latin typeface="Trebuchet MS" panose="020B0603020202020204" pitchFamily="34" charset="0"/>
              </a:rPr>
              <a:t>≤ n) </a:t>
            </a:r>
            <a:r>
              <a:rPr lang="en-IN" b="1" dirty="0" smtClean="0">
                <a:latin typeface="Trebuchet MS" panose="020B0603020202020204" pitchFamily="34" charset="0"/>
              </a:rPr>
              <a:t>do</a:t>
            </a:r>
            <a:endParaRPr lang="en-IN" b="1" dirty="0">
              <a:latin typeface="Trebuchet MS" panose="020B0603020202020204" pitchFamily="34" charset="0"/>
            </a:endParaRPr>
          </a:p>
          <a:p>
            <a:r>
              <a:rPr lang="en-IN" b="1" dirty="0" smtClean="0">
                <a:latin typeface="Trebuchet MS" panose="020B0603020202020204" pitchFamily="34" charset="0"/>
              </a:rPr>
              <a:t>      </a:t>
            </a:r>
            <a:r>
              <a:rPr lang="en-IN" b="1" dirty="0">
                <a:latin typeface="Trebuchet MS" panose="020B0603020202020204" pitchFamily="34" charset="0"/>
              </a:rPr>
              <a:t>V[</a:t>
            </a:r>
            <a:r>
              <a:rPr lang="en-IN" b="1" dirty="0" err="1">
                <a:latin typeface="Trebuchet MS" panose="020B0603020202020204" pitchFamily="34" charset="0"/>
              </a:rPr>
              <a:t>i</a:t>
            </a:r>
            <a:r>
              <a:rPr lang="en-IN" b="1" dirty="0">
                <a:latin typeface="Trebuchet MS" panose="020B0603020202020204" pitchFamily="34" charset="0"/>
              </a:rPr>
              <a:t>] ← j</a:t>
            </a:r>
          </a:p>
          <a:p>
            <a:r>
              <a:rPr lang="en-IN" b="1" dirty="0">
                <a:latin typeface="Trebuchet MS" panose="020B0603020202020204" pitchFamily="34" charset="0"/>
              </a:rPr>
              <a:t>      HAMILTONIAN(</a:t>
            </a:r>
            <a:r>
              <a:rPr lang="en-IN" b="1" dirty="0" err="1">
                <a:latin typeface="Trebuchet MS" panose="020B0603020202020204" pitchFamily="34" charset="0"/>
              </a:rPr>
              <a:t>i</a:t>
            </a:r>
            <a:r>
              <a:rPr lang="en-IN" b="1" dirty="0">
                <a:latin typeface="Trebuchet MS" panose="020B0603020202020204" pitchFamily="34" charset="0"/>
              </a:rPr>
              <a:t> + 1)</a:t>
            </a:r>
          </a:p>
          <a:p>
            <a:r>
              <a:rPr lang="en-IN" b="1" dirty="0">
                <a:latin typeface="Trebuchet MS" panose="020B0603020202020204" pitchFamily="34" charset="0"/>
              </a:rPr>
              <a:t>      j ← j + 1</a:t>
            </a:r>
          </a:p>
          <a:p>
            <a:r>
              <a:rPr lang="en-IN" b="1" dirty="0" smtClean="0">
                <a:latin typeface="Trebuchet MS" panose="020B0603020202020204" pitchFamily="34" charset="0"/>
              </a:rPr>
              <a:t>end</a:t>
            </a:r>
            <a:endParaRPr lang="en-IN" b="1" dirty="0">
              <a:latin typeface="Trebuchet MS" panose="020B0603020202020204" pitchFamily="34" charset="0"/>
            </a:endParaRPr>
          </a:p>
          <a:p>
            <a:r>
              <a:rPr lang="en-IN" b="1" dirty="0" smtClean="0">
                <a:latin typeface="Trebuchet MS" panose="020B0603020202020204" pitchFamily="34" charset="0"/>
              </a:rPr>
              <a:t>end</a:t>
            </a:r>
            <a:endParaRPr lang="en-IN" b="1" dirty="0">
              <a:latin typeface="Trebuchet MS" panose="020B0603020202020204" pitchFamily="34" charset="0"/>
            </a:endParaRPr>
          </a:p>
          <a:p>
            <a:r>
              <a:rPr lang="en-IN" b="1" dirty="0" smtClean="0">
                <a:latin typeface="Trebuchet MS" panose="020B0603020202020204" pitchFamily="34" charset="0"/>
              </a:rPr>
              <a:t>end</a:t>
            </a:r>
            <a:endParaRPr lang="en-IN" dirty="0"/>
          </a:p>
        </p:txBody>
      </p:sp>
      <p:sp>
        <p:nvSpPr>
          <p:cNvPr id="4" name="Rectangle 3"/>
          <p:cNvSpPr/>
          <p:nvPr/>
        </p:nvSpPr>
        <p:spPr>
          <a:xfrm>
            <a:off x="7441331" y="1372377"/>
            <a:ext cx="4242669" cy="3970318"/>
          </a:xfrm>
          <a:prstGeom prst="rect">
            <a:avLst/>
          </a:prstGeom>
        </p:spPr>
        <p:txBody>
          <a:bodyPr wrap="square">
            <a:spAutoFit/>
          </a:bodyPr>
          <a:lstStyle/>
          <a:p>
            <a:r>
              <a:rPr lang="en-IN" b="1" dirty="0">
                <a:latin typeface="Trebuchet MS" panose="020B0603020202020204" pitchFamily="34" charset="0"/>
              </a:rPr>
              <a:t>function FEASIBLE(</a:t>
            </a:r>
            <a:r>
              <a:rPr lang="en-IN" b="1" dirty="0" err="1">
                <a:latin typeface="Trebuchet MS" panose="020B0603020202020204" pitchFamily="34" charset="0"/>
              </a:rPr>
              <a:t>i</a:t>
            </a:r>
            <a:r>
              <a:rPr lang="en-IN" b="1" dirty="0">
                <a:latin typeface="Trebuchet MS" panose="020B0603020202020204" pitchFamily="34" charset="0"/>
              </a:rPr>
              <a:t>)</a:t>
            </a:r>
          </a:p>
          <a:p>
            <a:r>
              <a:rPr lang="en-IN" b="1" dirty="0">
                <a:latin typeface="Trebuchet MS" panose="020B0603020202020204" pitchFamily="34" charset="0"/>
              </a:rPr>
              <a:t>flag ← 1</a:t>
            </a:r>
          </a:p>
          <a:p>
            <a:r>
              <a:rPr lang="en-IN" b="1" dirty="0">
                <a:latin typeface="Trebuchet MS" panose="020B0603020202020204" pitchFamily="34" charset="0"/>
              </a:rPr>
              <a:t>for j ← 1 to </a:t>
            </a:r>
            <a:r>
              <a:rPr lang="en-IN" b="1" dirty="0" err="1">
                <a:latin typeface="Trebuchet MS" panose="020B0603020202020204" pitchFamily="34" charset="0"/>
              </a:rPr>
              <a:t>i</a:t>
            </a:r>
            <a:r>
              <a:rPr lang="en-IN" b="1" dirty="0">
                <a:latin typeface="Trebuchet MS" panose="020B0603020202020204" pitchFamily="34" charset="0"/>
              </a:rPr>
              <a:t> – 1 do</a:t>
            </a:r>
          </a:p>
          <a:p>
            <a:r>
              <a:rPr lang="en-IN" b="1" dirty="0" smtClean="0">
                <a:latin typeface="Trebuchet MS" panose="020B0603020202020204" pitchFamily="34" charset="0"/>
              </a:rPr>
              <a:t>if  </a:t>
            </a:r>
            <a:r>
              <a:rPr lang="en-IN" b="1" dirty="0">
                <a:latin typeface="Trebuchet MS" panose="020B0603020202020204" pitchFamily="34" charset="0"/>
              </a:rPr>
              <a:t>Adjacent(Vi, </a:t>
            </a:r>
            <a:r>
              <a:rPr lang="en-IN" b="1" dirty="0" err="1">
                <a:latin typeface="Trebuchet MS" panose="020B0603020202020204" pitchFamily="34" charset="0"/>
              </a:rPr>
              <a:t>Vj</a:t>
            </a:r>
            <a:r>
              <a:rPr lang="en-IN" b="1" dirty="0">
                <a:latin typeface="Trebuchet MS" panose="020B0603020202020204" pitchFamily="34" charset="0"/>
              </a:rPr>
              <a:t>) then</a:t>
            </a:r>
          </a:p>
          <a:p>
            <a:r>
              <a:rPr lang="en-IN" b="1" dirty="0">
                <a:latin typeface="Trebuchet MS" panose="020B0603020202020204" pitchFamily="34" charset="0"/>
              </a:rPr>
              <a:t>    flag ← 0</a:t>
            </a:r>
          </a:p>
          <a:p>
            <a:r>
              <a:rPr lang="en-IN" b="1" dirty="0">
                <a:latin typeface="Trebuchet MS" panose="020B0603020202020204" pitchFamily="34" charset="0"/>
              </a:rPr>
              <a:t>end</a:t>
            </a:r>
          </a:p>
          <a:p>
            <a:r>
              <a:rPr lang="en-IN" b="1" dirty="0">
                <a:latin typeface="Trebuchet MS" panose="020B0603020202020204" pitchFamily="34" charset="0"/>
              </a:rPr>
              <a:t>end</a:t>
            </a:r>
          </a:p>
          <a:p>
            <a:r>
              <a:rPr lang="en-IN" b="1" dirty="0">
                <a:latin typeface="Trebuchet MS" panose="020B0603020202020204" pitchFamily="34" charset="0"/>
              </a:rPr>
              <a:t>if Adjacent (Vi, Vi-1) </a:t>
            </a:r>
            <a:r>
              <a:rPr lang="en-IN" b="1" dirty="0" smtClean="0">
                <a:latin typeface="Trebuchet MS" panose="020B0603020202020204" pitchFamily="34" charset="0"/>
              </a:rPr>
              <a:t>then</a:t>
            </a:r>
            <a:endParaRPr lang="en-IN" b="1" dirty="0">
              <a:latin typeface="Trebuchet MS" panose="020B0603020202020204" pitchFamily="34" charset="0"/>
            </a:endParaRPr>
          </a:p>
          <a:p>
            <a:r>
              <a:rPr lang="en-IN" b="1" dirty="0" smtClean="0">
                <a:latin typeface="Trebuchet MS" panose="020B0603020202020204" pitchFamily="34" charset="0"/>
              </a:rPr>
              <a:t>  </a:t>
            </a:r>
            <a:r>
              <a:rPr lang="en-IN" b="1" dirty="0">
                <a:latin typeface="Trebuchet MS" panose="020B0603020202020204" pitchFamily="34" charset="0"/>
              </a:rPr>
              <a:t>flag ← 1			</a:t>
            </a:r>
          </a:p>
          <a:p>
            <a:r>
              <a:rPr lang="en-IN" b="1" dirty="0">
                <a:latin typeface="Trebuchet MS" panose="020B0603020202020204" pitchFamily="34" charset="0"/>
              </a:rPr>
              <a:t>else</a:t>
            </a:r>
          </a:p>
          <a:p>
            <a:r>
              <a:rPr lang="en-IN" b="1" dirty="0" smtClean="0">
                <a:latin typeface="Trebuchet MS" panose="020B0603020202020204" pitchFamily="34" charset="0"/>
              </a:rPr>
              <a:t>  </a:t>
            </a:r>
            <a:r>
              <a:rPr lang="en-IN" b="1" dirty="0">
                <a:latin typeface="Trebuchet MS" panose="020B0603020202020204" pitchFamily="34" charset="0"/>
              </a:rPr>
              <a:t>flag ← 0			</a:t>
            </a:r>
          </a:p>
          <a:p>
            <a:r>
              <a:rPr lang="en-IN" b="1" dirty="0">
                <a:latin typeface="Trebuchet MS" panose="020B0603020202020204" pitchFamily="34" charset="0"/>
              </a:rPr>
              <a:t>end</a:t>
            </a:r>
          </a:p>
          <a:p>
            <a:r>
              <a:rPr lang="en-IN" b="1" dirty="0" smtClean="0">
                <a:latin typeface="Trebuchet MS" panose="020B0603020202020204" pitchFamily="34" charset="0"/>
              </a:rPr>
              <a:t>return</a:t>
            </a:r>
            <a:endParaRPr lang="en-IN" b="1" dirty="0">
              <a:latin typeface="Trebuchet MS" panose="020B0603020202020204" pitchFamily="34" charset="0"/>
            </a:endParaRPr>
          </a:p>
          <a:p>
            <a:r>
              <a:rPr lang="en-IN" b="1" dirty="0" smtClean="0">
                <a:latin typeface="Trebuchet MS" panose="020B0603020202020204" pitchFamily="34" charset="0"/>
              </a:rPr>
              <a:t>flag</a:t>
            </a:r>
            <a:endParaRPr lang="en-IN" b="1" dirty="0">
              <a:latin typeface="Trebuchet MS" panose="020B0603020202020204" pitchFamily="34" charset="0"/>
            </a:endParaRPr>
          </a:p>
        </p:txBody>
      </p:sp>
      <p:cxnSp>
        <p:nvCxnSpPr>
          <p:cNvPr id="8" name="Straight Connector 7"/>
          <p:cNvCxnSpPr/>
          <p:nvPr/>
        </p:nvCxnSpPr>
        <p:spPr>
          <a:xfrm>
            <a:off x="7257143" y="1036233"/>
            <a:ext cx="58057" cy="572464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33088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 Example </a:t>
            </a:r>
            <a:endParaRPr lang="en-IN" sz="3600" b="1" dirty="0">
              <a:solidFill>
                <a:schemeClr val="bg1"/>
              </a:solidFill>
              <a:latin typeface="Corbel" panose="020B0503020204020204" pitchFamily="34" charset="0"/>
            </a:endParaRPr>
          </a:p>
        </p:txBody>
      </p:sp>
      <p:sp>
        <p:nvSpPr>
          <p:cNvPr id="5" name="Rectangle 4"/>
          <p:cNvSpPr/>
          <p:nvPr/>
        </p:nvSpPr>
        <p:spPr>
          <a:xfrm>
            <a:off x="295258" y="982664"/>
            <a:ext cx="11588783" cy="578492"/>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Example</a:t>
            </a:r>
            <a:r>
              <a:rPr lang="en-US" sz="2400" b="1" dirty="0" smtClean="0">
                <a:solidFill>
                  <a:srgbClr val="0070C0"/>
                </a:solidFill>
                <a:latin typeface="Trebuchet MS" panose="020B0603020202020204" pitchFamily="34" charset="0"/>
              </a:rPr>
              <a:t>:</a:t>
            </a:r>
            <a:r>
              <a:rPr lang="en-US" sz="2400" dirty="0" smtClean="0">
                <a:latin typeface="Trebuchet MS" panose="020B0603020202020204" pitchFamily="34" charset="0"/>
              </a:rPr>
              <a:t> Show </a:t>
            </a:r>
            <a:r>
              <a:rPr lang="en-US" sz="2400" dirty="0">
                <a:latin typeface="Trebuchet MS" panose="020B0603020202020204" pitchFamily="34" charset="0"/>
              </a:rPr>
              <a:t>that given graph has a Hamiltonian cycle </a:t>
            </a:r>
            <a:endParaRPr lang="en-IN" sz="2400" dirty="0">
              <a:latin typeface="Trebuchet MS" panose="020B0603020202020204" pitchFamily="34" charset="0"/>
            </a:endParaRPr>
          </a:p>
        </p:txBody>
      </p:sp>
      <p:pic>
        <p:nvPicPr>
          <p:cNvPr id="3" name="Picture 2"/>
          <p:cNvPicPr>
            <a:picLocks noChangeAspect="1"/>
          </p:cNvPicPr>
          <p:nvPr/>
        </p:nvPicPr>
        <p:blipFill>
          <a:blip r:embed="rId6"/>
          <a:stretch>
            <a:fillRect/>
          </a:stretch>
        </p:blipFill>
        <p:spPr>
          <a:xfrm>
            <a:off x="3603977" y="1542772"/>
            <a:ext cx="2666320" cy="2210479"/>
          </a:xfrm>
          <a:prstGeom prst="rect">
            <a:avLst/>
          </a:prstGeom>
        </p:spPr>
      </p:pic>
      <p:sp>
        <p:nvSpPr>
          <p:cNvPr id="4" name="Rectangle 3"/>
          <p:cNvSpPr/>
          <p:nvPr/>
        </p:nvSpPr>
        <p:spPr>
          <a:xfrm>
            <a:off x="379876" y="3781327"/>
            <a:ext cx="11504165" cy="2123658"/>
          </a:xfrm>
          <a:prstGeom prst="rect">
            <a:avLst/>
          </a:prstGeom>
        </p:spPr>
        <p:txBody>
          <a:bodyPr wrap="square">
            <a:spAutoFit/>
          </a:bodyPr>
          <a:lstStyle/>
          <a:p>
            <a:r>
              <a:rPr lang="en-IN" sz="2400" u="sng" dirty="0">
                <a:latin typeface="Trebuchet MS" panose="020B0603020202020204" pitchFamily="34" charset="0"/>
              </a:rPr>
              <a:t>Solution</a:t>
            </a:r>
            <a:r>
              <a:rPr lang="en-IN" sz="2400" u="sng" dirty="0" smtClean="0">
                <a:latin typeface="Trebuchet MS" panose="020B0603020202020204" pitchFamily="34" charset="0"/>
              </a:rPr>
              <a:t>:</a:t>
            </a:r>
            <a:endParaRPr lang="en-IN" sz="2400" u="sng" dirty="0" smtClean="0">
              <a:latin typeface="Trebuchet MS" panose="020B0603020202020204" pitchFamily="34" charset="0"/>
            </a:endParaRPr>
          </a:p>
          <a:p>
            <a:pPr>
              <a:lnSpc>
                <a:spcPct val="150000"/>
              </a:lnSpc>
            </a:pPr>
            <a:r>
              <a:rPr lang="en-US" sz="2400" dirty="0" smtClean="0">
                <a:solidFill>
                  <a:srgbClr val="0070C0"/>
                </a:solidFill>
                <a:latin typeface="Trebuchet MS" panose="020B0603020202020204" pitchFamily="34" charset="0"/>
              </a:rPr>
              <a:t>Step 1: </a:t>
            </a:r>
          </a:p>
          <a:p>
            <a:pPr>
              <a:lnSpc>
                <a:spcPct val="150000"/>
              </a:lnSpc>
            </a:pPr>
            <a:r>
              <a:rPr lang="en-US" sz="2400" dirty="0" smtClean="0">
                <a:latin typeface="Trebuchet MS" panose="020B0603020202020204" pitchFamily="34" charset="0"/>
              </a:rPr>
              <a:t>We </a:t>
            </a:r>
            <a:r>
              <a:rPr lang="en-US" sz="2400" dirty="0">
                <a:latin typeface="Trebuchet MS" panose="020B0603020202020204" pitchFamily="34" charset="0"/>
              </a:rPr>
              <a:t>can start with any random vertex. Let us start with vertex A.  </a:t>
            </a:r>
            <a:r>
              <a:rPr lang="en-US" sz="2400" dirty="0" smtClean="0">
                <a:latin typeface="Trebuchet MS" panose="020B0603020202020204" pitchFamily="34" charset="0"/>
              </a:rPr>
              <a:t>Neighbors </a:t>
            </a:r>
            <a:r>
              <a:rPr lang="en-US" sz="2400" dirty="0">
                <a:latin typeface="Trebuchet MS" panose="020B0603020202020204" pitchFamily="34" charset="0"/>
              </a:rPr>
              <a:t>of A are {B, C, D}. The inclusion of B does not lead to a complete solution</a:t>
            </a:r>
            <a:r>
              <a:rPr lang="en-US" sz="2400" dirty="0" smtClean="0">
                <a:latin typeface="Trebuchet MS" panose="020B0603020202020204" pitchFamily="34" charset="0"/>
              </a:rPr>
              <a:t>.</a:t>
            </a:r>
          </a:p>
        </p:txBody>
      </p:sp>
      <p:pic>
        <p:nvPicPr>
          <p:cNvPr id="6" name="Picture 5"/>
          <p:cNvPicPr>
            <a:picLocks noChangeAspect="1"/>
          </p:cNvPicPr>
          <p:nvPr/>
        </p:nvPicPr>
        <p:blipFill>
          <a:blip r:embed="rId7"/>
          <a:stretch>
            <a:fillRect/>
          </a:stretch>
        </p:blipFill>
        <p:spPr>
          <a:xfrm>
            <a:off x="4238699" y="5973422"/>
            <a:ext cx="875418" cy="695352"/>
          </a:xfrm>
          <a:prstGeom prst="rect">
            <a:avLst/>
          </a:prstGeom>
        </p:spPr>
      </p:pic>
    </p:spTree>
    <p:extLst>
      <p:ext uri="{BB962C8B-B14F-4D97-AF65-F5344CB8AC3E}">
        <p14:creationId xmlns:p14="http://schemas.microsoft.com/office/powerpoint/2010/main" val="353912139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a:t>
            </a:r>
            <a:r>
              <a:rPr lang="en-US" sz="3600" b="1" dirty="0" smtClean="0">
                <a:solidFill>
                  <a:schemeClr val="bg1"/>
                </a:solidFill>
                <a:latin typeface="Corbel" panose="020B0503020204020204" pitchFamily="34" charset="0"/>
              </a:rPr>
              <a:t>– Example </a:t>
            </a:r>
            <a:endParaRPr lang="en-IN" sz="3600" b="1" dirty="0">
              <a:solidFill>
                <a:schemeClr val="bg1"/>
              </a:solidFill>
              <a:latin typeface="Corbel" panose="020B0503020204020204" pitchFamily="34" charset="0"/>
            </a:endParaRPr>
          </a:p>
        </p:txBody>
      </p:sp>
      <p:sp>
        <p:nvSpPr>
          <p:cNvPr id="8" name="Rectangle 7"/>
          <p:cNvSpPr/>
          <p:nvPr/>
        </p:nvSpPr>
        <p:spPr>
          <a:xfrm>
            <a:off x="391693" y="885202"/>
            <a:ext cx="11395913" cy="5078313"/>
          </a:xfrm>
          <a:prstGeom prst="rect">
            <a:avLst/>
          </a:prstGeom>
        </p:spPr>
        <p:txBody>
          <a:bodyPr wrap="square">
            <a:spAutoFit/>
          </a:bodyPr>
          <a:lstStyle/>
          <a:p>
            <a:pPr>
              <a:lnSpc>
                <a:spcPct val="150000"/>
              </a:lnSpc>
            </a:pPr>
            <a:r>
              <a:rPr lang="en-US" sz="2400" dirty="0">
                <a:solidFill>
                  <a:srgbClr val="0070C0"/>
                </a:solidFill>
                <a:latin typeface="Trebuchet MS" panose="020B0603020202020204" pitchFamily="34" charset="0"/>
              </a:rPr>
              <a:t>Step 2:</a:t>
            </a:r>
          </a:p>
          <a:p>
            <a:pPr>
              <a:lnSpc>
                <a:spcPct val="150000"/>
              </a:lnSpc>
            </a:pPr>
            <a:r>
              <a:rPr lang="en-US" sz="2400" dirty="0">
                <a:latin typeface="Trebuchet MS" panose="020B0603020202020204" pitchFamily="34" charset="0"/>
              </a:rPr>
              <a:t>Adjacent vertices to B are {C, D}. The inclusion of C does not lead to a complete solution. All adjacent vertices of C are already members of the path formed so far. So it leads to a dead end.</a:t>
            </a:r>
          </a:p>
          <a:p>
            <a:pPr>
              <a:lnSpc>
                <a:spcPct val="150000"/>
              </a:lnSpc>
            </a:pPr>
            <a:endParaRPr lang="en-US" sz="2400" dirty="0" smtClean="0">
              <a:latin typeface="Trebuchet MS" panose="020B0603020202020204" pitchFamily="34" charset="0"/>
            </a:endParaRPr>
          </a:p>
          <a:p>
            <a:pPr>
              <a:lnSpc>
                <a:spcPct val="150000"/>
              </a:lnSpc>
            </a:pPr>
            <a:r>
              <a:rPr lang="en-US" sz="2400" dirty="0" smtClean="0">
                <a:solidFill>
                  <a:srgbClr val="0070C0"/>
                </a:solidFill>
                <a:latin typeface="Trebuchet MS" panose="020B0603020202020204" pitchFamily="34" charset="0"/>
              </a:rPr>
              <a:t>Step 3:</a:t>
            </a:r>
          </a:p>
          <a:p>
            <a:pPr>
              <a:lnSpc>
                <a:spcPct val="150000"/>
              </a:lnSpc>
            </a:pPr>
            <a:r>
              <a:rPr lang="en-US" sz="2400" dirty="0" smtClean="0">
                <a:latin typeface="Trebuchet MS" panose="020B0603020202020204" pitchFamily="34" charset="0"/>
              </a:rPr>
              <a:t>Backtrack </a:t>
            </a:r>
            <a:r>
              <a:rPr lang="en-US" sz="2400" dirty="0">
                <a:latin typeface="Trebuchet MS" panose="020B0603020202020204" pitchFamily="34" charset="0"/>
              </a:rPr>
              <a:t>and go to B and explore its next neighbor i.e. D</a:t>
            </a:r>
            <a:r>
              <a:rPr lang="en-US" sz="2400" dirty="0" smtClean="0">
                <a:latin typeface="Trebuchet MS" panose="020B0603020202020204" pitchFamily="34" charset="0"/>
              </a:rPr>
              <a:t>.</a:t>
            </a:r>
          </a:p>
          <a:p>
            <a:pPr>
              <a:lnSpc>
                <a:spcPct val="150000"/>
              </a:lnSpc>
            </a:pPr>
            <a:endParaRPr lang="en-US" sz="2400" dirty="0">
              <a:latin typeface="Trebuchet MS" panose="020B0603020202020204" pitchFamily="34" charset="0"/>
            </a:endParaRPr>
          </a:p>
          <a:p>
            <a:pPr>
              <a:lnSpc>
                <a:spcPct val="150000"/>
              </a:lnSpc>
            </a:pPr>
            <a:endParaRPr lang="en-US" sz="2400" dirty="0" smtClean="0">
              <a:latin typeface="Trebuchet MS" panose="020B0603020202020204" pitchFamily="34" charset="0"/>
            </a:endParaRPr>
          </a:p>
        </p:txBody>
      </p:sp>
      <p:pic>
        <p:nvPicPr>
          <p:cNvPr id="9" name="Picture 8"/>
          <p:cNvPicPr>
            <a:picLocks noChangeAspect="1"/>
          </p:cNvPicPr>
          <p:nvPr/>
        </p:nvPicPr>
        <p:blipFill>
          <a:blip r:embed="rId6"/>
          <a:stretch>
            <a:fillRect/>
          </a:stretch>
        </p:blipFill>
        <p:spPr>
          <a:xfrm>
            <a:off x="5471544" y="2757600"/>
            <a:ext cx="1236210" cy="1330099"/>
          </a:xfrm>
          <a:prstGeom prst="rect">
            <a:avLst/>
          </a:prstGeom>
        </p:spPr>
      </p:pic>
      <p:pic>
        <p:nvPicPr>
          <p:cNvPr id="10" name="Picture 9"/>
          <p:cNvPicPr>
            <a:picLocks noChangeAspect="1"/>
          </p:cNvPicPr>
          <p:nvPr/>
        </p:nvPicPr>
        <p:blipFill>
          <a:blip r:embed="rId7"/>
          <a:stretch>
            <a:fillRect/>
          </a:stretch>
        </p:blipFill>
        <p:spPr>
          <a:xfrm>
            <a:off x="5471543" y="4746171"/>
            <a:ext cx="2380685" cy="1798428"/>
          </a:xfrm>
          <a:prstGeom prst="rect">
            <a:avLst/>
          </a:prstGeom>
        </p:spPr>
      </p:pic>
    </p:spTree>
    <p:extLst>
      <p:ext uri="{BB962C8B-B14F-4D97-AF65-F5344CB8AC3E}">
        <p14:creationId xmlns:p14="http://schemas.microsoft.com/office/powerpoint/2010/main" val="335396668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a:t>
            </a:r>
            <a:r>
              <a:rPr lang="en-US" sz="3600" b="1" dirty="0" smtClean="0">
                <a:solidFill>
                  <a:schemeClr val="bg1"/>
                </a:solidFill>
                <a:latin typeface="Corbel" panose="020B0503020204020204" pitchFamily="34" charset="0"/>
              </a:rPr>
              <a:t>– Example </a:t>
            </a:r>
            <a:endParaRPr lang="en-IN" sz="3600" b="1" dirty="0">
              <a:solidFill>
                <a:schemeClr val="bg1"/>
              </a:solidFill>
              <a:latin typeface="Corbel" panose="020B0503020204020204" pitchFamily="34" charset="0"/>
            </a:endParaRPr>
          </a:p>
        </p:txBody>
      </p:sp>
      <p:sp>
        <p:nvSpPr>
          <p:cNvPr id="8" name="Rectangle 7"/>
          <p:cNvSpPr/>
          <p:nvPr/>
        </p:nvSpPr>
        <p:spPr>
          <a:xfrm>
            <a:off x="246743" y="1036233"/>
            <a:ext cx="11395913" cy="3416320"/>
          </a:xfrm>
          <a:prstGeom prst="rect">
            <a:avLst/>
          </a:prstGeom>
        </p:spPr>
        <p:txBody>
          <a:bodyPr wrap="square">
            <a:spAutoFit/>
          </a:bodyPr>
          <a:lstStyle/>
          <a:p>
            <a:pPr>
              <a:lnSpc>
                <a:spcPct val="150000"/>
              </a:lnSpc>
            </a:pPr>
            <a:r>
              <a:rPr lang="en-US" sz="2400" dirty="0" smtClean="0">
                <a:solidFill>
                  <a:srgbClr val="0070C0"/>
                </a:solidFill>
                <a:latin typeface="Trebuchet MS" panose="020B0603020202020204" pitchFamily="34" charset="0"/>
              </a:rPr>
              <a:t>Step 4:</a:t>
            </a:r>
          </a:p>
          <a:p>
            <a:pPr>
              <a:lnSpc>
                <a:spcPct val="150000"/>
              </a:lnSpc>
            </a:pPr>
            <a:r>
              <a:rPr lang="en-US" sz="2400" dirty="0">
                <a:latin typeface="Trebuchet MS" panose="020B0603020202020204" pitchFamily="34" charset="0"/>
              </a:rPr>
              <a:t>The inclusion of D does not lead to a complete solution, and all adjacent vertices of D are already a member of the path formed so far. So it leads to a dead end</a:t>
            </a:r>
            <a:r>
              <a:rPr lang="en-US" sz="2400" dirty="0" smtClean="0">
                <a:latin typeface="Trebuchet MS" panose="020B0603020202020204" pitchFamily="34" charset="0"/>
              </a:rPr>
              <a:t>.</a:t>
            </a:r>
          </a:p>
          <a:p>
            <a:pPr>
              <a:lnSpc>
                <a:spcPct val="150000"/>
              </a:lnSpc>
            </a:pPr>
            <a:endParaRPr lang="en-US" sz="2400" dirty="0">
              <a:latin typeface="Trebuchet MS" panose="020B0603020202020204" pitchFamily="34" charset="0"/>
            </a:endParaRPr>
          </a:p>
          <a:p>
            <a:pPr>
              <a:lnSpc>
                <a:spcPct val="150000"/>
              </a:lnSpc>
            </a:pPr>
            <a:endParaRPr lang="en-US" sz="2400" dirty="0" smtClean="0">
              <a:latin typeface="Trebuchet MS" panose="020B0603020202020204" pitchFamily="34" charset="0"/>
            </a:endParaRPr>
          </a:p>
          <a:p>
            <a:pPr>
              <a:lnSpc>
                <a:spcPct val="150000"/>
              </a:lnSpc>
            </a:pPr>
            <a:endParaRPr lang="en-IN" sz="2400" dirty="0">
              <a:latin typeface="Trebuchet MS" panose="020B0603020202020204" pitchFamily="34" charset="0"/>
            </a:endParaRPr>
          </a:p>
        </p:txBody>
      </p:sp>
      <p:pic>
        <p:nvPicPr>
          <p:cNvPr id="3" name="Picture 2"/>
          <p:cNvPicPr>
            <a:picLocks noChangeAspect="1"/>
          </p:cNvPicPr>
          <p:nvPr/>
        </p:nvPicPr>
        <p:blipFill>
          <a:blip r:embed="rId6"/>
          <a:stretch>
            <a:fillRect/>
          </a:stretch>
        </p:blipFill>
        <p:spPr>
          <a:xfrm>
            <a:off x="2898321" y="3257521"/>
            <a:ext cx="2602593" cy="2720892"/>
          </a:xfrm>
          <a:prstGeom prst="rect">
            <a:avLst/>
          </a:prstGeom>
        </p:spPr>
      </p:pic>
    </p:spTree>
    <p:extLst>
      <p:ext uri="{BB962C8B-B14F-4D97-AF65-F5344CB8AC3E}">
        <p14:creationId xmlns:p14="http://schemas.microsoft.com/office/powerpoint/2010/main" val="10148601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a:t>
            </a:r>
            <a:r>
              <a:rPr lang="en-US" sz="3600" b="1" dirty="0" smtClean="0">
                <a:solidFill>
                  <a:schemeClr val="bg1"/>
                </a:solidFill>
                <a:latin typeface="Corbel" panose="020B0503020204020204" pitchFamily="34" charset="0"/>
              </a:rPr>
              <a:t>– Example </a:t>
            </a:r>
            <a:endParaRPr lang="en-IN" sz="3600" b="1" dirty="0">
              <a:solidFill>
                <a:schemeClr val="bg1"/>
              </a:solidFill>
              <a:latin typeface="Corbel" panose="020B0503020204020204" pitchFamily="34" charset="0"/>
            </a:endParaRPr>
          </a:p>
        </p:txBody>
      </p:sp>
      <p:sp>
        <p:nvSpPr>
          <p:cNvPr id="8" name="Rectangle 7"/>
          <p:cNvSpPr/>
          <p:nvPr/>
        </p:nvSpPr>
        <p:spPr>
          <a:xfrm>
            <a:off x="246743" y="1036233"/>
            <a:ext cx="11698514" cy="3416320"/>
          </a:xfrm>
          <a:prstGeom prst="rect">
            <a:avLst/>
          </a:prstGeom>
        </p:spPr>
        <p:txBody>
          <a:bodyPr wrap="square">
            <a:spAutoFit/>
          </a:bodyPr>
          <a:lstStyle/>
          <a:p>
            <a:pPr>
              <a:lnSpc>
                <a:spcPct val="150000"/>
              </a:lnSpc>
            </a:pPr>
            <a:r>
              <a:rPr lang="en-US" sz="2400" dirty="0" smtClean="0">
                <a:solidFill>
                  <a:srgbClr val="0070C0"/>
                </a:solidFill>
                <a:latin typeface="Trebuchet MS" panose="020B0603020202020204" pitchFamily="34" charset="0"/>
              </a:rPr>
              <a:t>Step 5:</a:t>
            </a:r>
          </a:p>
          <a:p>
            <a:pPr>
              <a:lnSpc>
                <a:spcPct val="150000"/>
              </a:lnSpc>
            </a:pPr>
            <a:r>
              <a:rPr lang="en-US" sz="2400" dirty="0">
                <a:latin typeface="Trebuchet MS" panose="020B0603020202020204" pitchFamily="34" charset="0"/>
              </a:rPr>
              <a:t>Backtrack and go to B. Now B does not have any more neighbors, so backtrack and go to A. Explore the next neighbor of A i.e. C. By repeating the same procedure, we get the state space trees as shown below. And </a:t>
            </a:r>
            <a:r>
              <a:rPr lang="en-US" sz="2400" dirty="0" smtClean="0">
                <a:latin typeface="Trebuchet MS" panose="020B0603020202020204" pitchFamily="34" charset="0"/>
              </a:rPr>
              <a:t>path A </a:t>
            </a:r>
            <a:r>
              <a:rPr lang="en-US" sz="2400" dirty="0">
                <a:latin typeface="Trebuchet MS" panose="020B0603020202020204" pitchFamily="34" charset="0"/>
              </a:rPr>
              <a:t>– C – B – D – A is detected as the Hamiltonian cycle of the input graph.</a:t>
            </a:r>
            <a:endParaRPr lang="en-US" sz="2400" dirty="0" smtClean="0">
              <a:latin typeface="Trebuchet MS" panose="020B0603020202020204" pitchFamily="34" charset="0"/>
            </a:endParaRPr>
          </a:p>
          <a:p>
            <a:pPr>
              <a:lnSpc>
                <a:spcPct val="150000"/>
              </a:lnSpc>
            </a:pPr>
            <a:endParaRPr lang="en-IN" sz="2400" dirty="0">
              <a:latin typeface="Trebuchet MS" panose="020B0603020202020204" pitchFamily="34" charset="0"/>
            </a:endParaRPr>
          </a:p>
        </p:txBody>
      </p:sp>
      <p:pic>
        <p:nvPicPr>
          <p:cNvPr id="4" name="Picture 3"/>
          <p:cNvPicPr>
            <a:picLocks noChangeAspect="1"/>
          </p:cNvPicPr>
          <p:nvPr/>
        </p:nvPicPr>
        <p:blipFill>
          <a:blip r:embed="rId6"/>
          <a:stretch>
            <a:fillRect/>
          </a:stretch>
        </p:blipFill>
        <p:spPr>
          <a:xfrm>
            <a:off x="6096000" y="3280230"/>
            <a:ext cx="3267075" cy="3439884"/>
          </a:xfrm>
          <a:prstGeom prst="rect">
            <a:avLst/>
          </a:prstGeom>
        </p:spPr>
      </p:pic>
    </p:spTree>
    <p:extLst>
      <p:ext uri="{BB962C8B-B14F-4D97-AF65-F5344CB8AC3E}">
        <p14:creationId xmlns:p14="http://schemas.microsoft.com/office/powerpoint/2010/main" val="46673547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a:t>
            </a:r>
            <a:r>
              <a:rPr lang="en-US" sz="3600" b="1" dirty="0" smtClean="0">
                <a:solidFill>
                  <a:schemeClr val="bg1"/>
                </a:solidFill>
                <a:latin typeface="Corbel" panose="020B0503020204020204" pitchFamily="34" charset="0"/>
              </a:rPr>
              <a:t>– Example </a:t>
            </a:r>
            <a:endParaRPr lang="en-IN" sz="3600" b="1" dirty="0">
              <a:solidFill>
                <a:schemeClr val="bg1"/>
              </a:solidFill>
              <a:latin typeface="Corbel" panose="020B0503020204020204" pitchFamily="34" charset="0"/>
            </a:endParaRPr>
          </a:p>
        </p:txBody>
      </p:sp>
      <p:pic>
        <p:nvPicPr>
          <p:cNvPr id="3" name="Picture 2"/>
          <p:cNvPicPr>
            <a:picLocks noChangeAspect="1"/>
          </p:cNvPicPr>
          <p:nvPr/>
        </p:nvPicPr>
        <p:blipFill>
          <a:blip r:embed="rId6"/>
          <a:stretch>
            <a:fillRect/>
          </a:stretch>
        </p:blipFill>
        <p:spPr>
          <a:xfrm>
            <a:off x="2315497" y="1100444"/>
            <a:ext cx="8778526" cy="5052266"/>
          </a:xfrm>
          <a:prstGeom prst="rect">
            <a:avLst/>
          </a:prstGeom>
        </p:spPr>
      </p:pic>
      <p:sp>
        <p:nvSpPr>
          <p:cNvPr id="5" name="Rectangle 4"/>
          <p:cNvSpPr/>
          <p:nvPr/>
        </p:nvSpPr>
        <p:spPr>
          <a:xfrm>
            <a:off x="427058" y="1124575"/>
            <a:ext cx="6096000" cy="461665"/>
          </a:xfrm>
          <a:prstGeom prst="rect">
            <a:avLst/>
          </a:prstGeom>
        </p:spPr>
        <p:txBody>
          <a:bodyPr>
            <a:spAutoFit/>
          </a:bodyPr>
          <a:lstStyle/>
          <a:p>
            <a:r>
              <a:rPr lang="en-US" sz="2400" dirty="0" smtClean="0">
                <a:solidFill>
                  <a:srgbClr val="0070C0"/>
                </a:solidFill>
                <a:latin typeface="Trebuchet MS" panose="020B0603020202020204" pitchFamily="34" charset="0"/>
              </a:rPr>
              <a:t>Example 2</a:t>
            </a:r>
            <a:endParaRPr lang="en-US" sz="2400" dirty="0">
              <a:solidFill>
                <a:srgbClr val="0070C0"/>
              </a:solidFill>
              <a:latin typeface="Trebuchet MS" panose="020B0603020202020204" pitchFamily="34" charset="0"/>
            </a:endParaRPr>
          </a:p>
        </p:txBody>
      </p:sp>
      <p:sp>
        <p:nvSpPr>
          <p:cNvPr id="6" name="Rectangle 5"/>
          <p:cNvSpPr/>
          <p:nvPr/>
        </p:nvSpPr>
        <p:spPr>
          <a:xfrm>
            <a:off x="4061647" y="5775165"/>
            <a:ext cx="895566" cy="369332"/>
          </a:xfrm>
          <a:prstGeom prst="rect">
            <a:avLst/>
          </a:prstGeom>
        </p:spPr>
        <p:txBody>
          <a:bodyPr wrap="none">
            <a:spAutoFit/>
          </a:bodyPr>
          <a:lstStyle/>
          <a:p>
            <a:r>
              <a:rPr lang="en-US" b="1" dirty="0" smtClean="0">
                <a:solidFill>
                  <a:srgbClr val="0070C0"/>
                </a:solidFill>
                <a:latin typeface="Trebuchet MS" panose="020B0603020202020204" pitchFamily="34" charset="0"/>
              </a:rPr>
              <a:t>Graph</a:t>
            </a:r>
            <a:r>
              <a:rPr lang="en-US" dirty="0" smtClean="0">
                <a:solidFill>
                  <a:srgbClr val="0070C0"/>
                </a:solidFill>
                <a:latin typeface="Trebuchet MS" panose="020B0603020202020204" pitchFamily="34" charset="0"/>
              </a:rPr>
              <a:t> </a:t>
            </a:r>
            <a:endParaRPr lang="en-US" dirty="0">
              <a:solidFill>
                <a:srgbClr val="0070C0"/>
              </a:solidFill>
              <a:latin typeface="Trebuchet MS" panose="020B0603020202020204" pitchFamily="34" charset="0"/>
            </a:endParaRPr>
          </a:p>
        </p:txBody>
      </p:sp>
      <p:sp>
        <p:nvSpPr>
          <p:cNvPr id="12" name="Rectangle 11"/>
          <p:cNvSpPr/>
          <p:nvPr/>
        </p:nvSpPr>
        <p:spPr>
          <a:xfrm>
            <a:off x="8122370" y="5786545"/>
            <a:ext cx="1987467" cy="369332"/>
          </a:xfrm>
          <a:prstGeom prst="rect">
            <a:avLst/>
          </a:prstGeom>
        </p:spPr>
        <p:txBody>
          <a:bodyPr wrap="none">
            <a:spAutoFit/>
          </a:bodyPr>
          <a:lstStyle/>
          <a:p>
            <a:r>
              <a:rPr lang="en-US" b="1" dirty="0" smtClean="0">
                <a:solidFill>
                  <a:srgbClr val="0070C0"/>
                </a:solidFill>
                <a:latin typeface="Trebuchet MS" panose="020B0603020202020204" pitchFamily="34" charset="0"/>
              </a:rPr>
              <a:t>State Space Tree</a:t>
            </a:r>
            <a:endParaRPr lang="en-US" b="1" dirty="0">
              <a:solidFill>
                <a:srgbClr val="0070C0"/>
              </a:solidFill>
              <a:latin typeface="Trebuchet MS" panose="020B0603020202020204" pitchFamily="34" charset="0"/>
            </a:endParaRPr>
          </a:p>
        </p:txBody>
      </p:sp>
    </p:spTree>
    <p:extLst>
      <p:ext uri="{BB962C8B-B14F-4D97-AF65-F5344CB8AC3E}">
        <p14:creationId xmlns:p14="http://schemas.microsoft.com/office/powerpoint/2010/main" val="33144765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a:t>
            </a:r>
            <a:r>
              <a:rPr lang="en-US" sz="3600" b="1" dirty="0" smtClean="0">
                <a:solidFill>
                  <a:schemeClr val="bg1"/>
                </a:solidFill>
                <a:latin typeface="Corbel" panose="020B0503020204020204" pitchFamily="34" charset="0"/>
              </a:rPr>
              <a:t>– Example </a:t>
            </a:r>
            <a:endParaRPr lang="en-IN" sz="3600" b="1" dirty="0">
              <a:solidFill>
                <a:schemeClr val="bg1"/>
              </a:solidFill>
              <a:latin typeface="Corbel" panose="020B0503020204020204" pitchFamily="34" charset="0"/>
            </a:endParaRPr>
          </a:p>
        </p:txBody>
      </p:sp>
      <p:sp>
        <p:nvSpPr>
          <p:cNvPr id="4" name="Rectangle 3"/>
          <p:cNvSpPr/>
          <p:nvPr/>
        </p:nvSpPr>
        <p:spPr>
          <a:xfrm>
            <a:off x="246742" y="989235"/>
            <a:ext cx="11389735" cy="5632311"/>
          </a:xfrm>
          <a:prstGeom prst="rect">
            <a:avLst/>
          </a:prstGeom>
        </p:spPr>
        <p:txBody>
          <a:bodyPr wrap="square">
            <a:spAutoFit/>
          </a:bodyPr>
          <a:lstStyle/>
          <a:p>
            <a:pPr>
              <a:lnSpc>
                <a:spcPct val="150000"/>
              </a:lnSpc>
            </a:pPr>
            <a:r>
              <a:rPr lang="en-US" sz="2400" b="1" dirty="0" smtClean="0">
                <a:solidFill>
                  <a:srgbClr val="0070C0"/>
                </a:solidFill>
                <a:latin typeface="Trebuchet MS" panose="020B0603020202020204" pitchFamily="34" charset="0"/>
              </a:rPr>
              <a:t>Explanation </a:t>
            </a:r>
          </a:p>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Without </a:t>
            </a:r>
            <a:r>
              <a:rPr lang="en-US" sz="2400" dirty="0">
                <a:solidFill>
                  <a:srgbClr val="000000"/>
                </a:solidFill>
                <a:latin typeface="Trebuchet MS" panose="020B0603020202020204" pitchFamily="34" charset="0"/>
              </a:rPr>
              <a:t>loss of generality, we can assume that if a Hamiltonian circuit exists</a:t>
            </a:r>
            <a:r>
              <a:rPr lang="en-US" sz="2400" dirty="0" smtClean="0">
                <a:solidFill>
                  <a:srgbClr val="000000"/>
                </a:solidFill>
                <a:latin typeface="Trebuchet MS" panose="020B0603020202020204" pitchFamily="34" charset="0"/>
              </a:rPr>
              <a:t>, it </a:t>
            </a:r>
            <a:r>
              <a:rPr lang="en-US" sz="2400" dirty="0">
                <a:solidFill>
                  <a:srgbClr val="000000"/>
                </a:solidFill>
                <a:latin typeface="Trebuchet MS" panose="020B0603020202020204" pitchFamily="34" charset="0"/>
              </a:rPr>
              <a:t>starts at </a:t>
            </a:r>
            <a:r>
              <a:rPr lang="en-US" sz="2400" dirty="0">
                <a:solidFill>
                  <a:srgbClr val="0070C0"/>
                </a:solidFill>
                <a:latin typeface="Trebuchet MS" panose="020B0603020202020204" pitchFamily="34" charset="0"/>
              </a:rPr>
              <a:t>vertex </a:t>
            </a:r>
            <a:r>
              <a:rPr lang="en-US" sz="2400" i="1" dirty="0">
                <a:solidFill>
                  <a:srgbClr val="0070C0"/>
                </a:solidFill>
                <a:latin typeface="Trebuchet MS" panose="020B0603020202020204" pitchFamily="34" charset="0"/>
              </a:rPr>
              <a:t>a.</a:t>
            </a:r>
            <a:r>
              <a:rPr lang="en-US" sz="2400" i="1" dirty="0">
                <a:solidFill>
                  <a:srgbClr val="000000"/>
                </a:solidFill>
                <a:latin typeface="Trebuchet MS" panose="020B0603020202020204" pitchFamily="34" charset="0"/>
              </a:rPr>
              <a:t> </a:t>
            </a:r>
            <a:endParaRPr lang="en-US" sz="2400" i="1" dirty="0" smtClean="0">
              <a:solidFill>
                <a:srgbClr val="000000"/>
              </a:solidFill>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Accordingly</a:t>
            </a:r>
            <a:r>
              <a:rPr lang="en-US" sz="2400" dirty="0">
                <a:solidFill>
                  <a:srgbClr val="000000"/>
                </a:solidFill>
                <a:latin typeface="Trebuchet MS" panose="020B0603020202020204" pitchFamily="34" charset="0"/>
              </a:rPr>
              <a:t>, we make vertex </a:t>
            </a:r>
            <a:r>
              <a:rPr lang="en-US" sz="2400" i="1" dirty="0">
                <a:solidFill>
                  <a:srgbClr val="000000"/>
                </a:solidFill>
                <a:latin typeface="Trebuchet MS" panose="020B0603020202020204" pitchFamily="34" charset="0"/>
              </a:rPr>
              <a:t>a </a:t>
            </a:r>
            <a:r>
              <a:rPr lang="en-US" sz="2400" dirty="0">
                <a:solidFill>
                  <a:srgbClr val="000000"/>
                </a:solidFill>
                <a:latin typeface="Trebuchet MS" panose="020B0603020202020204" pitchFamily="34" charset="0"/>
              </a:rPr>
              <a:t>the root of the state-space The first component of our future solution, if it exists, is a first intermediate vertex of </a:t>
            </a:r>
            <a:r>
              <a:rPr lang="en-US" sz="2400" dirty="0" smtClean="0">
                <a:solidFill>
                  <a:srgbClr val="000000"/>
                </a:solidFill>
                <a:latin typeface="Trebuchet MS" panose="020B0603020202020204" pitchFamily="34" charset="0"/>
              </a:rPr>
              <a:t>a Hamiltonian </a:t>
            </a:r>
            <a:r>
              <a:rPr lang="en-US" sz="2400" dirty="0">
                <a:solidFill>
                  <a:srgbClr val="000000"/>
                </a:solidFill>
                <a:latin typeface="Trebuchet MS" panose="020B0603020202020204" pitchFamily="34" charset="0"/>
              </a:rPr>
              <a:t>circuit to be constructed. </a:t>
            </a:r>
          </a:p>
          <a:p>
            <a:pPr marL="342900" indent="-342900">
              <a:lnSpc>
                <a:spcPct val="150000"/>
              </a:lnSpc>
              <a:buFont typeface="Arial" panose="020B0604020202020204" pitchFamily="34" charset="0"/>
              <a:buChar char="•"/>
            </a:pPr>
            <a:r>
              <a:rPr lang="en-US" sz="2400" dirty="0">
                <a:solidFill>
                  <a:srgbClr val="000000"/>
                </a:solidFill>
                <a:latin typeface="Trebuchet MS" panose="020B0603020202020204" pitchFamily="34" charset="0"/>
              </a:rPr>
              <a:t>Using the alphabet order to break the </a:t>
            </a:r>
            <a:r>
              <a:rPr lang="en-US" sz="2400" dirty="0">
                <a:solidFill>
                  <a:srgbClr val="0070C0"/>
                </a:solidFill>
                <a:latin typeface="Trebuchet MS" panose="020B0603020202020204" pitchFamily="34" charset="0"/>
              </a:rPr>
              <a:t>three-way tie </a:t>
            </a:r>
            <a:r>
              <a:rPr lang="en-US" sz="2400" dirty="0">
                <a:solidFill>
                  <a:srgbClr val="000000"/>
                </a:solidFill>
                <a:latin typeface="Trebuchet MS" panose="020B0603020202020204" pitchFamily="34" charset="0"/>
              </a:rPr>
              <a:t>among the vertices </a:t>
            </a:r>
            <a:r>
              <a:rPr lang="en-US" sz="2400" dirty="0">
                <a:solidFill>
                  <a:srgbClr val="0070C0"/>
                </a:solidFill>
                <a:latin typeface="Trebuchet MS" panose="020B0603020202020204" pitchFamily="34" charset="0"/>
              </a:rPr>
              <a:t>adjacent to </a:t>
            </a:r>
            <a:r>
              <a:rPr lang="en-US" sz="2400" i="1" dirty="0">
                <a:solidFill>
                  <a:srgbClr val="0070C0"/>
                </a:solidFill>
                <a:latin typeface="Trebuchet MS" panose="020B0603020202020204" pitchFamily="34" charset="0"/>
              </a:rPr>
              <a:t>a</a:t>
            </a:r>
            <a:r>
              <a:rPr lang="en-US" sz="2400" i="1" dirty="0">
                <a:solidFill>
                  <a:srgbClr val="000000"/>
                </a:solidFill>
                <a:latin typeface="Trebuchet MS" panose="020B0603020202020204" pitchFamily="34" charset="0"/>
              </a:rPr>
              <a:t>, </a:t>
            </a:r>
            <a:r>
              <a:rPr lang="en-US" sz="2400" dirty="0">
                <a:solidFill>
                  <a:srgbClr val="000000"/>
                </a:solidFill>
                <a:latin typeface="Trebuchet MS" panose="020B0603020202020204" pitchFamily="34" charset="0"/>
              </a:rPr>
              <a:t>we select </a:t>
            </a:r>
            <a:r>
              <a:rPr lang="en-US" sz="2400" dirty="0">
                <a:solidFill>
                  <a:srgbClr val="0070C0"/>
                </a:solidFill>
                <a:latin typeface="Trebuchet MS" panose="020B0603020202020204" pitchFamily="34" charset="0"/>
              </a:rPr>
              <a:t>vertex </a:t>
            </a:r>
            <a:r>
              <a:rPr lang="en-US" sz="2400" i="1" dirty="0">
                <a:solidFill>
                  <a:srgbClr val="0070C0"/>
                </a:solidFill>
                <a:latin typeface="Trebuchet MS" panose="020B0603020202020204" pitchFamily="34" charset="0"/>
              </a:rPr>
              <a:t>b</a:t>
            </a:r>
            <a:r>
              <a:rPr lang="en-US" sz="2400" dirty="0">
                <a:solidFill>
                  <a:srgbClr val="000000"/>
                </a:solidFill>
                <a:latin typeface="Trebuchet MS" panose="020B0603020202020204" pitchFamily="34" charset="0"/>
              </a:rPr>
              <a:t>. </a:t>
            </a:r>
            <a:endParaRPr lang="en-US" sz="2400" dirty="0" smtClean="0">
              <a:solidFill>
                <a:srgbClr val="000000"/>
              </a:solidFill>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solidFill>
                  <a:srgbClr val="0070C0"/>
                </a:solidFill>
                <a:latin typeface="Trebuchet MS" panose="020B0603020202020204" pitchFamily="34" charset="0"/>
              </a:rPr>
              <a:t>From </a:t>
            </a:r>
            <a:r>
              <a:rPr lang="en-US" sz="2400" i="1" dirty="0">
                <a:solidFill>
                  <a:srgbClr val="0070C0"/>
                </a:solidFill>
                <a:latin typeface="Trebuchet MS" panose="020B0603020202020204" pitchFamily="34" charset="0"/>
              </a:rPr>
              <a:t>b</a:t>
            </a:r>
            <a:r>
              <a:rPr lang="en-US" sz="2400" dirty="0">
                <a:solidFill>
                  <a:srgbClr val="000000"/>
                </a:solidFill>
                <a:latin typeface="Trebuchet MS" panose="020B0603020202020204" pitchFamily="34" charset="0"/>
              </a:rPr>
              <a:t>, the algorithm proceeds to </a:t>
            </a:r>
            <a:r>
              <a:rPr lang="en-US" sz="2400" i="1" dirty="0">
                <a:solidFill>
                  <a:srgbClr val="0070C0"/>
                </a:solidFill>
                <a:latin typeface="Trebuchet MS" panose="020B0603020202020204" pitchFamily="34" charset="0"/>
              </a:rPr>
              <a:t>c</a:t>
            </a:r>
            <a:r>
              <a:rPr lang="en-US" sz="2400" dirty="0">
                <a:solidFill>
                  <a:srgbClr val="000000"/>
                </a:solidFill>
                <a:latin typeface="Trebuchet MS" panose="020B0603020202020204" pitchFamily="34" charset="0"/>
              </a:rPr>
              <a:t>, then to </a:t>
            </a:r>
            <a:r>
              <a:rPr lang="en-US" sz="2400" i="1" dirty="0">
                <a:solidFill>
                  <a:srgbClr val="0070C0"/>
                </a:solidFill>
                <a:latin typeface="Trebuchet MS" panose="020B0603020202020204" pitchFamily="34" charset="0"/>
              </a:rPr>
              <a:t>d</a:t>
            </a:r>
            <a:r>
              <a:rPr lang="en-US" sz="2400" dirty="0">
                <a:solidFill>
                  <a:srgbClr val="000000"/>
                </a:solidFill>
                <a:latin typeface="Trebuchet MS" panose="020B0603020202020204" pitchFamily="34" charset="0"/>
              </a:rPr>
              <a:t>, then to </a:t>
            </a:r>
            <a:r>
              <a:rPr lang="en-US" sz="2400" i="1" dirty="0">
                <a:solidFill>
                  <a:srgbClr val="0070C0"/>
                </a:solidFill>
                <a:latin typeface="Trebuchet MS" panose="020B0603020202020204" pitchFamily="34" charset="0"/>
              </a:rPr>
              <a:t>e</a:t>
            </a:r>
            <a:r>
              <a:rPr lang="en-US" sz="2400" dirty="0">
                <a:solidFill>
                  <a:srgbClr val="000000"/>
                </a:solidFill>
                <a:latin typeface="Trebuchet MS" panose="020B0603020202020204" pitchFamily="34" charset="0"/>
              </a:rPr>
              <a:t>, and </a:t>
            </a:r>
            <a:r>
              <a:rPr lang="en-US" sz="2400" dirty="0">
                <a:solidFill>
                  <a:srgbClr val="0070C0"/>
                </a:solidFill>
                <a:latin typeface="Trebuchet MS" panose="020B0603020202020204" pitchFamily="34" charset="0"/>
              </a:rPr>
              <a:t>finally to </a:t>
            </a:r>
            <a:r>
              <a:rPr lang="en-US" sz="2400" i="1" dirty="0">
                <a:solidFill>
                  <a:srgbClr val="0070C0"/>
                </a:solidFill>
                <a:latin typeface="Trebuchet MS" panose="020B0603020202020204" pitchFamily="34" charset="0"/>
              </a:rPr>
              <a:t>f</a:t>
            </a:r>
            <a:r>
              <a:rPr lang="en-US" sz="2400" i="1" dirty="0">
                <a:solidFill>
                  <a:srgbClr val="000000"/>
                </a:solidFill>
                <a:latin typeface="Trebuchet MS" panose="020B0603020202020204" pitchFamily="34" charset="0"/>
              </a:rPr>
              <a:t>, </a:t>
            </a:r>
            <a:r>
              <a:rPr lang="en-US" sz="2400" dirty="0">
                <a:solidFill>
                  <a:srgbClr val="000000"/>
                </a:solidFill>
                <a:latin typeface="Trebuchet MS" panose="020B0603020202020204" pitchFamily="34" charset="0"/>
              </a:rPr>
              <a:t>which proves to be a </a:t>
            </a:r>
            <a:r>
              <a:rPr lang="en-US" sz="2400" dirty="0">
                <a:solidFill>
                  <a:srgbClr val="0070C0"/>
                </a:solidFill>
                <a:latin typeface="Trebuchet MS" panose="020B0603020202020204" pitchFamily="34" charset="0"/>
              </a:rPr>
              <a:t>dead end</a:t>
            </a:r>
            <a:r>
              <a:rPr lang="en-US" sz="2400" dirty="0">
                <a:solidFill>
                  <a:srgbClr val="000000"/>
                </a:solidFill>
                <a:latin typeface="Trebuchet MS" panose="020B0603020202020204" pitchFamily="34" charset="0"/>
              </a:rPr>
              <a:t>. </a:t>
            </a:r>
            <a:endParaRPr lang="en-IN" sz="2400" dirty="0">
              <a:latin typeface="Trebuchet MS" panose="020B0603020202020204" pitchFamily="34" charset="0"/>
            </a:endParaRPr>
          </a:p>
        </p:txBody>
      </p:sp>
    </p:spTree>
    <p:extLst>
      <p:ext uri="{BB962C8B-B14F-4D97-AF65-F5344CB8AC3E}">
        <p14:creationId xmlns:p14="http://schemas.microsoft.com/office/powerpoint/2010/main" val="326506554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a:t>
            </a:r>
            <a:r>
              <a:rPr lang="en-US" sz="3600" b="1" dirty="0" smtClean="0">
                <a:solidFill>
                  <a:schemeClr val="bg1"/>
                </a:solidFill>
                <a:latin typeface="Corbel" panose="020B0503020204020204" pitchFamily="34" charset="0"/>
              </a:rPr>
              <a:t>– Example </a:t>
            </a:r>
            <a:endParaRPr lang="en-IN" sz="3600" b="1" dirty="0">
              <a:solidFill>
                <a:schemeClr val="bg1"/>
              </a:solidFill>
              <a:latin typeface="Corbel" panose="020B0503020204020204" pitchFamily="34" charset="0"/>
            </a:endParaRPr>
          </a:p>
        </p:txBody>
      </p:sp>
      <p:sp>
        <p:nvSpPr>
          <p:cNvPr id="4" name="Rectangle 3"/>
          <p:cNvSpPr/>
          <p:nvPr/>
        </p:nvSpPr>
        <p:spPr>
          <a:xfrm>
            <a:off x="246743" y="1206270"/>
            <a:ext cx="11404484" cy="5078313"/>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solidFill>
                  <a:srgbClr val="000000"/>
                </a:solidFill>
                <a:latin typeface="Trebuchet MS" panose="020B0603020202020204" pitchFamily="34" charset="0"/>
              </a:rPr>
              <a:t>So the algorithm backtracks from </a:t>
            </a:r>
            <a:r>
              <a:rPr lang="en-US" sz="2400" i="1" dirty="0">
                <a:solidFill>
                  <a:srgbClr val="0070C0"/>
                </a:solidFill>
                <a:latin typeface="Trebuchet MS" panose="020B0603020202020204" pitchFamily="34" charset="0"/>
              </a:rPr>
              <a:t>f </a:t>
            </a:r>
            <a:r>
              <a:rPr lang="en-US" sz="2400" dirty="0">
                <a:solidFill>
                  <a:srgbClr val="0070C0"/>
                </a:solidFill>
                <a:latin typeface="Trebuchet MS" panose="020B0603020202020204" pitchFamily="34" charset="0"/>
              </a:rPr>
              <a:t>to </a:t>
            </a:r>
            <a:r>
              <a:rPr lang="en-US" sz="2400" i="1" dirty="0">
                <a:solidFill>
                  <a:srgbClr val="0070C0"/>
                </a:solidFill>
                <a:latin typeface="Trebuchet MS" panose="020B0603020202020204" pitchFamily="34" charset="0"/>
              </a:rPr>
              <a:t>e</a:t>
            </a:r>
            <a:r>
              <a:rPr lang="en-US" sz="2400" dirty="0">
                <a:solidFill>
                  <a:srgbClr val="000000"/>
                </a:solidFill>
                <a:latin typeface="Trebuchet MS" panose="020B0603020202020204" pitchFamily="34" charset="0"/>
              </a:rPr>
              <a:t>, then to </a:t>
            </a:r>
            <a:r>
              <a:rPr lang="en-US" sz="2400" i="1" dirty="0">
                <a:solidFill>
                  <a:srgbClr val="0070C0"/>
                </a:solidFill>
                <a:latin typeface="Trebuchet MS" panose="020B0603020202020204" pitchFamily="34" charset="0"/>
              </a:rPr>
              <a:t>d</a:t>
            </a:r>
            <a:r>
              <a:rPr lang="en-US" sz="2400" dirty="0">
                <a:solidFill>
                  <a:srgbClr val="000000"/>
                </a:solidFill>
                <a:latin typeface="Trebuchet MS" panose="020B0603020202020204" pitchFamily="34" charset="0"/>
              </a:rPr>
              <a:t>, and then to </a:t>
            </a:r>
            <a:r>
              <a:rPr lang="en-US" sz="2400" i="1" dirty="0">
                <a:solidFill>
                  <a:srgbClr val="0070C0"/>
                </a:solidFill>
                <a:latin typeface="Trebuchet MS" panose="020B0603020202020204" pitchFamily="34" charset="0"/>
              </a:rPr>
              <a:t>c</a:t>
            </a:r>
            <a:r>
              <a:rPr lang="en-US" sz="2400" dirty="0">
                <a:solidFill>
                  <a:srgbClr val="000000"/>
                </a:solidFill>
                <a:latin typeface="Trebuchet MS" panose="020B0603020202020204" pitchFamily="34" charset="0"/>
              </a:rPr>
              <a:t>, which provides the first alternative for the algorithm to pursue. </a:t>
            </a:r>
          </a:p>
          <a:p>
            <a:pPr marL="342900" indent="-342900">
              <a:lnSpc>
                <a:spcPct val="150000"/>
              </a:lnSpc>
              <a:buFont typeface="Arial" panose="020B0604020202020204" pitchFamily="34" charset="0"/>
              <a:buChar char="•"/>
            </a:pPr>
            <a:r>
              <a:rPr lang="en-US" sz="2400" dirty="0">
                <a:solidFill>
                  <a:srgbClr val="000000"/>
                </a:solidFill>
                <a:latin typeface="Trebuchet MS" panose="020B0603020202020204" pitchFamily="34" charset="0"/>
              </a:rPr>
              <a:t>Going from </a:t>
            </a:r>
            <a:r>
              <a:rPr lang="en-US" sz="2400" i="1" dirty="0">
                <a:solidFill>
                  <a:srgbClr val="0070C0"/>
                </a:solidFill>
                <a:latin typeface="Trebuchet MS" panose="020B0603020202020204" pitchFamily="34" charset="0"/>
              </a:rPr>
              <a:t>c </a:t>
            </a:r>
            <a:r>
              <a:rPr lang="en-US" sz="2400" dirty="0">
                <a:solidFill>
                  <a:srgbClr val="0070C0"/>
                </a:solidFill>
                <a:latin typeface="Trebuchet MS" panose="020B0603020202020204" pitchFamily="34" charset="0"/>
              </a:rPr>
              <a:t>to </a:t>
            </a:r>
            <a:r>
              <a:rPr lang="en-US" sz="2400" i="1" dirty="0">
                <a:solidFill>
                  <a:srgbClr val="0070C0"/>
                </a:solidFill>
                <a:latin typeface="Trebuchet MS" panose="020B0603020202020204" pitchFamily="34" charset="0"/>
              </a:rPr>
              <a:t>e </a:t>
            </a:r>
            <a:r>
              <a:rPr lang="en-US" sz="2400" dirty="0">
                <a:solidFill>
                  <a:srgbClr val="000000"/>
                </a:solidFill>
                <a:latin typeface="Trebuchet MS" panose="020B0603020202020204" pitchFamily="34" charset="0"/>
              </a:rPr>
              <a:t>eventually proves useless, and the algorithm has to backtrack from </a:t>
            </a:r>
            <a:r>
              <a:rPr lang="en-US" sz="2400" i="1" dirty="0">
                <a:solidFill>
                  <a:srgbClr val="0070C0"/>
                </a:solidFill>
                <a:latin typeface="Trebuchet MS" panose="020B0603020202020204" pitchFamily="34" charset="0"/>
              </a:rPr>
              <a:t>e </a:t>
            </a:r>
            <a:r>
              <a:rPr lang="en-US" sz="2400" dirty="0">
                <a:solidFill>
                  <a:srgbClr val="0070C0"/>
                </a:solidFill>
                <a:latin typeface="Trebuchet MS" panose="020B0603020202020204" pitchFamily="34" charset="0"/>
              </a:rPr>
              <a:t>to </a:t>
            </a:r>
            <a:r>
              <a:rPr lang="en-US" sz="2400" i="1" dirty="0">
                <a:solidFill>
                  <a:srgbClr val="0070C0"/>
                </a:solidFill>
                <a:latin typeface="Trebuchet MS" panose="020B0603020202020204" pitchFamily="34" charset="0"/>
              </a:rPr>
              <a:t>c </a:t>
            </a:r>
            <a:r>
              <a:rPr lang="en-US" sz="2400" dirty="0">
                <a:solidFill>
                  <a:srgbClr val="000000"/>
                </a:solidFill>
                <a:latin typeface="Trebuchet MS" panose="020B0603020202020204" pitchFamily="34" charset="0"/>
              </a:rPr>
              <a:t>and then to </a:t>
            </a:r>
            <a:r>
              <a:rPr lang="en-US" sz="2400" i="1" dirty="0">
                <a:solidFill>
                  <a:srgbClr val="0070C0"/>
                </a:solidFill>
                <a:latin typeface="Trebuchet MS" panose="020B0603020202020204" pitchFamily="34" charset="0"/>
              </a:rPr>
              <a:t>b</a:t>
            </a:r>
            <a:r>
              <a:rPr lang="en-US" sz="2400" dirty="0">
                <a:solidFill>
                  <a:srgbClr val="000000"/>
                </a:solidFill>
                <a:latin typeface="Trebuchet MS" panose="020B0603020202020204" pitchFamily="34" charset="0"/>
              </a:rPr>
              <a:t>. </a:t>
            </a:r>
            <a:endParaRPr lang="en-US" sz="2400" dirty="0" smtClean="0">
              <a:solidFill>
                <a:srgbClr val="000000"/>
              </a:solidFill>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From </a:t>
            </a:r>
            <a:r>
              <a:rPr lang="en-US" sz="2400" dirty="0">
                <a:solidFill>
                  <a:srgbClr val="000000"/>
                </a:solidFill>
                <a:latin typeface="Trebuchet MS" panose="020B0603020202020204" pitchFamily="34" charset="0"/>
              </a:rPr>
              <a:t>there, it goes to the vertices </a:t>
            </a:r>
            <a:r>
              <a:rPr lang="en-US" sz="2400" i="1" dirty="0">
                <a:solidFill>
                  <a:srgbClr val="0070C0"/>
                </a:solidFill>
                <a:latin typeface="Trebuchet MS" panose="020B0603020202020204" pitchFamily="34" charset="0"/>
              </a:rPr>
              <a:t>f </a:t>
            </a:r>
            <a:r>
              <a:rPr lang="en-US" sz="2400" dirty="0">
                <a:solidFill>
                  <a:srgbClr val="0070C0"/>
                </a:solidFill>
                <a:latin typeface="Trebuchet MS" panose="020B0603020202020204" pitchFamily="34" charset="0"/>
              </a:rPr>
              <a:t>, </a:t>
            </a:r>
            <a:r>
              <a:rPr lang="en-US" sz="2400" i="1" dirty="0">
                <a:solidFill>
                  <a:srgbClr val="0070C0"/>
                </a:solidFill>
                <a:latin typeface="Trebuchet MS" panose="020B0603020202020204" pitchFamily="34" charset="0"/>
              </a:rPr>
              <a:t>e</a:t>
            </a:r>
            <a:r>
              <a:rPr lang="en-US" sz="2400" dirty="0">
                <a:solidFill>
                  <a:srgbClr val="0070C0"/>
                </a:solidFill>
                <a:latin typeface="Trebuchet MS" panose="020B0603020202020204" pitchFamily="34" charset="0"/>
              </a:rPr>
              <a:t>, </a:t>
            </a:r>
            <a:r>
              <a:rPr lang="en-US" sz="2400" i="1" dirty="0">
                <a:solidFill>
                  <a:srgbClr val="0070C0"/>
                </a:solidFill>
                <a:latin typeface="Trebuchet MS" panose="020B0603020202020204" pitchFamily="34" charset="0"/>
              </a:rPr>
              <a:t>c</a:t>
            </a:r>
            <a:r>
              <a:rPr lang="en-US" sz="2400" dirty="0">
                <a:solidFill>
                  <a:srgbClr val="0070C0"/>
                </a:solidFill>
                <a:latin typeface="Trebuchet MS" panose="020B0603020202020204" pitchFamily="34" charset="0"/>
              </a:rPr>
              <a:t>, </a:t>
            </a:r>
            <a:r>
              <a:rPr lang="en-US" sz="2400" dirty="0">
                <a:solidFill>
                  <a:srgbClr val="000000"/>
                </a:solidFill>
                <a:latin typeface="Trebuchet MS" panose="020B0603020202020204" pitchFamily="34" charset="0"/>
              </a:rPr>
              <a:t>and </a:t>
            </a:r>
            <a:r>
              <a:rPr lang="en-US" sz="2400" i="1" dirty="0">
                <a:solidFill>
                  <a:srgbClr val="0070C0"/>
                </a:solidFill>
                <a:latin typeface="Trebuchet MS" panose="020B0603020202020204" pitchFamily="34" charset="0"/>
              </a:rPr>
              <a:t>d</a:t>
            </a:r>
            <a:r>
              <a:rPr lang="en-US" sz="2400" dirty="0">
                <a:solidFill>
                  <a:srgbClr val="000000"/>
                </a:solidFill>
                <a:latin typeface="Trebuchet MS" panose="020B0603020202020204" pitchFamily="34" charset="0"/>
              </a:rPr>
              <a:t>, from which it can legitimately </a:t>
            </a:r>
            <a:r>
              <a:rPr lang="en-US" sz="2400" dirty="0">
                <a:solidFill>
                  <a:srgbClr val="0070C0"/>
                </a:solidFill>
                <a:latin typeface="Trebuchet MS" panose="020B0603020202020204" pitchFamily="34" charset="0"/>
              </a:rPr>
              <a:t>return to </a:t>
            </a:r>
            <a:r>
              <a:rPr lang="en-US" sz="2400" i="1" dirty="0">
                <a:solidFill>
                  <a:srgbClr val="0070C0"/>
                </a:solidFill>
                <a:latin typeface="Trebuchet MS" panose="020B0603020202020204" pitchFamily="34" charset="0"/>
              </a:rPr>
              <a:t>a</a:t>
            </a:r>
            <a:r>
              <a:rPr lang="en-US" sz="2400" dirty="0">
                <a:solidFill>
                  <a:srgbClr val="000000"/>
                </a:solidFill>
                <a:latin typeface="Trebuchet MS" panose="020B0603020202020204" pitchFamily="34" charset="0"/>
              </a:rPr>
              <a:t>, yielding the </a:t>
            </a:r>
            <a:r>
              <a:rPr lang="en-US" sz="2400" dirty="0">
                <a:solidFill>
                  <a:srgbClr val="FF0000"/>
                </a:solidFill>
                <a:latin typeface="Trebuchet MS" panose="020B0603020202020204" pitchFamily="34" charset="0"/>
              </a:rPr>
              <a:t>Hamiltonian circuit </a:t>
            </a:r>
            <a:r>
              <a:rPr lang="en-US" sz="2400" i="1" dirty="0">
                <a:solidFill>
                  <a:srgbClr val="0070C0"/>
                </a:solidFill>
                <a:latin typeface="Trebuchet MS" panose="020B0603020202020204" pitchFamily="34" charset="0"/>
              </a:rPr>
              <a:t>a</a:t>
            </a:r>
            <a:r>
              <a:rPr lang="en-US" sz="2400" dirty="0">
                <a:solidFill>
                  <a:srgbClr val="0070C0"/>
                </a:solidFill>
                <a:latin typeface="Trebuchet MS" panose="020B0603020202020204" pitchFamily="34" charset="0"/>
              </a:rPr>
              <a:t>, </a:t>
            </a:r>
            <a:r>
              <a:rPr lang="en-US" sz="2400" i="1" dirty="0">
                <a:solidFill>
                  <a:srgbClr val="0070C0"/>
                </a:solidFill>
                <a:latin typeface="Trebuchet MS" panose="020B0603020202020204" pitchFamily="34" charset="0"/>
              </a:rPr>
              <a:t>b</a:t>
            </a:r>
            <a:r>
              <a:rPr lang="en-US" sz="2400" dirty="0" smtClean="0">
                <a:solidFill>
                  <a:srgbClr val="0070C0"/>
                </a:solidFill>
                <a:latin typeface="Trebuchet MS" panose="020B0603020202020204" pitchFamily="34" charset="0"/>
              </a:rPr>
              <a:t>, </a:t>
            </a:r>
            <a:r>
              <a:rPr lang="en-US" sz="2400" i="1" dirty="0" smtClean="0">
                <a:solidFill>
                  <a:srgbClr val="0070C0"/>
                </a:solidFill>
                <a:latin typeface="Trebuchet MS" panose="020B0603020202020204" pitchFamily="34" charset="0"/>
              </a:rPr>
              <a:t>f </a:t>
            </a:r>
            <a:r>
              <a:rPr lang="en-US" sz="2400" dirty="0">
                <a:solidFill>
                  <a:srgbClr val="0070C0"/>
                </a:solidFill>
                <a:latin typeface="Trebuchet MS" panose="020B0603020202020204" pitchFamily="34" charset="0"/>
              </a:rPr>
              <a:t>, </a:t>
            </a:r>
            <a:r>
              <a:rPr lang="en-US" sz="2400" i="1" dirty="0">
                <a:solidFill>
                  <a:srgbClr val="0070C0"/>
                </a:solidFill>
                <a:latin typeface="Trebuchet MS" panose="020B0603020202020204" pitchFamily="34" charset="0"/>
              </a:rPr>
              <a:t>e</a:t>
            </a:r>
            <a:r>
              <a:rPr lang="en-US" sz="2400" dirty="0">
                <a:solidFill>
                  <a:srgbClr val="0070C0"/>
                </a:solidFill>
                <a:latin typeface="Trebuchet MS" panose="020B0603020202020204" pitchFamily="34" charset="0"/>
              </a:rPr>
              <a:t>, </a:t>
            </a:r>
            <a:r>
              <a:rPr lang="en-US" sz="2400" i="1" dirty="0">
                <a:solidFill>
                  <a:srgbClr val="0070C0"/>
                </a:solidFill>
                <a:latin typeface="Trebuchet MS" panose="020B0603020202020204" pitchFamily="34" charset="0"/>
              </a:rPr>
              <a:t>c</a:t>
            </a:r>
            <a:r>
              <a:rPr lang="en-US" sz="2400" dirty="0">
                <a:solidFill>
                  <a:srgbClr val="0070C0"/>
                </a:solidFill>
                <a:latin typeface="Trebuchet MS" panose="020B0603020202020204" pitchFamily="34" charset="0"/>
              </a:rPr>
              <a:t>, </a:t>
            </a:r>
            <a:r>
              <a:rPr lang="en-US" sz="2400" i="1" dirty="0" smtClean="0">
                <a:solidFill>
                  <a:srgbClr val="0070C0"/>
                </a:solidFill>
                <a:latin typeface="Trebuchet MS" panose="020B0603020202020204" pitchFamily="34" charset="0"/>
              </a:rPr>
              <a:t>d</a:t>
            </a:r>
            <a:r>
              <a:rPr lang="en-US" sz="2400" dirty="0" smtClean="0">
                <a:solidFill>
                  <a:srgbClr val="0070C0"/>
                </a:solidFill>
                <a:latin typeface="Trebuchet MS" panose="020B0603020202020204" pitchFamily="34" charset="0"/>
              </a:rPr>
              <a:t>, </a:t>
            </a:r>
            <a:r>
              <a:rPr lang="en-US" sz="2400" i="1" dirty="0" smtClean="0">
                <a:solidFill>
                  <a:srgbClr val="0070C0"/>
                </a:solidFill>
                <a:latin typeface="Trebuchet MS" panose="020B0603020202020204" pitchFamily="34" charset="0"/>
              </a:rPr>
              <a:t>a</a:t>
            </a:r>
            <a:r>
              <a:rPr lang="en-US" sz="2400" dirty="0">
                <a:solidFill>
                  <a:srgbClr val="0070C0"/>
                </a:solidFill>
                <a:latin typeface="Trebuchet MS" panose="020B0603020202020204" pitchFamily="34" charset="0"/>
              </a:rPr>
              <a:t>. </a:t>
            </a:r>
            <a:endParaRPr lang="en-US" sz="2400" dirty="0" smtClean="0">
              <a:solidFill>
                <a:srgbClr val="0070C0"/>
              </a:solidFill>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If </a:t>
            </a:r>
            <a:r>
              <a:rPr lang="en-US" sz="2400" dirty="0">
                <a:solidFill>
                  <a:srgbClr val="000000"/>
                </a:solidFill>
                <a:latin typeface="Trebuchet MS" panose="020B0603020202020204" pitchFamily="34" charset="0"/>
              </a:rPr>
              <a:t>we wanted to find another Hamiltonian circuit, we could continue this process by backtracking from the leaf of the solution found. </a:t>
            </a:r>
            <a:endParaRPr lang="en-IN" sz="2400" dirty="0">
              <a:latin typeface="Trebuchet MS" panose="020B0603020202020204" pitchFamily="34" charset="0"/>
            </a:endParaRPr>
          </a:p>
          <a:p>
            <a:pPr>
              <a:lnSpc>
                <a:spcPct val="150000"/>
              </a:lnSpc>
            </a:pPr>
            <a:endParaRPr lang="en-IN" sz="2400" dirty="0">
              <a:latin typeface="Trebuchet MS" panose="020B0603020202020204" pitchFamily="34" charset="0"/>
            </a:endParaRPr>
          </a:p>
        </p:txBody>
      </p:sp>
    </p:spTree>
    <p:extLst>
      <p:ext uri="{BB962C8B-B14F-4D97-AF65-F5344CB8AC3E}">
        <p14:creationId xmlns:p14="http://schemas.microsoft.com/office/powerpoint/2010/main" val="250805614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Subset Sum Problem</a:t>
            </a:r>
            <a:endParaRPr lang="en-IN" sz="3600" b="1" dirty="0">
              <a:solidFill>
                <a:schemeClr val="bg1"/>
              </a:solidFill>
              <a:latin typeface="Corbel" panose="020B0503020204020204" pitchFamily="34" charset="0"/>
            </a:endParaRPr>
          </a:p>
        </p:txBody>
      </p:sp>
      <p:sp>
        <p:nvSpPr>
          <p:cNvPr id="8" name="Rectangle 7"/>
          <p:cNvSpPr/>
          <p:nvPr/>
        </p:nvSpPr>
        <p:spPr>
          <a:xfrm>
            <a:off x="240392" y="985176"/>
            <a:ext cx="11571441" cy="5593839"/>
          </a:xfrm>
          <a:prstGeom prst="rect">
            <a:avLst/>
          </a:prstGeom>
        </p:spPr>
        <p:txBody>
          <a:bodyPr wrap="square">
            <a:spAutoFit/>
          </a:bodyPr>
          <a:lstStyle/>
          <a:p>
            <a:pPr>
              <a:lnSpc>
                <a:spcPts val="3900"/>
              </a:lnSpc>
            </a:pPr>
            <a:r>
              <a:rPr lang="en-US" sz="2400" dirty="0">
                <a:solidFill>
                  <a:srgbClr val="0070C0"/>
                </a:solidFill>
                <a:latin typeface="Trebuchet MS" panose="020B0603020202020204" pitchFamily="34" charset="0"/>
              </a:rPr>
              <a:t>Problem Statement</a:t>
            </a:r>
          </a:p>
          <a:p>
            <a:pPr marL="342900" indent="-342900" defTabSz="933450">
              <a:lnSpc>
                <a:spcPts val="3900"/>
              </a:lnSpc>
              <a:buFont typeface="Arial" panose="020B0604020202020204" pitchFamily="34" charset="0"/>
              <a:buChar char="•"/>
            </a:pPr>
            <a:r>
              <a:rPr lang="en-US" sz="2400" dirty="0">
                <a:latin typeface="Trebuchet MS" panose="020B0603020202020204" pitchFamily="34" charset="0"/>
              </a:rPr>
              <a:t>Given an array of non-negative integers and an integer sum. We have to </a:t>
            </a:r>
            <a:r>
              <a:rPr lang="en-US" sz="2400" dirty="0" smtClean="0">
                <a:latin typeface="Trebuchet MS" panose="020B0603020202020204" pitchFamily="34" charset="0"/>
              </a:rPr>
              <a:t>find </a:t>
            </a:r>
            <a:r>
              <a:rPr lang="en-US" sz="2400" dirty="0">
                <a:latin typeface="Trebuchet MS" panose="020B0603020202020204" pitchFamily="34" charset="0"/>
              </a:rPr>
              <a:t>whether there exists any subset in an array whose sum is equal to the given integer sum.</a:t>
            </a:r>
          </a:p>
          <a:p>
            <a:pPr>
              <a:lnSpc>
                <a:spcPts val="3900"/>
              </a:lnSpc>
            </a:pPr>
            <a:r>
              <a:rPr lang="en-US" sz="2400" b="1" dirty="0" smtClean="0">
                <a:solidFill>
                  <a:srgbClr val="0070C0"/>
                </a:solidFill>
                <a:latin typeface="Trebuchet MS" panose="020B0603020202020204" pitchFamily="34" charset="0"/>
              </a:rPr>
              <a:t>Definition:</a:t>
            </a:r>
          </a:p>
          <a:p>
            <a:pPr marL="342900" indent="-342900">
              <a:lnSpc>
                <a:spcPts val="3900"/>
              </a:lnSpc>
              <a:buFont typeface="Arial" panose="020B0604020202020204" pitchFamily="34" charset="0"/>
              <a:buChar char="•"/>
            </a:pPr>
            <a:r>
              <a:rPr lang="en-US" sz="2400" dirty="0" smtClean="0">
                <a:latin typeface="Trebuchet MS" panose="020B0603020202020204" pitchFamily="34" charset="0"/>
              </a:rPr>
              <a:t>The </a:t>
            </a:r>
            <a:r>
              <a:rPr lang="en-US" sz="2400" dirty="0">
                <a:latin typeface="Trebuchet MS" panose="020B0603020202020204" pitchFamily="34" charset="0"/>
              </a:rPr>
              <a:t>subset-sum problem finds a subset of a given set A = {a1, . . . , an} of n positive integers whose sum is equal to a given positive integer d. </a:t>
            </a:r>
            <a:endParaRPr lang="en-US" sz="2400" dirty="0" smtClean="0">
              <a:latin typeface="Trebuchet MS" panose="020B0603020202020204" pitchFamily="34" charset="0"/>
            </a:endParaRPr>
          </a:p>
          <a:p>
            <a:pPr>
              <a:lnSpc>
                <a:spcPts val="3900"/>
              </a:lnSpc>
            </a:pPr>
            <a:r>
              <a:rPr lang="en-US" sz="2400" dirty="0" smtClean="0">
                <a:solidFill>
                  <a:srgbClr val="0070C0"/>
                </a:solidFill>
                <a:latin typeface="Trebuchet MS" panose="020B0603020202020204" pitchFamily="34" charset="0"/>
              </a:rPr>
              <a:t>Example1:</a:t>
            </a:r>
          </a:p>
          <a:p>
            <a:pPr marL="342900" indent="-342900">
              <a:lnSpc>
                <a:spcPts val="3900"/>
              </a:lnSpc>
              <a:buFont typeface="Arial" panose="020B0604020202020204" pitchFamily="34" charset="0"/>
              <a:buChar char="•"/>
            </a:pPr>
            <a:r>
              <a:rPr lang="en-US" sz="2400" dirty="0" smtClean="0">
                <a:latin typeface="Trebuchet MS" panose="020B0603020202020204" pitchFamily="34" charset="0"/>
              </a:rPr>
              <a:t>The given array A </a:t>
            </a:r>
            <a:r>
              <a:rPr lang="en-US" sz="2400" dirty="0">
                <a:latin typeface="Trebuchet MS" panose="020B0603020202020204" pitchFamily="34" charset="0"/>
              </a:rPr>
              <a:t>= {1, 2, 5, 6, 8} </a:t>
            </a:r>
            <a:r>
              <a:rPr lang="en-US" sz="2400" dirty="0" smtClean="0">
                <a:latin typeface="Trebuchet MS" panose="020B0603020202020204" pitchFamily="34" charset="0"/>
              </a:rPr>
              <a:t>and sum </a:t>
            </a:r>
            <a:r>
              <a:rPr lang="en-US" sz="2400" dirty="0">
                <a:latin typeface="Trebuchet MS" panose="020B0603020202020204" pitchFamily="34" charset="0"/>
              </a:rPr>
              <a:t>= </a:t>
            </a:r>
            <a:r>
              <a:rPr lang="en-US" sz="2400" dirty="0" smtClean="0">
                <a:latin typeface="Trebuchet MS" panose="020B0603020202020204" pitchFamily="34" charset="0"/>
              </a:rPr>
              <a:t>9. In this, there </a:t>
            </a:r>
            <a:r>
              <a:rPr lang="en-US" sz="2400" dirty="0">
                <a:latin typeface="Trebuchet MS" panose="020B0603020202020204" pitchFamily="34" charset="0"/>
              </a:rPr>
              <a:t>are two p</a:t>
            </a:r>
            <a:r>
              <a:rPr lang="en-US" sz="2400" dirty="0" smtClean="0">
                <a:latin typeface="Trebuchet MS" panose="020B0603020202020204" pitchFamily="34" charset="0"/>
              </a:rPr>
              <a:t>ossible solutions</a:t>
            </a:r>
            <a:r>
              <a:rPr lang="en-US" sz="2400" dirty="0">
                <a:latin typeface="Trebuchet MS" panose="020B0603020202020204" pitchFamily="34" charset="0"/>
              </a:rPr>
              <a:t>: {1, 2, 6} and {1, 8}. Of course, some instances of this problem may have no solutions</a:t>
            </a:r>
            <a:r>
              <a:rPr lang="en-US" sz="2400" dirty="0" smtClean="0">
                <a:latin typeface="Trebuchet MS" panose="020B0603020202020204" pitchFamily="34" charset="0"/>
              </a:rPr>
              <a:t>.</a:t>
            </a:r>
            <a:endParaRPr lang="en-US" sz="2400" dirty="0" smtClean="0">
              <a:solidFill>
                <a:srgbClr val="0070C0"/>
              </a:solidFill>
              <a:latin typeface="Trebuchet MS" panose="020B0603020202020204" pitchFamily="34" charset="0"/>
            </a:endParaRPr>
          </a:p>
        </p:txBody>
      </p:sp>
    </p:spTree>
    <p:extLst>
      <p:ext uri="{BB962C8B-B14F-4D97-AF65-F5344CB8AC3E}">
        <p14:creationId xmlns:p14="http://schemas.microsoft.com/office/powerpoint/2010/main" val="425793222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Subset Sum Problem</a:t>
            </a:r>
            <a:endParaRPr lang="en-IN" sz="3600" b="1" dirty="0">
              <a:solidFill>
                <a:schemeClr val="bg1"/>
              </a:solidFill>
              <a:latin typeface="Corbel" panose="020B0503020204020204" pitchFamily="34" charset="0"/>
            </a:endParaRPr>
          </a:p>
        </p:txBody>
      </p:sp>
      <p:sp>
        <p:nvSpPr>
          <p:cNvPr id="3" name="Rectangle 2"/>
          <p:cNvSpPr/>
          <p:nvPr/>
        </p:nvSpPr>
        <p:spPr>
          <a:xfrm>
            <a:off x="232551" y="844449"/>
            <a:ext cx="11579284" cy="5632311"/>
          </a:xfrm>
          <a:prstGeom prst="rect">
            <a:avLst/>
          </a:prstGeom>
        </p:spPr>
        <p:txBody>
          <a:bodyPr wrap="square">
            <a:spAutoFit/>
          </a:bodyPr>
          <a:lstStyle/>
          <a:p>
            <a:pPr lvl="0">
              <a:lnSpc>
                <a:spcPct val="150000"/>
              </a:lnSpc>
            </a:pPr>
            <a:r>
              <a:rPr lang="en-US" sz="2400" dirty="0" smtClean="0">
                <a:solidFill>
                  <a:srgbClr val="0070C0"/>
                </a:solidFill>
                <a:latin typeface="Trebuchet MS" panose="020B0603020202020204" pitchFamily="34" charset="0"/>
              </a:rPr>
              <a:t>Example2:</a:t>
            </a:r>
            <a:endParaRPr lang="en-US" sz="2400" dirty="0">
              <a:solidFill>
                <a:srgbClr val="0070C0"/>
              </a:solidFill>
              <a:latin typeface="Trebuchet MS" panose="020B0603020202020204" pitchFamily="34" charset="0"/>
            </a:endParaRPr>
          </a:p>
          <a:p>
            <a:pPr lvl="3">
              <a:lnSpc>
                <a:spcPct val="150000"/>
              </a:lnSpc>
            </a:pPr>
            <a:r>
              <a:rPr lang="en-US" sz="2400" b="1" dirty="0">
                <a:solidFill>
                  <a:srgbClr val="000000"/>
                </a:solidFill>
                <a:latin typeface="Trebuchet MS" panose="020B0603020202020204" pitchFamily="34" charset="0"/>
              </a:rPr>
              <a:t>Input:</a:t>
            </a:r>
            <a:r>
              <a:rPr lang="en-US" sz="2400" dirty="0">
                <a:solidFill>
                  <a:srgbClr val="000000"/>
                </a:solidFill>
                <a:latin typeface="Trebuchet MS" panose="020B0603020202020204" pitchFamily="34" charset="0"/>
              </a:rPr>
              <a:t> </a:t>
            </a:r>
            <a:r>
              <a:rPr lang="en-US" sz="2400" dirty="0" err="1">
                <a:solidFill>
                  <a:srgbClr val="000000"/>
                </a:solidFill>
                <a:latin typeface="Trebuchet MS" panose="020B0603020202020204" pitchFamily="34" charset="0"/>
              </a:rPr>
              <a:t>arr</a:t>
            </a:r>
            <a:r>
              <a:rPr lang="en-US" sz="2400" dirty="0">
                <a:solidFill>
                  <a:srgbClr val="000000"/>
                </a:solidFill>
                <a:latin typeface="Trebuchet MS" panose="020B0603020202020204" pitchFamily="34" charset="0"/>
              </a:rPr>
              <a:t>[] = {3, 34, 4, 12, 3, 2}, sum = 7</a:t>
            </a:r>
            <a:br>
              <a:rPr lang="en-US" sz="2400" dirty="0">
                <a:solidFill>
                  <a:srgbClr val="000000"/>
                </a:solidFill>
                <a:latin typeface="Trebuchet MS" panose="020B0603020202020204" pitchFamily="34" charset="0"/>
              </a:rPr>
            </a:br>
            <a:r>
              <a:rPr lang="en-US" sz="2400" b="1" dirty="0">
                <a:solidFill>
                  <a:srgbClr val="000000"/>
                </a:solidFill>
                <a:latin typeface="Trebuchet MS" panose="020B0603020202020204" pitchFamily="34" charset="0"/>
              </a:rPr>
              <a:t>Output:</a:t>
            </a:r>
            <a:r>
              <a:rPr lang="en-US" sz="2400" dirty="0">
                <a:solidFill>
                  <a:srgbClr val="000000"/>
                </a:solidFill>
                <a:latin typeface="Trebuchet MS" panose="020B0603020202020204" pitchFamily="34" charset="0"/>
              </a:rPr>
              <a:t> True</a:t>
            </a:r>
            <a:br>
              <a:rPr lang="en-US" sz="2400" dirty="0">
                <a:solidFill>
                  <a:srgbClr val="000000"/>
                </a:solidFill>
                <a:latin typeface="Trebuchet MS" panose="020B0603020202020204" pitchFamily="34" charset="0"/>
              </a:rPr>
            </a:br>
            <a:r>
              <a:rPr lang="en-US" sz="2400" b="1" dirty="0">
                <a:solidFill>
                  <a:srgbClr val="000000"/>
                </a:solidFill>
                <a:latin typeface="Trebuchet MS" panose="020B0603020202020204" pitchFamily="34" charset="0"/>
              </a:rPr>
              <a:t>Explanation:</a:t>
            </a:r>
            <a:r>
              <a:rPr lang="en-US" sz="2400" dirty="0">
                <a:solidFill>
                  <a:srgbClr val="000000"/>
                </a:solidFill>
                <a:latin typeface="Trebuchet MS" panose="020B0603020202020204" pitchFamily="34" charset="0"/>
              </a:rPr>
              <a:t> There is a subset (4, 3) with sum </a:t>
            </a:r>
            <a:r>
              <a:rPr lang="en-US" sz="2400" dirty="0" smtClean="0">
                <a:solidFill>
                  <a:srgbClr val="000000"/>
                </a:solidFill>
                <a:latin typeface="Trebuchet MS" panose="020B0603020202020204" pitchFamily="34" charset="0"/>
              </a:rPr>
              <a:t>7</a:t>
            </a:r>
            <a:endParaRPr lang="en-US" sz="2400" dirty="0">
              <a:solidFill>
                <a:srgbClr val="000000"/>
              </a:solidFill>
              <a:latin typeface="Trebuchet MS" panose="020B0603020202020204" pitchFamily="34" charset="0"/>
            </a:endParaRPr>
          </a:p>
          <a:p>
            <a:pPr marL="354013" lvl="1" indent="-354013">
              <a:lnSpc>
                <a:spcPct val="150000"/>
              </a:lnSpc>
              <a:buFont typeface="Arial" panose="020B0604020202020204" pitchFamily="34" charset="0"/>
              <a:buChar char="•"/>
            </a:pPr>
            <a:r>
              <a:rPr lang="en-US" sz="2400" dirty="0">
                <a:solidFill>
                  <a:srgbClr val="000000"/>
                </a:solidFill>
                <a:latin typeface="Trebuchet MS" panose="020B0603020202020204" pitchFamily="34" charset="0"/>
              </a:rPr>
              <a:t>It is </a:t>
            </a:r>
            <a:r>
              <a:rPr lang="en-US" sz="2400" dirty="0">
                <a:solidFill>
                  <a:srgbClr val="C00000"/>
                </a:solidFill>
                <a:latin typeface="Trebuchet MS" panose="020B0603020202020204" pitchFamily="34" charset="0"/>
              </a:rPr>
              <a:t>convenient to sort the set‘s elements in increasing order</a:t>
            </a:r>
            <a:r>
              <a:rPr lang="en-US" sz="2400" dirty="0">
                <a:solidFill>
                  <a:srgbClr val="000000"/>
                </a:solidFill>
                <a:latin typeface="Trebuchet MS" panose="020B0603020202020204" pitchFamily="34" charset="0"/>
              </a:rPr>
              <a:t>. So, we will assume </a:t>
            </a:r>
            <a:r>
              <a:rPr lang="en-US" sz="2400" dirty="0" smtClean="0">
                <a:solidFill>
                  <a:srgbClr val="000000"/>
                </a:solidFill>
                <a:latin typeface="Trebuchet MS" panose="020B0603020202020204" pitchFamily="34" charset="0"/>
              </a:rPr>
              <a:t>that </a:t>
            </a:r>
            <a:r>
              <a:rPr lang="en-US" sz="2400" dirty="0" smtClean="0">
                <a:solidFill>
                  <a:srgbClr val="0070C0"/>
                </a:solidFill>
                <a:latin typeface="Trebuchet MS" panose="020B0603020202020204" pitchFamily="34" charset="0"/>
              </a:rPr>
              <a:t>a1</a:t>
            </a:r>
            <a:r>
              <a:rPr lang="en-US" sz="2400" dirty="0">
                <a:solidFill>
                  <a:srgbClr val="0070C0"/>
                </a:solidFill>
                <a:latin typeface="Trebuchet MS" panose="020B0603020202020204" pitchFamily="34" charset="0"/>
              </a:rPr>
              <a:t>&lt; a2 &lt; . . . &lt; an</a:t>
            </a:r>
            <a:r>
              <a:rPr lang="en-US" sz="2400" dirty="0">
                <a:solidFill>
                  <a:srgbClr val="000000"/>
                </a:solidFill>
                <a:latin typeface="Trebuchet MS" panose="020B0603020202020204" pitchFamily="34" charset="0"/>
              </a:rPr>
              <a:t>. </a:t>
            </a:r>
            <a:r>
              <a:rPr lang="en-US" sz="2400" dirty="0" smtClean="0">
                <a:solidFill>
                  <a:srgbClr val="000000"/>
                </a:solidFill>
                <a:latin typeface="Trebuchet MS" panose="020B0603020202020204" pitchFamily="34" charset="0"/>
              </a:rPr>
              <a:t>Sum also denoted by d.</a:t>
            </a:r>
          </a:p>
          <a:p>
            <a:pPr marL="354013" lvl="1" indent="-354013">
              <a:lnSpc>
                <a:spcPct val="150000"/>
              </a:lnSpc>
              <a:buFont typeface="Arial" panose="020B0604020202020204" pitchFamily="34" charset="0"/>
              <a:buChar char="•"/>
            </a:pPr>
            <a:r>
              <a:rPr lang="en-US" sz="2400" u="sng" dirty="0" smtClean="0">
                <a:solidFill>
                  <a:srgbClr val="000000"/>
                </a:solidFill>
                <a:latin typeface="Trebuchet MS" panose="020B0603020202020204" pitchFamily="34" charset="0"/>
              </a:rPr>
              <a:t>For </a:t>
            </a:r>
            <a:r>
              <a:rPr lang="en-US" sz="2400" u="sng" dirty="0">
                <a:solidFill>
                  <a:srgbClr val="000000"/>
                </a:solidFill>
                <a:latin typeface="Trebuchet MS" panose="020B0603020202020204" pitchFamily="34" charset="0"/>
              </a:rPr>
              <a:t>Example,</a:t>
            </a:r>
          </a:p>
          <a:p>
            <a:pPr lvl="1">
              <a:lnSpc>
                <a:spcPct val="150000"/>
              </a:lnSpc>
            </a:pPr>
            <a:r>
              <a:rPr lang="en-US" sz="2400" dirty="0">
                <a:solidFill>
                  <a:srgbClr val="000000"/>
                </a:solidFill>
                <a:latin typeface="Trebuchet MS" panose="020B0603020202020204" pitchFamily="34" charset="0"/>
              </a:rPr>
              <a:t>A = {3, 5, 6, 7} and d = 15 of the subset-sum problem. The number inside a node </a:t>
            </a:r>
            <a:r>
              <a:rPr lang="en-US" sz="2400" dirty="0">
                <a:solidFill>
                  <a:srgbClr val="000000"/>
                </a:solidFill>
                <a:latin typeface="Trebuchet MS" panose="020B0603020202020204" pitchFamily="34" charset="0"/>
              </a:rPr>
              <a:t>is </a:t>
            </a:r>
            <a:r>
              <a:rPr lang="en-US" sz="2400" dirty="0">
                <a:solidFill>
                  <a:srgbClr val="000000"/>
                </a:solidFill>
                <a:latin typeface="Trebuchet MS" panose="020B0603020202020204" pitchFamily="34" charset="0"/>
              </a:rPr>
              <a:t>the sum </a:t>
            </a:r>
            <a:r>
              <a:rPr lang="en-US" sz="2400" dirty="0">
                <a:solidFill>
                  <a:srgbClr val="000000"/>
                </a:solidFill>
                <a:latin typeface="Trebuchet MS" panose="020B0603020202020204" pitchFamily="34" charset="0"/>
              </a:rPr>
              <a:t>of the elements already included in the subsets represented by the node. </a:t>
            </a:r>
            <a:r>
              <a:rPr lang="en-US" sz="2400" dirty="0">
                <a:solidFill>
                  <a:srgbClr val="000000"/>
                </a:solidFill>
                <a:latin typeface="Trebuchet MS" panose="020B0603020202020204" pitchFamily="34" charset="0"/>
              </a:rPr>
              <a:t>The inequality below a leaf indicates the reason for its termination</a:t>
            </a:r>
            <a:r>
              <a:rPr lang="en-US" sz="2400" dirty="0" smtClean="0">
                <a:solidFill>
                  <a:srgbClr val="000000"/>
                </a:solidFill>
                <a:latin typeface="Trebuchet MS" panose="020B0603020202020204" pitchFamily="34" charset="0"/>
              </a:rPr>
              <a:t>.</a:t>
            </a:r>
            <a:endParaRPr lang="en-IN" sz="2400" dirty="0">
              <a:solidFill>
                <a:srgbClr val="000000"/>
              </a:solidFill>
              <a:latin typeface="Trebuchet MS" panose="020B0603020202020204" pitchFamily="34" charset="0"/>
            </a:endParaRPr>
          </a:p>
        </p:txBody>
      </p:sp>
    </p:spTree>
    <p:extLst>
      <p:ext uri="{BB962C8B-B14F-4D97-AF65-F5344CB8AC3E}">
        <p14:creationId xmlns:p14="http://schemas.microsoft.com/office/powerpoint/2010/main" val="360639098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Subset Sum Problem</a:t>
            </a:r>
            <a:endParaRPr lang="en-IN" sz="3600" b="1" dirty="0">
              <a:solidFill>
                <a:schemeClr val="bg1"/>
              </a:solidFill>
              <a:latin typeface="Corbel" panose="020B0503020204020204" pitchFamily="34" charset="0"/>
            </a:endParaRPr>
          </a:p>
        </p:txBody>
      </p:sp>
      <p:sp>
        <p:nvSpPr>
          <p:cNvPr id="3" name="Rectangle 2"/>
          <p:cNvSpPr/>
          <p:nvPr/>
        </p:nvSpPr>
        <p:spPr>
          <a:xfrm>
            <a:off x="232551" y="844449"/>
            <a:ext cx="11579284" cy="5770811"/>
          </a:xfrm>
          <a:prstGeom prst="rect">
            <a:avLst/>
          </a:prstGeom>
          <a:noFill/>
        </p:spPr>
        <p:txBody>
          <a:bodyPr wrap="square">
            <a:spAutoFit/>
          </a:bodyPr>
          <a:lstStyle/>
          <a:p>
            <a:pPr lvl="0">
              <a:lnSpc>
                <a:spcPct val="150000"/>
              </a:lnSpc>
            </a:pPr>
            <a:r>
              <a:rPr lang="en-US" sz="1600" b="1" dirty="0" smtClean="0">
                <a:solidFill>
                  <a:srgbClr val="0070C0"/>
                </a:solidFill>
                <a:latin typeface="Trebuchet MS" panose="020B0603020202020204" pitchFamily="34" charset="0"/>
              </a:rPr>
              <a:t>Algorithm</a:t>
            </a:r>
            <a:r>
              <a:rPr lang="en-US" sz="1600" b="1" dirty="0" smtClean="0">
                <a:latin typeface="Trebuchet MS" panose="020B0603020202020204" pitchFamily="34" charset="0"/>
              </a:rPr>
              <a:t> </a:t>
            </a:r>
            <a:r>
              <a:rPr lang="en-US" sz="1600" b="1" dirty="0" err="1" smtClean="0">
                <a:solidFill>
                  <a:srgbClr val="FF0000"/>
                </a:solidFill>
                <a:latin typeface="Trebuchet MS" panose="020B0603020202020204" pitchFamily="34" charset="0"/>
              </a:rPr>
              <a:t>SumOfSub</a:t>
            </a:r>
            <a:r>
              <a:rPr lang="en-US" sz="1600" b="1" dirty="0" smtClean="0">
                <a:latin typeface="Trebuchet MS" panose="020B0603020202020204" pitchFamily="34" charset="0"/>
              </a:rPr>
              <a:t>(s, k, r):</a:t>
            </a:r>
          </a:p>
          <a:p>
            <a:pPr lvl="0">
              <a:lnSpc>
                <a:spcPct val="150000"/>
              </a:lnSpc>
            </a:pPr>
            <a:r>
              <a:rPr lang="en-US" sz="1600" b="1" dirty="0" smtClean="0">
                <a:solidFill>
                  <a:srgbClr val="0070C0"/>
                </a:solidFill>
                <a:latin typeface="Trebuchet MS" panose="020B0603020202020204" pitchFamily="34" charset="0"/>
              </a:rPr>
              <a:t>Input:</a:t>
            </a:r>
            <a:r>
              <a:rPr lang="en-US" sz="1600" b="1" dirty="0" smtClean="0">
                <a:latin typeface="Trebuchet MS" panose="020B0603020202020204" pitchFamily="34" charset="0"/>
              </a:rPr>
              <a:t> s (current sum), k (current index), r (remaining sum)</a:t>
            </a:r>
          </a:p>
          <a:p>
            <a:pPr lvl="0">
              <a:lnSpc>
                <a:spcPct val="150000"/>
              </a:lnSpc>
            </a:pPr>
            <a:r>
              <a:rPr lang="en-US" sz="1600" b="1" dirty="0" smtClean="0">
                <a:solidFill>
                  <a:srgbClr val="0070C0"/>
                </a:solidFill>
                <a:latin typeface="Trebuchet MS" panose="020B0603020202020204" pitchFamily="34" charset="0"/>
              </a:rPr>
              <a:t>Output:</a:t>
            </a:r>
            <a:r>
              <a:rPr lang="en-US" sz="1600" b="1" dirty="0" smtClean="0">
                <a:latin typeface="Trebuchet MS" panose="020B0603020202020204" pitchFamily="34" charset="0"/>
              </a:rPr>
              <a:t> </a:t>
            </a:r>
            <a:r>
              <a:rPr lang="en-US" sz="1600" b="1" dirty="0">
                <a:latin typeface="Trebuchet MS" panose="020B0603020202020204" pitchFamily="34" charset="0"/>
              </a:rPr>
              <a:t>Find all subsets of w[1:n] that sum to m</a:t>
            </a:r>
          </a:p>
          <a:p>
            <a:pPr lvl="0">
              <a:lnSpc>
                <a:spcPct val="150000"/>
              </a:lnSpc>
            </a:pPr>
            <a:r>
              <a:rPr lang="en-US" sz="1600" b="1" dirty="0" smtClean="0">
                <a:latin typeface="Trebuchet MS" panose="020B0603020202020204" pitchFamily="34" charset="0"/>
              </a:rPr>
              <a:t>    </a:t>
            </a:r>
            <a:r>
              <a:rPr lang="en-US" sz="1600" b="1" dirty="0">
                <a:latin typeface="Trebuchet MS" panose="020B0603020202020204" pitchFamily="34" charset="0"/>
              </a:rPr>
              <a:t>if s == m:</a:t>
            </a:r>
          </a:p>
          <a:p>
            <a:pPr lvl="0">
              <a:lnSpc>
                <a:spcPct val="150000"/>
              </a:lnSpc>
            </a:pPr>
            <a:r>
              <a:rPr lang="en-US" sz="1600" b="1" dirty="0">
                <a:latin typeface="Trebuchet MS" panose="020B0603020202020204" pitchFamily="34" charset="0"/>
              </a:rPr>
              <a:t>        Output the subset represented by x  </a:t>
            </a:r>
            <a:r>
              <a:rPr lang="en-US" sz="1600" b="1" dirty="0">
                <a:solidFill>
                  <a:srgbClr val="C00000"/>
                </a:solidFill>
                <a:latin typeface="Trebuchet MS" panose="020B0603020202020204" pitchFamily="34" charset="0"/>
              </a:rPr>
              <a:t>// Solution found</a:t>
            </a:r>
          </a:p>
          <a:p>
            <a:pPr lvl="0">
              <a:lnSpc>
                <a:spcPct val="150000"/>
              </a:lnSpc>
            </a:pPr>
            <a:r>
              <a:rPr lang="en-US" sz="1600" b="1" dirty="0">
                <a:latin typeface="Trebuchet MS" panose="020B0603020202020204" pitchFamily="34" charset="0"/>
              </a:rPr>
              <a:t>        return</a:t>
            </a:r>
          </a:p>
          <a:p>
            <a:pPr lvl="0">
              <a:lnSpc>
                <a:spcPct val="150000"/>
              </a:lnSpc>
            </a:pPr>
            <a:r>
              <a:rPr lang="en-US" b="1" dirty="0" smtClean="0">
                <a:solidFill>
                  <a:srgbClr val="0070C0"/>
                </a:solidFill>
                <a:latin typeface="Trebuchet MS" panose="020B0603020202020204" pitchFamily="34" charset="0"/>
              </a:rPr>
              <a:t>    </a:t>
            </a:r>
            <a:r>
              <a:rPr lang="en-US" b="1" u="sng" dirty="0">
                <a:solidFill>
                  <a:srgbClr val="0070C0"/>
                </a:solidFill>
                <a:latin typeface="Trebuchet MS" panose="020B0603020202020204" pitchFamily="34" charset="0"/>
              </a:rPr>
              <a:t>// Generate left child (include w[k])</a:t>
            </a:r>
          </a:p>
          <a:p>
            <a:pPr lvl="0">
              <a:lnSpc>
                <a:spcPct val="150000"/>
              </a:lnSpc>
            </a:pPr>
            <a:r>
              <a:rPr lang="en-US" sz="1600" b="1" dirty="0">
                <a:latin typeface="Trebuchet MS" panose="020B0603020202020204" pitchFamily="34" charset="0"/>
              </a:rPr>
              <a:t>    if s + w[k] &lt;= m:</a:t>
            </a:r>
          </a:p>
          <a:p>
            <a:pPr lvl="0">
              <a:lnSpc>
                <a:spcPct val="150000"/>
              </a:lnSpc>
            </a:pPr>
            <a:r>
              <a:rPr lang="en-US" sz="1600" b="1" dirty="0">
                <a:latin typeface="Trebuchet MS" panose="020B0603020202020204" pitchFamily="34" charset="0"/>
              </a:rPr>
              <a:t>        x[k] = 1</a:t>
            </a:r>
            <a:r>
              <a:rPr lang="en-US" sz="1600" b="1" dirty="0">
                <a:solidFill>
                  <a:srgbClr val="D60093"/>
                </a:solidFill>
                <a:latin typeface="Trebuchet MS" panose="020B0603020202020204" pitchFamily="34" charset="0"/>
              </a:rPr>
              <a:t>                          </a:t>
            </a:r>
            <a:r>
              <a:rPr lang="en-US" b="1" dirty="0">
                <a:solidFill>
                  <a:srgbClr val="D60093"/>
                </a:solidFill>
                <a:latin typeface="Trebuchet MS" panose="020B0603020202020204" pitchFamily="34" charset="0"/>
              </a:rPr>
              <a:t>// Include w[k] in the subset</a:t>
            </a:r>
          </a:p>
          <a:p>
            <a:pPr lvl="0">
              <a:lnSpc>
                <a:spcPct val="150000"/>
              </a:lnSpc>
            </a:pPr>
            <a:r>
              <a:rPr lang="en-US" sz="1600" b="1" dirty="0">
                <a:latin typeface="Trebuchet MS" panose="020B0603020202020204" pitchFamily="34" charset="0"/>
              </a:rPr>
              <a:t>        </a:t>
            </a:r>
            <a:r>
              <a:rPr lang="en-US" sz="1600" b="1" dirty="0" err="1">
                <a:latin typeface="Trebuchet MS" panose="020B0603020202020204" pitchFamily="34" charset="0"/>
              </a:rPr>
              <a:t>SumOfSub</a:t>
            </a:r>
            <a:r>
              <a:rPr lang="en-US" sz="1600" b="1" dirty="0">
                <a:latin typeface="Trebuchet MS" panose="020B0603020202020204" pitchFamily="34" charset="0"/>
              </a:rPr>
              <a:t>(s + w[k], k + 1, r - w[k]) </a:t>
            </a:r>
            <a:r>
              <a:rPr lang="en-US" sz="1600" b="1" dirty="0">
                <a:solidFill>
                  <a:srgbClr val="C00000"/>
                </a:solidFill>
                <a:latin typeface="Trebuchet MS" panose="020B0603020202020204" pitchFamily="34" charset="0"/>
              </a:rPr>
              <a:t>// </a:t>
            </a:r>
            <a:r>
              <a:rPr lang="en-US" sz="1600" b="1" dirty="0" err="1">
                <a:solidFill>
                  <a:srgbClr val="C00000"/>
                </a:solidFill>
                <a:latin typeface="Trebuchet MS" panose="020B0603020202020204" pitchFamily="34" charset="0"/>
              </a:rPr>
              <a:t>Recurse</a:t>
            </a:r>
            <a:r>
              <a:rPr lang="en-US" sz="1600" b="1" dirty="0">
                <a:solidFill>
                  <a:srgbClr val="C00000"/>
                </a:solidFill>
                <a:latin typeface="Trebuchet MS" panose="020B0603020202020204" pitchFamily="34" charset="0"/>
              </a:rPr>
              <a:t> with updated s and r</a:t>
            </a:r>
          </a:p>
          <a:p>
            <a:pPr lvl="0">
              <a:lnSpc>
                <a:spcPct val="150000"/>
              </a:lnSpc>
            </a:pPr>
            <a:r>
              <a:rPr lang="en-US" sz="1600" b="1" dirty="0" smtClean="0">
                <a:latin typeface="Trebuchet MS" panose="020B0603020202020204" pitchFamily="34" charset="0"/>
              </a:rPr>
              <a:t>    </a:t>
            </a:r>
            <a:r>
              <a:rPr lang="en-US" b="1" u="sng" dirty="0">
                <a:solidFill>
                  <a:srgbClr val="0070C0"/>
                </a:solidFill>
                <a:latin typeface="Trebuchet MS" panose="020B0603020202020204" pitchFamily="34" charset="0"/>
              </a:rPr>
              <a:t>// Generate right child (exclude w[k])</a:t>
            </a:r>
          </a:p>
          <a:p>
            <a:pPr lvl="0">
              <a:lnSpc>
                <a:spcPct val="150000"/>
              </a:lnSpc>
            </a:pPr>
            <a:r>
              <a:rPr lang="en-US" sz="1600" b="1" dirty="0">
                <a:latin typeface="Trebuchet MS" panose="020B0603020202020204" pitchFamily="34" charset="0"/>
              </a:rPr>
              <a:t>    if (s + r - w[k] &gt;= m) and (s + w[k+1] &lt;= m if k+1 &lt; n):</a:t>
            </a:r>
          </a:p>
          <a:p>
            <a:pPr lvl="0">
              <a:lnSpc>
                <a:spcPct val="150000"/>
              </a:lnSpc>
            </a:pPr>
            <a:r>
              <a:rPr lang="en-US" sz="1600" b="1" dirty="0">
                <a:latin typeface="Trebuchet MS" panose="020B0603020202020204" pitchFamily="34" charset="0"/>
              </a:rPr>
              <a:t>        x[k] = 0                          </a:t>
            </a:r>
            <a:r>
              <a:rPr lang="en-US" sz="1600" b="1" dirty="0">
                <a:solidFill>
                  <a:srgbClr val="D60093"/>
                </a:solidFill>
                <a:latin typeface="Trebuchet MS" panose="020B0603020202020204" pitchFamily="34" charset="0"/>
              </a:rPr>
              <a:t>// Exclude w[k] from the subset</a:t>
            </a:r>
          </a:p>
          <a:p>
            <a:pPr lvl="0">
              <a:lnSpc>
                <a:spcPct val="150000"/>
              </a:lnSpc>
            </a:pPr>
            <a:r>
              <a:rPr lang="en-US" sz="1600" b="1" dirty="0">
                <a:latin typeface="Trebuchet MS" panose="020B0603020202020204" pitchFamily="34" charset="0"/>
              </a:rPr>
              <a:t>        </a:t>
            </a:r>
            <a:r>
              <a:rPr lang="en-US" sz="1600" b="1" dirty="0" err="1">
                <a:latin typeface="Trebuchet MS" panose="020B0603020202020204" pitchFamily="34" charset="0"/>
              </a:rPr>
              <a:t>SumOfSub</a:t>
            </a:r>
            <a:r>
              <a:rPr lang="en-US" sz="1600" b="1" dirty="0">
                <a:latin typeface="Trebuchet MS" panose="020B0603020202020204" pitchFamily="34" charset="0"/>
              </a:rPr>
              <a:t>(s, k + 1, r - w[k])       </a:t>
            </a:r>
            <a:r>
              <a:rPr lang="en-US" sz="1600" b="1" dirty="0">
                <a:solidFill>
                  <a:srgbClr val="C00000"/>
                </a:solidFill>
                <a:latin typeface="Trebuchet MS" panose="020B0603020202020204" pitchFamily="34" charset="0"/>
              </a:rPr>
              <a:t>// </a:t>
            </a:r>
            <a:r>
              <a:rPr lang="en-US" sz="1600" b="1" dirty="0" err="1">
                <a:solidFill>
                  <a:srgbClr val="C00000"/>
                </a:solidFill>
                <a:latin typeface="Trebuchet MS" panose="020B0603020202020204" pitchFamily="34" charset="0"/>
              </a:rPr>
              <a:t>Recurse</a:t>
            </a:r>
            <a:r>
              <a:rPr lang="en-US" sz="1600" b="1" dirty="0">
                <a:solidFill>
                  <a:srgbClr val="C00000"/>
                </a:solidFill>
                <a:latin typeface="Trebuchet MS" panose="020B0603020202020204" pitchFamily="34" charset="0"/>
              </a:rPr>
              <a:t> without including w[k]</a:t>
            </a:r>
          </a:p>
          <a:p>
            <a:pPr lvl="1">
              <a:lnSpc>
                <a:spcPct val="150000"/>
              </a:lnSpc>
            </a:pPr>
            <a:endParaRPr lang="en-IN" sz="1600" dirty="0">
              <a:solidFill>
                <a:srgbClr val="000000"/>
              </a:solidFill>
              <a:latin typeface="Trebuchet MS" panose="020B0603020202020204" pitchFamily="34" charset="0"/>
            </a:endParaRPr>
          </a:p>
        </p:txBody>
      </p:sp>
    </p:spTree>
    <p:extLst>
      <p:ext uri="{BB962C8B-B14F-4D97-AF65-F5344CB8AC3E}">
        <p14:creationId xmlns:p14="http://schemas.microsoft.com/office/powerpoint/2010/main" val="279351663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20197"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Subset Sum Problem</a:t>
            </a:r>
            <a:endParaRPr lang="en-IN" sz="3600" b="1" dirty="0">
              <a:solidFill>
                <a:schemeClr val="bg1"/>
              </a:solidFill>
              <a:latin typeface="Corbel" panose="020B0503020204020204" pitchFamily="34" charset="0"/>
            </a:endParaRPr>
          </a:p>
        </p:txBody>
      </p:sp>
      <p:sp>
        <p:nvSpPr>
          <p:cNvPr id="5" name="Rectangle 4"/>
          <p:cNvSpPr/>
          <p:nvPr/>
        </p:nvSpPr>
        <p:spPr>
          <a:xfrm>
            <a:off x="246743" y="951589"/>
            <a:ext cx="11714199" cy="1208023"/>
          </a:xfrm>
          <a:prstGeom prst="rect">
            <a:avLst/>
          </a:prstGeom>
        </p:spPr>
        <p:txBody>
          <a:bodyPr wrap="square">
            <a:spAutoFit/>
          </a:bodyPr>
          <a:lstStyle/>
          <a:p>
            <a:pPr>
              <a:lnSpc>
                <a:spcPts val="2880"/>
              </a:lnSpc>
            </a:pPr>
            <a:r>
              <a:rPr lang="en-US" sz="2400" b="1" dirty="0" smtClean="0">
                <a:solidFill>
                  <a:srgbClr val="0070C0"/>
                </a:solidFill>
                <a:latin typeface="Trebuchet MS" panose="020B0603020202020204" pitchFamily="34" charset="0"/>
              </a:rPr>
              <a:t>Problem: </a:t>
            </a:r>
          </a:p>
          <a:p>
            <a:pPr>
              <a:lnSpc>
                <a:spcPts val="2880"/>
              </a:lnSpc>
            </a:pPr>
            <a:r>
              <a:rPr lang="en-US" sz="2000" dirty="0" smtClean="0">
                <a:latin typeface="Trebuchet MS" panose="020B0603020202020204" pitchFamily="34" charset="0"/>
              </a:rPr>
              <a:t>Complete </a:t>
            </a:r>
            <a:r>
              <a:rPr lang="en-US" sz="2000" dirty="0">
                <a:latin typeface="Trebuchet MS" panose="020B0603020202020204" pitchFamily="34" charset="0"/>
              </a:rPr>
              <a:t>state-space tree of the backtracking algorithm applied to the </a:t>
            </a:r>
            <a:r>
              <a:rPr lang="en-US" sz="2000" dirty="0" smtClean="0">
                <a:latin typeface="Trebuchet MS" panose="020B0603020202020204" pitchFamily="34" charset="0"/>
              </a:rPr>
              <a:t>instance. The </a:t>
            </a:r>
            <a:r>
              <a:rPr lang="en-US" sz="2000" dirty="0">
                <a:latin typeface="Trebuchet MS" panose="020B0603020202020204" pitchFamily="34" charset="0"/>
              </a:rPr>
              <a:t>state-space tree can be constructed as a binary tree like that in the instance A </a:t>
            </a:r>
            <a:r>
              <a:rPr lang="en-US" sz="2000" dirty="0" smtClean="0">
                <a:latin typeface="Trebuchet MS" panose="020B0603020202020204" pitchFamily="34" charset="0"/>
              </a:rPr>
              <a:t>= {</a:t>
            </a:r>
            <a:r>
              <a:rPr lang="en-US" sz="2000" dirty="0">
                <a:latin typeface="Trebuchet MS" panose="020B0603020202020204" pitchFamily="34" charset="0"/>
              </a:rPr>
              <a:t>3, 5, 6, 7} and d = 15.</a:t>
            </a:r>
            <a:endParaRPr lang="en-IN" sz="2000" dirty="0">
              <a:latin typeface="Trebuchet MS" panose="020B0603020202020204" pitchFamily="34" charset="0"/>
            </a:endParaRPr>
          </a:p>
        </p:txBody>
      </p:sp>
      <p:pic>
        <p:nvPicPr>
          <p:cNvPr id="8" name="Picture 7"/>
          <p:cNvPicPr>
            <a:picLocks noChangeAspect="1"/>
          </p:cNvPicPr>
          <p:nvPr/>
        </p:nvPicPr>
        <p:blipFill rotWithShape="1">
          <a:blip r:embed="rId6">
            <a:duotone>
              <a:schemeClr val="accent2">
                <a:shade val="45000"/>
                <a:satMod val="135000"/>
              </a:schemeClr>
              <a:prstClr val="white"/>
            </a:duotone>
            <a:extLst>
              <a:ext uri="{BEBA8EAE-BF5A-486C-A8C5-ECC9F3942E4B}">
                <a14:imgProps xmlns:a14="http://schemas.microsoft.com/office/drawing/2010/main">
                  <a14:imgLayer r:embed="rId7">
                    <a14:imgEffect>
                      <a14:sharpenSoften amount="25000"/>
                    </a14:imgEffect>
                  </a14:imgLayer>
                </a14:imgProps>
              </a:ext>
            </a:extLst>
          </a:blip>
          <a:srcRect t="7567"/>
          <a:stretch/>
        </p:blipFill>
        <p:spPr>
          <a:xfrm>
            <a:off x="1670667" y="2159612"/>
            <a:ext cx="7532326" cy="4522427"/>
          </a:xfrm>
          <a:prstGeom prst="rect">
            <a:avLst/>
          </a:prstGeom>
        </p:spPr>
      </p:pic>
    </p:spTree>
    <p:extLst>
      <p:ext uri="{BB962C8B-B14F-4D97-AF65-F5344CB8AC3E}">
        <p14:creationId xmlns:p14="http://schemas.microsoft.com/office/powerpoint/2010/main" val="353735700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20197"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Subset Sum Problem</a:t>
            </a:r>
            <a:endParaRPr lang="en-IN" sz="3600" b="1" dirty="0">
              <a:solidFill>
                <a:schemeClr val="bg1"/>
              </a:solidFill>
              <a:latin typeface="Corbel" panose="020B0503020204020204" pitchFamily="34" charset="0"/>
            </a:endParaRPr>
          </a:p>
        </p:txBody>
      </p:sp>
      <p:sp>
        <p:nvSpPr>
          <p:cNvPr id="3" name="Rectangle 2"/>
          <p:cNvSpPr/>
          <p:nvPr/>
        </p:nvSpPr>
        <p:spPr>
          <a:xfrm>
            <a:off x="363794" y="1036233"/>
            <a:ext cx="11597148" cy="5632311"/>
          </a:xfrm>
          <a:prstGeom prst="rect">
            <a:avLst/>
          </a:prstGeom>
        </p:spPr>
        <p:txBody>
          <a:bodyPr wrap="square">
            <a:spAutoFit/>
          </a:bodyPr>
          <a:lstStyle/>
          <a:p>
            <a:pPr>
              <a:lnSpc>
                <a:spcPct val="150000"/>
              </a:lnSpc>
            </a:pPr>
            <a:r>
              <a:rPr lang="en-US" sz="2400" dirty="0" smtClean="0">
                <a:solidFill>
                  <a:srgbClr val="0070C0"/>
                </a:solidFill>
                <a:latin typeface="Trebuchet MS" panose="020B0603020202020204" pitchFamily="34" charset="0"/>
              </a:rPr>
              <a:t>Explanation</a:t>
            </a: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The </a:t>
            </a:r>
            <a:r>
              <a:rPr lang="en-US" sz="2400" dirty="0">
                <a:solidFill>
                  <a:srgbClr val="0070C0"/>
                </a:solidFill>
                <a:latin typeface="Trebuchet MS" panose="020B0603020202020204" pitchFamily="34" charset="0"/>
              </a:rPr>
              <a:t>root</a:t>
            </a:r>
            <a:r>
              <a:rPr lang="en-US" sz="2400" dirty="0">
                <a:latin typeface="Trebuchet MS" panose="020B0603020202020204" pitchFamily="34" charset="0"/>
              </a:rPr>
              <a:t> of the tree represents the starting point, with no decisions about the </a:t>
            </a:r>
            <a:r>
              <a:rPr lang="en-US" sz="2400" dirty="0" smtClean="0">
                <a:latin typeface="Trebuchet MS" panose="020B0603020202020204" pitchFamily="34" charset="0"/>
              </a:rPr>
              <a:t>given elements </a:t>
            </a:r>
            <a:r>
              <a:rPr lang="en-US" sz="2400" dirty="0">
                <a:latin typeface="Trebuchet MS" panose="020B0603020202020204" pitchFamily="34" charset="0"/>
              </a:rPr>
              <a:t>made as yet.</a:t>
            </a:r>
          </a:p>
          <a:p>
            <a:pPr marL="342900" indent="-342900">
              <a:lnSpc>
                <a:spcPct val="150000"/>
              </a:lnSpc>
              <a:buFont typeface="Arial" panose="020B0604020202020204" pitchFamily="34" charset="0"/>
              <a:buChar char="•"/>
            </a:pPr>
            <a:r>
              <a:rPr lang="en-US" sz="2400" dirty="0">
                <a:latin typeface="Trebuchet MS" panose="020B0603020202020204" pitchFamily="34" charset="0"/>
              </a:rPr>
              <a:t>Its </a:t>
            </a:r>
            <a:r>
              <a:rPr lang="en-US" sz="2400" dirty="0">
                <a:solidFill>
                  <a:srgbClr val="0070C0"/>
                </a:solidFill>
                <a:latin typeface="Trebuchet MS" panose="020B0603020202020204" pitchFamily="34" charset="0"/>
              </a:rPr>
              <a:t>left and right children </a:t>
            </a:r>
            <a:r>
              <a:rPr lang="en-US" sz="2400" dirty="0">
                <a:latin typeface="Trebuchet MS" panose="020B0603020202020204" pitchFamily="34" charset="0"/>
              </a:rPr>
              <a:t>represent, respectively, </a:t>
            </a:r>
            <a:r>
              <a:rPr lang="en-US" sz="2400" dirty="0">
                <a:solidFill>
                  <a:srgbClr val="0070C0"/>
                </a:solidFill>
                <a:latin typeface="Trebuchet MS" panose="020B0603020202020204" pitchFamily="34" charset="0"/>
              </a:rPr>
              <a:t>inclusion and exclusion of a1 </a:t>
            </a:r>
            <a:r>
              <a:rPr lang="en-US" sz="2400" dirty="0">
                <a:latin typeface="Trebuchet MS" panose="020B0603020202020204" pitchFamily="34" charset="0"/>
              </a:rPr>
              <a:t>in </a:t>
            </a:r>
            <a:r>
              <a:rPr lang="en-US" sz="2400" dirty="0" smtClean="0">
                <a:latin typeface="Trebuchet MS" panose="020B0603020202020204" pitchFamily="34" charset="0"/>
              </a:rPr>
              <a:t>a set </a:t>
            </a:r>
            <a:r>
              <a:rPr lang="en-US" sz="2400" dirty="0">
                <a:latin typeface="Trebuchet MS" panose="020B0603020202020204" pitchFamily="34" charset="0"/>
              </a:rPr>
              <a:t>being sought. Similarly, going to the left from a node of the first </a:t>
            </a:r>
            <a:r>
              <a:rPr lang="en-US" sz="2400" dirty="0" smtClean="0">
                <a:latin typeface="Trebuchet MS" panose="020B0603020202020204" pitchFamily="34" charset="0"/>
              </a:rPr>
              <a:t>level corresponds </a:t>
            </a:r>
            <a:r>
              <a:rPr lang="en-US" sz="2400" dirty="0">
                <a:latin typeface="Trebuchet MS" panose="020B0603020202020204" pitchFamily="34" charset="0"/>
              </a:rPr>
              <a:t>to inclusion of a2 while going to the right corresponds to </a:t>
            </a:r>
            <a:r>
              <a:rPr lang="en-US" sz="2400" dirty="0" smtClean="0">
                <a:latin typeface="Trebuchet MS" panose="020B0603020202020204" pitchFamily="34" charset="0"/>
              </a:rPr>
              <a:t>its exclusion</a:t>
            </a:r>
            <a:r>
              <a:rPr lang="en-US" sz="2400" dirty="0">
                <a:latin typeface="Trebuchet MS" panose="020B0603020202020204" pitchFamily="34" charset="0"/>
              </a:rPr>
              <a:t>, and so on.</a:t>
            </a:r>
          </a:p>
          <a:p>
            <a:pPr marL="342900" indent="-342900">
              <a:lnSpc>
                <a:spcPct val="150000"/>
              </a:lnSpc>
              <a:buFont typeface="Arial" panose="020B0604020202020204" pitchFamily="34" charset="0"/>
              <a:buChar char="•"/>
            </a:pPr>
            <a:r>
              <a:rPr lang="en-US" sz="2400" dirty="0">
                <a:latin typeface="Trebuchet MS" panose="020B0603020202020204" pitchFamily="34" charset="0"/>
              </a:rPr>
              <a:t>Thus, a path from the root to a node on the </a:t>
            </a:r>
            <a:r>
              <a:rPr lang="en-US" sz="2400" dirty="0" err="1" smtClean="0">
                <a:latin typeface="Trebuchet MS" panose="020B0603020202020204" pitchFamily="34" charset="0"/>
              </a:rPr>
              <a:t>i-th</a:t>
            </a:r>
            <a:r>
              <a:rPr lang="en-US" sz="2400" dirty="0" smtClean="0">
                <a:latin typeface="Trebuchet MS" panose="020B0603020202020204" pitchFamily="34" charset="0"/>
              </a:rPr>
              <a:t> </a:t>
            </a:r>
            <a:r>
              <a:rPr lang="en-US" sz="2400" dirty="0">
                <a:latin typeface="Trebuchet MS" panose="020B0603020202020204" pitchFamily="34" charset="0"/>
              </a:rPr>
              <a:t>level of the tree indicates which </a:t>
            </a:r>
            <a:r>
              <a:rPr lang="en-US" sz="2400" dirty="0" smtClean="0">
                <a:latin typeface="Trebuchet MS" panose="020B0603020202020204" pitchFamily="34" charset="0"/>
              </a:rPr>
              <a:t>of the </a:t>
            </a:r>
            <a:r>
              <a:rPr lang="en-US" sz="2400" dirty="0">
                <a:latin typeface="Trebuchet MS" panose="020B0603020202020204" pitchFamily="34" charset="0"/>
              </a:rPr>
              <a:t>first I numbers have been included in the subsets represented by that node. </a:t>
            </a:r>
            <a:r>
              <a:rPr lang="en-US" sz="2400" dirty="0" smtClean="0">
                <a:latin typeface="Trebuchet MS" panose="020B0603020202020204" pitchFamily="34" charset="0"/>
              </a:rPr>
              <a:t>We record </a:t>
            </a:r>
            <a:r>
              <a:rPr lang="en-US" sz="2400" dirty="0">
                <a:latin typeface="Trebuchet MS" panose="020B0603020202020204" pitchFamily="34" charset="0"/>
              </a:rPr>
              <a:t>the value of s, the sum of these numbers, in the node</a:t>
            </a:r>
            <a:r>
              <a:rPr lang="en-US" sz="2400" dirty="0" smtClean="0">
                <a:latin typeface="Trebuchet MS" panose="020B0603020202020204" pitchFamily="34" charset="0"/>
              </a:rPr>
              <a:t>.</a:t>
            </a:r>
            <a:endParaRPr lang="en-US" sz="2400" dirty="0">
              <a:latin typeface="Trebuchet MS" panose="020B0603020202020204" pitchFamily="34" charset="0"/>
            </a:endParaRPr>
          </a:p>
        </p:txBody>
      </p:sp>
    </p:spTree>
    <p:extLst>
      <p:ext uri="{BB962C8B-B14F-4D97-AF65-F5344CB8AC3E}">
        <p14:creationId xmlns:p14="http://schemas.microsoft.com/office/powerpoint/2010/main" val="295797495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20197"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Subset Sum Problem</a:t>
            </a:r>
            <a:endParaRPr lang="en-IN" sz="3600" b="1" dirty="0">
              <a:solidFill>
                <a:schemeClr val="bg1"/>
              </a:solidFill>
              <a:latin typeface="Corbel" panose="020B0503020204020204" pitchFamily="34" charset="0"/>
            </a:endParaRPr>
          </a:p>
        </p:txBody>
      </p:sp>
      <p:sp>
        <p:nvSpPr>
          <p:cNvPr id="3" name="Rectangle 2"/>
          <p:cNvSpPr/>
          <p:nvPr/>
        </p:nvSpPr>
        <p:spPr>
          <a:xfrm>
            <a:off x="363794" y="1036233"/>
            <a:ext cx="11159580" cy="4524315"/>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rebuchet MS" panose="020B0603020202020204" pitchFamily="34" charset="0"/>
              </a:rPr>
              <a:t>If s is equal to d, we have a solution to the problem. We can either report this result and stop or, if all the solutions need to be found, continue by backtracking to the node‘s parent.</a:t>
            </a:r>
          </a:p>
          <a:p>
            <a:pPr marL="342900" indent="-342900">
              <a:lnSpc>
                <a:spcPct val="150000"/>
              </a:lnSpc>
              <a:buFont typeface="Arial" panose="020B0604020202020204" pitchFamily="34" charset="0"/>
              <a:buChar char="•"/>
            </a:pPr>
            <a:r>
              <a:rPr lang="en-US" sz="2400" dirty="0">
                <a:latin typeface="Trebuchet MS" panose="020B0603020202020204" pitchFamily="34" charset="0"/>
              </a:rPr>
              <a:t>If s is not equal to d, we can terminate the node as non-promising if either of the following two inequalities </a:t>
            </a:r>
            <a:r>
              <a:rPr lang="en-US" sz="2400" dirty="0" smtClean="0">
                <a:latin typeface="Trebuchet MS" panose="020B0603020202020204" pitchFamily="34" charset="0"/>
              </a:rPr>
              <a:t>holds </a:t>
            </a:r>
            <a:endParaRPr lang="en-US" sz="2400" dirty="0">
              <a:latin typeface="Trebuchet MS" panose="020B0603020202020204" pitchFamily="34" charset="0"/>
            </a:endParaRPr>
          </a:p>
          <a:p>
            <a:pPr marL="800100" lvl="1" indent="-342900">
              <a:lnSpc>
                <a:spcPct val="150000"/>
              </a:lnSpc>
              <a:buFont typeface="Wingdings" panose="05000000000000000000" pitchFamily="2" charset="2"/>
              <a:buChar char="ü"/>
            </a:pPr>
            <a:r>
              <a:rPr lang="en-US" sz="2400" dirty="0" smtClean="0">
                <a:latin typeface="Trebuchet MS" panose="020B0603020202020204" pitchFamily="34" charset="0"/>
              </a:rPr>
              <a:t>the </a:t>
            </a:r>
            <a:r>
              <a:rPr lang="en-US" sz="2400" dirty="0">
                <a:latin typeface="Trebuchet MS" panose="020B0603020202020204" pitchFamily="34" charset="0"/>
              </a:rPr>
              <a:t>sum s is </a:t>
            </a:r>
            <a:r>
              <a:rPr lang="en-US" sz="2400" dirty="0" smtClean="0">
                <a:latin typeface="Trebuchet MS" panose="020B0603020202020204" pitchFamily="34" charset="0"/>
              </a:rPr>
              <a:t>too large</a:t>
            </a:r>
          </a:p>
          <a:p>
            <a:pPr marL="800100" lvl="1" indent="-342900">
              <a:lnSpc>
                <a:spcPct val="150000"/>
              </a:lnSpc>
              <a:buFont typeface="Wingdings" panose="05000000000000000000" pitchFamily="2" charset="2"/>
              <a:buChar char="ü"/>
            </a:pPr>
            <a:r>
              <a:rPr lang="en-US" sz="2400" dirty="0" smtClean="0">
                <a:latin typeface="Trebuchet MS" panose="020B0603020202020204" pitchFamily="34" charset="0"/>
              </a:rPr>
              <a:t>the </a:t>
            </a:r>
            <a:r>
              <a:rPr lang="en-US" sz="2400" dirty="0">
                <a:latin typeface="Trebuchet MS" panose="020B0603020202020204" pitchFamily="34" charset="0"/>
              </a:rPr>
              <a:t>sum s is too </a:t>
            </a:r>
            <a:r>
              <a:rPr lang="en-US" sz="2400" dirty="0" smtClean="0">
                <a:latin typeface="Trebuchet MS" panose="020B0603020202020204" pitchFamily="34" charset="0"/>
              </a:rPr>
              <a:t>small</a:t>
            </a:r>
            <a:endParaRPr lang="en-US" sz="2400" dirty="0">
              <a:latin typeface="Trebuchet MS" panose="020B0603020202020204" pitchFamily="34" charset="0"/>
            </a:endParaRPr>
          </a:p>
          <a:p>
            <a:pPr marL="342900" indent="-342900">
              <a:lnSpc>
                <a:spcPct val="150000"/>
              </a:lnSpc>
              <a:buFont typeface="Arial" panose="020B0604020202020204" pitchFamily="34" charset="0"/>
              <a:buChar char="•"/>
            </a:pPr>
            <a:endParaRPr lang="en-US" sz="2400" dirty="0">
              <a:latin typeface="Trebuchet MS" panose="020B0603020202020204" pitchFamily="34" charset="0"/>
            </a:endParaRPr>
          </a:p>
        </p:txBody>
      </p:sp>
    </p:spTree>
    <p:extLst>
      <p:ext uri="{BB962C8B-B14F-4D97-AF65-F5344CB8AC3E}">
        <p14:creationId xmlns:p14="http://schemas.microsoft.com/office/powerpoint/2010/main" val="146123459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Subset Sum Problem</a:t>
            </a:r>
            <a:endParaRPr lang="en-IN" sz="3600" b="1" dirty="0">
              <a:solidFill>
                <a:schemeClr val="bg1"/>
              </a:solidFill>
              <a:latin typeface="Corbel" panose="020B0503020204020204" pitchFamily="34" charset="0"/>
            </a:endParaRPr>
          </a:p>
        </p:txBody>
      </p:sp>
      <p:sp>
        <p:nvSpPr>
          <p:cNvPr id="3" name="Rectangle 2"/>
          <p:cNvSpPr/>
          <p:nvPr/>
        </p:nvSpPr>
        <p:spPr>
          <a:xfrm>
            <a:off x="363794" y="1036233"/>
            <a:ext cx="11159580" cy="3970318"/>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Complexity:</a:t>
            </a:r>
          </a:p>
          <a:p>
            <a:pPr>
              <a:lnSpc>
                <a:spcPct val="150000"/>
              </a:lnSpc>
            </a:pPr>
            <a:r>
              <a:rPr lang="en-US" sz="2400" dirty="0">
                <a:solidFill>
                  <a:srgbClr val="C00000"/>
                </a:solidFill>
                <a:latin typeface="Trebuchet MS" panose="020B0603020202020204" pitchFamily="34" charset="0"/>
              </a:rPr>
              <a:t>Time Complexity: </a:t>
            </a:r>
            <a:endParaRPr lang="en-US" sz="2400" dirty="0" smtClean="0">
              <a:solidFill>
                <a:srgbClr val="C00000"/>
              </a:solidFill>
              <a:latin typeface="Trebuchet MS" panose="020B0603020202020204" pitchFamily="34" charset="0"/>
            </a:endParaRPr>
          </a:p>
          <a:p>
            <a:pPr marL="722313" indent="-368300" defTabSz="722313">
              <a:lnSpc>
                <a:spcPct val="150000"/>
              </a:lnSpc>
              <a:buFont typeface="Arial" panose="020B0604020202020204" pitchFamily="34" charset="0"/>
              <a:buChar char="•"/>
            </a:pPr>
            <a:r>
              <a:rPr lang="en-US" sz="2400" dirty="0" smtClean="0">
                <a:latin typeface="Trebuchet MS" panose="020B0603020202020204" pitchFamily="34" charset="0"/>
              </a:rPr>
              <a:t>O(2^n</a:t>
            </a:r>
            <a:r>
              <a:rPr lang="en-US" sz="2400" dirty="0">
                <a:latin typeface="Trebuchet MS" panose="020B0603020202020204" pitchFamily="34" charset="0"/>
              </a:rPr>
              <a:t>) in the worst case, due to exploring all possible subsets.</a:t>
            </a:r>
          </a:p>
          <a:p>
            <a:pPr>
              <a:lnSpc>
                <a:spcPct val="150000"/>
              </a:lnSpc>
            </a:pPr>
            <a:r>
              <a:rPr lang="en-US" sz="2400" dirty="0" smtClean="0">
                <a:solidFill>
                  <a:srgbClr val="C00000"/>
                </a:solidFill>
                <a:latin typeface="Trebuchet MS" panose="020B0603020202020204" pitchFamily="34" charset="0"/>
              </a:rPr>
              <a:t>Space </a:t>
            </a:r>
            <a:r>
              <a:rPr lang="en-US" sz="2400" dirty="0">
                <a:solidFill>
                  <a:srgbClr val="C00000"/>
                </a:solidFill>
                <a:latin typeface="Trebuchet MS" panose="020B0603020202020204" pitchFamily="34" charset="0"/>
              </a:rPr>
              <a:t>Complexity:</a:t>
            </a:r>
          </a:p>
          <a:p>
            <a:pPr marL="722313" lvl="2" indent="-368300">
              <a:lnSpc>
                <a:spcPct val="150000"/>
              </a:lnSpc>
              <a:buFont typeface="Arial" panose="020B0604020202020204" pitchFamily="34" charset="0"/>
              <a:buChar char="•"/>
            </a:pPr>
            <a:r>
              <a:rPr lang="en-US" sz="2400" dirty="0" smtClean="0">
                <a:latin typeface="Trebuchet MS" panose="020B0603020202020204" pitchFamily="34" charset="0"/>
              </a:rPr>
              <a:t>O(n</a:t>
            </a:r>
            <a:r>
              <a:rPr lang="en-US" sz="2400" dirty="0">
                <a:latin typeface="Trebuchet MS" panose="020B0603020202020204" pitchFamily="34" charset="0"/>
              </a:rPr>
              <a:t>) for the recursion stack.</a:t>
            </a:r>
          </a:p>
          <a:p>
            <a:pPr marL="722313" lvl="2" indent="-368300">
              <a:lnSpc>
                <a:spcPct val="150000"/>
              </a:lnSpc>
              <a:buFont typeface="Arial" panose="020B0604020202020204" pitchFamily="34" charset="0"/>
              <a:buChar char="•"/>
            </a:pPr>
            <a:r>
              <a:rPr lang="en-US" sz="2400" dirty="0">
                <a:latin typeface="Trebuchet MS" panose="020B0603020202020204" pitchFamily="34" charset="0"/>
              </a:rPr>
              <a:t>O(2^n) in the worst case if all subsets are stored.</a:t>
            </a:r>
          </a:p>
          <a:p>
            <a:pPr marL="722313" lvl="2" indent="-368300">
              <a:lnSpc>
                <a:spcPct val="150000"/>
              </a:lnSpc>
              <a:buFont typeface="Arial" panose="020B0604020202020204" pitchFamily="34" charset="0"/>
              <a:buChar char="•"/>
            </a:pPr>
            <a:r>
              <a:rPr lang="en-US" sz="2400" dirty="0">
                <a:latin typeface="Trebuchet MS" panose="020B0603020202020204" pitchFamily="34" charset="0"/>
              </a:rPr>
              <a:t>O(n) is used for auxiliary space in calculations.</a:t>
            </a:r>
          </a:p>
        </p:txBody>
      </p:sp>
    </p:spTree>
    <p:extLst>
      <p:ext uri="{BB962C8B-B14F-4D97-AF65-F5344CB8AC3E}">
        <p14:creationId xmlns:p14="http://schemas.microsoft.com/office/powerpoint/2010/main" val="300352239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sp>
        <p:nvSpPr>
          <p:cNvPr id="3" name="Rectangle 2"/>
          <p:cNvSpPr/>
          <p:nvPr/>
        </p:nvSpPr>
        <p:spPr>
          <a:xfrm>
            <a:off x="363794" y="1036233"/>
            <a:ext cx="11448040" cy="563231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rebuchet MS" panose="020B0603020202020204" pitchFamily="34" charset="0"/>
              </a:rPr>
              <a:t>Graph coloring problem involves </a:t>
            </a:r>
            <a:r>
              <a:rPr lang="en-US" sz="2400" dirty="0">
                <a:solidFill>
                  <a:srgbClr val="0070C0"/>
                </a:solidFill>
                <a:latin typeface="Trebuchet MS" panose="020B0603020202020204" pitchFamily="34" charset="0"/>
              </a:rPr>
              <a:t>assigning colors to certain elements </a:t>
            </a:r>
            <a:r>
              <a:rPr lang="en-US" sz="2400" dirty="0">
                <a:latin typeface="Trebuchet MS" panose="020B0603020202020204" pitchFamily="34" charset="0"/>
              </a:rPr>
              <a:t>of a graph subject to certain restrictions and constraints. This has found applications in numerous fields in computer science. </a:t>
            </a:r>
            <a:endParaRPr lang="en-US" sz="2400" dirty="0" smtClean="0">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For </a:t>
            </a:r>
            <a:r>
              <a:rPr lang="en-US" sz="2400" dirty="0">
                <a:latin typeface="Trebuchet MS" panose="020B0603020202020204" pitchFamily="34" charset="0"/>
              </a:rPr>
              <a:t>example:</a:t>
            </a:r>
          </a:p>
          <a:p>
            <a:pPr marL="722313" indent="-368300">
              <a:lnSpc>
                <a:spcPct val="150000"/>
              </a:lnSpc>
              <a:buFont typeface="Wingdings" panose="05000000000000000000" pitchFamily="2" charset="2"/>
              <a:buChar char="ü"/>
            </a:pPr>
            <a:r>
              <a:rPr lang="en-US" sz="2400" dirty="0" smtClean="0">
                <a:solidFill>
                  <a:srgbClr val="0070C0"/>
                </a:solidFill>
                <a:latin typeface="Trebuchet MS" panose="020B0603020202020204" pitchFamily="34" charset="0"/>
              </a:rPr>
              <a:t>Sudoku</a:t>
            </a:r>
            <a:r>
              <a:rPr lang="en-US" sz="2400" dirty="0">
                <a:solidFill>
                  <a:srgbClr val="0070C0"/>
                </a:solidFill>
                <a:latin typeface="Trebuchet MS" panose="020B0603020202020204" pitchFamily="34" charset="0"/>
              </a:rPr>
              <a:t>: </a:t>
            </a:r>
            <a:r>
              <a:rPr lang="en-US" sz="2400" dirty="0">
                <a:latin typeface="Trebuchet MS" panose="020B0603020202020204" pitchFamily="34" charset="0"/>
              </a:rPr>
              <a:t>This game is a variation of Graph coloring problem where every cell denotes a node (or vertex) and there exists an edge between two nodes if the nodes are in same row or same column or same block.</a:t>
            </a:r>
          </a:p>
          <a:p>
            <a:pPr marL="722313" indent="-368300">
              <a:lnSpc>
                <a:spcPct val="150000"/>
              </a:lnSpc>
              <a:buFont typeface="Wingdings" panose="05000000000000000000" pitchFamily="2" charset="2"/>
              <a:buChar char="ü"/>
            </a:pPr>
            <a:r>
              <a:rPr lang="en-US" sz="2400" dirty="0">
                <a:solidFill>
                  <a:srgbClr val="0070C0"/>
                </a:solidFill>
                <a:latin typeface="Trebuchet MS" panose="020B0603020202020204" pitchFamily="34" charset="0"/>
              </a:rPr>
              <a:t>Geographical maps: </a:t>
            </a:r>
            <a:r>
              <a:rPr lang="en-US" sz="2400" dirty="0">
                <a:latin typeface="Trebuchet MS" panose="020B0603020202020204" pitchFamily="34" charset="0"/>
              </a:rPr>
              <a:t>There can be cases when no two adjacent cities/states can be assigned same color in the maps of countries or states. In this case, only four colors would be sufficient to color any map.</a:t>
            </a:r>
          </a:p>
        </p:txBody>
      </p:sp>
    </p:spTree>
    <p:extLst>
      <p:ext uri="{BB962C8B-B14F-4D97-AF65-F5344CB8AC3E}">
        <p14:creationId xmlns:p14="http://schemas.microsoft.com/office/powerpoint/2010/main" val="189260224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sp>
        <p:nvSpPr>
          <p:cNvPr id="3" name="Rectangle 2"/>
          <p:cNvSpPr/>
          <p:nvPr/>
        </p:nvSpPr>
        <p:spPr>
          <a:xfrm>
            <a:off x="246742" y="896282"/>
            <a:ext cx="11565091" cy="6186309"/>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solidFill>
                  <a:srgbClr val="0070C0"/>
                </a:solidFill>
                <a:latin typeface="Trebuchet MS" panose="020B0603020202020204" pitchFamily="34" charset="0"/>
              </a:rPr>
              <a:t>Vertex coloring </a:t>
            </a:r>
            <a:r>
              <a:rPr lang="en-US" sz="2400" dirty="0">
                <a:latin typeface="Trebuchet MS" panose="020B0603020202020204" pitchFamily="34" charset="0"/>
              </a:rPr>
              <a:t>is the most commonly encountered graph coloring problem. The problem states that given </a:t>
            </a:r>
            <a:r>
              <a:rPr lang="en-US" sz="2400" dirty="0">
                <a:solidFill>
                  <a:srgbClr val="0070C0"/>
                </a:solidFill>
                <a:latin typeface="Trebuchet MS" panose="020B0603020202020204" pitchFamily="34" charset="0"/>
              </a:rPr>
              <a:t>m</a:t>
            </a:r>
            <a:r>
              <a:rPr lang="en-US" sz="2400" dirty="0">
                <a:latin typeface="Trebuchet MS" panose="020B0603020202020204" pitchFamily="34" charset="0"/>
              </a:rPr>
              <a:t> colors, determine a way of coloring the vertices of a graph such that no two adjacent vertices are assigned same color.</a:t>
            </a: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The </a:t>
            </a:r>
            <a:r>
              <a:rPr lang="en-US" sz="2400" dirty="0">
                <a:solidFill>
                  <a:srgbClr val="0070C0"/>
                </a:solidFill>
                <a:latin typeface="Trebuchet MS" panose="020B0603020202020204" pitchFamily="34" charset="0"/>
              </a:rPr>
              <a:t>smallest number of color</a:t>
            </a:r>
            <a:r>
              <a:rPr lang="en-US" sz="2400" dirty="0">
                <a:latin typeface="Trebuchet MS" panose="020B0603020202020204" pitchFamily="34" charset="0"/>
              </a:rPr>
              <a:t>s needed to color a graph G is called its </a:t>
            </a:r>
            <a:r>
              <a:rPr lang="en-US" sz="2400" dirty="0">
                <a:solidFill>
                  <a:srgbClr val="0070C0"/>
                </a:solidFill>
                <a:latin typeface="Trebuchet MS" panose="020B0603020202020204" pitchFamily="34" charset="0"/>
              </a:rPr>
              <a:t>chromatic number.</a:t>
            </a:r>
          </a:p>
          <a:p>
            <a:pPr marL="342900" indent="-342900">
              <a:lnSpc>
                <a:spcPct val="150000"/>
              </a:lnSpc>
              <a:buFont typeface="Arial" panose="020B0604020202020204" pitchFamily="34" charset="0"/>
              <a:buChar char="•"/>
            </a:pPr>
            <a:r>
              <a:rPr lang="en-US" sz="2400" dirty="0">
                <a:latin typeface="Trebuchet MS" panose="020B0603020202020204" pitchFamily="34" charset="0"/>
              </a:rPr>
              <a:t>For example, the following undirected graph can be colored using minimum of 2 colors</a:t>
            </a:r>
            <a:r>
              <a:rPr lang="en-US" sz="2400" dirty="0" smtClean="0">
                <a:latin typeface="Trebuchet MS" panose="020B0603020202020204" pitchFamily="34" charset="0"/>
              </a:rPr>
              <a:t>.</a:t>
            </a:r>
          </a:p>
          <a:p>
            <a:pPr>
              <a:lnSpc>
                <a:spcPct val="150000"/>
              </a:lnSpc>
            </a:pPr>
            <a:endParaRPr lang="en-US" sz="2400" dirty="0">
              <a:latin typeface="Trebuchet MS" panose="020B0603020202020204" pitchFamily="34" charset="0"/>
            </a:endParaRPr>
          </a:p>
          <a:p>
            <a:pPr>
              <a:lnSpc>
                <a:spcPct val="150000"/>
              </a:lnSpc>
            </a:pPr>
            <a:endParaRPr lang="en-US" sz="2400" dirty="0">
              <a:latin typeface="Trebuchet MS" panose="020B0603020202020204" pitchFamily="34" charset="0"/>
            </a:endParaRPr>
          </a:p>
          <a:p>
            <a:pPr marL="342900" indent="-342900">
              <a:lnSpc>
                <a:spcPct val="150000"/>
              </a:lnSpc>
              <a:buFont typeface="Arial" panose="020B0604020202020204" pitchFamily="34" charset="0"/>
              <a:buChar char="•"/>
            </a:pPr>
            <a:r>
              <a:rPr lang="en-US" sz="2400" dirty="0">
                <a:latin typeface="Trebuchet MS" panose="020B0603020202020204" pitchFamily="34" charset="0"/>
              </a:rPr>
              <a:t>Hence the </a:t>
            </a:r>
            <a:r>
              <a:rPr lang="en-US" sz="2400" dirty="0">
                <a:solidFill>
                  <a:srgbClr val="0070C0"/>
                </a:solidFill>
                <a:latin typeface="Trebuchet MS" panose="020B0603020202020204" pitchFamily="34" charset="0"/>
              </a:rPr>
              <a:t>chromatic number of the graph is 2</a:t>
            </a:r>
            <a:r>
              <a:rPr lang="en-US" sz="2400" dirty="0">
                <a:latin typeface="Trebuchet MS" panose="020B0603020202020204" pitchFamily="34" charset="0"/>
              </a:rPr>
              <a:t>. </a:t>
            </a:r>
            <a:endParaRPr lang="en-US" sz="2400" dirty="0" smtClean="0">
              <a:latin typeface="Trebuchet MS" panose="020B0603020202020204" pitchFamily="34" charset="0"/>
            </a:endParaRPr>
          </a:p>
          <a:p>
            <a:pPr>
              <a:lnSpc>
                <a:spcPct val="150000"/>
              </a:lnSpc>
            </a:pPr>
            <a:endParaRPr lang="en-US" sz="2400" dirty="0">
              <a:latin typeface="Trebuchet MS" panose="020B0603020202020204" pitchFamily="34" charset="0"/>
            </a:endParaRPr>
          </a:p>
        </p:txBody>
      </p:sp>
      <p:pic>
        <p:nvPicPr>
          <p:cNvPr id="5" name="Picture 4"/>
          <p:cNvPicPr>
            <a:picLocks noChangeAspect="1"/>
          </p:cNvPicPr>
          <p:nvPr/>
        </p:nvPicPr>
        <p:blipFill rotWithShape="1">
          <a:blip r:embed="rId6"/>
          <a:srcRect l="20180"/>
          <a:stretch/>
        </p:blipFill>
        <p:spPr>
          <a:xfrm>
            <a:off x="3548156" y="4274360"/>
            <a:ext cx="2212722" cy="1819529"/>
          </a:xfrm>
          <a:prstGeom prst="rect">
            <a:avLst/>
          </a:prstGeom>
        </p:spPr>
      </p:pic>
    </p:spTree>
    <p:extLst>
      <p:ext uri="{BB962C8B-B14F-4D97-AF65-F5344CB8AC3E}">
        <p14:creationId xmlns:p14="http://schemas.microsoft.com/office/powerpoint/2010/main" val="284090864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sp>
        <p:nvSpPr>
          <p:cNvPr id="3" name="Rectangle 2"/>
          <p:cNvSpPr/>
          <p:nvPr/>
        </p:nvSpPr>
        <p:spPr>
          <a:xfrm>
            <a:off x="363794" y="1036233"/>
            <a:ext cx="11448040" cy="2862322"/>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rebuchet MS" panose="020B0603020202020204" pitchFamily="34" charset="0"/>
              </a:rPr>
              <a:t>Graph Coloring is a process of assigning colors to the vertices of a graph.</a:t>
            </a:r>
          </a:p>
          <a:p>
            <a:pPr marL="342900" indent="-342900">
              <a:lnSpc>
                <a:spcPct val="150000"/>
              </a:lnSpc>
              <a:buFont typeface="Arial" panose="020B0604020202020204" pitchFamily="34" charset="0"/>
              <a:buChar char="•"/>
            </a:pPr>
            <a:r>
              <a:rPr lang="en-US" sz="2400" dirty="0">
                <a:latin typeface="Trebuchet MS" panose="020B0603020202020204" pitchFamily="34" charset="0"/>
              </a:rPr>
              <a:t>It ensures that no two adjacent vertices of the graph are colored with the same color.</a:t>
            </a:r>
          </a:p>
          <a:p>
            <a:pPr marL="342900" indent="-342900">
              <a:lnSpc>
                <a:spcPct val="150000"/>
              </a:lnSpc>
              <a:buFont typeface="Arial" panose="020B0604020202020204" pitchFamily="34" charset="0"/>
              <a:buChar char="•"/>
            </a:pPr>
            <a:r>
              <a:rPr lang="en-US" sz="2400" dirty="0">
                <a:latin typeface="Trebuchet MS" panose="020B0603020202020204" pitchFamily="34" charset="0"/>
              </a:rPr>
              <a:t>Chromatic Number is the minimum number of colors required to properly color any graph.</a:t>
            </a:r>
          </a:p>
        </p:txBody>
      </p:sp>
      <p:pic>
        <p:nvPicPr>
          <p:cNvPr id="6" name="Picture 5"/>
          <p:cNvPicPr>
            <a:picLocks noChangeAspect="1"/>
          </p:cNvPicPr>
          <p:nvPr/>
        </p:nvPicPr>
        <p:blipFill>
          <a:blip r:embed="rId6"/>
          <a:stretch>
            <a:fillRect/>
          </a:stretch>
        </p:blipFill>
        <p:spPr>
          <a:xfrm>
            <a:off x="775549" y="3805391"/>
            <a:ext cx="1762371" cy="2138643"/>
          </a:xfrm>
          <a:prstGeom prst="rect">
            <a:avLst/>
          </a:prstGeom>
        </p:spPr>
      </p:pic>
      <p:pic>
        <p:nvPicPr>
          <p:cNvPr id="8" name="Picture 7"/>
          <p:cNvPicPr>
            <a:picLocks noChangeAspect="1"/>
          </p:cNvPicPr>
          <p:nvPr/>
        </p:nvPicPr>
        <p:blipFill>
          <a:blip r:embed="rId7"/>
          <a:stretch>
            <a:fillRect/>
          </a:stretch>
        </p:blipFill>
        <p:spPr>
          <a:xfrm>
            <a:off x="3200163" y="3805391"/>
            <a:ext cx="1886213" cy="2119590"/>
          </a:xfrm>
          <a:prstGeom prst="rect">
            <a:avLst/>
          </a:prstGeom>
        </p:spPr>
      </p:pic>
      <p:pic>
        <p:nvPicPr>
          <p:cNvPr id="9" name="Picture 8"/>
          <p:cNvPicPr>
            <a:picLocks noChangeAspect="1"/>
          </p:cNvPicPr>
          <p:nvPr/>
        </p:nvPicPr>
        <p:blipFill>
          <a:blip r:embed="rId8"/>
          <a:stretch>
            <a:fillRect/>
          </a:stretch>
        </p:blipFill>
        <p:spPr>
          <a:xfrm>
            <a:off x="5804363" y="3805391"/>
            <a:ext cx="2124371" cy="2119590"/>
          </a:xfrm>
          <a:prstGeom prst="rect">
            <a:avLst/>
          </a:prstGeom>
        </p:spPr>
      </p:pic>
      <p:pic>
        <p:nvPicPr>
          <p:cNvPr id="10" name="Picture 9"/>
          <p:cNvPicPr>
            <a:picLocks noChangeAspect="1"/>
          </p:cNvPicPr>
          <p:nvPr/>
        </p:nvPicPr>
        <p:blipFill>
          <a:blip r:embed="rId9"/>
          <a:stretch>
            <a:fillRect/>
          </a:stretch>
        </p:blipFill>
        <p:spPr>
          <a:xfrm>
            <a:off x="8646721" y="3805391"/>
            <a:ext cx="2304109" cy="2119590"/>
          </a:xfrm>
          <a:prstGeom prst="rect">
            <a:avLst/>
          </a:prstGeom>
        </p:spPr>
      </p:pic>
      <p:sp>
        <p:nvSpPr>
          <p:cNvPr id="11" name="Rectangle 10"/>
          <p:cNvSpPr/>
          <p:nvPr/>
        </p:nvSpPr>
        <p:spPr>
          <a:xfrm>
            <a:off x="3423422" y="6205218"/>
            <a:ext cx="4031873" cy="369332"/>
          </a:xfrm>
          <a:prstGeom prst="rect">
            <a:avLst/>
          </a:prstGeom>
        </p:spPr>
        <p:txBody>
          <a:bodyPr wrap="none">
            <a:spAutoFit/>
          </a:bodyPr>
          <a:lstStyle/>
          <a:p>
            <a:r>
              <a:rPr lang="en-IN" b="1" dirty="0" smtClean="0">
                <a:latin typeface="Trebuchet MS" panose="020B0603020202020204" pitchFamily="34" charset="0"/>
              </a:rPr>
              <a:t>Fig. </a:t>
            </a:r>
            <a:r>
              <a:rPr lang="en-IN" b="1" dirty="0" smtClean="0">
                <a:solidFill>
                  <a:srgbClr val="0070C0"/>
                </a:solidFill>
                <a:latin typeface="Trebuchet MS" panose="020B0603020202020204" pitchFamily="34" charset="0"/>
              </a:rPr>
              <a:t>Examples </a:t>
            </a:r>
            <a:r>
              <a:rPr lang="en-IN" b="1" dirty="0">
                <a:solidFill>
                  <a:srgbClr val="0070C0"/>
                </a:solidFill>
                <a:latin typeface="Trebuchet MS" panose="020B0603020202020204" pitchFamily="34" charset="0"/>
              </a:rPr>
              <a:t>of Chromatic Number</a:t>
            </a:r>
          </a:p>
        </p:txBody>
      </p:sp>
    </p:spTree>
    <p:extLst>
      <p:ext uri="{BB962C8B-B14F-4D97-AF65-F5344CB8AC3E}">
        <p14:creationId xmlns:p14="http://schemas.microsoft.com/office/powerpoint/2010/main" val="240157516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sp>
        <p:nvSpPr>
          <p:cNvPr id="10" name="Rectangle 9"/>
          <p:cNvSpPr/>
          <p:nvPr/>
        </p:nvSpPr>
        <p:spPr>
          <a:xfrm>
            <a:off x="246743" y="1036233"/>
            <a:ext cx="11050522" cy="3970318"/>
          </a:xfrm>
          <a:prstGeom prst="rect">
            <a:avLst/>
          </a:prstGeom>
        </p:spPr>
        <p:txBody>
          <a:bodyPr wrap="square">
            <a:spAutoFit/>
          </a:bodyPr>
          <a:lstStyle/>
          <a:p>
            <a:pPr>
              <a:lnSpc>
                <a:spcPct val="150000"/>
              </a:lnSpc>
            </a:pPr>
            <a:r>
              <a:rPr lang="en-US" sz="2400" dirty="0">
                <a:solidFill>
                  <a:srgbClr val="0070C0"/>
                </a:solidFill>
                <a:latin typeface="Trebuchet MS" panose="020B0603020202020204" pitchFamily="34" charset="0"/>
              </a:rPr>
              <a:t>Algorithm of Graph Coloring using Backtracking:</a:t>
            </a:r>
          </a:p>
          <a:p>
            <a:pPr>
              <a:lnSpc>
                <a:spcPct val="150000"/>
              </a:lnSpc>
            </a:pPr>
            <a:r>
              <a:rPr lang="en-US" sz="2400" dirty="0" smtClean="0">
                <a:solidFill>
                  <a:srgbClr val="FF0000"/>
                </a:solidFill>
                <a:latin typeface="Trebuchet MS" panose="020B0603020202020204" pitchFamily="34" charset="0"/>
              </a:rPr>
              <a:t>Step 1: </a:t>
            </a:r>
            <a:r>
              <a:rPr lang="en-US" sz="2400" dirty="0" smtClean="0">
                <a:latin typeface="Trebuchet MS" panose="020B0603020202020204" pitchFamily="34" charset="0"/>
              </a:rPr>
              <a:t>Assign </a:t>
            </a:r>
            <a:r>
              <a:rPr lang="en-US" sz="2400" dirty="0">
                <a:latin typeface="Trebuchet MS" panose="020B0603020202020204" pitchFamily="34" charset="0"/>
              </a:rPr>
              <a:t>colors one by one to different vertices, starting from vertex 0. </a:t>
            </a:r>
            <a:endParaRPr lang="en-US" sz="2400" dirty="0" smtClean="0">
              <a:latin typeface="Trebuchet MS" panose="020B0603020202020204" pitchFamily="34" charset="0"/>
            </a:endParaRPr>
          </a:p>
          <a:p>
            <a:pPr>
              <a:lnSpc>
                <a:spcPct val="150000"/>
              </a:lnSpc>
            </a:pPr>
            <a:r>
              <a:rPr lang="en-US" sz="2400" dirty="0" smtClean="0">
                <a:solidFill>
                  <a:srgbClr val="FF0000"/>
                </a:solidFill>
                <a:latin typeface="Trebuchet MS" panose="020B0603020202020204" pitchFamily="34" charset="0"/>
              </a:rPr>
              <a:t>Step 2: </a:t>
            </a:r>
            <a:r>
              <a:rPr lang="en-US" sz="2400" dirty="0" smtClean="0">
                <a:latin typeface="Trebuchet MS" panose="020B0603020202020204" pitchFamily="34" charset="0"/>
              </a:rPr>
              <a:t>Before </a:t>
            </a:r>
            <a:r>
              <a:rPr lang="en-US" sz="2400" dirty="0">
                <a:latin typeface="Trebuchet MS" panose="020B0603020202020204" pitchFamily="34" charset="0"/>
              </a:rPr>
              <a:t>assigning a color, check if the adjacent vertices have the same color or not. </a:t>
            </a:r>
            <a:endParaRPr lang="en-US" sz="2400" dirty="0" smtClean="0">
              <a:latin typeface="Trebuchet MS" panose="020B0603020202020204" pitchFamily="34" charset="0"/>
            </a:endParaRPr>
          </a:p>
          <a:p>
            <a:pPr>
              <a:lnSpc>
                <a:spcPct val="150000"/>
              </a:lnSpc>
            </a:pPr>
            <a:r>
              <a:rPr lang="en-US" sz="2400" dirty="0" smtClean="0">
                <a:solidFill>
                  <a:srgbClr val="FF0000"/>
                </a:solidFill>
                <a:latin typeface="Trebuchet MS" panose="020B0603020202020204" pitchFamily="34" charset="0"/>
              </a:rPr>
              <a:t>Step 3: </a:t>
            </a:r>
            <a:r>
              <a:rPr lang="en-US" sz="2400" dirty="0" smtClean="0">
                <a:latin typeface="Trebuchet MS" panose="020B0603020202020204" pitchFamily="34" charset="0"/>
              </a:rPr>
              <a:t>If </a:t>
            </a:r>
            <a:r>
              <a:rPr lang="en-US" sz="2400" dirty="0">
                <a:latin typeface="Trebuchet MS" panose="020B0603020202020204" pitchFamily="34" charset="0"/>
              </a:rPr>
              <a:t>there is any color assignment that does not violate the conditions, mark the color assignment as part of the solution. </a:t>
            </a:r>
            <a:endParaRPr lang="en-US" sz="2400" dirty="0" smtClean="0">
              <a:latin typeface="Trebuchet MS" panose="020B0603020202020204" pitchFamily="34" charset="0"/>
            </a:endParaRPr>
          </a:p>
          <a:p>
            <a:pPr>
              <a:lnSpc>
                <a:spcPct val="150000"/>
              </a:lnSpc>
            </a:pPr>
            <a:r>
              <a:rPr lang="en-US" sz="2400" dirty="0" smtClean="0">
                <a:solidFill>
                  <a:srgbClr val="FF0000"/>
                </a:solidFill>
                <a:latin typeface="Trebuchet MS" panose="020B0603020202020204" pitchFamily="34" charset="0"/>
              </a:rPr>
              <a:t>Step 4: </a:t>
            </a:r>
            <a:r>
              <a:rPr lang="en-US" sz="2400" dirty="0" smtClean="0">
                <a:latin typeface="Trebuchet MS" panose="020B0603020202020204" pitchFamily="34" charset="0"/>
              </a:rPr>
              <a:t>If </a:t>
            </a:r>
            <a:r>
              <a:rPr lang="en-US" sz="2400" dirty="0">
                <a:latin typeface="Trebuchet MS" panose="020B0603020202020204" pitchFamily="34" charset="0"/>
              </a:rPr>
              <a:t>no assignment of color is possible then backtrack and return false.</a:t>
            </a:r>
            <a:endParaRPr lang="en-IN" sz="2400" dirty="0">
              <a:latin typeface="Trebuchet MS" panose="020B0603020202020204" pitchFamily="34" charset="0"/>
            </a:endParaRPr>
          </a:p>
        </p:txBody>
      </p:sp>
    </p:spTree>
    <p:extLst>
      <p:ext uri="{BB962C8B-B14F-4D97-AF65-F5344CB8AC3E}">
        <p14:creationId xmlns:p14="http://schemas.microsoft.com/office/powerpoint/2010/main" val="365832384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pic>
        <p:nvPicPr>
          <p:cNvPr id="6" name="Picture 5"/>
          <p:cNvPicPr>
            <a:picLocks noChangeAspect="1"/>
          </p:cNvPicPr>
          <p:nvPr/>
        </p:nvPicPr>
        <p:blipFill rotWithShape="1">
          <a:blip r:embed="rId6"/>
          <a:srcRect r="5443"/>
          <a:stretch/>
        </p:blipFill>
        <p:spPr>
          <a:xfrm>
            <a:off x="218025" y="1091001"/>
            <a:ext cx="5637085" cy="4774631"/>
          </a:xfrm>
          <a:prstGeom prst="rect">
            <a:avLst/>
          </a:prstGeom>
        </p:spPr>
      </p:pic>
      <p:sp>
        <p:nvSpPr>
          <p:cNvPr id="8" name="Rectangle 7"/>
          <p:cNvSpPr/>
          <p:nvPr/>
        </p:nvSpPr>
        <p:spPr>
          <a:xfrm>
            <a:off x="302478" y="5955356"/>
            <a:ext cx="5377553" cy="400110"/>
          </a:xfrm>
          <a:prstGeom prst="rect">
            <a:avLst/>
          </a:prstGeom>
        </p:spPr>
        <p:txBody>
          <a:bodyPr wrap="square">
            <a:spAutoFit/>
          </a:bodyPr>
          <a:lstStyle/>
          <a:p>
            <a:r>
              <a:rPr lang="en-US" sz="2000" dirty="0">
                <a:solidFill>
                  <a:srgbClr val="0070C0"/>
                </a:solidFill>
                <a:latin typeface="Trebuchet MS" panose="020B0603020202020204" pitchFamily="34" charset="0"/>
              </a:rPr>
              <a:t>Algorithm:</a:t>
            </a:r>
            <a:r>
              <a:rPr lang="en-US" sz="2000" dirty="0">
                <a:latin typeface="Trebuchet MS" panose="020B0603020202020204" pitchFamily="34" charset="0"/>
              </a:rPr>
              <a:t> Finding all m-colorings of graph</a:t>
            </a:r>
            <a:endParaRPr lang="en-IN" sz="2000" dirty="0">
              <a:latin typeface="Trebuchet MS" panose="020B0603020202020204" pitchFamily="34" charset="0"/>
            </a:endParaRPr>
          </a:p>
        </p:txBody>
      </p:sp>
      <p:sp>
        <p:nvSpPr>
          <p:cNvPr id="13" name="Rectangle 12"/>
          <p:cNvSpPr/>
          <p:nvPr/>
        </p:nvSpPr>
        <p:spPr>
          <a:xfrm>
            <a:off x="6095967" y="6078515"/>
            <a:ext cx="5465707" cy="400110"/>
          </a:xfrm>
          <a:prstGeom prst="rect">
            <a:avLst/>
          </a:prstGeom>
        </p:spPr>
        <p:txBody>
          <a:bodyPr wrap="square">
            <a:spAutoFit/>
          </a:bodyPr>
          <a:lstStyle/>
          <a:p>
            <a:r>
              <a:rPr lang="en-US" sz="2000" dirty="0" smtClean="0">
                <a:solidFill>
                  <a:srgbClr val="0070C0"/>
                </a:solidFill>
                <a:latin typeface="Trebuchet MS" panose="020B0603020202020204" pitchFamily="34" charset="0"/>
              </a:rPr>
              <a:t>Algorithm:</a:t>
            </a:r>
            <a:r>
              <a:rPr lang="en-US" sz="2000" dirty="0">
                <a:latin typeface="Trebuchet MS" panose="020B0603020202020204" pitchFamily="34" charset="0"/>
              </a:rPr>
              <a:t> Algorithm: Finding next color</a:t>
            </a:r>
            <a:endParaRPr lang="en-IN" sz="2000" dirty="0">
              <a:latin typeface="Trebuchet MS" panose="020B0603020202020204" pitchFamily="34" charset="0"/>
            </a:endParaRPr>
          </a:p>
        </p:txBody>
      </p:sp>
      <p:pic>
        <p:nvPicPr>
          <p:cNvPr id="14" name="Picture 13"/>
          <p:cNvPicPr>
            <a:picLocks noChangeAspect="1"/>
          </p:cNvPicPr>
          <p:nvPr/>
        </p:nvPicPr>
        <p:blipFill>
          <a:blip r:embed="rId7"/>
          <a:stretch>
            <a:fillRect/>
          </a:stretch>
        </p:blipFill>
        <p:spPr>
          <a:xfrm>
            <a:off x="6066817" y="1091001"/>
            <a:ext cx="5787679" cy="4911647"/>
          </a:xfrm>
          <a:prstGeom prst="rect">
            <a:avLst/>
          </a:prstGeom>
        </p:spPr>
      </p:pic>
    </p:spTree>
    <p:extLst>
      <p:ext uri="{BB962C8B-B14F-4D97-AF65-F5344CB8AC3E}">
        <p14:creationId xmlns:p14="http://schemas.microsoft.com/office/powerpoint/2010/main" val="425982037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sp>
        <p:nvSpPr>
          <p:cNvPr id="3" name="Rectangle 2"/>
          <p:cNvSpPr/>
          <p:nvPr/>
        </p:nvSpPr>
        <p:spPr>
          <a:xfrm>
            <a:off x="313421" y="993040"/>
            <a:ext cx="11565091" cy="5401607"/>
          </a:xfrm>
          <a:prstGeom prst="rect">
            <a:avLst/>
          </a:prstGeom>
        </p:spPr>
        <p:txBody>
          <a:bodyPr wrap="square">
            <a:spAutoFit/>
          </a:bodyPr>
          <a:lstStyle/>
          <a:p>
            <a:pPr fontAlgn="base">
              <a:lnSpc>
                <a:spcPts val="3800"/>
              </a:lnSpc>
            </a:pPr>
            <a:r>
              <a:rPr lang="en-US" sz="2400" b="1" dirty="0">
                <a:solidFill>
                  <a:srgbClr val="0070C0"/>
                </a:solidFill>
                <a:latin typeface="Trebuchet MS" panose="020B0603020202020204" pitchFamily="34" charset="0"/>
              </a:rPr>
              <a:t>Follow the given steps to solve the </a:t>
            </a:r>
            <a:r>
              <a:rPr lang="en-US" sz="2400" b="1" dirty="0" smtClean="0">
                <a:solidFill>
                  <a:srgbClr val="0070C0"/>
                </a:solidFill>
                <a:latin typeface="Trebuchet MS" panose="020B0603020202020204" pitchFamily="34" charset="0"/>
              </a:rPr>
              <a:t>problem</a:t>
            </a:r>
            <a:r>
              <a:rPr lang="en-US" sz="2400" b="1" dirty="0" smtClean="0">
                <a:solidFill>
                  <a:srgbClr val="0070C0"/>
                </a:solidFill>
                <a:latin typeface="Trebuchet MS" panose="020B0603020202020204" pitchFamily="34" charset="0"/>
                <a:sym typeface="Wingdings" panose="05000000000000000000" pitchFamily="2" charset="2"/>
              </a:rPr>
              <a:t>( Algorithm Explanation)</a:t>
            </a:r>
            <a:endParaRPr lang="en-US" sz="2400" b="1" dirty="0" smtClean="0">
              <a:solidFill>
                <a:srgbClr val="0070C0"/>
              </a:solidFill>
              <a:latin typeface="Trebuchet MS" panose="020B0603020202020204" pitchFamily="34" charset="0"/>
            </a:endParaRPr>
          </a:p>
          <a:p>
            <a:pPr marL="342900" indent="-342900" fontAlgn="base">
              <a:lnSpc>
                <a:spcPts val="3800"/>
              </a:lnSpc>
              <a:buSzPct val="100000"/>
              <a:buFont typeface="Arial" panose="020B0604020202020204" pitchFamily="34" charset="0"/>
              <a:buChar char="•"/>
            </a:pPr>
            <a:r>
              <a:rPr lang="en-US" sz="2400" dirty="0" smtClean="0">
                <a:solidFill>
                  <a:srgbClr val="273239"/>
                </a:solidFill>
                <a:latin typeface="Trebuchet MS" panose="020B0603020202020204" pitchFamily="34" charset="0"/>
              </a:rPr>
              <a:t>Create </a:t>
            </a:r>
            <a:r>
              <a:rPr lang="en-US" sz="2400" dirty="0">
                <a:solidFill>
                  <a:srgbClr val="273239"/>
                </a:solidFill>
                <a:latin typeface="Trebuchet MS" panose="020B0603020202020204" pitchFamily="34" charset="0"/>
              </a:rPr>
              <a:t>a </a:t>
            </a:r>
            <a:r>
              <a:rPr lang="en-US" sz="2400" dirty="0">
                <a:solidFill>
                  <a:srgbClr val="0070C0"/>
                </a:solidFill>
                <a:latin typeface="Trebuchet MS" panose="020B0603020202020204" pitchFamily="34" charset="0"/>
              </a:rPr>
              <a:t>recursive function </a:t>
            </a:r>
            <a:r>
              <a:rPr lang="en-US" sz="2400" dirty="0">
                <a:solidFill>
                  <a:srgbClr val="273239"/>
                </a:solidFill>
                <a:latin typeface="Trebuchet MS" panose="020B0603020202020204" pitchFamily="34" charset="0"/>
              </a:rPr>
              <a:t>that takes the graph, </a:t>
            </a:r>
            <a:r>
              <a:rPr lang="en-US" sz="2400" dirty="0">
                <a:solidFill>
                  <a:srgbClr val="0070C0"/>
                </a:solidFill>
                <a:latin typeface="Trebuchet MS" panose="020B0603020202020204" pitchFamily="34" charset="0"/>
              </a:rPr>
              <a:t>current index</a:t>
            </a:r>
            <a:r>
              <a:rPr lang="en-US" sz="2400" dirty="0">
                <a:solidFill>
                  <a:srgbClr val="273239"/>
                </a:solidFill>
                <a:latin typeface="Trebuchet MS" panose="020B0603020202020204" pitchFamily="34" charset="0"/>
              </a:rPr>
              <a:t>, </a:t>
            </a:r>
            <a:r>
              <a:rPr lang="en-US" sz="2400" dirty="0">
                <a:solidFill>
                  <a:srgbClr val="0070C0"/>
                </a:solidFill>
                <a:latin typeface="Trebuchet MS" panose="020B0603020202020204" pitchFamily="34" charset="0"/>
              </a:rPr>
              <a:t>number of vertices</a:t>
            </a:r>
            <a:r>
              <a:rPr lang="en-US" sz="2400" dirty="0">
                <a:solidFill>
                  <a:srgbClr val="273239"/>
                </a:solidFill>
                <a:latin typeface="Trebuchet MS" panose="020B0603020202020204" pitchFamily="34" charset="0"/>
              </a:rPr>
              <a:t>, and </a:t>
            </a:r>
            <a:r>
              <a:rPr lang="en-US" sz="2400" dirty="0">
                <a:solidFill>
                  <a:srgbClr val="0070C0"/>
                </a:solidFill>
                <a:latin typeface="Trebuchet MS" panose="020B0603020202020204" pitchFamily="34" charset="0"/>
              </a:rPr>
              <a:t>color array</a:t>
            </a:r>
            <a:r>
              <a:rPr lang="en-US" sz="2400" dirty="0">
                <a:solidFill>
                  <a:srgbClr val="273239"/>
                </a:solidFill>
                <a:latin typeface="Trebuchet MS" panose="020B0603020202020204" pitchFamily="34" charset="0"/>
              </a:rPr>
              <a:t>.</a:t>
            </a:r>
          </a:p>
          <a:p>
            <a:pPr marL="342900" indent="-342900" fontAlgn="base">
              <a:lnSpc>
                <a:spcPts val="3800"/>
              </a:lnSpc>
              <a:buSzPct val="100000"/>
              <a:buFont typeface="Arial" panose="020B0604020202020204" pitchFamily="34" charset="0"/>
              <a:buChar char="•"/>
            </a:pPr>
            <a:r>
              <a:rPr lang="en-US" sz="2400" dirty="0">
                <a:solidFill>
                  <a:srgbClr val="273239"/>
                </a:solidFill>
                <a:latin typeface="Trebuchet MS" panose="020B0603020202020204" pitchFamily="34" charset="0"/>
              </a:rPr>
              <a:t>If the </a:t>
            </a:r>
            <a:r>
              <a:rPr lang="en-US" sz="2400" dirty="0">
                <a:solidFill>
                  <a:srgbClr val="0070C0"/>
                </a:solidFill>
                <a:latin typeface="Trebuchet MS" panose="020B0603020202020204" pitchFamily="34" charset="0"/>
              </a:rPr>
              <a:t>current index is equal </a:t>
            </a:r>
            <a:r>
              <a:rPr lang="en-US" sz="2400" dirty="0">
                <a:solidFill>
                  <a:srgbClr val="273239"/>
                </a:solidFill>
                <a:latin typeface="Trebuchet MS" panose="020B0603020202020204" pitchFamily="34" charset="0"/>
              </a:rPr>
              <a:t>to the </a:t>
            </a:r>
            <a:r>
              <a:rPr lang="en-US" sz="2400" dirty="0">
                <a:solidFill>
                  <a:srgbClr val="0070C0"/>
                </a:solidFill>
                <a:latin typeface="Trebuchet MS" panose="020B0603020202020204" pitchFamily="34" charset="0"/>
              </a:rPr>
              <a:t>number of vertice</a:t>
            </a:r>
            <a:r>
              <a:rPr lang="en-US" sz="2400" dirty="0">
                <a:solidFill>
                  <a:srgbClr val="273239"/>
                </a:solidFill>
                <a:latin typeface="Trebuchet MS" panose="020B0603020202020204" pitchFamily="34" charset="0"/>
              </a:rPr>
              <a:t>s. Print the color configuration in the color array.</a:t>
            </a:r>
          </a:p>
          <a:p>
            <a:pPr marL="342900" indent="-342900" fontAlgn="base">
              <a:lnSpc>
                <a:spcPts val="3800"/>
              </a:lnSpc>
              <a:buSzPct val="100000"/>
              <a:buFont typeface="Arial" panose="020B0604020202020204" pitchFamily="34" charset="0"/>
              <a:buChar char="•"/>
            </a:pPr>
            <a:r>
              <a:rPr lang="en-US" sz="2400" dirty="0">
                <a:solidFill>
                  <a:srgbClr val="0070C0"/>
                </a:solidFill>
                <a:latin typeface="Trebuchet MS" panose="020B0603020202020204" pitchFamily="34" charset="0"/>
              </a:rPr>
              <a:t>Assign a color </a:t>
            </a:r>
            <a:r>
              <a:rPr lang="en-US" sz="2400" dirty="0">
                <a:solidFill>
                  <a:srgbClr val="273239"/>
                </a:solidFill>
                <a:latin typeface="Trebuchet MS" panose="020B0603020202020204" pitchFamily="34" charset="0"/>
              </a:rPr>
              <a:t>to a vertex from the </a:t>
            </a:r>
            <a:r>
              <a:rPr lang="en-US" sz="2400" dirty="0">
                <a:solidFill>
                  <a:srgbClr val="FF0000"/>
                </a:solidFill>
                <a:latin typeface="Trebuchet MS" panose="020B0603020202020204" pitchFamily="34" charset="0"/>
              </a:rPr>
              <a:t>range (1 to m)</a:t>
            </a:r>
            <a:r>
              <a:rPr lang="en-US" sz="2400" dirty="0">
                <a:solidFill>
                  <a:srgbClr val="273239"/>
                </a:solidFill>
                <a:latin typeface="Trebuchet MS" panose="020B0603020202020204" pitchFamily="34" charset="0"/>
              </a:rPr>
              <a:t>.</a:t>
            </a:r>
          </a:p>
          <a:p>
            <a:pPr marL="800100" lvl="1" indent="-342900" fontAlgn="base">
              <a:lnSpc>
                <a:spcPts val="3800"/>
              </a:lnSpc>
              <a:buSzPct val="100000"/>
              <a:buFont typeface="Wingdings" panose="05000000000000000000" pitchFamily="2" charset="2"/>
              <a:buChar char="ü"/>
            </a:pPr>
            <a:r>
              <a:rPr lang="en-US" sz="2400" dirty="0">
                <a:solidFill>
                  <a:srgbClr val="273239"/>
                </a:solidFill>
                <a:latin typeface="Trebuchet MS" panose="020B0603020202020204" pitchFamily="34" charset="0"/>
              </a:rPr>
              <a:t>For every assigned color, check if the </a:t>
            </a:r>
            <a:r>
              <a:rPr lang="en-US" sz="2400" dirty="0">
                <a:solidFill>
                  <a:srgbClr val="0070C0"/>
                </a:solidFill>
                <a:latin typeface="Trebuchet MS" panose="020B0603020202020204" pitchFamily="34" charset="0"/>
              </a:rPr>
              <a:t>configuration is safe</a:t>
            </a:r>
            <a:r>
              <a:rPr lang="en-US" sz="2400" dirty="0">
                <a:solidFill>
                  <a:srgbClr val="273239"/>
                </a:solidFill>
                <a:latin typeface="Trebuchet MS" panose="020B0603020202020204" pitchFamily="34" charset="0"/>
              </a:rPr>
              <a:t>, (i.e. check if the adjacent vertices do not have the same color) and recursively call the function with the next index and number of vertices else return </a:t>
            </a:r>
            <a:r>
              <a:rPr lang="en-US" sz="2400" b="1" dirty="0">
                <a:solidFill>
                  <a:srgbClr val="FF0000"/>
                </a:solidFill>
                <a:latin typeface="Trebuchet MS" panose="020B0603020202020204" pitchFamily="34" charset="0"/>
              </a:rPr>
              <a:t>false</a:t>
            </a:r>
            <a:endParaRPr lang="en-US" sz="2400" dirty="0">
              <a:solidFill>
                <a:srgbClr val="FF0000"/>
              </a:solidFill>
              <a:latin typeface="Trebuchet MS" panose="020B0603020202020204" pitchFamily="34" charset="0"/>
            </a:endParaRPr>
          </a:p>
          <a:p>
            <a:pPr marL="800100" lvl="1" indent="-342900" fontAlgn="base">
              <a:lnSpc>
                <a:spcPts val="3800"/>
              </a:lnSpc>
              <a:buSzPct val="100000"/>
              <a:buFont typeface="Wingdings" panose="05000000000000000000" pitchFamily="2" charset="2"/>
              <a:buChar char="ü"/>
            </a:pPr>
            <a:r>
              <a:rPr lang="en-US" sz="2400" dirty="0">
                <a:solidFill>
                  <a:srgbClr val="273239"/>
                </a:solidFill>
                <a:latin typeface="Trebuchet MS" panose="020B0603020202020204" pitchFamily="34" charset="0"/>
              </a:rPr>
              <a:t>If any </a:t>
            </a:r>
            <a:r>
              <a:rPr lang="en-US" sz="2400" dirty="0">
                <a:solidFill>
                  <a:srgbClr val="0070C0"/>
                </a:solidFill>
                <a:latin typeface="Trebuchet MS" panose="020B0603020202020204" pitchFamily="34" charset="0"/>
              </a:rPr>
              <a:t>recursive</a:t>
            </a:r>
            <a:r>
              <a:rPr lang="en-US" sz="2400" dirty="0">
                <a:solidFill>
                  <a:srgbClr val="273239"/>
                </a:solidFill>
                <a:latin typeface="Trebuchet MS" panose="020B0603020202020204" pitchFamily="34" charset="0"/>
              </a:rPr>
              <a:t> function returns </a:t>
            </a:r>
            <a:r>
              <a:rPr lang="en-US" sz="2400" b="1" dirty="0">
                <a:solidFill>
                  <a:srgbClr val="FF0000"/>
                </a:solidFill>
                <a:latin typeface="Trebuchet MS" panose="020B0603020202020204" pitchFamily="34" charset="0"/>
              </a:rPr>
              <a:t>true</a:t>
            </a:r>
            <a:r>
              <a:rPr lang="en-US" sz="2400" dirty="0">
                <a:solidFill>
                  <a:srgbClr val="273239"/>
                </a:solidFill>
                <a:latin typeface="Trebuchet MS" panose="020B0603020202020204" pitchFamily="34" charset="0"/>
              </a:rPr>
              <a:t> then break the loop and return true</a:t>
            </a:r>
          </a:p>
          <a:p>
            <a:pPr marL="800100" lvl="1" indent="-342900" fontAlgn="base">
              <a:lnSpc>
                <a:spcPts val="3800"/>
              </a:lnSpc>
              <a:buSzPct val="100000"/>
              <a:buFont typeface="Wingdings" panose="05000000000000000000" pitchFamily="2" charset="2"/>
              <a:buChar char="ü"/>
            </a:pPr>
            <a:r>
              <a:rPr lang="en-US" sz="2400" dirty="0">
                <a:solidFill>
                  <a:srgbClr val="273239"/>
                </a:solidFill>
                <a:latin typeface="Trebuchet MS" panose="020B0603020202020204" pitchFamily="34" charset="0"/>
              </a:rPr>
              <a:t>If </a:t>
            </a:r>
            <a:r>
              <a:rPr lang="en-US" sz="2400" dirty="0">
                <a:solidFill>
                  <a:srgbClr val="0070C0"/>
                </a:solidFill>
                <a:latin typeface="Trebuchet MS" panose="020B0603020202020204" pitchFamily="34" charset="0"/>
              </a:rPr>
              <a:t>no recursive </a:t>
            </a:r>
            <a:r>
              <a:rPr lang="en-US" sz="2400" dirty="0">
                <a:solidFill>
                  <a:srgbClr val="273239"/>
                </a:solidFill>
                <a:latin typeface="Trebuchet MS" panose="020B0603020202020204" pitchFamily="34" charset="0"/>
              </a:rPr>
              <a:t>function </a:t>
            </a:r>
            <a:r>
              <a:rPr lang="en-US" sz="2400" dirty="0">
                <a:solidFill>
                  <a:srgbClr val="FF0000"/>
                </a:solidFill>
                <a:latin typeface="Trebuchet MS" panose="020B0603020202020204" pitchFamily="34" charset="0"/>
              </a:rPr>
              <a:t>returns </a:t>
            </a:r>
            <a:r>
              <a:rPr lang="en-US" sz="2400" b="1" dirty="0">
                <a:solidFill>
                  <a:srgbClr val="FF0000"/>
                </a:solidFill>
                <a:latin typeface="Trebuchet MS" panose="020B0603020202020204" pitchFamily="34" charset="0"/>
              </a:rPr>
              <a:t>true</a:t>
            </a:r>
            <a:r>
              <a:rPr lang="en-US" sz="2400" dirty="0">
                <a:solidFill>
                  <a:srgbClr val="FF0000"/>
                </a:solidFill>
                <a:latin typeface="Trebuchet MS" panose="020B0603020202020204" pitchFamily="34" charset="0"/>
              </a:rPr>
              <a:t> </a:t>
            </a:r>
            <a:r>
              <a:rPr lang="en-US" sz="2400" dirty="0">
                <a:latin typeface="Trebuchet MS" panose="020B0603020202020204" pitchFamily="34" charset="0"/>
              </a:rPr>
              <a:t>then</a:t>
            </a:r>
            <a:r>
              <a:rPr lang="en-US" sz="2400" dirty="0">
                <a:solidFill>
                  <a:srgbClr val="FF0000"/>
                </a:solidFill>
                <a:latin typeface="Trebuchet MS" panose="020B0603020202020204" pitchFamily="34" charset="0"/>
              </a:rPr>
              <a:t> return </a:t>
            </a:r>
            <a:r>
              <a:rPr lang="en-US" sz="2400" b="1" dirty="0">
                <a:solidFill>
                  <a:srgbClr val="FF0000"/>
                </a:solidFill>
                <a:latin typeface="Trebuchet MS" panose="020B0603020202020204" pitchFamily="34" charset="0"/>
              </a:rPr>
              <a:t>false</a:t>
            </a:r>
            <a:endParaRPr lang="en-US" sz="2400" b="0" i="0" dirty="0">
              <a:solidFill>
                <a:srgbClr val="FF0000"/>
              </a:solidFill>
              <a:effectLst/>
              <a:latin typeface="Trebuchet MS" panose="020B0603020202020204" pitchFamily="34" charset="0"/>
            </a:endParaRPr>
          </a:p>
        </p:txBody>
      </p:sp>
    </p:spTree>
    <p:extLst>
      <p:ext uri="{BB962C8B-B14F-4D97-AF65-F5344CB8AC3E}">
        <p14:creationId xmlns:p14="http://schemas.microsoft.com/office/powerpoint/2010/main" val="340694002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8074"/>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pic>
        <p:nvPicPr>
          <p:cNvPr id="5" name="Picture 4"/>
          <p:cNvPicPr>
            <a:picLocks noChangeAspect="1"/>
          </p:cNvPicPr>
          <p:nvPr/>
        </p:nvPicPr>
        <p:blipFill rotWithShape="1">
          <a:blip r:embed="rId6">
            <a:extLst>
              <a:ext uri="{BEBA8EAE-BF5A-486C-A8C5-ECC9F3942E4B}">
                <a14:imgProps xmlns:a14="http://schemas.microsoft.com/office/drawing/2010/main">
                  <a14:imgLayer r:embed="rId7">
                    <a14:imgEffect>
                      <a14:saturation sat="0"/>
                    </a14:imgEffect>
                  </a14:imgLayer>
                </a14:imgProps>
              </a:ext>
            </a:extLst>
          </a:blip>
          <a:srcRect l="3687" r="7279"/>
          <a:stretch/>
        </p:blipFill>
        <p:spPr>
          <a:xfrm>
            <a:off x="668561" y="1367098"/>
            <a:ext cx="4630993" cy="2600688"/>
          </a:xfrm>
          <a:prstGeom prst="rect">
            <a:avLst/>
          </a:prstGeom>
        </p:spPr>
      </p:pic>
      <p:sp>
        <p:nvSpPr>
          <p:cNvPr id="6" name="Rectangle 5"/>
          <p:cNvSpPr/>
          <p:nvPr/>
        </p:nvSpPr>
        <p:spPr>
          <a:xfrm>
            <a:off x="246742" y="1036233"/>
            <a:ext cx="9571191" cy="400110"/>
          </a:xfrm>
          <a:prstGeom prst="rect">
            <a:avLst/>
          </a:prstGeom>
        </p:spPr>
        <p:txBody>
          <a:bodyPr wrap="square">
            <a:spAutoFit/>
          </a:bodyPr>
          <a:lstStyle/>
          <a:p>
            <a:r>
              <a:rPr lang="en-US" sz="2000" b="1" dirty="0" smtClean="0">
                <a:solidFill>
                  <a:srgbClr val="0070C0"/>
                </a:solidFill>
                <a:latin typeface="Trebuchet MS" panose="020B0603020202020204" pitchFamily="34" charset="0"/>
              </a:rPr>
              <a:t>Example 1: </a:t>
            </a:r>
            <a:r>
              <a:rPr lang="en-US" sz="2000" dirty="0">
                <a:latin typeface="Trebuchet MS" panose="020B0603020202020204" pitchFamily="34" charset="0"/>
              </a:rPr>
              <a:t>Find chromatic number of the following graph</a:t>
            </a:r>
            <a:endParaRPr lang="en-IN" sz="2400" dirty="0">
              <a:solidFill>
                <a:srgbClr val="0070C0"/>
              </a:solidFill>
              <a:latin typeface="Trebuchet MS" panose="020B0603020202020204" pitchFamily="34" charset="0"/>
            </a:endParaRPr>
          </a:p>
        </p:txBody>
      </p:sp>
      <p:sp>
        <p:nvSpPr>
          <p:cNvPr id="8" name="Rectangle 7"/>
          <p:cNvSpPr/>
          <p:nvPr/>
        </p:nvSpPr>
        <p:spPr>
          <a:xfrm>
            <a:off x="246742" y="3868597"/>
            <a:ext cx="6582169" cy="3477875"/>
          </a:xfrm>
          <a:prstGeom prst="rect">
            <a:avLst/>
          </a:prstGeom>
        </p:spPr>
        <p:txBody>
          <a:bodyPr wrap="square">
            <a:spAutoFit/>
          </a:bodyPr>
          <a:lstStyle/>
          <a:p>
            <a:r>
              <a:rPr lang="en-US" sz="2000" b="1" dirty="0" smtClean="0">
                <a:solidFill>
                  <a:srgbClr val="0070C0"/>
                </a:solidFill>
                <a:latin typeface="Trebuchet MS" panose="020B0603020202020204" pitchFamily="34" charset="0"/>
              </a:rPr>
              <a:t>Solution: </a:t>
            </a:r>
          </a:p>
          <a:p>
            <a:r>
              <a:rPr lang="en-US" sz="2000" dirty="0">
                <a:solidFill>
                  <a:srgbClr val="FF0000"/>
                </a:solidFill>
                <a:latin typeface="Trebuchet MS" panose="020B0603020202020204" pitchFamily="34" charset="0"/>
              </a:rPr>
              <a:t>Step 1: </a:t>
            </a:r>
            <a:r>
              <a:rPr lang="en-US" sz="2000" dirty="0">
                <a:latin typeface="Trebuchet MS" panose="020B0603020202020204" pitchFamily="34" charset="0"/>
              </a:rPr>
              <a:t>Assign colors one by one to different vertices, starting from vertex 0. </a:t>
            </a:r>
            <a:endParaRPr lang="en-US" sz="2000" dirty="0" smtClean="0">
              <a:latin typeface="Trebuchet MS" panose="020B0603020202020204" pitchFamily="34" charset="0"/>
            </a:endParaRPr>
          </a:p>
          <a:p>
            <a:endParaRPr lang="en-US" sz="2000" dirty="0" smtClean="0">
              <a:latin typeface="Trebuchet MS" panose="020B0603020202020204" pitchFamily="34" charset="0"/>
            </a:endParaRPr>
          </a:p>
          <a:p>
            <a:r>
              <a:rPr lang="en-US" sz="2000" dirty="0" smtClean="0">
                <a:solidFill>
                  <a:srgbClr val="FF0000"/>
                </a:solidFill>
                <a:latin typeface="Trebuchet MS" panose="020B0603020202020204" pitchFamily="34" charset="0"/>
              </a:rPr>
              <a:t>Step </a:t>
            </a:r>
            <a:r>
              <a:rPr lang="en-US" sz="2000" dirty="0">
                <a:solidFill>
                  <a:srgbClr val="FF0000"/>
                </a:solidFill>
                <a:latin typeface="Trebuchet MS" panose="020B0603020202020204" pitchFamily="34" charset="0"/>
              </a:rPr>
              <a:t>2: </a:t>
            </a:r>
            <a:r>
              <a:rPr lang="en-US" sz="2000" dirty="0">
                <a:latin typeface="Trebuchet MS" panose="020B0603020202020204" pitchFamily="34" charset="0"/>
              </a:rPr>
              <a:t>Before assigning a color, check if the adjacent vertices have the same color or not</a:t>
            </a:r>
            <a:r>
              <a:rPr lang="en-US" sz="2000" dirty="0" smtClean="0">
                <a:latin typeface="Trebuchet MS" panose="020B0603020202020204" pitchFamily="34" charset="0"/>
              </a:rPr>
              <a:t>.</a:t>
            </a:r>
          </a:p>
          <a:p>
            <a:endParaRPr lang="en-US" sz="2000" dirty="0" smtClean="0">
              <a:latin typeface="Trebuchet MS" panose="020B0603020202020204" pitchFamily="34" charset="0"/>
            </a:endParaRPr>
          </a:p>
          <a:p>
            <a:r>
              <a:rPr lang="en-US" sz="2000" dirty="0" smtClean="0">
                <a:solidFill>
                  <a:srgbClr val="0070C0"/>
                </a:solidFill>
                <a:latin typeface="Trebuchet MS" panose="020B0603020202020204" pitchFamily="34" charset="0"/>
              </a:rPr>
              <a:t>Note: </a:t>
            </a:r>
            <a:r>
              <a:rPr lang="en-US" sz="2000" dirty="0" smtClean="0">
                <a:latin typeface="Trebuchet MS" panose="020B0603020202020204" pitchFamily="34" charset="0"/>
              </a:rPr>
              <a:t>It will continues if same color is not find </a:t>
            </a:r>
            <a:endParaRPr lang="en-US" sz="2000" dirty="0">
              <a:latin typeface="Trebuchet MS" panose="020B0603020202020204" pitchFamily="34" charset="0"/>
            </a:endParaRPr>
          </a:p>
          <a:p>
            <a:endParaRPr lang="en-US" sz="2000" dirty="0">
              <a:latin typeface="Trebuchet MS" panose="020B0603020202020204" pitchFamily="34" charset="0"/>
            </a:endParaRPr>
          </a:p>
          <a:p>
            <a:endParaRPr lang="en-US" sz="2000" dirty="0" smtClean="0">
              <a:solidFill>
                <a:srgbClr val="0070C0"/>
              </a:solidFill>
              <a:latin typeface="Trebuchet MS" panose="020B0603020202020204" pitchFamily="34" charset="0"/>
            </a:endParaRPr>
          </a:p>
          <a:p>
            <a:endParaRPr lang="en-IN" sz="2000" dirty="0">
              <a:solidFill>
                <a:srgbClr val="0070C0"/>
              </a:solidFill>
              <a:latin typeface="Trebuchet MS" panose="020B0603020202020204"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388772619"/>
              </p:ext>
            </p:extLst>
          </p:nvPr>
        </p:nvGraphicFramePr>
        <p:xfrm>
          <a:off x="7069335" y="3815189"/>
          <a:ext cx="4628530" cy="997483"/>
        </p:xfrm>
        <a:graphic>
          <a:graphicData uri="http://schemas.openxmlformats.org/drawingml/2006/table">
            <a:tbl>
              <a:tblPr>
                <a:tableStyleId>{616DA210-FB5B-4158-B5E0-FEB733F419BA}</a:tableStyleId>
              </a:tblPr>
              <a:tblGrid>
                <a:gridCol w="980332">
                  <a:extLst>
                    <a:ext uri="{9D8B030D-6E8A-4147-A177-3AD203B41FA5}">
                      <a16:colId xmlns:a16="http://schemas.microsoft.com/office/drawing/2014/main" val="2113931103"/>
                    </a:ext>
                  </a:extLst>
                </a:gridCol>
                <a:gridCol w="572538">
                  <a:extLst>
                    <a:ext uri="{9D8B030D-6E8A-4147-A177-3AD203B41FA5}">
                      <a16:colId xmlns:a16="http://schemas.microsoft.com/office/drawing/2014/main" val="1775844564"/>
                    </a:ext>
                  </a:extLst>
                </a:gridCol>
                <a:gridCol w="607962">
                  <a:extLst>
                    <a:ext uri="{9D8B030D-6E8A-4147-A177-3AD203B41FA5}">
                      <a16:colId xmlns:a16="http://schemas.microsoft.com/office/drawing/2014/main" val="403970874"/>
                    </a:ext>
                  </a:extLst>
                </a:gridCol>
                <a:gridCol w="593969">
                  <a:extLst>
                    <a:ext uri="{9D8B030D-6E8A-4147-A177-3AD203B41FA5}">
                      <a16:colId xmlns:a16="http://schemas.microsoft.com/office/drawing/2014/main" val="527225041"/>
                    </a:ext>
                  </a:extLst>
                </a:gridCol>
                <a:gridCol w="611676">
                  <a:extLst>
                    <a:ext uri="{9D8B030D-6E8A-4147-A177-3AD203B41FA5}">
                      <a16:colId xmlns:a16="http://schemas.microsoft.com/office/drawing/2014/main" val="1575646789"/>
                    </a:ext>
                  </a:extLst>
                </a:gridCol>
                <a:gridCol w="620611">
                  <a:extLst>
                    <a:ext uri="{9D8B030D-6E8A-4147-A177-3AD203B41FA5}">
                      <a16:colId xmlns:a16="http://schemas.microsoft.com/office/drawing/2014/main" val="1347640273"/>
                    </a:ext>
                  </a:extLst>
                </a:gridCol>
                <a:gridCol w="641442">
                  <a:extLst>
                    <a:ext uri="{9D8B030D-6E8A-4147-A177-3AD203B41FA5}">
                      <a16:colId xmlns:a16="http://schemas.microsoft.com/office/drawing/2014/main" val="1392854618"/>
                    </a:ext>
                  </a:extLst>
                </a:gridCol>
              </a:tblGrid>
              <a:tr h="420774">
                <a:tc>
                  <a:txBody>
                    <a:bodyPr/>
                    <a:lstStyle/>
                    <a:p>
                      <a:pPr algn="ctr"/>
                      <a:r>
                        <a:rPr lang="en-IN" sz="2000" dirty="0">
                          <a:effectLst/>
                          <a:latin typeface="Trebuchet MS" panose="020B0603020202020204" pitchFamily="34" charset="0"/>
                        </a:rPr>
                        <a:t>Vertex</a:t>
                      </a:r>
                    </a:p>
                  </a:txBody>
                  <a:tcPr marL="95250" marR="95250" marT="76200" marB="76200" anchor="ctr"/>
                </a:tc>
                <a:tc>
                  <a:txBody>
                    <a:bodyPr/>
                    <a:lstStyle/>
                    <a:p>
                      <a:pPr algn="ctr"/>
                      <a:r>
                        <a:rPr lang="en-IN" sz="2000" dirty="0">
                          <a:effectLst/>
                          <a:latin typeface="Trebuchet MS" panose="020B0603020202020204" pitchFamily="34" charset="0"/>
                        </a:rPr>
                        <a:t>a</a:t>
                      </a:r>
                    </a:p>
                  </a:txBody>
                  <a:tcPr marL="95250" marR="95250" marT="76200" marB="76200" anchor="ctr"/>
                </a:tc>
                <a:tc>
                  <a:txBody>
                    <a:bodyPr/>
                    <a:lstStyle/>
                    <a:p>
                      <a:pPr algn="ctr"/>
                      <a:r>
                        <a:rPr lang="en-IN" sz="2000" dirty="0">
                          <a:effectLst/>
                          <a:latin typeface="Trebuchet MS" panose="020B0603020202020204" pitchFamily="34" charset="0"/>
                        </a:rPr>
                        <a:t>b</a:t>
                      </a:r>
                    </a:p>
                  </a:txBody>
                  <a:tcPr marL="95250" marR="95250" marT="76200" marB="76200" anchor="ctr"/>
                </a:tc>
                <a:tc>
                  <a:txBody>
                    <a:bodyPr/>
                    <a:lstStyle/>
                    <a:p>
                      <a:pPr algn="ctr"/>
                      <a:r>
                        <a:rPr lang="en-IN" sz="2000" dirty="0">
                          <a:effectLst/>
                          <a:latin typeface="Trebuchet MS" panose="020B0603020202020204" pitchFamily="34" charset="0"/>
                        </a:rPr>
                        <a:t>c</a:t>
                      </a:r>
                    </a:p>
                  </a:txBody>
                  <a:tcPr marL="95250" marR="95250" marT="76200" marB="76200" anchor="ctr"/>
                </a:tc>
                <a:tc>
                  <a:txBody>
                    <a:bodyPr/>
                    <a:lstStyle/>
                    <a:p>
                      <a:pPr algn="ctr"/>
                      <a:r>
                        <a:rPr lang="en-IN" sz="2000" dirty="0">
                          <a:effectLst/>
                          <a:latin typeface="Trebuchet MS" panose="020B0603020202020204" pitchFamily="34" charset="0"/>
                        </a:rPr>
                        <a:t>d</a:t>
                      </a:r>
                    </a:p>
                  </a:txBody>
                  <a:tcPr marL="95250" marR="95250" marT="76200" marB="76200" anchor="ctr"/>
                </a:tc>
                <a:tc>
                  <a:txBody>
                    <a:bodyPr/>
                    <a:lstStyle/>
                    <a:p>
                      <a:pPr algn="ctr"/>
                      <a:r>
                        <a:rPr lang="en-IN" sz="2000" dirty="0">
                          <a:effectLst/>
                          <a:latin typeface="Trebuchet MS" panose="020B0603020202020204" pitchFamily="34" charset="0"/>
                        </a:rPr>
                        <a:t>e</a:t>
                      </a:r>
                    </a:p>
                  </a:txBody>
                  <a:tcPr marL="95250" marR="95250" marT="76200" marB="76200" anchor="ctr"/>
                </a:tc>
                <a:tc>
                  <a:txBody>
                    <a:bodyPr/>
                    <a:lstStyle/>
                    <a:p>
                      <a:pPr algn="ctr"/>
                      <a:r>
                        <a:rPr lang="en-IN" sz="2000" dirty="0">
                          <a:effectLst/>
                          <a:latin typeface="Trebuchet MS" panose="020B0603020202020204" pitchFamily="34" charset="0"/>
                        </a:rPr>
                        <a:t>f</a:t>
                      </a:r>
                    </a:p>
                  </a:txBody>
                  <a:tcPr marL="95250" marR="95250" marT="76200" marB="76200" anchor="ctr"/>
                </a:tc>
                <a:extLst>
                  <a:ext uri="{0D108BD9-81ED-4DB2-BD59-A6C34878D82A}">
                    <a16:rowId xmlns:a16="http://schemas.microsoft.com/office/drawing/2014/main" val="3317976761"/>
                  </a:ext>
                </a:extLst>
              </a:tr>
              <a:tr h="540283">
                <a:tc>
                  <a:txBody>
                    <a:bodyPr/>
                    <a:lstStyle/>
                    <a:p>
                      <a:pPr algn="ctr"/>
                      <a:r>
                        <a:rPr lang="en-IN" sz="2000" dirty="0" err="1">
                          <a:effectLst/>
                          <a:latin typeface="Trebuchet MS" panose="020B0603020202020204" pitchFamily="34" charset="0"/>
                        </a:rPr>
                        <a:t>Color</a:t>
                      </a:r>
                      <a:endParaRPr lang="en-IN" sz="2000" dirty="0">
                        <a:effectLst/>
                        <a:latin typeface="Trebuchet MS" panose="020B0603020202020204" pitchFamily="34" charset="0"/>
                      </a:endParaRPr>
                    </a:p>
                  </a:txBody>
                  <a:tcPr marL="95250" marR="95250" marT="76200" marB="76200" anchor="ctr"/>
                </a:tc>
                <a:tc>
                  <a:txBody>
                    <a:bodyPr/>
                    <a:lstStyle/>
                    <a:p>
                      <a:pPr algn="ctr"/>
                      <a:r>
                        <a:rPr lang="en-IN" sz="2000" dirty="0">
                          <a:effectLst/>
                          <a:latin typeface="Trebuchet MS" panose="020B0603020202020204" pitchFamily="34" charset="0"/>
                        </a:rPr>
                        <a:t>C1</a:t>
                      </a:r>
                    </a:p>
                  </a:txBody>
                  <a:tcPr marL="95250" marR="95250" marT="76200" marB="76200" anchor="ctr"/>
                </a:tc>
                <a:tc>
                  <a:txBody>
                    <a:bodyPr/>
                    <a:lstStyle/>
                    <a:p>
                      <a:pPr algn="ctr"/>
                      <a:r>
                        <a:rPr lang="en-US" sz="2000" dirty="0" smtClean="0">
                          <a:effectLst/>
                          <a:latin typeface="Trebuchet MS" panose="020B0603020202020204" pitchFamily="34" charset="0"/>
                        </a:rPr>
                        <a:t>-</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a:t>
                      </a:r>
                      <a:endParaRPr lang="en-IN" sz="2000" dirty="0">
                        <a:effectLst/>
                        <a:latin typeface="Trebuchet MS" panose="020B0603020202020204" pitchFamily="34" charset="0"/>
                      </a:endParaRPr>
                    </a:p>
                  </a:txBody>
                  <a:tcPr marL="95250" marR="95250" marT="76200" marB="76200" anchor="ctr"/>
                </a:tc>
                <a:extLst>
                  <a:ext uri="{0D108BD9-81ED-4DB2-BD59-A6C34878D82A}">
                    <a16:rowId xmlns:a16="http://schemas.microsoft.com/office/drawing/2014/main" val="354366118"/>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951068706"/>
              </p:ext>
            </p:extLst>
          </p:nvPr>
        </p:nvGraphicFramePr>
        <p:xfrm>
          <a:off x="6961238" y="5277148"/>
          <a:ext cx="4628069" cy="1005666"/>
        </p:xfrm>
        <a:graphic>
          <a:graphicData uri="http://schemas.openxmlformats.org/drawingml/2006/table">
            <a:tbl>
              <a:tblPr>
                <a:tableStyleId>{616DA210-FB5B-4158-B5E0-FEB733F419BA}</a:tableStyleId>
              </a:tblPr>
              <a:tblGrid>
                <a:gridCol w="973394">
                  <a:extLst>
                    <a:ext uri="{9D8B030D-6E8A-4147-A177-3AD203B41FA5}">
                      <a16:colId xmlns:a16="http://schemas.microsoft.com/office/drawing/2014/main" val="2113931103"/>
                    </a:ext>
                  </a:extLst>
                </a:gridCol>
                <a:gridCol w="514317">
                  <a:extLst>
                    <a:ext uri="{9D8B030D-6E8A-4147-A177-3AD203B41FA5}">
                      <a16:colId xmlns:a16="http://schemas.microsoft.com/office/drawing/2014/main" val="1775844564"/>
                    </a:ext>
                  </a:extLst>
                </a:gridCol>
                <a:gridCol w="620751">
                  <a:extLst>
                    <a:ext uri="{9D8B030D-6E8A-4147-A177-3AD203B41FA5}">
                      <a16:colId xmlns:a16="http://schemas.microsoft.com/office/drawing/2014/main" val="403970874"/>
                    </a:ext>
                  </a:extLst>
                </a:gridCol>
                <a:gridCol w="606463">
                  <a:extLst>
                    <a:ext uri="{9D8B030D-6E8A-4147-A177-3AD203B41FA5}">
                      <a16:colId xmlns:a16="http://schemas.microsoft.com/office/drawing/2014/main" val="527225041"/>
                    </a:ext>
                  </a:extLst>
                </a:gridCol>
                <a:gridCol w="624543">
                  <a:extLst>
                    <a:ext uri="{9D8B030D-6E8A-4147-A177-3AD203B41FA5}">
                      <a16:colId xmlns:a16="http://schemas.microsoft.com/office/drawing/2014/main" val="1575646789"/>
                    </a:ext>
                  </a:extLst>
                </a:gridCol>
                <a:gridCol w="633666">
                  <a:extLst>
                    <a:ext uri="{9D8B030D-6E8A-4147-A177-3AD203B41FA5}">
                      <a16:colId xmlns:a16="http://schemas.microsoft.com/office/drawing/2014/main" val="1347640273"/>
                    </a:ext>
                  </a:extLst>
                </a:gridCol>
                <a:gridCol w="654935">
                  <a:extLst>
                    <a:ext uri="{9D8B030D-6E8A-4147-A177-3AD203B41FA5}">
                      <a16:colId xmlns:a16="http://schemas.microsoft.com/office/drawing/2014/main" val="1392854618"/>
                    </a:ext>
                  </a:extLst>
                </a:gridCol>
              </a:tblGrid>
              <a:tr h="539439">
                <a:tc>
                  <a:txBody>
                    <a:bodyPr/>
                    <a:lstStyle/>
                    <a:p>
                      <a:pPr algn="ctr"/>
                      <a:r>
                        <a:rPr lang="en-IN" sz="2000" dirty="0">
                          <a:effectLst/>
                          <a:latin typeface="Trebuchet MS" panose="020B0603020202020204" pitchFamily="34" charset="0"/>
                        </a:rPr>
                        <a:t>Vertex</a:t>
                      </a:r>
                    </a:p>
                  </a:txBody>
                  <a:tcPr marL="95250" marR="95250" marT="76200" marB="76200" anchor="ctr"/>
                </a:tc>
                <a:tc>
                  <a:txBody>
                    <a:bodyPr/>
                    <a:lstStyle/>
                    <a:p>
                      <a:pPr algn="ctr"/>
                      <a:r>
                        <a:rPr lang="en-IN" sz="2000" dirty="0">
                          <a:effectLst/>
                          <a:latin typeface="Trebuchet MS" panose="020B0603020202020204" pitchFamily="34" charset="0"/>
                        </a:rPr>
                        <a:t>a</a:t>
                      </a:r>
                    </a:p>
                  </a:txBody>
                  <a:tcPr marL="95250" marR="95250" marT="76200" marB="76200" anchor="ctr"/>
                </a:tc>
                <a:tc>
                  <a:txBody>
                    <a:bodyPr/>
                    <a:lstStyle/>
                    <a:p>
                      <a:pPr algn="ctr"/>
                      <a:r>
                        <a:rPr lang="en-IN" sz="2000" dirty="0">
                          <a:effectLst/>
                          <a:latin typeface="Trebuchet MS" panose="020B0603020202020204" pitchFamily="34" charset="0"/>
                        </a:rPr>
                        <a:t>b</a:t>
                      </a:r>
                    </a:p>
                  </a:txBody>
                  <a:tcPr marL="95250" marR="95250" marT="76200" marB="76200" anchor="ctr"/>
                </a:tc>
                <a:tc>
                  <a:txBody>
                    <a:bodyPr/>
                    <a:lstStyle/>
                    <a:p>
                      <a:pPr algn="ctr"/>
                      <a:r>
                        <a:rPr lang="en-IN" sz="2000" dirty="0">
                          <a:effectLst/>
                          <a:latin typeface="Trebuchet MS" panose="020B0603020202020204" pitchFamily="34" charset="0"/>
                        </a:rPr>
                        <a:t>c</a:t>
                      </a:r>
                    </a:p>
                  </a:txBody>
                  <a:tcPr marL="95250" marR="95250" marT="76200" marB="76200" anchor="ctr"/>
                </a:tc>
                <a:tc>
                  <a:txBody>
                    <a:bodyPr/>
                    <a:lstStyle/>
                    <a:p>
                      <a:pPr algn="ctr"/>
                      <a:r>
                        <a:rPr lang="en-IN" sz="2000" dirty="0">
                          <a:effectLst/>
                          <a:latin typeface="Trebuchet MS" panose="020B0603020202020204" pitchFamily="34" charset="0"/>
                        </a:rPr>
                        <a:t>d</a:t>
                      </a:r>
                    </a:p>
                  </a:txBody>
                  <a:tcPr marL="95250" marR="95250" marT="76200" marB="76200" anchor="ctr"/>
                </a:tc>
                <a:tc>
                  <a:txBody>
                    <a:bodyPr/>
                    <a:lstStyle/>
                    <a:p>
                      <a:pPr algn="ctr"/>
                      <a:r>
                        <a:rPr lang="en-IN" sz="2000" dirty="0">
                          <a:effectLst/>
                          <a:latin typeface="Trebuchet MS" panose="020B0603020202020204" pitchFamily="34" charset="0"/>
                        </a:rPr>
                        <a:t>e</a:t>
                      </a:r>
                    </a:p>
                  </a:txBody>
                  <a:tcPr marL="95250" marR="95250" marT="76200" marB="76200" anchor="ctr"/>
                </a:tc>
                <a:tc>
                  <a:txBody>
                    <a:bodyPr/>
                    <a:lstStyle/>
                    <a:p>
                      <a:pPr algn="ctr"/>
                      <a:r>
                        <a:rPr lang="en-IN" sz="2000" dirty="0">
                          <a:effectLst/>
                          <a:latin typeface="Trebuchet MS" panose="020B0603020202020204" pitchFamily="34" charset="0"/>
                        </a:rPr>
                        <a:t>f</a:t>
                      </a:r>
                    </a:p>
                  </a:txBody>
                  <a:tcPr marL="95250" marR="95250" marT="76200" marB="76200" anchor="ctr"/>
                </a:tc>
                <a:extLst>
                  <a:ext uri="{0D108BD9-81ED-4DB2-BD59-A6C34878D82A}">
                    <a16:rowId xmlns:a16="http://schemas.microsoft.com/office/drawing/2014/main" val="3317976761"/>
                  </a:ext>
                </a:extLst>
              </a:tr>
              <a:tr h="466227">
                <a:tc>
                  <a:txBody>
                    <a:bodyPr/>
                    <a:lstStyle/>
                    <a:p>
                      <a:pPr algn="ctr"/>
                      <a:r>
                        <a:rPr lang="en-IN" sz="2000" dirty="0" err="1">
                          <a:effectLst/>
                          <a:latin typeface="Trebuchet MS" panose="020B0603020202020204" pitchFamily="34" charset="0"/>
                        </a:rPr>
                        <a:t>Color</a:t>
                      </a:r>
                      <a:endParaRPr lang="en-IN" sz="2000" dirty="0">
                        <a:effectLst/>
                        <a:latin typeface="Trebuchet MS" panose="020B0603020202020204" pitchFamily="34" charset="0"/>
                      </a:endParaRPr>
                    </a:p>
                  </a:txBody>
                  <a:tcPr marL="95250" marR="95250" marT="76200" marB="76200" anchor="ctr"/>
                </a:tc>
                <a:tc>
                  <a:txBody>
                    <a:bodyPr/>
                    <a:lstStyle/>
                    <a:p>
                      <a:pPr algn="ctr"/>
                      <a:r>
                        <a:rPr lang="en-IN" sz="2000" dirty="0">
                          <a:effectLst/>
                          <a:latin typeface="Trebuchet MS" panose="020B0603020202020204" pitchFamily="34" charset="0"/>
                        </a:rPr>
                        <a:t>C1</a:t>
                      </a:r>
                    </a:p>
                  </a:txBody>
                  <a:tcPr marL="95250" marR="95250" marT="76200" marB="76200" anchor="ctr"/>
                </a:tc>
                <a:tc>
                  <a:txBody>
                    <a:bodyPr/>
                    <a:lstStyle/>
                    <a:p>
                      <a:pPr algn="ctr"/>
                      <a:r>
                        <a:rPr lang="en-US" sz="2000" dirty="0" smtClean="0">
                          <a:effectLst/>
                          <a:latin typeface="Trebuchet MS" panose="020B0603020202020204" pitchFamily="34" charset="0"/>
                        </a:rPr>
                        <a:t>C2</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C1</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C2</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C1</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C2</a:t>
                      </a:r>
                      <a:endParaRPr lang="en-IN" sz="2000" dirty="0">
                        <a:effectLst/>
                        <a:latin typeface="Trebuchet MS" panose="020B0603020202020204" pitchFamily="34" charset="0"/>
                      </a:endParaRPr>
                    </a:p>
                  </a:txBody>
                  <a:tcPr marL="95250" marR="95250" marT="76200" marB="76200" anchor="ctr"/>
                </a:tc>
                <a:extLst>
                  <a:ext uri="{0D108BD9-81ED-4DB2-BD59-A6C34878D82A}">
                    <a16:rowId xmlns:a16="http://schemas.microsoft.com/office/drawing/2014/main" val="354366118"/>
                  </a:ext>
                </a:extLst>
              </a:tr>
            </a:tbl>
          </a:graphicData>
        </a:graphic>
      </p:graphicFrame>
    </p:spTree>
    <p:extLst>
      <p:ext uri="{BB962C8B-B14F-4D97-AF65-F5344CB8AC3E}">
        <p14:creationId xmlns:p14="http://schemas.microsoft.com/office/powerpoint/2010/main" val="96303809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sp>
        <p:nvSpPr>
          <p:cNvPr id="8" name="Rectangle 7"/>
          <p:cNvSpPr/>
          <p:nvPr/>
        </p:nvSpPr>
        <p:spPr>
          <a:xfrm>
            <a:off x="246744" y="1036233"/>
            <a:ext cx="6966086" cy="5478423"/>
          </a:xfrm>
          <a:prstGeom prst="rect">
            <a:avLst/>
          </a:prstGeom>
        </p:spPr>
        <p:txBody>
          <a:bodyPr wrap="square">
            <a:spAutoFit/>
          </a:bodyPr>
          <a:lstStyle/>
          <a:p>
            <a:pPr>
              <a:lnSpc>
                <a:spcPct val="150000"/>
              </a:lnSpc>
            </a:pPr>
            <a:r>
              <a:rPr lang="en-US" sz="2000" dirty="0" smtClean="0">
                <a:solidFill>
                  <a:srgbClr val="FF0000"/>
                </a:solidFill>
                <a:latin typeface="Trebuchet MS" panose="020B0603020202020204" pitchFamily="34" charset="0"/>
              </a:rPr>
              <a:t>Step 3: </a:t>
            </a:r>
            <a:r>
              <a:rPr lang="en-US" sz="2000" dirty="0">
                <a:latin typeface="Trebuchet MS" panose="020B0603020202020204" pitchFamily="34" charset="0"/>
              </a:rPr>
              <a:t>If there is any color assignment that does not violate the conditions, mark the color assignment as part of the solution. </a:t>
            </a:r>
          </a:p>
          <a:p>
            <a:pPr>
              <a:lnSpc>
                <a:spcPct val="150000"/>
              </a:lnSpc>
            </a:pPr>
            <a:r>
              <a:rPr lang="en-US" sz="2000" dirty="0">
                <a:solidFill>
                  <a:srgbClr val="FF0000"/>
                </a:solidFill>
                <a:latin typeface="Trebuchet MS" panose="020B0603020202020204" pitchFamily="34" charset="0"/>
              </a:rPr>
              <a:t>Step 4: </a:t>
            </a:r>
            <a:r>
              <a:rPr lang="en-US" sz="2000" dirty="0">
                <a:latin typeface="Trebuchet MS" panose="020B0603020202020204" pitchFamily="34" charset="0"/>
              </a:rPr>
              <a:t>If no assignment of color is possible then backtrack and return false</a:t>
            </a:r>
            <a:r>
              <a:rPr lang="en-US" sz="2000" dirty="0" smtClean="0">
                <a:latin typeface="Trebuchet MS" panose="020B0603020202020204" pitchFamily="34" charset="0"/>
              </a:rPr>
              <a:t>.</a:t>
            </a:r>
          </a:p>
          <a:p>
            <a:pPr>
              <a:lnSpc>
                <a:spcPct val="150000"/>
              </a:lnSpc>
            </a:pPr>
            <a:endParaRPr lang="en-US" sz="2000" dirty="0" smtClean="0">
              <a:latin typeface="Trebuchet MS" panose="020B0603020202020204" pitchFamily="34" charset="0"/>
            </a:endParaRPr>
          </a:p>
          <a:p>
            <a:r>
              <a:rPr lang="en-US" sz="2000" dirty="0">
                <a:solidFill>
                  <a:srgbClr val="0070C0"/>
                </a:solidFill>
                <a:latin typeface="Trebuchet MS" panose="020B0603020202020204" pitchFamily="34" charset="0"/>
              </a:rPr>
              <a:t>From here</a:t>
            </a:r>
            <a:r>
              <a:rPr lang="en-US" sz="2000" dirty="0">
                <a:latin typeface="Trebuchet MS" panose="020B0603020202020204" pitchFamily="34" charset="0"/>
              </a:rPr>
              <a:t>,</a:t>
            </a:r>
          </a:p>
          <a:p>
            <a:pPr marL="342900" indent="-342900">
              <a:buFont typeface="Arial" panose="020B0604020202020204" pitchFamily="34" charset="0"/>
              <a:buChar char="•"/>
            </a:pPr>
            <a:r>
              <a:rPr lang="en-US" sz="2000" dirty="0">
                <a:latin typeface="Trebuchet MS" panose="020B0603020202020204" pitchFamily="34" charset="0"/>
              </a:rPr>
              <a:t>Minimum number of colors used to color the given graph are 2.</a:t>
            </a:r>
          </a:p>
          <a:p>
            <a:pPr marL="342900" indent="-342900">
              <a:buFont typeface="Arial" panose="020B0604020202020204" pitchFamily="34" charset="0"/>
              <a:buChar char="•"/>
            </a:pPr>
            <a:r>
              <a:rPr lang="en-US" sz="2000" dirty="0">
                <a:latin typeface="Trebuchet MS" panose="020B0603020202020204" pitchFamily="34" charset="0"/>
              </a:rPr>
              <a:t>Therefore, Chromatic Number of the given graph = 2.</a:t>
            </a:r>
          </a:p>
          <a:p>
            <a:r>
              <a:rPr lang="en-US" sz="2000" dirty="0">
                <a:latin typeface="Trebuchet MS" panose="020B0603020202020204" pitchFamily="34" charset="0"/>
              </a:rPr>
              <a:t> </a:t>
            </a:r>
          </a:p>
          <a:p>
            <a:pPr marL="342900" indent="-342900">
              <a:buFont typeface="Arial" panose="020B0604020202020204" pitchFamily="34" charset="0"/>
              <a:buChar char="•"/>
            </a:pPr>
            <a:r>
              <a:rPr lang="en-US" sz="2000" dirty="0">
                <a:latin typeface="Trebuchet MS" panose="020B0603020202020204" pitchFamily="34" charset="0"/>
              </a:rPr>
              <a:t>The given graph may be properly colored using 2 colors as shown below</a:t>
            </a:r>
          </a:p>
          <a:p>
            <a:pPr>
              <a:lnSpc>
                <a:spcPct val="150000"/>
              </a:lnSpc>
            </a:pPr>
            <a:endParaRPr lang="en-IN" sz="2000" dirty="0">
              <a:latin typeface="Trebuchet MS" panose="020B0603020202020204" pitchFamily="34"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3547237838"/>
              </p:ext>
            </p:extLst>
          </p:nvPr>
        </p:nvGraphicFramePr>
        <p:xfrm>
          <a:off x="7344696" y="1123160"/>
          <a:ext cx="4467138" cy="1040119"/>
        </p:xfrm>
        <a:graphic>
          <a:graphicData uri="http://schemas.openxmlformats.org/drawingml/2006/table">
            <a:tbl>
              <a:tblPr>
                <a:tableStyleId>{616DA210-FB5B-4158-B5E0-FEB733F419BA}</a:tableStyleId>
              </a:tblPr>
              <a:tblGrid>
                <a:gridCol w="946149">
                  <a:extLst>
                    <a:ext uri="{9D8B030D-6E8A-4147-A177-3AD203B41FA5}">
                      <a16:colId xmlns:a16="http://schemas.microsoft.com/office/drawing/2014/main" val="2113931103"/>
                    </a:ext>
                  </a:extLst>
                </a:gridCol>
                <a:gridCol w="552574">
                  <a:extLst>
                    <a:ext uri="{9D8B030D-6E8A-4147-A177-3AD203B41FA5}">
                      <a16:colId xmlns:a16="http://schemas.microsoft.com/office/drawing/2014/main" val="1775844564"/>
                    </a:ext>
                  </a:extLst>
                </a:gridCol>
                <a:gridCol w="586763">
                  <a:extLst>
                    <a:ext uri="{9D8B030D-6E8A-4147-A177-3AD203B41FA5}">
                      <a16:colId xmlns:a16="http://schemas.microsoft.com/office/drawing/2014/main" val="403970874"/>
                    </a:ext>
                  </a:extLst>
                </a:gridCol>
                <a:gridCol w="573258">
                  <a:extLst>
                    <a:ext uri="{9D8B030D-6E8A-4147-A177-3AD203B41FA5}">
                      <a16:colId xmlns:a16="http://schemas.microsoft.com/office/drawing/2014/main" val="527225041"/>
                    </a:ext>
                  </a:extLst>
                </a:gridCol>
                <a:gridCol w="590348">
                  <a:extLst>
                    <a:ext uri="{9D8B030D-6E8A-4147-A177-3AD203B41FA5}">
                      <a16:colId xmlns:a16="http://schemas.microsoft.com/office/drawing/2014/main" val="1575646789"/>
                    </a:ext>
                  </a:extLst>
                </a:gridCol>
                <a:gridCol w="598971">
                  <a:extLst>
                    <a:ext uri="{9D8B030D-6E8A-4147-A177-3AD203B41FA5}">
                      <a16:colId xmlns:a16="http://schemas.microsoft.com/office/drawing/2014/main" val="1347640273"/>
                    </a:ext>
                  </a:extLst>
                </a:gridCol>
                <a:gridCol w="619075">
                  <a:extLst>
                    <a:ext uri="{9D8B030D-6E8A-4147-A177-3AD203B41FA5}">
                      <a16:colId xmlns:a16="http://schemas.microsoft.com/office/drawing/2014/main" val="1392854618"/>
                    </a:ext>
                  </a:extLst>
                </a:gridCol>
              </a:tblGrid>
              <a:tr h="447291">
                <a:tc>
                  <a:txBody>
                    <a:bodyPr/>
                    <a:lstStyle/>
                    <a:p>
                      <a:pPr algn="ctr"/>
                      <a:r>
                        <a:rPr lang="en-IN" sz="2000" dirty="0">
                          <a:effectLst/>
                          <a:latin typeface="Trebuchet MS" panose="020B0603020202020204" pitchFamily="34" charset="0"/>
                        </a:rPr>
                        <a:t>Vertex</a:t>
                      </a:r>
                    </a:p>
                  </a:txBody>
                  <a:tcPr marL="95250" marR="95250" marT="76200" marB="76200" anchor="ctr"/>
                </a:tc>
                <a:tc>
                  <a:txBody>
                    <a:bodyPr/>
                    <a:lstStyle/>
                    <a:p>
                      <a:pPr algn="ctr"/>
                      <a:r>
                        <a:rPr lang="en-IN" sz="2000" dirty="0">
                          <a:effectLst/>
                          <a:latin typeface="Trebuchet MS" panose="020B0603020202020204" pitchFamily="34" charset="0"/>
                        </a:rPr>
                        <a:t>a</a:t>
                      </a:r>
                    </a:p>
                  </a:txBody>
                  <a:tcPr marL="95250" marR="95250" marT="76200" marB="76200" anchor="ctr"/>
                </a:tc>
                <a:tc>
                  <a:txBody>
                    <a:bodyPr/>
                    <a:lstStyle/>
                    <a:p>
                      <a:pPr algn="ctr"/>
                      <a:r>
                        <a:rPr lang="en-IN" sz="2000" dirty="0">
                          <a:effectLst/>
                          <a:latin typeface="Trebuchet MS" panose="020B0603020202020204" pitchFamily="34" charset="0"/>
                        </a:rPr>
                        <a:t>b</a:t>
                      </a:r>
                    </a:p>
                  </a:txBody>
                  <a:tcPr marL="95250" marR="95250" marT="76200" marB="76200" anchor="ctr"/>
                </a:tc>
                <a:tc>
                  <a:txBody>
                    <a:bodyPr/>
                    <a:lstStyle/>
                    <a:p>
                      <a:pPr algn="ctr"/>
                      <a:r>
                        <a:rPr lang="en-IN" sz="2000" dirty="0">
                          <a:effectLst/>
                          <a:latin typeface="Trebuchet MS" panose="020B0603020202020204" pitchFamily="34" charset="0"/>
                        </a:rPr>
                        <a:t>c</a:t>
                      </a:r>
                    </a:p>
                  </a:txBody>
                  <a:tcPr marL="95250" marR="95250" marT="76200" marB="76200" anchor="ctr"/>
                </a:tc>
                <a:tc>
                  <a:txBody>
                    <a:bodyPr/>
                    <a:lstStyle/>
                    <a:p>
                      <a:pPr algn="ctr"/>
                      <a:r>
                        <a:rPr lang="en-IN" sz="2000" dirty="0">
                          <a:effectLst/>
                          <a:latin typeface="Trebuchet MS" panose="020B0603020202020204" pitchFamily="34" charset="0"/>
                        </a:rPr>
                        <a:t>d</a:t>
                      </a:r>
                    </a:p>
                  </a:txBody>
                  <a:tcPr marL="95250" marR="95250" marT="76200" marB="76200" anchor="ctr"/>
                </a:tc>
                <a:tc>
                  <a:txBody>
                    <a:bodyPr/>
                    <a:lstStyle/>
                    <a:p>
                      <a:pPr algn="ctr"/>
                      <a:r>
                        <a:rPr lang="en-IN" sz="2000" dirty="0">
                          <a:effectLst/>
                          <a:latin typeface="Trebuchet MS" panose="020B0603020202020204" pitchFamily="34" charset="0"/>
                        </a:rPr>
                        <a:t>e</a:t>
                      </a:r>
                    </a:p>
                  </a:txBody>
                  <a:tcPr marL="95250" marR="95250" marT="76200" marB="76200" anchor="ctr"/>
                </a:tc>
                <a:tc>
                  <a:txBody>
                    <a:bodyPr/>
                    <a:lstStyle/>
                    <a:p>
                      <a:pPr algn="ctr"/>
                      <a:r>
                        <a:rPr lang="en-IN" sz="2000" dirty="0">
                          <a:effectLst/>
                          <a:latin typeface="Trebuchet MS" panose="020B0603020202020204" pitchFamily="34" charset="0"/>
                        </a:rPr>
                        <a:t>f</a:t>
                      </a:r>
                    </a:p>
                  </a:txBody>
                  <a:tcPr marL="95250" marR="95250" marT="76200" marB="76200" anchor="ctr"/>
                </a:tc>
                <a:extLst>
                  <a:ext uri="{0D108BD9-81ED-4DB2-BD59-A6C34878D82A}">
                    <a16:rowId xmlns:a16="http://schemas.microsoft.com/office/drawing/2014/main" val="3317976761"/>
                  </a:ext>
                </a:extLst>
              </a:tr>
              <a:tr h="582919">
                <a:tc>
                  <a:txBody>
                    <a:bodyPr/>
                    <a:lstStyle/>
                    <a:p>
                      <a:pPr algn="ctr"/>
                      <a:r>
                        <a:rPr lang="en-IN" sz="2000" dirty="0" err="1">
                          <a:effectLst/>
                          <a:latin typeface="Trebuchet MS" panose="020B0603020202020204" pitchFamily="34" charset="0"/>
                        </a:rPr>
                        <a:t>Color</a:t>
                      </a:r>
                      <a:endParaRPr lang="en-IN" sz="2000" dirty="0">
                        <a:effectLst/>
                        <a:latin typeface="Trebuchet MS" panose="020B0603020202020204" pitchFamily="34" charset="0"/>
                      </a:endParaRPr>
                    </a:p>
                  </a:txBody>
                  <a:tcPr marL="95250" marR="95250" marT="76200" marB="76200" anchor="ctr"/>
                </a:tc>
                <a:tc>
                  <a:txBody>
                    <a:bodyPr/>
                    <a:lstStyle/>
                    <a:p>
                      <a:pPr algn="ctr"/>
                      <a:r>
                        <a:rPr lang="en-IN" sz="2000" dirty="0">
                          <a:effectLst/>
                          <a:latin typeface="Trebuchet MS" panose="020B0603020202020204" pitchFamily="34" charset="0"/>
                        </a:rPr>
                        <a:t>C1</a:t>
                      </a:r>
                    </a:p>
                  </a:txBody>
                  <a:tcPr marL="95250" marR="95250" marT="76200" marB="76200" anchor="ctr"/>
                </a:tc>
                <a:tc>
                  <a:txBody>
                    <a:bodyPr/>
                    <a:lstStyle/>
                    <a:p>
                      <a:pPr algn="ctr"/>
                      <a:r>
                        <a:rPr lang="en-US" sz="2000" dirty="0" smtClean="0">
                          <a:effectLst/>
                          <a:latin typeface="Trebuchet MS" panose="020B0603020202020204" pitchFamily="34" charset="0"/>
                        </a:rPr>
                        <a:t>C2</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C1</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C2</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C1</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C2</a:t>
                      </a:r>
                      <a:endParaRPr lang="en-IN" sz="2000" dirty="0">
                        <a:effectLst/>
                        <a:latin typeface="Trebuchet MS" panose="020B0603020202020204" pitchFamily="34" charset="0"/>
                      </a:endParaRPr>
                    </a:p>
                  </a:txBody>
                  <a:tcPr marL="95250" marR="95250" marT="76200" marB="76200" anchor="ctr"/>
                </a:tc>
                <a:extLst>
                  <a:ext uri="{0D108BD9-81ED-4DB2-BD59-A6C34878D82A}">
                    <a16:rowId xmlns:a16="http://schemas.microsoft.com/office/drawing/2014/main" val="354366118"/>
                  </a:ext>
                </a:extLst>
              </a:tr>
            </a:tbl>
          </a:graphicData>
        </a:graphic>
      </p:graphicFrame>
      <p:pic>
        <p:nvPicPr>
          <p:cNvPr id="3" name="Picture 2"/>
          <p:cNvPicPr>
            <a:picLocks noChangeAspect="1"/>
          </p:cNvPicPr>
          <p:nvPr/>
        </p:nvPicPr>
        <p:blipFill>
          <a:blip r:embed="rId6"/>
          <a:stretch>
            <a:fillRect/>
          </a:stretch>
        </p:blipFill>
        <p:spPr>
          <a:xfrm>
            <a:off x="7458301" y="3168766"/>
            <a:ext cx="4353533" cy="2514951"/>
          </a:xfrm>
          <a:prstGeom prst="rect">
            <a:avLst/>
          </a:prstGeom>
        </p:spPr>
      </p:pic>
    </p:spTree>
    <p:extLst>
      <p:ext uri="{BB962C8B-B14F-4D97-AF65-F5344CB8AC3E}">
        <p14:creationId xmlns:p14="http://schemas.microsoft.com/office/powerpoint/2010/main" val="191073937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pic>
        <p:nvPicPr>
          <p:cNvPr id="4" name="Picture 3"/>
          <p:cNvPicPr>
            <a:picLocks noChangeAspect="1"/>
          </p:cNvPicPr>
          <p:nvPr/>
        </p:nvPicPr>
        <p:blipFill rotWithShape="1">
          <a:blip r:embed="rId6">
            <a:grayscl/>
          </a:blip>
          <a:srcRect r="2439"/>
          <a:stretch/>
        </p:blipFill>
        <p:spPr>
          <a:xfrm>
            <a:off x="246743" y="1214591"/>
            <a:ext cx="4841451" cy="2590800"/>
          </a:xfrm>
          <a:prstGeom prst="rect">
            <a:avLst/>
          </a:prstGeom>
        </p:spPr>
      </p:pic>
      <p:sp>
        <p:nvSpPr>
          <p:cNvPr id="5" name="Rectangle 4"/>
          <p:cNvSpPr/>
          <p:nvPr/>
        </p:nvSpPr>
        <p:spPr>
          <a:xfrm>
            <a:off x="246743" y="964368"/>
            <a:ext cx="1476686" cy="400110"/>
          </a:xfrm>
          <a:prstGeom prst="rect">
            <a:avLst/>
          </a:prstGeom>
        </p:spPr>
        <p:txBody>
          <a:bodyPr wrap="none">
            <a:spAutoFit/>
          </a:bodyPr>
          <a:lstStyle/>
          <a:p>
            <a:r>
              <a:rPr lang="en-US" sz="2000" b="1" dirty="0" smtClean="0">
                <a:solidFill>
                  <a:srgbClr val="0070C0"/>
                </a:solidFill>
                <a:latin typeface="Trebuchet MS" panose="020B0603020202020204" pitchFamily="34" charset="0"/>
              </a:rPr>
              <a:t>Example 2</a:t>
            </a:r>
            <a:r>
              <a:rPr lang="en-US" b="1" dirty="0" smtClean="0">
                <a:solidFill>
                  <a:srgbClr val="0070C0"/>
                </a:solidFill>
                <a:latin typeface="Corbel" panose="020B0503020204020204" pitchFamily="34" charset="0"/>
              </a:rPr>
              <a:t> </a:t>
            </a:r>
            <a:endParaRPr lang="en-IN" dirty="0">
              <a:solidFill>
                <a:srgbClr val="0070C0"/>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1849604981"/>
              </p:ext>
            </p:extLst>
          </p:nvPr>
        </p:nvGraphicFramePr>
        <p:xfrm>
          <a:off x="6824958" y="1640470"/>
          <a:ext cx="4638084" cy="914400"/>
        </p:xfrm>
        <a:graphic>
          <a:graphicData uri="http://schemas.openxmlformats.org/drawingml/2006/table">
            <a:tbl>
              <a:tblPr>
                <a:tableStyleId>{616DA210-FB5B-4158-B5E0-FEB733F419BA}</a:tableStyleId>
              </a:tblPr>
              <a:tblGrid>
                <a:gridCol w="982355">
                  <a:extLst>
                    <a:ext uri="{9D8B030D-6E8A-4147-A177-3AD203B41FA5}">
                      <a16:colId xmlns:a16="http://schemas.microsoft.com/office/drawing/2014/main" val="4170935996"/>
                    </a:ext>
                  </a:extLst>
                </a:gridCol>
                <a:gridCol w="573720">
                  <a:extLst>
                    <a:ext uri="{9D8B030D-6E8A-4147-A177-3AD203B41FA5}">
                      <a16:colId xmlns:a16="http://schemas.microsoft.com/office/drawing/2014/main" val="3185847699"/>
                    </a:ext>
                  </a:extLst>
                </a:gridCol>
                <a:gridCol w="609217">
                  <a:extLst>
                    <a:ext uri="{9D8B030D-6E8A-4147-A177-3AD203B41FA5}">
                      <a16:colId xmlns:a16="http://schemas.microsoft.com/office/drawing/2014/main" val="2864956697"/>
                    </a:ext>
                  </a:extLst>
                </a:gridCol>
                <a:gridCol w="595195">
                  <a:extLst>
                    <a:ext uri="{9D8B030D-6E8A-4147-A177-3AD203B41FA5}">
                      <a16:colId xmlns:a16="http://schemas.microsoft.com/office/drawing/2014/main" val="553239810"/>
                    </a:ext>
                  </a:extLst>
                </a:gridCol>
                <a:gridCol w="612939">
                  <a:extLst>
                    <a:ext uri="{9D8B030D-6E8A-4147-A177-3AD203B41FA5}">
                      <a16:colId xmlns:a16="http://schemas.microsoft.com/office/drawing/2014/main" val="3277204333"/>
                    </a:ext>
                  </a:extLst>
                </a:gridCol>
                <a:gridCol w="621892">
                  <a:extLst>
                    <a:ext uri="{9D8B030D-6E8A-4147-A177-3AD203B41FA5}">
                      <a16:colId xmlns:a16="http://schemas.microsoft.com/office/drawing/2014/main" val="3112933617"/>
                    </a:ext>
                  </a:extLst>
                </a:gridCol>
                <a:gridCol w="642766">
                  <a:extLst>
                    <a:ext uri="{9D8B030D-6E8A-4147-A177-3AD203B41FA5}">
                      <a16:colId xmlns:a16="http://schemas.microsoft.com/office/drawing/2014/main" val="754019175"/>
                    </a:ext>
                  </a:extLst>
                </a:gridCol>
              </a:tblGrid>
              <a:tr h="238125">
                <a:tc>
                  <a:txBody>
                    <a:bodyPr/>
                    <a:lstStyle/>
                    <a:p>
                      <a:pPr algn="ctr"/>
                      <a:r>
                        <a:rPr lang="en-IN" sz="2000" dirty="0">
                          <a:effectLst/>
                          <a:latin typeface="Trebuchet MS" panose="020B0603020202020204" pitchFamily="34" charset="0"/>
                        </a:rPr>
                        <a:t>Vertex</a:t>
                      </a:r>
                    </a:p>
                  </a:txBody>
                  <a:tcPr marL="95250" marR="95250" marT="76200" marB="76200" anchor="ctr"/>
                </a:tc>
                <a:tc>
                  <a:txBody>
                    <a:bodyPr/>
                    <a:lstStyle/>
                    <a:p>
                      <a:pPr algn="ctr"/>
                      <a:r>
                        <a:rPr lang="en-IN" sz="2000" dirty="0">
                          <a:effectLst/>
                          <a:latin typeface="Trebuchet MS" panose="020B0603020202020204" pitchFamily="34" charset="0"/>
                        </a:rPr>
                        <a:t>a</a:t>
                      </a:r>
                    </a:p>
                  </a:txBody>
                  <a:tcPr marL="95250" marR="95250" marT="76200" marB="76200" anchor="ctr"/>
                </a:tc>
                <a:tc>
                  <a:txBody>
                    <a:bodyPr/>
                    <a:lstStyle/>
                    <a:p>
                      <a:pPr algn="ctr"/>
                      <a:r>
                        <a:rPr lang="en-IN" sz="2000" dirty="0">
                          <a:effectLst/>
                          <a:latin typeface="Trebuchet MS" panose="020B0603020202020204" pitchFamily="34" charset="0"/>
                        </a:rPr>
                        <a:t>b</a:t>
                      </a:r>
                    </a:p>
                  </a:txBody>
                  <a:tcPr marL="95250" marR="95250" marT="76200" marB="76200" anchor="ctr"/>
                </a:tc>
                <a:tc>
                  <a:txBody>
                    <a:bodyPr/>
                    <a:lstStyle/>
                    <a:p>
                      <a:pPr algn="ctr"/>
                      <a:r>
                        <a:rPr lang="en-IN" sz="2000">
                          <a:effectLst/>
                          <a:latin typeface="Trebuchet MS" panose="020B0603020202020204" pitchFamily="34" charset="0"/>
                        </a:rPr>
                        <a:t>c</a:t>
                      </a:r>
                    </a:p>
                  </a:txBody>
                  <a:tcPr marL="95250" marR="95250" marT="76200" marB="76200" anchor="ctr"/>
                </a:tc>
                <a:tc>
                  <a:txBody>
                    <a:bodyPr/>
                    <a:lstStyle/>
                    <a:p>
                      <a:pPr algn="ctr"/>
                      <a:r>
                        <a:rPr lang="en-IN" sz="2000">
                          <a:effectLst/>
                          <a:latin typeface="Trebuchet MS" panose="020B0603020202020204" pitchFamily="34" charset="0"/>
                        </a:rPr>
                        <a:t>d</a:t>
                      </a:r>
                    </a:p>
                  </a:txBody>
                  <a:tcPr marL="95250" marR="95250" marT="76200" marB="76200" anchor="ctr"/>
                </a:tc>
                <a:tc>
                  <a:txBody>
                    <a:bodyPr/>
                    <a:lstStyle/>
                    <a:p>
                      <a:pPr algn="ctr"/>
                      <a:r>
                        <a:rPr lang="en-IN" sz="2000">
                          <a:effectLst/>
                          <a:latin typeface="Trebuchet MS" panose="020B0603020202020204" pitchFamily="34" charset="0"/>
                        </a:rPr>
                        <a:t>e</a:t>
                      </a:r>
                    </a:p>
                  </a:txBody>
                  <a:tcPr marL="95250" marR="95250" marT="76200" marB="76200" anchor="ctr"/>
                </a:tc>
                <a:tc>
                  <a:txBody>
                    <a:bodyPr/>
                    <a:lstStyle/>
                    <a:p>
                      <a:pPr algn="ctr"/>
                      <a:r>
                        <a:rPr lang="en-IN" sz="2000">
                          <a:effectLst/>
                          <a:latin typeface="Trebuchet MS" panose="020B0603020202020204" pitchFamily="34" charset="0"/>
                        </a:rPr>
                        <a:t>f</a:t>
                      </a:r>
                    </a:p>
                  </a:txBody>
                  <a:tcPr marL="95250" marR="95250" marT="76200" marB="76200" anchor="ctr"/>
                </a:tc>
                <a:extLst>
                  <a:ext uri="{0D108BD9-81ED-4DB2-BD59-A6C34878D82A}">
                    <a16:rowId xmlns:a16="http://schemas.microsoft.com/office/drawing/2014/main" val="3755583868"/>
                  </a:ext>
                </a:extLst>
              </a:tr>
              <a:tr h="238125">
                <a:tc>
                  <a:txBody>
                    <a:bodyPr/>
                    <a:lstStyle/>
                    <a:p>
                      <a:pPr algn="ctr"/>
                      <a:r>
                        <a:rPr lang="en-IN" sz="2000">
                          <a:effectLst/>
                          <a:latin typeface="Trebuchet MS" panose="020B0603020202020204" pitchFamily="34" charset="0"/>
                        </a:rPr>
                        <a:t>Color</a:t>
                      </a:r>
                    </a:p>
                  </a:txBody>
                  <a:tcPr marL="95250" marR="95250" marT="76200" marB="76200" anchor="ctr"/>
                </a:tc>
                <a:tc>
                  <a:txBody>
                    <a:bodyPr/>
                    <a:lstStyle/>
                    <a:p>
                      <a:pPr algn="ctr"/>
                      <a:r>
                        <a:rPr lang="en-IN" sz="2000" dirty="0">
                          <a:effectLst/>
                          <a:latin typeface="Trebuchet MS" panose="020B0603020202020204" pitchFamily="34" charset="0"/>
                        </a:rPr>
                        <a:t>C1</a:t>
                      </a:r>
                    </a:p>
                  </a:txBody>
                  <a:tcPr marL="95250" marR="95250" marT="76200" marB="76200" anchor="ctr"/>
                </a:tc>
                <a:tc>
                  <a:txBody>
                    <a:bodyPr/>
                    <a:lstStyle/>
                    <a:p>
                      <a:pPr algn="ctr"/>
                      <a:r>
                        <a:rPr lang="en-IN" sz="2000" dirty="0">
                          <a:effectLst/>
                          <a:latin typeface="Trebuchet MS" panose="020B0603020202020204" pitchFamily="34" charset="0"/>
                        </a:rPr>
                        <a:t>C2</a:t>
                      </a:r>
                    </a:p>
                  </a:txBody>
                  <a:tcPr marL="95250" marR="95250" marT="76200" marB="76200" anchor="ctr"/>
                </a:tc>
                <a:tc>
                  <a:txBody>
                    <a:bodyPr/>
                    <a:lstStyle/>
                    <a:p>
                      <a:pPr algn="ctr"/>
                      <a:r>
                        <a:rPr lang="en-IN" sz="2000" dirty="0">
                          <a:effectLst/>
                          <a:latin typeface="Trebuchet MS" panose="020B0603020202020204" pitchFamily="34" charset="0"/>
                        </a:rPr>
                        <a:t>C2</a:t>
                      </a:r>
                    </a:p>
                  </a:txBody>
                  <a:tcPr marL="95250" marR="95250" marT="76200" marB="76200" anchor="ctr"/>
                </a:tc>
                <a:tc>
                  <a:txBody>
                    <a:bodyPr/>
                    <a:lstStyle/>
                    <a:p>
                      <a:pPr algn="ctr"/>
                      <a:r>
                        <a:rPr lang="en-IN" sz="2000" dirty="0">
                          <a:effectLst/>
                          <a:latin typeface="Trebuchet MS" panose="020B0603020202020204" pitchFamily="34" charset="0"/>
                        </a:rPr>
                        <a:t>C3</a:t>
                      </a:r>
                    </a:p>
                  </a:txBody>
                  <a:tcPr marL="95250" marR="95250" marT="76200" marB="76200" anchor="ctr"/>
                </a:tc>
                <a:tc>
                  <a:txBody>
                    <a:bodyPr/>
                    <a:lstStyle/>
                    <a:p>
                      <a:pPr algn="ctr"/>
                      <a:r>
                        <a:rPr lang="en-IN" sz="2000" dirty="0">
                          <a:effectLst/>
                          <a:latin typeface="Trebuchet MS" panose="020B0603020202020204" pitchFamily="34" charset="0"/>
                        </a:rPr>
                        <a:t>C3</a:t>
                      </a:r>
                    </a:p>
                  </a:txBody>
                  <a:tcPr marL="95250" marR="95250" marT="76200" marB="76200" anchor="ctr"/>
                </a:tc>
                <a:tc>
                  <a:txBody>
                    <a:bodyPr/>
                    <a:lstStyle/>
                    <a:p>
                      <a:pPr algn="ctr"/>
                      <a:r>
                        <a:rPr lang="en-IN" sz="2000" dirty="0">
                          <a:effectLst/>
                          <a:latin typeface="Trebuchet MS" panose="020B0603020202020204" pitchFamily="34" charset="0"/>
                        </a:rPr>
                        <a:t>C1</a:t>
                      </a:r>
                    </a:p>
                  </a:txBody>
                  <a:tcPr marL="95250" marR="95250" marT="76200" marB="76200" anchor="ctr"/>
                </a:tc>
                <a:extLst>
                  <a:ext uri="{0D108BD9-81ED-4DB2-BD59-A6C34878D82A}">
                    <a16:rowId xmlns:a16="http://schemas.microsoft.com/office/drawing/2014/main" val="4009549060"/>
                  </a:ext>
                </a:extLst>
              </a:tr>
            </a:tbl>
          </a:graphicData>
        </a:graphic>
      </p:graphicFrame>
      <p:sp>
        <p:nvSpPr>
          <p:cNvPr id="9" name="Rectangle 8"/>
          <p:cNvSpPr/>
          <p:nvPr/>
        </p:nvSpPr>
        <p:spPr>
          <a:xfrm>
            <a:off x="246743" y="3908231"/>
            <a:ext cx="6638450" cy="2246769"/>
          </a:xfrm>
          <a:prstGeom prst="rect">
            <a:avLst/>
          </a:prstGeom>
        </p:spPr>
        <p:txBody>
          <a:bodyPr wrap="square">
            <a:spAutoFit/>
          </a:bodyPr>
          <a:lstStyle/>
          <a:p>
            <a:r>
              <a:rPr lang="en-US" sz="2000" dirty="0" smtClean="0">
                <a:latin typeface="Trebuchet MS" panose="020B0603020202020204" pitchFamily="34" charset="0"/>
              </a:rPr>
              <a:t>Here</a:t>
            </a:r>
            <a:endParaRPr lang="en-US" sz="2000" dirty="0">
              <a:latin typeface="Trebuchet MS" panose="020B0603020202020204" pitchFamily="34" charset="0"/>
            </a:endParaRPr>
          </a:p>
          <a:p>
            <a:pPr marL="342900" indent="-342900">
              <a:buFont typeface="Arial" panose="020B0604020202020204" pitchFamily="34" charset="0"/>
              <a:buChar char="•"/>
            </a:pPr>
            <a:r>
              <a:rPr lang="en-US" sz="2000" dirty="0">
                <a:latin typeface="Trebuchet MS" panose="020B0603020202020204" pitchFamily="34" charset="0"/>
              </a:rPr>
              <a:t>Minimum number of colors used to color the given graph are 3.</a:t>
            </a:r>
          </a:p>
          <a:p>
            <a:pPr marL="342900" indent="-342900">
              <a:buFont typeface="Arial" panose="020B0604020202020204" pitchFamily="34" charset="0"/>
              <a:buChar char="•"/>
            </a:pPr>
            <a:r>
              <a:rPr lang="en-US" sz="2000" dirty="0">
                <a:latin typeface="Trebuchet MS" panose="020B0603020202020204" pitchFamily="34" charset="0"/>
              </a:rPr>
              <a:t>Therefore, Chromatic Number of the given graph = 3</a:t>
            </a:r>
            <a:r>
              <a:rPr lang="en-US" sz="2000" dirty="0" smtClean="0">
                <a:latin typeface="Trebuchet MS" panose="020B0603020202020204" pitchFamily="34" charset="0"/>
              </a:rPr>
              <a:t>.</a:t>
            </a:r>
            <a:r>
              <a:rPr lang="en-US" sz="2000" dirty="0">
                <a:latin typeface="Trebuchet MS" panose="020B0603020202020204" pitchFamily="34" charset="0"/>
              </a:rPr>
              <a:t> </a:t>
            </a:r>
          </a:p>
          <a:p>
            <a:pPr marL="342900" indent="-342900">
              <a:buFont typeface="Arial" panose="020B0604020202020204" pitchFamily="34" charset="0"/>
              <a:buChar char="•"/>
            </a:pPr>
            <a:r>
              <a:rPr lang="en-US" sz="2000" dirty="0">
                <a:latin typeface="Trebuchet MS" panose="020B0603020202020204" pitchFamily="34" charset="0"/>
              </a:rPr>
              <a:t>The given graph may be properly colored using 3 colors as shown below</a:t>
            </a:r>
            <a:endParaRPr lang="en-US" sz="2000" b="0" i="0" dirty="0">
              <a:effectLst/>
              <a:latin typeface="Trebuchet MS" panose="020B0603020202020204" pitchFamily="34" charset="0"/>
            </a:endParaRPr>
          </a:p>
        </p:txBody>
      </p:sp>
      <p:pic>
        <p:nvPicPr>
          <p:cNvPr id="10" name="Picture 9"/>
          <p:cNvPicPr>
            <a:picLocks noChangeAspect="1"/>
          </p:cNvPicPr>
          <p:nvPr/>
        </p:nvPicPr>
        <p:blipFill>
          <a:blip r:embed="rId7"/>
          <a:stretch>
            <a:fillRect/>
          </a:stretch>
        </p:blipFill>
        <p:spPr>
          <a:xfrm>
            <a:off x="6933930" y="3574704"/>
            <a:ext cx="4962525" cy="2590800"/>
          </a:xfrm>
          <a:prstGeom prst="rect">
            <a:avLst/>
          </a:prstGeom>
        </p:spPr>
      </p:pic>
    </p:spTree>
    <p:extLst>
      <p:ext uri="{BB962C8B-B14F-4D97-AF65-F5344CB8AC3E}">
        <p14:creationId xmlns:p14="http://schemas.microsoft.com/office/powerpoint/2010/main" val="233494587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pic>
        <p:nvPicPr>
          <p:cNvPr id="4" name="Picture 3"/>
          <p:cNvPicPr>
            <a:picLocks noChangeAspect="1"/>
          </p:cNvPicPr>
          <p:nvPr/>
        </p:nvPicPr>
        <p:blipFill rotWithShape="1">
          <a:blip r:embed="rId6"/>
          <a:srcRect r="2439"/>
          <a:stretch/>
        </p:blipFill>
        <p:spPr>
          <a:xfrm>
            <a:off x="246743" y="1214591"/>
            <a:ext cx="4841451" cy="2590800"/>
          </a:xfrm>
          <a:prstGeom prst="rect">
            <a:avLst/>
          </a:prstGeom>
        </p:spPr>
      </p:pic>
      <p:sp>
        <p:nvSpPr>
          <p:cNvPr id="5" name="Rectangle 4"/>
          <p:cNvSpPr/>
          <p:nvPr/>
        </p:nvSpPr>
        <p:spPr>
          <a:xfrm>
            <a:off x="246743" y="964368"/>
            <a:ext cx="1476686" cy="400110"/>
          </a:xfrm>
          <a:prstGeom prst="rect">
            <a:avLst/>
          </a:prstGeom>
        </p:spPr>
        <p:txBody>
          <a:bodyPr wrap="none">
            <a:spAutoFit/>
          </a:bodyPr>
          <a:lstStyle/>
          <a:p>
            <a:r>
              <a:rPr lang="en-US" sz="2000" b="1" dirty="0" smtClean="0">
                <a:solidFill>
                  <a:srgbClr val="0070C0"/>
                </a:solidFill>
                <a:latin typeface="Trebuchet MS" panose="020B0603020202020204" pitchFamily="34" charset="0"/>
              </a:rPr>
              <a:t>Example 2</a:t>
            </a:r>
            <a:r>
              <a:rPr lang="en-US" b="1" dirty="0" smtClean="0">
                <a:solidFill>
                  <a:srgbClr val="0070C0"/>
                </a:solidFill>
                <a:latin typeface="Corbel" panose="020B0503020204020204" pitchFamily="34" charset="0"/>
              </a:rPr>
              <a:t> </a:t>
            </a:r>
            <a:endParaRPr lang="en-IN" dirty="0">
              <a:solidFill>
                <a:srgbClr val="0070C0"/>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1849604981"/>
              </p:ext>
            </p:extLst>
          </p:nvPr>
        </p:nvGraphicFramePr>
        <p:xfrm>
          <a:off x="6824958" y="1640470"/>
          <a:ext cx="4638084" cy="914400"/>
        </p:xfrm>
        <a:graphic>
          <a:graphicData uri="http://schemas.openxmlformats.org/drawingml/2006/table">
            <a:tbl>
              <a:tblPr>
                <a:tableStyleId>{616DA210-FB5B-4158-B5E0-FEB733F419BA}</a:tableStyleId>
              </a:tblPr>
              <a:tblGrid>
                <a:gridCol w="982355">
                  <a:extLst>
                    <a:ext uri="{9D8B030D-6E8A-4147-A177-3AD203B41FA5}">
                      <a16:colId xmlns:a16="http://schemas.microsoft.com/office/drawing/2014/main" val="4170935996"/>
                    </a:ext>
                  </a:extLst>
                </a:gridCol>
                <a:gridCol w="573720">
                  <a:extLst>
                    <a:ext uri="{9D8B030D-6E8A-4147-A177-3AD203B41FA5}">
                      <a16:colId xmlns:a16="http://schemas.microsoft.com/office/drawing/2014/main" val="3185847699"/>
                    </a:ext>
                  </a:extLst>
                </a:gridCol>
                <a:gridCol w="609217">
                  <a:extLst>
                    <a:ext uri="{9D8B030D-6E8A-4147-A177-3AD203B41FA5}">
                      <a16:colId xmlns:a16="http://schemas.microsoft.com/office/drawing/2014/main" val="2864956697"/>
                    </a:ext>
                  </a:extLst>
                </a:gridCol>
                <a:gridCol w="595195">
                  <a:extLst>
                    <a:ext uri="{9D8B030D-6E8A-4147-A177-3AD203B41FA5}">
                      <a16:colId xmlns:a16="http://schemas.microsoft.com/office/drawing/2014/main" val="553239810"/>
                    </a:ext>
                  </a:extLst>
                </a:gridCol>
                <a:gridCol w="612939">
                  <a:extLst>
                    <a:ext uri="{9D8B030D-6E8A-4147-A177-3AD203B41FA5}">
                      <a16:colId xmlns:a16="http://schemas.microsoft.com/office/drawing/2014/main" val="3277204333"/>
                    </a:ext>
                  </a:extLst>
                </a:gridCol>
                <a:gridCol w="621892">
                  <a:extLst>
                    <a:ext uri="{9D8B030D-6E8A-4147-A177-3AD203B41FA5}">
                      <a16:colId xmlns:a16="http://schemas.microsoft.com/office/drawing/2014/main" val="3112933617"/>
                    </a:ext>
                  </a:extLst>
                </a:gridCol>
                <a:gridCol w="642766">
                  <a:extLst>
                    <a:ext uri="{9D8B030D-6E8A-4147-A177-3AD203B41FA5}">
                      <a16:colId xmlns:a16="http://schemas.microsoft.com/office/drawing/2014/main" val="754019175"/>
                    </a:ext>
                  </a:extLst>
                </a:gridCol>
              </a:tblGrid>
              <a:tr h="238125">
                <a:tc>
                  <a:txBody>
                    <a:bodyPr/>
                    <a:lstStyle/>
                    <a:p>
                      <a:pPr algn="ctr"/>
                      <a:r>
                        <a:rPr lang="en-IN" sz="2000" dirty="0">
                          <a:effectLst/>
                          <a:latin typeface="Trebuchet MS" panose="020B0603020202020204" pitchFamily="34" charset="0"/>
                        </a:rPr>
                        <a:t>Vertex</a:t>
                      </a:r>
                    </a:p>
                  </a:txBody>
                  <a:tcPr marL="95250" marR="95250" marT="76200" marB="76200" anchor="ctr"/>
                </a:tc>
                <a:tc>
                  <a:txBody>
                    <a:bodyPr/>
                    <a:lstStyle/>
                    <a:p>
                      <a:pPr algn="ctr"/>
                      <a:r>
                        <a:rPr lang="en-IN" sz="2000" dirty="0">
                          <a:effectLst/>
                          <a:latin typeface="Trebuchet MS" panose="020B0603020202020204" pitchFamily="34" charset="0"/>
                        </a:rPr>
                        <a:t>a</a:t>
                      </a:r>
                    </a:p>
                  </a:txBody>
                  <a:tcPr marL="95250" marR="95250" marT="76200" marB="76200" anchor="ctr"/>
                </a:tc>
                <a:tc>
                  <a:txBody>
                    <a:bodyPr/>
                    <a:lstStyle/>
                    <a:p>
                      <a:pPr algn="ctr"/>
                      <a:r>
                        <a:rPr lang="en-IN" sz="2000" dirty="0">
                          <a:effectLst/>
                          <a:latin typeface="Trebuchet MS" panose="020B0603020202020204" pitchFamily="34" charset="0"/>
                        </a:rPr>
                        <a:t>b</a:t>
                      </a:r>
                    </a:p>
                  </a:txBody>
                  <a:tcPr marL="95250" marR="95250" marT="76200" marB="76200" anchor="ctr"/>
                </a:tc>
                <a:tc>
                  <a:txBody>
                    <a:bodyPr/>
                    <a:lstStyle/>
                    <a:p>
                      <a:pPr algn="ctr"/>
                      <a:r>
                        <a:rPr lang="en-IN" sz="2000">
                          <a:effectLst/>
                          <a:latin typeface="Trebuchet MS" panose="020B0603020202020204" pitchFamily="34" charset="0"/>
                        </a:rPr>
                        <a:t>c</a:t>
                      </a:r>
                    </a:p>
                  </a:txBody>
                  <a:tcPr marL="95250" marR="95250" marT="76200" marB="76200" anchor="ctr"/>
                </a:tc>
                <a:tc>
                  <a:txBody>
                    <a:bodyPr/>
                    <a:lstStyle/>
                    <a:p>
                      <a:pPr algn="ctr"/>
                      <a:r>
                        <a:rPr lang="en-IN" sz="2000">
                          <a:effectLst/>
                          <a:latin typeface="Trebuchet MS" panose="020B0603020202020204" pitchFamily="34" charset="0"/>
                        </a:rPr>
                        <a:t>d</a:t>
                      </a:r>
                    </a:p>
                  </a:txBody>
                  <a:tcPr marL="95250" marR="95250" marT="76200" marB="76200" anchor="ctr"/>
                </a:tc>
                <a:tc>
                  <a:txBody>
                    <a:bodyPr/>
                    <a:lstStyle/>
                    <a:p>
                      <a:pPr algn="ctr"/>
                      <a:r>
                        <a:rPr lang="en-IN" sz="2000">
                          <a:effectLst/>
                          <a:latin typeface="Trebuchet MS" panose="020B0603020202020204" pitchFamily="34" charset="0"/>
                        </a:rPr>
                        <a:t>e</a:t>
                      </a:r>
                    </a:p>
                  </a:txBody>
                  <a:tcPr marL="95250" marR="95250" marT="76200" marB="76200" anchor="ctr"/>
                </a:tc>
                <a:tc>
                  <a:txBody>
                    <a:bodyPr/>
                    <a:lstStyle/>
                    <a:p>
                      <a:pPr algn="ctr"/>
                      <a:r>
                        <a:rPr lang="en-IN" sz="2000">
                          <a:effectLst/>
                          <a:latin typeface="Trebuchet MS" panose="020B0603020202020204" pitchFamily="34" charset="0"/>
                        </a:rPr>
                        <a:t>f</a:t>
                      </a:r>
                    </a:p>
                  </a:txBody>
                  <a:tcPr marL="95250" marR="95250" marT="76200" marB="76200" anchor="ctr"/>
                </a:tc>
                <a:extLst>
                  <a:ext uri="{0D108BD9-81ED-4DB2-BD59-A6C34878D82A}">
                    <a16:rowId xmlns:a16="http://schemas.microsoft.com/office/drawing/2014/main" val="3755583868"/>
                  </a:ext>
                </a:extLst>
              </a:tr>
              <a:tr h="238125">
                <a:tc>
                  <a:txBody>
                    <a:bodyPr/>
                    <a:lstStyle/>
                    <a:p>
                      <a:pPr algn="ctr"/>
                      <a:r>
                        <a:rPr lang="en-IN" sz="2000">
                          <a:effectLst/>
                          <a:latin typeface="Trebuchet MS" panose="020B0603020202020204" pitchFamily="34" charset="0"/>
                        </a:rPr>
                        <a:t>Color</a:t>
                      </a:r>
                    </a:p>
                  </a:txBody>
                  <a:tcPr marL="95250" marR="95250" marT="76200" marB="76200" anchor="ctr"/>
                </a:tc>
                <a:tc>
                  <a:txBody>
                    <a:bodyPr/>
                    <a:lstStyle/>
                    <a:p>
                      <a:pPr algn="ctr"/>
                      <a:r>
                        <a:rPr lang="en-IN" sz="2000" dirty="0">
                          <a:effectLst/>
                          <a:latin typeface="Trebuchet MS" panose="020B0603020202020204" pitchFamily="34" charset="0"/>
                        </a:rPr>
                        <a:t>C1</a:t>
                      </a:r>
                    </a:p>
                  </a:txBody>
                  <a:tcPr marL="95250" marR="95250" marT="76200" marB="76200" anchor="ctr"/>
                </a:tc>
                <a:tc>
                  <a:txBody>
                    <a:bodyPr/>
                    <a:lstStyle/>
                    <a:p>
                      <a:pPr algn="ctr"/>
                      <a:r>
                        <a:rPr lang="en-IN" sz="2000" dirty="0">
                          <a:effectLst/>
                          <a:latin typeface="Trebuchet MS" panose="020B0603020202020204" pitchFamily="34" charset="0"/>
                        </a:rPr>
                        <a:t>C2</a:t>
                      </a:r>
                    </a:p>
                  </a:txBody>
                  <a:tcPr marL="95250" marR="95250" marT="76200" marB="76200" anchor="ctr"/>
                </a:tc>
                <a:tc>
                  <a:txBody>
                    <a:bodyPr/>
                    <a:lstStyle/>
                    <a:p>
                      <a:pPr algn="ctr"/>
                      <a:r>
                        <a:rPr lang="en-IN" sz="2000" dirty="0">
                          <a:effectLst/>
                          <a:latin typeface="Trebuchet MS" panose="020B0603020202020204" pitchFamily="34" charset="0"/>
                        </a:rPr>
                        <a:t>C2</a:t>
                      </a:r>
                    </a:p>
                  </a:txBody>
                  <a:tcPr marL="95250" marR="95250" marT="76200" marB="76200" anchor="ctr"/>
                </a:tc>
                <a:tc>
                  <a:txBody>
                    <a:bodyPr/>
                    <a:lstStyle/>
                    <a:p>
                      <a:pPr algn="ctr"/>
                      <a:r>
                        <a:rPr lang="en-IN" sz="2000" dirty="0">
                          <a:effectLst/>
                          <a:latin typeface="Trebuchet MS" panose="020B0603020202020204" pitchFamily="34" charset="0"/>
                        </a:rPr>
                        <a:t>C3</a:t>
                      </a:r>
                    </a:p>
                  </a:txBody>
                  <a:tcPr marL="95250" marR="95250" marT="76200" marB="76200" anchor="ctr"/>
                </a:tc>
                <a:tc>
                  <a:txBody>
                    <a:bodyPr/>
                    <a:lstStyle/>
                    <a:p>
                      <a:pPr algn="ctr"/>
                      <a:r>
                        <a:rPr lang="en-IN" sz="2000" dirty="0">
                          <a:effectLst/>
                          <a:latin typeface="Trebuchet MS" panose="020B0603020202020204" pitchFamily="34" charset="0"/>
                        </a:rPr>
                        <a:t>C3</a:t>
                      </a:r>
                    </a:p>
                  </a:txBody>
                  <a:tcPr marL="95250" marR="95250" marT="76200" marB="76200" anchor="ctr"/>
                </a:tc>
                <a:tc>
                  <a:txBody>
                    <a:bodyPr/>
                    <a:lstStyle/>
                    <a:p>
                      <a:pPr algn="ctr"/>
                      <a:r>
                        <a:rPr lang="en-IN" sz="2000" dirty="0">
                          <a:effectLst/>
                          <a:latin typeface="Trebuchet MS" panose="020B0603020202020204" pitchFamily="34" charset="0"/>
                        </a:rPr>
                        <a:t>C1</a:t>
                      </a:r>
                    </a:p>
                  </a:txBody>
                  <a:tcPr marL="95250" marR="95250" marT="76200" marB="76200" anchor="ctr"/>
                </a:tc>
                <a:extLst>
                  <a:ext uri="{0D108BD9-81ED-4DB2-BD59-A6C34878D82A}">
                    <a16:rowId xmlns:a16="http://schemas.microsoft.com/office/drawing/2014/main" val="4009549060"/>
                  </a:ext>
                </a:extLst>
              </a:tr>
            </a:tbl>
          </a:graphicData>
        </a:graphic>
      </p:graphicFrame>
      <p:sp>
        <p:nvSpPr>
          <p:cNvPr id="9" name="Rectangle 8"/>
          <p:cNvSpPr/>
          <p:nvPr/>
        </p:nvSpPr>
        <p:spPr>
          <a:xfrm>
            <a:off x="246743" y="3908231"/>
            <a:ext cx="6638450" cy="2246769"/>
          </a:xfrm>
          <a:prstGeom prst="rect">
            <a:avLst/>
          </a:prstGeom>
        </p:spPr>
        <p:txBody>
          <a:bodyPr wrap="square">
            <a:spAutoFit/>
          </a:bodyPr>
          <a:lstStyle/>
          <a:p>
            <a:r>
              <a:rPr lang="en-US" sz="2000" dirty="0" smtClean="0">
                <a:latin typeface="Trebuchet MS" panose="020B0603020202020204" pitchFamily="34" charset="0"/>
              </a:rPr>
              <a:t>Here</a:t>
            </a:r>
            <a:endParaRPr lang="en-US" sz="2000" dirty="0">
              <a:latin typeface="Trebuchet MS" panose="020B0603020202020204" pitchFamily="34" charset="0"/>
            </a:endParaRPr>
          </a:p>
          <a:p>
            <a:pPr marL="342900" indent="-342900">
              <a:buFont typeface="Arial" panose="020B0604020202020204" pitchFamily="34" charset="0"/>
              <a:buChar char="•"/>
            </a:pPr>
            <a:r>
              <a:rPr lang="en-US" sz="2000" dirty="0">
                <a:latin typeface="Trebuchet MS" panose="020B0603020202020204" pitchFamily="34" charset="0"/>
              </a:rPr>
              <a:t>Minimum number of colors used to color the given graph are 3.</a:t>
            </a:r>
          </a:p>
          <a:p>
            <a:pPr marL="342900" indent="-342900">
              <a:buFont typeface="Arial" panose="020B0604020202020204" pitchFamily="34" charset="0"/>
              <a:buChar char="•"/>
            </a:pPr>
            <a:r>
              <a:rPr lang="en-US" sz="2000" dirty="0">
                <a:latin typeface="Trebuchet MS" panose="020B0603020202020204" pitchFamily="34" charset="0"/>
              </a:rPr>
              <a:t>Therefore, Chromatic Number of the given graph = 3</a:t>
            </a:r>
            <a:r>
              <a:rPr lang="en-US" sz="2000" dirty="0" smtClean="0">
                <a:latin typeface="Trebuchet MS" panose="020B0603020202020204" pitchFamily="34" charset="0"/>
              </a:rPr>
              <a:t>.</a:t>
            </a:r>
            <a:r>
              <a:rPr lang="en-US" sz="2000" dirty="0">
                <a:latin typeface="Trebuchet MS" panose="020B0603020202020204" pitchFamily="34" charset="0"/>
              </a:rPr>
              <a:t> </a:t>
            </a:r>
          </a:p>
          <a:p>
            <a:pPr marL="342900" indent="-342900">
              <a:buFont typeface="Arial" panose="020B0604020202020204" pitchFamily="34" charset="0"/>
              <a:buChar char="•"/>
            </a:pPr>
            <a:r>
              <a:rPr lang="en-US" sz="2000" dirty="0">
                <a:latin typeface="Trebuchet MS" panose="020B0603020202020204" pitchFamily="34" charset="0"/>
              </a:rPr>
              <a:t>The given graph may be properly colored using 3 colors as shown below</a:t>
            </a:r>
            <a:endParaRPr lang="en-US" sz="2000" b="0" i="0" dirty="0">
              <a:effectLst/>
              <a:latin typeface="Trebuchet MS" panose="020B0603020202020204" pitchFamily="34" charset="0"/>
            </a:endParaRPr>
          </a:p>
        </p:txBody>
      </p:sp>
      <p:pic>
        <p:nvPicPr>
          <p:cNvPr id="10" name="Picture 9"/>
          <p:cNvPicPr>
            <a:picLocks noChangeAspect="1"/>
          </p:cNvPicPr>
          <p:nvPr/>
        </p:nvPicPr>
        <p:blipFill>
          <a:blip r:embed="rId7"/>
          <a:stretch>
            <a:fillRect/>
          </a:stretch>
        </p:blipFill>
        <p:spPr>
          <a:xfrm>
            <a:off x="6933930" y="3574704"/>
            <a:ext cx="4962525" cy="2590800"/>
          </a:xfrm>
          <a:prstGeom prst="rect">
            <a:avLst/>
          </a:prstGeom>
        </p:spPr>
      </p:pic>
    </p:spTree>
    <p:extLst>
      <p:ext uri="{BB962C8B-B14F-4D97-AF65-F5344CB8AC3E}">
        <p14:creationId xmlns:p14="http://schemas.microsoft.com/office/powerpoint/2010/main" val="285517059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sp>
        <p:nvSpPr>
          <p:cNvPr id="5" name="Rectangle 4"/>
          <p:cNvSpPr/>
          <p:nvPr/>
        </p:nvSpPr>
        <p:spPr>
          <a:xfrm>
            <a:off x="246742" y="964368"/>
            <a:ext cx="1729541" cy="400110"/>
          </a:xfrm>
          <a:prstGeom prst="rect">
            <a:avLst/>
          </a:prstGeom>
        </p:spPr>
        <p:txBody>
          <a:bodyPr wrap="square">
            <a:spAutoFit/>
          </a:bodyPr>
          <a:lstStyle/>
          <a:p>
            <a:r>
              <a:rPr lang="en-US" sz="2000" b="1" dirty="0" smtClean="0">
                <a:solidFill>
                  <a:srgbClr val="0070C0"/>
                </a:solidFill>
                <a:latin typeface="Trebuchet MS" panose="020B0603020202020204" pitchFamily="34" charset="0"/>
              </a:rPr>
              <a:t> Exercise </a:t>
            </a:r>
            <a:r>
              <a:rPr lang="en-US" b="1" dirty="0" smtClean="0">
                <a:solidFill>
                  <a:srgbClr val="0070C0"/>
                </a:solidFill>
                <a:latin typeface="Corbel" panose="020B0503020204020204" pitchFamily="34" charset="0"/>
              </a:rPr>
              <a:t>  </a:t>
            </a:r>
            <a:endParaRPr lang="en-IN" dirty="0">
              <a:solidFill>
                <a:srgbClr val="0070C0"/>
              </a:solidFill>
            </a:endParaRPr>
          </a:p>
        </p:txBody>
      </p:sp>
      <p:pic>
        <p:nvPicPr>
          <p:cNvPr id="3" name="Picture 2"/>
          <p:cNvPicPr>
            <a:picLocks noChangeAspect="1"/>
          </p:cNvPicPr>
          <p:nvPr/>
        </p:nvPicPr>
        <p:blipFill>
          <a:blip r:embed="rId6">
            <a:extLst>
              <a:ext uri="{BEBA8EAE-BF5A-486C-A8C5-ECC9F3942E4B}">
                <a14:imgProps xmlns:a14="http://schemas.microsoft.com/office/drawing/2010/main">
                  <a14:imgLayer r:embed="rId7">
                    <a14:imgEffect>
                      <a14:saturation sat="33000"/>
                    </a14:imgEffect>
                  </a14:imgLayer>
                </a14:imgProps>
              </a:ext>
            </a:extLst>
          </a:blip>
          <a:stretch>
            <a:fillRect/>
          </a:stretch>
        </p:blipFill>
        <p:spPr>
          <a:xfrm>
            <a:off x="906539" y="1986315"/>
            <a:ext cx="4581525" cy="3072382"/>
          </a:xfrm>
          <a:prstGeom prst="rect">
            <a:avLst/>
          </a:prstGeom>
        </p:spPr>
      </p:pic>
      <p:pic>
        <p:nvPicPr>
          <p:cNvPr id="8" name="Picture 7"/>
          <p:cNvPicPr>
            <a:picLocks noChangeAspect="1"/>
          </p:cNvPicPr>
          <p:nvPr/>
        </p:nvPicPr>
        <p:blipFill>
          <a:blip r:embed="rId8">
            <a:extLst>
              <a:ext uri="{BEBA8EAE-BF5A-486C-A8C5-ECC9F3942E4B}">
                <a14:imgProps xmlns:a14="http://schemas.microsoft.com/office/drawing/2010/main">
                  <a14:imgLayer r:embed="rId9">
                    <a14:imgEffect>
                      <a14:saturation sat="33000"/>
                    </a14:imgEffect>
                  </a14:imgLayer>
                </a14:imgProps>
              </a:ext>
            </a:extLst>
          </a:blip>
          <a:stretch>
            <a:fillRect/>
          </a:stretch>
        </p:blipFill>
        <p:spPr>
          <a:xfrm>
            <a:off x="6065084" y="2326721"/>
            <a:ext cx="3752850" cy="2569743"/>
          </a:xfrm>
          <a:prstGeom prst="rect">
            <a:avLst/>
          </a:prstGeom>
        </p:spPr>
      </p:pic>
    </p:spTree>
    <p:extLst>
      <p:ext uri="{BB962C8B-B14F-4D97-AF65-F5344CB8AC3E}">
        <p14:creationId xmlns:p14="http://schemas.microsoft.com/office/powerpoint/2010/main" val="58911427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9439325"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Travelling Salesman </a:t>
            </a:r>
            <a:r>
              <a:rPr lang="en-US" sz="3600" b="1" dirty="0">
                <a:solidFill>
                  <a:schemeClr val="bg1"/>
                </a:solidFill>
                <a:latin typeface="Corbel" panose="020B0503020204020204" pitchFamily="34" charset="0"/>
              </a:rPr>
              <a:t>Problem</a:t>
            </a:r>
            <a:endParaRPr lang="en-IN" sz="3600" b="1" dirty="0">
              <a:solidFill>
                <a:schemeClr val="bg1"/>
              </a:solidFill>
              <a:latin typeface="Corbel" panose="020B0503020204020204" pitchFamily="34" charset="0"/>
            </a:endParaRPr>
          </a:p>
        </p:txBody>
      </p:sp>
      <p:sp>
        <p:nvSpPr>
          <p:cNvPr id="4" name="Rectangle 3"/>
          <p:cNvSpPr/>
          <p:nvPr/>
        </p:nvSpPr>
        <p:spPr>
          <a:xfrm>
            <a:off x="246742" y="999208"/>
            <a:ext cx="11565091" cy="5262979"/>
          </a:xfrm>
          <a:prstGeom prst="rect">
            <a:avLst/>
          </a:prstGeom>
        </p:spPr>
        <p:txBody>
          <a:bodyPr wrap="square">
            <a:spAutoFit/>
          </a:bodyPr>
          <a:lstStyle/>
          <a:p>
            <a:pPr marL="342900" indent="-342900">
              <a:lnSpc>
                <a:spcPct val="200000"/>
              </a:lnSpc>
              <a:buFont typeface="Arial" panose="020B0604020202020204" pitchFamily="34" charset="0"/>
              <a:buChar char="•"/>
            </a:pPr>
            <a:r>
              <a:rPr lang="en-US" sz="2400" dirty="0" smtClean="0">
                <a:solidFill>
                  <a:srgbClr val="273239"/>
                </a:solidFill>
                <a:latin typeface="Trebuchet MS" panose="020B0603020202020204" pitchFamily="34" charset="0"/>
              </a:rPr>
              <a:t>Given </a:t>
            </a:r>
            <a:r>
              <a:rPr lang="en-US" sz="2400" dirty="0">
                <a:solidFill>
                  <a:srgbClr val="273239"/>
                </a:solidFill>
                <a:latin typeface="Trebuchet MS" panose="020B0603020202020204" pitchFamily="34" charset="0"/>
              </a:rPr>
              <a:t>a set of cities and distance between every pair of cities, the problem is to </a:t>
            </a:r>
            <a:r>
              <a:rPr lang="en-US" sz="2400" dirty="0">
                <a:solidFill>
                  <a:srgbClr val="0070C0"/>
                </a:solidFill>
                <a:latin typeface="Trebuchet MS" panose="020B0603020202020204" pitchFamily="34" charset="0"/>
              </a:rPr>
              <a:t>find the shortest possible route that visits every city exactly once</a:t>
            </a:r>
            <a:r>
              <a:rPr lang="en-US" sz="2400" dirty="0">
                <a:solidFill>
                  <a:srgbClr val="273239"/>
                </a:solidFill>
                <a:latin typeface="Trebuchet MS" panose="020B0603020202020204" pitchFamily="34" charset="0"/>
              </a:rPr>
              <a:t> and </a:t>
            </a:r>
            <a:r>
              <a:rPr lang="en-US" sz="2400" dirty="0">
                <a:solidFill>
                  <a:srgbClr val="0070C0"/>
                </a:solidFill>
                <a:latin typeface="Trebuchet MS" panose="020B0603020202020204" pitchFamily="34" charset="0"/>
              </a:rPr>
              <a:t>returns back </a:t>
            </a:r>
            <a:r>
              <a:rPr lang="en-US" sz="2400" dirty="0">
                <a:solidFill>
                  <a:srgbClr val="273239"/>
                </a:solidFill>
                <a:latin typeface="Trebuchet MS" panose="020B0603020202020204" pitchFamily="34" charset="0"/>
              </a:rPr>
              <a:t>to the starting point</a:t>
            </a:r>
            <a:r>
              <a:rPr lang="en-US" sz="2400" dirty="0" smtClean="0">
                <a:solidFill>
                  <a:srgbClr val="273239"/>
                </a:solidFill>
                <a:latin typeface="Trebuchet MS" panose="020B0603020202020204" pitchFamily="34" charset="0"/>
              </a:rPr>
              <a:t>.</a:t>
            </a:r>
          </a:p>
          <a:p>
            <a:pPr marL="342900" indent="-342900">
              <a:lnSpc>
                <a:spcPct val="200000"/>
              </a:lnSpc>
              <a:buFont typeface="Arial" panose="020B0604020202020204" pitchFamily="34" charset="0"/>
              <a:buChar char="•"/>
            </a:pPr>
            <a:r>
              <a:rPr lang="en-US" sz="2400" dirty="0" smtClean="0">
                <a:latin typeface="Trebuchet MS" panose="020B0603020202020204" pitchFamily="34" charset="0"/>
              </a:rPr>
              <a:t>The difference </a:t>
            </a:r>
            <a:r>
              <a:rPr lang="en-US" sz="2400" dirty="0">
                <a:latin typeface="Trebuchet MS" panose="020B0603020202020204" pitchFamily="34" charset="0"/>
              </a:rPr>
              <a:t>between </a:t>
            </a:r>
            <a:r>
              <a:rPr lang="en-US" sz="2400" dirty="0">
                <a:solidFill>
                  <a:srgbClr val="0070C0"/>
                </a:solidFill>
                <a:latin typeface="Trebuchet MS" panose="020B0603020202020204" pitchFamily="34" charset="0"/>
              </a:rPr>
              <a:t>Hamiltonian Cycle </a:t>
            </a:r>
            <a:r>
              <a:rPr lang="en-US" sz="2400" dirty="0">
                <a:latin typeface="Trebuchet MS" panose="020B0603020202020204" pitchFamily="34" charset="0"/>
              </a:rPr>
              <a:t>and </a:t>
            </a:r>
            <a:r>
              <a:rPr lang="en-US" sz="2400" dirty="0" smtClean="0">
                <a:solidFill>
                  <a:srgbClr val="0070C0"/>
                </a:solidFill>
                <a:latin typeface="Trebuchet MS" panose="020B0603020202020204" pitchFamily="34" charset="0"/>
              </a:rPr>
              <a:t>TSP</a:t>
            </a:r>
            <a:r>
              <a:rPr lang="en-US" sz="2400" dirty="0">
                <a:latin typeface="Trebuchet MS" panose="020B0603020202020204" pitchFamily="34" charset="0"/>
              </a:rPr>
              <a:t> </a:t>
            </a:r>
            <a:r>
              <a:rPr lang="en-US" sz="2400" dirty="0" smtClean="0">
                <a:latin typeface="Trebuchet MS" panose="020B0603020202020204" pitchFamily="34" charset="0"/>
              </a:rPr>
              <a:t>is Hamiltonian </a:t>
            </a:r>
            <a:r>
              <a:rPr lang="en-US" sz="2400" dirty="0">
                <a:latin typeface="Trebuchet MS" panose="020B0603020202020204" pitchFamily="34" charset="0"/>
              </a:rPr>
              <a:t>cycle problem is to find if there exist a tour that visits every city exactly once. </a:t>
            </a:r>
            <a:endParaRPr lang="en-US" sz="2400" dirty="0" smtClean="0">
              <a:latin typeface="Trebuchet MS" panose="020B0603020202020204" pitchFamily="34" charset="0"/>
            </a:endParaRPr>
          </a:p>
          <a:p>
            <a:pPr marL="342900" indent="-342900">
              <a:lnSpc>
                <a:spcPct val="200000"/>
              </a:lnSpc>
              <a:buFont typeface="Arial" panose="020B0604020202020204" pitchFamily="34" charset="0"/>
              <a:buChar char="•"/>
            </a:pPr>
            <a:r>
              <a:rPr lang="en-US" sz="2400" dirty="0">
                <a:latin typeface="Trebuchet MS" panose="020B0603020202020204" pitchFamily="34" charset="0"/>
              </a:rPr>
              <a:t>This problem can be solved using </a:t>
            </a:r>
            <a:r>
              <a:rPr lang="en-US" sz="2400" dirty="0">
                <a:solidFill>
                  <a:srgbClr val="0070C0"/>
                </a:solidFill>
                <a:latin typeface="Trebuchet MS" panose="020B0603020202020204" pitchFamily="34" charset="0"/>
              </a:rPr>
              <a:t>backtracking to explore all possible routes </a:t>
            </a:r>
            <a:r>
              <a:rPr lang="en-US" sz="2400" dirty="0">
                <a:latin typeface="Trebuchet MS" panose="020B0603020202020204" pitchFamily="34" charset="0"/>
              </a:rPr>
              <a:t>and find the optimal solution</a:t>
            </a:r>
            <a:r>
              <a:rPr lang="en-US" sz="2400" dirty="0" smtClean="0">
                <a:latin typeface="Trebuchet MS" panose="020B0603020202020204" pitchFamily="34" charset="0"/>
              </a:rPr>
              <a:t>.</a:t>
            </a:r>
          </a:p>
        </p:txBody>
      </p:sp>
    </p:spTree>
    <p:extLst>
      <p:ext uri="{BB962C8B-B14F-4D97-AF65-F5344CB8AC3E}">
        <p14:creationId xmlns:p14="http://schemas.microsoft.com/office/powerpoint/2010/main" val="208583809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9439325"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Travelling Salesman </a:t>
            </a:r>
            <a:r>
              <a:rPr lang="en-US" sz="3600" b="1" dirty="0">
                <a:solidFill>
                  <a:schemeClr val="bg1"/>
                </a:solidFill>
                <a:latin typeface="Corbel" panose="020B0503020204020204" pitchFamily="34" charset="0"/>
              </a:rPr>
              <a:t>Problem</a:t>
            </a:r>
            <a:endParaRPr lang="en-IN" sz="3600" b="1" dirty="0">
              <a:solidFill>
                <a:schemeClr val="bg1"/>
              </a:solidFill>
              <a:latin typeface="Corbel" panose="020B0503020204020204" pitchFamily="34" charset="0"/>
            </a:endParaRPr>
          </a:p>
        </p:txBody>
      </p:sp>
      <p:sp>
        <p:nvSpPr>
          <p:cNvPr id="4" name="Rectangle 3"/>
          <p:cNvSpPr/>
          <p:nvPr/>
        </p:nvSpPr>
        <p:spPr>
          <a:xfrm>
            <a:off x="246743" y="999208"/>
            <a:ext cx="11276632" cy="578492"/>
          </a:xfrm>
          <a:prstGeom prst="rect">
            <a:avLst/>
          </a:prstGeom>
        </p:spPr>
        <p:txBody>
          <a:bodyPr wrap="square">
            <a:spAutoFit/>
          </a:bodyPr>
          <a:lstStyle/>
          <a:p>
            <a:pPr>
              <a:lnSpc>
                <a:spcPct val="150000"/>
              </a:lnSpc>
            </a:pPr>
            <a:endParaRPr lang="en-IN" sz="2400" dirty="0">
              <a:latin typeface="Trebuchet MS" panose="020B0603020202020204" pitchFamily="34" charset="0"/>
            </a:endParaRPr>
          </a:p>
        </p:txBody>
      </p:sp>
      <p:sp>
        <p:nvSpPr>
          <p:cNvPr id="3" name="Rectangle 2"/>
          <p:cNvSpPr/>
          <p:nvPr/>
        </p:nvSpPr>
        <p:spPr>
          <a:xfrm>
            <a:off x="363792" y="1036233"/>
            <a:ext cx="11448041" cy="5632311"/>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Approach to Solve TSP using Backtracking</a:t>
            </a:r>
          </a:p>
          <a:p>
            <a:pPr marL="342900" indent="-342900">
              <a:lnSpc>
                <a:spcPct val="150000"/>
              </a:lnSpc>
              <a:buFont typeface="Arial" panose="020B0604020202020204" pitchFamily="34" charset="0"/>
              <a:buChar char="•"/>
            </a:pPr>
            <a:r>
              <a:rPr lang="en-US" sz="2400" dirty="0">
                <a:latin typeface="Trebuchet MS" panose="020B0603020202020204" pitchFamily="34" charset="0"/>
              </a:rPr>
              <a:t>In the backtracking approach, we explore each city and recursively check all paths to calculate the minimum cost path. </a:t>
            </a:r>
            <a:endParaRPr lang="en-IN" sz="2400" dirty="0">
              <a:latin typeface="Trebuchet MS" panose="020B0603020202020204" pitchFamily="34" charset="0"/>
            </a:endParaRPr>
          </a:p>
          <a:p>
            <a:pPr marL="342900" lvl="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At </a:t>
            </a:r>
            <a:r>
              <a:rPr lang="en-US" sz="2400" dirty="0">
                <a:solidFill>
                  <a:srgbClr val="000000"/>
                </a:solidFill>
                <a:latin typeface="Trebuchet MS" panose="020B0603020202020204" pitchFamily="34" charset="0"/>
              </a:rPr>
              <a:t>each step, we try to go to an unvisited city, calculate the cost of that route, and backtrack if it’s not optimal, to try other possibilities</a:t>
            </a:r>
            <a:r>
              <a:rPr lang="en-US" sz="2400" dirty="0" smtClean="0">
                <a:solidFill>
                  <a:srgbClr val="000000"/>
                </a:solidFill>
                <a:latin typeface="Trebuchet MS" panose="020B0603020202020204" pitchFamily="34" charset="0"/>
              </a:rPr>
              <a:t>.</a:t>
            </a:r>
          </a:p>
          <a:p>
            <a:pPr lvl="0">
              <a:lnSpc>
                <a:spcPct val="150000"/>
              </a:lnSpc>
            </a:pPr>
            <a:r>
              <a:rPr lang="en-US" sz="2400" dirty="0" smtClean="0">
                <a:solidFill>
                  <a:srgbClr val="0070C0"/>
                </a:solidFill>
                <a:latin typeface="Trebuchet MS" panose="020B0603020202020204" pitchFamily="34" charset="0"/>
              </a:rPr>
              <a:t>Complexity</a:t>
            </a:r>
          </a:p>
          <a:p>
            <a:pPr marL="342900" lvl="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The </a:t>
            </a:r>
            <a:r>
              <a:rPr lang="en-US" sz="2400" dirty="0">
                <a:solidFill>
                  <a:srgbClr val="000000"/>
                </a:solidFill>
                <a:latin typeface="Trebuchet MS" panose="020B0603020202020204" pitchFamily="34" charset="0"/>
              </a:rPr>
              <a:t>backtracking solution to TSP has </a:t>
            </a:r>
            <a:r>
              <a:rPr lang="en-US" sz="2400" dirty="0">
                <a:solidFill>
                  <a:srgbClr val="0070C0"/>
                </a:solidFill>
                <a:latin typeface="Trebuchet MS" panose="020B0603020202020204" pitchFamily="34" charset="0"/>
              </a:rPr>
              <a:t>O(n!) </a:t>
            </a:r>
            <a:r>
              <a:rPr lang="en-US" sz="2400" dirty="0">
                <a:solidFill>
                  <a:srgbClr val="000000"/>
                </a:solidFill>
                <a:latin typeface="Trebuchet MS" panose="020B0603020202020204" pitchFamily="34" charset="0"/>
              </a:rPr>
              <a:t>time complexity because it explores all possible permutations of cities. </a:t>
            </a:r>
            <a:endParaRPr lang="en-US" sz="2400" dirty="0" smtClean="0">
              <a:solidFill>
                <a:srgbClr val="000000"/>
              </a:solidFill>
              <a:latin typeface="Trebuchet MS" panose="020B0603020202020204" pitchFamily="34" charset="0"/>
            </a:endParaRPr>
          </a:p>
          <a:p>
            <a:pPr marL="342900" lvl="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This </a:t>
            </a:r>
            <a:r>
              <a:rPr lang="en-US" sz="2400" dirty="0">
                <a:solidFill>
                  <a:srgbClr val="000000"/>
                </a:solidFill>
                <a:latin typeface="Trebuchet MS" panose="020B0603020202020204" pitchFamily="34" charset="0"/>
              </a:rPr>
              <a:t>approach is feasible only for small instances (typically n ≤ 10), as the time complexity grows </a:t>
            </a:r>
            <a:r>
              <a:rPr lang="en-US" sz="2400" dirty="0" err="1">
                <a:solidFill>
                  <a:srgbClr val="000000"/>
                </a:solidFill>
                <a:latin typeface="Trebuchet MS" panose="020B0603020202020204" pitchFamily="34" charset="0"/>
              </a:rPr>
              <a:t>factorially</a:t>
            </a:r>
            <a:r>
              <a:rPr lang="en-US" sz="2400" dirty="0">
                <a:solidFill>
                  <a:srgbClr val="000000"/>
                </a:solidFill>
                <a:latin typeface="Trebuchet MS" panose="020B0603020202020204" pitchFamily="34" charset="0"/>
              </a:rPr>
              <a:t> with the number of cities</a:t>
            </a:r>
            <a:r>
              <a:rPr lang="en-US" sz="2400" dirty="0" smtClean="0">
                <a:solidFill>
                  <a:srgbClr val="000000"/>
                </a:solidFill>
                <a:latin typeface="Trebuchet MS" panose="020B0603020202020204" pitchFamily="34" charset="0"/>
              </a:rPr>
              <a:t>.</a:t>
            </a:r>
            <a:endParaRPr lang="en-US" sz="2400" dirty="0" smtClean="0">
              <a:latin typeface="Trebuchet MS" panose="020B0603020202020204" pitchFamily="34" charset="0"/>
            </a:endParaRPr>
          </a:p>
        </p:txBody>
      </p:sp>
    </p:spTree>
    <p:extLst>
      <p:ext uri="{BB962C8B-B14F-4D97-AF65-F5344CB8AC3E}">
        <p14:creationId xmlns:p14="http://schemas.microsoft.com/office/powerpoint/2010/main" val="188047941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9439325"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Travelling Salesman </a:t>
            </a:r>
            <a:r>
              <a:rPr lang="en-US" sz="3600" b="1" dirty="0">
                <a:solidFill>
                  <a:schemeClr val="bg1"/>
                </a:solidFill>
                <a:latin typeface="Corbel" panose="020B0503020204020204" pitchFamily="34" charset="0"/>
              </a:rPr>
              <a:t>Problem</a:t>
            </a:r>
            <a:endParaRPr lang="en-IN" sz="3600" b="1" dirty="0">
              <a:solidFill>
                <a:schemeClr val="bg1"/>
              </a:solidFill>
              <a:latin typeface="Corbel" panose="020B0503020204020204" pitchFamily="34" charset="0"/>
            </a:endParaRPr>
          </a:p>
        </p:txBody>
      </p:sp>
      <p:sp>
        <p:nvSpPr>
          <p:cNvPr id="4" name="Rectangle 3"/>
          <p:cNvSpPr/>
          <p:nvPr/>
        </p:nvSpPr>
        <p:spPr>
          <a:xfrm>
            <a:off x="246743" y="999208"/>
            <a:ext cx="11276632" cy="578492"/>
          </a:xfrm>
          <a:prstGeom prst="rect">
            <a:avLst/>
          </a:prstGeom>
        </p:spPr>
        <p:txBody>
          <a:bodyPr wrap="square">
            <a:spAutoFit/>
          </a:bodyPr>
          <a:lstStyle/>
          <a:p>
            <a:pPr>
              <a:lnSpc>
                <a:spcPct val="150000"/>
              </a:lnSpc>
            </a:pPr>
            <a:endParaRPr lang="en-IN" sz="2400" dirty="0">
              <a:latin typeface="Trebuchet MS" panose="020B0603020202020204" pitchFamily="34" charset="0"/>
            </a:endParaRPr>
          </a:p>
        </p:txBody>
      </p:sp>
      <p:sp>
        <p:nvSpPr>
          <p:cNvPr id="3" name="Rectangle 2"/>
          <p:cNvSpPr/>
          <p:nvPr/>
        </p:nvSpPr>
        <p:spPr>
          <a:xfrm>
            <a:off x="363792" y="1036233"/>
            <a:ext cx="11448041" cy="5010474"/>
          </a:xfrm>
          <a:prstGeom prst="rect">
            <a:avLst/>
          </a:prstGeom>
        </p:spPr>
        <p:txBody>
          <a:bodyPr wrap="square">
            <a:spAutoFit/>
          </a:bodyPr>
          <a:lstStyle/>
          <a:p>
            <a:pPr lvl="0">
              <a:lnSpc>
                <a:spcPct val="150000"/>
              </a:lnSpc>
            </a:pPr>
            <a:r>
              <a:rPr lang="en-US" sz="2400" dirty="0">
                <a:solidFill>
                  <a:srgbClr val="FF0000"/>
                </a:solidFill>
                <a:latin typeface="Trebuchet MS" panose="020B0603020202020204" pitchFamily="34" charset="0"/>
              </a:rPr>
              <a:t>Steps of the Backtracking Approach</a:t>
            </a:r>
          </a:p>
          <a:p>
            <a:pPr marL="457200" lvl="0" indent="-457200">
              <a:lnSpc>
                <a:spcPct val="150000"/>
              </a:lnSpc>
              <a:buFont typeface="+mj-lt"/>
              <a:buAutoNum type="arabicParenR"/>
            </a:pPr>
            <a:r>
              <a:rPr lang="en-US" sz="2400" dirty="0">
                <a:solidFill>
                  <a:srgbClr val="0070C0"/>
                </a:solidFill>
                <a:latin typeface="Trebuchet MS" panose="020B0603020202020204" pitchFamily="34" charset="0"/>
              </a:rPr>
              <a:t>Start from a City: </a:t>
            </a:r>
            <a:r>
              <a:rPr lang="en-US" sz="2400" dirty="0">
                <a:latin typeface="Trebuchet MS" panose="020B0603020202020204" pitchFamily="34" charset="0"/>
              </a:rPr>
              <a:t>Choose an arbitrary starting city (typically city 0).</a:t>
            </a:r>
          </a:p>
          <a:p>
            <a:pPr marL="457200" lvl="0" indent="-457200">
              <a:lnSpc>
                <a:spcPct val="150000"/>
              </a:lnSpc>
              <a:buFont typeface="+mj-lt"/>
              <a:buAutoNum type="arabicParenR"/>
            </a:pPr>
            <a:r>
              <a:rPr lang="en-US" sz="2400" dirty="0">
                <a:solidFill>
                  <a:srgbClr val="0070C0"/>
                </a:solidFill>
                <a:latin typeface="Trebuchet MS" panose="020B0603020202020204" pitchFamily="34" charset="0"/>
              </a:rPr>
              <a:t>Explore All Possible Routes: </a:t>
            </a:r>
            <a:r>
              <a:rPr lang="en-US" sz="2400" dirty="0">
                <a:latin typeface="Trebuchet MS" panose="020B0603020202020204" pitchFamily="34" charset="0"/>
              </a:rPr>
              <a:t>From the current city, recursively visit all unvisited cities.</a:t>
            </a:r>
          </a:p>
          <a:p>
            <a:pPr marL="457200" lvl="0" indent="-457200">
              <a:lnSpc>
                <a:spcPct val="150000"/>
              </a:lnSpc>
              <a:buFont typeface="+mj-lt"/>
              <a:buAutoNum type="arabicParenR"/>
            </a:pPr>
            <a:r>
              <a:rPr lang="en-US" sz="2400" dirty="0">
                <a:solidFill>
                  <a:srgbClr val="0070C0"/>
                </a:solidFill>
                <a:latin typeface="Trebuchet MS" panose="020B0603020202020204" pitchFamily="34" charset="0"/>
              </a:rPr>
              <a:t>Calculate Cost: </a:t>
            </a:r>
            <a:r>
              <a:rPr lang="en-US" sz="2400" dirty="0">
                <a:latin typeface="Trebuchet MS" panose="020B0603020202020204" pitchFamily="34" charset="0"/>
              </a:rPr>
              <a:t>Keep a running total of the travel cost for the current path.</a:t>
            </a:r>
          </a:p>
          <a:p>
            <a:pPr marL="457200" lvl="0" indent="-457200">
              <a:lnSpc>
                <a:spcPct val="150000"/>
              </a:lnSpc>
              <a:buFont typeface="+mj-lt"/>
              <a:buAutoNum type="arabicParenR"/>
            </a:pPr>
            <a:r>
              <a:rPr lang="en-US" sz="2400" dirty="0">
                <a:solidFill>
                  <a:srgbClr val="0070C0"/>
                </a:solidFill>
                <a:latin typeface="Trebuchet MS" panose="020B0603020202020204" pitchFamily="34" charset="0"/>
              </a:rPr>
              <a:t>Prune: </a:t>
            </a:r>
            <a:r>
              <a:rPr lang="en-US" sz="2400" dirty="0">
                <a:latin typeface="Trebuchet MS" panose="020B0603020202020204" pitchFamily="34" charset="0"/>
              </a:rPr>
              <a:t>If the current path cost exceeds the minimum cost found so far, backtrack to prune the search.</a:t>
            </a:r>
          </a:p>
          <a:p>
            <a:pPr marL="457200" lvl="0" indent="-457200">
              <a:lnSpc>
                <a:spcPct val="150000"/>
              </a:lnSpc>
              <a:buFont typeface="+mj-lt"/>
              <a:buAutoNum type="arabicParenR"/>
            </a:pPr>
            <a:r>
              <a:rPr lang="en-US" sz="2400" dirty="0">
                <a:solidFill>
                  <a:srgbClr val="0070C0"/>
                </a:solidFill>
                <a:latin typeface="Trebuchet MS" panose="020B0603020202020204" pitchFamily="34" charset="0"/>
              </a:rPr>
              <a:t>Complete Cycle: </a:t>
            </a:r>
            <a:r>
              <a:rPr lang="en-US" sz="2400" dirty="0">
                <a:latin typeface="Trebuchet MS" panose="020B0603020202020204" pitchFamily="34" charset="0"/>
              </a:rPr>
              <a:t>Once all cities are visited, check if returning to the starting city produces a minimum-cost cycle.</a:t>
            </a:r>
            <a:endParaRPr lang="en-US" sz="2400" dirty="0" smtClean="0">
              <a:latin typeface="Trebuchet MS" panose="020B0603020202020204" pitchFamily="34" charset="0"/>
            </a:endParaRPr>
          </a:p>
        </p:txBody>
      </p:sp>
    </p:spTree>
    <p:extLst>
      <p:ext uri="{BB962C8B-B14F-4D97-AF65-F5344CB8AC3E}">
        <p14:creationId xmlns:p14="http://schemas.microsoft.com/office/powerpoint/2010/main" val="201742409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9439325"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Travelling Salesman </a:t>
            </a:r>
            <a:r>
              <a:rPr lang="en-US" sz="3600" b="1" dirty="0">
                <a:solidFill>
                  <a:schemeClr val="bg1"/>
                </a:solidFill>
                <a:latin typeface="Corbel" panose="020B0503020204020204" pitchFamily="34" charset="0"/>
              </a:rPr>
              <a:t>Problem</a:t>
            </a:r>
            <a:endParaRPr lang="en-IN" sz="3600" b="1" dirty="0">
              <a:solidFill>
                <a:schemeClr val="bg1"/>
              </a:solidFill>
              <a:latin typeface="Corbel" panose="020B0503020204020204" pitchFamily="34" charset="0"/>
            </a:endParaRPr>
          </a:p>
        </p:txBody>
      </p:sp>
      <p:sp>
        <p:nvSpPr>
          <p:cNvPr id="4" name="Rectangle 3"/>
          <p:cNvSpPr/>
          <p:nvPr/>
        </p:nvSpPr>
        <p:spPr>
          <a:xfrm>
            <a:off x="246743" y="999208"/>
            <a:ext cx="11276632" cy="578492"/>
          </a:xfrm>
          <a:prstGeom prst="rect">
            <a:avLst/>
          </a:prstGeom>
        </p:spPr>
        <p:txBody>
          <a:bodyPr wrap="square">
            <a:spAutoFit/>
          </a:bodyPr>
          <a:lstStyle/>
          <a:p>
            <a:pPr>
              <a:lnSpc>
                <a:spcPct val="150000"/>
              </a:lnSpc>
            </a:pPr>
            <a:endParaRPr lang="en-IN" sz="2400" dirty="0">
              <a:latin typeface="Trebuchet MS" panose="020B0603020202020204" pitchFamily="34" charset="0"/>
            </a:endParaRPr>
          </a:p>
        </p:txBody>
      </p:sp>
      <p:sp>
        <p:nvSpPr>
          <p:cNvPr id="3" name="Rectangle 2"/>
          <p:cNvSpPr/>
          <p:nvPr/>
        </p:nvSpPr>
        <p:spPr>
          <a:xfrm>
            <a:off x="246743" y="866771"/>
            <a:ext cx="11448041" cy="6065763"/>
          </a:xfrm>
          <a:prstGeom prst="rect">
            <a:avLst/>
          </a:prstGeom>
        </p:spPr>
        <p:txBody>
          <a:bodyPr wrap="square">
            <a:spAutoFit/>
          </a:bodyPr>
          <a:lstStyle/>
          <a:p>
            <a:pPr lvl="0"/>
            <a:r>
              <a:rPr lang="en-IN" sz="2400" b="1" u="sng" dirty="0" smtClean="0">
                <a:solidFill>
                  <a:srgbClr val="FF0000"/>
                </a:solidFill>
                <a:latin typeface="Trebuchet MS" panose="020B0603020202020204" pitchFamily="34" charset="0"/>
              </a:rPr>
              <a:t>Pseudocode </a:t>
            </a:r>
            <a:r>
              <a:rPr lang="en-IN" sz="2400" b="1" u="sng" dirty="0">
                <a:solidFill>
                  <a:srgbClr val="FF0000"/>
                </a:solidFill>
                <a:latin typeface="Trebuchet MS" panose="020B0603020202020204" pitchFamily="34" charset="0"/>
              </a:rPr>
              <a:t>for </a:t>
            </a:r>
            <a:r>
              <a:rPr lang="en-IN" sz="2400" b="1" u="sng" dirty="0" smtClean="0">
                <a:solidFill>
                  <a:srgbClr val="FF0000"/>
                </a:solidFill>
                <a:latin typeface="Trebuchet MS" panose="020B0603020202020204" pitchFamily="34" charset="0"/>
              </a:rPr>
              <a:t>TSP</a:t>
            </a:r>
          </a:p>
          <a:p>
            <a:pPr lvl="0">
              <a:lnSpc>
                <a:spcPts val="1900"/>
              </a:lnSpc>
            </a:pPr>
            <a:r>
              <a:rPr lang="en-US" sz="1600" b="1" dirty="0">
                <a:solidFill>
                  <a:srgbClr val="0070C0"/>
                </a:solidFill>
                <a:latin typeface="Trebuchet MS" panose="020B0603020202020204" pitchFamily="34" charset="0"/>
              </a:rPr>
              <a:t>Define constant:</a:t>
            </a:r>
          </a:p>
          <a:p>
            <a:pPr lvl="0">
              <a:lnSpc>
                <a:spcPts val="1900"/>
              </a:lnSpc>
            </a:pPr>
            <a:r>
              <a:rPr lang="en-US" sz="1600" b="1" dirty="0">
                <a:latin typeface="Trebuchet MS" panose="020B0603020202020204" pitchFamily="34" charset="0"/>
              </a:rPr>
              <a:t>    INF = a very large number</a:t>
            </a:r>
          </a:p>
          <a:p>
            <a:pPr lvl="0">
              <a:lnSpc>
                <a:spcPts val="1900"/>
              </a:lnSpc>
            </a:pPr>
            <a:endParaRPr lang="en-US" sz="1600" b="1" dirty="0">
              <a:latin typeface="Trebuchet MS" panose="020B0603020202020204" pitchFamily="34" charset="0"/>
            </a:endParaRPr>
          </a:p>
          <a:p>
            <a:pPr lvl="0">
              <a:lnSpc>
                <a:spcPts val="1900"/>
              </a:lnSpc>
            </a:pPr>
            <a:r>
              <a:rPr lang="en-US" sz="1600" b="1" dirty="0">
                <a:solidFill>
                  <a:srgbClr val="0070C0"/>
                </a:solidFill>
                <a:latin typeface="Trebuchet MS" panose="020B0603020202020204" pitchFamily="34" charset="0"/>
              </a:rPr>
              <a:t>Function TSP</a:t>
            </a:r>
            <a:r>
              <a:rPr lang="en-US" sz="1600" b="1" dirty="0">
                <a:latin typeface="Trebuchet MS" panose="020B0603020202020204" pitchFamily="34" charset="0"/>
              </a:rPr>
              <a:t>(</a:t>
            </a:r>
            <a:r>
              <a:rPr lang="en-US" sz="1600" b="1" dirty="0" err="1">
                <a:latin typeface="Trebuchet MS" panose="020B0603020202020204" pitchFamily="34" charset="0"/>
              </a:rPr>
              <a:t>current_city</a:t>
            </a:r>
            <a:r>
              <a:rPr lang="en-US" sz="1600" b="1" dirty="0">
                <a:latin typeface="Trebuchet MS" panose="020B0603020202020204" pitchFamily="34" charset="0"/>
              </a:rPr>
              <a:t>, </a:t>
            </a:r>
            <a:r>
              <a:rPr lang="en-US" sz="1600" b="1" dirty="0" err="1">
                <a:latin typeface="Trebuchet MS" panose="020B0603020202020204" pitchFamily="34" charset="0"/>
              </a:rPr>
              <a:t>visited_set</a:t>
            </a:r>
            <a:r>
              <a:rPr lang="en-US" sz="1600" b="1" dirty="0">
                <a:latin typeface="Trebuchet MS" panose="020B0603020202020204" pitchFamily="34" charset="0"/>
              </a:rPr>
              <a:t>, </a:t>
            </a:r>
            <a:r>
              <a:rPr lang="en-US" sz="1600" b="1" dirty="0" err="1">
                <a:latin typeface="Trebuchet MS" panose="020B0603020202020204" pitchFamily="34" charset="0"/>
              </a:rPr>
              <a:t>current_cost</a:t>
            </a:r>
            <a:r>
              <a:rPr lang="en-US" sz="1600" b="1" dirty="0">
                <a:latin typeface="Trebuchet MS" panose="020B0603020202020204" pitchFamily="34" charset="0"/>
              </a:rPr>
              <a:t>):</a:t>
            </a:r>
          </a:p>
          <a:p>
            <a:pPr lvl="0">
              <a:lnSpc>
                <a:spcPts val="1900"/>
              </a:lnSpc>
            </a:pPr>
            <a:r>
              <a:rPr lang="en-US" sz="1600" b="1" dirty="0">
                <a:latin typeface="Trebuchet MS" panose="020B0603020202020204" pitchFamily="34" charset="0"/>
              </a:rPr>
              <a:t>    </a:t>
            </a:r>
            <a:r>
              <a:rPr lang="en-US" sz="1600" b="1" dirty="0">
                <a:solidFill>
                  <a:srgbClr val="0070C0"/>
                </a:solidFill>
                <a:latin typeface="Trebuchet MS" panose="020B0603020202020204" pitchFamily="34" charset="0"/>
              </a:rPr>
              <a:t>Input:</a:t>
            </a:r>
          </a:p>
          <a:p>
            <a:pPr lvl="0">
              <a:lnSpc>
                <a:spcPts val="1900"/>
              </a:lnSpc>
            </a:pPr>
            <a:r>
              <a:rPr lang="en-US" sz="1600" b="1" dirty="0">
                <a:latin typeface="Trebuchet MS" panose="020B0603020202020204" pitchFamily="34" charset="0"/>
              </a:rPr>
              <a:t>        </a:t>
            </a:r>
            <a:r>
              <a:rPr lang="en-US" sz="1600" b="1" dirty="0" err="1">
                <a:latin typeface="Trebuchet MS" panose="020B0603020202020204" pitchFamily="34" charset="0"/>
              </a:rPr>
              <a:t>current_city</a:t>
            </a:r>
            <a:r>
              <a:rPr lang="en-US" sz="1600" b="1" dirty="0">
                <a:latin typeface="Trebuchet MS" panose="020B0603020202020204" pitchFamily="34" charset="0"/>
              </a:rPr>
              <a:t> - the city currently being explored</a:t>
            </a:r>
          </a:p>
          <a:p>
            <a:pPr lvl="0">
              <a:lnSpc>
                <a:spcPts val="1900"/>
              </a:lnSpc>
            </a:pPr>
            <a:r>
              <a:rPr lang="en-US" sz="1600" b="1" dirty="0">
                <a:latin typeface="Trebuchet MS" panose="020B0603020202020204" pitchFamily="34" charset="0"/>
              </a:rPr>
              <a:t>        </a:t>
            </a:r>
            <a:r>
              <a:rPr lang="en-US" sz="1600" b="1" dirty="0" err="1">
                <a:latin typeface="Trebuchet MS" panose="020B0603020202020204" pitchFamily="34" charset="0"/>
              </a:rPr>
              <a:t>visited_set</a:t>
            </a:r>
            <a:r>
              <a:rPr lang="en-US" sz="1600" b="1" dirty="0">
                <a:latin typeface="Trebuchet MS" panose="020B0603020202020204" pitchFamily="34" charset="0"/>
              </a:rPr>
              <a:t> - set of cities that have been visited</a:t>
            </a:r>
          </a:p>
          <a:p>
            <a:pPr lvl="0">
              <a:lnSpc>
                <a:spcPts val="1900"/>
              </a:lnSpc>
            </a:pPr>
            <a:r>
              <a:rPr lang="en-US" sz="1600" b="1" dirty="0">
                <a:latin typeface="Trebuchet MS" panose="020B0603020202020204" pitchFamily="34" charset="0"/>
              </a:rPr>
              <a:t>        </a:t>
            </a:r>
            <a:r>
              <a:rPr lang="en-US" sz="1600" b="1" dirty="0" err="1">
                <a:latin typeface="Trebuchet MS" panose="020B0603020202020204" pitchFamily="34" charset="0"/>
              </a:rPr>
              <a:t>current_cost</a:t>
            </a:r>
            <a:r>
              <a:rPr lang="en-US" sz="1600" b="1" dirty="0">
                <a:latin typeface="Trebuchet MS" panose="020B0603020202020204" pitchFamily="34" charset="0"/>
              </a:rPr>
              <a:t> - accumulated cost of the current path</a:t>
            </a:r>
          </a:p>
          <a:p>
            <a:pPr lvl="0">
              <a:lnSpc>
                <a:spcPts val="1900"/>
              </a:lnSpc>
            </a:pPr>
            <a:endParaRPr lang="en-US" sz="1600" b="1" dirty="0">
              <a:latin typeface="Trebuchet MS" panose="020B0603020202020204" pitchFamily="34" charset="0"/>
            </a:endParaRPr>
          </a:p>
          <a:p>
            <a:pPr lvl="0">
              <a:lnSpc>
                <a:spcPts val="1900"/>
              </a:lnSpc>
            </a:pPr>
            <a:r>
              <a:rPr lang="en-US" sz="1600" b="1" dirty="0">
                <a:latin typeface="Trebuchet MS" panose="020B0603020202020204" pitchFamily="34" charset="0"/>
              </a:rPr>
              <a:t>    if all cities have been visited:</a:t>
            </a:r>
          </a:p>
          <a:p>
            <a:pPr lvl="0">
              <a:lnSpc>
                <a:spcPts val="1900"/>
              </a:lnSpc>
            </a:pPr>
            <a:r>
              <a:rPr lang="en-US" sz="1600" b="1" dirty="0">
                <a:latin typeface="Trebuchet MS" panose="020B0603020202020204" pitchFamily="34" charset="0"/>
              </a:rPr>
              <a:t>        return </a:t>
            </a:r>
            <a:r>
              <a:rPr lang="en-US" sz="1600" b="1" dirty="0" err="1">
                <a:latin typeface="Trebuchet MS" panose="020B0603020202020204" pitchFamily="34" charset="0"/>
              </a:rPr>
              <a:t>current_cost</a:t>
            </a:r>
            <a:r>
              <a:rPr lang="en-US" sz="1600" b="1" dirty="0">
                <a:latin typeface="Trebuchet MS" panose="020B0603020202020204" pitchFamily="34" charset="0"/>
              </a:rPr>
              <a:t> + distance[</a:t>
            </a:r>
            <a:r>
              <a:rPr lang="en-US" sz="1600" b="1" dirty="0" err="1">
                <a:latin typeface="Trebuchet MS" panose="020B0603020202020204" pitchFamily="34" charset="0"/>
              </a:rPr>
              <a:t>current_city</a:t>
            </a:r>
            <a:r>
              <a:rPr lang="en-US" sz="1600" b="1" dirty="0">
                <a:latin typeface="Trebuchet MS" panose="020B0603020202020204" pitchFamily="34" charset="0"/>
              </a:rPr>
              <a:t>][</a:t>
            </a:r>
            <a:r>
              <a:rPr lang="en-US" sz="1600" b="1" dirty="0" err="1">
                <a:latin typeface="Trebuchet MS" panose="020B0603020202020204" pitchFamily="34" charset="0"/>
              </a:rPr>
              <a:t>start_city</a:t>
            </a:r>
            <a:r>
              <a:rPr lang="en-US" sz="1600" b="1" dirty="0">
                <a:latin typeface="Trebuchet MS" panose="020B0603020202020204" pitchFamily="34" charset="0"/>
              </a:rPr>
              <a:t>]  </a:t>
            </a:r>
            <a:r>
              <a:rPr lang="en-US" sz="1600" b="1" dirty="0">
                <a:solidFill>
                  <a:srgbClr val="C00000"/>
                </a:solidFill>
                <a:latin typeface="Trebuchet MS" panose="020B0603020202020204" pitchFamily="34" charset="0"/>
              </a:rPr>
              <a:t>// complete the cycle</a:t>
            </a:r>
          </a:p>
          <a:p>
            <a:pPr lvl="0">
              <a:lnSpc>
                <a:spcPts val="1900"/>
              </a:lnSpc>
            </a:pPr>
            <a:endParaRPr lang="en-US" sz="1600" b="1" dirty="0">
              <a:latin typeface="Trebuchet MS" panose="020B0603020202020204" pitchFamily="34" charset="0"/>
            </a:endParaRPr>
          </a:p>
          <a:p>
            <a:pPr lvl="0">
              <a:lnSpc>
                <a:spcPts val="1900"/>
              </a:lnSpc>
            </a:pPr>
            <a:r>
              <a:rPr lang="en-US" sz="1600" b="1" dirty="0">
                <a:latin typeface="Trebuchet MS" panose="020B0603020202020204" pitchFamily="34" charset="0"/>
              </a:rPr>
              <a:t>    </a:t>
            </a:r>
            <a:r>
              <a:rPr lang="en-US" sz="1600" b="1" dirty="0" err="1">
                <a:latin typeface="Trebuchet MS" panose="020B0603020202020204" pitchFamily="34" charset="0"/>
              </a:rPr>
              <a:t>min_cost</a:t>
            </a:r>
            <a:r>
              <a:rPr lang="en-US" sz="1600" b="1" dirty="0">
                <a:latin typeface="Trebuchet MS" panose="020B0603020202020204" pitchFamily="34" charset="0"/>
              </a:rPr>
              <a:t> = INF</a:t>
            </a:r>
          </a:p>
          <a:p>
            <a:pPr lvl="0">
              <a:lnSpc>
                <a:spcPts val="1900"/>
              </a:lnSpc>
            </a:pPr>
            <a:endParaRPr lang="en-US" sz="1600" b="1" dirty="0">
              <a:latin typeface="Trebuchet MS" panose="020B0603020202020204" pitchFamily="34" charset="0"/>
            </a:endParaRPr>
          </a:p>
          <a:p>
            <a:pPr lvl="0">
              <a:lnSpc>
                <a:spcPts val="1900"/>
              </a:lnSpc>
            </a:pPr>
            <a:r>
              <a:rPr lang="en-US" sz="1600" b="1" dirty="0">
                <a:latin typeface="Trebuchet MS" panose="020B0603020202020204" pitchFamily="34" charset="0"/>
              </a:rPr>
              <a:t>    for each city in range(N):</a:t>
            </a:r>
          </a:p>
          <a:p>
            <a:pPr lvl="0">
              <a:lnSpc>
                <a:spcPts val="1900"/>
              </a:lnSpc>
            </a:pPr>
            <a:r>
              <a:rPr lang="en-US" sz="1600" b="1" dirty="0">
                <a:latin typeface="Trebuchet MS" panose="020B0603020202020204" pitchFamily="34" charset="0"/>
              </a:rPr>
              <a:t>        if city is not in </a:t>
            </a:r>
            <a:r>
              <a:rPr lang="en-US" sz="1600" b="1" dirty="0" err="1">
                <a:latin typeface="Trebuchet MS" panose="020B0603020202020204" pitchFamily="34" charset="0"/>
              </a:rPr>
              <a:t>visited_set</a:t>
            </a:r>
            <a:r>
              <a:rPr lang="en-US" sz="1600" b="1" dirty="0">
                <a:latin typeface="Trebuchet MS" panose="020B0603020202020204" pitchFamily="34" charset="0"/>
              </a:rPr>
              <a:t>:</a:t>
            </a:r>
          </a:p>
          <a:p>
            <a:pPr lvl="0">
              <a:lnSpc>
                <a:spcPts val="1900"/>
              </a:lnSpc>
            </a:pPr>
            <a:r>
              <a:rPr lang="en-US" sz="1600" b="1" dirty="0">
                <a:latin typeface="Trebuchet MS" panose="020B0603020202020204" pitchFamily="34" charset="0"/>
              </a:rPr>
              <a:t>            Mark city as visited</a:t>
            </a:r>
          </a:p>
          <a:p>
            <a:pPr lvl="0">
              <a:lnSpc>
                <a:spcPts val="1900"/>
              </a:lnSpc>
            </a:pPr>
            <a:r>
              <a:rPr lang="en-US" sz="1600" b="1" dirty="0">
                <a:latin typeface="Trebuchet MS" panose="020B0603020202020204" pitchFamily="34" charset="0"/>
              </a:rPr>
              <a:t>            </a:t>
            </a:r>
            <a:r>
              <a:rPr lang="en-US" sz="1600" b="1" dirty="0" err="1">
                <a:latin typeface="Trebuchet MS" panose="020B0603020202020204" pitchFamily="34" charset="0"/>
              </a:rPr>
              <a:t>total_cost</a:t>
            </a:r>
            <a:r>
              <a:rPr lang="en-US" sz="1600" b="1" dirty="0">
                <a:latin typeface="Trebuchet MS" panose="020B0603020202020204" pitchFamily="34" charset="0"/>
              </a:rPr>
              <a:t> = TSP(city, </a:t>
            </a:r>
            <a:r>
              <a:rPr lang="en-US" sz="1600" b="1" dirty="0" err="1">
                <a:latin typeface="Trebuchet MS" panose="020B0603020202020204" pitchFamily="34" charset="0"/>
              </a:rPr>
              <a:t>visited_set</a:t>
            </a:r>
            <a:r>
              <a:rPr lang="en-US" sz="1600" b="1" dirty="0">
                <a:latin typeface="Trebuchet MS" panose="020B0603020202020204" pitchFamily="34" charset="0"/>
              </a:rPr>
              <a:t>, </a:t>
            </a:r>
            <a:r>
              <a:rPr lang="en-US" sz="1600" b="1" dirty="0" err="1">
                <a:latin typeface="Trebuchet MS" panose="020B0603020202020204" pitchFamily="34" charset="0"/>
              </a:rPr>
              <a:t>current_cost</a:t>
            </a:r>
            <a:r>
              <a:rPr lang="en-US" sz="1600" b="1" dirty="0">
                <a:latin typeface="Trebuchet MS" panose="020B0603020202020204" pitchFamily="34" charset="0"/>
              </a:rPr>
              <a:t> + distance[</a:t>
            </a:r>
            <a:r>
              <a:rPr lang="en-US" sz="1600" b="1" dirty="0" err="1">
                <a:latin typeface="Trebuchet MS" panose="020B0603020202020204" pitchFamily="34" charset="0"/>
              </a:rPr>
              <a:t>current_city</a:t>
            </a:r>
            <a:r>
              <a:rPr lang="en-US" sz="1600" b="1" dirty="0">
                <a:latin typeface="Trebuchet MS" panose="020B0603020202020204" pitchFamily="34" charset="0"/>
              </a:rPr>
              <a:t>][city])</a:t>
            </a:r>
          </a:p>
          <a:p>
            <a:pPr lvl="0">
              <a:lnSpc>
                <a:spcPts val="1900"/>
              </a:lnSpc>
            </a:pPr>
            <a:r>
              <a:rPr lang="en-US" sz="1600" b="1" dirty="0">
                <a:latin typeface="Trebuchet MS" panose="020B0603020202020204" pitchFamily="34" charset="0"/>
              </a:rPr>
              <a:t>            if </a:t>
            </a:r>
            <a:r>
              <a:rPr lang="en-US" sz="1600" b="1" dirty="0" err="1">
                <a:latin typeface="Trebuchet MS" panose="020B0603020202020204" pitchFamily="34" charset="0"/>
              </a:rPr>
              <a:t>total_cost</a:t>
            </a:r>
            <a:r>
              <a:rPr lang="en-US" sz="1600" b="1" dirty="0">
                <a:latin typeface="Trebuchet MS" panose="020B0603020202020204" pitchFamily="34" charset="0"/>
              </a:rPr>
              <a:t> &lt; </a:t>
            </a:r>
            <a:r>
              <a:rPr lang="en-US" sz="1600" b="1" dirty="0" err="1">
                <a:latin typeface="Trebuchet MS" panose="020B0603020202020204" pitchFamily="34" charset="0"/>
              </a:rPr>
              <a:t>min_cost</a:t>
            </a:r>
            <a:r>
              <a:rPr lang="en-US" sz="1600" b="1" dirty="0">
                <a:latin typeface="Trebuchet MS" panose="020B0603020202020204" pitchFamily="34" charset="0"/>
              </a:rPr>
              <a:t>:</a:t>
            </a:r>
          </a:p>
          <a:p>
            <a:pPr lvl="0">
              <a:lnSpc>
                <a:spcPts val="1900"/>
              </a:lnSpc>
            </a:pPr>
            <a:r>
              <a:rPr lang="en-US" sz="1600" b="1" dirty="0">
                <a:latin typeface="Trebuchet MS" panose="020B0603020202020204" pitchFamily="34" charset="0"/>
              </a:rPr>
              <a:t>                </a:t>
            </a:r>
            <a:r>
              <a:rPr lang="en-US" sz="1600" b="1" dirty="0" err="1">
                <a:latin typeface="Trebuchet MS" panose="020B0603020202020204" pitchFamily="34" charset="0"/>
              </a:rPr>
              <a:t>min_cost</a:t>
            </a:r>
            <a:r>
              <a:rPr lang="en-US" sz="1600" b="1" dirty="0">
                <a:latin typeface="Trebuchet MS" panose="020B0603020202020204" pitchFamily="34" charset="0"/>
              </a:rPr>
              <a:t> = </a:t>
            </a:r>
            <a:r>
              <a:rPr lang="en-US" sz="1600" b="1" dirty="0" err="1">
                <a:latin typeface="Trebuchet MS" panose="020B0603020202020204" pitchFamily="34" charset="0"/>
              </a:rPr>
              <a:t>total_cost</a:t>
            </a:r>
            <a:endParaRPr lang="en-US" sz="1600" b="1" dirty="0">
              <a:latin typeface="Trebuchet MS" panose="020B0603020202020204" pitchFamily="34" charset="0"/>
            </a:endParaRPr>
          </a:p>
          <a:p>
            <a:pPr lvl="0">
              <a:lnSpc>
                <a:spcPts val="1900"/>
              </a:lnSpc>
            </a:pPr>
            <a:r>
              <a:rPr lang="en-US" sz="1600" b="1" dirty="0">
                <a:latin typeface="Trebuchet MS" panose="020B0603020202020204" pitchFamily="34" charset="0"/>
              </a:rPr>
              <a:t>            Unmark city as visited  </a:t>
            </a:r>
            <a:r>
              <a:rPr lang="en-US" sz="1600" b="1" dirty="0">
                <a:solidFill>
                  <a:srgbClr val="C00000"/>
                </a:solidFill>
                <a:latin typeface="Trebuchet MS" panose="020B0603020202020204" pitchFamily="34" charset="0"/>
              </a:rPr>
              <a:t>// backtrack</a:t>
            </a:r>
          </a:p>
          <a:p>
            <a:pPr lvl="0">
              <a:lnSpc>
                <a:spcPts val="1900"/>
              </a:lnSpc>
            </a:pPr>
            <a:r>
              <a:rPr lang="en-US" sz="1600" b="1" dirty="0" smtClean="0">
                <a:latin typeface="Trebuchet MS" panose="020B0603020202020204" pitchFamily="34" charset="0"/>
              </a:rPr>
              <a:t>    </a:t>
            </a:r>
            <a:r>
              <a:rPr lang="en-US" sz="1600" b="1" dirty="0">
                <a:latin typeface="Trebuchet MS" panose="020B0603020202020204" pitchFamily="34" charset="0"/>
              </a:rPr>
              <a:t>return </a:t>
            </a:r>
            <a:r>
              <a:rPr lang="en-US" sz="1600" b="1" dirty="0" err="1">
                <a:latin typeface="Trebuchet MS" panose="020B0603020202020204" pitchFamily="34" charset="0"/>
              </a:rPr>
              <a:t>min_cost</a:t>
            </a:r>
            <a:r>
              <a:rPr lang="en-US" sz="1600" b="1" dirty="0">
                <a:latin typeface="Trebuchet MS" panose="020B0603020202020204" pitchFamily="34" charset="0"/>
              </a:rPr>
              <a:t>  </a:t>
            </a:r>
            <a:r>
              <a:rPr lang="en-US" sz="1600" b="1" dirty="0">
                <a:solidFill>
                  <a:srgbClr val="C00000"/>
                </a:solidFill>
                <a:latin typeface="Trebuchet MS" panose="020B0603020202020204" pitchFamily="34" charset="0"/>
              </a:rPr>
              <a:t>// return minimum cost found from </a:t>
            </a:r>
            <a:r>
              <a:rPr lang="en-US" sz="1600" b="1" dirty="0" err="1">
                <a:solidFill>
                  <a:srgbClr val="C00000"/>
                </a:solidFill>
                <a:latin typeface="Trebuchet MS" panose="020B0603020202020204" pitchFamily="34" charset="0"/>
              </a:rPr>
              <a:t>current_city</a:t>
            </a:r>
            <a:endParaRPr lang="en-US" sz="1600" b="1" dirty="0">
              <a:solidFill>
                <a:srgbClr val="C00000"/>
              </a:solidFill>
              <a:latin typeface="Trebuchet MS" panose="020B0603020202020204" pitchFamily="34" charset="0"/>
            </a:endParaRPr>
          </a:p>
          <a:p>
            <a:pPr lvl="0">
              <a:lnSpc>
                <a:spcPts val="1900"/>
              </a:lnSpc>
            </a:pPr>
            <a:endParaRPr lang="en-US" sz="1400" dirty="0">
              <a:latin typeface="Trebuchet MS" panose="020B0603020202020204" pitchFamily="34" charset="0"/>
            </a:endParaRPr>
          </a:p>
        </p:txBody>
      </p:sp>
    </p:spTree>
    <p:extLst>
      <p:ext uri="{BB962C8B-B14F-4D97-AF65-F5344CB8AC3E}">
        <p14:creationId xmlns:p14="http://schemas.microsoft.com/office/powerpoint/2010/main" val="94565321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9439325"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Travelling Salesman </a:t>
            </a:r>
            <a:r>
              <a:rPr lang="en-US" sz="3600" b="1" dirty="0">
                <a:solidFill>
                  <a:schemeClr val="bg1"/>
                </a:solidFill>
                <a:latin typeface="Corbel" panose="020B0503020204020204" pitchFamily="34" charset="0"/>
              </a:rPr>
              <a:t>Problem</a:t>
            </a:r>
            <a:endParaRPr lang="en-IN" sz="3600" b="1" dirty="0">
              <a:solidFill>
                <a:schemeClr val="bg1"/>
              </a:solidFill>
              <a:latin typeface="Corbel" panose="020B0503020204020204" pitchFamily="34" charset="0"/>
            </a:endParaRPr>
          </a:p>
        </p:txBody>
      </p:sp>
      <p:sp>
        <p:nvSpPr>
          <p:cNvPr id="4" name="Rectangle 3"/>
          <p:cNvSpPr/>
          <p:nvPr/>
        </p:nvSpPr>
        <p:spPr>
          <a:xfrm>
            <a:off x="246743" y="999208"/>
            <a:ext cx="11276632" cy="578492"/>
          </a:xfrm>
          <a:prstGeom prst="rect">
            <a:avLst/>
          </a:prstGeom>
        </p:spPr>
        <p:txBody>
          <a:bodyPr wrap="square">
            <a:spAutoFit/>
          </a:bodyPr>
          <a:lstStyle/>
          <a:p>
            <a:pPr>
              <a:lnSpc>
                <a:spcPct val="150000"/>
              </a:lnSpc>
            </a:pPr>
            <a:endParaRPr lang="en-IN" sz="2400" dirty="0">
              <a:latin typeface="Trebuchet MS" panose="020B0603020202020204" pitchFamily="34" charset="0"/>
            </a:endParaRPr>
          </a:p>
        </p:txBody>
      </p:sp>
      <p:pic>
        <p:nvPicPr>
          <p:cNvPr id="5" name="Picture 4"/>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1755058" y="992983"/>
            <a:ext cx="3441258" cy="2148423"/>
          </a:xfrm>
          <a:prstGeom prst="rect">
            <a:avLst/>
          </a:prstGeom>
        </p:spPr>
      </p:pic>
      <p:sp>
        <p:nvSpPr>
          <p:cNvPr id="6" name="Rectangle 5"/>
          <p:cNvSpPr/>
          <p:nvPr/>
        </p:nvSpPr>
        <p:spPr>
          <a:xfrm>
            <a:off x="246742" y="1109582"/>
            <a:ext cx="1404552" cy="461665"/>
          </a:xfrm>
          <a:prstGeom prst="rect">
            <a:avLst/>
          </a:prstGeom>
        </p:spPr>
        <p:txBody>
          <a:bodyPr wrap="none">
            <a:spAutoFit/>
          </a:bodyPr>
          <a:lstStyle/>
          <a:p>
            <a:r>
              <a:rPr lang="en-US" sz="2400" b="1" dirty="0" smtClean="0">
                <a:solidFill>
                  <a:srgbClr val="0070C0"/>
                </a:solidFill>
                <a:latin typeface="Trebuchet MS" panose="020B0603020202020204" pitchFamily="34" charset="0"/>
              </a:rPr>
              <a:t>Example</a:t>
            </a:r>
            <a:endParaRPr lang="en-IN" sz="2400" dirty="0">
              <a:solidFill>
                <a:srgbClr val="0070C0"/>
              </a:solidFill>
              <a:latin typeface="Trebuchet MS" panose="020B0603020202020204" pitchFamily="34" charset="0"/>
            </a:endParaRPr>
          </a:p>
        </p:txBody>
      </p:sp>
      <p:sp>
        <p:nvSpPr>
          <p:cNvPr id="8" name="Rectangle 7"/>
          <p:cNvSpPr/>
          <p:nvPr/>
        </p:nvSpPr>
        <p:spPr>
          <a:xfrm>
            <a:off x="6089617" y="2376652"/>
            <a:ext cx="6096000" cy="1200329"/>
          </a:xfrm>
          <a:prstGeom prst="rect">
            <a:avLst/>
          </a:prstGeom>
        </p:spPr>
        <p:txBody>
          <a:bodyPr>
            <a:spAutoFit/>
          </a:bodyPr>
          <a:lstStyle/>
          <a:p>
            <a:r>
              <a:rPr lang="en-US" b="1" i="1" dirty="0">
                <a:solidFill>
                  <a:srgbClr val="273239"/>
                </a:solidFill>
                <a:latin typeface="Nunito"/>
              </a:rPr>
              <a:t>Output of Given Graph:</a:t>
            </a:r>
            <a:r>
              <a:rPr lang="en-US" i="1" dirty="0">
                <a:solidFill>
                  <a:srgbClr val="273239"/>
                </a:solidFill>
                <a:latin typeface="Nunito"/>
              </a:rPr>
              <a:t> </a:t>
            </a:r>
            <a:r>
              <a:rPr lang="en-US" dirty="0"/>
              <a:t/>
            </a:r>
            <a:br>
              <a:rPr lang="en-US" dirty="0"/>
            </a:br>
            <a:r>
              <a:rPr lang="en-US" i="1" dirty="0">
                <a:solidFill>
                  <a:srgbClr val="273239"/>
                </a:solidFill>
                <a:latin typeface="Nunito"/>
              </a:rPr>
              <a:t>Minimum weight Hamiltonian Cycle : 10 + 25 + 30 + 15 = 80 </a:t>
            </a:r>
            <a:r>
              <a:rPr lang="en-US" dirty="0"/>
              <a:t/>
            </a:r>
            <a:br>
              <a:rPr lang="en-US" dirty="0"/>
            </a:br>
            <a:r>
              <a:rPr lang="en-US" i="1" dirty="0">
                <a:solidFill>
                  <a:srgbClr val="273239"/>
                </a:solidFill>
                <a:latin typeface="Nunito"/>
              </a:rPr>
              <a:t> </a:t>
            </a:r>
            <a:endParaRPr lang="en-IN" dirty="0"/>
          </a:p>
        </p:txBody>
      </p:sp>
      <p:sp>
        <p:nvSpPr>
          <p:cNvPr id="12" name="Rounded Rectangle 11"/>
          <p:cNvSpPr/>
          <p:nvPr/>
        </p:nvSpPr>
        <p:spPr>
          <a:xfrm>
            <a:off x="6843252" y="5947299"/>
            <a:ext cx="2448232" cy="553902"/>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9" name="Rectangle 8"/>
          <p:cNvSpPr/>
          <p:nvPr/>
        </p:nvSpPr>
        <p:spPr>
          <a:xfrm>
            <a:off x="130244" y="3180772"/>
            <a:ext cx="11931446" cy="3970318"/>
          </a:xfrm>
          <a:prstGeom prst="rect">
            <a:avLst/>
          </a:prstGeom>
        </p:spPr>
        <p:txBody>
          <a:bodyPr wrap="square">
            <a:spAutoFit/>
          </a:bodyPr>
          <a:lstStyle/>
          <a:p>
            <a:pPr>
              <a:lnSpc>
                <a:spcPct val="150000"/>
              </a:lnSpc>
            </a:pPr>
            <a:r>
              <a:rPr lang="en-US" sz="2400" b="1" u="sng" dirty="0">
                <a:latin typeface="Trebuchet MS" panose="020B0603020202020204" pitchFamily="34" charset="0"/>
              </a:rPr>
              <a:t>Solution Approach </a:t>
            </a:r>
            <a:endParaRPr lang="en-US" sz="2400" b="1" u="sng" dirty="0" smtClean="0">
              <a:latin typeface="Trebuchet MS" panose="020B0603020202020204" pitchFamily="34" charset="0"/>
            </a:endParaRPr>
          </a:p>
          <a:p>
            <a:pPr>
              <a:lnSpc>
                <a:spcPct val="150000"/>
              </a:lnSpc>
            </a:pPr>
            <a:r>
              <a:rPr lang="en-US" sz="2400" b="1" dirty="0" smtClean="0">
                <a:solidFill>
                  <a:srgbClr val="FF0000"/>
                </a:solidFill>
                <a:latin typeface="Trebuchet MS" panose="020B0603020202020204" pitchFamily="34" charset="0"/>
              </a:rPr>
              <a:t>Step1:</a:t>
            </a:r>
            <a:r>
              <a:rPr lang="en-US" sz="2400" b="1" dirty="0" smtClean="0">
                <a:latin typeface="Trebuchet MS" panose="020B0603020202020204" pitchFamily="34" charset="0"/>
              </a:rPr>
              <a:t> </a:t>
            </a:r>
            <a:r>
              <a:rPr lang="en-US" sz="2400" b="1" dirty="0" smtClean="0">
                <a:solidFill>
                  <a:srgbClr val="0070C0"/>
                </a:solidFill>
                <a:latin typeface="Trebuchet MS" panose="020B0603020202020204" pitchFamily="34" charset="0"/>
              </a:rPr>
              <a:t>Starting </a:t>
            </a:r>
            <a:r>
              <a:rPr lang="en-US" sz="2400" b="1" dirty="0">
                <a:solidFill>
                  <a:srgbClr val="0070C0"/>
                </a:solidFill>
                <a:latin typeface="Trebuchet MS" panose="020B0603020202020204" pitchFamily="34" charset="0"/>
              </a:rPr>
              <a:t>Node </a:t>
            </a:r>
            <a:r>
              <a:rPr lang="en-US" sz="2400" b="1" dirty="0" smtClean="0">
                <a:solidFill>
                  <a:srgbClr val="0070C0"/>
                </a:solidFill>
                <a:latin typeface="Trebuchet MS" panose="020B0603020202020204" pitchFamily="34" charset="0"/>
              </a:rPr>
              <a:t>Selection</a:t>
            </a:r>
            <a:endParaRPr lang="en-US" sz="2400" dirty="0">
              <a:solidFill>
                <a:srgbClr val="0070C0"/>
              </a:solidFill>
              <a:latin typeface="Trebuchet MS" panose="020B0603020202020204" pitchFamily="34" charset="0"/>
            </a:endParaRPr>
          </a:p>
          <a:p>
            <a:pPr marL="530225" lvl="1" indent="-354013">
              <a:lnSpc>
                <a:spcPct val="150000"/>
              </a:lnSpc>
              <a:buFont typeface="Arial" panose="020B0604020202020204" pitchFamily="34" charset="0"/>
              <a:buChar char="•"/>
            </a:pPr>
            <a:r>
              <a:rPr lang="en-US" sz="2400" dirty="0" smtClean="0">
                <a:latin typeface="Trebuchet MS" panose="020B0603020202020204" pitchFamily="34" charset="0"/>
              </a:rPr>
              <a:t>Choose </a:t>
            </a:r>
            <a:r>
              <a:rPr lang="en-US" sz="2400" dirty="0">
                <a:latin typeface="Trebuchet MS" panose="020B0603020202020204" pitchFamily="34" charset="0"/>
              </a:rPr>
              <a:t>city 1 (node 1) as the starting point. Because TSP is cyclic, we can start from any city and end at the same city.</a:t>
            </a:r>
          </a:p>
          <a:p>
            <a:pPr marL="530225" lvl="1" indent="-354013">
              <a:lnSpc>
                <a:spcPct val="150000"/>
              </a:lnSpc>
              <a:buFont typeface="Arial" panose="020B0604020202020204" pitchFamily="34" charset="0"/>
              <a:buChar char="•"/>
            </a:pPr>
            <a:r>
              <a:rPr lang="en-US" sz="2400" dirty="0">
                <a:latin typeface="Trebuchet MS" panose="020B0603020202020204" pitchFamily="34" charset="0"/>
              </a:rPr>
              <a:t>A</a:t>
            </a:r>
            <a:r>
              <a:rPr lang="en-US" sz="2400" dirty="0" smtClean="0">
                <a:latin typeface="Trebuchet MS" panose="020B0603020202020204" pitchFamily="34" charset="0"/>
              </a:rPr>
              <a:t>im </a:t>
            </a:r>
            <a:r>
              <a:rPr lang="en-US" sz="2400" dirty="0">
                <a:latin typeface="Trebuchet MS" panose="020B0603020202020204" pitchFamily="34" charset="0"/>
              </a:rPr>
              <a:t>to find a path that visits every other city once and returns to city 1, with the minimum possible travel cost</a:t>
            </a:r>
            <a:r>
              <a:rPr lang="en-US" sz="2400" dirty="0" smtClean="0">
                <a:latin typeface="Trebuchet MS" panose="020B0603020202020204" pitchFamily="34" charset="0"/>
              </a:rPr>
              <a:t>. So we choose 1 </a:t>
            </a:r>
            <a:r>
              <a:rPr lang="en-US" sz="2400" dirty="0">
                <a:latin typeface="Trebuchet MS" panose="020B0603020202020204" pitchFamily="34" charset="0"/>
              </a:rPr>
              <a:t>→ 2: Cost = </a:t>
            </a:r>
            <a:r>
              <a:rPr lang="en-US" sz="2400" dirty="0" smtClean="0">
                <a:latin typeface="Trebuchet MS" panose="020B0603020202020204" pitchFamily="34" charset="0"/>
              </a:rPr>
              <a:t>10</a:t>
            </a:r>
          </a:p>
          <a:p>
            <a:pPr marL="530225" lvl="1" indent="-354013">
              <a:lnSpc>
                <a:spcPct val="150000"/>
              </a:lnSpc>
              <a:buFont typeface="Arial" panose="020B0604020202020204" pitchFamily="34" charset="0"/>
              <a:buChar char="•"/>
            </a:pPr>
            <a:endParaRPr lang="en-US" sz="2400" dirty="0">
              <a:latin typeface="Trebuchet MS" panose="020B0603020202020204" pitchFamily="34" charset="0"/>
            </a:endParaRPr>
          </a:p>
        </p:txBody>
      </p:sp>
    </p:spTree>
    <p:extLst>
      <p:ext uri="{BB962C8B-B14F-4D97-AF65-F5344CB8AC3E}">
        <p14:creationId xmlns:p14="http://schemas.microsoft.com/office/powerpoint/2010/main" val="321991009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9439325"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Travelling Salesman </a:t>
            </a:r>
            <a:r>
              <a:rPr lang="en-US" sz="3600" b="1" dirty="0">
                <a:solidFill>
                  <a:schemeClr val="bg1"/>
                </a:solidFill>
                <a:latin typeface="Corbel" panose="020B0503020204020204" pitchFamily="34" charset="0"/>
              </a:rPr>
              <a:t>Problem</a:t>
            </a:r>
            <a:endParaRPr lang="en-IN" sz="3600" b="1" dirty="0">
              <a:solidFill>
                <a:schemeClr val="bg1"/>
              </a:solidFill>
              <a:latin typeface="Corbel" panose="020B0503020204020204" pitchFamily="34" charset="0"/>
            </a:endParaRPr>
          </a:p>
        </p:txBody>
      </p:sp>
      <p:sp>
        <p:nvSpPr>
          <p:cNvPr id="3" name="Rounded Rectangle 2"/>
          <p:cNvSpPr/>
          <p:nvPr/>
        </p:nvSpPr>
        <p:spPr>
          <a:xfrm>
            <a:off x="7639665" y="3288890"/>
            <a:ext cx="2654709" cy="56043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0" name="Rounded Rectangle 9"/>
          <p:cNvSpPr/>
          <p:nvPr/>
        </p:nvSpPr>
        <p:spPr>
          <a:xfrm>
            <a:off x="4719484" y="6144497"/>
            <a:ext cx="2462981" cy="43328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Rectangle 5"/>
          <p:cNvSpPr/>
          <p:nvPr/>
        </p:nvSpPr>
        <p:spPr>
          <a:xfrm>
            <a:off x="246742" y="793029"/>
            <a:ext cx="11938875" cy="6463308"/>
          </a:xfrm>
          <a:prstGeom prst="rect">
            <a:avLst/>
          </a:prstGeom>
        </p:spPr>
        <p:txBody>
          <a:bodyPr wrap="square">
            <a:spAutoFit/>
          </a:bodyPr>
          <a:lstStyle/>
          <a:p>
            <a:pPr marL="742950" lvl="1" indent="-285750">
              <a:buFont typeface="+mj-lt"/>
              <a:buAutoNum type="arabicPeriod"/>
            </a:pPr>
            <a:endParaRPr lang="en-US" dirty="0"/>
          </a:p>
          <a:p>
            <a:pPr>
              <a:lnSpc>
                <a:spcPct val="150000"/>
              </a:lnSpc>
            </a:pPr>
            <a:r>
              <a:rPr lang="en-US" sz="2400" b="1" dirty="0" smtClean="0">
                <a:solidFill>
                  <a:srgbClr val="FF0000"/>
                </a:solidFill>
                <a:latin typeface="Trebuchet MS" panose="020B0603020202020204" pitchFamily="34" charset="0"/>
              </a:rPr>
              <a:t>Step 2: </a:t>
            </a:r>
            <a:r>
              <a:rPr lang="en-US" sz="2400" b="1" dirty="0" smtClean="0">
                <a:solidFill>
                  <a:srgbClr val="0070C0"/>
                </a:solidFill>
                <a:latin typeface="Trebuchet MS" panose="020B0603020202020204" pitchFamily="34" charset="0"/>
              </a:rPr>
              <a:t>Recursive Traversal</a:t>
            </a:r>
            <a:endParaRPr lang="en-US" sz="2400" dirty="0">
              <a:solidFill>
                <a:srgbClr val="0070C0"/>
              </a:solidFill>
              <a:latin typeface="Trebuchet MS" panose="020B0603020202020204" pitchFamily="34" charset="0"/>
            </a:endParaRPr>
          </a:p>
          <a:p>
            <a:pPr marL="530225" lvl="1" indent="-354013">
              <a:lnSpc>
                <a:spcPct val="150000"/>
              </a:lnSpc>
              <a:buFont typeface="Arial" panose="020B0604020202020204" pitchFamily="34" charset="0"/>
              <a:buChar char="•"/>
            </a:pPr>
            <a:r>
              <a:rPr lang="en-US" sz="2400" dirty="0">
                <a:latin typeface="Trebuchet MS" panose="020B0603020202020204" pitchFamily="34" charset="0"/>
              </a:rPr>
              <a:t>Use </a:t>
            </a:r>
            <a:r>
              <a:rPr lang="en-US" sz="2400" b="1" dirty="0">
                <a:latin typeface="Trebuchet MS" panose="020B0603020202020204" pitchFamily="34" charset="0"/>
              </a:rPr>
              <a:t>Depth-First Search (DFS)</a:t>
            </a:r>
            <a:r>
              <a:rPr lang="en-US" sz="2400" dirty="0">
                <a:latin typeface="Trebuchet MS" panose="020B0603020202020204" pitchFamily="34" charset="0"/>
              </a:rPr>
              <a:t> to explore all possible paths that start from city 1.</a:t>
            </a:r>
          </a:p>
          <a:p>
            <a:pPr marL="530225" lvl="1" indent="-354013">
              <a:lnSpc>
                <a:spcPct val="150000"/>
              </a:lnSpc>
              <a:buFont typeface="Arial" panose="020B0604020202020204" pitchFamily="34" charset="0"/>
              <a:buChar char="•"/>
            </a:pPr>
            <a:r>
              <a:rPr lang="en-US" sz="2400" dirty="0">
                <a:latin typeface="Trebuchet MS" panose="020B0603020202020204" pitchFamily="34" charset="0"/>
              </a:rPr>
              <a:t>For each city, check the cost of traveling to each of its neighboring cities (cities that are directly connected</a:t>
            </a:r>
            <a:r>
              <a:rPr lang="en-US" sz="2400" dirty="0" smtClean="0">
                <a:latin typeface="Trebuchet MS" panose="020B0603020202020204" pitchFamily="34" charset="0"/>
              </a:rPr>
              <a:t>).</a:t>
            </a:r>
          </a:p>
          <a:p>
            <a:pPr marL="176212" lvl="1">
              <a:lnSpc>
                <a:spcPct val="150000"/>
              </a:lnSpc>
            </a:pPr>
            <a:r>
              <a:rPr lang="en-US" sz="2400" dirty="0" smtClean="0">
                <a:latin typeface="Trebuchet MS" panose="020B0603020202020204" pitchFamily="34" charset="0"/>
              </a:rPr>
              <a:t>Here from 1 to 2,3,4 will connected and choose min 2 </a:t>
            </a:r>
            <a:r>
              <a:rPr lang="en-US" sz="2400" dirty="0">
                <a:latin typeface="Trebuchet MS" panose="020B0603020202020204" pitchFamily="34" charset="0"/>
              </a:rPr>
              <a:t>→ 4: Cost = 25</a:t>
            </a:r>
          </a:p>
          <a:p>
            <a:pPr>
              <a:lnSpc>
                <a:spcPct val="150000"/>
              </a:lnSpc>
            </a:pPr>
            <a:r>
              <a:rPr lang="en-US" sz="2400" b="1" dirty="0" smtClean="0">
                <a:solidFill>
                  <a:srgbClr val="FF0000"/>
                </a:solidFill>
                <a:latin typeface="Trebuchet MS" panose="020B0603020202020204" pitchFamily="34" charset="0"/>
              </a:rPr>
              <a:t>Step 3: </a:t>
            </a:r>
            <a:r>
              <a:rPr lang="en-US" sz="2400" b="1" dirty="0" smtClean="0">
                <a:solidFill>
                  <a:srgbClr val="0070C0"/>
                </a:solidFill>
                <a:latin typeface="Trebuchet MS" panose="020B0603020202020204" pitchFamily="34" charset="0"/>
              </a:rPr>
              <a:t>Path Exploration</a:t>
            </a:r>
            <a:endParaRPr lang="en-US" sz="2400" dirty="0">
              <a:solidFill>
                <a:srgbClr val="0070C0"/>
              </a:solidFill>
              <a:latin typeface="Trebuchet MS" panose="020B0603020202020204" pitchFamily="34" charset="0"/>
            </a:endParaRPr>
          </a:p>
          <a:p>
            <a:pPr marL="530225" lvl="1" indent="-354013">
              <a:lnSpc>
                <a:spcPct val="150000"/>
              </a:lnSpc>
              <a:buFont typeface="Arial" panose="020B0604020202020204" pitchFamily="34" charset="0"/>
              <a:buChar char="•"/>
            </a:pPr>
            <a:r>
              <a:rPr lang="en-US" sz="2400" dirty="0">
                <a:latin typeface="Trebuchet MS" panose="020B0603020202020204" pitchFamily="34" charset="0"/>
              </a:rPr>
              <a:t>From city 1, explore different possible routes to visit each city exactly once before returning to city 1. The DFS explores all permutations of city visits and calculates the cost of each route</a:t>
            </a:r>
            <a:r>
              <a:rPr lang="en-US" sz="2400" dirty="0" smtClean="0">
                <a:latin typeface="Trebuchet MS" panose="020B0603020202020204" pitchFamily="34" charset="0"/>
              </a:rPr>
              <a:t>.</a:t>
            </a:r>
          </a:p>
          <a:p>
            <a:pPr marL="176212" lvl="1">
              <a:lnSpc>
                <a:spcPct val="150000"/>
              </a:lnSpc>
            </a:pPr>
            <a:r>
              <a:rPr lang="en-US" sz="2400" dirty="0" smtClean="0">
                <a:latin typeface="Trebuchet MS" panose="020B0603020202020204" pitchFamily="34" charset="0"/>
              </a:rPr>
              <a:t> Here based above rule chosen 4 </a:t>
            </a:r>
            <a:r>
              <a:rPr lang="en-US" sz="2400" dirty="0">
                <a:latin typeface="Trebuchet MS" panose="020B0603020202020204" pitchFamily="34" charset="0"/>
              </a:rPr>
              <a:t>→ 3: Cost = 30</a:t>
            </a:r>
          </a:p>
          <a:p>
            <a:pPr marL="530225" lvl="1" indent="-354013">
              <a:lnSpc>
                <a:spcPct val="150000"/>
              </a:lnSpc>
              <a:buFont typeface="Arial" panose="020B0604020202020204" pitchFamily="34" charset="0"/>
              <a:buChar char="•"/>
            </a:pPr>
            <a:endParaRPr lang="en-US" sz="2400" dirty="0">
              <a:latin typeface="Trebuchet MS" panose="020B0603020202020204" pitchFamily="34" charset="0"/>
            </a:endParaRPr>
          </a:p>
        </p:txBody>
      </p:sp>
      <p:sp>
        <p:nvSpPr>
          <p:cNvPr id="4" name="Rectangle 3"/>
          <p:cNvSpPr/>
          <p:nvPr/>
        </p:nvSpPr>
        <p:spPr>
          <a:xfrm>
            <a:off x="246743" y="999208"/>
            <a:ext cx="11276632" cy="578492"/>
          </a:xfrm>
          <a:prstGeom prst="rect">
            <a:avLst/>
          </a:prstGeom>
        </p:spPr>
        <p:txBody>
          <a:bodyPr wrap="square">
            <a:spAutoFit/>
          </a:bodyPr>
          <a:lstStyle/>
          <a:p>
            <a:pPr>
              <a:lnSpc>
                <a:spcPct val="150000"/>
              </a:lnSpc>
            </a:pPr>
            <a:endParaRPr lang="en-IN" sz="2400" dirty="0">
              <a:latin typeface="Trebuchet MS" panose="020B0603020202020204" pitchFamily="34" charset="0"/>
            </a:endParaRPr>
          </a:p>
        </p:txBody>
      </p:sp>
    </p:spTree>
    <p:extLst>
      <p:ext uri="{BB962C8B-B14F-4D97-AF65-F5344CB8AC3E}">
        <p14:creationId xmlns:p14="http://schemas.microsoft.com/office/powerpoint/2010/main" val="73262870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9439325"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Travelling Salesman </a:t>
            </a:r>
            <a:r>
              <a:rPr lang="en-US" sz="3600" b="1" dirty="0">
                <a:solidFill>
                  <a:schemeClr val="bg1"/>
                </a:solidFill>
                <a:latin typeface="Corbel" panose="020B0503020204020204" pitchFamily="34" charset="0"/>
              </a:rPr>
              <a:t>Problem</a:t>
            </a:r>
            <a:endParaRPr lang="en-IN" sz="3600" b="1" dirty="0">
              <a:solidFill>
                <a:schemeClr val="bg1"/>
              </a:solidFill>
              <a:latin typeface="Corbel" panose="020B0503020204020204" pitchFamily="34" charset="0"/>
            </a:endParaRPr>
          </a:p>
        </p:txBody>
      </p:sp>
      <p:sp>
        <p:nvSpPr>
          <p:cNvPr id="4" name="Rectangle 3"/>
          <p:cNvSpPr/>
          <p:nvPr/>
        </p:nvSpPr>
        <p:spPr>
          <a:xfrm>
            <a:off x="246743" y="999208"/>
            <a:ext cx="11276632" cy="578492"/>
          </a:xfrm>
          <a:prstGeom prst="rect">
            <a:avLst/>
          </a:prstGeom>
        </p:spPr>
        <p:txBody>
          <a:bodyPr wrap="square">
            <a:spAutoFit/>
          </a:bodyPr>
          <a:lstStyle/>
          <a:p>
            <a:pPr>
              <a:lnSpc>
                <a:spcPct val="150000"/>
              </a:lnSpc>
            </a:pPr>
            <a:endParaRPr lang="en-IN" sz="2400" dirty="0">
              <a:latin typeface="Trebuchet MS" panose="020B0603020202020204" pitchFamily="34" charset="0"/>
            </a:endParaRPr>
          </a:p>
        </p:txBody>
      </p:sp>
      <p:sp>
        <p:nvSpPr>
          <p:cNvPr id="5" name="Rounded Rectangle 4"/>
          <p:cNvSpPr/>
          <p:nvPr/>
        </p:nvSpPr>
        <p:spPr>
          <a:xfrm>
            <a:off x="1106129" y="2058861"/>
            <a:ext cx="2610465" cy="39820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Rectangle 5"/>
          <p:cNvSpPr/>
          <p:nvPr/>
        </p:nvSpPr>
        <p:spPr>
          <a:xfrm>
            <a:off x="253616" y="770459"/>
            <a:ext cx="11684702" cy="3970318"/>
          </a:xfrm>
          <a:prstGeom prst="rect">
            <a:avLst/>
          </a:prstGeom>
        </p:spPr>
        <p:txBody>
          <a:bodyPr wrap="square">
            <a:spAutoFit/>
          </a:bodyPr>
          <a:lstStyle/>
          <a:p>
            <a:pPr>
              <a:lnSpc>
                <a:spcPct val="150000"/>
              </a:lnSpc>
            </a:pPr>
            <a:r>
              <a:rPr lang="en-US" sz="2400" b="1" dirty="0" smtClean="0">
                <a:solidFill>
                  <a:srgbClr val="FF0000"/>
                </a:solidFill>
                <a:latin typeface="Trebuchet MS" panose="020B0603020202020204" pitchFamily="34" charset="0"/>
              </a:rPr>
              <a:t>Step 4: </a:t>
            </a:r>
            <a:r>
              <a:rPr lang="en-US" sz="2400" b="1" dirty="0" smtClean="0">
                <a:solidFill>
                  <a:srgbClr val="0070C0"/>
                </a:solidFill>
                <a:latin typeface="Trebuchet MS" panose="020B0603020202020204" pitchFamily="34" charset="0"/>
              </a:rPr>
              <a:t>Cost </a:t>
            </a:r>
            <a:r>
              <a:rPr lang="en-US" sz="2400" b="1" dirty="0">
                <a:solidFill>
                  <a:srgbClr val="0070C0"/>
                </a:solidFill>
                <a:latin typeface="Trebuchet MS" panose="020B0603020202020204" pitchFamily="34" charset="0"/>
              </a:rPr>
              <a:t>Calculation and </a:t>
            </a:r>
            <a:r>
              <a:rPr lang="en-US" sz="2400" b="1" dirty="0" smtClean="0">
                <a:solidFill>
                  <a:srgbClr val="0070C0"/>
                </a:solidFill>
                <a:latin typeface="Trebuchet MS" panose="020B0603020202020204" pitchFamily="34" charset="0"/>
              </a:rPr>
              <a:t>Pruning</a:t>
            </a:r>
            <a:endParaRPr lang="en-US" sz="2400" dirty="0">
              <a:solidFill>
                <a:srgbClr val="0070C0"/>
              </a:solidFill>
              <a:latin typeface="Trebuchet MS" panose="020B0603020202020204" pitchFamily="34" charset="0"/>
            </a:endParaRPr>
          </a:p>
          <a:p>
            <a:pPr marL="530225" lvl="1" indent="-354013">
              <a:lnSpc>
                <a:spcPct val="150000"/>
              </a:lnSpc>
              <a:buFont typeface="Arial" panose="020B0604020202020204" pitchFamily="34" charset="0"/>
              <a:buChar char="•"/>
            </a:pPr>
            <a:r>
              <a:rPr lang="en-US" sz="2400" dirty="0">
                <a:latin typeface="Trebuchet MS" panose="020B0603020202020204" pitchFamily="34" charset="0"/>
              </a:rPr>
              <a:t>For each path explored, keep a running total of the travel cost</a:t>
            </a:r>
            <a:r>
              <a:rPr lang="en-US" sz="2400" dirty="0" smtClean="0">
                <a:latin typeface="Trebuchet MS" panose="020B0603020202020204" pitchFamily="34" charset="0"/>
              </a:rPr>
              <a:t>.</a:t>
            </a:r>
          </a:p>
          <a:p>
            <a:pPr marL="176212" lvl="1">
              <a:lnSpc>
                <a:spcPct val="150000"/>
              </a:lnSpc>
            </a:pPr>
            <a:r>
              <a:rPr lang="en-US" sz="2400" dirty="0">
                <a:latin typeface="Trebuchet MS" panose="020B0603020202020204" pitchFamily="34" charset="0"/>
              </a:rPr>
              <a:t>	3 → 1: Cost = 15</a:t>
            </a:r>
          </a:p>
          <a:p>
            <a:pPr marL="530225" lvl="1" indent="-354013">
              <a:lnSpc>
                <a:spcPct val="150000"/>
              </a:lnSpc>
              <a:buFont typeface="Arial" panose="020B0604020202020204" pitchFamily="34" charset="0"/>
              <a:buChar char="•"/>
            </a:pPr>
            <a:r>
              <a:rPr lang="en-US" sz="2400" dirty="0" smtClean="0">
                <a:latin typeface="Trebuchet MS" panose="020B0603020202020204" pitchFamily="34" charset="0"/>
              </a:rPr>
              <a:t>If </a:t>
            </a:r>
            <a:r>
              <a:rPr lang="en-US" sz="2400" dirty="0">
                <a:latin typeface="Trebuchet MS" panose="020B0603020202020204" pitchFamily="34" charset="0"/>
              </a:rPr>
              <a:t>the total cost of a path exceeds the minimum cost found so far, </a:t>
            </a:r>
            <a:r>
              <a:rPr lang="en-US" sz="2400" b="1" dirty="0">
                <a:latin typeface="Trebuchet MS" panose="020B0603020202020204" pitchFamily="34" charset="0"/>
              </a:rPr>
              <a:t>backtrack</a:t>
            </a:r>
            <a:r>
              <a:rPr lang="en-US" sz="2400" dirty="0">
                <a:latin typeface="Trebuchet MS" panose="020B0603020202020204" pitchFamily="34" charset="0"/>
              </a:rPr>
              <a:t> and try a different path.</a:t>
            </a:r>
          </a:p>
          <a:p>
            <a:pPr marL="530225" lvl="1" indent="-354013">
              <a:lnSpc>
                <a:spcPct val="150000"/>
              </a:lnSpc>
              <a:buFont typeface="Arial" panose="020B0604020202020204" pitchFamily="34" charset="0"/>
              <a:buChar char="•"/>
            </a:pPr>
            <a:r>
              <a:rPr lang="en-US" sz="2400" dirty="0">
                <a:latin typeface="Trebuchet MS" panose="020B0603020202020204" pitchFamily="34" charset="0"/>
              </a:rPr>
              <a:t>This approach helps in pruning paths that would lead to higher costs, making the algorithm more efficient</a:t>
            </a:r>
            <a:r>
              <a:rPr lang="en-US" sz="2400" dirty="0" smtClean="0">
                <a:latin typeface="Trebuchet MS" panose="020B0603020202020204" pitchFamily="34" charset="0"/>
              </a:rPr>
              <a:t>.</a:t>
            </a:r>
          </a:p>
        </p:txBody>
      </p:sp>
    </p:spTree>
    <p:extLst>
      <p:ext uri="{BB962C8B-B14F-4D97-AF65-F5344CB8AC3E}">
        <p14:creationId xmlns:p14="http://schemas.microsoft.com/office/powerpoint/2010/main" val="2399641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9439325"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Travelling Salesman </a:t>
            </a:r>
            <a:r>
              <a:rPr lang="en-US" sz="3600" b="1" dirty="0">
                <a:solidFill>
                  <a:schemeClr val="bg1"/>
                </a:solidFill>
                <a:latin typeface="Corbel" panose="020B0503020204020204" pitchFamily="34" charset="0"/>
              </a:rPr>
              <a:t>Problem</a:t>
            </a:r>
            <a:endParaRPr lang="en-IN" sz="3600" b="1" dirty="0">
              <a:solidFill>
                <a:schemeClr val="bg1"/>
              </a:solidFill>
              <a:latin typeface="Corbel" panose="020B0503020204020204" pitchFamily="34" charset="0"/>
            </a:endParaRPr>
          </a:p>
        </p:txBody>
      </p:sp>
      <p:sp>
        <p:nvSpPr>
          <p:cNvPr id="4" name="Rectangle 3"/>
          <p:cNvSpPr/>
          <p:nvPr/>
        </p:nvSpPr>
        <p:spPr>
          <a:xfrm>
            <a:off x="246743" y="999208"/>
            <a:ext cx="11276632" cy="578492"/>
          </a:xfrm>
          <a:prstGeom prst="rect">
            <a:avLst/>
          </a:prstGeom>
        </p:spPr>
        <p:txBody>
          <a:bodyPr wrap="square">
            <a:spAutoFit/>
          </a:bodyPr>
          <a:lstStyle/>
          <a:p>
            <a:pPr>
              <a:lnSpc>
                <a:spcPct val="150000"/>
              </a:lnSpc>
            </a:pPr>
            <a:endParaRPr lang="en-IN" sz="2400" dirty="0">
              <a:latin typeface="Trebuchet MS" panose="020B0603020202020204" pitchFamily="34" charset="0"/>
            </a:endParaRPr>
          </a:p>
        </p:txBody>
      </p:sp>
      <p:sp>
        <p:nvSpPr>
          <p:cNvPr id="6" name="Rectangle 5"/>
          <p:cNvSpPr/>
          <p:nvPr/>
        </p:nvSpPr>
        <p:spPr>
          <a:xfrm>
            <a:off x="253616" y="1036233"/>
            <a:ext cx="11684702" cy="4339650"/>
          </a:xfrm>
          <a:prstGeom prst="rect">
            <a:avLst/>
          </a:prstGeom>
        </p:spPr>
        <p:txBody>
          <a:bodyPr wrap="square">
            <a:spAutoFit/>
          </a:bodyPr>
          <a:lstStyle/>
          <a:p>
            <a:pPr marL="342900" lvl="1" indent="-342900">
              <a:lnSpc>
                <a:spcPct val="150000"/>
              </a:lnSpc>
              <a:buFont typeface="Arial" panose="020B0604020202020204" pitchFamily="34" charset="0"/>
              <a:buChar char="•"/>
            </a:pPr>
            <a:r>
              <a:rPr lang="en-US" sz="2400" dirty="0">
                <a:solidFill>
                  <a:srgbClr val="0070C0"/>
                </a:solidFill>
                <a:latin typeface="Trebuchet MS" panose="020B0603020202020204" pitchFamily="34" charset="0"/>
              </a:rPr>
              <a:t>Finds the minimum travel cost. Here’s the breakdown:</a:t>
            </a:r>
          </a:p>
          <a:p>
            <a:pPr lvl="4">
              <a:lnSpc>
                <a:spcPct val="150000"/>
              </a:lnSpc>
            </a:pPr>
            <a:r>
              <a:rPr lang="en-US" sz="2400" b="1" dirty="0" smtClean="0">
                <a:latin typeface="Trebuchet MS" panose="020B0603020202020204" pitchFamily="34" charset="0"/>
              </a:rPr>
              <a:t>1 </a:t>
            </a:r>
            <a:r>
              <a:rPr lang="en-US" sz="2400" b="1" dirty="0">
                <a:latin typeface="Trebuchet MS" panose="020B0603020202020204" pitchFamily="34" charset="0"/>
              </a:rPr>
              <a:t>→ 2</a:t>
            </a:r>
            <a:r>
              <a:rPr lang="en-US" sz="2400" dirty="0">
                <a:latin typeface="Trebuchet MS" panose="020B0603020202020204" pitchFamily="34" charset="0"/>
              </a:rPr>
              <a:t>: Cost = 10</a:t>
            </a:r>
          </a:p>
          <a:p>
            <a:pPr lvl="4">
              <a:lnSpc>
                <a:spcPct val="150000"/>
              </a:lnSpc>
            </a:pPr>
            <a:r>
              <a:rPr lang="en-US" sz="2400" b="1" dirty="0">
                <a:latin typeface="Trebuchet MS" panose="020B0603020202020204" pitchFamily="34" charset="0"/>
              </a:rPr>
              <a:t>2 → 4</a:t>
            </a:r>
            <a:r>
              <a:rPr lang="en-US" sz="2400" dirty="0">
                <a:latin typeface="Trebuchet MS" panose="020B0603020202020204" pitchFamily="34" charset="0"/>
              </a:rPr>
              <a:t>: Cost = 25</a:t>
            </a:r>
          </a:p>
          <a:p>
            <a:pPr lvl="4">
              <a:lnSpc>
                <a:spcPct val="150000"/>
              </a:lnSpc>
            </a:pPr>
            <a:r>
              <a:rPr lang="en-US" sz="2400" b="1" dirty="0">
                <a:latin typeface="Trebuchet MS" panose="020B0603020202020204" pitchFamily="34" charset="0"/>
              </a:rPr>
              <a:t>4 → 3</a:t>
            </a:r>
            <a:r>
              <a:rPr lang="en-US" sz="2400" dirty="0">
                <a:latin typeface="Trebuchet MS" panose="020B0603020202020204" pitchFamily="34" charset="0"/>
              </a:rPr>
              <a:t>: Cost = 30</a:t>
            </a:r>
          </a:p>
          <a:p>
            <a:pPr>
              <a:lnSpc>
                <a:spcPct val="150000"/>
              </a:lnSpc>
            </a:pPr>
            <a:r>
              <a:rPr lang="en-US" sz="2400" b="1" dirty="0" smtClean="0">
                <a:latin typeface="Trebuchet MS" panose="020B0603020202020204" pitchFamily="34" charset="0"/>
              </a:rPr>
              <a:t>		3 </a:t>
            </a:r>
            <a:r>
              <a:rPr lang="en-US" sz="2400" b="1" dirty="0">
                <a:latin typeface="Trebuchet MS" panose="020B0603020202020204" pitchFamily="34" charset="0"/>
              </a:rPr>
              <a:t>→ 1</a:t>
            </a:r>
            <a:r>
              <a:rPr lang="en-US" sz="2400" dirty="0">
                <a:latin typeface="Trebuchet MS" panose="020B0603020202020204" pitchFamily="34" charset="0"/>
              </a:rPr>
              <a:t>: Cost = 15 </a:t>
            </a:r>
            <a:endParaRPr lang="en-US" sz="2400" dirty="0" smtClean="0">
              <a:latin typeface="Trebuchet MS" panose="020B0603020202020204" pitchFamily="34" charset="0"/>
            </a:endParaRPr>
          </a:p>
          <a:p>
            <a:pPr marL="342900" indent="-342900">
              <a:lnSpc>
                <a:spcPct val="150000"/>
              </a:lnSpc>
              <a:buFont typeface="Arial" panose="020B0604020202020204" pitchFamily="34" charset="0"/>
              <a:buChar char="•"/>
            </a:pPr>
            <a:r>
              <a:rPr lang="en-US" sz="2400" b="1" dirty="0" smtClean="0">
                <a:solidFill>
                  <a:srgbClr val="0070C0"/>
                </a:solidFill>
                <a:latin typeface="Trebuchet MS" panose="020B0603020202020204" pitchFamily="34" charset="0"/>
              </a:rPr>
              <a:t>Total </a:t>
            </a:r>
            <a:r>
              <a:rPr lang="en-US" sz="2400" b="1" dirty="0">
                <a:solidFill>
                  <a:srgbClr val="0070C0"/>
                </a:solidFill>
                <a:latin typeface="Trebuchet MS" panose="020B0603020202020204" pitchFamily="34" charset="0"/>
              </a:rPr>
              <a:t>Cost: </a:t>
            </a:r>
            <a:r>
              <a:rPr lang="en-US" sz="2400" dirty="0" smtClean="0">
                <a:solidFill>
                  <a:srgbClr val="FF0000"/>
                </a:solidFill>
                <a:latin typeface="Trebuchet MS" panose="020B0603020202020204" pitchFamily="34" charset="0"/>
              </a:rPr>
              <a:t>10+25+30+15=80</a:t>
            </a:r>
            <a:r>
              <a:rPr lang="en-US" sz="2400" dirty="0" smtClean="0">
                <a:latin typeface="Trebuchet MS" panose="020B0603020202020204" pitchFamily="34" charset="0"/>
              </a:rPr>
              <a:t>,  So the </a:t>
            </a:r>
            <a:r>
              <a:rPr lang="en-US" sz="2400" dirty="0">
                <a:latin typeface="Trebuchet MS" panose="020B0603020202020204" pitchFamily="34" charset="0"/>
              </a:rPr>
              <a:t>minimum Hamiltonian cycle with the least travel cost is </a:t>
            </a:r>
            <a:r>
              <a:rPr lang="en-US" sz="2400" b="1" dirty="0">
                <a:solidFill>
                  <a:srgbClr val="0070C0"/>
                </a:solidFill>
                <a:latin typeface="Trebuchet MS" panose="020B0603020202020204" pitchFamily="34" charset="0"/>
              </a:rPr>
              <a:t>80</a:t>
            </a:r>
            <a:r>
              <a:rPr lang="en-US" sz="2400" dirty="0">
                <a:latin typeface="Trebuchet MS" panose="020B0603020202020204" pitchFamily="34" charset="0"/>
              </a:rPr>
              <a:t>.</a:t>
            </a:r>
          </a:p>
          <a:p>
            <a:pPr lvl="4"/>
            <a:endParaRPr lang="en-US" sz="2400" dirty="0">
              <a:solidFill>
                <a:srgbClr val="0070C0"/>
              </a:solidFill>
              <a:latin typeface="Trebuchet MS" panose="020B0603020202020204" pitchFamily="34" charset="0"/>
            </a:endParaRPr>
          </a:p>
        </p:txBody>
      </p:sp>
    </p:spTree>
    <p:extLst>
      <p:ext uri="{BB962C8B-B14F-4D97-AF65-F5344CB8AC3E}">
        <p14:creationId xmlns:p14="http://schemas.microsoft.com/office/powerpoint/2010/main" val="396310679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5EC5F6DE-9EDC-CFBD-7BAB-A400BA7B9E39}"/>
              </a:ext>
            </a:extLst>
          </p:cNvPr>
          <p:cNvSpPr txBox="1"/>
          <p:nvPr/>
        </p:nvSpPr>
        <p:spPr>
          <a:xfrm>
            <a:off x="265471" y="967163"/>
            <a:ext cx="11371006" cy="5632311"/>
          </a:xfrm>
          <a:prstGeom prst="rect">
            <a:avLst/>
          </a:prstGeom>
          <a:noFill/>
        </p:spPr>
        <p:txBody>
          <a:bodyPr wrap="square">
            <a:spAutoFit/>
          </a:bodyPr>
          <a:lstStyle/>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The branch &amp; bound approach is based on the principle that the total set of feasible solutions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can be partitioned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into smaller subsets of solutions. </a:t>
            </a:r>
          </a:p>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These smaller subsets can then be evaluated systematically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until the best solution</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is found.</a:t>
            </a:r>
          </a:p>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Branch &amp; bound is an algorithm design approach which is generally used for solving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combinatorial optimization problems. </a:t>
            </a:r>
          </a:p>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These problems are typically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exponential in terms of time complexity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and may require exploring all possible permutations in worst case. </a:t>
            </a:r>
          </a:p>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The Branch &amp; Bound Algorithm technique solves these problems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relatively quickly.</a:t>
            </a:r>
          </a:p>
        </p:txBody>
      </p:sp>
      <p:sp>
        <p:nvSpPr>
          <p:cNvPr id="7" name="TextBox 6">
            <a:extLst>
              <a:ext uri="{FF2B5EF4-FFF2-40B4-BE49-F238E27FC236}">
                <a16:creationId xmlns:a16="http://schemas.microsoft.com/office/drawing/2014/main" id="{9AE30174-7304-7E37-B547-A413F4A805F6}"/>
              </a:ext>
            </a:extLst>
          </p:cNvPr>
          <p:cNvSpPr txBox="1"/>
          <p:nvPr/>
        </p:nvSpPr>
        <p:spPr>
          <a:xfrm>
            <a:off x="380166" y="198118"/>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Branch &amp; Bound</a:t>
            </a:r>
            <a:endParaRPr lang="en-IN" sz="3200" b="1"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300735875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5EC5F6DE-9EDC-CFBD-7BAB-A400BA7B9E39}"/>
              </a:ext>
            </a:extLst>
          </p:cNvPr>
          <p:cNvSpPr txBox="1"/>
          <p:nvPr/>
        </p:nvSpPr>
        <p:spPr>
          <a:xfrm>
            <a:off x="432788" y="1230556"/>
            <a:ext cx="11313723" cy="4524315"/>
          </a:xfrm>
          <a:prstGeom prst="rect">
            <a:avLst/>
          </a:prstGeom>
          <a:noFill/>
        </p:spPr>
        <p:txBody>
          <a:bodyPr wrap="square">
            <a:spAutoFit/>
          </a:bodyPr>
          <a:lstStyle/>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The Lower and Upper Bound  provides a way to find the lowest complexity algorithm to solve a problem. </a:t>
            </a:r>
          </a:p>
          <a:p>
            <a:pPr marR="0" lvl="0" algn="just" defTabSz="914400" rtl="0" eaLnBrk="1" fontAlgn="auto" latinLnBrk="0" hangingPunct="1">
              <a:lnSpc>
                <a:spcPct val="150000"/>
              </a:lnSpc>
              <a:buClr>
                <a:srgbClr val="B84742"/>
              </a:buClr>
              <a:buSzTx/>
              <a:tabLst/>
              <a:defRPr/>
            </a:pPr>
            <a:r>
              <a:rPr kumimoji="0" lang="en-IN" sz="2400" b="1" i="0" u="none" strike="noStrike" kern="1200" cap="none" spc="0" normalizeH="0" baseline="0" noProof="0" dirty="0">
                <a:ln>
                  <a:noFill/>
                </a:ln>
                <a:solidFill>
                  <a:srgbClr val="FF0000"/>
                </a:solidFill>
                <a:effectLst/>
                <a:uLnTx/>
                <a:uFillTx/>
                <a:latin typeface="Trebuchet MS" panose="020B0603020202020204" pitchFamily="34" charset="0"/>
              </a:rPr>
              <a:t>Lower Bound:</a:t>
            </a:r>
          </a:p>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Let L(n) be the running time of an algorithm A(say), then g(n) is the Lower Bound of A if there exist two constants C and N such that L(n) &gt;= C*g(n) for n &gt; N. </a:t>
            </a:r>
          </a:p>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Lower bound of an algorithm is shown by the asymptotic notation called Big Omega (or just Omega). </a:t>
            </a:r>
          </a:p>
        </p:txBody>
      </p:sp>
      <p:sp>
        <p:nvSpPr>
          <p:cNvPr id="7" name="TextBox 6">
            <a:extLst>
              <a:ext uri="{FF2B5EF4-FFF2-40B4-BE49-F238E27FC236}">
                <a16:creationId xmlns:a16="http://schemas.microsoft.com/office/drawing/2014/main" id="{9AE30174-7304-7E37-B547-A413F4A805F6}"/>
              </a:ext>
            </a:extLst>
          </p:cNvPr>
          <p:cNvSpPr txBox="1"/>
          <p:nvPr/>
        </p:nvSpPr>
        <p:spPr>
          <a:xfrm>
            <a:off x="380166" y="198118"/>
            <a:ext cx="6194322" cy="646331"/>
          </a:xfrm>
          <a:prstGeom prst="rect">
            <a:avLst/>
          </a:prstGeom>
          <a:noFill/>
        </p:spPr>
        <p:txBody>
          <a:bodyPr wrap="square">
            <a:spAutoFit/>
          </a:bodyPr>
          <a:lstStyle/>
          <a:p>
            <a:r>
              <a:rPr lang="en-US" sz="3600" b="1" dirty="0">
                <a:solidFill>
                  <a:schemeClr val="bg1"/>
                </a:solidFill>
                <a:latin typeface="Trebuchet MS" panose="020B0603020202020204" pitchFamily="34" charset="0"/>
              </a:rPr>
              <a:t>Branch &amp; Bound</a:t>
            </a:r>
            <a:endParaRPr lang="en-IN" sz="3600" b="1"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204972107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5EC5F6DE-9EDC-CFBD-7BAB-A400BA7B9E39}"/>
              </a:ext>
            </a:extLst>
          </p:cNvPr>
          <p:cNvSpPr txBox="1"/>
          <p:nvPr/>
        </p:nvSpPr>
        <p:spPr>
          <a:xfrm>
            <a:off x="432788" y="1230556"/>
            <a:ext cx="11313723" cy="3348481"/>
          </a:xfrm>
          <a:prstGeom prst="rect">
            <a:avLst/>
          </a:prstGeom>
          <a:noFill/>
        </p:spPr>
        <p:txBody>
          <a:bodyPr wrap="square">
            <a:spAutoFit/>
          </a:bodyPr>
          <a:lstStyle/>
          <a:p>
            <a:pPr lvl="0" algn="just">
              <a:lnSpc>
                <a:spcPct val="150000"/>
              </a:lnSpc>
              <a:buClr>
                <a:srgbClr val="B84742"/>
              </a:buClr>
              <a:defRPr/>
            </a:pPr>
            <a:r>
              <a:rPr lang="en-IN" sz="2400" b="1">
                <a:solidFill>
                  <a:srgbClr val="FF0000"/>
                </a:solidFill>
                <a:latin typeface="Trebuchet MS" panose="020B0603020202020204" pitchFamily="34" charset="0"/>
              </a:rPr>
              <a:t>Upper Bound:</a:t>
            </a:r>
          </a:p>
          <a:p>
            <a:pPr marL="342900" lvl="0" indent="-342900" algn="just">
              <a:lnSpc>
                <a:spcPct val="150000"/>
              </a:lnSpc>
              <a:buClr>
                <a:srgbClr val="B84742"/>
              </a:buClr>
              <a:buFont typeface="Arial" panose="020B0604020202020204" pitchFamily="34" charset="0"/>
              <a:buChar char="•"/>
              <a:defRPr/>
            </a:pPr>
            <a:r>
              <a:rPr lang="en-IN" sz="2400">
                <a:solidFill>
                  <a:srgbClr val="000000"/>
                </a:solidFill>
                <a:latin typeface="Trebuchet MS" panose="020B0603020202020204" pitchFamily="34" charset="0"/>
              </a:rPr>
              <a:t>Let U(n) be the </a:t>
            </a:r>
            <a:r>
              <a:rPr lang="en-IN" sz="2400">
                <a:solidFill>
                  <a:srgbClr val="212121"/>
                </a:solidFill>
                <a:latin typeface="Trebuchet MS" panose="020B0603020202020204" pitchFamily="34" charset="0"/>
              </a:rPr>
              <a:t>running time of an algorithm A(say), then g(n) is the Upper Bound of A if there exist two constants C and N such that U(n) &lt;= C*g(n) for n &gt; N. </a:t>
            </a:r>
          </a:p>
          <a:p>
            <a:pPr marL="342900" lvl="0" indent="-342900" algn="just">
              <a:lnSpc>
                <a:spcPct val="150000"/>
              </a:lnSpc>
              <a:buClr>
                <a:srgbClr val="B84742"/>
              </a:buClr>
              <a:buFont typeface="Arial" panose="020B0604020202020204" pitchFamily="34" charset="0"/>
              <a:buChar char="•"/>
              <a:defRPr/>
            </a:pPr>
            <a:r>
              <a:rPr lang="en-IN" sz="2400">
                <a:solidFill>
                  <a:srgbClr val="212121"/>
                </a:solidFill>
                <a:latin typeface="Trebuchet MS" panose="020B0603020202020204" pitchFamily="34" charset="0"/>
              </a:rPr>
              <a:t>Upper bound of an algorithm is shown by the asymptotic notation called Big Oh(O) (or just Oh).</a:t>
            </a:r>
            <a:endParaRPr lang="en-US" sz="2400" dirty="0">
              <a:solidFill>
                <a:srgbClr val="212121"/>
              </a:solidFill>
              <a:latin typeface="Trebuchet MS" panose="020B0603020202020204" pitchFamily="34" charset="0"/>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380166" y="198118"/>
            <a:ext cx="6194322" cy="646331"/>
          </a:xfrm>
          <a:prstGeom prst="rect">
            <a:avLst/>
          </a:prstGeom>
          <a:noFill/>
        </p:spPr>
        <p:txBody>
          <a:bodyPr wrap="square">
            <a:spAutoFit/>
          </a:bodyPr>
          <a:lstStyle/>
          <a:p>
            <a:r>
              <a:rPr lang="en-US" sz="3600" b="1" dirty="0">
                <a:solidFill>
                  <a:schemeClr val="bg1"/>
                </a:solidFill>
                <a:latin typeface="Trebuchet MS" panose="020B0603020202020204" pitchFamily="34" charset="0"/>
              </a:rPr>
              <a:t>Branch &amp; Bound</a:t>
            </a:r>
            <a:endParaRPr lang="en-IN" sz="3600" b="1"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254231384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FB5F666C-6A69-BE75-0923-24F6419A5785}"/>
              </a:ext>
            </a:extLst>
          </p:cNvPr>
          <p:cNvSpPr txBox="1"/>
          <p:nvPr/>
        </p:nvSpPr>
        <p:spPr>
          <a:xfrm>
            <a:off x="521142" y="1206658"/>
            <a:ext cx="10628639" cy="4985980"/>
          </a:xfrm>
          <a:prstGeom prst="rect">
            <a:avLst/>
          </a:prstGeom>
          <a:noFill/>
        </p:spPr>
        <p:txBody>
          <a:bodyPr wrap="square">
            <a:spAutoFit/>
          </a:bodyPr>
          <a:lstStyle/>
          <a:p>
            <a:pPr marL="342900" marR="0" lvl="0" indent="-342900" algn="just" defTabSz="914400" rtl="0" eaLnBrk="1" fontAlgn="auto" latinLnBrk="0" hangingPunct="1">
              <a:lnSpc>
                <a:spcPct val="150000"/>
              </a:lnSpc>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Let us consider the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0/1 Knapsack problem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to understand Branch &amp; Bound.</a:t>
            </a:r>
          </a:p>
          <a:p>
            <a:pPr marL="342900" marR="0" lvl="0" indent="-342900" algn="just" defTabSz="914400" rtl="0" eaLnBrk="1" fontAlgn="auto" latinLnBrk="0" hangingPunct="1">
              <a:lnSpc>
                <a:spcPct val="150000"/>
              </a:lnSpc>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The Backtracking Solution can be optimized if we know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a bound on best possible</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solution subtree rooted with every node. </a:t>
            </a:r>
          </a:p>
          <a:p>
            <a:pPr marL="342900" marR="0" lvl="0" indent="-342900" algn="just" defTabSz="914400" rtl="0" eaLnBrk="1" fontAlgn="auto" latinLnBrk="0" hangingPunct="1">
              <a:lnSpc>
                <a:spcPct val="150000"/>
              </a:lnSpc>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If the best in subtree is worse than current best, we can simply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ignore this node</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and its subtrees. </a:t>
            </a:r>
          </a:p>
          <a:p>
            <a:pPr marL="342900" marR="0" lvl="0" indent="-342900" algn="just" defTabSz="914400" rtl="0" eaLnBrk="1" fontAlgn="auto" latinLnBrk="0" hangingPunct="1">
              <a:lnSpc>
                <a:spcPct val="150000"/>
              </a:lnSpc>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So, we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compute bound (the best solution) for every node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and compare the bound with current best solution before exploring the node.</a:t>
            </a:r>
          </a:p>
        </p:txBody>
      </p:sp>
      <p:sp>
        <p:nvSpPr>
          <p:cNvPr id="7" name="TextBox 6">
            <a:extLst>
              <a:ext uri="{FF2B5EF4-FFF2-40B4-BE49-F238E27FC236}">
                <a16:creationId xmlns:a16="http://schemas.microsoft.com/office/drawing/2014/main" id="{ABA9A315-24ED-4D44-5A75-7B3D3992FA79}"/>
              </a:ext>
            </a:extLst>
          </p:cNvPr>
          <p:cNvSpPr txBox="1"/>
          <p:nvPr/>
        </p:nvSpPr>
        <p:spPr>
          <a:xfrm>
            <a:off x="247431" y="198118"/>
            <a:ext cx="8173899" cy="615553"/>
          </a:xfrm>
          <a:prstGeom prst="rect">
            <a:avLst/>
          </a:prstGeom>
          <a:noFill/>
        </p:spPr>
        <p:txBody>
          <a:bodyPr wrap="square">
            <a:spAutoFit/>
          </a:bodyPr>
          <a:lstStyle/>
          <a:p>
            <a:r>
              <a:rPr kumimoji="0" lang="en-US" sz="34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Introduction </a:t>
            </a:r>
            <a:endParaRPr lang="en-IN"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25866031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FB5F666C-6A69-BE75-0923-24F6419A5785}"/>
              </a:ext>
            </a:extLst>
          </p:cNvPr>
          <p:cNvSpPr txBox="1"/>
          <p:nvPr/>
        </p:nvSpPr>
        <p:spPr>
          <a:xfrm>
            <a:off x="433738" y="1251597"/>
            <a:ext cx="11311824" cy="4456476"/>
          </a:xfrm>
          <a:prstGeom prst="rect">
            <a:avLst/>
          </a:prstGeom>
          <a:noFill/>
        </p:spPr>
        <p:txBody>
          <a:bodyPr wrap="square">
            <a:spAutoFit/>
          </a:bodyPr>
          <a:lstStyle/>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We are given a certain number of </a:t>
            </a:r>
            <a:r>
              <a:rPr kumimoji="0" lang="en-IN" sz="2400" b="1" i="0" u="none" strike="noStrike" kern="1200" cap="none" spc="0" normalizeH="0" baseline="0" noProof="0" dirty="0">
                <a:ln>
                  <a:noFill/>
                </a:ln>
                <a:solidFill>
                  <a:srgbClr val="AD1457"/>
                </a:solidFill>
                <a:effectLst/>
                <a:uLnTx/>
                <a:uFillTx/>
                <a:latin typeface="Trebuchet MS" panose="020B0603020202020204" pitchFamily="34" charset="0"/>
              </a:rPr>
              <a:t>objects</a:t>
            </a:r>
            <a:r>
              <a:rPr kumimoji="0" lang="en-IN" sz="2400" b="0" i="0" u="none" strike="noStrike" kern="1200" cap="none" spc="0" normalizeH="0" baseline="0" noProof="0" dirty="0">
                <a:ln>
                  <a:noFill/>
                </a:ln>
                <a:solidFill>
                  <a:srgbClr val="AD1457"/>
                </a:solidFill>
                <a:effectLst/>
                <a:uLnTx/>
                <a:uFillTx/>
                <a:latin typeface="Trebuchet MS" panose="020B0603020202020204" pitchFamily="34" charset="0"/>
              </a:rPr>
              <a:t> and a </a:t>
            </a:r>
            <a:r>
              <a:rPr kumimoji="0" lang="en-IN" sz="2400" b="1" i="0" u="none" strike="noStrike" kern="1200" cap="none" spc="0" normalizeH="0" baseline="0" noProof="0" dirty="0">
                <a:ln>
                  <a:noFill/>
                </a:ln>
                <a:solidFill>
                  <a:srgbClr val="AD1457"/>
                </a:solidFill>
                <a:effectLst/>
                <a:uLnTx/>
                <a:uFillTx/>
                <a:latin typeface="Trebuchet MS" panose="020B0603020202020204" pitchFamily="34" charset="0"/>
              </a:rPr>
              <a:t>knapsack.</a:t>
            </a:r>
          </a:p>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Instead of supposing that we have n objects available, we shall suppose that we have </a:t>
            </a:r>
            <a:r>
              <a:rPr kumimoji="0" lang="en-IN" sz="2400" b="1" i="0" u="none" strike="noStrike" kern="1200" cap="none" spc="0" normalizeH="0" baseline="0" noProof="0" dirty="0">
                <a:ln>
                  <a:noFill/>
                </a:ln>
                <a:solidFill>
                  <a:srgbClr val="AD1457"/>
                </a:solidFill>
                <a:effectLst/>
                <a:uLnTx/>
                <a:uFillTx/>
                <a:latin typeface="Trebuchet MS" panose="020B0603020202020204" pitchFamily="34" charset="0"/>
              </a:rPr>
              <a:t>n types of object</a:t>
            </a:r>
            <a:r>
              <a:rPr kumimoji="0" lang="en-IN" sz="2400" b="0" i="0" u="none" strike="noStrike" kern="1200" cap="none" spc="0" normalizeH="0" baseline="0" noProof="0" dirty="0">
                <a:ln>
                  <a:noFill/>
                </a:ln>
                <a:solidFill>
                  <a:srgbClr val="AD1457"/>
                </a:solidFill>
                <a:effectLst/>
                <a:uLnTx/>
                <a:uFillTx/>
                <a:latin typeface="Trebuchet MS" panose="020B0603020202020204" pitchFamily="34" charset="0"/>
              </a:rPr>
              <a:t>,</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and that an adequate number of objects of each type are available.</a:t>
            </a:r>
          </a:p>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Our aim is to fill the knapsack in a way that </a:t>
            </a:r>
            <a:r>
              <a:rPr kumimoji="0" lang="en-IN" sz="2400" b="1" i="0" u="none" strike="noStrike" kern="1200" cap="none" spc="0" normalizeH="0" baseline="0" noProof="0" dirty="0">
                <a:ln>
                  <a:noFill/>
                </a:ln>
                <a:solidFill>
                  <a:srgbClr val="AD1457"/>
                </a:solidFill>
                <a:effectLst/>
                <a:uLnTx/>
                <a:uFillTx/>
                <a:latin typeface="Trebuchet MS" panose="020B0603020202020204" pitchFamily="34" charset="0"/>
              </a:rPr>
              <a:t>maximizes the value </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of the included objects. </a:t>
            </a:r>
          </a:p>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We may take an object or leave behind, but we </a:t>
            </a:r>
            <a:r>
              <a:rPr kumimoji="0" lang="en-IN" sz="2400" b="1" i="0" u="none" strike="noStrike" kern="1200" cap="none" spc="0" normalizeH="0" baseline="0" noProof="0" dirty="0">
                <a:ln>
                  <a:noFill/>
                </a:ln>
                <a:solidFill>
                  <a:srgbClr val="AD1457"/>
                </a:solidFill>
                <a:effectLst/>
                <a:uLnTx/>
                <a:uFillTx/>
                <a:latin typeface="Trebuchet MS" panose="020B0603020202020204" pitchFamily="34" charset="0"/>
              </a:rPr>
              <a:t>may not take fraction </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of an object.</a:t>
            </a: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Introduction</a:t>
            </a:r>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 </a:t>
            </a:r>
            <a:endParaRPr lang="en-IN" sz="3200" dirty="0">
              <a:solidFill>
                <a:schemeClr val="bg1"/>
              </a:solidFill>
              <a:latin typeface="Corbel" panose="020B0503020204020204" pitchFamily="34" charset="0"/>
            </a:endParaRPr>
          </a:p>
        </p:txBody>
      </p:sp>
    </p:spTree>
    <p:extLst>
      <p:ext uri="{BB962C8B-B14F-4D97-AF65-F5344CB8AC3E}">
        <p14:creationId xmlns:p14="http://schemas.microsoft.com/office/powerpoint/2010/main" val="40297318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196800" y="167104"/>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Algorithm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CE7D54B-2EDD-D210-8CAB-97E89901F7D6}"/>
              </a:ext>
            </a:extLst>
          </p:cNvPr>
          <p:cNvSpPr txBox="1"/>
          <p:nvPr/>
        </p:nvSpPr>
        <p:spPr>
          <a:xfrm>
            <a:off x="186644" y="973137"/>
            <a:ext cx="6247752" cy="4924425"/>
          </a:xfrm>
          <a:prstGeom prst="rect">
            <a:avLst/>
          </a:prstGeom>
          <a:noFill/>
        </p:spPr>
        <p:txBody>
          <a:bodyPr wrap="square">
            <a:spAutoFit/>
          </a:bodyPr>
          <a:lstStyle/>
          <a:p>
            <a:pPr marR="0" lvl="0" algn="just" defTabSz="914400" rtl="0" eaLnBrk="1" fontAlgn="auto" latinLnBrk="0" hangingPunct="1">
              <a:spcAft>
                <a:spcPts val="600"/>
              </a:spcAft>
              <a:buClr>
                <a:srgbClr val="B84742"/>
              </a:buClr>
              <a:buSzTx/>
              <a:tabLst/>
              <a:defRPr/>
            </a:pPr>
            <a:r>
              <a:rPr kumimoji="0" lang="en-IN" sz="2200" b="1" i="0" u="none" strike="noStrike" kern="1200" cap="none" spc="0" normalizeH="0" baseline="0" noProof="0" dirty="0">
                <a:ln>
                  <a:noFill/>
                </a:ln>
                <a:solidFill>
                  <a:srgbClr val="FF0000"/>
                </a:solidFill>
                <a:effectLst/>
                <a:uLnTx/>
                <a:uFillTx/>
                <a:latin typeface="Trebuchet MS" panose="020B0603020202020204" pitchFamily="34" charset="0"/>
              </a:rPr>
              <a:t>Algorithm BB_KNAPSACK(cp, </a:t>
            </a:r>
            <a:r>
              <a:rPr kumimoji="0" lang="en-IN" sz="2200" b="1" i="0" u="none" strike="noStrike" kern="1200" cap="none" spc="0" normalizeH="0" baseline="0" noProof="0" dirty="0" err="1">
                <a:ln>
                  <a:noFill/>
                </a:ln>
                <a:solidFill>
                  <a:srgbClr val="FF0000"/>
                </a:solidFill>
                <a:effectLst/>
                <a:uLnTx/>
                <a:uFillTx/>
                <a:latin typeface="Trebuchet MS" panose="020B0603020202020204" pitchFamily="34" charset="0"/>
              </a:rPr>
              <a:t>cw</a:t>
            </a:r>
            <a:r>
              <a:rPr kumimoji="0" lang="en-IN" sz="2200" b="1" i="0" u="none" strike="noStrike" kern="1200" cap="none" spc="0" normalizeH="0" baseline="0" noProof="0" dirty="0">
                <a:ln>
                  <a:noFill/>
                </a:ln>
                <a:solidFill>
                  <a:srgbClr val="FF0000"/>
                </a:solidFill>
                <a:effectLst/>
                <a:uLnTx/>
                <a:uFillTx/>
                <a:latin typeface="Trebuchet MS" panose="020B0603020202020204" pitchFamily="34" charset="0"/>
              </a:rPr>
              <a:t>, k)</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a:ln>
                  <a:noFill/>
                </a:ln>
                <a:solidFill>
                  <a:srgbClr val="FF0000"/>
                </a:solidFill>
                <a:effectLst/>
                <a:uLnTx/>
                <a:uFillTx/>
                <a:latin typeface="Trebuchet MS" panose="020B0603020202020204" pitchFamily="34" charset="0"/>
              </a:rPr>
              <a:t>// Description : </a:t>
            </a: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Solve knapsack problem using branch and bound </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a:ln>
                  <a:noFill/>
                </a:ln>
                <a:solidFill>
                  <a:srgbClr val="FF0000"/>
                </a:solidFill>
                <a:effectLst/>
                <a:uLnTx/>
                <a:uFillTx/>
                <a:latin typeface="Trebuchet MS" panose="020B0603020202020204" pitchFamily="34" charset="0"/>
              </a:rPr>
              <a:t>// Input:	</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cp: Current profit, initially 0</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err="1">
                <a:ln>
                  <a:noFill/>
                </a:ln>
                <a:solidFill>
                  <a:srgbClr val="212121"/>
                </a:solidFill>
                <a:effectLst/>
                <a:uLnTx/>
                <a:uFillTx/>
                <a:latin typeface="Trebuchet MS" panose="020B0603020202020204" pitchFamily="34" charset="0"/>
              </a:rPr>
              <a:t>cw</a:t>
            </a: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 Current weight, initially 0</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k: Index of item being processed, initially 1</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a:ln>
                  <a:noFill/>
                </a:ln>
                <a:solidFill>
                  <a:srgbClr val="FF0000"/>
                </a:solidFill>
                <a:effectLst/>
                <a:uLnTx/>
                <a:uFillTx/>
                <a:latin typeface="Trebuchet MS" panose="020B0603020202020204" pitchFamily="34" charset="0"/>
              </a:rPr>
              <a:t>// Output: </a:t>
            </a: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	</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err="1">
                <a:ln>
                  <a:noFill/>
                </a:ln>
                <a:solidFill>
                  <a:srgbClr val="212121"/>
                </a:solidFill>
                <a:effectLst/>
                <a:uLnTx/>
                <a:uFillTx/>
                <a:latin typeface="Trebuchet MS" panose="020B0603020202020204" pitchFamily="34" charset="0"/>
              </a:rPr>
              <a:t>fp</a:t>
            </a: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 Final profit</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err="1">
                <a:ln>
                  <a:noFill/>
                </a:ln>
                <a:solidFill>
                  <a:srgbClr val="212121"/>
                </a:solidFill>
                <a:effectLst/>
                <a:uLnTx/>
                <a:uFillTx/>
                <a:latin typeface="Trebuchet MS" panose="020B0603020202020204" pitchFamily="34" charset="0"/>
              </a:rPr>
              <a:t>Fw</a:t>
            </a: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 Final weight</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X: Solution tuple</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cp ← 0</a:t>
            </a:r>
          </a:p>
        </p:txBody>
      </p:sp>
      <p:sp>
        <p:nvSpPr>
          <p:cNvPr id="8" name="TextBox 7">
            <a:extLst>
              <a:ext uri="{FF2B5EF4-FFF2-40B4-BE49-F238E27FC236}">
                <a16:creationId xmlns:a16="http://schemas.microsoft.com/office/drawing/2014/main" id="{FD6B6F6E-1C97-E180-6AAC-26125C216D55}"/>
              </a:ext>
            </a:extLst>
          </p:cNvPr>
          <p:cNvSpPr txBox="1"/>
          <p:nvPr/>
        </p:nvSpPr>
        <p:spPr>
          <a:xfrm>
            <a:off x="6571592" y="878836"/>
            <a:ext cx="6185763" cy="5909310"/>
          </a:xfrm>
          <a:prstGeom prst="rect">
            <a:avLst/>
          </a:prstGeom>
          <a:noFill/>
        </p:spPr>
        <p:txBody>
          <a:bodyPr wrap="square">
            <a:spAutoFit/>
          </a:bodyPr>
          <a:lstStyle/>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err="1">
                <a:ln>
                  <a:noFill/>
                </a:ln>
                <a:solidFill>
                  <a:srgbClr val="212121"/>
                </a:solidFill>
                <a:effectLst/>
                <a:uLnTx/>
                <a:uFillTx/>
                <a:latin typeface="Trebuchet MS" panose="020B0603020202020204" pitchFamily="34" charset="0"/>
              </a:rPr>
              <a:t>cw</a:t>
            </a: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 ← 0</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k ← 1</a:t>
            </a:r>
          </a:p>
          <a:p>
            <a:pPr>
              <a:spcBef>
                <a:spcPts val="600"/>
              </a:spcBef>
            </a:pPr>
            <a:endParaRPr lang="en-IN" sz="2200" dirty="0">
              <a:solidFill>
                <a:srgbClr val="212121"/>
              </a:solidFill>
              <a:latin typeface="Trebuchet MS" panose="020B0603020202020204" pitchFamily="34" charset="0"/>
            </a:endParaRPr>
          </a:p>
          <a:p>
            <a:pPr>
              <a:spcBef>
                <a:spcPts val="600"/>
              </a:spcBef>
            </a:pPr>
            <a:r>
              <a:rPr lang="en-IN" sz="2200" dirty="0">
                <a:solidFill>
                  <a:srgbClr val="212121"/>
                </a:solidFill>
                <a:latin typeface="Trebuchet MS" panose="020B0603020202020204" pitchFamily="34" charset="0"/>
              </a:rPr>
              <a:t>if (</a:t>
            </a:r>
            <a:r>
              <a:rPr lang="en-IN" sz="2200" dirty="0" err="1">
                <a:solidFill>
                  <a:srgbClr val="212121"/>
                </a:solidFill>
                <a:latin typeface="Trebuchet MS" panose="020B0603020202020204" pitchFamily="34" charset="0"/>
              </a:rPr>
              <a:t>cw</a:t>
            </a:r>
            <a:r>
              <a:rPr lang="en-IN" sz="2200" dirty="0">
                <a:solidFill>
                  <a:srgbClr val="212121"/>
                </a:solidFill>
                <a:latin typeface="Trebuchet MS" panose="020B0603020202020204" pitchFamily="34" charset="0"/>
              </a:rPr>
              <a:t> + w[k] ≤ M) then</a:t>
            </a:r>
          </a:p>
          <a:p>
            <a:pPr>
              <a:spcBef>
                <a:spcPts val="600"/>
              </a:spcBef>
            </a:pPr>
            <a:r>
              <a:rPr lang="en-IN" sz="2200" dirty="0">
                <a:solidFill>
                  <a:srgbClr val="212121"/>
                </a:solidFill>
                <a:latin typeface="Trebuchet MS" panose="020B0603020202020204" pitchFamily="34" charset="0"/>
              </a:rPr>
              <a:t>  Y[k]  ← 1</a:t>
            </a:r>
          </a:p>
          <a:p>
            <a:pPr>
              <a:spcBef>
                <a:spcPts val="600"/>
              </a:spcBef>
            </a:pPr>
            <a:r>
              <a:rPr lang="en-IN" sz="2200" dirty="0">
                <a:solidFill>
                  <a:srgbClr val="212121"/>
                </a:solidFill>
                <a:latin typeface="Trebuchet MS" panose="020B0603020202020204" pitchFamily="34" charset="0"/>
              </a:rPr>
              <a:t>  if (k &lt; n) then</a:t>
            </a:r>
          </a:p>
          <a:p>
            <a:pPr>
              <a:spcBef>
                <a:spcPts val="600"/>
              </a:spcBef>
            </a:pPr>
            <a:r>
              <a:rPr lang="en-IN" sz="2200" dirty="0">
                <a:solidFill>
                  <a:srgbClr val="212121"/>
                </a:solidFill>
                <a:latin typeface="Trebuchet MS" panose="020B0603020202020204" pitchFamily="34" charset="0"/>
              </a:rPr>
              <a:t>    BB_KNAPSACK(cp + p[k], </a:t>
            </a:r>
            <a:r>
              <a:rPr lang="en-IN" sz="2200" dirty="0" err="1">
                <a:solidFill>
                  <a:srgbClr val="212121"/>
                </a:solidFill>
                <a:latin typeface="Trebuchet MS" panose="020B0603020202020204" pitchFamily="34" charset="0"/>
              </a:rPr>
              <a:t>cw</a:t>
            </a:r>
            <a:r>
              <a:rPr lang="en-IN" sz="2200" dirty="0">
                <a:solidFill>
                  <a:srgbClr val="212121"/>
                </a:solidFill>
                <a:latin typeface="Trebuchet MS" panose="020B0603020202020204" pitchFamily="34" charset="0"/>
              </a:rPr>
              <a:t> + w[k], k + 1)</a:t>
            </a:r>
          </a:p>
          <a:p>
            <a:pPr>
              <a:spcBef>
                <a:spcPts val="600"/>
              </a:spcBef>
            </a:pPr>
            <a:r>
              <a:rPr lang="en-IN" sz="2200" dirty="0">
                <a:solidFill>
                  <a:srgbClr val="212121"/>
                </a:solidFill>
                <a:latin typeface="Trebuchet MS" panose="020B0603020202020204" pitchFamily="34" charset="0"/>
              </a:rPr>
              <a:t>  end</a:t>
            </a:r>
          </a:p>
          <a:p>
            <a:pPr>
              <a:spcBef>
                <a:spcPts val="600"/>
              </a:spcBef>
            </a:pPr>
            <a:r>
              <a:rPr lang="en-IN" sz="2200" dirty="0">
                <a:solidFill>
                  <a:srgbClr val="212121"/>
                </a:solidFill>
                <a:latin typeface="Trebuchet MS" panose="020B0603020202020204" pitchFamily="34" charset="0"/>
              </a:rPr>
              <a:t>  if (cp + p[k] &gt; </a:t>
            </a:r>
            <a:r>
              <a:rPr lang="en-IN" sz="2200" dirty="0" err="1">
                <a:solidFill>
                  <a:srgbClr val="212121"/>
                </a:solidFill>
                <a:latin typeface="Trebuchet MS" panose="020B0603020202020204" pitchFamily="34" charset="0"/>
              </a:rPr>
              <a:t>fp</a:t>
            </a:r>
            <a:r>
              <a:rPr lang="en-IN" sz="2200" dirty="0">
                <a:solidFill>
                  <a:srgbClr val="212121"/>
                </a:solidFill>
                <a:latin typeface="Trebuchet MS" panose="020B0603020202020204" pitchFamily="34" charset="0"/>
              </a:rPr>
              <a:t>) &amp;&amp; (k == n) then</a:t>
            </a:r>
          </a:p>
          <a:p>
            <a:pPr>
              <a:spcBef>
                <a:spcPts val="600"/>
              </a:spcBef>
            </a:pPr>
            <a:r>
              <a:rPr lang="en-IN" sz="2200" dirty="0">
                <a:solidFill>
                  <a:srgbClr val="212121"/>
                </a:solidFill>
                <a:latin typeface="Trebuchet MS" panose="020B0603020202020204" pitchFamily="34" charset="0"/>
              </a:rPr>
              <a:t>    </a:t>
            </a:r>
            <a:r>
              <a:rPr lang="en-IN" sz="2200" dirty="0" err="1">
                <a:solidFill>
                  <a:srgbClr val="212121"/>
                </a:solidFill>
                <a:latin typeface="Trebuchet MS" panose="020B0603020202020204" pitchFamily="34" charset="0"/>
              </a:rPr>
              <a:t>fp</a:t>
            </a:r>
            <a:r>
              <a:rPr lang="en-IN" sz="2200" dirty="0">
                <a:solidFill>
                  <a:srgbClr val="212121"/>
                </a:solidFill>
                <a:latin typeface="Trebuchet MS" panose="020B0603020202020204" pitchFamily="34" charset="0"/>
              </a:rPr>
              <a:t> ← cp + c[k]</a:t>
            </a:r>
          </a:p>
          <a:p>
            <a:pPr>
              <a:spcBef>
                <a:spcPts val="600"/>
              </a:spcBef>
            </a:pPr>
            <a:r>
              <a:rPr lang="en-IN" sz="2200" dirty="0">
                <a:solidFill>
                  <a:srgbClr val="212121"/>
                </a:solidFill>
                <a:latin typeface="Trebuchet MS" panose="020B0603020202020204" pitchFamily="34" charset="0"/>
              </a:rPr>
              <a:t>    </a:t>
            </a:r>
            <a:r>
              <a:rPr lang="en-IN" sz="2200" dirty="0" err="1">
                <a:solidFill>
                  <a:srgbClr val="212121"/>
                </a:solidFill>
                <a:latin typeface="Trebuchet MS" panose="020B0603020202020204" pitchFamily="34" charset="0"/>
              </a:rPr>
              <a:t>fw</a:t>
            </a:r>
            <a:r>
              <a:rPr lang="en-IN" sz="2200" dirty="0">
                <a:solidFill>
                  <a:srgbClr val="212121"/>
                </a:solidFill>
                <a:latin typeface="Trebuchet MS" panose="020B0603020202020204" pitchFamily="34" charset="0"/>
              </a:rPr>
              <a:t> ← </a:t>
            </a:r>
            <a:r>
              <a:rPr lang="en-IN" sz="2200" dirty="0" err="1">
                <a:solidFill>
                  <a:srgbClr val="212121"/>
                </a:solidFill>
                <a:latin typeface="Trebuchet MS" panose="020B0603020202020204" pitchFamily="34" charset="0"/>
              </a:rPr>
              <a:t>cw</a:t>
            </a:r>
            <a:r>
              <a:rPr lang="en-IN" sz="2200" dirty="0">
                <a:solidFill>
                  <a:srgbClr val="212121"/>
                </a:solidFill>
                <a:latin typeface="Trebuchet MS" panose="020B0603020202020204" pitchFamily="34" charset="0"/>
              </a:rPr>
              <a:t> + w[k]</a:t>
            </a:r>
          </a:p>
          <a:p>
            <a:pPr>
              <a:spcBef>
                <a:spcPts val="600"/>
              </a:spcBef>
            </a:pPr>
            <a:r>
              <a:rPr lang="en-IN" sz="2200" dirty="0">
                <a:solidFill>
                  <a:srgbClr val="212121"/>
                </a:solidFill>
                <a:latin typeface="Trebuchet MS" panose="020B0603020202020204" pitchFamily="34" charset="0"/>
              </a:rPr>
              <a:t>    X ← Y</a:t>
            </a:r>
          </a:p>
          <a:p>
            <a:pPr>
              <a:spcBef>
                <a:spcPts val="600"/>
              </a:spcBef>
            </a:pPr>
            <a:r>
              <a:rPr lang="en-IN" sz="2200" dirty="0">
                <a:solidFill>
                  <a:srgbClr val="212121"/>
                </a:solidFill>
                <a:latin typeface="Trebuchet MS" panose="020B0603020202020204" pitchFamily="34" charset="0"/>
              </a:rPr>
              <a:t>  end</a:t>
            </a:r>
          </a:p>
          <a:p>
            <a:pPr>
              <a:spcBef>
                <a:spcPts val="600"/>
              </a:spcBef>
            </a:pPr>
            <a:r>
              <a:rPr lang="en-IN" sz="2200" dirty="0">
                <a:solidFill>
                  <a:srgbClr val="212121"/>
                </a:solidFill>
                <a:latin typeface="Trebuchet MS" panose="020B0603020202020204" pitchFamily="34" charset="0"/>
              </a:rPr>
              <a:t>end</a:t>
            </a:r>
          </a:p>
        </p:txBody>
      </p:sp>
      <p:cxnSp>
        <p:nvCxnSpPr>
          <p:cNvPr id="10" name="Straight Connector 9">
            <a:extLst>
              <a:ext uri="{FF2B5EF4-FFF2-40B4-BE49-F238E27FC236}">
                <a16:creationId xmlns:a16="http://schemas.microsoft.com/office/drawing/2014/main" id="{2CD242DB-5638-0ACB-5380-B513C55EEA95}"/>
              </a:ext>
            </a:extLst>
          </p:cNvPr>
          <p:cNvCxnSpPr>
            <a:cxnSpLocks/>
          </p:cNvCxnSpPr>
          <p:nvPr/>
        </p:nvCxnSpPr>
        <p:spPr>
          <a:xfrm flipH="1">
            <a:off x="6571592" y="964980"/>
            <a:ext cx="10781" cy="5886654"/>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75748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FB5F666C-6A69-BE75-0923-24F6419A5785}"/>
              </a:ext>
            </a:extLst>
          </p:cNvPr>
          <p:cNvSpPr txBox="1"/>
          <p:nvPr/>
        </p:nvSpPr>
        <p:spPr>
          <a:xfrm>
            <a:off x="525788" y="1070134"/>
            <a:ext cx="4750415" cy="5278368"/>
          </a:xfrm>
          <a:prstGeom prst="rect">
            <a:avLst/>
          </a:prstGeom>
          <a:noFill/>
        </p:spPr>
        <p:txBody>
          <a:bodyPr wrap="square">
            <a:spAutoFit/>
          </a:bodyPr>
          <a:lstStyle/>
          <a:p>
            <a:pPr marR="0" lvl="0" algn="just" defTabSz="914400" rtl="0" eaLnBrk="1" fontAlgn="auto" latinLnBrk="0" hangingPunct="1">
              <a:spcAft>
                <a:spcPts val="600"/>
              </a:spcAft>
              <a:buClr>
                <a:srgbClr val="B84742"/>
              </a:buClr>
              <a:buSzTx/>
              <a:tabLst/>
              <a:defRPr/>
            </a:pPr>
            <a:endParaRPr kumimoji="0" lang="en-IN" b="0" i="0" u="none" strike="noStrike" kern="1200" cap="none" spc="0" normalizeH="0" baseline="0" noProof="0" dirty="0">
              <a:ln>
                <a:noFill/>
              </a:ln>
              <a:solidFill>
                <a:srgbClr val="212121"/>
              </a:solidFill>
              <a:effectLst/>
              <a:uLnTx/>
              <a:uFillTx/>
              <a:latin typeface="Trebuchet MS" panose="020B0603020202020204" pitchFamily="34" charset="0"/>
            </a:endParaRP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if BOUND(cp, </a:t>
            </a:r>
            <a:r>
              <a:rPr kumimoji="0" lang="en-IN" sz="2400" b="0" i="0" u="none" strike="noStrike" kern="1200" cap="none" spc="0" normalizeH="0" baseline="0" noProof="0" dirty="0" err="1">
                <a:ln>
                  <a:noFill/>
                </a:ln>
                <a:solidFill>
                  <a:srgbClr val="212121"/>
                </a:solidFill>
                <a:effectLst/>
                <a:uLnTx/>
                <a:uFillTx/>
                <a:latin typeface="Trebuchet MS" panose="020B0603020202020204" pitchFamily="34" charset="0"/>
              </a:rPr>
              <a:t>cw</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k) ≥ </a:t>
            </a:r>
            <a:r>
              <a:rPr kumimoji="0" lang="en-IN" sz="2400" b="0" i="0" u="none" strike="noStrike" kern="1200" cap="none" spc="0" normalizeH="0" baseline="0" noProof="0" dirty="0" err="1">
                <a:ln>
                  <a:noFill/>
                </a:ln>
                <a:solidFill>
                  <a:srgbClr val="212121"/>
                </a:solidFill>
                <a:effectLst/>
                <a:uLnTx/>
                <a:uFillTx/>
                <a:latin typeface="Trebuchet MS" panose="020B0603020202020204" pitchFamily="34" charset="0"/>
              </a:rPr>
              <a:t>fp</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then</a:t>
            </a: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Y[k] ← 0</a:t>
            </a: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if (k &lt; n) then</a:t>
            </a: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BB_KNAPSACK(cp, </a:t>
            </a:r>
            <a:r>
              <a:rPr kumimoji="0" lang="en-IN" sz="2400" b="0" i="0" u="none" strike="noStrike" kern="1200" cap="none" spc="0" normalizeH="0" baseline="0" noProof="0" dirty="0" err="1">
                <a:ln>
                  <a:noFill/>
                </a:ln>
                <a:solidFill>
                  <a:srgbClr val="212121"/>
                </a:solidFill>
                <a:effectLst/>
                <a:uLnTx/>
                <a:uFillTx/>
                <a:latin typeface="Trebuchet MS" panose="020B0603020202020204" pitchFamily="34" charset="0"/>
              </a:rPr>
              <a:t>cw</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k + 1)</a:t>
            </a: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end</a:t>
            </a: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if( cp&gt;</a:t>
            </a:r>
            <a:r>
              <a:rPr kumimoji="0" lang="en-IN" sz="2400" b="0" i="0" u="none" strike="noStrike" kern="1200" cap="none" spc="0" normalizeH="0" baseline="0" noProof="0" dirty="0" err="1">
                <a:ln>
                  <a:noFill/>
                </a:ln>
                <a:solidFill>
                  <a:srgbClr val="212121"/>
                </a:solidFill>
                <a:effectLst/>
                <a:uLnTx/>
                <a:uFillTx/>
                <a:latin typeface="Trebuchet MS" panose="020B0603020202020204" pitchFamily="34" charset="0"/>
              </a:rPr>
              <a:t>fp</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 &amp;&amp; ( k == n ) then</a:t>
            </a: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a:t>
            </a:r>
            <a:r>
              <a:rPr kumimoji="0" lang="en-IN" sz="2400" b="0" i="0" u="none" strike="noStrike" kern="1200" cap="none" spc="0" normalizeH="0" baseline="0" noProof="0" dirty="0" err="1">
                <a:ln>
                  <a:noFill/>
                </a:ln>
                <a:solidFill>
                  <a:srgbClr val="212121"/>
                </a:solidFill>
                <a:effectLst/>
                <a:uLnTx/>
                <a:uFillTx/>
                <a:latin typeface="Trebuchet MS" panose="020B0603020202020204" pitchFamily="34" charset="0"/>
              </a:rPr>
              <a:t>fp</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 cp</a:t>
            </a: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a:t>
            </a:r>
            <a:r>
              <a:rPr kumimoji="0" lang="en-IN" sz="2400" b="0" i="0" u="none" strike="noStrike" kern="1200" cap="none" spc="0" normalizeH="0" baseline="0" noProof="0" dirty="0" err="1">
                <a:ln>
                  <a:noFill/>
                </a:ln>
                <a:solidFill>
                  <a:srgbClr val="212121"/>
                </a:solidFill>
                <a:effectLst/>
                <a:uLnTx/>
                <a:uFillTx/>
                <a:latin typeface="Trebuchet MS" panose="020B0603020202020204" pitchFamily="34" charset="0"/>
              </a:rPr>
              <a:t>fw</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 </a:t>
            </a:r>
            <a:r>
              <a:rPr kumimoji="0" lang="en-IN" sz="2400" b="0" i="0" u="none" strike="noStrike" kern="1200" cap="none" spc="0" normalizeH="0" baseline="0" noProof="0" dirty="0" err="1">
                <a:ln>
                  <a:noFill/>
                </a:ln>
                <a:solidFill>
                  <a:srgbClr val="212121"/>
                </a:solidFill>
                <a:effectLst/>
                <a:uLnTx/>
                <a:uFillTx/>
                <a:latin typeface="Trebuchet MS" panose="020B0603020202020204" pitchFamily="34" charset="0"/>
              </a:rPr>
              <a:t>cw</a:t>
            </a:r>
            <a:endPar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endParaRP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X ← Y</a:t>
            </a: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end</a:t>
            </a: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end</a:t>
            </a:r>
            <a:endParaRPr kumimoji="0" lang="en-IN" b="0" i="0" u="none" strike="noStrike" kern="1200" cap="none" spc="0" normalizeH="0" baseline="0" noProof="0" dirty="0">
              <a:ln>
                <a:noFill/>
              </a:ln>
              <a:solidFill>
                <a:srgbClr val="212121"/>
              </a:solidFill>
              <a:effectLst/>
              <a:uLnTx/>
              <a:uFillTx/>
              <a:latin typeface="Trebuchet MS" panose="020B0603020202020204" pitchFamily="34" charset="0"/>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Algorithm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76185843-6326-EBE4-9C3F-09A5F459E4CF}"/>
              </a:ext>
            </a:extLst>
          </p:cNvPr>
          <p:cNvSpPr txBox="1"/>
          <p:nvPr/>
        </p:nvSpPr>
        <p:spPr>
          <a:xfrm>
            <a:off x="5657015" y="1054745"/>
            <a:ext cx="6194322" cy="5293757"/>
          </a:xfrm>
          <a:prstGeom prst="rect">
            <a:avLst/>
          </a:prstGeom>
          <a:noFill/>
        </p:spPr>
        <p:txBody>
          <a:bodyPr wrap="square">
            <a:spAutoFit/>
          </a:bodyPr>
          <a:lstStyle/>
          <a:p>
            <a:r>
              <a:rPr lang="en-IN" sz="2400" b="1" dirty="0">
                <a:solidFill>
                  <a:srgbClr val="FF0000"/>
                </a:solidFill>
                <a:latin typeface="Trebuchet MS" panose="020B0603020202020204" pitchFamily="34" charset="0"/>
              </a:rPr>
              <a:t>Upper bound is computed as follow :</a:t>
            </a:r>
          </a:p>
          <a:p>
            <a:endParaRPr lang="en-IN" sz="2400" b="1" dirty="0">
              <a:solidFill>
                <a:srgbClr val="FF0000"/>
              </a:solidFill>
              <a:latin typeface="Trebuchet MS" panose="020B0603020202020204" pitchFamily="34" charset="0"/>
            </a:endParaRPr>
          </a:p>
          <a:p>
            <a:pPr>
              <a:spcBef>
                <a:spcPts val="600"/>
              </a:spcBef>
            </a:pPr>
            <a:r>
              <a:rPr lang="en-IN" sz="2400" dirty="0">
                <a:solidFill>
                  <a:srgbClr val="212121"/>
                </a:solidFill>
                <a:latin typeface="Trebuchet MS" panose="020B0603020202020204" pitchFamily="34" charset="0"/>
              </a:rPr>
              <a:t>Function BOUND(cp, </a:t>
            </a:r>
            <a:r>
              <a:rPr lang="en-IN" sz="2400" dirty="0" err="1">
                <a:solidFill>
                  <a:srgbClr val="212121"/>
                </a:solidFill>
                <a:latin typeface="Trebuchet MS" panose="020B0603020202020204" pitchFamily="34" charset="0"/>
              </a:rPr>
              <a:t>cw</a:t>
            </a:r>
            <a:r>
              <a:rPr lang="en-IN" sz="2400" dirty="0">
                <a:solidFill>
                  <a:srgbClr val="212121"/>
                </a:solidFill>
                <a:latin typeface="Trebuchet MS" panose="020B0603020202020204" pitchFamily="34" charset="0"/>
              </a:rPr>
              <a:t>, k)</a:t>
            </a:r>
          </a:p>
          <a:p>
            <a:pPr>
              <a:spcBef>
                <a:spcPts val="600"/>
              </a:spcBef>
            </a:pPr>
            <a:r>
              <a:rPr lang="en-IN" sz="2400" dirty="0">
                <a:solidFill>
                  <a:srgbClr val="212121"/>
                </a:solidFill>
                <a:latin typeface="Trebuchet MS" panose="020B0603020202020204" pitchFamily="34" charset="0"/>
              </a:rPr>
              <a:t>b ← cp</a:t>
            </a:r>
          </a:p>
          <a:p>
            <a:pPr>
              <a:spcBef>
                <a:spcPts val="600"/>
              </a:spcBef>
            </a:pPr>
            <a:r>
              <a:rPr lang="en-IN" sz="2400" dirty="0">
                <a:solidFill>
                  <a:srgbClr val="212121"/>
                </a:solidFill>
                <a:latin typeface="Trebuchet MS" panose="020B0603020202020204" pitchFamily="34" charset="0"/>
              </a:rPr>
              <a:t>c ← </a:t>
            </a:r>
            <a:r>
              <a:rPr lang="en-IN" sz="2400" dirty="0" err="1">
                <a:solidFill>
                  <a:srgbClr val="212121"/>
                </a:solidFill>
                <a:latin typeface="Trebuchet MS" panose="020B0603020202020204" pitchFamily="34" charset="0"/>
              </a:rPr>
              <a:t>cw</a:t>
            </a:r>
            <a:endParaRPr lang="en-IN" sz="2400" dirty="0">
              <a:solidFill>
                <a:srgbClr val="212121"/>
              </a:solidFill>
              <a:latin typeface="Trebuchet MS" panose="020B0603020202020204" pitchFamily="34" charset="0"/>
            </a:endParaRPr>
          </a:p>
          <a:p>
            <a:pPr>
              <a:spcBef>
                <a:spcPts val="600"/>
              </a:spcBef>
            </a:pPr>
            <a:r>
              <a:rPr lang="en-IN" sz="2400" dirty="0">
                <a:solidFill>
                  <a:srgbClr val="212121"/>
                </a:solidFill>
                <a:latin typeface="Trebuchet MS" panose="020B0603020202020204" pitchFamily="34" charset="0"/>
              </a:rPr>
              <a:t>for </a:t>
            </a:r>
            <a:r>
              <a:rPr lang="en-IN" sz="2400" dirty="0" err="1">
                <a:solidFill>
                  <a:srgbClr val="212121"/>
                </a:solidFill>
                <a:latin typeface="Trebuchet MS" panose="020B0603020202020204" pitchFamily="34" charset="0"/>
              </a:rPr>
              <a:t>i</a:t>
            </a:r>
            <a:r>
              <a:rPr lang="en-IN" sz="2400" dirty="0">
                <a:solidFill>
                  <a:srgbClr val="212121"/>
                </a:solidFill>
                <a:latin typeface="Trebuchet MS" panose="020B0603020202020204" pitchFamily="34" charset="0"/>
              </a:rPr>
              <a:t> ← k + 1 to n do</a:t>
            </a:r>
          </a:p>
          <a:p>
            <a:pPr>
              <a:spcBef>
                <a:spcPts val="600"/>
              </a:spcBef>
            </a:pPr>
            <a:r>
              <a:rPr lang="en-IN" sz="2400" dirty="0">
                <a:solidFill>
                  <a:srgbClr val="212121"/>
                </a:solidFill>
                <a:latin typeface="Trebuchet MS" panose="020B0603020202020204" pitchFamily="34" charset="0"/>
              </a:rPr>
              <a:t>  if (c + w[</a:t>
            </a:r>
            <a:r>
              <a:rPr lang="en-IN" sz="2400" dirty="0" err="1">
                <a:solidFill>
                  <a:srgbClr val="212121"/>
                </a:solidFill>
                <a:latin typeface="Trebuchet MS" panose="020B0603020202020204" pitchFamily="34" charset="0"/>
              </a:rPr>
              <a:t>i</a:t>
            </a:r>
            <a:r>
              <a:rPr lang="en-IN" sz="2400" dirty="0">
                <a:solidFill>
                  <a:srgbClr val="212121"/>
                </a:solidFill>
                <a:latin typeface="Trebuchet MS" panose="020B0603020202020204" pitchFamily="34" charset="0"/>
              </a:rPr>
              <a:t>] ≤ M) then</a:t>
            </a:r>
          </a:p>
          <a:p>
            <a:pPr>
              <a:spcBef>
                <a:spcPts val="600"/>
              </a:spcBef>
            </a:pPr>
            <a:r>
              <a:rPr lang="en-IN" sz="2400" dirty="0">
                <a:solidFill>
                  <a:srgbClr val="212121"/>
                </a:solidFill>
                <a:latin typeface="Trebuchet MS" panose="020B0603020202020204" pitchFamily="34" charset="0"/>
              </a:rPr>
              <a:t>    c ← c + w[</a:t>
            </a:r>
            <a:r>
              <a:rPr lang="en-IN" sz="2400" dirty="0" err="1">
                <a:solidFill>
                  <a:srgbClr val="212121"/>
                </a:solidFill>
                <a:latin typeface="Trebuchet MS" panose="020B0603020202020204" pitchFamily="34" charset="0"/>
              </a:rPr>
              <a:t>i</a:t>
            </a:r>
            <a:r>
              <a:rPr lang="en-IN" sz="2400" dirty="0">
                <a:solidFill>
                  <a:srgbClr val="212121"/>
                </a:solidFill>
                <a:latin typeface="Trebuchet MS" panose="020B0603020202020204" pitchFamily="34" charset="0"/>
              </a:rPr>
              <a:t>]</a:t>
            </a:r>
          </a:p>
          <a:p>
            <a:pPr>
              <a:spcBef>
                <a:spcPts val="600"/>
              </a:spcBef>
            </a:pPr>
            <a:r>
              <a:rPr lang="en-IN" sz="2400" dirty="0">
                <a:solidFill>
                  <a:srgbClr val="212121"/>
                </a:solidFill>
                <a:latin typeface="Trebuchet MS" panose="020B0603020202020204" pitchFamily="34" charset="0"/>
              </a:rPr>
              <a:t>    b ← b – p[</a:t>
            </a:r>
            <a:r>
              <a:rPr lang="en-IN" sz="2400" dirty="0" err="1">
                <a:solidFill>
                  <a:srgbClr val="212121"/>
                </a:solidFill>
                <a:latin typeface="Trebuchet MS" panose="020B0603020202020204" pitchFamily="34" charset="0"/>
              </a:rPr>
              <a:t>i</a:t>
            </a:r>
            <a:r>
              <a:rPr lang="en-IN" sz="2400" dirty="0">
                <a:solidFill>
                  <a:srgbClr val="212121"/>
                </a:solidFill>
                <a:latin typeface="Trebuchet MS" panose="020B0603020202020204" pitchFamily="34" charset="0"/>
              </a:rPr>
              <a:t>]</a:t>
            </a:r>
          </a:p>
          <a:p>
            <a:pPr>
              <a:spcBef>
                <a:spcPts val="600"/>
              </a:spcBef>
            </a:pPr>
            <a:r>
              <a:rPr lang="en-IN" sz="2400" dirty="0">
                <a:solidFill>
                  <a:srgbClr val="212121"/>
                </a:solidFill>
                <a:latin typeface="Trebuchet MS" panose="020B0603020202020204" pitchFamily="34" charset="0"/>
              </a:rPr>
              <a:t>  end</a:t>
            </a:r>
          </a:p>
          <a:p>
            <a:pPr>
              <a:spcBef>
                <a:spcPts val="600"/>
              </a:spcBef>
            </a:pPr>
            <a:r>
              <a:rPr lang="en-IN" sz="2400" dirty="0">
                <a:solidFill>
                  <a:srgbClr val="212121"/>
                </a:solidFill>
                <a:latin typeface="Trebuchet MS" panose="020B0603020202020204" pitchFamily="34" charset="0"/>
              </a:rPr>
              <a:t>end</a:t>
            </a:r>
          </a:p>
          <a:p>
            <a:pPr>
              <a:spcBef>
                <a:spcPts val="600"/>
              </a:spcBef>
            </a:pPr>
            <a:r>
              <a:rPr lang="en-IN" sz="2400" dirty="0">
                <a:solidFill>
                  <a:srgbClr val="212121"/>
                </a:solidFill>
                <a:latin typeface="Trebuchet MS" panose="020B0603020202020204" pitchFamily="34" charset="0"/>
              </a:rPr>
              <a:t>return b</a:t>
            </a:r>
            <a:endParaRPr lang="en-IN" dirty="0">
              <a:solidFill>
                <a:srgbClr val="212121"/>
              </a:solidFill>
              <a:latin typeface="Trebuchet MS" panose="020B0603020202020204" pitchFamily="34" charset="0"/>
            </a:endParaRPr>
          </a:p>
        </p:txBody>
      </p:sp>
      <p:cxnSp>
        <p:nvCxnSpPr>
          <p:cNvPr id="8" name="Straight Connector 7">
            <a:extLst>
              <a:ext uri="{FF2B5EF4-FFF2-40B4-BE49-F238E27FC236}">
                <a16:creationId xmlns:a16="http://schemas.microsoft.com/office/drawing/2014/main" id="{F3825321-E4A5-D5FC-81F9-1B68C5EFCF27}"/>
              </a:ext>
            </a:extLst>
          </p:cNvPr>
          <p:cNvCxnSpPr>
            <a:cxnSpLocks/>
          </p:cNvCxnSpPr>
          <p:nvPr/>
        </p:nvCxnSpPr>
        <p:spPr>
          <a:xfrm>
            <a:off x="5403140" y="924536"/>
            <a:ext cx="0" cy="5800729"/>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3986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a:t>
            </a:r>
            <a:endParaRPr lang="en-IN" sz="3200" dirty="0">
              <a:solidFill>
                <a:schemeClr val="bg1"/>
              </a:solidFill>
              <a:latin typeface="Trebuchet MS" panose="020B0603020202020204" pitchFamily="34" charset="0"/>
            </a:endParaRPr>
          </a:p>
        </p:txBody>
      </p:sp>
      <p:sp>
        <p:nvSpPr>
          <p:cNvPr id="7" name="TextBox 6">
            <a:extLst>
              <a:ext uri="{FF2B5EF4-FFF2-40B4-BE49-F238E27FC236}">
                <a16:creationId xmlns:a16="http://schemas.microsoft.com/office/drawing/2014/main" id="{A472FAC9-49D7-84DF-6D01-E3F114EE891F}"/>
              </a:ext>
            </a:extLst>
          </p:cNvPr>
          <p:cNvSpPr txBox="1"/>
          <p:nvPr/>
        </p:nvSpPr>
        <p:spPr>
          <a:xfrm>
            <a:off x="558481" y="1358567"/>
            <a:ext cx="10854812" cy="4893647"/>
          </a:xfrm>
          <a:prstGeom prst="rect">
            <a:avLst/>
          </a:prstGeom>
          <a:noFill/>
        </p:spPr>
        <p:txBody>
          <a:bodyPr wrap="square">
            <a:spAutoFit/>
          </a:bodyPr>
          <a:lstStyle/>
          <a:p>
            <a:pPr marL="285750" indent="-285750">
              <a:buFont typeface="Arial" panose="020B0604020202020204" pitchFamily="34" charset="0"/>
              <a:buChar char="•"/>
            </a:pPr>
            <a:r>
              <a:rPr lang="en-IN" sz="2400" dirty="0">
                <a:latin typeface="Trebuchet MS" panose="020B0603020202020204" pitchFamily="34" charset="0"/>
              </a:rPr>
              <a:t>The bounding function is a heuristic computation. For the same problem, there may be different bounding functions. Apart from the above-discussed bounding function, another very popular bounding function for knapsack is,</a:t>
            </a:r>
          </a:p>
          <a:p>
            <a:endParaRPr lang="en-IN" sz="2400" dirty="0">
              <a:latin typeface="Trebuchet MS" panose="020B0603020202020204" pitchFamily="34" charset="0"/>
            </a:endParaRPr>
          </a:p>
          <a:p>
            <a:r>
              <a:rPr lang="en-IN" sz="2400" dirty="0">
                <a:latin typeface="Trebuchet MS" panose="020B0603020202020204" pitchFamily="34" charset="0"/>
              </a:rPr>
              <a:t>	</a:t>
            </a:r>
            <a:r>
              <a:rPr lang="en-IN" sz="2400" dirty="0" err="1">
                <a:latin typeface="Trebuchet MS" panose="020B0603020202020204" pitchFamily="34" charset="0"/>
              </a:rPr>
              <a:t>ub</a:t>
            </a:r>
            <a:r>
              <a:rPr lang="en-IN" sz="2400" dirty="0">
                <a:latin typeface="Trebuchet MS" panose="020B0603020202020204" pitchFamily="34" charset="0"/>
              </a:rPr>
              <a:t>   =   v + (W – w) * (vi+1 / wi+1)</a:t>
            </a:r>
          </a:p>
          <a:p>
            <a:endParaRPr lang="en-IN" sz="2400" dirty="0">
              <a:latin typeface="Trebuchet MS" panose="020B0603020202020204" pitchFamily="34" charset="0"/>
            </a:endParaRPr>
          </a:p>
          <a:p>
            <a:r>
              <a:rPr lang="en-IN" sz="2400" dirty="0">
                <a:latin typeface="Trebuchet MS" panose="020B0603020202020204" pitchFamily="34" charset="0"/>
              </a:rPr>
              <a:t>     where,</a:t>
            </a:r>
          </a:p>
          <a:p>
            <a:endParaRPr lang="en-IN" sz="2400" dirty="0">
              <a:latin typeface="Trebuchet MS" panose="020B0603020202020204" pitchFamily="34" charset="0"/>
            </a:endParaRPr>
          </a:p>
          <a:p>
            <a:pPr marL="742950" lvl="1" indent="-285750">
              <a:buFont typeface="Wingdings" panose="05000000000000000000" pitchFamily="2" charset="2"/>
              <a:buChar char="ü"/>
            </a:pPr>
            <a:r>
              <a:rPr lang="en-IN" sz="2400" dirty="0">
                <a:latin typeface="Trebuchet MS" panose="020B0603020202020204" pitchFamily="34" charset="0"/>
              </a:rPr>
              <a:t>v is value/profit associated with selected items from the first </a:t>
            </a:r>
            <a:r>
              <a:rPr lang="en-IN" sz="2400" dirty="0" err="1">
                <a:latin typeface="Trebuchet MS" panose="020B0603020202020204" pitchFamily="34" charset="0"/>
              </a:rPr>
              <a:t>i</a:t>
            </a:r>
            <a:r>
              <a:rPr lang="en-IN" sz="2400" dirty="0">
                <a:latin typeface="Trebuchet MS" panose="020B0603020202020204" pitchFamily="34" charset="0"/>
              </a:rPr>
              <a:t> items.</a:t>
            </a:r>
          </a:p>
          <a:p>
            <a:pPr lvl="1"/>
            <a:endParaRPr lang="en-IN" sz="2400" dirty="0">
              <a:latin typeface="Trebuchet MS" panose="020B0603020202020204" pitchFamily="34" charset="0"/>
            </a:endParaRPr>
          </a:p>
          <a:p>
            <a:pPr marL="742950" lvl="1" indent="-285750">
              <a:buFont typeface="Wingdings" panose="05000000000000000000" pitchFamily="2" charset="2"/>
              <a:buChar char="ü"/>
            </a:pPr>
            <a:r>
              <a:rPr lang="en-IN" sz="2400" dirty="0">
                <a:latin typeface="Trebuchet MS" panose="020B0603020202020204" pitchFamily="34" charset="0"/>
              </a:rPr>
              <a:t>W is the capacity of the knapsack.</a:t>
            </a:r>
          </a:p>
          <a:p>
            <a:pPr lvl="1"/>
            <a:endParaRPr lang="en-IN" sz="2400" dirty="0">
              <a:latin typeface="Trebuchet MS" panose="020B0603020202020204" pitchFamily="34" charset="0"/>
            </a:endParaRPr>
          </a:p>
          <a:p>
            <a:pPr marL="742950" lvl="1" indent="-285750">
              <a:buFont typeface="Wingdings" panose="05000000000000000000" pitchFamily="2" charset="2"/>
              <a:buChar char="ü"/>
            </a:pPr>
            <a:r>
              <a:rPr lang="en-IN" sz="2400" dirty="0">
                <a:latin typeface="Trebuchet MS" panose="020B0603020202020204" pitchFamily="34" charset="0"/>
              </a:rPr>
              <a:t>w is the weight of selected items from first </a:t>
            </a:r>
            <a:r>
              <a:rPr lang="en-IN" sz="2400" dirty="0" err="1">
                <a:latin typeface="Trebuchet MS" panose="020B0603020202020204" pitchFamily="34" charset="0"/>
              </a:rPr>
              <a:t>i</a:t>
            </a:r>
            <a:r>
              <a:rPr lang="en-IN" sz="2400" dirty="0">
                <a:latin typeface="Trebuchet MS" panose="020B0603020202020204" pitchFamily="34" charset="0"/>
              </a:rPr>
              <a:t> items</a:t>
            </a:r>
          </a:p>
        </p:txBody>
      </p:sp>
    </p:spTree>
    <p:extLst>
      <p:ext uri="{BB962C8B-B14F-4D97-AF65-F5344CB8AC3E}">
        <p14:creationId xmlns:p14="http://schemas.microsoft.com/office/powerpoint/2010/main" val="39346472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a:t>
            </a:r>
            <a:endParaRPr lang="en-IN" sz="3200" dirty="0">
              <a:solidFill>
                <a:schemeClr val="bg1"/>
              </a:solidFill>
              <a:latin typeface="Trebuchet MS" panose="020B0603020202020204" pitchFamily="34" charset="0"/>
            </a:endParaRPr>
          </a:p>
        </p:txBody>
      </p:sp>
      <p:sp>
        <p:nvSpPr>
          <p:cNvPr id="7" name="TextBox 6">
            <a:extLst>
              <a:ext uri="{FF2B5EF4-FFF2-40B4-BE49-F238E27FC236}">
                <a16:creationId xmlns:a16="http://schemas.microsoft.com/office/drawing/2014/main" id="{A472FAC9-49D7-84DF-6D01-E3F114EE891F}"/>
              </a:ext>
            </a:extLst>
          </p:cNvPr>
          <p:cNvSpPr txBox="1"/>
          <p:nvPr/>
        </p:nvSpPr>
        <p:spPr>
          <a:xfrm>
            <a:off x="455242" y="1335484"/>
            <a:ext cx="10854812" cy="4939814"/>
          </a:xfrm>
          <a:prstGeom prst="rect">
            <a:avLst/>
          </a:prstGeom>
          <a:noFill/>
        </p:spPr>
        <p:txBody>
          <a:bodyPr wrap="square">
            <a:spAutoFit/>
          </a:bodyPr>
          <a:lstStyle/>
          <a:p>
            <a:pPr marL="342900" indent="-342900" algn="just">
              <a:spcBef>
                <a:spcPts val="1200"/>
              </a:spcBef>
              <a:spcAft>
                <a:spcPts val="600"/>
              </a:spcAft>
              <a:buClr>
                <a:srgbClr val="B84742"/>
              </a:buClr>
              <a:buFont typeface="Arial" panose="020B0604020202020204" pitchFamily="34" charset="0"/>
              <a:buChar char="•"/>
              <a:defRPr/>
            </a:pPr>
            <a:r>
              <a:rPr lang="en-IN" sz="2400" dirty="0">
                <a:solidFill>
                  <a:srgbClr val="212121"/>
                </a:solidFill>
                <a:latin typeface="Trebuchet MS" panose="020B0603020202020204" pitchFamily="34" charset="0"/>
              </a:rPr>
              <a:t>Given n items of known weights </a:t>
            </a:r>
            <a:r>
              <a:rPr lang="en-IN" sz="2400" dirty="0" err="1">
                <a:solidFill>
                  <a:srgbClr val="212121"/>
                </a:solidFill>
                <a:latin typeface="Trebuchet MS" panose="020B0603020202020204" pitchFamily="34" charset="0"/>
              </a:rPr>
              <a:t>wi</a:t>
            </a:r>
            <a:r>
              <a:rPr lang="en-IN" sz="2400" dirty="0">
                <a:solidFill>
                  <a:srgbClr val="212121"/>
                </a:solidFill>
                <a:latin typeface="Trebuchet MS" panose="020B0603020202020204" pitchFamily="34" charset="0"/>
              </a:rPr>
              <a:t> and values vi, </a:t>
            </a:r>
            <a:r>
              <a:rPr lang="en-IN" sz="2400" dirty="0" err="1">
                <a:solidFill>
                  <a:srgbClr val="212121"/>
                </a:solidFill>
                <a:latin typeface="Trebuchet MS" panose="020B0603020202020204" pitchFamily="34" charset="0"/>
              </a:rPr>
              <a:t>i</a:t>
            </a:r>
            <a:r>
              <a:rPr lang="en-IN" sz="2400" dirty="0">
                <a:solidFill>
                  <a:srgbClr val="212121"/>
                </a:solidFill>
                <a:latin typeface="Trebuchet MS" panose="020B0603020202020204" pitchFamily="34" charset="0"/>
              </a:rPr>
              <a:t> = 1, 2, ..., n, and a knapsack of capacity W, find the most valuable subset of the items that fit in the knapsack.</a:t>
            </a:r>
          </a:p>
          <a:p>
            <a:pPr marL="342900" indent="-342900" algn="just">
              <a:spcBef>
                <a:spcPts val="1200"/>
              </a:spcBef>
              <a:spcAft>
                <a:spcPts val="600"/>
              </a:spcAft>
              <a:buClr>
                <a:srgbClr val="B84742"/>
              </a:buClr>
              <a:buFont typeface="Arial" panose="020B0604020202020204" pitchFamily="34" charset="0"/>
              <a:buChar char="•"/>
              <a:defRPr/>
            </a:pPr>
            <a:r>
              <a:rPr lang="en-IN" sz="2400" dirty="0">
                <a:solidFill>
                  <a:srgbClr val="212121"/>
                </a:solidFill>
                <a:latin typeface="Trebuchet MS" panose="020B0603020202020204" pitchFamily="34" charset="0"/>
              </a:rPr>
              <a:t> It is convenient to order the items of a given instance in descending order by their value-to-weight ratios. </a:t>
            </a:r>
          </a:p>
          <a:p>
            <a:pPr marL="342900" indent="-342900" algn="just">
              <a:spcBef>
                <a:spcPts val="1200"/>
              </a:spcBef>
              <a:spcAft>
                <a:spcPts val="600"/>
              </a:spcAft>
              <a:buClr>
                <a:srgbClr val="B84742"/>
              </a:buClr>
              <a:buFont typeface="Arial" panose="020B0604020202020204" pitchFamily="34" charset="0"/>
              <a:buChar char="•"/>
              <a:defRPr/>
            </a:pPr>
            <a:r>
              <a:rPr lang="en-IN" sz="2400" dirty="0">
                <a:solidFill>
                  <a:srgbClr val="212121"/>
                </a:solidFill>
                <a:latin typeface="Trebuchet MS" panose="020B0603020202020204" pitchFamily="34" charset="0"/>
              </a:rPr>
              <a:t>Then the first item gives the best payoff per weight unit and the last one gives the worst payoff per weight unit, with ties resolved </a:t>
            </a:r>
            <a:r>
              <a:rPr lang="en-US" sz="2400" dirty="0">
                <a:solidFill>
                  <a:srgbClr val="212121"/>
                </a:solidFill>
                <a:latin typeface="Trebuchet MS" panose="020B0603020202020204" pitchFamily="34" charset="0"/>
              </a:rPr>
              <a:t>arbitrarily.</a:t>
            </a:r>
          </a:p>
          <a:p>
            <a:pPr algn="just">
              <a:spcBef>
                <a:spcPts val="1200"/>
              </a:spcBef>
              <a:spcAft>
                <a:spcPts val="600"/>
              </a:spcAft>
              <a:buClr>
                <a:srgbClr val="B84742"/>
              </a:buClr>
              <a:defRPr/>
            </a:pPr>
            <a:r>
              <a:rPr lang="en-US" sz="2400" dirty="0">
                <a:solidFill>
                  <a:srgbClr val="212121"/>
                </a:solidFill>
                <a:latin typeface="Trebuchet MS" panose="020B0603020202020204" pitchFamily="34" charset="0"/>
              </a:rPr>
              <a:t>	</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	V</a:t>
            </a:r>
            <a:r>
              <a:rPr lang="en-IN" sz="2400" baseline="-25000" dirty="0">
                <a:effectLst/>
                <a:latin typeface="Trebuchet MS" panose="020B0603020202020204" pitchFamily="34" charset="0"/>
                <a:ea typeface="Calibri" panose="020F0502020204030204" pitchFamily="34" charset="0"/>
                <a:cs typeface="Times New Roman" panose="02020603050405020304" pitchFamily="18" charset="0"/>
              </a:rPr>
              <a:t>1</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/W</a:t>
            </a:r>
            <a:r>
              <a:rPr lang="en-IN" sz="2400" baseline="-25000" dirty="0">
                <a:effectLst/>
                <a:latin typeface="Trebuchet MS" panose="020B0603020202020204" pitchFamily="34" charset="0"/>
                <a:ea typeface="Calibri" panose="020F0502020204030204" pitchFamily="34" charset="0"/>
                <a:cs typeface="Times New Roman" panose="02020603050405020304" pitchFamily="18" charset="0"/>
              </a:rPr>
              <a:t>1</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≥V</a:t>
            </a:r>
            <a:r>
              <a:rPr lang="en-IN" sz="2400" baseline="-25000" dirty="0">
                <a:effectLst/>
                <a:latin typeface="Trebuchet MS" panose="020B0603020202020204" pitchFamily="34" charset="0"/>
                <a:ea typeface="Calibri" panose="020F0502020204030204" pitchFamily="34" charset="0"/>
                <a:cs typeface="Times New Roman" panose="02020603050405020304" pitchFamily="18" charset="0"/>
              </a:rPr>
              <a:t>2</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/W</a:t>
            </a:r>
            <a:r>
              <a:rPr lang="en-IN" sz="2400" baseline="-25000" dirty="0">
                <a:effectLst/>
                <a:latin typeface="Trebuchet MS" panose="020B0603020202020204" pitchFamily="34" charset="0"/>
                <a:ea typeface="Calibri" panose="020F0502020204030204" pitchFamily="34" charset="0"/>
                <a:cs typeface="Times New Roman" panose="02020603050405020304" pitchFamily="18" charset="0"/>
              </a:rPr>
              <a:t>2</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 ……. ≥</a:t>
            </a:r>
            <a:r>
              <a:rPr lang="en-IN" sz="2400" dirty="0" err="1">
                <a:effectLst/>
                <a:latin typeface="Trebuchet MS" panose="020B0603020202020204" pitchFamily="34" charset="0"/>
                <a:ea typeface="Calibri" panose="020F0502020204030204" pitchFamily="34" charset="0"/>
                <a:cs typeface="Times New Roman" panose="02020603050405020304" pitchFamily="18" charset="0"/>
              </a:rPr>
              <a:t>V</a:t>
            </a:r>
            <a:r>
              <a:rPr lang="en-IN" sz="2400" baseline="-25000" dirty="0" err="1">
                <a:effectLst/>
                <a:latin typeface="Trebuchet MS" panose="020B0603020202020204" pitchFamily="34" charset="0"/>
                <a:ea typeface="Calibri" panose="020F0502020204030204" pitchFamily="34" charset="0"/>
                <a:cs typeface="Times New Roman" panose="02020603050405020304" pitchFamily="18" charset="0"/>
              </a:rPr>
              <a:t>n</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a:t>
            </a:r>
            <a:r>
              <a:rPr lang="en-IN" sz="2400" dirty="0" err="1">
                <a:effectLst/>
                <a:latin typeface="Trebuchet MS" panose="020B0603020202020204" pitchFamily="34" charset="0"/>
                <a:ea typeface="Calibri" panose="020F0502020204030204" pitchFamily="34" charset="0"/>
                <a:cs typeface="Times New Roman" panose="02020603050405020304" pitchFamily="18" charset="0"/>
              </a:rPr>
              <a:t>W</a:t>
            </a:r>
            <a:r>
              <a:rPr lang="en-IN" sz="2400" baseline="-25000" dirty="0" err="1">
                <a:effectLst/>
                <a:latin typeface="Trebuchet MS" panose="020B0603020202020204" pitchFamily="34" charset="0"/>
                <a:ea typeface="Calibri" panose="020F0502020204030204" pitchFamily="34" charset="0"/>
                <a:cs typeface="Times New Roman" panose="02020603050405020304" pitchFamily="18" charset="0"/>
              </a:rPr>
              <a:t>n</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p>
            <a:pPr algn="just">
              <a:spcBef>
                <a:spcPts val="1200"/>
              </a:spcBef>
              <a:spcAft>
                <a:spcPts val="600"/>
              </a:spcAft>
              <a:buClr>
                <a:srgbClr val="B84742"/>
              </a:buClr>
              <a:defRPr/>
            </a:pPr>
            <a:endParaRPr lang="pl-PL" sz="2400" dirty="0">
              <a:solidFill>
                <a:srgbClr val="212121"/>
              </a:solidFill>
              <a:latin typeface="Corbel" panose="020B0503020204020204" pitchFamily="34" charset="0"/>
            </a:endParaRPr>
          </a:p>
          <a:p>
            <a:pPr marL="342900" indent="-342900" algn="just">
              <a:spcBef>
                <a:spcPts val="1200"/>
              </a:spcBef>
              <a:spcAft>
                <a:spcPts val="600"/>
              </a:spcAft>
              <a:buClr>
                <a:srgbClr val="B84742"/>
              </a:buClr>
              <a:buFont typeface="Arial" panose="020B0604020202020204" pitchFamily="34" charset="0"/>
              <a:buChar char="•"/>
              <a:defRPr/>
            </a:pPr>
            <a:endParaRPr lang="en-IN" sz="2400" dirty="0">
              <a:solidFill>
                <a:srgbClr val="212121"/>
              </a:solidFill>
              <a:latin typeface="Corbel" panose="020B0503020204020204" pitchFamily="34" charset="0"/>
            </a:endParaRPr>
          </a:p>
        </p:txBody>
      </p:sp>
    </p:spTree>
    <p:extLst>
      <p:ext uri="{BB962C8B-B14F-4D97-AF65-F5344CB8AC3E}">
        <p14:creationId xmlns:p14="http://schemas.microsoft.com/office/powerpoint/2010/main" val="39367862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a:t>
            </a:r>
            <a:endParaRPr lang="en-IN" sz="3200" dirty="0">
              <a:solidFill>
                <a:schemeClr val="bg1"/>
              </a:solidFill>
              <a:latin typeface="Trebuchet MS" panose="020B0603020202020204" pitchFamily="34" charset="0"/>
            </a:endParaRPr>
          </a:p>
        </p:txBody>
      </p:sp>
      <p:sp>
        <p:nvSpPr>
          <p:cNvPr id="5" name="TextBox 4">
            <a:extLst>
              <a:ext uri="{FF2B5EF4-FFF2-40B4-BE49-F238E27FC236}">
                <a16:creationId xmlns:a16="http://schemas.microsoft.com/office/drawing/2014/main" id="{4B3C5666-33E7-3598-FFE1-3ED3E692ADAD}"/>
              </a:ext>
            </a:extLst>
          </p:cNvPr>
          <p:cNvSpPr txBox="1"/>
          <p:nvPr/>
        </p:nvSpPr>
        <p:spPr>
          <a:xfrm>
            <a:off x="355060" y="1020479"/>
            <a:ext cx="11456774" cy="5401607"/>
          </a:xfrm>
          <a:prstGeom prst="rect">
            <a:avLst/>
          </a:prstGeom>
          <a:noFill/>
        </p:spPr>
        <p:txBody>
          <a:bodyPr wrap="square">
            <a:spAutoFit/>
          </a:bodyPr>
          <a:lstStyle/>
          <a:p>
            <a:pPr>
              <a:lnSpc>
                <a:spcPts val="3800"/>
              </a:lnSpc>
            </a:pPr>
            <a:r>
              <a:rPr lang="en-IN" sz="2400" dirty="0">
                <a:solidFill>
                  <a:srgbClr val="FF0000"/>
                </a:solidFill>
                <a:latin typeface="Trebuchet MS" panose="020B0603020202020204" pitchFamily="34" charset="0"/>
              </a:rPr>
              <a:t>The state-space tree</a:t>
            </a:r>
            <a:r>
              <a:rPr lang="en-IN" sz="2400" dirty="0">
                <a:latin typeface="Trebuchet MS" panose="020B0603020202020204" pitchFamily="34" charset="0"/>
              </a:rPr>
              <a:t> for this problem is constructed as a binary tree as mentioned below:</a:t>
            </a:r>
          </a:p>
          <a:p>
            <a:pPr marL="342900" indent="-342900">
              <a:lnSpc>
                <a:spcPts val="3800"/>
              </a:lnSpc>
              <a:buFont typeface="Arial" panose="020B0604020202020204" pitchFamily="34" charset="0"/>
              <a:buChar char="•"/>
            </a:pPr>
            <a:r>
              <a:rPr lang="en-IN" sz="2400" dirty="0">
                <a:latin typeface="Trebuchet MS" panose="020B0603020202020204" pitchFamily="34" charset="0"/>
              </a:rPr>
              <a:t>Each node on the </a:t>
            </a:r>
            <a:r>
              <a:rPr lang="en-IN" sz="2400" dirty="0" err="1">
                <a:latin typeface="Trebuchet MS" panose="020B0603020202020204" pitchFamily="34" charset="0"/>
              </a:rPr>
              <a:t>ith</a:t>
            </a:r>
            <a:r>
              <a:rPr lang="en-IN" sz="2400" dirty="0">
                <a:latin typeface="Trebuchet MS" panose="020B0603020202020204" pitchFamily="34" charset="0"/>
              </a:rPr>
              <a:t> level of this tree, 0≤i≤n, represents all the subsets of n items that include a particular selection made from the first </a:t>
            </a:r>
            <a:r>
              <a:rPr lang="en-IN" sz="2400" dirty="0" err="1">
                <a:latin typeface="Trebuchet MS" panose="020B0603020202020204" pitchFamily="34" charset="0"/>
              </a:rPr>
              <a:t>i</a:t>
            </a:r>
            <a:r>
              <a:rPr lang="en-IN" sz="2400" dirty="0">
                <a:latin typeface="Trebuchet MS" panose="020B0603020202020204" pitchFamily="34" charset="0"/>
              </a:rPr>
              <a:t> ordered items.</a:t>
            </a:r>
          </a:p>
          <a:p>
            <a:pPr marL="342900" indent="-342900">
              <a:lnSpc>
                <a:spcPts val="3800"/>
              </a:lnSpc>
              <a:buFont typeface="Arial" panose="020B0604020202020204" pitchFamily="34" charset="0"/>
              <a:buChar char="•"/>
            </a:pPr>
            <a:r>
              <a:rPr lang="en-IN" sz="2400" dirty="0">
                <a:latin typeface="Trebuchet MS" panose="020B0603020202020204" pitchFamily="34" charset="0"/>
              </a:rPr>
              <a:t>This particular selection is uniquely determined by the path from the root to the node:</a:t>
            </a:r>
          </a:p>
          <a:p>
            <a:pPr marL="342900" indent="-342900">
              <a:lnSpc>
                <a:spcPts val="3800"/>
              </a:lnSpc>
              <a:buFont typeface="Arial" panose="020B0604020202020204" pitchFamily="34" charset="0"/>
              <a:buChar char="•"/>
            </a:pPr>
            <a:r>
              <a:rPr lang="en-IN" sz="2400" dirty="0">
                <a:latin typeface="Trebuchet MS" panose="020B0603020202020204" pitchFamily="34" charset="0"/>
              </a:rPr>
              <a:t>A branch going to the left indicates the inclusion of the next </a:t>
            </a:r>
            <a:r>
              <a:rPr lang="en-IN" sz="2400" dirty="0" err="1">
                <a:latin typeface="Trebuchet MS" panose="020B0603020202020204" pitchFamily="34" charset="0"/>
              </a:rPr>
              <a:t>item,While</a:t>
            </a:r>
            <a:r>
              <a:rPr lang="en-IN" sz="2400" dirty="0">
                <a:latin typeface="Trebuchet MS" panose="020B0603020202020204" pitchFamily="34" charset="0"/>
              </a:rPr>
              <a:t> a branch going to the right indicates its exclusion.</a:t>
            </a:r>
          </a:p>
          <a:p>
            <a:pPr marL="342900" indent="-342900">
              <a:lnSpc>
                <a:spcPts val="3800"/>
              </a:lnSpc>
              <a:buFont typeface="Arial" panose="020B0604020202020204" pitchFamily="34" charset="0"/>
              <a:buChar char="•"/>
            </a:pPr>
            <a:r>
              <a:rPr lang="en-IN" sz="2400" dirty="0">
                <a:latin typeface="Trebuchet MS" panose="020B0603020202020204" pitchFamily="34" charset="0"/>
              </a:rPr>
              <a:t>Record the total weight w and the total value v of this selection in the node, along with some upper bound </a:t>
            </a:r>
            <a:r>
              <a:rPr lang="en-IN" sz="2400" dirty="0" err="1">
                <a:solidFill>
                  <a:srgbClr val="FF0000"/>
                </a:solidFill>
                <a:latin typeface="Trebuchet MS" panose="020B0603020202020204" pitchFamily="34" charset="0"/>
              </a:rPr>
              <a:t>ub</a:t>
            </a:r>
            <a:r>
              <a:rPr lang="en-IN" sz="2400" dirty="0">
                <a:solidFill>
                  <a:srgbClr val="FF0000"/>
                </a:solidFill>
                <a:latin typeface="Trebuchet MS" panose="020B0603020202020204" pitchFamily="34" charset="0"/>
              </a:rPr>
              <a:t> </a:t>
            </a:r>
            <a:r>
              <a:rPr lang="en-IN" sz="2400" dirty="0">
                <a:latin typeface="Trebuchet MS" panose="020B0603020202020204" pitchFamily="34" charset="0"/>
              </a:rPr>
              <a:t>on the value of any subset that can be obtained by adding zero or more items to this selection.</a:t>
            </a:r>
          </a:p>
        </p:txBody>
      </p:sp>
    </p:spTree>
    <p:extLst>
      <p:ext uri="{BB962C8B-B14F-4D97-AF65-F5344CB8AC3E}">
        <p14:creationId xmlns:p14="http://schemas.microsoft.com/office/powerpoint/2010/main" val="40483622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a:t>
            </a:r>
            <a:endParaRPr lang="en-IN" sz="3200" dirty="0">
              <a:solidFill>
                <a:schemeClr val="bg1"/>
              </a:solidFill>
              <a:latin typeface="Trebuchet MS" panose="020B0603020202020204" pitchFamily="34" charset="0"/>
            </a:endParaRPr>
          </a:p>
        </p:txBody>
      </p:sp>
      <p:sp>
        <p:nvSpPr>
          <p:cNvPr id="9" name="Rectangle 8">
            <a:extLst>
              <a:ext uri="{FF2B5EF4-FFF2-40B4-BE49-F238E27FC236}">
                <a16:creationId xmlns:a16="http://schemas.microsoft.com/office/drawing/2014/main" id="{470C5666-E284-391C-BAD8-357B02082A29}"/>
              </a:ext>
            </a:extLst>
          </p:cNvPr>
          <p:cNvSpPr/>
          <p:nvPr/>
        </p:nvSpPr>
        <p:spPr>
          <a:xfrm>
            <a:off x="3967316" y="4336026"/>
            <a:ext cx="4513007" cy="67842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8" name="TextBox 7">
            <a:extLst>
              <a:ext uri="{FF2B5EF4-FFF2-40B4-BE49-F238E27FC236}">
                <a16:creationId xmlns:a16="http://schemas.microsoft.com/office/drawing/2014/main" id="{D84BB8AD-60F0-22A4-5C07-93F423A9780C}"/>
              </a:ext>
            </a:extLst>
          </p:cNvPr>
          <p:cNvSpPr txBox="1"/>
          <p:nvPr/>
        </p:nvSpPr>
        <p:spPr>
          <a:xfrm>
            <a:off x="796445" y="1789084"/>
            <a:ext cx="10854748" cy="3139321"/>
          </a:xfrm>
          <a:prstGeom prst="rect">
            <a:avLst/>
          </a:prstGeom>
          <a:noFill/>
        </p:spPr>
        <p:txBody>
          <a:bodyPr wrap="square">
            <a:spAutoFit/>
          </a:bodyPr>
          <a:lstStyle/>
          <a:p>
            <a:pPr algn="just">
              <a:spcBef>
                <a:spcPts val="600"/>
              </a:spcBef>
              <a:spcAft>
                <a:spcPts val="600"/>
              </a:spcAft>
            </a:pPr>
            <a:r>
              <a:rPr lang="en-US" sz="2400" b="1" kern="0" dirty="0">
                <a:solidFill>
                  <a:srgbClr val="FF0000"/>
                </a:solidFill>
                <a:effectLst/>
                <a:latin typeface="Trebuchet MS" panose="020B0603020202020204" pitchFamily="34" charset="0"/>
                <a:ea typeface="Arial" panose="020B0604020202020204" pitchFamily="34" charset="0"/>
              </a:rPr>
              <a:t>Lower</a:t>
            </a:r>
            <a:r>
              <a:rPr lang="en-US" sz="2400" b="1" kern="0" spc="-60" dirty="0">
                <a:solidFill>
                  <a:srgbClr val="FF0000"/>
                </a:solidFill>
                <a:effectLst/>
                <a:latin typeface="Trebuchet MS" panose="020B0603020202020204" pitchFamily="34" charset="0"/>
                <a:ea typeface="Arial" panose="020B0604020202020204" pitchFamily="34" charset="0"/>
              </a:rPr>
              <a:t> </a:t>
            </a:r>
            <a:r>
              <a:rPr lang="en-US" sz="2400" b="1" kern="0" dirty="0">
                <a:solidFill>
                  <a:srgbClr val="FF0000"/>
                </a:solidFill>
                <a:effectLst/>
                <a:latin typeface="Trebuchet MS" panose="020B0603020202020204" pitchFamily="34" charset="0"/>
                <a:ea typeface="Arial" panose="020B0604020202020204" pitchFamily="34" charset="0"/>
              </a:rPr>
              <a:t>bound</a:t>
            </a:r>
            <a:r>
              <a:rPr lang="en-US" sz="2400" b="1" kern="0" spc="-5" dirty="0">
                <a:solidFill>
                  <a:srgbClr val="FF0000"/>
                </a:solidFill>
                <a:effectLst/>
                <a:latin typeface="Trebuchet MS" panose="020B0603020202020204" pitchFamily="34" charset="0"/>
                <a:ea typeface="Arial" panose="020B0604020202020204" pitchFamily="34" charset="0"/>
              </a:rPr>
              <a:t> </a:t>
            </a:r>
            <a:r>
              <a:rPr lang="en-US" sz="2400" b="1" kern="0" dirty="0">
                <a:solidFill>
                  <a:srgbClr val="FF0000"/>
                </a:solidFill>
                <a:effectLst/>
                <a:latin typeface="Trebuchet MS" panose="020B0603020202020204" pitchFamily="34" charset="0"/>
                <a:ea typeface="Arial" panose="020B0604020202020204" pitchFamily="34" charset="0"/>
              </a:rPr>
              <a:t>calculation:</a:t>
            </a:r>
            <a:endParaRPr lang="en-IN" sz="2400" b="1" kern="0" dirty="0">
              <a:solidFill>
                <a:srgbClr val="FF0000"/>
              </a:solidFill>
              <a:effectLst/>
              <a:latin typeface="Trebuchet MS" panose="020B0603020202020204" pitchFamily="34" charset="0"/>
              <a:ea typeface="Arial" panose="020B0604020202020204" pitchFamily="34" charset="0"/>
            </a:endParaRPr>
          </a:p>
          <a:p>
            <a:pPr marL="342900" marR="866775" indent="-342900" algn="just">
              <a:spcBef>
                <a:spcPts val="600"/>
              </a:spcBef>
              <a:spcAft>
                <a:spcPts val="600"/>
              </a:spcAft>
              <a:buFont typeface="Arial" panose="020B0604020202020204" pitchFamily="34" charset="0"/>
              <a:buChar char="•"/>
            </a:pPr>
            <a:r>
              <a:rPr lang="en-US" sz="2400" dirty="0">
                <a:effectLst/>
                <a:latin typeface="Trebuchet MS" panose="020B0603020202020204" pitchFamily="34" charset="0"/>
                <a:ea typeface="Microsoft Sans Serif" panose="020B0604020202020204" pitchFamily="34" charset="0"/>
              </a:rPr>
              <a:t>A</a:t>
            </a:r>
            <a:r>
              <a:rPr lang="en-US" sz="2400" spc="21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simple</a:t>
            </a:r>
            <a:r>
              <a:rPr lang="en-US" sz="2400" spc="21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way</a:t>
            </a:r>
            <a:r>
              <a:rPr lang="en-US" sz="2400" spc="15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to</a:t>
            </a:r>
            <a:r>
              <a:rPr lang="en-US" sz="2400" spc="22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compute</a:t>
            </a:r>
            <a:r>
              <a:rPr lang="en-US" sz="2400" spc="21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the</a:t>
            </a:r>
            <a:r>
              <a:rPr lang="en-US" sz="2400" spc="21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upper</a:t>
            </a:r>
            <a:r>
              <a:rPr lang="en-US" sz="2400" spc="21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bound</a:t>
            </a:r>
            <a:r>
              <a:rPr lang="en-US" sz="2400" spc="205" dirty="0">
                <a:effectLst/>
                <a:latin typeface="Trebuchet MS" panose="020B0603020202020204" pitchFamily="34" charset="0"/>
                <a:ea typeface="Microsoft Sans Serif" panose="020B0604020202020204" pitchFamily="34" charset="0"/>
              </a:rPr>
              <a:t> </a:t>
            </a:r>
            <a:r>
              <a:rPr lang="en-US" sz="2400" i="1" dirty="0" err="1">
                <a:effectLst/>
                <a:latin typeface="Trebuchet MS" panose="020B0603020202020204" pitchFamily="34" charset="0"/>
                <a:ea typeface="Microsoft Sans Serif" panose="020B0604020202020204" pitchFamily="34" charset="0"/>
                <a:cs typeface="Microsoft Sans Serif" panose="020B0604020202020204" pitchFamily="34" charset="0"/>
              </a:rPr>
              <a:t>ub</a:t>
            </a:r>
            <a:r>
              <a:rPr lang="en-US" sz="2400" i="1" spc="220" dirty="0">
                <a:effectLst/>
                <a:latin typeface="Trebuchet MS" panose="020B0603020202020204" pitchFamily="34" charset="0"/>
                <a:ea typeface="Microsoft Sans Serif" panose="020B0604020202020204" pitchFamily="34" charset="0"/>
                <a:cs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is</a:t>
            </a:r>
            <a:r>
              <a:rPr lang="en-US" sz="2400" spc="22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to</a:t>
            </a:r>
            <a:r>
              <a:rPr lang="en-US" sz="2400" spc="22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add</a:t>
            </a:r>
            <a:r>
              <a:rPr lang="en-US" sz="2400" spc="21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to</a:t>
            </a:r>
            <a:r>
              <a:rPr lang="en-US" sz="2400" spc="230" dirty="0">
                <a:effectLst/>
                <a:latin typeface="Trebuchet MS" panose="020B0603020202020204" pitchFamily="34" charset="0"/>
                <a:ea typeface="Microsoft Sans Serif" panose="020B0604020202020204" pitchFamily="34" charset="0"/>
              </a:rPr>
              <a:t> </a:t>
            </a:r>
            <a:r>
              <a:rPr lang="en-US" sz="2400" i="1" dirty="0">
                <a:effectLst/>
                <a:latin typeface="Trebuchet MS" panose="020B0603020202020204" pitchFamily="34" charset="0"/>
                <a:ea typeface="Microsoft Sans Serif" panose="020B0604020202020204" pitchFamily="34" charset="0"/>
                <a:cs typeface="Microsoft Sans Serif" panose="020B0604020202020204" pitchFamily="34" charset="0"/>
              </a:rPr>
              <a:t>v,</a:t>
            </a:r>
            <a:r>
              <a:rPr lang="en-US" sz="2400" i="1" spc="210" dirty="0">
                <a:effectLst/>
                <a:latin typeface="Trebuchet MS" panose="020B0603020202020204" pitchFamily="34" charset="0"/>
                <a:ea typeface="Microsoft Sans Serif" panose="020B0604020202020204" pitchFamily="34" charset="0"/>
                <a:cs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the</a:t>
            </a:r>
            <a:r>
              <a:rPr lang="en-US" sz="2400" spc="21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total</a:t>
            </a:r>
            <a:r>
              <a:rPr lang="en-US" sz="2400" spc="25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value</a:t>
            </a:r>
            <a:r>
              <a:rPr lang="en-US" sz="2400" spc="20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of</a:t>
            </a:r>
            <a:r>
              <a:rPr lang="en-US" sz="2400" spc="-30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the</a:t>
            </a:r>
            <a:r>
              <a:rPr lang="en-US" sz="2400" spc="31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items already selected, the product of the remaining capacity of the knapsack</a:t>
            </a:r>
            <a:r>
              <a:rPr lang="en-US" sz="2400" spc="5" dirty="0">
                <a:effectLst/>
                <a:latin typeface="Trebuchet MS" panose="020B0603020202020204" pitchFamily="34" charset="0"/>
                <a:ea typeface="Microsoft Sans Serif" panose="020B0604020202020204" pitchFamily="34" charset="0"/>
              </a:rPr>
              <a:t> </a:t>
            </a:r>
            <a:r>
              <a:rPr lang="en-US" sz="2400" i="1" dirty="0">
                <a:effectLst/>
                <a:latin typeface="Trebuchet MS" panose="020B0603020202020204" pitchFamily="34" charset="0"/>
                <a:ea typeface="Microsoft Sans Serif" panose="020B0604020202020204" pitchFamily="34" charset="0"/>
                <a:cs typeface="Microsoft Sans Serif" panose="020B0604020202020204" pitchFamily="34" charset="0"/>
              </a:rPr>
              <a:t>W </a:t>
            </a:r>
            <a:r>
              <a:rPr lang="en-US" sz="2400" dirty="0">
                <a:effectLst/>
                <a:latin typeface="Trebuchet MS" panose="020B0603020202020204" pitchFamily="34" charset="0"/>
                <a:ea typeface="Microsoft Sans Serif" panose="020B0604020202020204" pitchFamily="34" charset="0"/>
              </a:rPr>
              <a:t>-</a:t>
            </a:r>
            <a:r>
              <a:rPr lang="en-US" sz="2400" spc="315" dirty="0">
                <a:effectLst/>
                <a:latin typeface="Trebuchet MS" panose="020B0603020202020204" pitchFamily="34" charset="0"/>
                <a:ea typeface="Microsoft Sans Serif" panose="020B0604020202020204" pitchFamily="34" charset="0"/>
              </a:rPr>
              <a:t> </a:t>
            </a:r>
            <a:r>
              <a:rPr lang="en-US" sz="2400" i="1" dirty="0">
                <a:effectLst/>
                <a:latin typeface="Trebuchet MS" panose="020B0603020202020204" pitchFamily="34" charset="0"/>
                <a:ea typeface="Microsoft Sans Serif" panose="020B0604020202020204" pitchFamily="34" charset="0"/>
                <a:cs typeface="Microsoft Sans Serif" panose="020B0604020202020204" pitchFamily="34" charset="0"/>
              </a:rPr>
              <a:t>w </a:t>
            </a:r>
            <a:r>
              <a:rPr lang="en-US" sz="2400" dirty="0">
                <a:effectLst/>
                <a:latin typeface="Trebuchet MS" panose="020B0603020202020204" pitchFamily="34" charset="0"/>
                <a:ea typeface="Microsoft Sans Serif" panose="020B0604020202020204" pitchFamily="34" charset="0"/>
              </a:rPr>
              <a:t>and the</a:t>
            </a:r>
            <a:r>
              <a:rPr lang="en-US" sz="2400" spc="32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best per</a:t>
            </a:r>
            <a:r>
              <a:rPr lang="en-US" sz="2400" spc="32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unit payoff among the remaining items, which is vi+1/ w</a:t>
            </a:r>
            <a:r>
              <a:rPr lang="en-US" sz="2400" spc="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i+1:</a:t>
            </a:r>
            <a:endParaRPr lang="en-IN" sz="2400" dirty="0">
              <a:effectLst/>
              <a:latin typeface="Trebuchet MS" panose="020B0603020202020204" pitchFamily="34" charset="0"/>
              <a:ea typeface="Microsoft Sans Serif" panose="020B0604020202020204" pitchFamily="34" charset="0"/>
            </a:endParaRPr>
          </a:p>
          <a:p>
            <a:pPr marR="112395" algn="ctr">
              <a:spcBef>
                <a:spcPts val="600"/>
              </a:spcBef>
              <a:spcAft>
                <a:spcPts val="600"/>
              </a:spcAft>
            </a:pPr>
            <a:endParaRPr lang="en-US" sz="2400" dirty="0">
              <a:effectLst/>
              <a:latin typeface="Trebuchet MS" panose="020B0603020202020204" pitchFamily="34" charset="0"/>
              <a:ea typeface="Microsoft Sans Serif" panose="020B0604020202020204" pitchFamily="34" charset="0"/>
            </a:endParaRPr>
          </a:p>
          <a:p>
            <a:pPr marR="112395" algn="ctr">
              <a:spcBef>
                <a:spcPts val="600"/>
              </a:spcBef>
              <a:spcAft>
                <a:spcPts val="600"/>
              </a:spcAft>
            </a:pPr>
            <a:r>
              <a:rPr lang="en-US" sz="2400" dirty="0" err="1">
                <a:effectLst/>
                <a:latin typeface="Trebuchet MS" panose="020B0603020202020204" pitchFamily="34" charset="0"/>
                <a:ea typeface="Microsoft Sans Serif" panose="020B0604020202020204" pitchFamily="34" charset="0"/>
              </a:rPr>
              <a:t>ub</a:t>
            </a:r>
            <a:r>
              <a:rPr lang="en-US" sz="2400" spc="10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a:t>
            </a:r>
            <a:r>
              <a:rPr lang="en-US" sz="2400" spc="9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v</a:t>
            </a:r>
            <a:r>
              <a:rPr lang="en-US" sz="2400" spc="9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a:t>
            </a:r>
            <a:r>
              <a:rPr lang="en-US" sz="2400" spc="7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(W-w)(</a:t>
            </a:r>
            <a:r>
              <a:rPr lang="en-US" sz="2400" spc="8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vi+1/</a:t>
            </a:r>
            <a:r>
              <a:rPr lang="en-US" sz="2400" spc="10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w</a:t>
            </a:r>
            <a:r>
              <a:rPr lang="en-US" sz="2400" spc="-5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i+1)</a:t>
            </a:r>
            <a:endParaRPr lang="en-IN" sz="2400" dirty="0">
              <a:effectLst/>
              <a:latin typeface="Trebuchet MS" panose="020B0603020202020204" pitchFamily="34" charset="0"/>
              <a:ea typeface="Microsoft Sans Serif" panose="020B0604020202020204" pitchFamily="34" charset="0"/>
            </a:endParaRPr>
          </a:p>
        </p:txBody>
      </p:sp>
    </p:spTree>
    <p:extLst>
      <p:ext uri="{BB962C8B-B14F-4D97-AF65-F5344CB8AC3E}">
        <p14:creationId xmlns:p14="http://schemas.microsoft.com/office/powerpoint/2010/main" val="38458216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Example  </a:t>
            </a:r>
            <a:endParaRPr lang="en-IN" sz="3200" dirty="0">
              <a:solidFill>
                <a:schemeClr val="bg1"/>
              </a:solidFill>
              <a:latin typeface="Trebuchet MS" panose="020B0603020202020204" pitchFamily="34" charset="0"/>
            </a:endParaRPr>
          </a:p>
        </p:txBody>
      </p:sp>
      <p:pic>
        <p:nvPicPr>
          <p:cNvPr id="3" name="Picture 2">
            <a:extLst>
              <a:ext uri="{FF2B5EF4-FFF2-40B4-BE49-F238E27FC236}">
                <a16:creationId xmlns:a16="http://schemas.microsoft.com/office/drawing/2014/main" id="{152E7A37-79FC-15A4-B058-409ADB4FEB45}"/>
              </a:ext>
            </a:extLst>
          </p:cNvPr>
          <p:cNvPicPr>
            <a:picLocks noChangeAspect="1"/>
          </p:cNvPicPr>
          <p:nvPr/>
        </p:nvPicPr>
        <p:blipFill rotWithShape="1">
          <a:blip r:embed="rId6"/>
          <a:srcRect r="26066" b="59341"/>
          <a:stretch/>
        </p:blipFill>
        <p:spPr>
          <a:xfrm>
            <a:off x="1099763" y="3232795"/>
            <a:ext cx="7167716" cy="3024036"/>
          </a:xfrm>
          <a:prstGeom prst="rect">
            <a:avLst/>
          </a:prstGeom>
        </p:spPr>
      </p:pic>
      <p:sp>
        <p:nvSpPr>
          <p:cNvPr id="7" name="TextBox 6">
            <a:extLst>
              <a:ext uri="{FF2B5EF4-FFF2-40B4-BE49-F238E27FC236}">
                <a16:creationId xmlns:a16="http://schemas.microsoft.com/office/drawing/2014/main" id="{B4A7A2AA-2601-D0C8-586D-19951CEF9530}"/>
              </a:ext>
            </a:extLst>
          </p:cNvPr>
          <p:cNvSpPr txBox="1"/>
          <p:nvPr/>
        </p:nvSpPr>
        <p:spPr>
          <a:xfrm>
            <a:off x="353961" y="1039236"/>
            <a:ext cx="11457873" cy="1686487"/>
          </a:xfrm>
          <a:prstGeom prst="rect">
            <a:avLst/>
          </a:prstGeom>
          <a:noFill/>
        </p:spPr>
        <p:txBody>
          <a:bodyPr wrap="square">
            <a:spAutoFit/>
          </a:bodyPr>
          <a:lstStyle/>
          <a:p>
            <a:pPr>
              <a:lnSpc>
                <a:spcPct val="150000"/>
              </a:lnSpc>
            </a:pPr>
            <a:r>
              <a:rPr lang="en-IN" sz="2400" dirty="0" smtClean="0">
                <a:solidFill>
                  <a:srgbClr val="0070C0"/>
                </a:solidFill>
                <a:latin typeface="Trebuchet MS" panose="020B0603020202020204" pitchFamily="34" charset="0"/>
              </a:rPr>
              <a:t>Example: </a:t>
            </a:r>
          </a:p>
          <a:p>
            <a:pPr>
              <a:lnSpc>
                <a:spcPct val="150000"/>
              </a:lnSpc>
            </a:pPr>
            <a:r>
              <a:rPr lang="en-IN" sz="2400" dirty="0" smtClean="0">
                <a:latin typeface="Trebuchet MS" panose="020B0603020202020204" pitchFamily="34" charset="0"/>
              </a:rPr>
              <a:t>Solve </a:t>
            </a:r>
            <a:r>
              <a:rPr lang="en-IN" sz="2400" dirty="0">
                <a:latin typeface="Trebuchet MS" panose="020B0603020202020204" pitchFamily="34" charset="0"/>
              </a:rPr>
              <a:t>the following instance of knapsack using Brand and Bound </a:t>
            </a:r>
            <a:r>
              <a:rPr lang="en-IN" sz="2400" dirty="0" smtClean="0">
                <a:latin typeface="Trebuchet MS" panose="020B0603020202020204" pitchFamily="34" charset="0"/>
              </a:rPr>
              <a:t>for</a:t>
            </a:r>
            <a:r>
              <a:rPr lang="en-IN" sz="2400" dirty="0" smtClean="0">
                <a:solidFill>
                  <a:srgbClr val="0070C0"/>
                </a:solidFill>
                <a:latin typeface="Trebuchet MS" panose="020B0603020202020204" pitchFamily="34" charset="0"/>
              </a:rPr>
              <a:t> </a:t>
            </a:r>
            <a:r>
              <a:rPr lang="en-IN" sz="2400" dirty="0">
                <a:latin typeface="Trebuchet MS" panose="020B0603020202020204" pitchFamily="34" charset="0"/>
              </a:rPr>
              <a:t>knapsack capacity </a:t>
            </a:r>
            <a:r>
              <a:rPr lang="en-IN" sz="2400" dirty="0">
                <a:solidFill>
                  <a:srgbClr val="0070C0"/>
                </a:solidFill>
                <a:latin typeface="Trebuchet MS" panose="020B0603020202020204" pitchFamily="34" charset="0"/>
              </a:rPr>
              <a:t>W = 10</a:t>
            </a:r>
          </a:p>
        </p:txBody>
      </p:sp>
      <p:sp>
        <p:nvSpPr>
          <p:cNvPr id="12" name="Rectangle 11">
            <a:extLst>
              <a:ext uri="{FF2B5EF4-FFF2-40B4-BE49-F238E27FC236}">
                <a16:creationId xmlns:a16="http://schemas.microsoft.com/office/drawing/2014/main" id="{0C440595-8741-3F52-B3CB-78B17D359652}"/>
              </a:ext>
            </a:extLst>
          </p:cNvPr>
          <p:cNvSpPr/>
          <p:nvPr/>
        </p:nvSpPr>
        <p:spPr>
          <a:xfrm>
            <a:off x="6931742" y="4675239"/>
            <a:ext cx="45719"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459888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26857"/>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Example</a:t>
            </a:r>
            <a:endParaRPr lang="en-IN" sz="3200" dirty="0">
              <a:solidFill>
                <a:schemeClr val="bg1"/>
              </a:solidFill>
              <a:latin typeface="Trebuchet MS" panose="020B0603020202020204" pitchFamily="34" charset="0"/>
            </a:endParaRPr>
          </a:p>
        </p:txBody>
      </p:sp>
      <p:sp>
        <p:nvSpPr>
          <p:cNvPr id="16" name="TextBox 15">
            <a:extLst>
              <a:ext uri="{FF2B5EF4-FFF2-40B4-BE49-F238E27FC236}">
                <a16:creationId xmlns:a16="http://schemas.microsoft.com/office/drawing/2014/main" id="{53ED4374-0CE0-00E7-3F9C-8FCF268F2D81}"/>
              </a:ext>
            </a:extLst>
          </p:cNvPr>
          <p:cNvSpPr txBox="1"/>
          <p:nvPr/>
        </p:nvSpPr>
        <p:spPr>
          <a:xfrm>
            <a:off x="565969" y="1070361"/>
            <a:ext cx="10854813" cy="5193729"/>
          </a:xfrm>
          <a:prstGeom prst="rect">
            <a:avLst/>
          </a:prstGeom>
          <a:noFill/>
        </p:spPr>
        <p:txBody>
          <a:bodyPr wrap="square">
            <a:spAutoFit/>
          </a:bodyPr>
          <a:lstStyle/>
          <a:p>
            <a:pPr>
              <a:spcBef>
                <a:spcPts val="1200"/>
              </a:spcBef>
              <a:spcAft>
                <a:spcPts val="600"/>
              </a:spcAft>
            </a:pPr>
            <a:r>
              <a:rPr lang="en-IN" sz="2400" b="1" dirty="0">
                <a:solidFill>
                  <a:srgbClr val="FF0000"/>
                </a:solidFill>
                <a:latin typeface="Trebuchet MS" panose="020B0603020202020204" pitchFamily="34" charset="0"/>
              </a:rPr>
              <a:t>Solution: </a:t>
            </a:r>
          </a:p>
          <a:p>
            <a:pPr>
              <a:spcBef>
                <a:spcPts val="1200"/>
              </a:spcBef>
              <a:spcAft>
                <a:spcPts val="600"/>
              </a:spcAft>
            </a:pPr>
            <a:r>
              <a:rPr lang="en-IN" sz="2400" b="1" dirty="0">
                <a:solidFill>
                  <a:schemeClr val="accent1">
                    <a:lumMod val="50000"/>
                  </a:schemeClr>
                </a:solidFill>
                <a:latin typeface="Trebuchet MS" panose="020B0603020202020204" pitchFamily="34" charset="0"/>
              </a:rPr>
              <a:t>State space tree construction:</a:t>
            </a:r>
          </a:p>
          <a:p>
            <a:pPr>
              <a:spcBef>
                <a:spcPts val="1200"/>
              </a:spcBef>
              <a:spcAft>
                <a:spcPts val="600"/>
              </a:spcAft>
            </a:pPr>
            <a:r>
              <a:rPr lang="en-IN" sz="2400" b="1" dirty="0">
                <a:solidFill>
                  <a:srgbClr val="FF0000"/>
                </a:solidFill>
                <a:latin typeface="Trebuchet MS" panose="020B0603020202020204" pitchFamily="34" charset="0"/>
              </a:rPr>
              <a:t>Node 0:</a:t>
            </a:r>
          </a:p>
          <a:p>
            <a:pPr marL="342900" indent="-342900">
              <a:spcBef>
                <a:spcPts val="1200"/>
              </a:spcBef>
              <a:spcAft>
                <a:spcPts val="600"/>
              </a:spcAft>
              <a:buFont typeface="Arial" panose="020B0604020202020204" pitchFamily="34" charset="0"/>
              <a:buChar char="•"/>
            </a:pPr>
            <a:r>
              <a:rPr lang="en-IN" sz="2400" dirty="0">
                <a:latin typeface="Trebuchet MS" panose="020B0603020202020204" pitchFamily="34" charset="0"/>
              </a:rPr>
              <a:t>At the root of the state-space tree, no items have been selected as yet. Hence, both the total weight of the items already selected w and their total value v are equal to 0. w=0, v=0</a:t>
            </a:r>
          </a:p>
          <a:p>
            <a:pPr>
              <a:spcBef>
                <a:spcPts val="1200"/>
              </a:spcBef>
              <a:spcAft>
                <a:spcPts val="600"/>
              </a:spcAft>
            </a:pPr>
            <a:endParaRPr lang="en-IN" sz="2400" dirty="0">
              <a:latin typeface="Trebuchet MS" panose="020B0603020202020204" pitchFamily="34" charset="0"/>
            </a:endParaRPr>
          </a:p>
          <a:p>
            <a:pPr>
              <a:spcBef>
                <a:spcPts val="1200"/>
              </a:spcBef>
              <a:spcAft>
                <a:spcPts val="600"/>
              </a:spcAft>
            </a:pPr>
            <a:endParaRPr lang="en-IN" sz="1000" dirty="0">
              <a:latin typeface="Trebuchet MS" panose="020B0603020202020204" pitchFamily="34" charset="0"/>
            </a:endParaRPr>
          </a:p>
          <a:p>
            <a:pPr>
              <a:spcBef>
                <a:spcPts val="1200"/>
              </a:spcBef>
              <a:spcAft>
                <a:spcPts val="600"/>
              </a:spcAft>
            </a:pPr>
            <a:r>
              <a:rPr lang="en-IN" sz="2400" dirty="0">
                <a:latin typeface="Trebuchet MS" panose="020B0603020202020204" pitchFamily="34" charset="0"/>
              </a:rPr>
              <a:t>	</a:t>
            </a:r>
            <a:r>
              <a:rPr lang="en-IN" sz="2400" dirty="0" err="1">
                <a:latin typeface="Trebuchet MS" panose="020B0603020202020204" pitchFamily="34" charset="0"/>
              </a:rPr>
              <a:t>ub</a:t>
            </a:r>
            <a:r>
              <a:rPr lang="en-IN" sz="2400" dirty="0">
                <a:latin typeface="Trebuchet MS" panose="020B0603020202020204" pitchFamily="34" charset="0"/>
              </a:rPr>
              <a:t> = 0 + (10-0) * ( 10) =100</a:t>
            </a:r>
          </a:p>
          <a:p>
            <a:pPr marL="342900" indent="-342900">
              <a:spcBef>
                <a:spcPts val="1200"/>
              </a:spcBef>
              <a:spcAft>
                <a:spcPts val="600"/>
              </a:spcAft>
              <a:buFont typeface="Arial" panose="020B0604020202020204" pitchFamily="34" charset="0"/>
              <a:buChar char="•"/>
            </a:pPr>
            <a:r>
              <a:rPr lang="en-IN" sz="2400" dirty="0">
                <a:latin typeface="Trebuchet MS" panose="020B0603020202020204" pitchFamily="34" charset="0"/>
              </a:rPr>
              <a:t>The value of the upper bound computed by formula is 100.</a:t>
            </a:r>
          </a:p>
        </p:txBody>
      </p:sp>
      <p:sp>
        <p:nvSpPr>
          <p:cNvPr id="19" name="Rectangle 18">
            <a:extLst>
              <a:ext uri="{FF2B5EF4-FFF2-40B4-BE49-F238E27FC236}">
                <a16:creationId xmlns:a16="http://schemas.microsoft.com/office/drawing/2014/main" id="{3E3EFBA7-5E3E-CB87-7DE6-4898C6761E5C}"/>
              </a:ext>
            </a:extLst>
          </p:cNvPr>
          <p:cNvSpPr/>
          <p:nvPr/>
        </p:nvSpPr>
        <p:spPr>
          <a:xfrm>
            <a:off x="2684206" y="4129548"/>
            <a:ext cx="3672349" cy="78166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pic>
        <p:nvPicPr>
          <p:cNvPr id="17" name="Picture 16">
            <a:extLst>
              <a:ext uri="{FF2B5EF4-FFF2-40B4-BE49-F238E27FC236}">
                <a16:creationId xmlns:a16="http://schemas.microsoft.com/office/drawing/2014/main" id="{1DB233EB-6F98-9ACC-AAE2-2D217FA4BA71}"/>
              </a:ext>
            </a:extLst>
          </p:cNvPr>
          <p:cNvPicPr>
            <a:picLocks noChangeAspect="1"/>
          </p:cNvPicPr>
          <p:nvPr/>
        </p:nvPicPr>
        <p:blipFill>
          <a:blip r:embed="rId6"/>
          <a:stretch>
            <a:fillRect/>
          </a:stretch>
        </p:blipFill>
        <p:spPr>
          <a:xfrm>
            <a:off x="2611361" y="4117399"/>
            <a:ext cx="3749365" cy="640135"/>
          </a:xfrm>
          <a:prstGeom prst="rect">
            <a:avLst/>
          </a:prstGeom>
        </p:spPr>
      </p:pic>
    </p:spTree>
    <p:extLst>
      <p:ext uri="{BB962C8B-B14F-4D97-AF65-F5344CB8AC3E}">
        <p14:creationId xmlns:p14="http://schemas.microsoft.com/office/powerpoint/2010/main" val="399187350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26857"/>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Example</a:t>
            </a:r>
            <a:endParaRPr lang="en-IN" sz="3200" dirty="0">
              <a:solidFill>
                <a:schemeClr val="bg1"/>
              </a:solidFill>
              <a:latin typeface="Trebuchet MS" panose="020B0603020202020204" pitchFamily="34" charset="0"/>
            </a:endParaRPr>
          </a:p>
        </p:txBody>
      </p:sp>
      <p:sp>
        <p:nvSpPr>
          <p:cNvPr id="12" name="TextBox 11">
            <a:extLst>
              <a:ext uri="{FF2B5EF4-FFF2-40B4-BE49-F238E27FC236}">
                <a16:creationId xmlns:a16="http://schemas.microsoft.com/office/drawing/2014/main" id="{4CC8228A-84C5-3E55-652A-EC26BBA47FBD}"/>
              </a:ext>
            </a:extLst>
          </p:cNvPr>
          <p:cNvSpPr txBox="1"/>
          <p:nvPr/>
        </p:nvSpPr>
        <p:spPr>
          <a:xfrm>
            <a:off x="441883" y="1048850"/>
            <a:ext cx="11369951" cy="2400657"/>
          </a:xfrm>
          <a:prstGeom prst="rect">
            <a:avLst/>
          </a:prstGeom>
          <a:noFill/>
        </p:spPr>
        <p:txBody>
          <a:bodyPr wrap="square">
            <a:spAutoFit/>
          </a:bodyPr>
          <a:lstStyle/>
          <a:p>
            <a:pPr>
              <a:spcBef>
                <a:spcPts val="600"/>
              </a:spcBef>
              <a:spcAft>
                <a:spcPts val="600"/>
              </a:spcAft>
            </a:pPr>
            <a:r>
              <a:rPr lang="en-IN" dirty="0"/>
              <a:t> </a:t>
            </a:r>
            <a:r>
              <a:rPr lang="en-IN" sz="2400" b="1" dirty="0">
                <a:solidFill>
                  <a:srgbClr val="FF0000"/>
                </a:solidFill>
                <a:latin typeface="Trebuchet MS" panose="020B0603020202020204" pitchFamily="34" charset="0"/>
              </a:rPr>
              <a:t>Node 1:</a:t>
            </a:r>
            <a:endParaRPr lang="en-IN" sz="2400" dirty="0">
              <a:latin typeface="Trebuchet MS" panose="020B0603020202020204" pitchFamily="34" charset="0"/>
            </a:endParaRPr>
          </a:p>
          <a:p>
            <a:pPr marL="285750" indent="-285750">
              <a:spcBef>
                <a:spcPts val="600"/>
              </a:spcBef>
              <a:spcAft>
                <a:spcPts val="600"/>
              </a:spcAft>
              <a:buFont typeface="Arial" panose="020B0604020202020204" pitchFamily="34" charset="0"/>
              <a:buChar char="•"/>
            </a:pPr>
            <a:r>
              <a:rPr lang="en-IN" sz="2400" dirty="0">
                <a:latin typeface="Trebuchet MS" panose="020B0603020202020204" pitchFamily="34" charset="0"/>
              </a:rPr>
              <a:t>The left child of the root represents the subsets that include item 1.</a:t>
            </a:r>
          </a:p>
          <a:p>
            <a:pPr marL="285750" indent="-285750">
              <a:spcBef>
                <a:spcPts val="600"/>
              </a:spcBef>
              <a:spcAft>
                <a:spcPts val="600"/>
              </a:spcAft>
              <a:buFont typeface="Arial" panose="020B0604020202020204" pitchFamily="34" charset="0"/>
              <a:buChar char="•"/>
            </a:pPr>
            <a:r>
              <a:rPr lang="en-IN" sz="2400" dirty="0">
                <a:latin typeface="Trebuchet MS" panose="020B0603020202020204" pitchFamily="34" charset="0"/>
              </a:rPr>
              <a:t>The total weight and value of the items already included are 4 and $40, respectively; the value of the upper bound is</a:t>
            </a:r>
          </a:p>
          <a:p>
            <a:pPr>
              <a:spcBef>
                <a:spcPts val="600"/>
              </a:spcBef>
              <a:spcAft>
                <a:spcPts val="600"/>
              </a:spcAft>
            </a:pPr>
            <a:r>
              <a:rPr lang="en-IN" sz="2400" dirty="0">
                <a:latin typeface="Trebuchet MS" panose="020B0603020202020204" pitchFamily="34" charset="0"/>
              </a:rPr>
              <a:t> 		</a:t>
            </a:r>
            <a:r>
              <a:rPr lang="en-IN" sz="2400" dirty="0" err="1">
                <a:latin typeface="Trebuchet MS" panose="020B0603020202020204" pitchFamily="34" charset="0"/>
              </a:rPr>
              <a:t>ub</a:t>
            </a:r>
            <a:r>
              <a:rPr lang="en-IN" sz="2400" dirty="0">
                <a:latin typeface="Trebuchet MS" panose="020B0603020202020204" pitchFamily="34" charset="0"/>
              </a:rPr>
              <a:t> = 40 + (10- 4)* 6 =76</a:t>
            </a:r>
          </a:p>
        </p:txBody>
      </p:sp>
      <p:sp>
        <p:nvSpPr>
          <p:cNvPr id="14" name="TextBox 13">
            <a:extLst>
              <a:ext uri="{FF2B5EF4-FFF2-40B4-BE49-F238E27FC236}">
                <a16:creationId xmlns:a16="http://schemas.microsoft.com/office/drawing/2014/main" id="{D4550905-108F-5320-3E7D-213C99A12ECA}"/>
              </a:ext>
            </a:extLst>
          </p:cNvPr>
          <p:cNvSpPr txBox="1"/>
          <p:nvPr/>
        </p:nvSpPr>
        <p:spPr>
          <a:xfrm>
            <a:off x="441882" y="3728076"/>
            <a:ext cx="11369951" cy="2769989"/>
          </a:xfrm>
          <a:prstGeom prst="rect">
            <a:avLst/>
          </a:prstGeom>
          <a:noFill/>
        </p:spPr>
        <p:txBody>
          <a:bodyPr wrap="square">
            <a:spAutoFit/>
          </a:bodyPr>
          <a:lstStyle/>
          <a:p>
            <a:pPr>
              <a:spcBef>
                <a:spcPts val="600"/>
              </a:spcBef>
              <a:spcAft>
                <a:spcPts val="600"/>
              </a:spcAft>
            </a:pPr>
            <a:r>
              <a:rPr lang="en-IN" sz="2400" b="1" dirty="0">
                <a:solidFill>
                  <a:srgbClr val="FF0000"/>
                </a:solidFill>
                <a:latin typeface="Trebuchet MS" panose="020B0603020202020204" pitchFamily="34" charset="0"/>
              </a:rPr>
              <a:t>Node 2 : </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The node2 (right of node 1) represents the subsets that do not include item 1.</a:t>
            </a:r>
          </a:p>
          <a:p>
            <a:pPr>
              <a:spcBef>
                <a:spcPts val="600"/>
              </a:spcBef>
              <a:spcAft>
                <a:spcPts val="600"/>
              </a:spcAft>
            </a:pPr>
            <a:r>
              <a:rPr lang="en-IN" sz="2400" dirty="0">
                <a:latin typeface="Trebuchet MS" panose="020B0603020202020204" pitchFamily="34" charset="0"/>
              </a:rPr>
              <a:t>		</a:t>
            </a:r>
            <a:r>
              <a:rPr lang="en-IN" sz="2400" dirty="0" err="1">
                <a:latin typeface="Trebuchet MS" panose="020B0603020202020204" pitchFamily="34" charset="0"/>
              </a:rPr>
              <a:t>ub</a:t>
            </a:r>
            <a:r>
              <a:rPr lang="en-IN" sz="2400" dirty="0">
                <a:latin typeface="Trebuchet MS" panose="020B0603020202020204" pitchFamily="34" charset="0"/>
              </a:rPr>
              <a:t> = 0 + (10-0)*6 =60</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Since node 1 has a larger upper bound than the upper bound of node 2, it is more promising for this maximization problem, and branched from node 1 first.</a:t>
            </a:r>
          </a:p>
        </p:txBody>
      </p:sp>
    </p:spTree>
    <p:extLst>
      <p:ext uri="{BB962C8B-B14F-4D97-AF65-F5344CB8AC3E}">
        <p14:creationId xmlns:p14="http://schemas.microsoft.com/office/powerpoint/2010/main" val="10017178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26857"/>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Example</a:t>
            </a:r>
            <a:endParaRPr lang="en-IN" sz="3200" dirty="0">
              <a:solidFill>
                <a:schemeClr val="bg1"/>
              </a:solidFill>
              <a:latin typeface="Trebuchet MS" panose="020B0603020202020204" pitchFamily="34" charset="0"/>
            </a:endParaRPr>
          </a:p>
        </p:txBody>
      </p:sp>
      <p:sp>
        <p:nvSpPr>
          <p:cNvPr id="12" name="TextBox 11">
            <a:extLst>
              <a:ext uri="{FF2B5EF4-FFF2-40B4-BE49-F238E27FC236}">
                <a16:creationId xmlns:a16="http://schemas.microsoft.com/office/drawing/2014/main" id="{4CC8228A-84C5-3E55-652A-EC26BBA47FBD}"/>
              </a:ext>
            </a:extLst>
          </p:cNvPr>
          <p:cNvSpPr txBox="1"/>
          <p:nvPr/>
        </p:nvSpPr>
        <p:spPr>
          <a:xfrm>
            <a:off x="441883" y="1048850"/>
            <a:ext cx="11369951" cy="369332"/>
          </a:xfrm>
          <a:prstGeom prst="rect">
            <a:avLst/>
          </a:prstGeom>
          <a:noFill/>
        </p:spPr>
        <p:txBody>
          <a:bodyPr wrap="square">
            <a:spAutoFit/>
          </a:bodyPr>
          <a:lstStyle/>
          <a:p>
            <a:pPr>
              <a:spcBef>
                <a:spcPts val="600"/>
              </a:spcBef>
              <a:spcAft>
                <a:spcPts val="600"/>
              </a:spcAft>
            </a:pPr>
            <a:r>
              <a:rPr lang="en-IN" dirty="0"/>
              <a:t> </a:t>
            </a:r>
            <a:endParaRPr lang="en-IN" sz="2400" dirty="0">
              <a:latin typeface="Corbel" panose="020B0503020204020204" pitchFamily="34" charset="0"/>
            </a:endParaRPr>
          </a:p>
        </p:txBody>
      </p:sp>
      <p:sp>
        <p:nvSpPr>
          <p:cNvPr id="14" name="TextBox 13">
            <a:extLst>
              <a:ext uri="{FF2B5EF4-FFF2-40B4-BE49-F238E27FC236}">
                <a16:creationId xmlns:a16="http://schemas.microsoft.com/office/drawing/2014/main" id="{D4550905-108F-5320-3E7D-213C99A12ECA}"/>
              </a:ext>
            </a:extLst>
          </p:cNvPr>
          <p:cNvSpPr txBox="1"/>
          <p:nvPr/>
        </p:nvSpPr>
        <p:spPr>
          <a:xfrm>
            <a:off x="441884" y="1148588"/>
            <a:ext cx="11081490" cy="4862870"/>
          </a:xfrm>
          <a:prstGeom prst="rect">
            <a:avLst/>
          </a:prstGeom>
          <a:noFill/>
        </p:spPr>
        <p:txBody>
          <a:bodyPr wrap="square">
            <a:spAutoFit/>
          </a:bodyPr>
          <a:lstStyle/>
          <a:p>
            <a:pPr>
              <a:spcBef>
                <a:spcPts val="600"/>
              </a:spcBef>
              <a:spcAft>
                <a:spcPts val="600"/>
              </a:spcAft>
            </a:pPr>
            <a:r>
              <a:rPr lang="en-IN" sz="2400" b="1" dirty="0">
                <a:solidFill>
                  <a:srgbClr val="FF0000"/>
                </a:solidFill>
                <a:latin typeface="Trebuchet MS" panose="020B0603020202020204" pitchFamily="34" charset="0"/>
              </a:rPr>
              <a:t>Node 3</a:t>
            </a:r>
            <a:r>
              <a:rPr lang="en-IN" sz="2400" dirty="0">
                <a:latin typeface="Trebuchet MS" panose="020B0603020202020204" pitchFamily="34" charset="0"/>
              </a:rPr>
              <a:t> :</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The node 3(left of node 1) with item 1 and with item 2</a:t>
            </a:r>
          </a:p>
          <a:p>
            <a:pPr lvl="1">
              <a:spcBef>
                <a:spcPts val="600"/>
              </a:spcBef>
              <a:spcAft>
                <a:spcPts val="600"/>
              </a:spcAft>
            </a:pPr>
            <a:r>
              <a:rPr lang="en-IN" sz="2400" dirty="0">
                <a:latin typeface="Trebuchet MS" panose="020B0603020202020204" pitchFamily="34" charset="0"/>
              </a:rPr>
              <a:t>w=4+7=11, v=40;</a:t>
            </a:r>
          </a:p>
          <a:p>
            <a:pPr lvl="1">
              <a:spcBef>
                <a:spcPts val="600"/>
              </a:spcBef>
              <a:spcAft>
                <a:spcPts val="600"/>
              </a:spcAft>
            </a:pPr>
            <a:r>
              <a:rPr lang="en-IN" sz="2400" dirty="0">
                <a:latin typeface="Trebuchet MS" panose="020B0603020202020204" pitchFamily="34" charset="0"/>
              </a:rPr>
              <a:t>vi+1/w i+1=5</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Here w= 4+7=11&gt;10. This is not a feasible solution since the constraints are not satisfied.</a:t>
            </a:r>
          </a:p>
          <a:p>
            <a:pPr>
              <a:spcBef>
                <a:spcPts val="600"/>
              </a:spcBef>
              <a:spcAft>
                <a:spcPts val="600"/>
              </a:spcAft>
            </a:pPr>
            <a:r>
              <a:rPr lang="en-IN" sz="2400" b="1" dirty="0" smtClean="0">
                <a:solidFill>
                  <a:srgbClr val="FF0000"/>
                </a:solidFill>
                <a:latin typeface="Trebuchet MS" panose="020B0603020202020204" pitchFamily="34" charset="0"/>
              </a:rPr>
              <a:t>Node </a:t>
            </a:r>
            <a:r>
              <a:rPr lang="en-IN" sz="2400" b="1" dirty="0">
                <a:solidFill>
                  <a:srgbClr val="FF0000"/>
                </a:solidFill>
                <a:latin typeface="Trebuchet MS" panose="020B0603020202020204" pitchFamily="34" charset="0"/>
              </a:rPr>
              <a:t>4</a:t>
            </a:r>
            <a:r>
              <a:rPr lang="en-IN" sz="2400" dirty="0">
                <a:latin typeface="Trebuchet MS" panose="020B0603020202020204" pitchFamily="34" charset="0"/>
              </a:rPr>
              <a:t> :</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The node 4 (right of node 1) with item 1 and without item 2 - w=4; v=40; vi+1/ w i+1=5</a:t>
            </a:r>
          </a:p>
          <a:p>
            <a:pPr>
              <a:spcBef>
                <a:spcPts val="600"/>
              </a:spcBef>
              <a:spcAft>
                <a:spcPts val="600"/>
              </a:spcAft>
            </a:pPr>
            <a:r>
              <a:rPr lang="en-IN" sz="2400" dirty="0">
                <a:latin typeface="Trebuchet MS" panose="020B0603020202020204" pitchFamily="34" charset="0"/>
              </a:rPr>
              <a:t>	</a:t>
            </a:r>
            <a:r>
              <a:rPr lang="en-IN" sz="2400" dirty="0" err="1">
                <a:latin typeface="Trebuchet MS" panose="020B0603020202020204" pitchFamily="34" charset="0"/>
              </a:rPr>
              <a:t>ub</a:t>
            </a:r>
            <a:r>
              <a:rPr lang="en-IN" sz="2400" dirty="0">
                <a:latin typeface="Trebuchet MS" panose="020B0603020202020204" pitchFamily="34" charset="0"/>
              </a:rPr>
              <a:t> = 40+(10- 4)*5=70</a:t>
            </a:r>
          </a:p>
        </p:txBody>
      </p:sp>
    </p:spTree>
    <p:extLst>
      <p:ext uri="{BB962C8B-B14F-4D97-AF65-F5344CB8AC3E}">
        <p14:creationId xmlns:p14="http://schemas.microsoft.com/office/powerpoint/2010/main" val="36471537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26857"/>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Example</a:t>
            </a:r>
            <a:endParaRPr lang="en-IN" sz="3200" dirty="0">
              <a:solidFill>
                <a:schemeClr val="bg1"/>
              </a:solidFill>
              <a:latin typeface="Trebuchet MS" panose="020B0603020202020204" pitchFamily="34" charset="0"/>
            </a:endParaRPr>
          </a:p>
        </p:txBody>
      </p:sp>
      <p:sp>
        <p:nvSpPr>
          <p:cNvPr id="12" name="TextBox 11">
            <a:extLst>
              <a:ext uri="{FF2B5EF4-FFF2-40B4-BE49-F238E27FC236}">
                <a16:creationId xmlns:a16="http://schemas.microsoft.com/office/drawing/2014/main" id="{4CC8228A-84C5-3E55-652A-EC26BBA47FBD}"/>
              </a:ext>
            </a:extLst>
          </p:cNvPr>
          <p:cNvSpPr txBox="1"/>
          <p:nvPr/>
        </p:nvSpPr>
        <p:spPr>
          <a:xfrm>
            <a:off x="441883" y="1048850"/>
            <a:ext cx="11369951" cy="369332"/>
          </a:xfrm>
          <a:prstGeom prst="rect">
            <a:avLst/>
          </a:prstGeom>
          <a:noFill/>
        </p:spPr>
        <p:txBody>
          <a:bodyPr wrap="square">
            <a:spAutoFit/>
          </a:bodyPr>
          <a:lstStyle/>
          <a:p>
            <a:pPr>
              <a:spcBef>
                <a:spcPts val="600"/>
              </a:spcBef>
              <a:spcAft>
                <a:spcPts val="600"/>
              </a:spcAft>
            </a:pPr>
            <a:r>
              <a:rPr lang="en-IN" dirty="0"/>
              <a:t> </a:t>
            </a:r>
            <a:endParaRPr lang="en-IN" sz="2400" dirty="0">
              <a:latin typeface="Corbel" panose="020B0503020204020204" pitchFamily="34" charset="0"/>
            </a:endParaRPr>
          </a:p>
        </p:txBody>
      </p:sp>
      <p:sp>
        <p:nvSpPr>
          <p:cNvPr id="5" name="TextBox 4">
            <a:extLst>
              <a:ext uri="{FF2B5EF4-FFF2-40B4-BE49-F238E27FC236}">
                <a16:creationId xmlns:a16="http://schemas.microsoft.com/office/drawing/2014/main" id="{C248FC2E-DA1D-1473-3D8D-15119516CBD6}"/>
              </a:ext>
            </a:extLst>
          </p:cNvPr>
          <p:cNvSpPr txBox="1"/>
          <p:nvPr/>
        </p:nvSpPr>
        <p:spPr>
          <a:xfrm>
            <a:off x="215140" y="1096212"/>
            <a:ext cx="11596694" cy="5232202"/>
          </a:xfrm>
          <a:prstGeom prst="rect">
            <a:avLst/>
          </a:prstGeom>
          <a:noFill/>
        </p:spPr>
        <p:txBody>
          <a:bodyPr wrap="square">
            <a:spAutoFit/>
          </a:bodyPr>
          <a:lstStyle/>
          <a:p>
            <a:pPr>
              <a:spcBef>
                <a:spcPts val="600"/>
              </a:spcBef>
              <a:spcAft>
                <a:spcPts val="600"/>
              </a:spcAft>
            </a:pPr>
            <a:r>
              <a:rPr lang="en-IN" sz="2400" b="1" dirty="0">
                <a:solidFill>
                  <a:srgbClr val="FF0000"/>
                </a:solidFill>
                <a:latin typeface="Trebuchet MS" panose="020B0603020202020204" pitchFamily="34" charset="0"/>
              </a:rPr>
              <a:t>Node 5:</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Node 5 (left of node 4) with item 1 and item 3 – w=4+5=9; v=40 + 25 = 65; vi+1/ wi+1=4</a:t>
            </a:r>
          </a:p>
          <a:p>
            <a:pPr>
              <a:spcBef>
                <a:spcPts val="600"/>
              </a:spcBef>
              <a:spcAft>
                <a:spcPts val="600"/>
              </a:spcAft>
            </a:pPr>
            <a:r>
              <a:rPr lang="en-IN" sz="2400" dirty="0">
                <a:latin typeface="Trebuchet MS" panose="020B0603020202020204" pitchFamily="34" charset="0"/>
              </a:rPr>
              <a:t>	</a:t>
            </a:r>
            <a:r>
              <a:rPr lang="en-IN" sz="2400" dirty="0" err="1">
                <a:latin typeface="Trebuchet MS" panose="020B0603020202020204" pitchFamily="34" charset="0"/>
              </a:rPr>
              <a:t>ub</a:t>
            </a:r>
            <a:r>
              <a:rPr lang="en-IN" sz="2400" dirty="0">
                <a:latin typeface="Trebuchet MS" panose="020B0603020202020204" pitchFamily="34" charset="0"/>
              </a:rPr>
              <a:t> = 65 + (10- 9)*4=69</a:t>
            </a:r>
          </a:p>
          <a:p>
            <a:pPr>
              <a:spcBef>
                <a:spcPts val="600"/>
              </a:spcBef>
              <a:spcAft>
                <a:spcPts val="600"/>
              </a:spcAft>
            </a:pPr>
            <a:r>
              <a:rPr lang="en-IN" sz="2400" dirty="0" smtClean="0">
                <a:latin typeface="Trebuchet MS" panose="020B0603020202020204" pitchFamily="34" charset="0"/>
              </a:rPr>
              <a:t> </a:t>
            </a:r>
            <a:r>
              <a:rPr lang="en-IN" sz="2400" b="1" dirty="0">
                <a:solidFill>
                  <a:srgbClr val="FF0000"/>
                </a:solidFill>
                <a:latin typeface="Trebuchet MS" panose="020B0603020202020204" pitchFamily="34" charset="0"/>
              </a:rPr>
              <a:t>Node 6:</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Node 6 (right of node 4) with item 1 and without item 3 – w=4;v=40; vi+1/ w i+1=4 </a:t>
            </a:r>
          </a:p>
          <a:p>
            <a:pPr>
              <a:spcBef>
                <a:spcPts val="600"/>
              </a:spcBef>
              <a:spcAft>
                <a:spcPts val="600"/>
              </a:spcAft>
            </a:pPr>
            <a:r>
              <a:rPr lang="en-IN" sz="2400" dirty="0">
                <a:latin typeface="Trebuchet MS" panose="020B0603020202020204" pitchFamily="34" charset="0"/>
              </a:rPr>
              <a:t>	</a:t>
            </a:r>
            <a:r>
              <a:rPr lang="en-IN" sz="2400" dirty="0" err="1">
                <a:latin typeface="Trebuchet MS" panose="020B0603020202020204" pitchFamily="34" charset="0"/>
              </a:rPr>
              <a:t>ub</a:t>
            </a:r>
            <a:r>
              <a:rPr lang="en-IN" sz="2400" dirty="0">
                <a:latin typeface="Trebuchet MS" panose="020B0603020202020204" pitchFamily="34" charset="0"/>
              </a:rPr>
              <a:t> = 40 + (10-4)*4=64</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The right node yields inferior upper bound. So the left node is selected for further expansion.</a:t>
            </a:r>
          </a:p>
          <a:p>
            <a:pPr>
              <a:spcBef>
                <a:spcPts val="600"/>
              </a:spcBef>
              <a:spcAft>
                <a:spcPts val="600"/>
              </a:spcAft>
            </a:pPr>
            <a:endParaRPr lang="en-IN" sz="2400" dirty="0">
              <a:latin typeface="Corbel" panose="020B0503020204020204" pitchFamily="34" charset="0"/>
            </a:endParaRPr>
          </a:p>
        </p:txBody>
      </p:sp>
    </p:spTree>
    <p:extLst>
      <p:ext uri="{BB962C8B-B14F-4D97-AF65-F5344CB8AC3E}">
        <p14:creationId xmlns:p14="http://schemas.microsoft.com/office/powerpoint/2010/main" val="41598708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26857"/>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Example</a:t>
            </a:r>
            <a:endParaRPr lang="en-IN" sz="3200" dirty="0">
              <a:solidFill>
                <a:schemeClr val="bg1"/>
              </a:solidFill>
              <a:latin typeface="Trebuchet MS" panose="020B0603020202020204" pitchFamily="34" charset="0"/>
            </a:endParaRPr>
          </a:p>
        </p:txBody>
      </p:sp>
      <p:sp>
        <p:nvSpPr>
          <p:cNvPr id="12" name="TextBox 11">
            <a:extLst>
              <a:ext uri="{FF2B5EF4-FFF2-40B4-BE49-F238E27FC236}">
                <a16:creationId xmlns:a16="http://schemas.microsoft.com/office/drawing/2014/main" id="{4CC8228A-84C5-3E55-652A-EC26BBA47FBD}"/>
              </a:ext>
            </a:extLst>
          </p:cNvPr>
          <p:cNvSpPr txBox="1"/>
          <p:nvPr/>
        </p:nvSpPr>
        <p:spPr>
          <a:xfrm>
            <a:off x="441883" y="1048850"/>
            <a:ext cx="11369951" cy="369332"/>
          </a:xfrm>
          <a:prstGeom prst="rect">
            <a:avLst/>
          </a:prstGeom>
          <a:noFill/>
        </p:spPr>
        <p:txBody>
          <a:bodyPr wrap="square">
            <a:spAutoFit/>
          </a:bodyPr>
          <a:lstStyle/>
          <a:p>
            <a:pPr>
              <a:spcBef>
                <a:spcPts val="600"/>
              </a:spcBef>
              <a:spcAft>
                <a:spcPts val="600"/>
              </a:spcAft>
            </a:pPr>
            <a:r>
              <a:rPr lang="en-IN" dirty="0"/>
              <a:t> </a:t>
            </a:r>
            <a:endParaRPr lang="en-IN" sz="2400" dirty="0">
              <a:latin typeface="Corbel" panose="020B0503020204020204" pitchFamily="34" charset="0"/>
            </a:endParaRPr>
          </a:p>
        </p:txBody>
      </p:sp>
      <p:sp>
        <p:nvSpPr>
          <p:cNvPr id="6" name="TextBox 5">
            <a:extLst>
              <a:ext uri="{FF2B5EF4-FFF2-40B4-BE49-F238E27FC236}">
                <a16:creationId xmlns:a16="http://schemas.microsoft.com/office/drawing/2014/main" id="{B1F80BB8-D651-49C2-2CC7-531F59294A2F}"/>
              </a:ext>
            </a:extLst>
          </p:cNvPr>
          <p:cNvSpPr txBox="1"/>
          <p:nvPr/>
        </p:nvSpPr>
        <p:spPr>
          <a:xfrm>
            <a:off x="668561" y="1279968"/>
            <a:ext cx="10730808" cy="5016758"/>
          </a:xfrm>
          <a:prstGeom prst="rect">
            <a:avLst/>
          </a:prstGeom>
          <a:noFill/>
        </p:spPr>
        <p:txBody>
          <a:bodyPr wrap="square">
            <a:spAutoFit/>
          </a:bodyPr>
          <a:lstStyle/>
          <a:p>
            <a:pPr>
              <a:spcBef>
                <a:spcPts val="600"/>
              </a:spcBef>
              <a:spcAft>
                <a:spcPts val="600"/>
              </a:spcAft>
            </a:pPr>
            <a:r>
              <a:rPr lang="en-IN" sz="2400" b="1" dirty="0">
                <a:solidFill>
                  <a:srgbClr val="FF0000"/>
                </a:solidFill>
                <a:latin typeface="Trebuchet MS" panose="020B0603020202020204" pitchFamily="34" charset="0"/>
              </a:rPr>
              <a:t>Node 7:</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Node 7 (left of node 5) with item 1, 3 and with item 4 – w=3; v=12</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Here w= 9+3=12&gt;10. </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This is not a feasible solution since the constraints are not satisfied.</a:t>
            </a:r>
          </a:p>
          <a:p>
            <a:pPr>
              <a:spcBef>
                <a:spcPts val="600"/>
              </a:spcBef>
              <a:spcAft>
                <a:spcPts val="600"/>
              </a:spcAft>
            </a:pPr>
            <a:endParaRPr lang="en-IN" sz="2400" dirty="0">
              <a:latin typeface="Trebuchet MS" panose="020B0603020202020204" pitchFamily="34" charset="0"/>
            </a:endParaRPr>
          </a:p>
          <a:p>
            <a:pPr>
              <a:spcBef>
                <a:spcPts val="600"/>
              </a:spcBef>
              <a:spcAft>
                <a:spcPts val="600"/>
              </a:spcAft>
            </a:pPr>
            <a:r>
              <a:rPr lang="en-IN" sz="2400" b="1" dirty="0">
                <a:solidFill>
                  <a:srgbClr val="FF0000"/>
                </a:solidFill>
                <a:latin typeface="Trebuchet MS" panose="020B0603020202020204" pitchFamily="34" charset="0"/>
              </a:rPr>
              <a:t>Node 8:</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Node 8(right of node 5) with item 1,3 and	without item 4 w=9; v=65; vi+1/ w i+1=0</a:t>
            </a:r>
          </a:p>
          <a:p>
            <a:pPr>
              <a:spcBef>
                <a:spcPts val="600"/>
              </a:spcBef>
              <a:spcAft>
                <a:spcPts val="600"/>
              </a:spcAft>
            </a:pPr>
            <a:r>
              <a:rPr lang="en-IN" sz="2400" dirty="0">
                <a:latin typeface="Trebuchet MS" panose="020B0603020202020204" pitchFamily="34" charset="0"/>
              </a:rPr>
              <a:t>	</a:t>
            </a:r>
            <a:r>
              <a:rPr lang="en-IN" sz="2400" dirty="0" err="1">
                <a:latin typeface="Trebuchet MS" panose="020B0603020202020204" pitchFamily="34" charset="0"/>
              </a:rPr>
              <a:t>ub</a:t>
            </a:r>
            <a:r>
              <a:rPr lang="en-IN" sz="2400" dirty="0">
                <a:latin typeface="Trebuchet MS" panose="020B0603020202020204" pitchFamily="34" charset="0"/>
              </a:rPr>
              <a:t> = 65 + (10- 9)*0=65</a:t>
            </a:r>
          </a:p>
          <a:p>
            <a:pPr>
              <a:spcBef>
                <a:spcPts val="600"/>
              </a:spcBef>
              <a:spcAft>
                <a:spcPts val="600"/>
              </a:spcAft>
            </a:pPr>
            <a:endParaRPr lang="en-IN" sz="2400" dirty="0">
              <a:latin typeface="Corbel" panose="020B0503020204020204" pitchFamily="34" charset="0"/>
            </a:endParaRPr>
          </a:p>
        </p:txBody>
      </p:sp>
    </p:spTree>
    <p:extLst>
      <p:ext uri="{BB962C8B-B14F-4D97-AF65-F5344CB8AC3E}">
        <p14:creationId xmlns:p14="http://schemas.microsoft.com/office/powerpoint/2010/main" val="28248760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26857"/>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26297" y="241077"/>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Example</a:t>
            </a:r>
            <a:endParaRPr lang="en-IN" sz="3200" dirty="0">
              <a:solidFill>
                <a:schemeClr val="bg1"/>
              </a:solidFill>
              <a:latin typeface="Trebuchet MS" panose="020B0603020202020204" pitchFamily="34" charset="0"/>
            </a:endParaRPr>
          </a:p>
        </p:txBody>
      </p:sp>
      <p:sp>
        <p:nvSpPr>
          <p:cNvPr id="12" name="TextBox 11">
            <a:extLst>
              <a:ext uri="{FF2B5EF4-FFF2-40B4-BE49-F238E27FC236}">
                <a16:creationId xmlns:a16="http://schemas.microsoft.com/office/drawing/2014/main" id="{4CC8228A-84C5-3E55-652A-EC26BBA47FBD}"/>
              </a:ext>
            </a:extLst>
          </p:cNvPr>
          <p:cNvSpPr txBox="1"/>
          <p:nvPr/>
        </p:nvSpPr>
        <p:spPr>
          <a:xfrm>
            <a:off x="441883" y="1048850"/>
            <a:ext cx="11369951" cy="369332"/>
          </a:xfrm>
          <a:prstGeom prst="rect">
            <a:avLst/>
          </a:prstGeom>
          <a:noFill/>
        </p:spPr>
        <p:txBody>
          <a:bodyPr wrap="square">
            <a:spAutoFit/>
          </a:bodyPr>
          <a:lstStyle/>
          <a:p>
            <a:pPr>
              <a:spcBef>
                <a:spcPts val="600"/>
              </a:spcBef>
              <a:spcAft>
                <a:spcPts val="600"/>
              </a:spcAft>
            </a:pPr>
            <a:r>
              <a:rPr lang="en-IN" dirty="0"/>
              <a:t> </a:t>
            </a:r>
            <a:endParaRPr lang="en-IN" sz="2400" dirty="0">
              <a:latin typeface="Corbel" panose="020B0503020204020204" pitchFamily="34" charset="0"/>
            </a:endParaRPr>
          </a:p>
        </p:txBody>
      </p:sp>
      <p:pic>
        <p:nvPicPr>
          <p:cNvPr id="3" name="Picture 2">
            <a:extLst>
              <a:ext uri="{FF2B5EF4-FFF2-40B4-BE49-F238E27FC236}">
                <a16:creationId xmlns:a16="http://schemas.microsoft.com/office/drawing/2014/main" id="{DCCC6CBC-07BD-C946-F536-3815FCB10079}"/>
              </a:ext>
            </a:extLst>
          </p:cNvPr>
          <p:cNvPicPr>
            <a:picLocks noChangeAspect="1"/>
          </p:cNvPicPr>
          <p:nvPr/>
        </p:nvPicPr>
        <p:blipFill rotWithShape="1">
          <a:blip r:embed="rId6"/>
          <a:srcRect r="8767" b="36441"/>
          <a:stretch/>
        </p:blipFill>
        <p:spPr>
          <a:xfrm>
            <a:off x="294777" y="929269"/>
            <a:ext cx="9675133" cy="5752244"/>
          </a:xfrm>
          <a:prstGeom prst="rect">
            <a:avLst/>
          </a:prstGeom>
        </p:spPr>
      </p:pic>
      <p:sp>
        <p:nvSpPr>
          <p:cNvPr id="7" name="TextBox 6">
            <a:extLst>
              <a:ext uri="{FF2B5EF4-FFF2-40B4-BE49-F238E27FC236}">
                <a16:creationId xmlns:a16="http://schemas.microsoft.com/office/drawing/2014/main" id="{4D819C78-6159-7B56-C3E3-B63A3A6D0E27}"/>
              </a:ext>
            </a:extLst>
          </p:cNvPr>
          <p:cNvSpPr txBox="1"/>
          <p:nvPr/>
        </p:nvSpPr>
        <p:spPr>
          <a:xfrm>
            <a:off x="5705474" y="5883618"/>
            <a:ext cx="5817900" cy="830997"/>
          </a:xfrm>
          <a:prstGeom prst="rect">
            <a:avLst/>
          </a:prstGeom>
          <a:noFill/>
        </p:spPr>
        <p:txBody>
          <a:bodyPr wrap="square">
            <a:spAutoFit/>
          </a:bodyPr>
          <a:lstStyle/>
          <a:p>
            <a:pPr marL="285750" indent="-285750">
              <a:buFont typeface="Arial" panose="020B0604020202020204" pitchFamily="34" charset="0"/>
              <a:buChar char="•"/>
            </a:pPr>
            <a:r>
              <a:rPr lang="en-IN" sz="2400" dirty="0">
                <a:solidFill>
                  <a:srgbClr val="FF0000"/>
                </a:solidFill>
                <a:latin typeface="Trebuchet MS" panose="020B0603020202020204" pitchFamily="34" charset="0"/>
              </a:rPr>
              <a:t>Hence the items in the knapsack are </a:t>
            </a:r>
          </a:p>
          <a:p>
            <a:r>
              <a:rPr lang="en-IN" sz="2400" dirty="0">
                <a:solidFill>
                  <a:srgbClr val="FF0000"/>
                </a:solidFill>
                <a:latin typeface="Trebuchet MS" panose="020B0603020202020204" pitchFamily="34" charset="0"/>
              </a:rPr>
              <a:t>     {item 1, item 3} with the profit $65</a:t>
            </a:r>
          </a:p>
        </p:txBody>
      </p:sp>
      <p:pic>
        <p:nvPicPr>
          <p:cNvPr id="5" name="Picture 4">
            <a:extLst>
              <a:ext uri="{FF2B5EF4-FFF2-40B4-BE49-F238E27FC236}">
                <a16:creationId xmlns:a16="http://schemas.microsoft.com/office/drawing/2014/main" id="{46B0AC04-710F-F72C-302D-901631B4C0A3}"/>
              </a:ext>
            </a:extLst>
          </p:cNvPr>
          <p:cNvPicPr>
            <a:picLocks noChangeAspect="1"/>
          </p:cNvPicPr>
          <p:nvPr/>
        </p:nvPicPr>
        <p:blipFill>
          <a:blip r:embed="rId7">
            <a:grayscl/>
          </a:blip>
          <a:stretch>
            <a:fillRect/>
          </a:stretch>
        </p:blipFill>
        <p:spPr>
          <a:xfrm>
            <a:off x="9542206" y="3449507"/>
            <a:ext cx="2455558" cy="2413632"/>
          </a:xfrm>
          <a:prstGeom prst="rect">
            <a:avLst/>
          </a:prstGeom>
        </p:spPr>
      </p:pic>
    </p:spTree>
    <p:extLst>
      <p:ext uri="{BB962C8B-B14F-4D97-AF65-F5344CB8AC3E}">
        <p14:creationId xmlns:p14="http://schemas.microsoft.com/office/powerpoint/2010/main" val="110179034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sp>
        <p:nvSpPr>
          <p:cNvPr id="4" name="Rectangle 3"/>
          <p:cNvSpPr/>
          <p:nvPr/>
        </p:nvSpPr>
        <p:spPr>
          <a:xfrm>
            <a:off x="339214" y="989235"/>
            <a:ext cx="11472620" cy="563231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The branch-and-bound </a:t>
            </a:r>
            <a:r>
              <a:rPr lang="en-US" sz="2400" dirty="0">
                <a:solidFill>
                  <a:srgbClr val="000000"/>
                </a:solidFill>
                <a:latin typeface="Trebuchet MS" panose="020B0603020202020204" pitchFamily="34" charset="0"/>
              </a:rPr>
              <a:t>approach by applying it to the problem of </a:t>
            </a:r>
            <a:r>
              <a:rPr lang="en-US" sz="2400" b="1" dirty="0">
                <a:solidFill>
                  <a:srgbClr val="0070C0"/>
                </a:solidFill>
                <a:latin typeface="Trebuchet MS" panose="020B0603020202020204" pitchFamily="34" charset="0"/>
              </a:rPr>
              <a:t>assigning n people to n jobs </a:t>
            </a:r>
            <a:r>
              <a:rPr lang="en-US" sz="2400" dirty="0">
                <a:latin typeface="Trebuchet MS" panose="020B0603020202020204" pitchFamily="34" charset="0"/>
              </a:rPr>
              <a:t>so that the total </a:t>
            </a:r>
            <a:r>
              <a:rPr lang="en-US" sz="2400" dirty="0">
                <a:solidFill>
                  <a:srgbClr val="0070C0"/>
                </a:solidFill>
                <a:latin typeface="Trebuchet MS" panose="020B0603020202020204" pitchFamily="34" charset="0"/>
              </a:rPr>
              <a:t>cost of the assignment is as small</a:t>
            </a:r>
            <a:r>
              <a:rPr lang="en-US" sz="2400" dirty="0">
                <a:latin typeface="Trebuchet MS" panose="020B0603020202020204" pitchFamily="34" charset="0"/>
              </a:rPr>
              <a:t> as possible. </a:t>
            </a:r>
          </a:p>
          <a:p>
            <a:pPr marL="342900" indent="-342900">
              <a:lnSpc>
                <a:spcPct val="150000"/>
              </a:lnSpc>
              <a:buFont typeface="Arial" panose="020B0604020202020204" pitchFamily="34" charset="0"/>
              <a:buChar char="•"/>
            </a:pPr>
            <a:r>
              <a:rPr lang="en-US" sz="2400" dirty="0">
                <a:solidFill>
                  <a:srgbClr val="000000"/>
                </a:solidFill>
                <a:latin typeface="Trebuchet MS" panose="020B0603020202020204" pitchFamily="34" charset="0"/>
              </a:rPr>
              <a:t>An instance of the assignment problem is specified by an n × n cost matrix C so that we can state the problem as follows: </a:t>
            </a:r>
            <a:endParaRPr lang="en-US" sz="2400" dirty="0" smtClean="0">
              <a:solidFill>
                <a:srgbClr val="000000"/>
              </a:solidFill>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select </a:t>
            </a:r>
            <a:r>
              <a:rPr lang="en-US" sz="2400" dirty="0">
                <a:solidFill>
                  <a:srgbClr val="000000"/>
                </a:solidFill>
                <a:latin typeface="Trebuchet MS" panose="020B0603020202020204" pitchFamily="34" charset="0"/>
              </a:rPr>
              <a:t>one element in each row of the matrix so that no two selected elements are in the same column and their sum is the smallest possible. We will demonstrate how this problem can be solved using the branch-and-bound technique by considering the small instance of the problem. Consider the data given below. </a:t>
            </a:r>
            <a:endParaRPr lang="en-IN" sz="2400" dirty="0">
              <a:latin typeface="Trebuchet MS" panose="020B0603020202020204" pitchFamily="34" charset="0"/>
            </a:endParaRPr>
          </a:p>
        </p:txBody>
      </p:sp>
    </p:spTree>
    <p:extLst>
      <p:ext uri="{BB962C8B-B14F-4D97-AF65-F5344CB8AC3E}">
        <p14:creationId xmlns:p14="http://schemas.microsoft.com/office/powerpoint/2010/main" val="7773277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sp>
        <p:nvSpPr>
          <p:cNvPr id="4" name="Rectangle 3"/>
          <p:cNvSpPr/>
          <p:nvPr/>
        </p:nvSpPr>
        <p:spPr>
          <a:xfrm>
            <a:off x="263320" y="1028719"/>
            <a:ext cx="11652660" cy="563231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The branch-and-bound </a:t>
            </a:r>
            <a:r>
              <a:rPr lang="en-US" sz="2400" dirty="0">
                <a:solidFill>
                  <a:srgbClr val="000000"/>
                </a:solidFill>
                <a:latin typeface="Trebuchet MS" panose="020B0603020202020204" pitchFamily="34" charset="0"/>
              </a:rPr>
              <a:t>approach by applying it to the problem of </a:t>
            </a:r>
            <a:r>
              <a:rPr lang="en-US" sz="2400" b="1" dirty="0">
                <a:solidFill>
                  <a:srgbClr val="0070C0"/>
                </a:solidFill>
                <a:latin typeface="Trebuchet MS" panose="020B0603020202020204" pitchFamily="34" charset="0"/>
              </a:rPr>
              <a:t>assigning n people to n jobs </a:t>
            </a:r>
            <a:r>
              <a:rPr lang="en-US" sz="2400" dirty="0">
                <a:latin typeface="Trebuchet MS" panose="020B0603020202020204" pitchFamily="34" charset="0"/>
              </a:rPr>
              <a:t>so that the total </a:t>
            </a:r>
            <a:r>
              <a:rPr lang="en-US" sz="2400" dirty="0">
                <a:solidFill>
                  <a:srgbClr val="0070C0"/>
                </a:solidFill>
                <a:latin typeface="Trebuchet MS" panose="020B0603020202020204" pitchFamily="34" charset="0"/>
              </a:rPr>
              <a:t>cost of the assignment is as small</a:t>
            </a:r>
            <a:r>
              <a:rPr lang="en-US" sz="2400" dirty="0">
                <a:latin typeface="Trebuchet MS" panose="020B0603020202020204" pitchFamily="34" charset="0"/>
              </a:rPr>
              <a:t> as possible. </a:t>
            </a:r>
          </a:p>
          <a:p>
            <a:pPr marL="342900" indent="-342900">
              <a:lnSpc>
                <a:spcPct val="150000"/>
              </a:lnSpc>
              <a:buFont typeface="Arial" panose="020B0604020202020204" pitchFamily="34" charset="0"/>
              <a:buChar char="•"/>
            </a:pPr>
            <a:r>
              <a:rPr lang="en-US" sz="2400" dirty="0">
                <a:solidFill>
                  <a:srgbClr val="000000"/>
                </a:solidFill>
                <a:latin typeface="Trebuchet MS" panose="020B0603020202020204" pitchFamily="34" charset="0"/>
              </a:rPr>
              <a:t>An instance of the assignment problem is specified by an </a:t>
            </a:r>
            <a:r>
              <a:rPr lang="en-US" sz="2400" dirty="0">
                <a:solidFill>
                  <a:srgbClr val="0070C0"/>
                </a:solidFill>
                <a:latin typeface="Trebuchet MS" panose="020B0603020202020204" pitchFamily="34" charset="0"/>
              </a:rPr>
              <a:t>n × </a:t>
            </a:r>
            <a:r>
              <a:rPr lang="en-US" sz="2400" dirty="0" smtClean="0">
                <a:solidFill>
                  <a:srgbClr val="0070C0"/>
                </a:solidFill>
                <a:latin typeface="Trebuchet MS" panose="020B0603020202020204" pitchFamily="34" charset="0"/>
              </a:rPr>
              <a:t>n, </a:t>
            </a:r>
            <a:r>
              <a:rPr lang="en-US" sz="2400" dirty="0">
                <a:solidFill>
                  <a:srgbClr val="0070C0"/>
                </a:solidFill>
                <a:latin typeface="Trebuchet MS" panose="020B0603020202020204" pitchFamily="34" charset="0"/>
              </a:rPr>
              <a:t>cost matrix C </a:t>
            </a:r>
            <a:r>
              <a:rPr lang="en-US" sz="2400" dirty="0">
                <a:solidFill>
                  <a:srgbClr val="000000"/>
                </a:solidFill>
                <a:latin typeface="Trebuchet MS" panose="020B0603020202020204" pitchFamily="34" charset="0"/>
              </a:rPr>
              <a:t>so that we can state the problem as follows: </a:t>
            </a:r>
            <a:endParaRPr lang="en-US" sz="2400" dirty="0" smtClean="0">
              <a:solidFill>
                <a:srgbClr val="000000"/>
              </a:solidFill>
              <a:latin typeface="Trebuchet MS" panose="020B0603020202020204" pitchFamily="34" charset="0"/>
            </a:endParaRPr>
          </a:p>
          <a:p>
            <a:pPr marL="1257300" lvl="2" indent="-342900">
              <a:lnSpc>
                <a:spcPct val="150000"/>
              </a:lnSpc>
              <a:buFont typeface="Wingdings" panose="05000000000000000000" pitchFamily="2" charset="2"/>
              <a:buChar char="ü"/>
            </a:pPr>
            <a:r>
              <a:rPr lang="en-US" sz="2400" dirty="0" smtClean="0">
                <a:solidFill>
                  <a:srgbClr val="000000"/>
                </a:solidFill>
                <a:latin typeface="Trebuchet MS" panose="020B0603020202020204" pitchFamily="34" charset="0"/>
              </a:rPr>
              <a:t>select </a:t>
            </a:r>
            <a:r>
              <a:rPr lang="en-US" sz="2400" dirty="0">
                <a:solidFill>
                  <a:srgbClr val="000000"/>
                </a:solidFill>
                <a:latin typeface="Trebuchet MS" panose="020B0603020202020204" pitchFamily="34" charset="0"/>
              </a:rPr>
              <a:t>one element in each row of the matrix </a:t>
            </a:r>
            <a:endParaRPr lang="en-US" sz="2400" dirty="0" smtClean="0">
              <a:solidFill>
                <a:srgbClr val="000000"/>
              </a:solidFill>
              <a:latin typeface="Trebuchet MS" panose="020B0603020202020204" pitchFamily="34" charset="0"/>
            </a:endParaRPr>
          </a:p>
          <a:p>
            <a:pPr marL="1257300" lvl="2" indent="-342900">
              <a:lnSpc>
                <a:spcPct val="150000"/>
              </a:lnSpc>
              <a:buFont typeface="Wingdings" panose="05000000000000000000" pitchFamily="2" charset="2"/>
              <a:buChar char="ü"/>
            </a:pPr>
            <a:r>
              <a:rPr lang="en-US" sz="2400" dirty="0" smtClean="0">
                <a:solidFill>
                  <a:srgbClr val="000000"/>
                </a:solidFill>
                <a:latin typeface="Trebuchet MS" panose="020B0603020202020204" pitchFamily="34" charset="0"/>
              </a:rPr>
              <a:t>so </a:t>
            </a:r>
            <a:r>
              <a:rPr lang="en-US" sz="2400" dirty="0">
                <a:solidFill>
                  <a:srgbClr val="000000"/>
                </a:solidFill>
                <a:latin typeface="Trebuchet MS" panose="020B0603020202020204" pitchFamily="34" charset="0"/>
              </a:rPr>
              <a:t>that no two selected elements are in the same column and their sum is the smallest possible. </a:t>
            </a:r>
            <a:endParaRPr lang="en-US" sz="2400" dirty="0" smtClean="0">
              <a:solidFill>
                <a:srgbClr val="000000"/>
              </a:solidFill>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We </a:t>
            </a:r>
            <a:r>
              <a:rPr lang="en-US" sz="2400" dirty="0">
                <a:solidFill>
                  <a:srgbClr val="000000"/>
                </a:solidFill>
                <a:latin typeface="Trebuchet MS" panose="020B0603020202020204" pitchFamily="34" charset="0"/>
              </a:rPr>
              <a:t>will demonstrate how this problem can be solved using the branch-and-bound technique by considering the small instance of the problem. Consider the data given below. </a:t>
            </a:r>
            <a:endParaRPr lang="en-IN" sz="2400" dirty="0">
              <a:latin typeface="Trebuchet MS" panose="020B0603020202020204" pitchFamily="34" charset="0"/>
            </a:endParaRPr>
          </a:p>
        </p:txBody>
      </p:sp>
    </p:spTree>
    <p:extLst>
      <p:ext uri="{BB962C8B-B14F-4D97-AF65-F5344CB8AC3E}">
        <p14:creationId xmlns:p14="http://schemas.microsoft.com/office/powerpoint/2010/main" val="331444227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sp>
        <p:nvSpPr>
          <p:cNvPr id="4" name="Rectangle 3"/>
          <p:cNvSpPr/>
          <p:nvPr/>
        </p:nvSpPr>
        <p:spPr>
          <a:xfrm>
            <a:off x="263320" y="1028719"/>
            <a:ext cx="11652660" cy="563231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The branch-and-bound </a:t>
            </a:r>
            <a:r>
              <a:rPr lang="en-US" sz="2400" dirty="0">
                <a:solidFill>
                  <a:srgbClr val="000000"/>
                </a:solidFill>
                <a:latin typeface="Trebuchet MS" panose="020B0603020202020204" pitchFamily="34" charset="0"/>
              </a:rPr>
              <a:t>approach by applying it to the problem of </a:t>
            </a:r>
            <a:r>
              <a:rPr lang="en-US" sz="2400" b="1" dirty="0">
                <a:solidFill>
                  <a:srgbClr val="0070C0"/>
                </a:solidFill>
                <a:latin typeface="Trebuchet MS" panose="020B0603020202020204" pitchFamily="34" charset="0"/>
              </a:rPr>
              <a:t>assigning n people to n jobs </a:t>
            </a:r>
            <a:r>
              <a:rPr lang="en-US" sz="2400" dirty="0">
                <a:latin typeface="Trebuchet MS" panose="020B0603020202020204" pitchFamily="34" charset="0"/>
              </a:rPr>
              <a:t>so that the total </a:t>
            </a:r>
            <a:r>
              <a:rPr lang="en-US" sz="2400" dirty="0">
                <a:solidFill>
                  <a:srgbClr val="0070C0"/>
                </a:solidFill>
                <a:latin typeface="Trebuchet MS" panose="020B0603020202020204" pitchFamily="34" charset="0"/>
              </a:rPr>
              <a:t>cost of the assignment is as small</a:t>
            </a:r>
            <a:r>
              <a:rPr lang="en-US" sz="2400" dirty="0">
                <a:latin typeface="Trebuchet MS" panose="020B0603020202020204" pitchFamily="34" charset="0"/>
              </a:rPr>
              <a:t> as possible. </a:t>
            </a:r>
          </a:p>
          <a:p>
            <a:pPr marL="342900" indent="-342900">
              <a:lnSpc>
                <a:spcPct val="150000"/>
              </a:lnSpc>
              <a:buFont typeface="Arial" panose="020B0604020202020204" pitchFamily="34" charset="0"/>
              <a:buChar char="•"/>
            </a:pPr>
            <a:r>
              <a:rPr lang="en-US" sz="2400" dirty="0">
                <a:solidFill>
                  <a:srgbClr val="000000"/>
                </a:solidFill>
                <a:latin typeface="Trebuchet MS" panose="020B0603020202020204" pitchFamily="34" charset="0"/>
              </a:rPr>
              <a:t>An instance of the assignment problem is specified by an </a:t>
            </a:r>
            <a:r>
              <a:rPr lang="en-US" sz="2400" dirty="0">
                <a:solidFill>
                  <a:srgbClr val="0070C0"/>
                </a:solidFill>
                <a:latin typeface="Trebuchet MS" panose="020B0603020202020204" pitchFamily="34" charset="0"/>
              </a:rPr>
              <a:t>n × </a:t>
            </a:r>
            <a:r>
              <a:rPr lang="en-US" sz="2400" dirty="0" smtClean="0">
                <a:solidFill>
                  <a:srgbClr val="0070C0"/>
                </a:solidFill>
                <a:latin typeface="Trebuchet MS" panose="020B0603020202020204" pitchFamily="34" charset="0"/>
              </a:rPr>
              <a:t>n, </a:t>
            </a:r>
            <a:r>
              <a:rPr lang="en-US" sz="2400" dirty="0">
                <a:solidFill>
                  <a:srgbClr val="0070C0"/>
                </a:solidFill>
                <a:latin typeface="Trebuchet MS" panose="020B0603020202020204" pitchFamily="34" charset="0"/>
              </a:rPr>
              <a:t>cost matrix C </a:t>
            </a:r>
            <a:r>
              <a:rPr lang="en-US" sz="2400" dirty="0">
                <a:solidFill>
                  <a:srgbClr val="000000"/>
                </a:solidFill>
                <a:latin typeface="Trebuchet MS" panose="020B0603020202020204" pitchFamily="34" charset="0"/>
              </a:rPr>
              <a:t>so that we can state the problem as follows: </a:t>
            </a:r>
            <a:endParaRPr lang="en-US" sz="2400" dirty="0" smtClean="0">
              <a:solidFill>
                <a:srgbClr val="000000"/>
              </a:solidFill>
              <a:latin typeface="Trebuchet MS" panose="020B0603020202020204" pitchFamily="34" charset="0"/>
            </a:endParaRPr>
          </a:p>
          <a:p>
            <a:pPr marL="1257300" lvl="2" indent="-342900">
              <a:lnSpc>
                <a:spcPct val="150000"/>
              </a:lnSpc>
              <a:buFont typeface="Wingdings" panose="05000000000000000000" pitchFamily="2" charset="2"/>
              <a:buChar char="ü"/>
            </a:pPr>
            <a:r>
              <a:rPr lang="en-US" sz="2400" dirty="0" smtClean="0">
                <a:solidFill>
                  <a:srgbClr val="000000"/>
                </a:solidFill>
                <a:latin typeface="Trebuchet MS" panose="020B0603020202020204" pitchFamily="34" charset="0"/>
              </a:rPr>
              <a:t>select </a:t>
            </a:r>
            <a:r>
              <a:rPr lang="en-US" sz="2400" dirty="0">
                <a:solidFill>
                  <a:srgbClr val="000000"/>
                </a:solidFill>
                <a:latin typeface="Trebuchet MS" panose="020B0603020202020204" pitchFamily="34" charset="0"/>
              </a:rPr>
              <a:t>one element in each row of the matrix </a:t>
            </a:r>
            <a:endParaRPr lang="en-US" sz="2400" dirty="0" smtClean="0">
              <a:solidFill>
                <a:srgbClr val="000000"/>
              </a:solidFill>
              <a:latin typeface="Trebuchet MS" panose="020B0603020202020204" pitchFamily="34" charset="0"/>
            </a:endParaRPr>
          </a:p>
          <a:p>
            <a:pPr marL="1257300" lvl="2" indent="-342900">
              <a:lnSpc>
                <a:spcPct val="150000"/>
              </a:lnSpc>
              <a:buFont typeface="Wingdings" panose="05000000000000000000" pitchFamily="2" charset="2"/>
              <a:buChar char="ü"/>
            </a:pPr>
            <a:r>
              <a:rPr lang="en-US" sz="2400" dirty="0" smtClean="0">
                <a:solidFill>
                  <a:srgbClr val="000000"/>
                </a:solidFill>
                <a:latin typeface="Trebuchet MS" panose="020B0603020202020204" pitchFamily="34" charset="0"/>
              </a:rPr>
              <a:t>so </a:t>
            </a:r>
            <a:r>
              <a:rPr lang="en-US" sz="2400" dirty="0">
                <a:solidFill>
                  <a:srgbClr val="000000"/>
                </a:solidFill>
                <a:latin typeface="Trebuchet MS" panose="020B0603020202020204" pitchFamily="34" charset="0"/>
              </a:rPr>
              <a:t>that no two selected elements are in the same column and their sum is the smallest possible. </a:t>
            </a:r>
            <a:endParaRPr lang="en-US" sz="2400" dirty="0" smtClean="0">
              <a:solidFill>
                <a:srgbClr val="000000"/>
              </a:solidFill>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We </a:t>
            </a:r>
            <a:r>
              <a:rPr lang="en-US" sz="2400" dirty="0">
                <a:solidFill>
                  <a:srgbClr val="000000"/>
                </a:solidFill>
                <a:latin typeface="Trebuchet MS" panose="020B0603020202020204" pitchFamily="34" charset="0"/>
              </a:rPr>
              <a:t>will demonstrate how this problem can be solved using the branch-and-bound technique by considering the small instance of the problem. Consider the data given below. </a:t>
            </a:r>
            <a:endParaRPr lang="en-IN" sz="2400" dirty="0">
              <a:latin typeface="Trebuchet MS" panose="020B0603020202020204" pitchFamily="34" charset="0"/>
            </a:endParaRPr>
          </a:p>
        </p:txBody>
      </p:sp>
    </p:spTree>
    <p:extLst>
      <p:ext uri="{BB962C8B-B14F-4D97-AF65-F5344CB8AC3E}">
        <p14:creationId xmlns:p14="http://schemas.microsoft.com/office/powerpoint/2010/main" val="390071364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pic>
        <p:nvPicPr>
          <p:cNvPr id="5" name="Picture 4"/>
          <p:cNvPicPr>
            <a:picLocks noChangeAspect="1"/>
          </p:cNvPicPr>
          <p:nvPr/>
        </p:nvPicPr>
        <p:blipFill rotWithShape="1">
          <a:blip r:embed="rId6"/>
          <a:srcRect l="5947" t="14970" r="6598" b="5428"/>
          <a:stretch/>
        </p:blipFill>
        <p:spPr>
          <a:xfrm>
            <a:off x="2396250" y="1306273"/>
            <a:ext cx="3274142" cy="1784555"/>
          </a:xfrm>
          <a:prstGeom prst="rect">
            <a:avLst/>
          </a:prstGeom>
        </p:spPr>
      </p:pic>
      <p:sp>
        <p:nvSpPr>
          <p:cNvPr id="6" name="Rectangle 5"/>
          <p:cNvSpPr/>
          <p:nvPr/>
        </p:nvSpPr>
        <p:spPr>
          <a:xfrm>
            <a:off x="298482" y="964018"/>
            <a:ext cx="3406876" cy="461665"/>
          </a:xfrm>
          <a:prstGeom prst="rect">
            <a:avLst/>
          </a:prstGeom>
        </p:spPr>
        <p:txBody>
          <a:bodyPr wrap="square">
            <a:spAutoFit/>
          </a:bodyPr>
          <a:lstStyle/>
          <a:p>
            <a:r>
              <a:rPr lang="en-US" sz="2400" b="1" dirty="0" smtClean="0">
                <a:solidFill>
                  <a:srgbClr val="000000"/>
                </a:solidFill>
                <a:latin typeface="Trebuchet MS" panose="020B0603020202020204" pitchFamily="34" charset="0"/>
              </a:rPr>
              <a:t>Example: </a:t>
            </a:r>
            <a:endParaRPr lang="en-IN" sz="2400" b="1" dirty="0"/>
          </a:p>
        </p:txBody>
      </p:sp>
      <p:sp>
        <p:nvSpPr>
          <p:cNvPr id="7" name="Rectangle 6"/>
          <p:cNvSpPr/>
          <p:nvPr/>
        </p:nvSpPr>
        <p:spPr>
          <a:xfrm>
            <a:off x="298482" y="3090828"/>
            <a:ext cx="11513352" cy="3416320"/>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Finding a Lower Bound for Optimal </a:t>
            </a:r>
            <a:r>
              <a:rPr lang="en-US" sz="2400" b="1" dirty="0" smtClean="0">
                <a:solidFill>
                  <a:srgbClr val="0070C0"/>
                </a:solidFill>
                <a:latin typeface="Trebuchet MS" panose="020B0603020202020204" pitchFamily="34" charset="0"/>
              </a:rPr>
              <a:t>Selection</a:t>
            </a:r>
          </a:p>
          <a:p>
            <a:pPr>
              <a:lnSpc>
                <a:spcPct val="150000"/>
              </a:lnSpc>
              <a:buFont typeface="+mj-lt"/>
              <a:buAutoNum type="arabicPeriod"/>
            </a:pPr>
            <a:r>
              <a:rPr lang="en-US" sz="2400" b="1" dirty="0" smtClean="0">
                <a:latin typeface="Trebuchet MS" panose="020B0603020202020204" pitchFamily="34" charset="0"/>
              </a:rPr>
              <a:t>Purpose of Lower Bound</a:t>
            </a:r>
            <a:r>
              <a:rPr lang="en-US" sz="2400" dirty="0" smtClean="0">
                <a:latin typeface="Trebuchet MS" panose="020B0603020202020204" pitchFamily="34" charset="0"/>
              </a:rPr>
              <a:t>:</a:t>
            </a:r>
          </a:p>
          <a:p>
            <a:pPr marL="800100" lvl="1" indent="-342900">
              <a:lnSpc>
                <a:spcPct val="150000"/>
              </a:lnSpc>
              <a:buFont typeface="Arial" panose="020B0604020202020204" pitchFamily="34" charset="0"/>
              <a:buChar char="•"/>
            </a:pPr>
            <a:r>
              <a:rPr lang="en-US" sz="2400" dirty="0" smtClean="0">
                <a:latin typeface="Trebuchet MS" panose="020B0603020202020204" pitchFamily="34" charset="0"/>
              </a:rPr>
              <a:t>A </a:t>
            </a:r>
            <a:r>
              <a:rPr lang="en-US" sz="2400" dirty="0">
                <a:latin typeface="Trebuchet MS" panose="020B0603020202020204" pitchFamily="34" charset="0"/>
              </a:rPr>
              <a:t>lower bound helps estimate the minimum possible cost of an optimal solution </a:t>
            </a:r>
            <a:r>
              <a:rPr lang="en-US" sz="2400" b="1" dirty="0">
                <a:latin typeface="Trebuchet MS" panose="020B0603020202020204" pitchFamily="34" charset="0"/>
              </a:rPr>
              <a:t>without fully solving the problem</a:t>
            </a:r>
            <a:r>
              <a:rPr lang="en-US" sz="2400" dirty="0">
                <a:latin typeface="Trebuchet MS" panose="020B0603020202020204" pitchFamily="34" charset="0"/>
              </a:rPr>
              <a:t>.</a:t>
            </a:r>
          </a:p>
          <a:p>
            <a:pPr marL="800100" lvl="1" indent="-342900">
              <a:lnSpc>
                <a:spcPct val="150000"/>
              </a:lnSpc>
              <a:buFont typeface="Arial" panose="020B0604020202020204" pitchFamily="34" charset="0"/>
              <a:buChar char="•"/>
            </a:pPr>
            <a:r>
              <a:rPr lang="en-US" sz="2400" dirty="0">
                <a:latin typeface="Trebuchet MS" panose="020B0603020202020204" pitchFamily="34" charset="0"/>
              </a:rPr>
              <a:t>It provides a benchmark that the final solution, including the optimal solution, cannot go below</a:t>
            </a:r>
            <a:r>
              <a:rPr lang="en-US" sz="2400" dirty="0" smtClean="0">
                <a:latin typeface="Trebuchet MS" panose="020B0603020202020204" pitchFamily="34" charset="0"/>
              </a:rPr>
              <a:t>.</a:t>
            </a:r>
            <a:endParaRPr lang="en-US" sz="2000" dirty="0">
              <a:latin typeface="Trebuchet MS" panose="020B0603020202020204" pitchFamily="34" charset="0"/>
            </a:endParaRPr>
          </a:p>
        </p:txBody>
      </p:sp>
    </p:spTree>
    <p:extLst>
      <p:ext uri="{BB962C8B-B14F-4D97-AF65-F5344CB8AC3E}">
        <p14:creationId xmlns:p14="http://schemas.microsoft.com/office/powerpoint/2010/main" val="180185002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sp>
        <p:nvSpPr>
          <p:cNvPr id="7" name="Rectangle 6"/>
          <p:cNvSpPr/>
          <p:nvPr/>
        </p:nvSpPr>
        <p:spPr>
          <a:xfrm>
            <a:off x="586943" y="1459952"/>
            <a:ext cx="11224891" cy="3416320"/>
          </a:xfrm>
          <a:prstGeom prst="rect">
            <a:avLst/>
          </a:prstGeom>
        </p:spPr>
        <p:txBody>
          <a:bodyPr wrap="square">
            <a:spAutoFit/>
          </a:bodyPr>
          <a:lstStyle/>
          <a:p>
            <a:pPr marL="457200" indent="-457200">
              <a:lnSpc>
                <a:spcPct val="150000"/>
              </a:lnSpc>
              <a:buFont typeface="+mj-lt"/>
              <a:buAutoNum type="arabicPeriod" startAt="2"/>
            </a:pPr>
            <a:r>
              <a:rPr lang="en-US" sz="2400" b="1" dirty="0" smtClean="0">
                <a:solidFill>
                  <a:srgbClr val="0070C0"/>
                </a:solidFill>
                <a:latin typeface="Trebuchet MS" panose="020B0603020202020204" pitchFamily="34" charset="0"/>
              </a:rPr>
              <a:t>Method </a:t>
            </a:r>
            <a:r>
              <a:rPr lang="en-US" sz="2400" b="1" dirty="0">
                <a:solidFill>
                  <a:srgbClr val="0070C0"/>
                </a:solidFill>
                <a:latin typeface="Trebuchet MS" panose="020B0603020202020204" pitchFamily="34" charset="0"/>
              </a:rPr>
              <a:t>to Find the Lower Bound</a:t>
            </a:r>
            <a:r>
              <a:rPr lang="en-US" sz="2400" dirty="0">
                <a:solidFill>
                  <a:srgbClr val="0070C0"/>
                </a:solidFill>
                <a:latin typeface="Trebuchet MS" panose="020B0603020202020204" pitchFamily="34" charset="0"/>
              </a:rPr>
              <a:t>:</a:t>
            </a:r>
          </a:p>
          <a:p>
            <a:pPr marL="914400" lvl="1" indent="-457200">
              <a:lnSpc>
                <a:spcPct val="150000"/>
              </a:lnSpc>
              <a:buFont typeface="Arial" panose="020B0604020202020204" pitchFamily="34" charset="0"/>
              <a:buChar char="•"/>
            </a:pPr>
            <a:r>
              <a:rPr lang="en-US" sz="2400" dirty="0">
                <a:latin typeface="Trebuchet MS" panose="020B0603020202020204" pitchFamily="34" charset="0"/>
              </a:rPr>
              <a:t>One simple approach is to </a:t>
            </a:r>
            <a:r>
              <a:rPr lang="en-US" sz="2400" b="1" dirty="0">
                <a:latin typeface="Trebuchet MS" panose="020B0603020202020204" pitchFamily="34" charset="0"/>
              </a:rPr>
              <a:t>sum the smallest elements in each row of the matrix</a:t>
            </a:r>
            <a:r>
              <a:rPr lang="en-US" sz="2400" dirty="0">
                <a:latin typeface="Trebuchet MS" panose="020B0603020202020204" pitchFamily="34" charset="0"/>
              </a:rPr>
              <a:t>.</a:t>
            </a:r>
          </a:p>
          <a:p>
            <a:pPr marL="914400" lvl="1" indent="-457200">
              <a:lnSpc>
                <a:spcPct val="150000"/>
              </a:lnSpc>
              <a:buFont typeface="Arial" panose="020B0604020202020204" pitchFamily="34" charset="0"/>
              <a:buChar char="•"/>
            </a:pPr>
            <a:r>
              <a:rPr lang="en-US" sz="2400" dirty="0">
                <a:latin typeface="Trebuchet MS" panose="020B0603020202020204" pitchFamily="34" charset="0"/>
              </a:rPr>
              <a:t>This sum serves as a baseline for the minimum cost, though it doesn’t correspond to a valid solution (as multiple minimums may come from the same column).</a:t>
            </a:r>
          </a:p>
        </p:txBody>
      </p:sp>
    </p:spTree>
    <p:extLst>
      <p:ext uri="{BB962C8B-B14F-4D97-AF65-F5344CB8AC3E}">
        <p14:creationId xmlns:p14="http://schemas.microsoft.com/office/powerpoint/2010/main" val="277965628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sp>
        <p:nvSpPr>
          <p:cNvPr id="7" name="Rectangle 6"/>
          <p:cNvSpPr/>
          <p:nvPr/>
        </p:nvSpPr>
        <p:spPr>
          <a:xfrm>
            <a:off x="662243" y="1036233"/>
            <a:ext cx="11224891" cy="5632311"/>
          </a:xfrm>
          <a:prstGeom prst="rect">
            <a:avLst/>
          </a:prstGeom>
        </p:spPr>
        <p:txBody>
          <a:bodyPr wrap="square">
            <a:spAutoFit/>
          </a:bodyPr>
          <a:lstStyle/>
          <a:p>
            <a:pPr>
              <a:lnSpc>
                <a:spcPct val="150000"/>
              </a:lnSpc>
            </a:pPr>
            <a:r>
              <a:rPr lang="en-US" sz="2400" b="1" dirty="0" smtClean="0">
                <a:solidFill>
                  <a:srgbClr val="0070C0"/>
                </a:solidFill>
                <a:latin typeface="Trebuchet MS" panose="020B0603020202020204" pitchFamily="34" charset="0"/>
              </a:rPr>
              <a:t>3. Example </a:t>
            </a:r>
            <a:r>
              <a:rPr lang="en-US" sz="2400" b="1" dirty="0">
                <a:solidFill>
                  <a:srgbClr val="0070C0"/>
                </a:solidFill>
                <a:latin typeface="Trebuchet MS" panose="020B0603020202020204" pitchFamily="34" charset="0"/>
              </a:rPr>
              <a:t>Calculation</a:t>
            </a:r>
            <a:r>
              <a:rPr lang="en-US" sz="2400" dirty="0">
                <a:solidFill>
                  <a:srgbClr val="0070C0"/>
                </a:solidFill>
                <a:latin typeface="Trebuchet MS" panose="020B0603020202020204" pitchFamily="34" charset="0"/>
              </a:rPr>
              <a:t>:</a:t>
            </a:r>
          </a:p>
          <a:p>
            <a:pPr marL="342900" indent="-342900">
              <a:lnSpc>
                <a:spcPct val="150000"/>
              </a:lnSpc>
              <a:buFont typeface="Arial" panose="020B0604020202020204" pitchFamily="34" charset="0"/>
              <a:buChar char="•"/>
            </a:pPr>
            <a:r>
              <a:rPr lang="en-US" sz="2400" dirty="0">
                <a:latin typeface="Trebuchet MS" panose="020B0603020202020204" pitchFamily="34" charset="0"/>
              </a:rPr>
              <a:t>For a given cost matrix, the sum of the smallest values in each row:</a:t>
            </a:r>
          </a:p>
          <a:p>
            <a:pPr lvl="2">
              <a:lnSpc>
                <a:spcPct val="150000"/>
              </a:lnSpc>
            </a:pPr>
            <a:r>
              <a:rPr lang="en-US" sz="2400" dirty="0">
                <a:latin typeface="Trebuchet MS" panose="020B0603020202020204" pitchFamily="34" charset="0"/>
              </a:rPr>
              <a:t>Row 1: Smallest element = 2</a:t>
            </a:r>
          </a:p>
          <a:p>
            <a:pPr lvl="2">
              <a:lnSpc>
                <a:spcPct val="150000"/>
              </a:lnSpc>
            </a:pPr>
            <a:r>
              <a:rPr lang="en-US" sz="2400" dirty="0">
                <a:latin typeface="Trebuchet MS" panose="020B0603020202020204" pitchFamily="34" charset="0"/>
              </a:rPr>
              <a:t>Row 2: Smallest element = 3</a:t>
            </a:r>
          </a:p>
          <a:p>
            <a:pPr lvl="2">
              <a:lnSpc>
                <a:spcPct val="150000"/>
              </a:lnSpc>
            </a:pPr>
            <a:r>
              <a:rPr lang="en-US" sz="2400" dirty="0">
                <a:latin typeface="Trebuchet MS" panose="020B0603020202020204" pitchFamily="34" charset="0"/>
              </a:rPr>
              <a:t>Row 3: Smallest element = 1</a:t>
            </a:r>
          </a:p>
          <a:p>
            <a:pPr lvl="2">
              <a:lnSpc>
                <a:spcPct val="150000"/>
              </a:lnSpc>
            </a:pPr>
            <a:r>
              <a:rPr lang="en-US" sz="2400" dirty="0">
                <a:latin typeface="Trebuchet MS" panose="020B0603020202020204" pitchFamily="34" charset="0"/>
              </a:rPr>
              <a:t>Row 4: Smallest element = 4</a:t>
            </a:r>
          </a:p>
          <a:p>
            <a:pPr marL="342900" indent="-342900">
              <a:lnSpc>
                <a:spcPct val="150000"/>
              </a:lnSpc>
              <a:buFont typeface="Arial" panose="020B0604020202020204" pitchFamily="34" charset="0"/>
              <a:buChar char="•"/>
            </a:pPr>
            <a:r>
              <a:rPr lang="en-US" sz="2400" dirty="0">
                <a:latin typeface="Trebuchet MS" panose="020B0603020202020204" pitchFamily="34" charset="0"/>
              </a:rPr>
              <a:t>Lower Bound = 2 + 3 + 1 + 4 = </a:t>
            </a:r>
            <a:r>
              <a:rPr lang="en-US" sz="2400" b="1" dirty="0">
                <a:latin typeface="Trebuchet MS" panose="020B0603020202020204" pitchFamily="34" charset="0"/>
              </a:rPr>
              <a:t>10</a:t>
            </a:r>
            <a:endParaRPr lang="en-US" sz="2400" dirty="0">
              <a:latin typeface="Trebuchet MS" panose="020B0603020202020204" pitchFamily="34" charset="0"/>
            </a:endParaRPr>
          </a:p>
          <a:p>
            <a:pPr marL="342900" indent="-342900">
              <a:lnSpc>
                <a:spcPct val="150000"/>
              </a:lnSpc>
              <a:buFont typeface="Arial" panose="020B0604020202020204" pitchFamily="34" charset="0"/>
              <a:buChar char="•"/>
            </a:pPr>
            <a:r>
              <a:rPr lang="en-US" sz="2400" b="1" dirty="0">
                <a:latin typeface="Trebuchet MS" panose="020B0603020202020204" pitchFamily="34" charset="0"/>
              </a:rPr>
              <a:t>Note</a:t>
            </a:r>
            <a:r>
              <a:rPr lang="en-US" sz="2400" dirty="0">
                <a:latin typeface="Trebuchet MS" panose="020B0603020202020204" pitchFamily="34" charset="0"/>
              </a:rPr>
              <a:t>: This value (10) is not the cost of any actual selection but serves as a </a:t>
            </a:r>
            <a:r>
              <a:rPr lang="en-US" sz="2400" b="1" dirty="0">
                <a:latin typeface="Trebuchet MS" panose="020B0603020202020204" pitchFamily="34" charset="0"/>
              </a:rPr>
              <a:t>lower bound</a:t>
            </a:r>
            <a:r>
              <a:rPr lang="en-US" sz="2400" dirty="0">
                <a:latin typeface="Trebuchet MS" panose="020B0603020202020204" pitchFamily="34" charset="0"/>
              </a:rPr>
              <a:t> for any valid solution.</a:t>
            </a:r>
          </a:p>
          <a:p>
            <a:pPr marL="800100" lvl="1" indent="-342900">
              <a:lnSpc>
                <a:spcPct val="150000"/>
              </a:lnSpc>
              <a:buFont typeface="Arial" panose="020B0604020202020204" pitchFamily="34" charset="0"/>
              <a:buChar char="•"/>
            </a:pPr>
            <a:endParaRPr lang="en-US" sz="2400" dirty="0">
              <a:latin typeface="Trebuchet MS" panose="020B0603020202020204" pitchFamily="34" charset="0"/>
            </a:endParaRPr>
          </a:p>
        </p:txBody>
      </p:sp>
    </p:spTree>
    <p:extLst>
      <p:ext uri="{BB962C8B-B14F-4D97-AF65-F5344CB8AC3E}">
        <p14:creationId xmlns:p14="http://schemas.microsoft.com/office/powerpoint/2010/main" val="172173053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sp>
        <p:nvSpPr>
          <p:cNvPr id="4" name="Rectangle 3"/>
          <p:cNvSpPr/>
          <p:nvPr/>
        </p:nvSpPr>
        <p:spPr>
          <a:xfrm>
            <a:off x="353340" y="1390001"/>
            <a:ext cx="10855434" cy="3970318"/>
          </a:xfrm>
          <a:prstGeom prst="rect">
            <a:avLst/>
          </a:prstGeom>
        </p:spPr>
        <p:txBody>
          <a:bodyPr wrap="square">
            <a:spAutoFit/>
          </a:bodyPr>
          <a:lstStyle/>
          <a:p>
            <a:pPr>
              <a:lnSpc>
                <a:spcPct val="150000"/>
              </a:lnSpc>
            </a:pPr>
            <a:r>
              <a:rPr lang="en-US" sz="2400" b="1" dirty="0" smtClean="0">
                <a:solidFill>
                  <a:srgbClr val="0070C0"/>
                </a:solidFill>
                <a:latin typeface="Trebuchet MS" panose="020B0603020202020204" pitchFamily="34" charset="0"/>
              </a:rPr>
              <a:t>4. Applying </a:t>
            </a:r>
            <a:r>
              <a:rPr lang="en-US" sz="2400" b="1" dirty="0">
                <a:solidFill>
                  <a:srgbClr val="0070C0"/>
                </a:solidFill>
                <a:latin typeface="Trebuchet MS" panose="020B0603020202020204" pitchFamily="34" charset="0"/>
              </a:rPr>
              <a:t>Lower Bound to Partial Solutions</a:t>
            </a:r>
            <a:r>
              <a:rPr lang="en-US" sz="2400" dirty="0">
                <a:latin typeface="Trebuchet MS" panose="020B0603020202020204" pitchFamily="34" charset="0"/>
              </a:rPr>
              <a:t>:</a:t>
            </a:r>
          </a:p>
          <a:p>
            <a:pPr marL="342900" indent="-342900">
              <a:lnSpc>
                <a:spcPct val="150000"/>
              </a:lnSpc>
              <a:buFont typeface="Arial" panose="020B0604020202020204" pitchFamily="34" charset="0"/>
              <a:buChar char="•"/>
            </a:pPr>
            <a:r>
              <a:rPr lang="en-US" sz="2400" dirty="0">
                <a:latin typeface="Trebuchet MS" panose="020B0603020202020204" pitchFamily="34" charset="0"/>
              </a:rPr>
              <a:t>For partially constructed solutions, adjust the lower bound by including the specific selections already made.</a:t>
            </a:r>
          </a:p>
          <a:p>
            <a:pPr marL="342900" indent="-342900">
              <a:lnSpc>
                <a:spcPct val="150000"/>
              </a:lnSpc>
              <a:buFont typeface="Arial" panose="020B0604020202020204" pitchFamily="34" charset="0"/>
              <a:buChar char="•"/>
            </a:pPr>
            <a:r>
              <a:rPr lang="en-US" sz="2400" dirty="0">
                <a:latin typeface="Trebuchet MS" panose="020B0603020202020204" pitchFamily="34" charset="0"/>
              </a:rPr>
              <a:t>Example: If 9 is chosen from the first row, adjust the lower bound to:</a:t>
            </a:r>
          </a:p>
          <a:p>
            <a:pPr lvl="1">
              <a:lnSpc>
                <a:spcPct val="150000"/>
              </a:lnSpc>
            </a:pPr>
            <a:r>
              <a:rPr lang="en-US" sz="2400" dirty="0" smtClean="0">
                <a:latin typeface="Trebuchet MS" panose="020B0603020202020204" pitchFamily="34" charset="0"/>
              </a:rPr>
              <a:t>	Lower </a:t>
            </a:r>
            <a:r>
              <a:rPr lang="en-US" sz="2400" dirty="0">
                <a:latin typeface="Trebuchet MS" panose="020B0603020202020204" pitchFamily="34" charset="0"/>
              </a:rPr>
              <a:t>Bound = 9 + 3 + 1 + 4 = </a:t>
            </a:r>
            <a:r>
              <a:rPr lang="en-US" sz="2400" b="1" dirty="0">
                <a:latin typeface="Trebuchet MS" panose="020B0603020202020204" pitchFamily="34" charset="0"/>
              </a:rPr>
              <a:t>17</a:t>
            </a:r>
            <a:endParaRPr lang="en-US" sz="2400" dirty="0">
              <a:latin typeface="Trebuchet MS" panose="020B0603020202020204" pitchFamily="34" charset="0"/>
            </a:endParaRPr>
          </a:p>
          <a:p>
            <a:pPr marL="342900" indent="-342900">
              <a:lnSpc>
                <a:spcPct val="150000"/>
              </a:lnSpc>
              <a:buFont typeface="Arial" panose="020B0604020202020204" pitchFamily="34" charset="0"/>
              <a:buChar char="•"/>
            </a:pPr>
            <a:r>
              <a:rPr lang="en-US" sz="2400" dirty="0">
                <a:latin typeface="Trebuchet MS" panose="020B0603020202020204" pitchFamily="34" charset="0"/>
              </a:rPr>
              <a:t>This adjusted lower bound guides the search for valid solutions from this partial configuration.</a:t>
            </a:r>
          </a:p>
        </p:txBody>
      </p:sp>
    </p:spTree>
    <p:extLst>
      <p:ext uri="{BB962C8B-B14F-4D97-AF65-F5344CB8AC3E}">
        <p14:creationId xmlns:p14="http://schemas.microsoft.com/office/powerpoint/2010/main" val="124617945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pic>
        <p:nvPicPr>
          <p:cNvPr id="5" name="Picture 4"/>
          <p:cNvPicPr>
            <a:picLocks noChangeAspect="1"/>
          </p:cNvPicPr>
          <p:nvPr/>
        </p:nvPicPr>
        <p:blipFill>
          <a:blip r:embed="rId6"/>
          <a:stretch>
            <a:fillRect/>
          </a:stretch>
        </p:blipFill>
        <p:spPr>
          <a:xfrm>
            <a:off x="1574641" y="1036233"/>
            <a:ext cx="9051446" cy="4041058"/>
          </a:xfrm>
          <a:prstGeom prst="rect">
            <a:avLst/>
          </a:prstGeom>
        </p:spPr>
      </p:pic>
      <p:sp>
        <p:nvSpPr>
          <p:cNvPr id="6" name="Rectangle 5"/>
          <p:cNvSpPr/>
          <p:nvPr/>
        </p:nvSpPr>
        <p:spPr>
          <a:xfrm>
            <a:off x="1961536" y="5307289"/>
            <a:ext cx="8664551" cy="400110"/>
          </a:xfrm>
          <a:prstGeom prst="rect">
            <a:avLst/>
          </a:prstGeom>
        </p:spPr>
        <p:txBody>
          <a:bodyPr wrap="none">
            <a:spAutoFit/>
          </a:bodyPr>
          <a:lstStyle/>
          <a:p>
            <a:r>
              <a:rPr lang="en-US" sz="2000" dirty="0" smtClean="0">
                <a:solidFill>
                  <a:srgbClr val="000000"/>
                </a:solidFill>
                <a:latin typeface="Trebuchet MS" panose="020B0603020202020204" pitchFamily="34" charset="0"/>
              </a:rPr>
              <a:t>Fig.1 </a:t>
            </a:r>
            <a:r>
              <a:rPr lang="en-US" sz="2000" dirty="0" smtClean="0">
                <a:solidFill>
                  <a:srgbClr val="0070C0"/>
                </a:solidFill>
                <a:latin typeface="Trebuchet MS" panose="020B0603020202020204" pitchFamily="34" charset="0"/>
              </a:rPr>
              <a:t>Levels 0 and 1 of state space for the instance of assignment problem</a:t>
            </a:r>
            <a:endParaRPr lang="en-IN" sz="1600" dirty="0">
              <a:solidFill>
                <a:srgbClr val="0070C0"/>
              </a:solidFill>
            </a:endParaRPr>
          </a:p>
        </p:txBody>
      </p:sp>
    </p:spTree>
    <p:extLst>
      <p:ext uri="{BB962C8B-B14F-4D97-AF65-F5344CB8AC3E}">
        <p14:creationId xmlns:p14="http://schemas.microsoft.com/office/powerpoint/2010/main" val="373469724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pic>
        <p:nvPicPr>
          <p:cNvPr id="5" name="Picture 4"/>
          <p:cNvPicPr>
            <a:picLocks noChangeAspect="1"/>
          </p:cNvPicPr>
          <p:nvPr/>
        </p:nvPicPr>
        <p:blipFill rotWithShape="1">
          <a:blip r:embed="rId6"/>
          <a:srcRect l="3233" t="12851" r="1972"/>
          <a:stretch/>
        </p:blipFill>
        <p:spPr>
          <a:xfrm>
            <a:off x="1651818" y="1135626"/>
            <a:ext cx="8288595" cy="4590594"/>
          </a:xfrm>
          <a:prstGeom prst="rect">
            <a:avLst/>
          </a:prstGeom>
        </p:spPr>
      </p:pic>
      <p:sp>
        <p:nvSpPr>
          <p:cNvPr id="9" name="Rectangle 8"/>
          <p:cNvSpPr/>
          <p:nvPr/>
        </p:nvSpPr>
        <p:spPr>
          <a:xfrm>
            <a:off x="1666567" y="5766618"/>
            <a:ext cx="8926481" cy="400110"/>
          </a:xfrm>
          <a:prstGeom prst="rect">
            <a:avLst/>
          </a:prstGeom>
        </p:spPr>
        <p:txBody>
          <a:bodyPr wrap="square">
            <a:spAutoFit/>
          </a:bodyPr>
          <a:lstStyle/>
          <a:p>
            <a:r>
              <a:rPr lang="en-US" sz="2000" dirty="0" smtClean="0">
                <a:solidFill>
                  <a:srgbClr val="000000"/>
                </a:solidFill>
                <a:latin typeface="Trebuchet MS" panose="020B0603020202020204" pitchFamily="34" charset="0"/>
              </a:rPr>
              <a:t>Fig.2 </a:t>
            </a:r>
            <a:r>
              <a:rPr lang="en-US" sz="2000" dirty="0" smtClean="0">
                <a:solidFill>
                  <a:srgbClr val="0070C0"/>
                </a:solidFill>
                <a:latin typeface="Trebuchet MS" panose="020B0603020202020204" pitchFamily="34" charset="0"/>
              </a:rPr>
              <a:t>Levels 0,1 and 2 of state space for the instance of assignment problem</a:t>
            </a:r>
            <a:endParaRPr lang="en-IN" sz="1600" dirty="0">
              <a:solidFill>
                <a:srgbClr val="0070C0"/>
              </a:solidFill>
            </a:endParaRPr>
          </a:p>
        </p:txBody>
      </p:sp>
    </p:spTree>
    <p:extLst>
      <p:ext uri="{BB962C8B-B14F-4D97-AF65-F5344CB8AC3E}">
        <p14:creationId xmlns:p14="http://schemas.microsoft.com/office/powerpoint/2010/main" val="326956651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pic>
        <p:nvPicPr>
          <p:cNvPr id="4" name="Picture 3"/>
          <p:cNvPicPr>
            <a:picLocks noChangeAspect="1"/>
          </p:cNvPicPr>
          <p:nvPr/>
        </p:nvPicPr>
        <p:blipFill rotWithShape="1">
          <a:blip r:embed="rId6"/>
          <a:srcRect l="6938" t="4833" r="3529"/>
          <a:stretch/>
        </p:blipFill>
        <p:spPr>
          <a:xfrm>
            <a:off x="1445341" y="1074447"/>
            <a:ext cx="9851922" cy="4861387"/>
          </a:xfrm>
          <a:prstGeom prst="rect">
            <a:avLst/>
          </a:prstGeom>
        </p:spPr>
      </p:pic>
      <p:sp>
        <p:nvSpPr>
          <p:cNvPr id="9" name="Rectangle 8"/>
          <p:cNvSpPr/>
          <p:nvPr/>
        </p:nvSpPr>
        <p:spPr>
          <a:xfrm>
            <a:off x="1445341" y="6136226"/>
            <a:ext cx="8926481" cy="400110"/>
          </a:xfrm>
          <a:prstGeom prst="rect">
            <a:avLst/>
          </a:prstGeom>
        </p:spPr>
        <p:txBody>
          <a:bodyPr wrap="square">
            <a:spAutoFit/>
          </a:bodyPr>
          <a:lstStyle/>
          <a:p>
            <a:pPr algn="ctr"/>
            <a:r>
              <a:rPr lang="en-US" sz="2000" dirty="0" smtClean="0">
                <a:solidFill>
                  <a:srgbClr val="000000"/>
                </a:solidFill>
                <a:latin typeface="Trebuchet MS" panose="020B0603020202020204" pitchFamily="34" charset="0"/>
              </a:rPr>
              <a:t>Fig.2 </a:t>
            </a:r>
            <a:r>
              <a:rPr lang="en-US" sz="2000" dirty="0" smtClean="0">
                <a:solidFill>
                  <a:srgbClr val="0070C0"/>
                </a:solidFill>
                <a:latin typeface="Trebuchet MS" panose="020B0603020202020204" pitchFamily="34" charset="0"/>
              </a:rPr>
              <a:t>Complete state space for the instance of assignment problem</a:t>
            </a:r>
            <a:endParaRPr lang="en-IN" sz="1600" dirty="0">
              <a:solidFill>
                <a:srgbClr val="0070C0"/>
              </a:solidFill>
            </a:endParaRPr>
          </a:p>
        </p:txBody>
      </p:sp>
    </p:spTree>
    <p:extLst>
      <p:ext uri="{BB962C8B-B14F-4D97-AF65-F5344CB8AC3E}">
        <p14:creationId xmlns:p14="http://schemas.microsoft.com/office/powerpoint/2010/main" val="64838755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1263868" y="2921168"/>
            <a:ext cx="8554066" cy="1015663"/>
          </a:xfrm>
          <a:prstGeom prst="rect">
            <a:avLst/>
          </a:prstGeom>
          <a:noFill/>
        </p:spPr>
        <p:txBody>
          <a:bodyPr wrap="square">
            <a:spAutoFit/>
          </a:bodyPr>
          <a:lstStyle/>
          <a:p>
            <a:pPr marL="354013" algn="ctr">
              <a:spcBef>
                <a:spcPts val="600"/>
              </a:spcBef>
              <a:spcAft>
                <a:spcPts val="600"/>
              </a:spcAft>
            </a:pPr>
            <a:r>
              <a:rPr lang="en-IN" sz="6000" b="1" dirty="0">
                <a:latin typeface="Corbel" panose="020B0503020204020204" pitchFamily="34" charset="0"/>
              </a:rPr>
              <a:t>Thank you!!</a:t>
            </a:r>
            <a:endParaRPr lang="en-IN" sz="6000" b="1" i="0" u="none" strike="noStrike" baseline="0" dirty="0">
              <a:latin typeface="Corbel" panose="020B0503020204020204" pitchFamily="34" charset="0"/>
            </a:endParaRPr>
          </a:p>
        </p:txBody>
      </p:sp>
    </p:spTree>
    <p:extLst>
      <p:ext uri="{BB962C8B-B14F-4D97-AF65-F5344CB8AC3E}">
        <p14:creationId xmlns:p14="http://schemas.microsoft.com/office/powerpoint/2010/main" val="86214713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PT Template">
  <a:themeElements>
    <a:clrScheme name="Office">
      <a:dk1>
        <a:sysClr val="windowText" lastClr="000000"/>
      </a:dk1>
      <a:lt1>
        <a:sysClr val="window" lastClr="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4878</TotalTime>
  <Words>6281</Words>
  <Application>Microsoft Office PowerPoint</Application>
  <PresentationFormat>Widescreen</PresentationFormat>
  <Paragraphs>676</Paragraphs>
  <Slides>93</Slides>
  <Notes>93</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93</vt:i4>
      </vt:variant>
    </vt:vector>
  </HeadingPairs>
  <TitlesOfParts>
    <vt:vector size="110" baseType="lpstr">
      <vt:lpstr>Arial</vt:lpstr>
      <vt:lpstr>Calibri</vt:lpstr>
      <vt:lpstr>Cambria</vt:lpstr>
      <vt:lpstr>Corbel</vt:lpstr>
      <vt:lpstr>DejaVu Sans</vt:lpstr>
      <vt:lpstr>Microsoft Sans Serif</vt:lpstr>
      <vt:lpstr>Nunito</vt:lpstr>
      <vt:lpstr>Proxima Nova</vt:lpstr>
      <vt:lpstr>Roboto Condensed</vt:lpstr>
      <vt:lpstr>Roboto Condensed Light</vt:lpstr>
      <vt:lpstr>Symbol</vt:lpstr>
      <vt:lpstr>Times New Roman</vt:lpstr>
      <vt:lpstr>Trebuchet MS</vt:lpstr>
      <vt:lpstr>Wingdings</vt:lpstr>
      <vt:lpstr>Wingdings 3</vt:lpstr>
      <vt:lpstr>Simple Light</vt:lpstr>
      <vt:lpstr>PPT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prema</dc:creator>
  <cp:lastModifiedBy>ADMIN</cp:lastModifiedBy>
  <cp:revision>271</cp:revision>
  <dcterms:created xsi:type="dcterms:W3CDTF">2022-10-02T17:32:59Z</dcterms:created>
  <dcterms:modified xsi:type="dcterms:W3CDTF">2024-11-12T05:23:06Z</dcterms:modified>
</cp:coreProperties>
</file>