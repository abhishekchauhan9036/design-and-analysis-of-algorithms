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744" r:id="rId2"/>
    <p:sldMasterId id="2147483793" r:id="rId3"/>
  </p:sldMasterIdLst>
  <p:notesMasterIdLst>
    <p:notesMasterId r:id="rId60"/>
  </p:notesMasterIdLst>
  <p:handoutMasterIdLst>
    <p:handoutMasterId r:id="rId61"/>
  </p:handoutMasterIdLst>
  <p:sldIdLst>
    <p:sldId id="265" r:id="rId4"/>
    <p:sldId id="296" r:id="rId5"/>
    <p:sldId id="301" r:id="rId6"/>
    <p:sldId id="302" r:id="rId7"/>
    <p:sldId id="303" r:id="rId8"/>
    <p:sldId id="406" r:id="rId9"/>
    <p:sldId id="341" r:id="rId10"/>
    <p:sldId id="342" r:id="rId11"/>
    <p:sldId id="343" r:id="rId12"/>
    <p:sldId id="344" r:id="rId13"/>
    <p:sldId id="345" r:id="rId14"/>
    <p:sldId id="346" r:id="rId15"/>
    <p:sldId id="347" r:id="rId16"/>
    <p:sldId id="348" r:id="rId17"/>
    <p:sldId id="349" r:id="rId18"/>
    <p:sldId id="350" r:id="rId19"/>
    <p:sldId id="351" r:id="rId20"/>
    <p:sldId id="407" r:id="rId21"/>
    <p:sldId id="352" r:id="rId22"/>
    <p:sldId id="353" r:id="rId23"/>
    <p:sldId id="355" r:id="rId24"/>
    <p:sldId id="356" r:id="rId25"/>
    <p:sldId id="357" r:id="rId26"/>
    <p:sldId id="358" r:id="rId27"/>
    <p:sldId id="359" r:id="rId28"/>
    <p:sldId id="360" r:id="rId29"/>
    <p:sldId id="361" r:id="rId30"/>
    <p:sldId id="362" r:id="rId31"/>
    <p:sldId id="363" r:id="rId32"/>
    <p:sldId id="364" r:id="rId33"/>
    <p:sldId id="366" r:id="rId34"/>
    <p:sldId id="367" r:id="rId35"/>
    <p:sldId id="368" r:id="rId36"/>
    <p:sldId id="371" r:id="rId37"/>
    <p:sldId id="372" r:id="rId38"/>
    <p:sldId id="375" r:id="rId39"/>
    <p:sldId id="376" r:id="rId40"/>
    <p:sldId id="377" r:id="rId41"/>
    <p:sldId id="378" r:id="rId42"/>
    <p:sldId id="379" r:id="rId43"/>
    <p:sldId id="380" r:id="rId44"/>
    <p:sldId id="381" r:id="rId45"/>
    <p:sldId id="410" r:id="rId46"/>
    <p:sldId id="411" r:id="rId47"/>
    <p:sldId id="412" r:id="rId48"/>
    <p:sldId id="413" r:id="rId49"/>
    <p:sldId id="414" r:id="rId50"/>
    <p:sldId id="390" r:id="rId51"/>
    <p:sldId id="391" r:id="rId52"/>
    <p:sldId id="392" r:id="rId53"/>
    <p:sldId id="393" r:id="rId54"/>
    <p:sldId id="395" r:id="rId55"/>
    <p:sldId id="396" r:id="rId56"/>
    <p:sldId id="398" r:id="rId57"/>
    <p:sldId id="402" r:id="rId58"/>
    <p:sldId id="370" r:id="rId59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62"/>
      <p:bold r:id="rId63"/>
      <p:italic r:id="rId64"/>
      <p:boldItalic r:id="rId65"/>
    </p:embeddedFont>
    <p:embeddedFont>
      <p:font typeface="Calibri" panose="020F0502020204030204" pitchFamily="34" charset="0"/>
      <p:regular r:id="rId66"/>
      <p:bold r:id="rId67"/>
      <p:italic r:id="rId68"/>
      <p:boldItalic r:id="rId69"/>
    </p:embeddedFont>
    <p:embeddedFont>
      <p:font typeface="Corbel" panose="020B0503020204020204" pitchFamily="34" charset="0"/>
      <p:regular r:id="rId70"/>
      <p:bold r:id="rId71"/>
      <p:italic r:id="rId72"/>
      <p:boldItalic r:id="rId73"/>
    </p:embeddedFont>
    <p:embeddedFont>
      <p:font typeface="Cambria Math" panose="02040503050406030204" pitchFamily="18" charset="0"/>
      <p:regular r:id="rId74"/>
    </p:embeddedFont>
    <p:embeddedFont>
      <p:font typeface="Calibri Light" panose="020F0302020204030204" pitchFamily="34" charset="0"/>
      <p:regular r:id="rId75"/>
      <p:italic r:id="rId76"/>
    </p:embeddedFont>
    <p:embeddedFont>
      <p:font typeface="Trebuchet MS" panose="020B0603020202020204" pitchFamily="34" charset="0"/>
      <p:regular r:id="rId77"/>
      <p:bold r:id="rId78"/>
      <p:italic r:id="rId79"/>
      <p:boldItalic r:id="rId80"/>
    </p:embeddedFont>
    <p:embeddedFont>
      <p:font typeface="Algerian" panose="04020705040A02060702" pitchFamily="82" charset="0"/>
      <p:regular r:id="rId81"/>
    </p:embeddedFont>
    <p:embeddedFont>
      <p:font typeface="Proxima Nova" panose="020B0604020202020204" charset="0"/>
      <p:regular r:id="rId82"/>
      <p:bold r:id="rId83"/>
      <p:italic r:id="rId84"/>
      <p:boldItalic r:id="rId8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2546"/>
    <a:srgbClr val="D335A6"/>
    <a:srgbClr val="939D33"/>
    <a:srgbClr val="438D5A"/>
    <a:srgbClr val="D17B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86410"/>
  </p:normalViewPr>
  <p:slideViewPr>
    <p:cSldViewPr snapToGrid="0">
      <p:cViewPr varScale="1">
        <p:scale>
          <a:sx n="85" d="100"/>
          <a:sy n="85" d="100"/>
        </p:scale>
        <p:origin x="752" y="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3" d="100"/>
          <a:sy n="53" d="100"/>
        </p:scale>
        <p:origin x="284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font" Target="fonts/font2.fntdata"/><Relationship Id="rId68" Type="http://schemas.openxmlformats.org/officeDocument/2006/relationships/font" Target="fonts/font7.fntdata"/><Relationship Id="rId84" Type="http://schemas.openxmlformats.org/officeDocument/2006/relationships/font" Target="fonts/font23.fntdata"/><Relationship Id="rId89" Type="http://schemas.openxmlformats.org/officeDocument/2006/relationships/tableStyles" Target="tableStyles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font" Target="fonts/font13.fntdata"/><Relationship Id="rId79" Type="http://schemas.openxmlformats.org/officeDocument/2006/relationships/font" Target="fonts/font18.fntdata"/><Relationship Id="rId5" Type="http://schemas.openxmlformats.org/officeDocument/2006/relationships/slide" Target="slides/slide2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font" Target="fonts/font3.fntdata"/><Relationship Id="rId69" Type="http://schemas.openxmlformats.org/officeDocument/2006/relationships/font" Target="fonts/font8.fntdata"/><Relationship Id="rId77" Type="http://schemas.openxmlformats.org/officeDocument/2006/relationships/font" Target="fonts/font16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font" Target="fonts/font11.fntdata"/><Relationship Id="rId80" Type="http://schemas.openxmlformats.org/officeDocument/2006/relationships/font" Target="fonts/font19.fntdata"/><Relationship Id="rId85" Type="http://schemas.openxmlformats.org/officeDocument/2006/relationships/font" Target="fonts/font24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font" Target="fonts/font6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font" Target="fonts/font1.fntdata"/><Relationship Id="rId70" Type="http://schemas.openxmlformats.org/officeDocument/2006/relationships/font" Target="fonts/font9.fntdata"/><Relationship Id="rId75" Type="http://schemas.openxmlformats.org/officeDocument/2006/relationships/font" Target="fonts/font14.fntdata"/><Relationship Id="rId83" Type="http://schemas.openxmlformats.org/officeDocument/2006/relationships/font" Target="fonts/font22.fntdata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4.fntdata"/><Relationship Id="rId73" Type="http://schemas.openxmlformats.org/officeDocument/2006/relationships/font" Target="fonts/font12.fntdata"/><Relationship Id="rId78" Type="http://schemas.openxmlformats.org/officeDocument/2006/relationships/font" Target="fonts/font17.fntdata"/><Relationship Id="rId81" Type="http://schemas.openxmlformats.org/officeDocument/2006/relationships/font" Target="fonts/font20.fntdata"/><Relationship Id="rId86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font" Target="fonts/font15.fntdata"/><Relationship Id="rId7" Type="http://schemas.openxmlformats.org/officeDocument/2006/relationships/slide" Target="slides/slide4.xml"/><Relationship Id="rId71" Type="http://schemas.openxmlformats.org/officeDocument/2006/relationships/font" Target="fonts/font10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font" Target="fonts/font5.fntdata"/><Relationship Id="rId87" Type="http://schemas.openxmlformats.org/officeDocument/2006/relationships/viewProps" Target="viewProps.xml"/><Relationship Id="rId61" Type="http://schemas.openxmlformats.org/officeDocument/2006/relationships/handoutMaster" Target="handoutMasters/handoutMaster1.xml"/><Relationship Id="rId82" Type="http://schemas.openxmlformats.org/officeDocument/2006/relationships/font" Target="fonts/font21.fntdata"/><Relationship Id="rId19" Type="http://schemas.openxmlformats.org/officeDocument/2006/relationships/slide" Target="slides/slide1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8783D-DF34-49FA-B782-4B7FE0520117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D0E3F9-A309-4ED0-A4DC-787B2EAFB7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5107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737034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b6c834fc22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b6c834fc22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59103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3724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1191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4857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8168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509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50321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20805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28293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75916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40742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2119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29747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76920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22742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40194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68216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04811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25864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7124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79373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4664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87451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95264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24143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41104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83694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00881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12438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06066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53575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27039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79150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06373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6c834fc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b6c834fc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0796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30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11760" y="863640"/>
            <a:ext cx="8520120" cy="3416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3200" b="0" strike="noStrike" spc="-1">
                <a:latin typeface="Arial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76295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852012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8397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9399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88584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311760" y="73800"/>
            <a:ext cx="8520120" cy="2654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3200" b="0" strike="noStrike" spc="-1">
                <a:latin typeface="Arial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88767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311760" y="26481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132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7840" y="26481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0395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311760" y="264816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6007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311760" y="264816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36914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311760" y="26481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7840" y="26481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0624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192480" y="86364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73200" y="86364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311760" y="26481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192480" y="26481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73200" y="26481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95628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06185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9845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11760" y="863640"/>
            <a:ext cx="8520120" cy="3416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3200" b="0" strike="noStrike" spc="-1">
                <a:latin typeface="Arial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52768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852012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549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91130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37234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311760" y="73800"/>
            <a:ext cx="8520120" cy="2654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3200" b="0" strike="noStrike" spc="-1">
                <a:latin typeface="Arial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303421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311760" y="26481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96046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7840" y="26481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52000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311760" y="264816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37810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311760" y="264816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07386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7840" y="86364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311760" y="26481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7840" y="26481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1870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11760" y="7380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311760" y="86364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192480" y="86364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73200" y="86364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311760" y="26481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192480" y="26481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73200" y="26481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06642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xfrm>
            <a:off x="189689" y="842878"/>
            <a:ext cx="2210612" cy="345088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idx="1"/>
          </p:nvPr>
        </p:nvSpPr>
        <p:spPr>
          <a:xfrm>
            <a:off x="2901951" y="648081"/>
            <a:ext cx="5486401" cy="384048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fld id="{86CB4B4D-7CA3-9044-876B-883B54F8677D}" type="slidenum">
              <a:rPr kumimoji="0" lang="en-IN" sz="13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t>‹#›</a:t>
            </a:fld>
            <a:endParaRPr kumimoji="0" lang="en-IN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2825815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73867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634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;p1"/>
          <p:cNvPicPr/>
          <p:nvPr/>
        </p:nvPicPr>
        <p:blipFill>
          <a:blip r:embed="rId15"/>
          <a:stretch/>
        </p:blipFill>
        <p:spPr>
          <a:xfrm>
            <a:off x="5760" y="2160"/>
            <a:ext cx="9132120" cy="5139000"/>
          </a:xfrm>
          <a:prstGeom prst="rect">
            <a:avLst/>
          </a:prstGeom>
          <a:ln>
            <a:noFill/>
          </a:ln>
        </p:spPr>
      </p:pic>
      <p:pic>
        <p:nvPicPr>
          <p:cNvPr id="6" name="Google Shape;7;p1"/>
          <p:cNvPicPr/>
          <p:nvPr/>
        </p:nvPicPr>
        <p:blipFill>
          <a:blip r:embed="rId16"/>
          <a:stretch/>
        </p:blipFill>
        <p:spPr>
          <a:xfrm>
            <a:off x="-12960" y="-2160"/>
            <a:ext cx="9151200" cy="5143320"/>
          </a:xfrm>
          <a:prstGeom prst="rect">
            <a:avLst/>
          </a:prstGeom>
          <a:ln>
            <a:noFill/>
          </a:ln>
        </p:spPr>
      </p:pic>
      <p:pic>
        <p:nvPicPr>
          <p:cNvPr id="2" name="Google Shape;10;p1"/>
          <p:cNvPicPr/>
          <p:nvPr/>
        </p:nvPicPr>
        <p:blipFill>
          <a:blip r:embed="rId17"/>
          <a:stretch/>
        </p:blipFill>
        <p:spPr>
          <a:xfrm>
            <a:off x="7363440" y="148680"/>
            <a:ext cx="1495080" cy="371160"/>
          </a:xfrm>
          <a:prstGeom prst="rect">
            <a:avLst/>
          </a:prstGeom>
          <a:ln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</p:spPr>
        <p:txBody>
          <a:bodyPr tIns="91440" bIns="91440" anchor="b">
            <a:normAutofit/>
          </a:bodyPr>
          <a:lstStyle/>
          <a:p>
            <a:pPr algn="ctr"/>
            <a:r>
              <a:rPr lang="en-US" sz="5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651309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792" r:id="rId13"/>
  </p:sldLayoutIdLst>
  <p:timing>
    <p:tnLst>
      <p:par>
        <p:cTn id="1" dur="indefinite" restart="never" nodeType="tmRoot"/>
      </p:par>
    </p:tnLst>
  </p:timing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4000" indent="-243000" algn="l" defTabSz="914378" rtl="0" eaLnBrk="1" latinLnBrk="0" hangingPunct="1">
        <a:lnSpc>
          <a:spcPct val="90000"/>
        </a:lnSpc>
        <a:spcBef>
          <a:spcPts val="1063"/>
        </a:spcBef>
        <a:buClr>
          <a:srgbClr val="000000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38549" y="274638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319790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;p1"/>
          <p:cNvPicPr/>
          <p:nvPr/>
        </p:nvPicPr>
        <p:blipFill>
          <a:blip r:embed="rId17"/>
          <a:stretch/>
        </p:blipFill>
        <p:spPr>
          <a:xfrm>
            <a:off x="5760" y="2160"/>
            <a:ext cx="9132120" cy="5139000"/>
          </a:xfrm>
          <a:prstGeom prst="rect">
            <a:avLst/>
          </a:prstGeom>
          <a:ln>
            <a:noFill/>
          </a:ln>
        </p:spPr>
      </p:pic>
      <p:pic>
        <p:nvPicPr>
          <p:cNvPr id="6" name="Google Shape;7;p1"/>
          <p:cNvPicPr/>
          <p:nvPr/>
        </p:nvPicPr>
        <p:blipFill>
          <a:blip r:embed="rId18"/>
          <a:stretch/>
        </p:blipFill>
        <p:spPr>
          <a:xfrm>
            <a:off x="-12960" y="-2160"/>
            <a:ext cx="9151200" cy="5143320"/>
          </a:xfrm>
          <a:prstGeom prst="rect">
            <a:avLst/>
          </a:prstGeom>
          <a:ln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</p:spPr>
        <p:txBody>
          <a:bodyPr tIns="91440" bIns="91440" anchor="b">
            <a:normAutofit/>
          </a:bodyPr>
          <a:lstStyle/>
          <a:p>
            <a:pPr algn="ctr"/>
            <a:r>
              <a:rPr lang="en-US" sz="5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 dirty="0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6667612" y="-216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652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</p:sldLayoutIdLst>
  <p:timing>
    <p:tnLst>
      <p:par>
        <p:cTn id="1" dur="indefinite" restart="never" nodeType="tmRoot"/>
      </p:par>
    </p:tnLst>
  </p:timing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4000" indent="-243000" algn="l" defTabSz="914378" rtl="0" eaLnBrk="1" latinLnBrk="0" hangingPunct="1">
        <a:lnSpc>
          <a:spcPct val="90000"/>
        </a:lnSpc>
        <a:spcBef>
          <a:spcPts val="1063"/>
        </a:spcBef>
        <a:buClr>
          <a:srgbClr val="000000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6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9.png"/><Relationship Id="rId5" Type="http://schemas.openxmlformats.org/officeDocument/2006/relationships/image" Target="../media/image30.png"/><Relationship Id="rId10" Type="http://schemas.openxmlformats.org/officeDocument/2006/relationships/image" Target="../media/image7.png"/><Relationship Id="rId4" Type="http://schemas.openxmlformats.org/officeDocument/2006/relationships/image" Target="../media/image17.png"/><Relationship Id="rId9" Type="http://schemas.openxmlformats.org/officeDocument/2006/relationships/image" Target="../media/image3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2.png"/><Relationship Id="rId10" Type="http://schemas.openxmlformats.org/officeDocument/2006/relationships/image" Target="../media/image9.png"/><Relationship Id="rId4" Type="http://schemas.openxmlformats.org/officeDocument/2006/relationships/image" Target="../media/image31.png"/><Relationship Id="rId9" Type="http://schemas.openxmlformats.org/officeDocument/2006/relationships/image" Target="../media/image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9.png"/><Relationship Id="rId5" Type="http://schemas.openxmlformats.org/officeDocument/2006/relationships/image" Target="../media/image51.png"/><Relationship Id="rId10" Type="http://schemas.openxmlformats.org/officeDocument/2006/relationships/image" Target="../media/image7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0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47091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71;p15"/>
          <p:cNvSpPr txBox="1"/>
          <p:nvPr/>
        </p:nvSpPr>
        <p:spPr>
          <a:xfrm>
            <a:off x="333812" y="2095794"/>
            <a:ext cx="4830903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2400" b="1" dirty="0">
                <a:solidFill>
                  <a:schemeClr val="tx1"/>
                </a:solidFill>
                <a:latin typeface="Trebuchet MS" panose="020B0603020202020204" pitchFamily="34" charset="0"/>
                <a:ea typeface="Proxima Nova"/>
                <a:cs typeface="Proxima Nova"/>
                <a:sym typeface="Proxima Nova"/>
              </a:rPr>
              <a:t>Unit - 1</a:t>
            </a:r>
            <a:endParaRPr lang="en-IN" sz="2400" b="1" dirty="0">
              <a:solidFill>
                <a:schemeClr val="tx1"/>
              </a:solidFill>
              <a:latin typeface="Trebuchet MS" panose="020B0603020202020204" pitchFamily="34" charset="0"/>
              <a:ea typeface="Proxima Nova"/>
              <a:cs typeface="Proxima Nova"/>
              <a:sym typeface="Proxima Nova"/>
            </a:endParaRPr>
          </a:p>
          <a:p>
            <a:r>
              <a:rPr lang="en-IN" sz="2400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Introduction</a:t>
            </a:r>
            <a:endParaRPr lang="en-IN" sz="2400"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3" name="Google Shape;71;p15"/>
          <p:cNvSpPr txBox="1"/>
          <p:nvPr/>
        </p:nvSpPr>
        <p:spPr>
          <a:xfrm>
            <a:off x="333811" y="784473"/>
            <a:ext cx="6908237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IN" sz="2400" b="1" dirty="0">
                <a:solidFill>
                  <a:schemeClr val="tx1"/>
                </a:solidFill>
                <a:latin typeface="Trebuchet MS" panose="020B0603020202020204" pitchFamily="34" charset="0"/>
                <a:ea typeface="Proxima Nova"/>
                <a:cs typeface="Proxima Nova"/>
                <a:sym typeface="Proxima Nova"/>
              </a:rPr>
              <a:t>01AI0506 - </a:t>
            </a:r>
            <a:r>
              <a:rPr lang="en-IN" sz="2400" b="1" dirty="0">
                <a:solidFill>
                  <a:schemeClr val="tx1"/>
                </a:solidFill>
                <a:latin typeface="Trebuchet MS" panose="020B0603020202020204" pitchFamily="34" charset="0"/>
                <a:ea typeface="Proxima Nova"/>
                <a:cs typeface="Proxima Nova"/>
              </a:rPr>
              <a:t>Design and Analysis of </a:t>
            </a:r>
            <a:r>
              <a:rPr lang="en-IN" sz="2400" b="1" dirty="0" smtClean="0">
                <a:solidFill>
                  <a:schemeClr val="tx1"/>
                </a:solidFill>
                <a:latin typeface="Trebuchet MS" panose="020B0603020202020204" pitchFamily="34" charset="0"/>
                <a:ea typeface="Proxima Nova"/>
                <a:cs typeface="Proxima Nova"/>
              </a:rPr>
              <a:t>Algorithms</a:t>
            </a:r>
            <a:endParaRPr lang="en-IN" sz="2400" b="1" dirty="0">
              <a:solidFill>
                <a:schemeClr val="tx1"/>
              </a:solidFill>
              <a:latin typeface="Trebuchet MS" panose="020B0603020202020204" pitchFamily="34" charset="0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758" y="42522"/>
            <a:ext cx="2164268" cy="646232"/>
          </a:xfrm>
          <a:prstGeom prst="rect">
            <a:avLst/>
          </a:prstGeom>
        </p:spPr>
      </p:pic>
      <p:sp>
        <p:nvSpPr>
          <p:cNvPr id="8" name="Google Shape;73;p15"/>
          <p:cNvSpPr txBox="1"/>
          <p:nvPr/>
        </p:nvSpPr>
        <p:spPr>
          <a:xfrm>
            <a:off x="333811" y="3108339"/>
            <a:ext cx="3825165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sz="2000" b="1" dirty="0">
                <a:latin typeface="Trebuchet MS" panose="020B0603020202020204" pitchFamily="34" charset="0"/>
              </a:rPr>
              <a:t>Prepared by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Prof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. </a:t>
            </a:r>
            <a:r>
              <a:rPr lang="en-US" sz="2000" b="1" kern="0" dirty="0" smtClean="0">
                <a:solidFill>
                  <a:srgbClr val="000000"/>
                </a:solidFill>
                <a:latin typeface="Trebuchet MS" panose="020B0603020202020204" pitchFamily="34" charset="0"/>
                <a:cs typeface="Arial"/>
                <a:sym typeface="Arial"/>
              </a:rPr>
              <a:t>Abhishek Chauhan</a:t>
            </a: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 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cs typeface="Arial"/>
              <a:sym typeface="Arial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CSE- AI, ML &amp; DS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Department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0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426720" y="134250"/>
            <a:ext cx="1962805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OUTLINE</a:t>
            </a:r>
            <a:endParaRPr sz="2400" b="1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645924" y="992003"/>
            <a:ext cx="7873607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  <a:ea typeface="Proxima Nova"/>
                <a:cs typeface="Proxima Nova"/>
              </a:rPr>
              <a:t>The Role of Algorithms in </a:t>
            </a: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  <a:ea typeface="Proxima Nova"/>
                <a:cs typeface="Proxima Nova"/>
              </a:rPr>
              <a:t>Computing</a:t>
            </a:r>
          </a:p>
          <a:p>
            <a:pPr marL="3429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  <a:ea typeface="Proxima Nova"/>
                <a:cs typeface="Proxima Nova"/>
              </a:rPr>
              <a:t>Algorithm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  <a:ea typeface="Proxima Nova"/>
                <a:cs typeface="Proxima Nova"/>
              </a:rPr>
              <a:t>, </a:t>
            </a: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  <a:ea typeface="Proxima Nova"/>
                <a:cs typeface="Proxima Nova"/>
              </a:rPr>
              <a:t>Designing Algorithms </a:t>
            </a:r>
          </a:p>
          <a:p>
            <a:pPr marL="3429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  <a:ea typeface="Proxima Nova"/>
                <a:cs typeface="Proxima Nova"/>
              </a:rPr>
              <a:t>Analysing Algorithms - Time and space complexity </a:t>
            </a:r>
          </a:p>
          <a:p>
            <a:pPr marL="3429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  <a:ea typeface="Proxima Nova"/>
                <a:cs typeface="Proxima Nova"/>
              </a:rPr>
              <a:t>Asymptotic 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  <a:ea typeface="Proxima Nova"/>
                <a:cs typeface="Proxima Nova"/>
              </a:rPr>
              <a:t>Notations and its </a:t>
            </a: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  <a:ea typeface="Proxima Nova"/>
                <a:cs typeface="Proxima Nova"/>
              </a:rPr>
              <a:t>properties</a:t>
            </a:r>
          </a:p>
          <a:p>
            <a:pPr marL="3429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  <a:ea typeface="Proxima Nova"/>
                <a:cs typeface="Proxima Nova"/>
              </a:rPr>
              <a:t>The 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  <a:ea typeface="Proxima Nova"/>
                <a:cs typeface="Proxima Nova"/>
              </a:rPr>
              <a:t>efficiency of </a:t>
            </a: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  <a:ea typeface="Proxima Nova"/>
                <a:cs typeface="Proxima Nova"/>
              </a:rPr>
              <a:t>algorithm-Best 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  <a:ea typeface="Proxima Nova"/>
                <a:cs typeface="Proxima Nova"/>
              </a:rPr>
              <a:t>case, Worst case and average case analysis</a:t>
            </a:r>
            <a:endParaRPr lang="en-IN" sz="2000" dirty="0">
              <a:solidFill>
                <a:srgbClr val="666666"/>
              </a:solidFill>
              <a:latin typeface="Trebuchet MS" panose="020B0603020202020204" pitchFamily="34" charset="0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7977" y="15767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402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0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200710" y="30709"/>
            <a:ext cx="6467205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 smtClean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Introduction </a:t>
            </a:r>
            <a:r>
              <a:rPr lang="en-IN" sz="2800" b="1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of algorithm</a:t>
            </a:r>
          </a:p>
        </p:txBody>
      </p:sp>
      <p:sp>
        <p:nvSpPr>
          <p:cNvPr id="99" name="Google Shape;99;p17"/>
          <p:cNvSpPr txBox="1"/>
          <p:nvPr/>
        </p:nvSpPr>
        <p:spPr>
          <a:xfrm>
            <a:off x="312234" y="1191507"/>
            <a:ext cx="8212899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rebuchet MS" panose="020B0603020202020204" pitchFamily="34" charset="0"/>
              </a:rPr>
              <a:t>Informally, an algorithm is any well-defined computational procedure takes some value, or set of values, as input produces some value, or set of values, as output</a:t>
            </a:r>
            <a:r>
              <a:rPr lang="en-US" altLang="en-US" sz="2000" dirty="0" smtClean="0">
                <a:latin typeface="Trebuchet MS" panose="020B0603020202020204" pitchFamily="34" charset="0"/>
              </a:rPr>
              <a:t>.</a:t>
            </a:r>
            <a:endParaRPr lang="en-US" altLang="en-US" sz="2000" dirty="0">
              <a:latin typeface="Trebuchet MS" panose="020B0603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rebuchet MS" panose="020B0603020202020204" pitchFamily="34" charset="0"/>
              </a:rPr>
              <a:t>Formally, “The </a:t>
            </a:r>
            <a:r>
              <a:rPr lang="en-US" sz="2000" dirty="0">
                <a:latin typeface="Trebuchet MS" panose="020B0603020202020204" pitchFamily="34" charset="0"/>
              </a:rPr>
              <a:t>algorithm is defined as a collection of unambiguous instructions occurring in some specific sequence and produce output for given set of input in finite time</a:t>
            </a:r>
            <a:r>
              <a:rPr lang="en-US" sz="2000" dirty="0" smtClean="0">
                <a:latin typeface="Trebuchet MS" panose="020B0603020202020204" pitchFamily="34" charset="0"/>
              </a:rPr>
              <a:t>.”</a:t>
            </a:r>
            <a:endParaRPr lang="en-US" sz="2000" dirty="0">
              <a:latin typeface="Trebuchet MS" panose="020B0603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357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0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261450" y="29694"/>
            <a:ext cx="6727769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800" b="1" dirty="0" smtClean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Algorithm</a:t>
            </a:r>
            <a:r>
              <a:rPr lang="en-IN" sz="2800" b="1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 </a:t>
            </a:r>
            <a:r>
              <a:rPr lang="en-IN" sz="2800" b="1" dirty="0" smtClean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- </a:t>
            </a:r>
            <a:r>
              <a:rPr lang="en" sz="2800" b="1" dirty="0" smtClean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Example 1</a:t>
            </a:r>
            <a:endParaRPr lang="en-IN" sz="2800" b="1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281574" y="645720"/>
            <a:ext cx="8684006" cy="449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/>
            <a:r>
              <a:rPr lang="en-US" sz="2000" b="1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Input</a:t>
            </a:r>
            <a:r>
              <a:rPr lang="en-US" sz="2000" dirty="0">
                <a:solidFill>
                  <a:srgbClr val="FF0000"/>
                </a:solidFill>
                <a:latin typeface="Trebuchet MS" panose="020B0603020202020204" pitchFamily="34" charset="0"/>
              </a:rPr>
              <a:t>:</a:t>
            </a:r>
            <a:r>
              <a:rPr lang="en-US" sz="2000" dirty="0">
                <a:latin typeface="Trebuchet MS" panose="020B0603020202020204" pitchFamily="34" charset="0"/>
              </a:rPr>
              <a:t> </a:t>
            </a:r>
            <a:r>
              <a:rPr lang="en-US" sz="2000" dirty="0" smtClean="0">
                <a:latin typeface="Trebuchet MS" panose="020B0603020202020204" pitchFamily="34" charset="0"/>
              </a:rPr>
              <a:t>Ingredients(water/milk, sugar, coffee powder)</a:t>
            </a:r>
            <a:endParaRPr lang="en-US" sz="2000" dirty="0">
              <a:latin typeface="Trebuchet MS" panose="020B0603020202020204" pitchFamily="34" charset="0"/>
            </a:endParaRPr>
          </a:p>
          <a:p>
            <a:pPr algn="just"/>
            <a:r>
              <a:rPr lang="en-US" sz="2000" b="1" dirty="0">
                <a:solidFill>
                  <a:srgbClr val="FF0000"/>
                </a:solidFill>
                <a:latin typeface="Trebuchet MS" panose="020B0603020202020204" pitchFamily="34" charset="0"/>
              </a:rPr>
              <a:t>Output:</a:t>
            </a:r>
            <a:r>
              <a:rPr lang="en-US" sz="2000" dirty="0">
                <a:latin typeface="Trebuchet MS" panose="020B0603020202020204" pitchFamily="34" charset="0"/>
              </a:rPr>
              <a:t> A cup of coffee</a:t>
            </a:r>
          </a:p>
          <a:p>
            <a:pPr algn="just"/>
            <a:r>
              <a:rPr lang="en-US" sz="2000" b="1" dirty="0">
                <a:solidFill>
                  <a:srgbClr val="0070C0"/>
                </a:solidFill>
                <a:latin typeface="Trebuchet MS" panose="020B0603020202020204" pitchFamily="34" charset="0"/>
              </a:rPr>
              <a:t>Steps:</a:t>
            </a:r>
          </a:p>
          <a:p>
            <a:pPr marL="457200" lvl="4" indent="-457200" algn="just">
              <a:buFont typeface="Arial"/>
              <a:buAutoNum type="arabicPeriod"/>
            </a:pPr>
            <a:r>
              <a:rPr lang="en-US" sz="2000" dirty="0">
                <a:latin typeface="Trebuchet MS" panose="020B0603020202020204" pitchFamily="34" charset="0"/>
              </a:rPr>
              <a:t>Pour drinking water into electric kettle</a:t>
            </a:r>
          </a:p>
          <a:p>
            <a:pPr marL="457200" lvl="4" indent="-457200" algn="just">
              <a:buFont typeface="Arial"/>
              <a:buAutoNum type="arabicPeriod"/>
            </a:pPr>
            <a:r>
              <a:rPr lang="en-US" sz="2000" dirty="0">
                <a:latin typeface="Trebuchet MS" panose="020B0603020202020204" pitchFamily="34" charset="0"/>
              </a:rPr>
              <a:t>Plug electric kettle and wait for it to boil</a:t>
            </a:r>
          </a:p>
          <a:p>
            <a:pPr marL="457200" lvl="4" indent="-457200" algn="just">
              <a:buFont typeface="Arial"/>
              <a:buAutoNum type="arabicPeriod"/>
            </a:pPr>
            <a:r>
              <a:rPr lang="en-US" sz="2000" dirty="0">
                <a:latin typeface="Trebuchet MS" panose="020B0603020202020204" pitchFamily="34" charset="0"/>
              </a:rPr>
              <a:t>While waiting, prepare coffee cup</a:t>
            </a:r>
          </a:p>
          <a:p>
            <a:pPr marL="457200" lvl="4" indent="-457200" algn="just">
              <a:buFont typeface="Arial"/>
              <a:buAutoNum type="arabicPeriod"/>
            </a:pPr>
            <a:r>
              <a:rPr lang="en-US" sz="2000" dirty="0">
                <a:latin typeface="Trebuchet MS" panose="020B0603020202020204" pitchFamily="34" charset="0"/>
              </a:rPr>
              <a:t>Add instant coffee powder into cup</a:t>
            </a:r>
          </a:p>
          <a:p>
            <a:pPr marL="457200" lvl="4" indent="-457200" algn="just">
              <a:buFont typeface="Arial"/>
              <a:buAutoNum type="arabicPeriod"/>
            </a:pPr>
            <a:r>
              <a:rPr lang="en-US" sz="2000" dirty="0">
                <a:latin typeface="Trebuchet MS" panose="020B0603020202020204" pitchFamily="34" charset="0"/>
              </a:rPr>
              <a:t>Check boiling water</a:t>
            </a:r>
          </a:p>
          <a:p>
            <a:pPr marL="457200" lvl="4" indent="-457200" algn="just">
              <a:buFont typeface="Arial"/>
              <a:buAutoNum type="arabicPeriod"/>
            </a:pPr>
            <a:r>
              <a:rPr lang="en-US" sz="2000" dirty="0">
                <a:latin typeface="Trebuchet MS" panose="020B0603020202020204" pitchFamily="34" charset="0"/>
              </a:rPr>
              <a:t>If water is boiled, unplug kettle and pour water into cup</a:t>
            </a:r>
          </a:p>
          <a:p>
            <a:pPr marL="457200" lvl="4" indent="-457200" algn="just">
              <a:buFont typeface="Arial"/>
              <a:buAutoNum type="arabicPeriod"/>
            </a:pPr>
            <a:r>
              <a:rPr lang="en-US" sz="2000" dirty="0">
                <a:latin typeface="Trebuchet MS" panose="020B0603020202020204" pitchFamily="34" charset="0"/>
              </a:rPr>
              <a:t>If water is not boiled, press the “on” switch to continue and wait until boiled</a:t>
            </a:r>
          </a:p>
          <a:p>
            <a:pPr marL="457200" lvl="4" indent="-457200" algn="just">
              <a:buFont typeface="Arial"/>
              <a:buAutoNum type="arabicPeriod"/>
            </a:pPr>
            <a:r>
              <a:rPr lang="en-US" sz="2000" dirty="0">
                <a:latin typeface="Trebuchet MS" panose="020B0603020202020204" pitchFamily="34" charset="0"/>
              </a:rPr>
              <a:t>Refer back to step 6</a:t>
            </a:r>
          </a:p>
          <a:p>
            <a:pPr marL="457200" lvl="4" indent="-457200" algn="just">
              <a:buFont typeface="Arial"/>
              <a:buAutoNum type="arabicPeriod"/>
            </a:pPr>
            <a:r>
              <a:rPr lang="en-US" sz="2000" dirty="0">
                <a:latin typeface="Trebuchet MS" panose="020B0603020202020204" pitchFamily="34" charset="0"/>
              </a:rPr>
              <a:t>Stir coffee mix</a:t>
            </a:r>
          </a:p>
          <a:p>
            <a:pPr marL="457200" lvl="4" indent="-457200" algn="just">
              <a:buFont typeface="Arial"/>
              <a:buAutoNum type="arabicPeriod"/>
            </a:pPr>
            <a:r>
              <a:rPr lang="en-US" sz="2000" dirty="0">
                <a:latin typeface="Trebuchet MS" panose="020B0603020202020204" pitchFamily="34" charset="0"/>
              </a:rPr>
              <a:t>Drink!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863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0" y="-15798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260885" y="40526"/>
            <a:ext cx="4373697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800" b="1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Algorithm </a:t>
            </a:r>
            <a:r>
              <a:rPr lang="en-IN" sz="2800" b="1" dirty="0" smtClean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- </a:t>
            </a:r>
            <a:r>
              <a:rPr lang="en" sz="2800" b="1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Example </a:t>
            </a:r>
            <a:r>
              <a:rPr lang="en" sz="2800" b="1" dirty="0" smtClean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2</a:t>
            </a:r>
            <a:endParaRPr lang="en-IN" sz="2800" b="1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79234" y="917358"/>
            <a:ext cx="735376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>
                <a:latin typeface="Trebuchet MS" panose="020B0603020202020204" pitchFamily="34" charset="0"/>
              </a:rPr>
              <a:t>Write </a:t>
            </a:r>
            <a:r>
              <a:rPr lang="en-US" sz="2000" dirty="0">
                <a:latin typeface="Trebuchet MS" panose="020B0603020202020204" pitchFamily="34" charset="0"/>
              </a:rPr>
              <a:t>down the steps for making peanut butter and jelly sandwich.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rebuchet MS" panose="020B0603020202020204" pitchFamily="34" charset="0"/>
              </a:rPr>
              <a:t>Steps </a:t>
            </a:r>
            <a:r>
              <a:rPr lang="en-US" sz="2000" dirty="0">
                <a:latin typeface="Trebuchet MS" panose="020B0603020202020204" pitchFamily="34" charset="0"/>
              </a:rPr>
              <a:t>for making a peanut butter and jelly sandwich:</a:t>
            </a:r>
            <a:br>
              <a:rPr lang="en-US" sz="2000" dirty="0">
                <a:latin typeface="Trebuchet MS" panose="020B0603020202020204" pitchFamily="34" charset="0"/>
              </a:rPr>
            </a:b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Step 1: </a:t>
            </a:r>
            <a:r>
              <a:rPr lang="en-US" sz="2000" dirty="0">
                <a:latin typeface="Trebuchet MS" panose="020B0603020202020204" pitchFamily="34" charset="0"/>
              </a:rPr>
              <a:t>Take 2 slices of bread.</a:t>
            </a:r>
            <a:br>
              <a:rPr lang="en-US" sz="2000" dirty="0">
                <a:latin typeface="Trebuchet MS" panose="020B0603020202020204" pitchFamily="34" charset="0"/>
              </a:rPr>
            </a:b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Step 2:</a:t>
            </a:r>
            <a:r>
              <a:rPr lang="en-US" sz="2000" dirty="0">
                <a:latin typeface="Trebuchet MS" panose="020B0603020202020204" pitchFamily="34" charset="0"/>
              </a:rPr>
              <a:t> Apply peanut butter on one side of a slice.</a:t>
            </a:r>
            <a:br>
              <a:rPr lang="en-US" sz="2000" dirty="0">
                <a:latin typeface="Trebuchet MS" panose="020B0603020202020204" pitchFamily="34" charset="0"/>
              </a:rPr>
            </a:b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Step 3:</a:t>
            </a:r>
            <a:r>
              <a:rPr lang="en-US" sz="2000" dirty="0">
                <a:latin typeface="Trebuchet MS" panose="020B0603020202020204" pitchFamily="34" charset="0"/>
              </a:rPr>
              <a:t> Apply jelly on one side of the other slice.</a:t>
            </a:r>
            <a:br>
              <a:rPr lang="en-US" sz="2000" dirty="0">
                <a:latin typeface="Trebuchet MS" panose="020B0603020202020204" pitchFamily="34" charset="0"/>
              </a:rPr>
            </a:b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Step 4: </a:t>
            </a:r>
            <a:r>
              <a:rPr lang="en-US" sz="2000" dirty="0">
                <a:latin typeface="Trebuchet MS" panose="020B0603020202020204" pitchFamily="34" charset="0"/>
              </a:rPr>
              <a:t>Press both the slices of bread together.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079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0" y="-15798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339318" y="800354"/>
            <a:ext cx="8465313" cy="3954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  <a:latin typeface="Trebuchet MS" panose="020B0603020202020204" pitchFamily="34" charset="0"/>
                <a:ea typeface="Proxima Nova"/>
                <a:cs typeface="Proxima Nova"/>
              </a:rPr>
              <a:t>ALGORITHM </a:t>
            </a:r>
            <a:r>
              <a:rPr lang="en-US" sz="2000" b="1" dirty="0" smtClean="0">
                <a:solidFill>
                  <a:srgbClr val="0070C0"/>
                </a:solidFill>
                <a:latin typeface="Trebuchet MS" panose="020B0603020202020204" pitchFamily="34" charset="0"/>
                <a:ea typeface="Proxima Nova"/>
                <a:cs typeface="Proxima Nova"/>
              </a:rPr>
              <a:t>- </a:t>
            </a:r>
            <a:r>
              <a:rPr lang="en-US" sz="2000" b="1" dirty="0">
                <a:solidFill>
                  <a:srgbClr val="0070C0"/>
                </a:solidFill>
                <a:latin typeface="Trebuchet MS" panose="020B0603020202020204" pitchFamily="34" charset="0"/>
                <a:ea typeface="Proxima Nova"/>
                <a:cs typeface="Proxima Nova"/>
              </a:rPr>
              <a:t>DESIGN AND ANALYSIS</a:t>
            </a:r>
            <a:endParaRPr lang="en-US" sz="2000" b="1" dirty="0">
              <a:solidFill>
                <a:srgbClr val="0070C0"/>
              </a:solidFill>
              <a:latin typeface="Trebuchet MS" panose="020B0603020202020204" pitchFamily="34" charset="0"/>
              <a:ea typeface="Proxima Nova"/>
              <a:cs typeface="Proxima Nova"/>
              <a:sym typeface="Proxima Nova"/>
            </a:endParaRPr>
          </a:p>
          <a:p>
            <a:pPr>
              <a:lnSpc>
                <a:spcPct val="150000"/>
              </a:lnSpc>
              <a:defRPr/>
            </a:pP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	</a:t>
            </a:r>
            <a:r>
              <a:rPr lang="en-US" sz="20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Algorithmic 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is a branch of computer science that consists of designing and analyzing computer </a:t>
            </a: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algorithms.</a:t>
            </a:r>
            <a:endParaRPr lang="en-US" sz="20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marL="268288" indent="-268288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The 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“</a:t>
            </a:r>
            <a:r>
              <a:rPr lang="en-US" sz="2000" b="1" dirty="0">
                <a:solidFill>
                  <a:srgbClr val="FF0000"/>
                </a:solidFill>
                <a:latin typeface="Trebuchet MS" panose="020B0603020202020204" pitchFamily="34" charset="0"/>
              </a:rPr>
              <a:t>design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” pertain to</a:t>
            </a:r>
          </a:p>
          <a:p>
            <a:pPr marL="534988" lvl="1" indent="-357188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357188" algn="l"/>
              </a:tabLst>
              <a:defRPr/>
            </a:pP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The description of algorithm at an abstract level by means of a pseudo language</a:t>
            </a:r>
          </a:p>
          <a:p>
            <a:pPr marL="534988" lvl="1" indent="-357188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357188" algn="l"/>
              </a:tabLst>
              <a:defRPr/>
            </a:pP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Proof of correctness that is, the algorithm solves the given problem in all cases.</a:t>
            </a:r>
          </a:p>
          <a:p>
            <a:pPr marL="268288" indent="-268288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The 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“</a:t>
            </a:r>
            <a:r>
              <a:rPr lang="en-US" sz="2000" b="1" dirty="0">
                <a:solidFill>
                  <a:srgbClr val="FF0000"/>
                </a:solidFill>
                <a:latin typeface="Trebuchet MS" panose="020B0603020202020204" pitchFamily="34" charset="0"/>
              </a:rPr>
              <a:t>analysis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” deals with performance evaluation (complexity analysis</a:t>
            </a: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).</a:t>
            </a:r>
            <a:endParaRPr lang="en-US" sz="1800" dirty="0">
              <a:solidFill>
                <a:schemeClr val="tx1"/>
              </a:solidFill>
              <a:latin typeface="Proxima Nova" panose="020B0604020202020204" charset="0"/>
            </a:endParaRPr>
          </a:p>
        </p:txBody>
      </p:sp>
      <p:sp>
        <p:nvSpPr>
          <p:cNvPr id="7" name="Google Shape;97;p17"/>
          <p:cNvSpPr txBox="1"/>
          <p:nvPr/>
        </p:nvSpPr>
        <p:spPr>
          <a:xfrm>
            <a:off x="339318" y="82599"/>
            <a:ext cx="6472078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IN" sz="2800" b="1" dirty="0" smtClean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Design and Analysis </a:t>
            </a:r>
            <a:endParaRPr lang="en-IN" sz="2800" b="1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259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0" y="-15798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301260" y="716773"/>
            <a:ext cx="8708925" cy="4339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 algn="just" defTabSz="268288" fontAlgn="auto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1800" b="1" dirty="0">
                <a:solidFill>
                  <a:srgbClr val="FF0000"/>
                </a:solidFill>
                <a:latin typeface="Trebuchet MS" panose="020B0603020202020204" pitchFamily="34" charset="0"/>
              </a:rPr>
              <a:t>Unambiguous</a:t>
            </a:r>
            <a:r>
              <a:rPr lang="en-US" altLang="en-US" sz="1800" dirty="0">
                <a:solidFill>
                  <a:schemeClr val="tx1"/>
                </a:solidFill>
                <a:latin typeface="Trebuchet MS" panose="020B0603020202020204" pitchFamily="34" charset="0"/>
              </a:rPr>
              <a:t> − Algorithm should be clear and unambiguous. Each of its 	</a:t>
            </a:r>
            <a:r>
              <a:rPr lang="en-US" altLang="en-US" sz="18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step </a:t>
            </a:r>
            <a:r>
              <a:rPr lang="en-US" altLang="en-US" sz="1800" dirty="0">
                <a:solidFill>
                  <a:schemeClr val="tx1"/>
                </a:solidFill>
                <a:latin typeface="Trebuchet MS" panose="020B0603020202020204" pitchFamily="34" charset="0"/>
              </a:rPr>
              <a:t>(or phases), and their input/outputs should be clear and 	</a:t>
            </a:r>
            <a:r>
              <a:rPr lang="en-US" altLang="en-US" sz="18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must </a:t>
            </a:r>
            <a:r>
              <a:rPr lang="en-US" altLang="en-US" sz="1800" dirty="0">
                <a:solidFill>
                  <a:schemeClr val="tx1"/>
                </a:solidFill>
                <a:latin typeface="Trebuchet MS" panose="020B0603020202020204" pitchFamily="34" charset="0"/>
              </a:rPr>
              <a:t>lead to only one meaning. </a:t>
            </a:r>
          </a:p>
          <a:p>
            <a:pPr marL="285750" indent="-285750" algn="just" fontAlgn="auto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1800" b="1" dirty="0">
                <a:solidFill>
                  <a:srgbClr val="FF0000"/>
                </a:solidFill>
                <a:latin typeface="Trebuchet MS" panose="020B0603020202020204" pitchFamily="34" charset="0"/>
              </a:rPr>
              <a:t>Input</a:t>
            </a:r>
            <a:r>
              <a:rPr lang="en-US" altLang="en-US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Trebuchet MS" panose="020B0603020202020204" pitchFamily="34" charset="0"/>
              </a:rPr>
              <a:t>− An algorithm should have 0 or more well defined inputs.</a:t>
            </a:r>
          </a:p>
          <a:p>
            <a:pPr marL="285750" indent="-285750" algn="just" fontAlgn="auto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1800" b="1" dirty="0">
                <a:solidFill>
                  <a:srgbClr val="FF0000"/>
                </a:solidFill>
                <a:latin typeface="Trebuchet MS" panose="020B0603020202020204" pitchFamily="34" charset="0"/>
              </a:rPr>
              <a:t>Output</a:t>
            </a:r>
            <a:r>
              <a:rPr lang="en-US" altLang="en-US" sz="1800" b="1" dirty="0">
                <a:solidFill>
                  <a:schemeClr val="tx1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Trebuchet MS" panose="020B0603020202020204" pitchFamily="34" charset="0"/>
              </a:rPr>
              <a:t>− An algorithm should have 1 or more well defined outputs, and 	    should match the desired output. </a:t>
            </a:r>
          </a:p>
          <a:p>
            <a:pPr marL="285750" indent="-285750" algn="just" fontAlgn="auto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1800" b="1" dirty="0">
                <a:solidFill>
                  <a:srgbClr val="FF0000"/>
                </a:solidFill>
                <a:latin typeface="Trebuchet MS" panose="020B0603020202020204" pitchFamily="34" charset="0"/>
              </a:rPr>
              <a:t>Finiteness</a:t>
            </a:r>
            <a:r>
              <a:rPr lang="en-US" altLang="en-US" sz="1800" dirty="0">
                <a:solidFill>
                  <a:schemeClr val="tx1"/>
                </a:solidFill>
                <a:latin typeface="Trebuchet MS" panose="020B0603020202020204" pitchFamily="34" charset="0"/>
              </a:rPr>
              <a:t> − Algorithms must terminate after a finite number of steps. </a:t>
            </a:r>
          </a:p>
          <a:p>
            <a:pPr marL="285750" indent="-285750" algn="just" fontAlgn="auto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1800" b="1" dirty="0">
                <a:solidFill>
                  <a:srgbClr val="FF0000"/>
                </a:solidFill>
                <a:latin typeface="Trebuchet MS" panose="020B0603020202020204" pitchFamily="34" charset="0"/>
              </a:rPr>
              <a:t>Feasibility</a:t>
            </a:r>
            <a:r>
              <a:rPr lang="en-US" altLang="en-US" sz="1800" b="1" dirty="0">
                <a:solidFill>
                  <a:schemeClr val="tx1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Trebuchet MS" panose="020B0603020202020204" pitchFamily="34" charset="0"/>
              </a:rPr>
              <a:t>− Should be feasible with the available resources.</a:t>
            </a:r>
          </a:p>
          <a:p>
            <a:pPr marL="285750" indent="-285750" algn="just" fontAlgn="auto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1800" b="1" dirty="0">
                <a:solidFill>
                  <a:srgbClr val="FF0000"/>
                </a:solidFill>
                <a:latin typeface="Trebuchet MS" panose="020B0603020202020204" pitchFamily="34" charset="0"/>
              </a:rPr>
              <a:t>Independent</a:t>
            </a:r>
            <a:r>
              <a:rPr lang="en-US" altLang="en-US" sz="1800" dirty="0">
                <a:solidFill>
                  <a:schemeClr val="tx1"/>
                </a:solidFill>
                <a:latin typeface="Trebuchet MS" panose="020B0603020202020204" pitchFamily="34" charset="0"/>
              </a:rPr>
              <a:t> − An algorithm should have step-by-step directions which 	              should be independent of any programming code</a:t>
            </a:r>
            <a:r>
              <a:rPr lang="en-US" altLang="en-US" sz="18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.</a:t>
            </a:r>
            <a:endParaRPr lang="en-US" sz="1800" dirty="0">
              <a:solidFill>
                <a:schemeClr val="tx1"/>
              </a:solidFill>
              <a:latin typeface="Proxima Nova" panose="020B0604020202020204" charset="0"/>
            </a:endParaRPr>
          </a:p>
        </p:txBody>
      </p:sp>
      <p:sp>
        <p:nvSpPr>
          <p:cNvPr id="7" name="Google Shape;97;p17"/>
          <p:cNvSpPr txBox="1"/>
          <p:nvPr/>
        </p:nvSpPr>
        <p:spPr>
          <a:xfrm>
            <a:off x="285125" y="101250"/>
            <a:ext cx="6409977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IN" sz="2800" b="1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Characteristics of Algorithm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2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0" y="-15798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421937" y="1094424"/>
            <a:ext cx="7673551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Algorithms are used to find the best possible way to solve a problem, based on 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data storage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, 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sorting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 and </a:t>
            </a:r>
            <a:r>
              <a:rPr lang="en-US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processing</a:t>
            </a: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rebuchet MS" panose="020B0603020202020204" pitchFamily="34" charset="0"/>
              </a:rPr>
              <a:t>Algorithms play a crucial role in computing by providing a set of instructions for a computer </a:t>
            </a:r>
            <a:r>
              <a:rPr lang="en-IN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to perform a specific task</a:t>
            </a:r>
            <a:r>
              <a:rPr lang="en-IN" sz="2000" dirty="0">
                <a:solidFill>
                  <a:schemeClr val="tx1"/>
                </a:solidFill>
                <a:latin typeface="Trebuchet MS" panose="020B0603020202020204" pitchFamily="34" charset="0"/>
              </a:rPr>
              <a:t>. They are used to solve problems and carry out tasks in computer </a:t>
            </a:r>
            <a:r>
              <a:rPr lang="en-IN" sz="20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systems.</a:t>
            </a:r>
            <a:endParaRPr lang="en-US" sz="200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Google Shape;97;p17"/>
          <p:cNvSpPr txBox="1"/>
          <p:nvPr/>
        </p:nvSpPr>
        <p:spPr>
          <a:xfrm>
            <a:off x="285125" y="101250"/>
            <a:ext cx="6409977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IN" sz="2800" b="1" dirty="0" smtClean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Role </a:t>
            </a:r>
            <a:r>
              <a:rPr lang="en-IN" sz="2800" b="1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of </a:t>
            </a:r>
            <a:r>
              <a:rPr lang="en-IN" sz="2800" b="1" dirty="0" smtClean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Algorithm in Computing</a:t>
            </a:r>
            <a:endParaRPr lang="en-IN" sz="2800" b="1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14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0" y="-15798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404900" y="979008"/>
            <a:ext cx="7631243" cy="318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Algorithms are widely used in </a:t>
            </a:r>
            <a:r>
              <a:rPr lang="en-US" sz="2000" dirty="0">
                <a:solidFill>
                  <a:srgbClr val="FF0000"/>
                </a:solidFill>
                <a:latin typeface="Trebuchet MS" panose="020B0603020202020204" pitchFamily="34" charset="0"/>
              </a:rPr>
              <a:t>various industrial areas 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to improve efficiency, accuracy, and decision-making. Some of the key applications include:</a:t>
            </a:r>
          </a:p>
          <a:p>
            <a:pPr marL="731838" indent="-2857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Manufacturing</a:t>
            </a:r>
          </a:p>
          <a:p>
            <a:pPr marL="731838" indent="-2857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Finance</a:t>
            </a:r>
          </a:p>
          <a:p>
            <a:pPr marL="731838" indent="-2857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Healthcare</a:t>
            </a:r>
          </a:p>
        </p:txBody>
      </p:sp>
      <p:sp>
        <p:nvSpPr>
          <p:cNvPr id="7" name="Google Shape;97;p17"/>
          <p:cNvSpPr txBox="1"/>
          <p:nvPr/>
        </p:nvSpPr>
        <p:spPr>
          <a:xfrm>
            <a:off x="404900" y="111668"/>
            <a:ext cx="6409977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IN" sz="2800" b="1" dirty="0" smtClean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Role </a:t>
            </a:r>
            <a:r>
              <a:rPr lang="en-IN" sz="2800" b="1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of </a:t>
            </a:r>
            <a:r>
              <a:rPr lang="en-IN" sz="2800" b="1" dirty="0" smtClean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Algorithm in Computing</a:t>
            </a:r>
            <a:endParaRPr lang="en-IN" sz="2800" b="1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220521" y="2411329"/>
            <a:ext cx="4572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pPr marL="731838" lvl="0" indent="-2857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Retail </a:t>
            </a:r>
          </a:p>
          <a:p>
            <a:pPr marL="731838" lvl="0" indent="-2857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Transportation</a:t>
            </a:r>
          </a:p>
          <a:p>
            <a:pPr marL="731838" lvl="0" indent="-2857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Energy</a:t>
            </a:r>
          </a:p>
        </p:txBody>
      </p:sp>
    </p:spTree>
    <p:extLst>
      <p:ext uri="{BB962C8B-B14F-4D97-AF65-F5344CB8AC3E}">
        <p14:creationId xmlns:p14="http://schemas.microsoft.com/office/powerpoint/2010/main" val="1857165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0" y="-15798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285125" y="897252"/>
            <a:ext cx="8513888" cy="3801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Algorithms are fundamental to computing and play a </a:t>
            </a:r>
            <a:r>
              <a:rPr lang="en-US" sz="2000" dirty="0">
                <a:solidFill>
                  <a:srgbClr val="FF0000"/>
                </a:solidFill>
                <a:latin typeface="Trebuchet MS" panose="020B0603020202020204" pitchFamily="34" charset="0"/>
              </a:rPr>
              <a:t>crucial role in many aspects of the field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. Some of the key needs and applications of algorithms in computing include:</a:t>
            </a:r>
          </a:p>
          <a:p>
            <a:pPr marL="820738" indent="-2857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Data processing</a:t>
            </a:r>
          </a:p>
          <a:p>
            <a:pPr marL="820738" indent="-2857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Problem 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solving</a:t>
            </a:r>
          </a:p>
          <a:p>
            <a:pPr marL="820738" indent="-2857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Computer 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graphics</a:t>
            </a:r>
          </a:p>
          <a:p>
            <a:pPr marL="820738" indent="-2857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IN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Artificial Intelligence</a:t>
            </a:r>
            <a:endParaRPr lang="en-IN" sz="2000" dirty="0">
              <a:solidFill>
                <a:srgbClr val="0070C0"/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Google Shape;97;p17"/>
          <p:cNvSpPr txBox="1"/>
          <p:nvPr/>
        </p:nvSpPr>
        <p:spPr>
          <a:xfrm>
            <a:off x="285125" y="101250"/>
            <a:ext cx="6409977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IN" sz="2800" b="1" dirty="0" smtClean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Role </a:t>
            </a:r>
            <a:r>
              <a:rPr lang="en-IN" sz="2800" b="1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of </a:t>
            </a:r>
            <a:r>
              <a:rPr lang="en-IN" sz="2800" b="1" dirty="0" smtClean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Algorithm in Computing</a:t>
            </a:r>
            <a:endParaRPr lang="en-IN" sz="2800" b="1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227019" y="2546131"/>
            <a:ext cx="4572000" cy="15747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820738" lvl="0" indent="-2857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Database management</a:t>
            </a:r>
          </a:p>
          <a:p>
            <a:pPr marL="820738" lvl="0" indent="-2857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Network communication</a:t>
            </a:r>
          </a:p>
          <a:p>
            <a:pPr marL="820738" lvl="0" indent="-2857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IN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Operating </a:t>
            </a:r>
            <a:r>
              <a:rPr lang="en-IN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systems</a:t>
            </a:r>
            <a:endParaRPr lang="en-US" sz="2000" dirty="0">
              <a:solidFill>
                <a:srgbClr val="0070C0"/>
              </a:solidFill>
              <a:latin typeface="Trebuchet MS" panose="020B0603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41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0" y="-15798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155741" y="716773"/>
            <a:ext cx="8832467" cy="4262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Algorithms play a critical role in </a:t>
            </a:r>
            <a:r>
              <a:rPr lang="en-US" sz="2000" dirty="0">
                <a:solidFill>
                  <a:srgbClr val="FF0000"/>
                </a:solidFill>
                <a:latin typeface="Trebuchet MS" panose="020B0603020202020204" pitchFamily="34" charset="0"/>
              </a:rPr>
              <a:t>networking and communication syst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ems, enabling efficient and reliable data transfer and communication. Some of the key applications of algorithms in networking include:</a:t>
            </a:r>
          </a:p>
          <a:p>
            <a:pPr marL="820738" lvl="1" indent="-2857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Routing</a:t>
            </a:r>
          </a:p>
          <a:p>
            <a:pPr marL="820738" lvl="1" indent="-2857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Error correction</a:t>
            </a:r>
          </a:p>
          <a:p>
            <a:pPr marL="820738" lvl="1" indent="-2857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Data compression</a:t>
            </a:r>
          </a:p>
          <a:p>
            <a:pPr marL="820738" lvl="1" indent="-2857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Network security</a:t>
            </a:r>
          </a:p>
        </p:txBody>
      </p:sp>
      <p:sp>
        <p:nvSpPr>
          <p:cNvPr id="7" name="Google Shape;97;p17"/>
          <p:cNvSpPr txBox="1"/>
          <p:nvPr/>
        </p:nvSpPr>
        <p:spPr>
          <a:xfrm>
            <a:off x="285125" y="101250"/>
            <a:ext cx="6409977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IN" sz="2800" b="1" dirty="0" smtClean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Role </a:t>
            </a:r>
            <a:r>
              <a:rPr lang="en-IN" sz="2800" b="1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of </a:t>
            </a:r>
            <a:r>
              <a:rPr lang="en-IN" sz="2800" b="1" dirty="0" smtClean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Algorithm in Computing</a:t>
            </a:r>
            <a:endParaRPr lang="en-IN" sz="2800" b="1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001547" y="2766362"/>
            <a:ext cx="4572000" cy="15747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820738" lvl="1" indent="-2857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Quality 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of Service </a:t>
            </a:r>
          </a:p>
          <a:p>
            <a:pPr marL="820738" lvl="1" indent="-2857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Wireless 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networks</a:t>
            </a:r>
          </a:p>
          <a:p>
            <a:pPr marL="820738" lvl="1" indent="-2857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Network 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topology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509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245327" y="101250"/>
            <a:ext cx="6449775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Algorithm</a:t>
            </a:r>
            <a:r>
              <a:rPr lang="en-IN" sz="2800" b="1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 Specification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245326" y="742732"/>
            <a:ext cx="874037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>
                <a:latin typeface="Trebuchet MS" panose="020B0603020202020204" pitchFamily="34" charset="0"/>
              </a:rPr>
              <a:t>Algorithm </a:t>
            </a:r>
            <a:r>
              <a:rPr lang="en-US" sz="2000" dirty="0">
                <a:latin typeface="Trebuchet MS" panose="020B0603020202020204" pitchFamily="34" charset="0"/>
              </a:rPr>
              <a:t>can be described in </a:t>
            </a:r>
            <a:r>
              <a:rPr lang="en-US" sz="2000" b="1" dirty="0">
                <a:solidFill>
                  <a:srgbClr val="0070C0"/>
                </a:solidFill>
                <a:latin typeface="Trebuchet MS" panose="020B0603020202020204" pitchFamily="34" charset="0"/>
              </a:rPr>
              <a:t>three</a:t>
            </a:r>
            <a:r>
              <a:rPr lang="en-US" sz="2000" dirty="0">
                <a:latin typeface="Trebuchet MS" panose="020B0603020202020204" pitchFamily="34" charset="0"/>
              </a:rPr>
              <a:t> </a:t>
            </a:r>
            <a:r>
              <a:rPr lang="en-US" sz="2000" dirty="0" smtClean="0">
                <a:latin typeface="Trebuchet MS" panose="020B0603020202020204" pitchFamily="34" charset="0"/>
              </a:rPr>
              <a:t>ways.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Natural </a:t>
            </a:r>
            <a:r>
              <a:rPr lang="en-US" sz="2000" dirty="0">
                <a:solidFill>
                  <a:srgbClr val="FF0000"/>
                </a:solidFill>
                <a:latin typeface="Trebuchet MS" panose="020B0603020202020204" pitchFamily="34" charset="0"/>
              </a:rPr>
              <a:t>language like English:</a:t>
            </a:r>
          </a:p>
          <a:p>
            <a:pPr marL="534988" lvl="2">
              <a:lnSpc>
                <a:spcPct val="150000"/>
              </a:lnSpc>
            </a:pPr>
            <a:r>
              <a:rPr lang="en-US" sz="2000" dirty="0">
                <a:latin typeface="Trebuchet MS" panose="020B0603020202020204" pitchFamily="34" charset="0"/>
              </a:rPr>
              <a:t>When this way is </a:t>
            </a:r>
            <a:r>
              <a:rPr lang="en-US" sz="2000" dirty="0" smtClean="0">
                <a:latin typeface="Trebuchet MS" panose="020B0603020202020204" pitchFamily="34" charset="0"/>
              </a:rPr>
              <a:t>chorused </a:t>
            </a:r>
            <a:r>
              <a:rPr lang="en-US" sz="2000" dirty="0">
                <a:latin typeface="Trebuchet MS" panose="020B0603020202020204" pitchFamily="34" charset="0"/>
              </a:rPr>
              <a:t>care should be taken, </a:t>
            </a:r>
            <a:r>
              <a:rPr lang="en-US" sz="2000" dirty="0" smtClean="0">
                <a:latin typeface="Trebuchet MS" panose="020B0603020202020204" pitchFamily="34" charset="0"/>
              </a:rPr>
              <a:t>we should </a:t>
            </a:r>
            <a:r>
              <a:rPr lang="en-US" sz="2000" dirty="0">
                <a:latin typeface="Trebuchet MS" panose="020B0603020202020204" pitchFamily="34" charset="0"/>
              </a:rPr>
              <a:t>ensure that each &amp; every statement is </a:t>
            </a:r>
            <a:r>
              <a:rPr lang="en-US" sz="2000" dirty="0" smtClean="0">
                <a:latin typeface="Trebuchet MS" panose="020B0603020202020204" pitchFamily="34" charset="0"/>
              </a:rPr>
              <a:t>definite.</a:t>
            </a:r>
          </a:p>
          <a:p>
            <a:pPr marL="268288" lvl="2" indent="-2682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Graphic </a:t>
            </a:r>
            <a:r>
              <a:rPr lang="en-US" sz="2000" dirty="0">
                <a:solidFill>
                  <a:srgbClr val="FF0000"/>
                </a:solidFill>
                <a:latin typeface="Trebuchet MS" panose="020B0603020202020204" pitchFamily="34" charset="0"/>
              </a:rPr>
              <a:t>representation called flowchart:</a:t>
            </a:r>
          </a:p>
          <a:p>
            <a:pPr marL="534988" lvl="2">
              <a:lnSpc>
                <a:spcPct val="150000"/>
              </a:lnSpc>
            </a:pPr>
            <a:r>
              <a:rPr lang="en-US" sz="2000" dirty="0">
                <a:latin typeface="Trebuchet MS" panose="020B0603020202020204" pitchFamily="34" charset="0"/>
              </a:rPr>
              <a:t>This method will work well when the </a:t>
            </a:r>
            <a:r>
              <a:rPr lang="en-US" sz="2000" dirty="0" smtClean="0">
                <a:latin typeface="Trebuchet MS" panose="020B0603020202020204" pitchFamily="34" charset="0"/>
              </a:rPr>
              <a:t>algorithm </a:t>
            </a:r>
            <a:r>
              <a:rPr lang="en-IN" sz="2000" dirty="0" smtClean="0">
                <a:latin typeface="Trebuchet MS" panose="020B0603020202020204" pitchFamily="34" charset="0"/>
              </a:rPr>
              <a:t>is </a:t>
            </a:r>
            <a:r>
              <a:rPr lang="en-IN" sz="2000" dirty="0">
                <a:latin typeface="Trebuchet MS" panose="020B0603020202020204" pitchFamily="34" charset="0"/>
              </a:rPr>
              <a:t>small&amp; </a:t>
            </a:r>
            <a:r>
              <a:rPr lang="en-IN" sz="2000" dirty="0" smtClean="0">
                <a:latin typeface="Trebuchet MS" panose="020B0603020202020204" pitchFamily="34" charset="0"/>
              </a:rPr>
              <a:t>simple.</a:t>
            </a:r>
          </a:p>
          <a:p>
            <a:pPr marL="268288" lvl="2" indent="-2682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Pseudo-code </a:t>
            </a:r>
            <a:r>
              <a:rPr lang="en-IN" sz="2000" dirty="0">
                <a:solidFill>
                  <a:srgbClr val="FF0000"/>
                </a:solidFill>
                <a:latin typeface="Trebuchet MS" panose="020B0603020202020204" pitchFamily="34" charset="0"/>
              </a:rPr>
              <a:t>Method:</a:t>
            </a:r>
          </a:p>
          <a:p>
            <a:pPr marL="534988" lvl="2">
              <a:lnSpc>
                <a:spcPct val="150000"/>
              </a:lnSpc>
            </a:pPr>
            <a:r>
              <a:rPr lang="en-US" sz="2000" dirty="0">
                <a:latin typeface="Trebuchet MS" panose="020B0603020202020204" pitchFamily="34" charset="0"/>
              </a:rPr>
              <a:t>In this method, we should typically describe algorithms as program,</a:t>
            </a:r>
          </a:p>
          <a:p>
            <a:pPr marL="534988" lvl="2">
              <a:lnSpc>
                <a:spcPct val="150000"/>
              </a:lnSpc>
            </a:pPr>
            <a:r>
              <a:rPr lang="en-US" sz="2000" dirty="0">
                <a:latin typeface="Trebuchet MS" panose="020B0603020202020204" pitchFamily="34" charset="0"/>
              </a:rPr>
              <a:t>which resembles language like </a:t>
            </a:r>
            <a:r>
              <a:rPr lang="en-US" sz="2000" dirty="0" smtClean="0">
                <a:latin typeface="Trebuchet MS" panose="020B0603020202020204" pitchFamily="34" charset="0"/>
              </a:rPr>
              <a:t>Pascal.</a:t>
            </a:r>
            <a:endParaRPr lang="en-IN" sz="2400" dirty="0">
              <a:latin typeface="Trebuchet MS" panose="020B0603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468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245327" y="101250"/>
            <a:ext cx="6837785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IN" sz="2800" b="1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Pseudo-Code Conventions</a:t>
            </a:r>
          </a:p>
        </p:txBody>
      </p:sp>
      <p:sp>
        <p:nvSpPr>
          <p:cNvPr id="2" name="Rectangle 1"/>
          <p:cNvSpPr/>
          <p:nvPr/>
        </p:nvSpPr>
        <p:spPr>
          <a:xfrm>
            <a:off x="389977" y="663901"/>
            <a:ext cx="8363996" cy="43627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rebuchet MS" panose="020B0603020202020204" pitchFamily="34" charset="0"/>
              </a:rPr>
              <a:t>1. </a:t>
            </a:r>
            <a:r>
              <a:rPr lang="en-US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Comments </a:t>
            </a:r>
            <a:r>
              <a:rPr lang="en-US" sz="1800" dirty="0">
                <a:latin typeface="Trebuchet MS" panose="020B0603020202020204" pitchFamily="34" charset="0"/>
              </a:rPr>
              <a:t>begin with // and continue until the end of line.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rebuchet MS" panose="020B0603020202020204" pitchFamily="34" charset="0"/>
              </a:rPr>
              <a:t>2</a:t>
            </a:r>
            <a:r>
              <a:rPr lang="en-US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. Blocks </a:t>
            </a:r>
            <a:r>
              <a:rPr lang="en-US" sz="1800" dirty="0">
                <a:latin typeface="Trebuchet MS" panose="020B0603020202020204" pitchFamily="34" charset="0"/>
              </a:rPr>
              <a:t>are indicated with matching braces {and}.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rebuchet MS" panose="020B0603020202020204" pitchFamily="34" charset="0"/>
              </a:rPr>
              <a:t>3. An </a:t>
            </a:r>
            <a:r>
              <a:rPr lang="en-US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identifier </a:t>
            </a:r>
            <a:r>
              <a:rPr lang="en-US" sz="1800" dirty="0">
                <a:latin typeface="Trebuchet MS" panose="020B0603020202020204" pitchFamily="34" charset="0"/>
              </a:rPr>
              <a:t>begins with a letter. The data types of variables are not </a:t>
            </a:r>
            <a:endParaRPr lang="en-US" sz="1800" dirty="0" smtClean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Trebuchet MS" panose="020B0603020202020204" pitchFamily="34" charset="0"/>
              </a:rPr>
              <a:t> </a:t>
            </a:r>
            <a:r>
              <a:rPr lang="en-US" sz="1800" dirty="0" smtClean="0">
                <a:latin typeface="Trebuchet MS" panose="020B0603020202020204" pitchFamily="34" charset="0"/>
              </a:rPr>
              <a:t>   explicitly </a:t>
            </a:r>
            <a:r>
              <a:rPr lang="en-US" sz="1800" dirty="0">
                <a:latin typeface="Trebuchet MS" panose="020B0603020202020204" pitchFamily="34" charset="0"/>
              </a:rPr>
              <a:t>declared.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rebuchet MS" panose="020B0603020202020204" pitchFamily="34" charset="0"/>
              </a:rPr>
              <a:t>4. Compound </a:t>
            </a:r>
            <a:r>
              <a:rPr lang="en-US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data types </a:t>
            </a:r>
            <a:r>
              <a:rPr lang="en-US" sz="1800" dirty="0">
                <a:latin typeface="Trebuchet MS" panose="020B0603020202020204" pitchFamily="34" charset="0"/>
              </a:rPr>
              <a:t>can be formed with </a:t>
            </a:r>
            <a:r>
              <a:rPr lang="en-US" sz="1800" dirty="0" smtClean="0">
                <a:latin typeface="Trebuchet MS" panose="020B0603020202020204" pitchFamily="34" charset="0"/>
              </a:rPr>
              <a:t>records.</a:t>
            </a:r>
          </a:p>
          <a:p>
            <a:pPr marL="534988" lvl="2">
              <a:lnSpc>
                <a:spcPct val="150000"/>
              </a:lnSpc>
            </a:pPr>
            <a:r>
              <a:rPr lang="en-US" sz="1500" dirty="0">
                <a:solidFill>
                  <a:srgbClr val="0070C0"/>
                </a:solidFill>
                <a:latin typeface="Trebuchet MS" panose="020B0603020202020204" pitchFamily="34" charset="0"/>
              </a:rPr>
              <a:t>E</a:t>
            </a:r>
            <a:r>
              <a:rPr lang="en-IN" sz="1500" dirty="0" err="1" smtClean="0">
                <a:solidFill>
                  <a:srgbClr val="0070C0"/>
                </a:solidFill>
                <a:latin typeface="Trebuchet MS" panose="020B0603020202020204" pitchFamily="34" charset="0"/>
              </a:rPr>
              <a:t>xample</a:t>
            </a:r>
            <a:r>
              <a:rPr lang="en-IN" sz="1500" dirty="0">
                <a:solidFill>
                  <a:srgbClr val="0070C0"/>
                </a:solidFill>
                <a:latin typeface="Trebuchet MS" panose="020B0603020202020204" pitchFamily="34" charset="0"/>
              </a:rPr>
              <a:t>:</a:t>
            </a:r>
          </a:p>
          <a:p>
            <a:pPr marL="534988" lvl="2"/>
            <a:r>
              <a:rPr lang="en-IN" sz="1500" dirty="0">
                <a:solidFill>
                  <a:srgbClr val="FF0000"/>
                </a:solidFill>
                <a:latin typeface="Trebuchet MS" panose="020B0603020202020204" pitchFamily="34" charset="0"/>
              </a:rPr>
              <a:t>Node. Record</a:t>
            </a:r>
          </a:p>
          <a:p>
            <a:pPr marL="534988" lvl="2"/>
            <a:r>
              <a:rPr lang="en-IN" sz="1500" dirty="0">
                <a:solidFill>
                  <a:srgbClr val="FF0000"/>
                </a:solidFill>
                <a:latin typeface="Trebuchet MS" panose="020B0603020202020204" pitchFamily="34" charset="0"/>
              </a:rPr>
              <a:t>{</a:t>
            </a:r>
          </a:p>
          <a:p>
            <a:pPr marL="534988" lvl="2"/>
            <a:r>
              <a:rPr lang="en-IN" sz="1500" dirty="0">
                <a:solidFill>
                  <a:srgbClr val="FF0000"/>
                </a:solidFill>
                <a:latin typeface="Trebuchet MS" panose="020B0603020202020204" pitchFamily="34" charset="0"/>
              </a:rPr>
              <a:t>data type – 1 data-1;</a:t>
            </a:r>
          </a:p>
          <a:p>
            <a:pPr marL="534988" lvl="2"/>
            <a:r>
              <a:rPr lang="en-IN" sz="1500" dirty="0">
                <a:solidFill>
                  <a:srgbClr val="FF0000"/>
                </a:solidFill>
                <a:latin typeface="Trebuchet MS" panose="020B0603020202020204" pitchFamily="34" charset="0"/>
              </a:rPr>
              <a:t>.</a:t>
            </a:r>
          </a:p>
          <a:p>
            <a:pPr marL="534988" lvl="2"/>
            <a:r>
              <a:rPr lang="en-IN" sz="15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.</a:t>
            </a:r>
            <a:endParaRPr lang="en-IN" sz="1500" dirty="0">
              <a:solidFill>
                <a:srgbClr val="FF0000"/>
              </a:solidFill>
              <a:latin typeface="Trebuchet MS" panose="020B0603020202020204" pitchFamily="34" charset="0"/>
            </a:endParaRPr>
          </a:p>
          <a:p>
            <a:pPr marL="534988" lvl="2"/>
            <a:r>
              <a:rPr lang="en-IN" sz="1500" dirty="0">
                <a:solidFill>
                  <a:srgbClr val="FF0000"/>
                </a:solidFill>
                <a:latin typeface="Trebuchet MS" panose="020B0603020202020204" pitchFamily="34" charset="0"/>
              </a:rPr>
              <a:t>data type – n data – n;</a:t>
            </a:r>
          </a:p>
          <a:p>
            <a:pPr marL="534988" lvl="2"/>
            <a:r>
              <a:rPr lang="en-IN" sz="1500" dirty="0">
                <a:solidFill>
                  <a:srgbClr val="FF0000"/>
                </a:solidFill>
                <a:latin typeface="Trebuchet MS" panose="020B0603020202020204" pitchFamily="34" charset="0"/>
              </a:rPr>
              <a:t>node * link;</a:t>
            </a:r>
          </a:p>
          <a:p>
            <a:pPr marL="534988" lvl="2"/>
            <a:r>
              <a:rPr lang="en-IN" sz="1500" dirty="0">
                <a:solidFill>
                  <a:srgbClr val="FF0000"/>
                </a:solidFill>
                <a:latin typeface="Trebuchet MS" panose="020B0603020202020204" pitchFamily="34" charset="0"/>
              </a:rPr>
              <a:t>}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985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159983" y="79150"/>
            <a:ext cx="6837785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IN" sz="2800" b="1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Pseudo-Code C</a:t>
            </a:r>
            <a:r>
              <a:rPr lang="en-IN" sz="2800" b="1" dirty="0" smtClean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onventions</a:t>
            </a:r>
            <a:endParaRPr lang="en-IN" sz="2800" b="1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4793" y="860611"/>
            <a:ext cx="821049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>
                <a:latin typeface="Trebuchet MS" panose="020B0603020202020204" pitchFamily="34" charset="0"/>
              </a:rPr>
              <a:t>5. </a:t>
            </a:r>
            <a:r>
              <a:rPr lang="en-US" sz="18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Assignment of </a:t>
            </a:r>
            <a:r>
              <a:rPr lang="en-US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values </a:t>
            </a:r>
            <a:r>
              <a:rPr lang="en-US" sz="1800" dirty="0">
                <a:latin typeface="Trebuchet MS" panose="020B0603020202020204" pitchFamily="34" charset="0"/>
              </a:rPr>
              <a:t>to variables is done using the assignment statement.</a:t>
            </a:r>
          </a:p>
          <a:p>
            <a:pPr>
              <a:lnSpc>
                <a:spcPct val="200000"/>
              </a:lnSpc>
            </a:pPr>
            <a:r>
              <a:rPr lang="en-IN" sz="1800" dirty="0" smtClean="0">
                <a:latin typeface="Trebuchet MS" panose="020B0603020202020204" pitchFamily="34" charset="0"/>
              </a:rPr>
              <a:t>	</a:t>
            </a:r>
            <a:r>
              <a:rPr lang="en-IN" sz="18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&lt;</a:t>
            </a:r>
            <a:r>
              <a:rPr lang="en-IN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Variable</a:t>
            </a:r>
            <a:r>
              <a:rPr lang="en-IN" sz="18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&gt;= </a:t>
            </a:r>
            <a:r>
              <a:rPr lang="en-IN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&lt;expression&gt;;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latin typeface="Trebuchet MS" panose="020B0603020202020204" pitchFamily="34" charset="0"/>
              </a:rPr>
              <a:t>6. There are two </a:t>
            </a:r>
            <a:r>
              <a:rPr lang="en-US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Boolean values </a:t>
            </a:r>
            <a:r>
              <a:rPr lang="en-US" sz="1800" dirty="0">
                <a:latin typeface="Trebuchet MS" panose="020B0603020202020204" pitchFamily="34" charset="0"/>
              </a:rPr>
              <a:t>TRUE and FALSE.</a:t>
            </a:r>
          </a:p>
          <a:p>
            <a:pPr marL="714375" lvl="2" indent="-357188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8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Logical </a:t>
            </a:r>
            <a:r>
              <a:rPr lang="en-US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Operators AND, OR, NOT</a:t>
            </a:r>
          </a:p>
          <a:p>
            <a:pPr marL="714375" lvl="2" indent="-357188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18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Relational </a:t>
            </a:r>
            <a:r>
              <a:rPr lang="en-IN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Operators &lt;, &lt;=,&gt;,&gt;=, =, !=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latin typeface="Trebuchet MS" panose="020B0603020202020204" pitchFamily="34" charset="0"/>
              </a:rPr>
              <a:t>7. </a:t>
            </a:r>
            <a:r>
              <a:rPr lang="en-US" sz="1800" dirty="0" smtClean="0">
                <a:latin typeface="Trebuchet MS" panose="020B0603020202020204" pitchFamily="34" charset="0"/>
              </a:rPr>
              <a:t>The </a:t>
            </a:r>
            <a:r>
              <a:rPr lang="en-US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looping statements</a:t>
            </a:r>
            <a:r>
              <a:rPr lang="en-US" sz="1800" dirty="0">
                <a:latin typeface="Trebuchet MS" panose="020B0603020202020204" pitchFamily="34" charset="0"/>
              </a:rPr>
              <a:t> are </a:t>
            </a:r>
            <a:r>
              <a:rPr lang="en-US" sz="1800" dirty="0" smtClean="0">
                <a:latin typeface="Trebuchet MS" panose="020B0603020202020204" pitchFamily="34" charset="0"/>
              </a:rPr>
              <a:t>employed with algorithms.</a:t>
            </a:r>
            <a:endParaRPr lang="en-US" sz="1800" dirty="0">
              <a:latin typeface="Trebuchet MS" panose="020B0603020202020204" pitchFamily="34" charset="0"/>
            </a:endParaRPr>
          </a:p>
          <a:p>
            <a:pPr marL="357188" lvl="1">
              <a:lnSpc>
                <a:spcPct val="200000"/>
              </a:lnSpc>
            </a:pPr>
            <a:r>
              <a:rPr lang="en-IN" sz="1800" dirty="0" smtClean="0">
                <a:latin typeface="Trebuchet MS" panose="020B0603020202020204" pitchFamily="34" charset="0"/>
              </a:rPr>
              <a:t>Like </a:t>
            </a:r>
            <a:r>
              <a:rPr lang="en-IN" sz="18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for</a:t>
            </a:r>
            <a:r>
              <a:rPr lang="en-IN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, while </a:t>
            </a:r>
            <a:r>
              <a:rPr lang="en-IN" sz="1800" dirty="0">
                <a:solidFill>
                  <a:schemeClr val="tx1"/>
                </a:solidFill>
                <a:latin typeface="Trebuchet MS" panose="020B0603020202020204" pitchFamily="34" charset="0"/>
              </a:rPr>
              <a:t>and</a:t>
            </a:r>
            <a:r>
              <a:rPr lang="en-IN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 </a:t>
            </a:r>
            <a:r>
              <a:rPr lang="en-IN" sz="18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repeat-until</a:t>
            </a:r>
            <a:endParaRPr lang="en-IN" sz="1800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726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245327" y="101250"/>
            <a:ext cx="6837785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IN" sz="2800" b="1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Pseudo-Code C</a:t>
            </a:r>
            <a:r>
              <a:rPr lang="en-IN" sz="2800" b="1" dirty="0" smtClean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onventions</a:t>
            </a:r>
            <a:endParaRPr lang="en-IN" sz="2800" b="1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2563" y="889000"/>
            <a:ext cx="8494082" cy="3724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800" dirty="0">
                <a:latin typeface="Trebuchet MS" panose="020B0603020202020204" pitchFamily="34" charset="0"/>
              </a:rPr>
              <a:t>8. A </a:t>
            </a:r>
            <a:r>
              <a:rPr lang="en-US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conditional statement </a:t>
            </a:r>
            <a:r>
              <a:rPr lang="en-US" sz="1800" dirty="0">
                <a:latin typeface="Trebuchet MS" panose="020B0603020202020204" pitchFamily="34" charset="0"/>
              </a:rPr>
              <a:t>has the following forms.</a:t>
            </a:r>
          </a:p>
          <a:p>
            <a:pPr marL="714375" indent="-357188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US" sz="18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If </a:t>
            </a:r>
            <a:r>
              <a:rPr lang="en-US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&lt;condition&gt; then &lt;statement&gt;</a:t>
            </a:r>
          </a:p>
          <a:p>
            <a:pPr marL="714375" indent="-357188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US" sz="18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If </a:t>
            </a:r>
            <a:r>
              <a:rPr lang="en-US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&lt;condition&gt; then &lt;statement-1&gt;</a:t>
            </a:r>
          </a:p>
          <a:p>
            <a:pPr marL="357187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 </a:t>
            </a:r>
            <a:r>
              <a:rPr lang="en-US" sz="18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    Else </a:t>
            </a:r>
            <a:r>
              <a:rPr lang="en-US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&lt;statement-1</a:t>
            </a:r>
            <a:r>
              <a:rPr lang="en-US" sz="18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&gt;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800" dirty="0">
                <a:latin typeface="Trebuchet MS" panose="020B0603020202020204" pitchFamily="34" charset="0"/>
              </a:rPr>
              <a:t>9. </a:t>
            </a:r>
            <a:r>
              <a:rPr lang="en-US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Input and output </a:t>
            </a:r>
            <a:r>
              <a:rPr lang="en-US" sz="1800" dirty="0">
                <a:latin typeface="Trebuchet MS" panose="020B0603020202020204" pitchFamily="34" charset="0"/>
              </a:rPr>
              <a:t>are done using the instructions read &amp; write.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800" dirty="0">
                <a:latin typeface="Trebuchet MS" panose="020B0603020202020204" pitchFamily="34" charset="0"/>
              </a:rPr>
              <a:t>10. There is only one type of procedure:</a:t>
            </a:r>
          </a:p>
          <a:p>
            <a:pPr marL="357187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800" dirty="0">
                <a:solidFill>
                  <a:schemeClr val="tx1"/>
                </a:solidFill>
                <a:latin typeface="Trebuchet MS" panose="020B0603020202020204" pitchFamily="34" charset="0"/>
              </a:rPr>
              <a:t>Algorithm, the </a:t>
            </a:r>
            <a:r>
              <a:rPr lang="en-US" sz="1800" dirty="0">
                <a:solidFill>
                  <a:srgbClr val="0070C0"/>
                </a:solidFill>
                <a:latin typeface="Trebuchet MS" panose="020B0603020202020204" pitchFamily="34" charset="0"/>
              </a:rPr>
              <a:t>heading</a:t>
            </a:r>
            <a:r>
              <a:rPr lang="en-US" sz="1800" dirty="0">
                <a:solidFill>
                  <a:schemeClr val="tx1"/>
                </a:solidFill>
                <a:latin typeface="Trebuchet MS" panose="020B0603020202020204" pitchFamily="34" charset="0"/>
              </a:rPr>
              <a:t> takes the form,</a:t>
            </a:r>
          </a:p>
          <a:p>
            <a:pPr marL="357187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8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	</a:t>
            </a:r>
            <a:r>
              <a:rPr lang="en-US" sz="18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Algorithm </a:t>
            </a:r>
            <a:r>
              <a:rPr lang="en-US" sz="1800" dirty="0">
                <a:solidFill>
                  <a:srgbClr val="FF0000"/>
                </a:solidFill>
                <a:latin typeface="Trebuchet MS" panose="020B0603020202020204" pitchFamily="34" charset="0"/>
              </a:rPr>
              <a:t>Name (Parameter lists)</a:t>
            </a:r>
            <a:endParaRPr lang="en-IN" sz="1800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30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245327" y="101250"/>
            <a:ext cx="6837785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IN" sz="2800" b="1" dirty="0" smtClean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Algorithm </a:t>
            </a:r>
            <a:r>
              <a:rPr lang="en-IN" sz="2800" b="1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in </a:t>
            </a:r>
            <a:r>
              <a:rPr lang="en-IN" sz="2800" b="1" dirty="0" smtClean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description </a:t>
            </a:r>
            <a:endParaRPr lang="en-IN" sz="2800" b="1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4590" y="1038349"/>
            <a:ext cx="8446802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Trebuchet MS" panose="020B0603020202020204" pitchFamily="34" charset="0"/>
              </a:rPr>
              <a:t>Euclid’s algorithm for computing </a:t>
            </a:r>
            <a:r>
              <a:rPr lang="en-US" sz="2000" dirty="0" err="1">
                <a:solidFill>
                  <a:srgbClr val="FF0000"/>
                </a:solidFill>
                <a:latin typeface="Trebuchet MS" panose="020B0603020202020204" pitchFamily="34" charset="0"/>
              </a:rPr>
              <a:t>gcd</a:t>
            </a:r>
            <a:r>
              <a:rPr lang="en-US" sz="2000" dirty="0">
                <a:solidFill>
                  <a:srgbClr val="FF0000"/>
                </a:solidFill>
                <a:latin typeface="Trebuchet MS" panose="020B0603020202020204" pitchFamily="34" charset="0"/>
              </a:rPr>
              <a:t>(m, n)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Step </a:t>
            </a:r>
            <a:r>
              <a:rPr lang="en-US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1:</a:t>
            </a: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 If 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n = 0, return the value of m as the answer and stop; </a:t>
            </a: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otherwise, proceed 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to Step 2.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Step </a:t>
            </a:r>
            <a:r>
              <a:rPr lang="en-US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2:</a:t>
            </a: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Divide m by n and assign the value of the remainder to r.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Step </a:t>
            </a:r>
            <a:r>
              <a:rPr lang="en-US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3: 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Assign the value of n to m and the value of r to n. Go to Step </a:t>
            </a:r>
            <a:r>
              <a:rPr lang="en-US" sz="1800" dirty="0">
                <a:latin typeface="Trebuchet MS" panose="020B0603020202020204" pitchFamily="34" charset="0"/>
              </a:rPr>
              <a:t>1.</a:t>
            </a:r>
            <a:endParaRPr lang="en-IN" sz="1800" dirty="0">
              <a:latin typeface="Trebuchet MS" panose="020B0603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528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245327" y="101250"/>
            <a:ext cx="6837785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IN" sz="2800" b="1" dirty="0" smtClean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Algorithm </a:t>
            </a:r>
            <a:r>
              <a:rPr lang="en-IN" sz="2800" b="1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in </a:t>
            </a:r>
            <a:r>
              <a:rPr lang="en-IN" sz="2800" b="1" dirty="0" smtClean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Pseudo-Code</a:t>
            </a:r>
            <a:endParaRPr lang="en-IN" sz="2800" b="1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047" y="813273"/>
            <a:ext cx="7515923" cy="4190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FF0000"/>
                </a:solidFill>
                <a:latin typeface="Trebuchet MS" panose="020B0603020202020204" pitchFamily="34" charset="0"/>
              </a:rPr>
              <a:t>ALGORITHM</a:t>
            </a:r>
            <a:r>
              <a:rPr lang="en-IN" sz="2000" b="1" dirty="0">
                <a:latin typeface="Trebuchet MS" panose="020B0603020202020204" pitchFamily="34" charset="0"/>
              </a:rPr>
              <a:t> </a:t>
            </a:r>
            <a:r>
              <a:rPr lang="en-IN" sz="2000" i="1" dirty="0">
                <a:solidFill>
                  <a:srgbClr val="0070C0"/>
                </a:solidFill>
                <a:latin typeface="Trebuchet MS" panose="020B0603020202020204" pitchFamily="34" charset="0"/>
              </a:rPr>
              <a:t>Euclid(m, n)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rgbClr val="939D33"/>
                </a:solidFill>
                <a:latin typeface="Trebuchet MS" panose="020B0603020202020204" pitchFamily="34" charset="0"/>
              </a:rPr>
              <a:t>//Computes </a:t>
            </a:r>
            <a:r>
              <a:rPr lang="en-IN" sz="2000" dirty="0" err="1">
                <a:solidFill>
                  <a:srgbClr val="939D33"/>
                </a:solidFill>
                <a:latin typeface="Trebuchet MS" panose="020B0603020202020204" pitchFamily="34" charset="0"/>
              </a:rPr>
              <a:t>gcd</a:t>
            </a:r>
            <a:r>
              <a:rPr lang="en-IN" sz="2000" i="1" dirty="0">
                <a:solidFill>
                  <a:srgbClr val="939D33"/>
                </a:solidFill>
                <a:latin typeface="Trebuchet MS" panose="020B0603020202020204" pitchFamily="34" charset="0"/>
              </a:rPr>
              <a:t>(m, n) </a:t>
            </a:r>
            <a:r>
              <a:rPr lang="en-IN" sz="2000" dirty="0">
                <a:solidFill>
                  <a:srgbClr val="939D33"/>
                </a:solidFill>
                <a:latin typeface="Trebuchet MS" panose="020B0603020202020204" pitchFamily="34" charset="0"/>
              </a:rPr>
              <a:t>by Euclid’s algorithm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939D33"/>
                </a:solidFill>
                <a:latin typeface="Trebuchet MS" panose="020B0603020202020204" pitchFamily="34" charset="0"/>
              </a:rPr>
              <a:t>//Input: Two nonnegative, not-both-zero integers </a:t>
            </a:r>
            <a:r>
              <a:rPr lang="en-US" sz="2000" i="1" dirty="0">
                <a:solidFill>
                  <a:srgbClr val="939D33"/>
                </a:solidFill>
                <a:latin typeface="Trebuchet MS" panose="020B0603020202020204" pitchFamily="34" charset="0"/>
              </a:rPr>
              <a:t>m </a:t>
            </a:r>
            <a:r>
              <a:rPr lang="en-US" sz="2000" dirty="0">
                <a:solidFill>
                  <a:srgbClr val="939D33"/>
                </a:solidFill>
                <a:latin typeface="Trebuchet MS" panose="020B0603020202020204" pitchFamily="34" charset="0"/>
              </a:rPr>
              <a:t>and </a:t>
            </a:r>
            <a:r>
              <a:rPr lang="en-US" sz="2000" i="1" dirty="0">
                <a:solidFill>
                  <a:srgbClr val="939D33"/>
                </a:solidFill>
                <a:latin typeface="Trebuchet MS" panose="020B0603020202020204" pitchFamily="34" charset="0"/>
              </a:rPr>
              <a:t>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939D33"/>
                </a:solidFill>
                <a:latin typeface="Trebuchet MS" panose="020B0603020202020204" pitchFamily="34" charset="0"/>
              </a:rPr>
              <a:t>//Output: Greatest common divisor of </a:t>
            </a:r>
            <a:r>
              <a:rPr lang="en-US" sz="2000" i="1" dirty="0">
                <a:solidFill>
                  <a:srgbClr val="939D33"/>
                </a:solidFill>
                <a:latin typeface="Trebuchet MS" panose="020B0603020202020204" pitchFamily="34" charset="0"/>
              </a:rPr>
              <a:t>m </a:t>
            </a:r>
            <a:r>
              <a:rPr lang="en-US" sz="2000" dirty="0">
                <a:solidFill>
                  <a:srgbClr val="939D33"/>
                </a:solidFill>
                <a:latin typeface="Trebuchet MS" panose="020B0603020202020204" pitchFamily="34" charset="0"/>
              </a:rPr>
              <a:t>and </a:t>
            </a:r>
            <a:r>
              <a:rPr lang="en-US" sz="2000" i="1" dirty="0">
                <a:solidFill>
                  <a:srgbClr val="939D33"/>
                </a:solidFill>
                <a:latin typeface="Trebuchet MS" panose="020B0603020202020204" pitchFamily="34" charset="0"/>
              </a:rPr>
              <a:t>n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0070C0"/>
                </a:solidFill>
                <a:latin typeface="Trebuchet MS" panose="020B0603020202020204" pitchFamily="34" charset="0"/>
              </a:rPr>
              <a:t>while</a:t>
            </a:r>
            <a:r>
              <a:rPr lang="en-IN" sz="2000" b="1" dirty="0">
                <a:latin typeface="Trebuchet MS" panose="020B0603020202020204" pitchFamily="34" charset="0"/>
              </a:rPr>
              <a:t> </a:t>
            </a:r>
            <a:r>
              <a:rPr lang="en-IN" sz="2000" i="1" dirty="0">
                <a:latin typeface="Trebuchet MS" panose="020B0603020202020204" pitchFamily="34" charset="0"/>
              </a:rPr>
              <a:t>n </a:t>
            </a:r>
            <a:r>
              <a:rPr lang="en-IN" sz="2000" dirty="0">
                <a:latin typeface="Trebuchet MS" panose="020B0603020202020204" pitchFamily="34" charset="0"/>
              </a:rPr>
              <a:t>= 0 </a:t>
            </a:r>
            <a:r>
              <a:rPr lang="en-IN" sz="2000" b="1" dirty="0">
                <a:solidFill>
                  <a:srgbClr val="0070C0"/>
                </a:solidFill>
                <a:latin typeface="Trebuchet MS" panose="020B0603020202020204" pitchFamily="34" charset="0"/>
              </a:rPr>
              <a:t>do</a:t>
            </a:r>
          </a:p>
          <a:p>
            <a:pPr>
              <a:lnSpc>
                <a:spcPct val="150000"/>
              </a:lnSpc>
            </a:pPr>
            <a:r>
              <a:rPr lang="en-IN" sz="2000" i="1" dirty="0">
                <a:latin typeface="Trebuchet MS" panose="020B0603020202020204" pitchFamily="34" charset="0"/>
              </a:rPr>
              <a:t>r </a:t>
            </a:r>
            <a:r>
              <a:rPr lang="en-IN" sz="2000" dirty="0">
                <a:latin typeface="Trebuchet MS" panose="020B0603020202020204" pitchFamily="34" charset="0"/>
              </a:rPr>
              <a:t>←</a:t>
            </a:r>
            <a:r>
              <a:rPr lang="en-IN" sz="2000" i="1" dirty="0">
                <a:latin typeface="Trebuchet MS" panose="020B0603020202020204" pitchFamily="34" charset="0"/>
              </a:rPr>
              <a:t>m </a:t>
            </a:r>
            <a:r>
              <a:rPr lang="en-IN" sz="2000" dirty="0">
                <a:latin typeface="Trebuchet MS" panose="020B0603020202020204" pitchFamily="34" charset="0"/>
              </a:rPr>
              <a:t>mod </a:t>
            </a:r>
            <a:r>
              <a:rPr lang="en-IN" sz="2000" i="1" dirty="0">
                <a:latin typeface="Trebuchet MS" panose="020B0603020202020204" pitchFamily="34" charset="0"/>
              </a:rPr>
              <a:t>n</a:t>
            </a:r>
          </a:p>
          <a:p>
            <a:pPr>
              <a:lnSpc>
                <a:spcPct val="150000"/>
              </a:lnSpc>
            </a:pPr>
            <a:r>
              <a:rPr lang="en-IN" sz="2000" i="1" dirty="0" err="1">
                <a:latin typeface="Trebuchet MS" panose="020B0603020202020204" pitchFamily="34" charset="0"/>
              </a:rPr>
              <a:t>m</a:t>
            </a:r>
            <a:r>
              <a:rPr lang="en-IN" sz="2000" dirty="0" err="1">
                <a:latin typeface="Trebuchet MS" panose="020B0603020202020204" pitchFamily="34" charset="0"/>
              </a:rPr>
              <a:t>←</a:t>
            </a:r>
            <a:r>
              <a:rPr lang="en-IN" sz="2000" i="1" dirty="0" err="1">
                <a:latin typeface="Trebuchet MS" panose="020B0603020202020204" pitchFamily="34" charset="0"/>
              </a:rPr>
              <a:t>n</a:t>
            </a:r>
            <a:endParaRPr lang="en-IN" sz="2000" i="1" dirty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000" i="1" dirty="0" err="1">
                <a:latin typeface="Trebuchet MS" panose="020B0603020202020204" pitchFamily="34" charset="0"/>
              </a:rPr>
              <a:t>n</a:t>
            </a:r>
            <a:r>
              <a:rPr lang="en-IN" sz="2000" dirty="0" err="1">
                <a:latin typeface="Trebuchet MS" panose="020B0603020202020204" pitchFamily="34" charset="0"/>
              </a:rPr>
              <a:t>←</a:t>
            </a:r>
            <a:r>
              <a:rPr lang="en-IN" sz="2000" i="1" dirty="0" err="1">
                <a:latin typeface="Trebuchet MS" panose="020B0603020202020204" pitchFamily="34" charset="0"/>
              </a:rPr>
              <a:t>r</a:t>
            </a:r>
            <a:endParaRPr lang="en-IN" sz="2000" i="1" dirty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0070C0"/>
                </a:solidFill>
                <a:latin typeface="Trebuchet MS" panose="020B0603020202020204" pitchFamily="34" charset="0"/>
              </a:rPr>
              <a:t>return </a:t>
            </a:r>
            <a:r>
              <a:rPr lang="en-IN" sz="2000" i="1" dirty="0">
                <a:latin typeface="Trebuchet MS" panose="020B0603020202020204" pitchFamily="34" charset="0"/>
              </a:rPr>
              <a:t>m</a:t>
            </a:r>
            <a:endParaRPr lang="en-IN" sz="2000" dirty="0">
              <a:latin typeface="Trebuchet MS" panose="020B0603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278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525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200722" y="79057"/>
            <a:ext cx="6556917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2700" b="1" dirty="0" smtClean="0">
                <a:solidFill>
                  <a:schemeClr val="lt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 </a:t>
            </a:r>
            <a:r>
              <a:rPr lang="en-US" sz="2700" b="1" dirty="0" smtClean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Designing </a:t>
            </a:r>
            <a:r>
              <a:rPr lang="en-US" sz="2700" b="1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and analyzing an algorithm</a:t>
            </a:r>
            <a:endParaRPr lang="en-IN" sz="2700" b="1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0722" y="764111"/>
            <a:ext cx="8658153" cy="560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0790" y="812459"/>
            <a:ext cx="817801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rebuchet MS" panose="020B0603020202020204" pitchFamily="34" charset="0"/>
              </a:rPr>
              <a:t>A sequence </a:t>
            </a:r>
            <a:r>
              <a:rPr lang="en-US" sz="2000" dirty="0">
                <a:latin typeface="Trebuchet MS" panose="020B0603020202020204" pitchFamily="34" charset="0"/>
              </a:rPr>
              <a:t>of steps one typically goes </a:t>
            </a:r>
            <a:r>
              <a:rPr lang="en-US" sz="2000" dirty="0" smtClean="0">
                <a:latin typeface="Trebuchet MS" panose="020B0603020202020204" pitchFamily="34" charset="0"/>
              </a:rPr>
              <a:t>through in </a:t>
            </a:r>
            <a:r>
              <a:rPr lang="en-US" sz="2000" dirty="0">
                <a:latin typeface="Trebuchet MS" panose="020B0603020202020204" pitchFamily="34" charset="0"/>
              </a:rPr>
              <a:t>designing and analyzing an </a:t>
            </a:r>
            <a:r>
              <a:rPr lang="en-US" sz="2000" dirty="0" smtClean="0">
                <a:latin typeface="Trebuchet MS" panose="020B0603020202020204" pitchFamily="34" charset="0"/>
              </a:rPr>
              <a:t>algorithm for solving the problems.</a:t>
            </a:r>
          </a:p>
          <a:p>
            <a:pPr marL="623888" indent="-355600">
              <a:lnSpc>
                <a:spcPct val="150000"/>
              </a:lnSpc>
              <a:buFont typeface="+mj-lt"/>
              <a:buAutoNum type="arabicParenR"/>
            </a:pPr>
            <a:r>
              <a:rPr lang="en-IN" sz="2000" dirty="0">
                <a:latin typeface="Trebuchet MS" panose="020B0603020202020204" pitchFamily="34" charset="0"/>
              </a:rPr>
              <a:t>Understand the </a:t>
            </a:r>
            <a:r>
              <a:rPr lang="en-IN" sz="2000" dirty="0" smtClean="0">
                <a:latin typeface="Trebuchet MS" panose="020B0603020202020204" pitchFamily="34" charset="0"/>
              </a:rPr>
              <a:t>problem</a:t>
            </a:r>
          </a:p>
          <a:p>
            <a:pPr marL="623888" indent="-355600">
              <a:lnSpc>
                <a:spcPct val="150000"/>
              </a:lnSpc>
              <a:buFont typeface="+mj-lt"/>
              <a:buAutoNum type="arabicParenR"/>
            </a:pPr>
            <a:r>
              <a:rPr lang="en-IN" sz="2000" dirty="0">
                <a:latin typeface="Trebuchet MS" panose="020B0603020202020204" pitchFamily="34" charset="0"/>
              </a:rPr>
              <a:t>Decision </a:t>
            </a:r>
            <a:r>
              <a:rPr lang="en-IN" sz="2000" dirty="0" smtClean="0">
                <a:latin typeface="Trebuchet MS" panose="020B0603020202020204" pitchFamily="34" charset="0"/>
              </a:rPr>
              <a:t>making on: </a:t>
            </a:r>
            <a:endParaRPr lang="en-IN" sz="2000" dirty="0">
              <a:latin typeface="Trebuchet MS" panose="020B0603020202020204" pitchFamily="34" charset="0"/>
            </a:endParaRPr>
          </a:p>
          <a:p>
            <a:pPr marL="892175" lvl="1" indent="-357188">
              <a:lnSpc>
                <a:spcPct val="150000"/>
              </a:lnSpc>
              <a:buClr>
                <a:srgbClr val="7030A0"/>
              </a:buClr>
              <a:buFont typeface="+mj-lt"/>
              <a:buAutoNum type="arabicParenR"/>
            </a:pPr>
            <a:r>
              <a:rPr lang="en-IN" sz="2000" b="1" dirty="0" smtClean="0">
                <a:solidFill>
                  <a:srgbClr val="7030A0"/>
                </a:solidFill>
                <a:latin typeface="Trebuchet MS" panose="020B0603020202020204" pitchFamily="34" charset="0"/>
              </a:rPr>
              <a:t>Ascertaining </a:t>
            </a:r>
            <a:r>
              <a:rPr lang="en-IN" sz="2000" b="1" dirty="0">
                <a:solidFill>
                  <a:srgbClr val="7030A0"/>
                </a:solidFill>
                <a:latin typeface="Trebuchet MS" panose="020B0603020202020204" pitchFamily="34" charset="0"/>
              </a:rPr>
              <a:t>the capabilities of a computational </a:t>
            </a:r>
            <a:r>
              <a:rPr lang="en-IN" sz="2000" b="1" dirty="0" smtClean="0">
                <a:solidFill>
                  <a:srgbClr val="7030A0"/>
                </a:solidFill>
                <a:latin typeface="Trebuchet MS" panose="020B0603020202020204" pitchFamily="34" charset="0"/>
              </a:rPr>
              <a:t>device</a:t>
            </a:r>
            <a:endParaRPr lang="en-IN" sz="2000" b="1" dirty="0">
              <a:solidFill>
                <a:srgbClr val="7030A0"/>
              </a:solidFill>
              <a:latin typeface="Trebuchet MS" panose="020B0603020202020204" pitchFamily="34" charset="0"/>
            </a:endParaRPr>
          </a:p>
          <a:p>
            <a:pPr marL="892175" lvl="1" indent="-357188">
              <a:lnSpc>
                <a:spcPct val="150000"/>
              </a:lnSpc>
              <a:buClr>
                <a:srgbClr val="7030A0"/>
              </a:buClr>
              <a:buFont typeface="+mj-lt"/>
              <a:buAutoNum type="arabicParenR"/>
            </a:pPr>
            <a:r>
              <a:rPr lang="en-IN" sz="2000" b="1" dirty="0" smtClean="0">
                <a:solidFill>
                  <a:srgbClr val="7030A0"/>
                </a:solidFill>
                <a:latin typeface="Trebuchet MS" panose="020B0603020202020204" pitchFamily="34" charset="0"/>
              </a:rPr>
              <a:t>	Choosing </a:t>
            </a:r>
            <a:r>
              <a:rPr lang="en-IN" sz="2000" b="1" dirty="0">
                <a:solidFill>
                  <a:srgbClr val="7030A0"/>
                </a:solidFill>
                <a:latin typeface="Trebuchet MS" panose="020B0603020202020204" pitchFamily="34" charset="0"/>
              </a:rPr>
              <a:t>between exact and approximate problem </a:t>
            </a:r>
            <a:r>
              <a:rPr lang="en-IN" sz="2000" b="1" dirty="0" smtClean="0">
                <a:solidFill>
                  <a:srgbClr val="7030A0"/>
                </a:solidFill>
                <a:latin typeface="Trebuchet MS" panose="020B0603020202020204" pitchFamily="34" charset="0"/>
              </a:rPr>
              <a:t>solving</a:t>
            </a:r>
            <a:endParaRPr lang="en-IN" sz="2000" b="1" dirty="0">
              <a:solidFill>
                <a:srgbClr val="7030A0"/>
              </a:solidFill>
              <a:latin typeface="Trebuchet MS" panose="020B0603020202020204" pitchFamily="34" charset="0"/>
            </a:endParaRPr>
          </a:p>
          <a:p>
            <a:pPr marL="892175" lvl="1" indent="-357188">
              <a:lnSpc>
                <a:spcPct val="150000"/>
              </a:lnSpc>
              <a:buClr>
                <a:srgbClr val="7030A0"/>
              </a:buClr>
              <a:buFont typeface="+mj-lt"/>
              <a:buAutoNum type="arabicParenR"/>
            </a:pPr>
            <a:r>
              <a:rPr lang="en-IN" sz="2000" b="1" dirty="0" smtClean="0">
                <a:solidFill>
                  <a:srgbClr val="7030A0"/>
                </a:solidFill>
                <a:latin typeface="Trebuchet MS" panose="020B0603020202020204" pitchFamily="34" charset="0"/>
              </a:rPr>
              <a:t>	Deciding </a:t>
            </a:r>
            <a:r>
              <a:rPr lang="en-IN" sz="2000" b="1" dirty="0">
                <a:solidFill>
                  <a:srgbClr val="7030A0"/>
                </a:solidFill>
                <a:latin typeface="Trebuchet MS" panose="020B0603020202020204" pitchFamily="34" charset="0"/>
              </a:rPr>
              <a:t>on appropriate data </a:t>
            </a:r>
            <a:r>
              <a:rPr lang="en-IN" sz="2000" b="1" dirty="0" smtClean="0">
                <a:solidFill>
                  <a:srgbClr val="7030A0"/>
                </a:solidFill>
                <a:latin typeface="Trebuchet MS" panose="020B0603020202020204" pitchFamily="34" charset="0"/>
              </a:rPr>
              <a:t>structures</a:t>
            </a:r>
            <a:endParaRPr lang="en-IN" sz="2000" b="1" dirty="0">
              <a:solidFill>
                <a:srgbClr val="7030A0"/>
              </a:solidFill>
              <a:latin typeface="Trebuchet MS" panose="020B0603020202020204" pitchFamily="34" charset="0"/>
            </a:endParaRPr>
          </a:p>
          <a:p>
            <a:pPr marL="623888" indent="-355600">
              <a:lnSpc>
                <a:spcPct val="150000"/>
              </a:lnSpc>
              <a:buFont typeface="+mj-lt"/>
              <a:buAutoNum type="arabicParenR"/>
            </a:pPr>
            <a:r>
              <a:rPr lang="en-IN" sz="2000" dirty="0" smtClean="0">
                <a:latin typeface="Trebuchet MS" panose="020B0603020202020204" pitchFamily="34" charset="0"/>
              </a:rPr>
              <a:t>Algorithm design techniques</a:t>
            </a:r>
            <a:endParaRPr lang="en-IN" sz="2000" dirty="0">
              <a:latin typeface="Trebuchet MS" panose="020B0603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970714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525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200722" y="79057"/>
            <a:ext cx="6556917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2700" b="1" dirty="0" smtClean="0">
                <a:solidFill>
                  <a:schemeClr val="lt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 </a:t>
            </a:r>
            <a:r>
              <a:rPr lang="en-US" sz="2700" b="1" dirty="0" smtClean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Designing </a:t>
            </a:r>
            <a:r>
              <a:rPr lang="en-US" sz="2700" b="1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and analyzing an algorithm</a:t>
            </a:r>
            <a:endParaRPr lang="en-IN" sz="2700" b="1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0722" y="764111"/>
            <a:ext cx="8658153" cy="560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80768" y="994643"/>
            <a:ext cx="8753707" cy="2036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8288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IN" sz="2000" dirty="0" smtClean="0">
                <a:latin typeface="Trebuchet MS" panose="020B0603020202020204" pitchFamily="34" charset="0"/>
              </a:rPr>
              <a:t>4) Methods </a:t>
            </a:r>
            <a:r>
              <a:rPr lang="en-IN" sz="2000" dirty="0">
                <a:latin typeface="Trebuchet MS" panose="020B0603020202020204" pitchFamily="34" charset="0"/>
              </a:rPr>
              <a:t>of specifying an algorithm</a:t>
            </a:r>
          </a:p>
          <a:p>
            <a:pPr marL="268288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IN" sz="2000" dirty="0" smtClean="0">
                <a:latin typeface="Trebuchet MS" panose="020B0603020202020204" pitchFamily="34" charset="0"/>
              </a:rPr>
              <a:t>5) Proving </a:t>
            </a:r>
            <a:r>
              <a:rPr lang="en-IN" sz="2000" dirty="0">
                <a:latin typeface="Trebuchet MS" panose="020B0603020202020204" pitchFamily="34" charset="0"/>
              </a:rPr>
              <a:t>an algorithm's </a:t>
            </a:r>
            <a:r>
              <a:rPr lang="en-IN" sz="2000" dirty="0" smtClean="0">
                <a:latin typeface="Trebuchet MS" panose="020B0603020202020204" pitchFamily="34" charset="0"/>
              </a:rPr>
              <a:t>correctness</a:t>
            </a:r>
            <a:endParaRPr lang="en-IN" sz="2000" dirty="0">
              <a:latin typeface="Trebuchet MS" panose="020B0603020202020204" pitchFamily="34" charset="0"/>
            </a:endParaRPr>
          </a:p>
          <a:p>
            <a:pPr marL="268288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IN" sz="2000" dirty="0" smtClean="0">
                <a:latin typeface="Trebuchet MS" panose="020B0603020202020204" pitchFamily="34" charset="0"/>
              </a:rPr>
              <a:t>6) Analysing </a:t>
            </a:r>
            <a:r>
              <a:rPr lang="en-IN" sz="2000" dirty="0">
                <a:latin typeface="Trebuchet MS" panose="020B0603020202020204" pitchFamily="34" charset="0"/>
              </a:rPr>
              <a:t>an </a:t>
            </a:r>
            <a:r>
              <a:rPr lang="en-IN" sz="2000" dirty="0" smtClean="0">
                <a:latin typeface="Trebuchet MS" panose="020B0603020202020204" pitchFamily="34" charset="0"/>
              </a:rPr>
              <a:t>algorithm</a:t>
            </a:r>
            <a:endParaRPr lang="en-IN" sz="2000" dirty="0">
              <a:latin typeface="Trebuchet MS" panose="020B0603020202020204" pitchFamily="34" charset="0"/>
            </a:endParaRPr>
          </a:p>
          <a:p>
            <a:pPr marL="268288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IN" sz="2000" dirty="0" smtClean="0">
                <a:latin typeface="Trebuchet MS" panose="020B0603020202020204" pitchFamily="34" charset="0"/>
              </a:rPr>
              <a:t>7) Coding </a:t>
            </a:r>
            <a:r>
              <a:rPr lang="en-IN" sz="2000" dirty="0">
                <a:latin typeface="Trebuchet MS" panose="020B0603020202020204" pitchFamily="34" charset="0"/>
              </a:rPr>
              <a:t>an </a:t>
            </a:r>
            <a:r>
              <a:rPr lang="en-IN" sz="2000" dirty="0" smtClean="0">
                <a:latin typeface="Trebuchet MS" panose="020B0603020202020204" pitchFamily="34" charset="0"/>
              </a:rPr>
              <a:t>algorithm</a:t>
            </a:r>
            <a:endParaRPr lang="en-IN" sz="2000" dirty="0">
              <a:latin typeface="Trebuchet MS" panose="020B0603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265830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89210" y="86431"/>
            <a:ext cx="6457483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2700" b="1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Designing and analyzing an </a:t>
            </a:r>
            <a:r>
              <a:rPr lang="en-US" sz="2700" b="1" dirty="0" smtClean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algorithm  </a:t>
            </a:r>
            <a:endParaRPr lang="en-IN" sz="2700" b="1" dirty="0">
              <a:solidFill>
                <a:schemeClr val="tx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26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50818" y="672031"/>
            <a:ext cx="5095875" cy="42679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339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245327" y="-81158"/>
            <a:ext cx="6837785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Trebuchet MS" panose="020B0603020202020204" pitchFamily="34" charset="0"/>
              </a:rPr>
              <a:t>1.Understanding the Problem </a:t>
            </a:r>
          </a:p>
        </p:txBody>
      </p:sp>
      <p:sp>
        <p:nvSpPr>
          <p:cNvPr id="2" name="Rectangle 1"/>
          <p:cNvSpPr/>
          <p:nvPr/>
        </p:nvSpPr>
        <p:spPr>
          <a:xfrm>
            <a:off x="367993" y="935322"/>
            <a:ext cx="8129238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4988" indent="-2667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This 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is the first step in 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designing 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of algorithm. </a:t>
            </a:r>
            <a:endParaRPr lang="en-US" sz="2000" dirty="0" smtClean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marL="534988" indent="-2667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Read 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the problem’s description 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carefully to understand the problem statement completely. </a:t>
            </a:r>
            <a:endParaRPr lang="en-US" sz="2000" dirty="0" smtClean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marL="534988" indent="-2667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Ask 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question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s for clarifying the doubts about the problem. </a:t>
            </a:r>
            <a:endParaRPr lang="en-US" sz="2000" dirty="0" smtClean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marL="534988" indent="-2667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Identify 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the problem 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types and use existing algorithm to find solution. </a:t>
            </a:r>
            <a:endParaRPr lang="en-US" sz="2000" dirty="0" smtClean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marL="534988" indent="-2667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I</a:t>
            </a:r>
            <a:r>
              <a:rPr lang="en-US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nput 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(instance) 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to the problem and range of the input get fixed.</a:t>
            </a:r>
            <a:endParaRPr lang="en-IN" sz="200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91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245325" y="-58577"/>
            <a:ext cx="6837785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indent="-177800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Trebuchet MS" panose="020B0603020202020204" pitchFamily="34" charset="0"/>
              </a:rPr>
              <a:t>2. Decision making</a:t>
            </a:r>
          </a:p>
        </p:txBody>
      </p:sp>
      <p:sp>
        <p:nvSpPr>
          <p:cNvPr id="2" name="Rectangle 1"/>
          <p:cNvSpPr/>
          <p:nvPr/>
        </p:nvSpPr>
        <p:spPr>
          <a:xfrm>
            <a:off x="245325" y="709061"/>
            <a:ext cx="861833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>
              <a:lnSpc>
                <a:spcPct val="150000"/>
              </a:lnSpc>
            </a:pPr>
            <a:r>
              <a:rPr lang="en-US" sz="18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The </a:t>
            </a:r>
            <a:r>
              <a:rPr lang="en-US" sz="1800" dirty="0">
                <a:solidFill>
                  <a:schemeClr val="tx1"/>
                </a:solidFill>
                <a:latin typeface="Trebuchet MS" panose="020B0603020202020204" pitchFamily="34" charset="0"/>
              </a:rPr>
              <a:t>Decision making is done on the </a:t>
            </a:r>
            <a:r>
              <a:rPr lang="en-US" sz="18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following</a:t>
            </a:r>
          </a:p>
          <a:p>
            <a:pPr marL="177800" indent="-177800">
              <a:lnSpc>
                <a:spcPct val="150000"/>
              </a:lnSpc>
            </a:pPr>
            <a:r>
              <a:rPr lang="en-US" sz="1800" b="1" u="sng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a) Ascertaining </a:t>
            </a:r>
            <a:r>
              <a:rPr lang="en-US" sz="1800" b="1" u="sng" dirty="0">
                <a:solidFill>
                  <a:srgbClr val="FF0000"/>
                </a:solidFill>
                <a:latin typeface="Trebuchet MS" panose="020B0603020202020204" pitchFamily="34" charset="0"/>
              </a:rPr>
              <a:t>the Capabilities of the Computational Device</a:t>
            </a:r>
          </a:p>
          <a:p>
            <a:pPr marL="534988" indent="-2667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714375" algn="l"/>
              </a:tabLst>
            </a:pPr>
            <a:r>
              <a:rPr lang="en-US" sz="18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In </a:t>
            </a:r>
            <a:r>
              <a:rPr lang="en-US" sz="1800" dirty="0">
                <a:solidFill>
                  <a:schemeClr val="tx1"/>
                </a:solidFill>
                <a:latin typeface="Trebuchet MS" panose="020B0603020202020204" pitchFamily="34" charset="0"/>
              </a:rPr>
              <a:t>random-access machine (RAM), instructions are executed one </a:t>
            </a:r>
            <a:r>
              <a:rPr lang="en-US" sz="18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after another. </a:t>
            </a:r>
            <a:r>
              <a:rPr lang="en-US" sz="1800" dirty="0">
                <a:solidFill>
                  <a:schemeClr val="tx1"/>
                </a:solidFill>
                <a:latin typeface="Trebuchet MS" panose="020B0603020202020204" pitchFamily="34" charset="0"/>
              </a:rPr>
              <a:t>Accordingly, algorithms designed to be executed on such machines are </a:t>
            </a:r>
            <a:r>
              <a:rPr lang="en-US" sz="18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called </a:t>
            </a:r>
            <a:r>
              <a:rPr lang="en-US" sz="1800" b="1" u="sng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sequential algorithms</a:t>
            </a:r>
            <a:r>
              <a:rPr lang="en-US" sz="18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.</a:t>
            </a:r>
          </a:p>
          <a:p>
            <a:pPr marL="534988" indent="-2667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714375" algn="l"/>
              </a:tabLst>
            </a:pPr>
            <a:r>
              <a:rPr lang="en-US" sz="18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In newer </a:t>
            </a:r>
            <a:r>
              <a:rPr lang="en-US" sz="1800" dirty="0">
                <a:solidFill>
                  <a:schemeClr val="tx1"/>
                </a:solidFill>
                <a:latin typeface="Trebuchet MS" panose="020B0603020202020204" pitchFamily="34" charset="0"/>
              </a:rPr>
              <a:t>computers, operations are executed concurrently, i.e., </a:t>
            </a:r>
            <a:r>
              <a:rPr lang="en-US" sz="18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in parallel</a:t>
            </a:r>
            <a:r>
              <a:rPr lang="en-US" sz="1800" dirty="0">
                <a:solidFill>
                  <a:schemeClr val="tx1"/>
                </a:solidFill>
                <a:latin typeface="Trebuchet MS" panose="020B0603020202020204" pitchFamily="34" charset="0"/>
              </a:rPr>
              <a:t>. Algorithms that take advantage of this capability are called </a:t>
            </a:r>
            <a:r>
              <a:rPr lang="en-US" sz="1800" b="1" u="sng" dirty="0">
                <a:solidFill>
                  <a:srgbClr val="0070C0"/>
                </a:solidFill>
                <a:latin typeface="Trebuchet MS" panose="020B0603020202020204" pitchFamily="34" charset="0"/>
              </a:rPr>
              <a:t>parallel </a:t>
            </a:r>
            <a:r>
              <a:rPr lang="en-US" sz="1800" b="1" u="sng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algorithms</a:t>
            </a:r>
            <a:r>
              <a:rPr lang="en-US" sz="18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.</a:t>
            </a:r>
            <a:endParaRPr lang="en-US" sz="1800" dirty="0">
              <a:solidFill>
                <a:srgbClr val="0070C0"/>
              </a:solidFill>
              <a:latin typeface="Trebuchet MS" panose="020B0603020202020204" pitchFamily="34" charset="0"/>
            </a:endParaRPr>
          </a:p>
          <a:p>
            <a:pPr marL="534988" indent="-2667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714375" algn="l"/>
              </a:tabLst>
            </a:pPr>
            <a:r>
              <a:rPr lang="en-US" sz="18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Choice </a:t>
            </a:r>
            <a:r>
              <a:rPr lang="en-US" sz="1800" dirty="0">
                <a:solidFill>
                  <a:schemeClr val="tx1"/>
                </a:solidFill>
                <a:latin typeface="Trebuchet MS" panose="020B0603020202020204" pitchFamily="34" charset="0"/>
              </a:rPr>
              <a:t>of computational devices like Processor and memory is mainly based </a:t>
            </a:r>
            <a:r>
              <a:rPr lang="en-US" sz="18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on space </a:t>
            </a:r>
            <a:r>
              <a:rPr lang="en-US" sz="1800" dirty="0">
                <a:solidFill>
                  <a:schemeClr val="tx1"/>
                </a:solidFill>
                <a:latin typeface="Trebuchet MS" panose="020B0603020202020204" pitchFamily="34" charset="0"/>
              </a:rPr>
              <a:t>and time </a:t>
            </a:r>
            <a:r>
              <a:rPr lang="en-US" sz="18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efficiency.</a:t>
            </a:r>
            <a:endParaRPr lang="en-IN" sz="180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071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245325" y="-47331"/>
            <a:ext cx="6837785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indent="-177800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Trebuchet MS" panose="020B0603020202020204" pitchFamily="34" charset="0"/>
              </a:rPr>
              <a:t>2. Decision </a:t>
            </a:r>
            <a:r>
              <a:rPr lang="en-US" sz="2800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making(</a:t>
            </a:r>
            <a:r>
              <a:rPr lang="en-US" sz="2800" b="1" dirty="0">
                <a:solidFill>
                  <a:schemeClr val="tx1"/>
                </a:solidFill>
                <a:latin typeface="Trebuchet MS" panose="020B0603020202020204" pitchFamily="34" charset="0"/>
              </a:rPr>
              <a:t>C</a:t>
            </a:r>
            <a:r>
              <a:rPr lang="en-US" sz="2800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onti…)</a:t>
            </a:r>
            <a:endParaRPr lang="en-US" sz="2800"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45324" y="783635"/>
            <a:ext cx="872025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u="sng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b) Choosing </a:t>
            </a:r>
            <a:r>
              <a:rPr lang="en-US" sz="2000" b="1" u="sng" dirty="0">
                <a:solidFill>
                  <a:srgbClr val="FF0000"/>
                </a:solidFill>
                <a:latin typeface="Trebuchet MS" panose="020B0603020202020204" pitchFamily="34" charset="0"/>
              </a:rPr>
              <a:t>between Exact and Approximate Problem Solving:</a:t>
            </a:r>
          </a:p>
          <a:p>
            <a:pPr marL="357188" indent="-35718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rebuchet MS" panose="020B0603020202020204" pitchFamily="34" charset="0"/>
              </a:rPr>
              <a:t>The </a:t>
            </a:r>
            <a:r>
              <a:rPr lang="en-US" sz="2000" dirty="0">
                <a:latin typeface="Trebuchet MS" panose="020B0603020202020204" pitchFamily="34" charset="0"/>
              </a:rPr>
              <a:t>next principal decision is to choose between solving the problem exactly </a:t>
            </a:r>
            <a:r>
              <a:rPr lang="en-US" sz="2000" dirty="0" smtClean="0">
                <a:latin typeface="Trebuchet MS" panose="020B0603020202020204" pitchFamily="34" charset="0"/>
              </a:rPr>
              <a:t>or solving </a:t>
            </a:r>
            <a:r>
              <a:rPr lang="en-US" sz="2000" dirty="0">
                <a:latin typeface="Trebuchet MS" panose="020B0603020202020204" pitchFamily="34" charset="0"/>
              </a:rPr>
              <a:t>it approximately.</a:t>
            </a:r>
          </a:p>
          <a:p>
            <a:pPr marL="357188" indent="-35718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rebuchet MS" panose="020B0603020202020204" pitchFamily="34" charset="0"/>
              </a:rPr>
              <a:t>An </a:t>
            </a:r>
            <a:r>
              <a:rPr lang="en-US" sz="2000" dirty="0">
                <a:latin typeface="Trebuchet MS" panose="020B0603020202020204" pitchFamily="34" charset="0"/>
              </a:rPr>
              <a:t>algorithm used to solve the problem exactly and produce correct result </a:t>
            </a:r>
            <a:r>
              <a:rPr lang="en-US" sz="2000" dirty="0" smtClean="0">
                <a:latin typeface="Trebuchet MS" panose="020B0603020202020204" pitchFamily="34" charset="0"/>
              </a:rPr>
              <a:t>is called </a:t>
            </a:r>
            <a:r>
              <a:rPr lang="en-US" sz="2000" dirty="0">
                <a:latin typeface="Trebuchet MS" panose="020B0603020202020204" pitchFamily="34" charset="0"/>
              </a:rPr>
              <a:t>an exact algorithm.</a:t>
            </a:r>
          </a:p>
          <a:p>
            <a:pPr marL="357188" indent="-35718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rebuchet MS" panose="020B0603020202020204" pitchFamily="34" charset="0"/>
              </a:rPr>
              <a:t>If </a:t>
            </a:r>
            <a:r>
              <a:rPr lang="en-US" sz="2000" dirty="0">
                <a:latin typeface="Trebuchet MS" panose="020B0603020202020204" pitchFamily="34" charset="0"/>
              </a:rPr>
              <a:t>the problem is so complex and not able to get exact solution, then we have </a:t>
            </a:r>
            <a:r>
              <a:rPr lang="en-US" sz="2000" dirty="0" smtClean="0">
                <a:latin typeface="Trebuchet MS" panose="020B0603020202020204" pitchFamily="34" charset="0"/>
              </a:rPr>
              <a:t>to choose </a:t>
            </a:r>
            <a:r>
              <a:rPr lang="en-US" sz="2000" dirty="0">
                <a:latin typeface="Trebuchet MS" panose="020B0603020202020204" pitchFamily="34" charset="0"/>
              </a:rPr>
              <a:t>an algorithm called an approximation algorithm. i.e., produces </a:t>
            </a:r>
            <a:r>
              <a:rPr lang="en-US" sz="2000" dirty="0" smtClean="0">
                <a:latin typeface="Trebuchet MS" panose="020B0603020202020204" pitchFamily="34" charset="0"/>
              </a:rPr>
              <a:t>an Approximate </a:t>
            </a:r>
            <a:r>
              <a:rPr lang="en-US" sz="2000" dirty="0">
                <a:latin typeface="Trebuchet MS" panose="020B0603020202020204" pitchFamily="34" charset="0"/>
              </a:rPr>
              <a:t>answer. </a:t>
            </a:r>
            <a:endParaRPr lang="en-US" sz="2000" dirty="0" smtClean="0">
              <a:latin typeface="Trebuchet MS" panose="020B0603020202020204" pitchFamily="34" charset="0"/>
            </a:endParaRPr>
          </a:p>
          <a:p>
            <a:pPr marL="357188" indent="-357188">
              <a:lnSpc>
                <a:spcPct val="150000"/>
              </a:lnSpc>
            </a:pPr>
            <a:r>
              <a:rPr lang="en-US" sz="2000" dirty="0" smtClean="0">
                <a:latin typeface="Trebuchet MS" panose="020B0603020202020204" pitchFamily="34" charset="0"/>
              </a:rPr>
              <a:t>	</a:t>
            </a:r>
            <a:r>
              <a:rPr lang="en-US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E.g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., </a:t>
            </a:r>
            <a:r>
              <a:rPr lang="en-US" sz="2000" dirty="0">
                <a:latin typeface="Trebuchet MS" panose="020B0603020202020204" pitchFamily="34" charset="0"/>
              </a:rPr>
              <a:t>extracting square roots, solving nonlinear </a:t>
            </a:r>
            <a:r>
              <a:rPr lang="en-US" sz="2000" dirty="0" smtClean="0">
                <a:latin typeface="Trebuchet MS" panose="020B0603020202020204" pitchFamily="34" charset="0"/>
              </a:rPr>
              <a:t>equations</a:t>
            </a:r>
            <a:endParaRPr lang="en-IN" sz="2000" dirty="0">
              <a:latin typeface="Trebuchet MS" panose="020B0603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428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0517" y="3055434"/>
            <a:ext cx="5040351" cy="334537"/>
          </a:xfrm>
          <a:prstGeom prst="rect">
            <a:avLst/>
          </a:prstGeom>
          <a:ln>
            <a:solidFill>
              <a:srgbClr val="D335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245325" y="-81158"/>
            <a:ext cx="6837785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indent="-177800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Trebuchet MS" panose="020B0603020202020204" pitchFamily="34" charset="0"/>
              </a:rPr>
              <a:t>2. Decision making(Conti…)</a:t>
            </a:r>
          </a:p>
        </p:txBody>
      </p:sp>
      <p:sp>
        <p:nvSpPr>
          <p:cNvPr id="4" name="Rectangle 3"/>
          <p:cNvSpPr/>
          <p:nvPr/>
        </p:nvSpPr>
        <p:spPr>
          <a:xfrm>
            <a:off x="245325" y="663901"/>
            <a:ext cx="8263055" cy="4190827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u="sng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c) Algorithm </a:t>
            </a:r>
            <a:r>
              <a:rPr lang="en-US" sz="2000" b="1" u="sng" dirty="0">
                <a:solidFill>
                  <a:srgbClr val="FF0000"/>
                </a:solidFill>
                <a:latin typeface="Trebuchet MS" panose="020B0603020202020204" pitchFamily="34" charset="0"/>
              </a:rPr>
              <a:t>Design Techniques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An </a:t>
            </a:r>
            <a:r>
              <a:rPr lang="en-US" sz="2000" b="1" dirty="0">
                <a:solidFill>
                  <a:srgbClr val="0070C0"/>
                </a:solidFill>
                <a:latin typeface="Trebuchet MS" panose="020B0603020202020204" pitchFamily="34" charset="0"/>
              </a:rPr>
              <a:t>algorithm design technique 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(or “strategy” or “paradigm”) is a </a:t>
            </a: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general approach 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to solving problems algorithmically that is applicable to a </a:t>
            </a: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variety of 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problems from different areas of computing</a:t>
            </a: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	Algorithms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+ Data Structures =Programs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Though 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Algorithms and Data Structures are independent, but they </a:t>
            </a: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are combined 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together to develop program. Hence the choice of proper </a:t>
            </a: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data structure 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is required before designing the algorithm</a:t>
            </a: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.</a:t>
            </a:r>
            <a:endParaRPr lang="en-IN" sz="2000" dirty="0">
              <a:latin typeface="Trebuchet MS" panose="020B0603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5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3450" y="148588"/>
            <a:ext cx="14954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159981" y="-81158"/>
            <a:ext cx="6837785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indent="-177800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Trebuchet MS" panose="020B0603020202020204" pitchFamily="34" charset="0"/>
              </a:rPr>
              <a:t>2. Decision making(Conti…)</a:t>
            </a:r>
          </a:p>
        </p:txBody>
      </p:sp>
      <p:sp>
        <p:nvSpPr>
          <p:cNvPr id="4" name="Rectangle 3"/>
          <p:cNvSpPr/>
          <p:nvPr/>
        </p:nvSpPr>
        <p:spPr>
          <a:xfrm>
            <a:off x="346199" y="917397"/>
            <a:ext cx="800660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u="sng" dirty="0">
                <a:solidFill>
                  <a:srgbClr val="FF0000"/>
                </a:solidFill>
                <a:latin typeface="Trebuchet MS" panose="020B0603020202020204" pitchFamily="34" charset="0"/>
              </a:rPr>
              <a:t>c</a:t>
            </a:r>
            <a:r>
              <a:rPr lang="en-US" sz="2000" b="1" u="sng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) Algorithm </a:t>
            </a:r>
            <a:r>
              <a:rPr lang="en-US" sz="2000" b="1" u="sng" dirty="0">
                <a:solidFill>
                  <a:srgbClr val="FF0000"/>
                </a:solidFill>
                <a:latin typeface="Trebuchet MS" panose="020B0603020202020204" pitchFamily="34" charset="0"/>
              </a:rPr>
              <a:t>Design </a:t>
            </a:r>
            <a:r>
              <a:rPr lang="en-US" sz="2000" b="1" u="sng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Techniques(Conti…)</a:t>
            </a:r>
            <a:endParaRPr lang="en-US" sz="2000" b="1" u="sng" dirty="0">
              <a:solidFill>
                <a:srgbClr val="FF0000"/>
              </a:solidFill>
              <a:latin typeface="Trebuchet MS" panose="020B0603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Implementation</a:t>
            </a:r>
            <a:r>
              <a:rPr lang="en-US" sz="20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of algorithm is possible only with the help of Algorithms and Data Structures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Algorithmic </a:t>
            </a:r>
            <a:r>
              <a:rPr lang="en-US" sz="2000" b="1" dirty="0">
                <a:solidFill>
                  <a:srgbClr val="0070C0"/>
                </a:solidFill>
                <a:latin typeface="Trebuchet MS" panose="020B0603020202020204" pitchFamily="34" charset="0"/>
              </a:rPr>
              <a:t>strategy / technique / paradigm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 are a general approach by which many problems can be solved algorithmically.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E.g., </a:t>
            </a:r>
            <a:r>
              <a:rPr lang="en-US" sz="2000" dirty="0">
                <a:solidFill>
                  <a:schemeClr val="tx1"/>
                </a:solidFill>
                <a:latin typeface="Trebuchet MS" panose="020B0603020202020204" pitchFamily="34" charset="0"/>
              </a:rPr>
              <a:t>Brute Force, Divide and Conquer, Dynamic Programming, Greedy Technique and soon</a:t>
            </a:r>
            <a:r>
              <a:rPr lang="en-US" sz="2000" dirty="0">
                <a:latin typeface="Trebuchet MS" panose="020B0603020202020204" pitchFamily="34" charset="0"/>
              </a:rPr>
              <a:t>.</a:t>
            </a:r>
            <a:endParaRPr lang="en-IN" sz="20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230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4739" y="-81158"/>
            <a:ext cx="6816698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indent="-177800">
              <a:lnSpc>
                <a:spcPct val="150000"/>
              </a:lnSpc>
            </a:pPr>
            <a:r>
              <a:rPr lang="en-US" sz="2400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3.Designing </a:t>
            </a:r>
            <a:r>
              <a:rPr lang="en-US" sz="2400" b="1" dirty="0">
                <a:solidFill>
                  <a:schemeClr val="tx1"/>
                </a:solidFill>
                <a:latin typeface="Trebuchet MS" panose="020B0603020202020204" pitchFamily="34" charset="0"/>
              </a:rPr>
              <a:t>an Algorithm and Data Structures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90267" y="1171687"/>
            <a:ext cx="8006602" cy="456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800" b="1" u="sng" dirty="0" smtClean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2312" y="858685"/>
            <a:ext cx="8566563" cy="41503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rebuchet MS" panose="020B0603020202020204" pitchFamily="34" charset="0"/>
              </a:rPr>
              <a:t>After deciding the design techniques, we need to decide the approaches. </a:t>
            </a:r>
            <a:r>
              <a:rPr lang="en-US" sz="2000" dirty="0">
                <a:latin typeface="Trebuchet MS" panose="020B0603020202020204" pitchFamily="34" charset="0"/>
              </a:rPr>
              <a:t>There are </a:t>
            </a:r>
            <a:r>
              <a:rPr lang="en-US" sz="2000" dirty="0">
                <a:solidFill>
                  <a:srgbClr val="FF0000"/>
                </a:solidFill>
                <a:latin typeface="Trebuchet MS" panose="020B0603020202020204" pitchFamily="34" charset="0"/>
              </a:rPr>
              <a:t>two approaches for designing an algorithm</a:t>
            </a:r>
            <a:r>
              <a:rPr lang="en-US" sz="2000" dirty="0">
                <a:latin typeface="Trebuchet MS" panose="020B0603020202020204" pitchFamily="34" charset="0"/>
              </a:rPr>
              <a:t>. </a:t>
            </a:r>
            <a:r>
              <a:rPr lang="en-US" sz="2000" dirty="0" smtClean="0">
                <a:latin typeface="Trebuchet MS" panose="020B0603020202020204" pitchFamily="34" charset="0"/>
              </a:rPr>
              <a:t>These </a:t>
            </a:r>
            <a:r>
              <a:rPr lang="en-US" sz="2000" dirty="0">
                <a:latin typeface="Trebuchet MS" panose="020B0603020202020204" pitchFamily="34" charset="0"/>
              </a:rPr>
              <a:t>approaches include </a:t>
            </a:r>
          </a:p>
          <a:p>
            <a:pPr marL="714375" lvl="1" indent="-357188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rebuchet MS" panose="020B0603020202020204" pitchFamily="34" charset="0"/>
              </a:rPr>
              <a:t>Top-Down </a:t>
            </a:r>
            <a:r>
              <a:rPr lang="en-US" sz="2000" dirty="0">
                <a:latin typeface="Trebuchet MS" panose="020B0603020202020204" pitchFamily="34" charset="0"/>
              </a:rPr>
              <a:t>Approach </a:t>
            </a:r>
          </a:p>
          <a:p>
            <a:pPr marL="714375" lvl="1" indent="-357188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rebuchet MS" panose="020B0603020202020204" pitchFamily="34" charset="0"/>
              </a:rPr>
              <a:t>Bottom-up approach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Top-Down Approach: </a:t>
            </a:r>
            <a:r>
              <a:rPr lang="en-US" sz="2000" dirty="0">
                <a:latin typeface="Trebuchet MS" panose="020B0603020202020204" pitchFamily="34" charset="0"/>
              </a:rPr>
              <a:t>In the top-down approach, a large problem is divided into small sub-problem. and </a:t>
            </a:r>
            <a:r>
              <a:rPr lang="en-US" sz="2000" dirty="0" smtClean="0">
                <a:latin typeface="Trebuchet MS" panose="020B0603020202020204" pitchFamily="34" charset="0"/>
              </a:rPr>
              <a:t>keep </a:t>
            </a:r>
            <a:r>
              <a:rPr lang="en-US" sz="2000" dirty="0">
                <a:latin typeface="Trebuchet MS" panose="020B0603020202020204" pitchFamily="34" charset="0"/>
              </a:rPr>
              <a:t>repeating the process of decomposing problems until the complex problem is solved</a:t>
            </a:r>
            <a:r>
              <a:rPr lang="en-US" sz="2000" dirty="0" smtClean="0">
                <a:latin typeface="Trebuchet MS" panose="020B060302020202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Trebuchet MS" panose="020B0603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175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100361" y="-81158"/>
            <a:ext cx="8296508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indent="-177800">
              <a:lnSpc>
                <a:spcPct val="150000"/>
              </a:lnSpc>
            </a:pPr>
            <a:r>
              <a:rPr lang="en-US" sz="2400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3.Designing </a:t>
            </a:r>
            <a:r>
              <a:rPr lang="en-US" sz="2400" b="1" dirty="0">
                <a:solidFill>
                  <a:schemeClr val="tx1"/>
                </a:solidFill>
                <a:latin typeface="Trebuchet MS" panose="020B0603020202020204" pitchFamily="34" charset="0"/>
              </a:rPr>
              <a:t>an Algorithm and Data Structures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90267" y="1171687"/>
            <a:ext cx="8006602" cy="456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800" b="1" u="sng" dirty="0" smtClean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4358" y="561818"/>
            <a:ext cx="8949642" cy="456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Trebuchet MS" panose="020B0603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6270" y="714356"/>
            <a:ext cx="8100599" cy="4190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Bottom-up approach: </a:t>
            </a:r>
            <a:r>
              <a:rPr lang="en-US" sz="2000" dirty="0">
                <a:latin typeface="Trebuchet MS" panose="020B0603020202020204" pitchFamily="34" charset="0"/>
              </a:rPr>
              <a:t>The bottom-up approach is also known as the reverse of top-down approaches. In approach different, part of a complex program is solved using a programming language and then this is combined into a complete program.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rebuchet MS" panose="020B0603020202020204" pitchFamily="34" charset="0"/>
              </a:rPr>
              <a:t>Methods of Specifying an Algorithm is also required. Those methods are,</a:t>
            </a:r>
          </a:p>
          <a:p>
            <a:pPr marL="623888" lvl="1" indent="-2667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rebuchet MS" panose="020B0603020202020204" pitchFamily="34" charset="0"/>
              </a:rPr>
              <a:t>Natural language like </a:t>
            </a:r>
            <a:r>
              <a:rPr lang="en-US" sz="20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English</a:t>
            </a:r>
            <a:endParaRPr lang="en-US" sz="2000" dirty="0">
              <a:solidFill>
                <a:srgbClr val="FF0000"/>
              </a:solidFill>
              <a:latin typeface="Trebuchet MS" panose="020B0603020202020204" pitchFamily="34" charset="0"/>
            </a:endParaRPr>
          </a:p>
          <a:p>
            <a:pPr marL="623888" lvl="1" indent="-2667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rebuchet MS" panose="020B0603020202020204" pitchFamily="34" charset="0"/>
              </a:rPr>
              <a:t>Graphic representation called </a:t>
            </a:r>
            <a:r>
              <a:rPr lang="en-US" sz="20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flowchart</a:t>
            </a:r>
            <a:endParaRPr lang="en-US" sz="2000" dirty="0">
              <a:solidFill>
                <a:srgbClr val="FF0000"/>
              </a:solidFill>
              <a:latin typeface="Trebuchet MS" panose="020B0603020202020204" pitchFamily="34" charset="0"/>
            </a:endParaRPr>
          </a:p>
          <a:p>
            <a:pPr marL="623888" lvl="1" indent="-2667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Trebuchet MS" panose="020B0603020202020204" pitchFamily="34" charset="0"/>
              </a:rPr>
              <a:t>Pseudo-code </a:t>
            </a:r>
            <a:r>
              <a:rPr lang="en-US" sz="20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Method</a:t>
            </a:r>
            <a:endParaRPr lang="en-US" sz="2000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373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194358" y="-81158"/>
            <a:ext cx="8202511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indent="-177800">
              <a:lnSpc>
                <a:spcPct val="150000"/>
              </a:lnSpc>
            </a:pPr>
            <a:r>
              <a:rPr lang="en-US" sz="2800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4. Proving </a:t>
            </a:r>
            <a:r>
              <a:rPr lang="en-US" sz="2800" b="1" dirty="0">
                <a:solidFill>
                  <a:schemeClr val="tx1"/>
                </a:solidFill>
                <a:latin typeface="Trebuchet MS" panose="020B0603020202020204" pitchFamily="34" charset="0"/>
              </a:rPr>
              <a:t>an Algorithm’s Correctness </a:t>
            </a:r>
          </a:p>
        </p:txBody>
      </p:sp>
      <p:sp>
        <p:nvSpPr>
          <p:cNvPr id="4" name="Rectangle 3"/>
          <p:cNvSpPr/>
          <p:nvPr/>
        </p:nvSpPr>
        <p:spPr>
          <a:xfrm>
            <a:off x="390267" y="1171687"/>
            <a:ext cx="8006602" cy="456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800" b="1" u="sng" dirty="0" smtClean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4358" y="561818"/>
            <a:ext cx="8949642" cy="456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Trebuchet MS" panose="020B06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6677" y="1074386"/>
            <a:ext cx="8301364" cy="3267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rebuchet MS" panose="020B0603020202020204" pitchFamily="34" charset="0"/>
              </a:rPr>
              <a:t>Once </a:t>
            </a:r>
            <a:r>
              <a:rPr lang="en-US" sz="2000" dirty="0">
                <a:latin typeface="Trebuchet MS" panose="020B0603020202020204" pitchFamily="34" charset="0"/>
              </a:rPr>
              <a:t>an algorithm has been specified then its 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correctness must be proved. </a:t>
            </a:r>
            <a:endParaRPr lang="en-US" sz="2000" dirty="0" smtClean="0">
              <a:solidFill>
                <a:srgbClr val="0070C0"/>
              </a:solidFill>
              <a:latin typeface="Trebuchet MS" panose="020B0603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rebuchet MS" panose="020B0603020202020204" pitchFamily="34" charset="0"/>
              </a:rPr>
              <a:t>An </a:t>
            </a:r>
            <a:r>
              <a:rPr lang="en-US" sz="2000" dirty="0">
                <a:latin typeface="Trebuchet MS" panose="020B0603020202020204" pitchFamily="34" charset="0"/>
              </a:rPr>
              <a:t>algorithm 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must yield a required result </a:t>
            </a:r>
            <a:r>
              <a:rPr lang="en-US" sz="2000" dirty="0">
                <a:latin typeface="Trebuchet MS" panose="020B0603020202020204" pitchFamily="34" charset="0"/>
              </a:rPr>
              <a:t>for every legitimate input in a finite amount of time. </a:t>
            </a:r>
            <a:endParaRPr lang="en-US" sz="2000" dirty="0" smtClean="0">
              <a:latin typeface="Trebuchet MS" panose="020B0603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For 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Example</a:t>
            </a:r>
            <a:r>
              <a:rPr lang="en-US" sz="2000" dirty="0">
                <a:latin typeface="Trebuchet MS" panose="020B0603020202020204" pitchFamily="34" charset="0"/>
              </a:rPr>
              <a:t>, the correctness of Euclid’s algorithm for computing the greatest common divisor stems from the correctness of the equality </a:t>
            </a:r>
            <a:r>
              <a:rPr lang="en-US" sz="2000" dirty="0" err="1">
                <a:latin typeface="Trebuchet MS" panose="020B0603020202020204" pitchFamily="34" charset="0"/>
              </a:rPr>
              <a:t>gcd</a:t>
            </a:r>
            <a:r>
              <a:rPr lang="en-US" sz="2000" dirty="0">
                <a:latin typeface="Trebuchet MS" panose="020B0603020202020204" pitchFamily="34" charset="0"/>
              </a:rPr>
              <a:t>(m, n) = </a:t>
            </a:r>
            <a:r>
              <a:rPr lang="en-US" sz="2000" dirty="0" err="1">
                <a:latin typeface="Trebuchet MS" panose="020B0603020202020204" pitchFamily="34" charset="0"/>
              </a:rPr>
              <a:t>gcd</a:t>
            </a:r>
            <a:r>
              <a:rPr lang="en-US" sz="2000" dirty="0">
                <a:latin typeface="Trebuchet MS" panose="020B0603020202020204" pitchFamily="34" charset="0"/>
              </a:rPr>
              <a:t>(n, m </a:t>
            </a:r>
            <a:r>
              <a:rPr lang="en-US" sz="2000" dirty="0" smtClean="0">
                <a:latin typeface="Trebuchet MS" panose="020B0603020202020204" pitchFamily="34" charset="0"/>
              </a:rPr>
              <a:t>mod n).</a:t>
            </a:r>
            <a:endParaRPr lang="en-US" sz="2000" dirty="0">
              <a:latin typeface="Trebuchet MS" panose="020B0603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143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194358" y="-81158"/>
            <a:ext cx="8202511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indent="-177800">
              <a:lnSpc>
                <a:spcPct val="150000"/>
              </a:lnSpc>
            </a:pPr>
            <a:r>
              <a:rPr lang="en-US" sz="2800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4. Proving </a:t>
            </a:r>
            <a:r>
              <a:rPr lang="en-US" sz="2800" b="1" dirty="0">
                <a:solidFill>
                  <a:schemeClr val="tx1"/>
                </a:solidFill>
                <a:latin typeface="Trebuchet MS" panose="020B0603020202020204" pitchFamily="34" charset="0"/>
              </a:rPr>
              <a:t>an Algorithm’s Correctness </a:t>
            </a:r>
          </a:p>
        </p:txBody>
      </p:sp>
      <p:sp>
        <p:nvSpPr>
          <p:cNvPr id="4" name="Rectangle 3"/>
          <p:cNvSpPr/>
          <p:nvPr/>
        </p:nvSpPr>
        <p:spPr>
          <a:xfrm>
            <a:off x="390267" y="1171687"/>
            <a:ext cx="8006602" cy="456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800" b="1" u="sng" dirty="0" smtClean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4358" y="561818"/>
            <a:ext cx="8949642" cy="456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Trebuchet MS" panose="020B06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855" y="1171687"/>
            <a:ext cx="7725426" cy="3267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rebuchet MS" panose="020B0603020202020204" pitchFamily="34" charset="0"/>
              </a:rPr>
              <a:t> </a:t>
            </a:r>
            <a:r>
              <a:rPr lang="en-US" sz="2000" dirty="0">
                <a:latin typeface="Trebuchet MS" panose="020B0603020202020204" pitchFamily="34" charset="0"/>
              </a:rPr>
              <a:t>A common technique for proving correctness is to use </a:t>
            </a:r>
            <a:r>
              <a:rPr lang="en-US" sz="2000" b="1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mathematical induction </a:t>
            </a:r>
            <a:r>
              <a:rPr lang="en-US" sz="2000" dirty="0">
                <a:latin typeface="Trebuchet MS" panose="020B0603020202020204" pitchFamily="34" charset="0"/>
              </a:rPr>
              <a:t>because an algorithm’s iterations provide a natural </a:t>
            </a:r>
            <a:r>
              <a:rPr lang="en-US" sz="2000" dirty="0" smtClean="0">
                <a:latin typeface="Trebuchet MS" panose="020B0603020202020204" pitchFamily="34" charset="0"/>
              </a:rPr>
              <a:t>sequence of steps </a:t>
            </a:r>
            <a:r>
              <a:rPr lang="en-US" sz="2000" dirty="0">
                <a:latin typeface="Trebuchet MS" panose="020B0603020202020204" pitchFamily="34" charset="0"/>
              </a:rPr>
              <a:t>needed for such proofs.</a:t>
            </a:r>
          </a:p>
          <a:p>
            <a:pPr marL="265113" indent="-26511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rebuchet MS" panose="020B0603020202020204" pitchFamily="34" charset="0"/>
              </a:rPr>
              <a:t>The </a:t>
            </a:r>
            <a:r>
              <a:rPr lang="en-US" sz="2000" dirty="0">
                <a:latin typeface="Trebuchet MS" panose="020B0603020202020204" pitchFamily="34" charset="0"/>
              </a:rPr>
              <a:t>notion of correctness for approximation algorithms is </a:t>
            </a:r>
            <a:r>
              <a:rPr lang="en-US" sz="2000" dirty="0" smtClean="0">
                <a:latin typeface="Trebuchet MS" panose="020B0603020202020204" pitchFamily="34" charset="0"/>
              </a:rPr>
              <a:t>less straightforward </a:t>
            </a:r>
            <a:r>
              <a:rPr lang="en-US" sz="2000" dirty="0">
                <a:latin typeface="Trebuchet MS" panose="020B0603020202020204" pitchFamily="34" charset="0"/>
              </a:rPr>
              <a:t>than it is for exact algorithms. </a:t>
            </a:r>
            <a:endParaRPr lang="en-US" sz="2000" dirty="0" smtClean="0">
              <a:latin typeface="Trebuchet MS" panose="020B0603020202020204" pitchFamily="34" charset="0"/>
            </a:endParaRPr>
          </a:p>
          <a:p>
            <a:pPr marL="265113" indent="-26511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rebuchet MS" panose="020B0603020202020204" pitchFamily="34" charset="0"/>
              </a:rPr>
              <a:t>The </a:t>
            </a:r>
            <a:r>
              <a:rPr lang="en-US" sz="2000" b="1" dirty="0">
                <a:solidFill>
                  <a:srgbClr val="FF0000"/>
                </a:solidFill>
                <a:latin typeface="Trebuchet MS" panose="020B0603020202020204" pitchFamily="34" charset="0"/>
              </a:rPr>
              <a:t>error</a:t>
            </a:r>
            <a:r>
              <a:rPr lang="en-US" sz="2000" dirty="0">
                <a:latin typeface="Trebuchet MS" panose="020B0603020202020204" pitchFamily="34" charset="0"/>
              </a:rPr>
              <a:t> produced by </a:t>
            </a:r>
            <a:r>
              <a:rPr lang="en-US" sz="2000" dirty="0" smtClean="0">
                <a:latin typeface="Trebuchet MS" panose="020B0603020202020204" pitchFamily="34" charset="0"/>
              </a:rPr>
              <a:t>the algorithm </a:t>
            </a:r>
            <a:r>
              <a:rPr lang="en-US" sz="2000" dirty="0">
                <a:latin typeface="Trebuchet MS" panose="020B0603020202020204" pitchFamily="34" charset="0"/>
              </a:rPr>
              <a:t>should not exceed a predefined limit.</a:t>
            </a:r>
            <a:endParaRPr lang="en-IN" sz="2000" dirty="0">
              <a:latin typeface="Trebuchet MS" panose="020B0603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46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4750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194358" y="-81158"/>
            <a:ext cx="4823691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indent="-177800">
              <a:lnSpc>
                <a:spcPct val="150000"/>
              </a:lnSpc>
            </a:pPr>
            <a:r>
              <a:rPr lang="en-US" sz="2800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5. </a:t>
            </a:r>
            <a:r>
              <a:rPr lang="en-US" sz="2800" b="1" dirty="0">
                <a:solidFill>
                  <a:schemeClr val="tx1"/>
                </a:solidFill>
                <a:latin typeface="Trebuchet MS" panose="020B0603020202020204" pitchFamily="34" charset="0"/>
              </a:rPr>
              <a:t>Analyzing an </a:t>
            </a:r>
            <a:r>
              <a:rPr lang="en-US" sz="2800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Algorithm</a:t>
            </a:r>
            <a:endParaRPr lang="en-US" sz="2800"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0267" y="1171687"/>
            <a:ext cx="8006602" cy="456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800" b="1" u="sng" dirty="0" smtClean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4358" y="561818"/>
            <a:ext cx="8949642" cy="456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Trebuchet MS" panose="020B06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5480" y="802270"/>
            <a:ext cx="7778765" cy="3729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rebuchet MS" panose="020B0603020202020204" pitchFamily="34" charset="0"/>
              </a:rPr>
              <a:t>For </a:t>
            </a:r>
            <a:r>
              <a:rPr lang="en-US" sz="2000" dirty="0">
                <a:latin typeface="Trebuchet MS" panose="020B0603020202020204" pitchFamily="34" charset="0"/>
              </a:rPr>
              <a:t>an algorithm the most important is </a:t>
            </a:r>
            <a:r>
              <a:rPr lang="en-US" sz="2000" dirty="0">
                <a:solidFill>
                  <a:srgbClr val="FF0000"/>
                </a:solidFill>
                <a:latin typeface="Trebuchet MS" panose="020B0603020202020204" pitchFamily="34" charset="0"/>
              </a:rPr>
              <a:t>efficiency</a:t>
            </a:r>
            <a:r>
              <a:rPr lang="en-US" sz="2000" dirty="0">
                <a:latin typeface="Trebuchet MS" panose="020B0603020202020204" pitchFamily="34" charset="0"/>
              </a:rPr>
              <a:t>. In fact, there are </a:t>
            </a:r>
            <a:r>
              <a:rPr lang="en-US" sz="20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two kinds </a:t>
            </a:r>
            <a:r>
              <a:rPr lang="en-US" sz="2000" dirty="0">
                <a:latin typeface="Trebuchet MS" panose="020B0603020202020204" pitchFamily="34" charset="0"/>
              </a:rPr>
              <a:t>of algorithm efficiency.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rebuchet MS" panose="020B0603020202020204" pitchFamily="34" charset="0"/>
              </a:rPr>
              <a:t>They are:</a:t>
            </a:r>
          </a:p>
          <a:p>
            <a:pPr marL="714375" indent="-357188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Time 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efficiency</a:t>
            </a:r>
            <a:r>
              <a:rPr lang="en-US" sz="2000" dirty="0">
                <a:latin typeface="Trebuchet MS" panose="020B0603020202020204" pitchFamily="34" charset="0"/>
              </a:rPr>
              <a:t>, indicating how fast the algorithm </a:t>
            </a:r>
            <a:r>
              <a:rPr lang="en-US" sz="2000" dirty="0" smtClean="0">
                <a:latin typeface="Trebuchet MS" panose="020B0603020202020204" pitchFamily="34" charset="0"/>
              </a:rPr>
              <a:t>runs.</a:t>
            </a:r>
          </a:p>
          <a:p>
            <a:pPr marL="714375" indent="-357188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Space 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efficiency</a:t>
            </a:r>
            <a:r>
              <a:rPr lang="en-US" sz="2000" dirty="0">
                <a:latin typeface="Trebuchet MS" panose="020B0603020202020204" pitchFamily="34" charset="0"/>
              </a:rPr>
              <a:t>, indicating how much extra memory it uses.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rebuchet MS" panose="020B0603020202020204" pitchFamily="34" charset="0"/>
              </a:rPr>
              <a:t>The </a:t>
            </a:r>
            <a:r>
              <a:rPr lang="en-US" sz="2000" dirty="0">
                <a:latin typeface="Trebuchet MS" panose="020B0603020202020204" pitchFamily="34" charset="0"/>
              </a:rPr>
              <a:t>efficiency of an algorithm is determined by measuring both </a:t>
            </a:r>
            <a:r>
              <a:rPr lang="en-US" sz="2000" dirty="0" smtClean="0">
                <a:latin typeface="Trebuchet MS" panose="020B0603020202020204" pitchFamily="34" charset="0"/>
              </a:rPr>
              <a:t>time efficiency </a:t>
            </a:r>
            <a:r>
              <a:rPr lang="en-US" sz="2000" dirty="0">
                <a:latin typeface="Trebuchet MS" panose="020B0603020202020204" pitchFamily="34" charset="0"/>
              </a:rPr>
              <a:t>and space efficiency</a:t>
            </a:r>
            <a:r>
              <a:rPr lang="en-US" sz="2000" dirty="0" smtClean="0">
                <a:latin typeface="Trebuchet MS" panose="020B0603020202020204" pitchFamily="34" charset="0"/>
              </a:rPr>
              <a:t>.</a:t>
            </a:r>
            <a:endParaRPr lang="en-US" sz="2000" dirty="0">
              <a:latin typeface="Trebuchet MS" panose="020B0603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933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0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390267" y="-81158"/>
            <a:ext cx="8006602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indent="-177800">
              <a:lnSpc>
                <a:spcPct val="150000"/>
              </a:lnSpc>
            </a:pPr>
            <a:r>
              <a:rPr lang="en-US" sz="2800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5. </a:t>
            </a:r>
            <a:r>
              <a:rPr lang="en-US" sz="2800" b="1" dirty="0">
                <a:solidFill>
                  <a:schemeClr val="tx1"/>
                </a:solidFill>
                <a:latin typeface="Trebuchet MS" panose="020B0603020202020204" pitchFamily="34" charset="0"/>
              </a:rPr>
              <a:t>Analyzing an </a:t>
            </a:r>
            <a:r>
              <a:rPr lang="en-US" sz="2800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Algorithm</a:t>
            </a:r>
            <a:endParaRPr lang="en-US" sz="2800"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0267" y="1171687"/>
            <a:ext cx="8006602" cy="456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800" b="1" u="sng" dirty="0" smtClean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4358" y="561818"/>
            <a:ext cx="8949642" cy="456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Trebuchet MS" panose="020B06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4185" y="1166937"/>
            <a:ext cx="7778765" cy="3075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rebuchet MS" panose="020B0603020202020204" pitchFamily="34" charset="0"/>
              </a:rPr>
              <a:t>So 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factors to analy</a:t>
            </a:r>
            <a:r>
              <a:rPr lang="en-US" sz="2000" dirty="0">
                <a:latin typeface="Trebuchet MS" panose="020B0603020202020204" pitchFamily="34" charset="0"/>
              </a:rPr>
              <a:t>ze an algorithm are:</a:t>
            </a:r>
          </a:p>
          <a:p>
            <a:pPr marL="714375" indent="-357188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rebuchet MS" panose="020B0603020202020204" pitchFamily="34" charset="0"/>
              </a:rPr>
              <a:t>Time efficiency of an algorithm</a:t>
            </a:r>
          </a:p>
          <a:p>
            <a:pPr marL="714375" indent="-357188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rebuchet MS" panose="020B0603020202020204" pitchFamily="34" charset="0"/>
              </a:rPr>
              <a:t>Space efficiency of an algorithm</a:t>
            </a:r>
          </a:p>
          <a:p>
            <a:pPr marL="714375" indent="-357188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rebuchet MS" panose="020B0603020202020204" pitchFamily="34" charset="0"/>
              </a:rPr>
              <a:t>Simplicity of an algorithm</a:t>
            </a:r>
          </a:p>
          <a:p>
            <a:pPr marL="714375" indent="-357188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rebuchet MS" panose="020B0603020202020204" pitchFamily="34" charset="0"/>
              </a:rPr>
              <a:t>Generality of an algorithm</a:t>
            </a:r>
            <a:endParaRPr lang="en-IN" sz="2000" dirty="0">
              <a:latin typeface="Trebuchet MS" panose="020B0603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886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" y="0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194358" y="-81158"/>
            <a:ext cx="8202511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indent="-177800">
              <a:lnSpc>
                <a:spcPct val="150000"/>
              </a:lnSpc>
            </a:pPr>
            <a:r>
              <a:rPr lang="en-US" sz="2800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6. </a:t>
            </a:r>
            <a:r>
              <a:rPr lang="en-US" sz="2800" b="1" dirty="0">
                <a:solidFill>
                  <a:schemeClr val="tx1"/>
                </a:solidFill>
                <a:latin typeface="Trebuchet MS" panose="020B0603020202020204" pitchFamily="34" charset="0"/>
              </a:rPr>
              <a:t>Coding an </a:t>
            </a:r>
            <a:r>
              <a:rPr lang="en-US" sz="2800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Algorithm</a:t>
            </a:r>
            <a:endParaRPr lang="en-US" sz="2800"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0267" y="1171687"/>
            <a:ext cx="8006602" cy="456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800" b="1" u="sng" dirty="0" smtClean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4358" y="561818"/>
            <a:ext cx="8949642" cy="456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Trebuchet MS" panose="020B06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4358" y="846055"/>
            <a:ext cx="847339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rebuchet MS" panose="020B0603020202020204" pitchFamily="34" charset="0"/>
              </a:rPr>
              <a:t>The 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coding / implementation </a:t>
            </a:r>
            <a:r>
              <a:rPr lang="en-US" sz="2000" dirty="0">
                <a:latin typeface="Trebuchet MS" panose="020B0603020202020204" pitchFamily="34" charset="0"/>
              </a:rPr>
              <a:t>of an algorithm is done by a </a:t>
            </a:r>
            <a:r>
              <a:rPr lang="en-US" sz="2000" dirty="0" smtClean="0">
                <a:latin typeface="Trebuchet MS" panose="020B0603020202020204" pitchFamily="34" charset="0"/>
              </a:rPr>
              <a:t>suitable programming </a:t>
            </a:r>
            <a:r>
              <a:rPr lang="en-US" sz="2000" dirty="0">
                <a:latin typeface="Trebuchet MS" panose="020B0603020202020204" pitchFamily="34" charset="0"/>
              </a:rPr>
              <a:t>language like </a:t>
            </a:r>
            <a:r>
              <a:rPr lang="en-US" sz="2000" dirty="0">
                <a:solidFill>
                  <a:srgbClr val="EB2546"/>
                </a:solidFill>
                <a:latin typeface="Trebuchet MS" panose="020B0603020202020204" pitchFamily="34" charset="0"/>
              </a:rPr>
              <a:t>C, C</a:t>
            </a:r>
            <a:r>
              <a:rPr lang="en-US" sz="2000" dirty="0" smtClean="0">
                <a:solidFill>
                  <a:srgbClr val="EB2546"/>
                </a:solidFill>
                <a:latin typeface="Trebuchet MS" panose="020B0603020202020204" pitchFamily="34" charset="0"/>
              </a:rPr>
              <a:t>++,etc.</a:t>
            </a:r>
            <a:endParaRPr lang="en-US" sz="2000" dirty="0">
              <a:solidFill>
                <a:srgbClr val="EB2546"/>
              </a:solidFill>
              <a:latin typeface="Trebuchet MS" panose="020B0603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rebuchet MS" panose="020B0603020202020204" pitchFamily="34" charset="0"/>
              </a:rPr>
              <a:t>The </a:t>
            </a:r>
            <a:r>
              <a:rPr lang="en-US" sz="2000" dirty="0">
                <a:latin typeface="Trebuchet MS" panose="020B0603020202020204" pitchFamily="34" charset="0"/>
              </a:rPr>
              <a:t>transition from an algorithm to a program can be done either </a:t>
            </a:r>
            <a:r>
              <a:rPr lang="en-US" sz="2000" dirty="0" smtClean="0">
                <a:latin typeface="Trebuchet MS" panose="020B0603020202020204" pitchFamily="34" charset="0"/>
              </a:rPr>
              <a:t>incorrectly or </a:t>
            </a:r>
            <a:r>
              <a:rPr lang="en-US" sz="2000" dirty="0">
                <a:latin typeface="Trebuchet MS" panose="020B0603020202020204" pitchFamily="34" charset="0"/>
              </a:rPr>
              <a:t>very inefficiently. Implementing an algorithm correctly is necessary. </a:t>
            </a:r>
            <a:r>
              <a:rPr lang="en-US" sz="2000" dirty="0" smtClean="0">
                <a:latin typeface="Trebuchet MS" panose="020B0603020202020204" pitchFamily="34" charset="0"/>
              </a:rPr>
              <a:t>The Algorithm </a:t>
            </a:r>
            <a:r>
              <a:rPr lang="en-US" sz="2000" dirty="0">
                <a:latin typeface="Trebuchet MS" panose="020B0603020202020204" pitchFamily="34" charset="0"/>
              </a:rPr>
              <a:t>power 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should not reduce by in efficient implementation</a:t>
            </a:r>
            <a:r>
              <a:rPr lang="en-US" sz="2000" dirty="0">
                <a:latin typeface="Trebuchet MS" panose="020B060302020202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rebuchet MS" panose="020B0603020202020204" pitchFamily="34" charset="0"/>
              </a:rPr>
              <a:t>Standard </a:t>
            </a:r>
            <a:r>
              <a:rPr lang="en-US" sz="2000" dirty="0">
                <a:latin typeface="Trebuchet MS" panose="020B0603020202020204" pitchFamily="34" charset="0"/>
              </a:rPr>
              <a:t>tricks like computing a loop’s invariant (an expression that </a:t>
            </a:r>
            <a:r>
              <a:rPr lang="en-US" sz="2000" dirty="0" smtClean="0">
                <a:latin typeface="Trebuchet MS" panose="020B0603020202020204" pitchFamily="34" charset="0"/>
              </a:rPr>
              <a:t>does not </a:t>
            </a:r>
            <a:r>
              <a:rPr lang="en-US" sz="2000" dirty="0">
                <a:latin typeface="Trebuchet MS" panose="020B0603020202020204" pitchFamily="34" charset="0"/>
              </a:rPr>
              <a:t>change its value) outside the loop, collecting </a:t>
            </a:r>
            <a:r>
              <a:rPr lang="en-US" sz="2000" dirty="0" smtClean="0">
                <a:latin typeface="Trebuchet MS" panose="020B0603020202020204" pitchFamily="34" charset="0"/>
              </a:rPr>
              <a:t>common</a:t>
            </a:r>
            <a:endParaRPr lang="en-US" sz="1800" dirty="0">
              <a:latin typeface="Trebuchet MS" panose="020B0603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382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9213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184079" y="-134574"/>
            <a:ext cx="8202511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indent="-177800">
              <a:lnSpc>
                <a:spcPct val="150000"/>
              </a:lnSpc>
            </a:pPr>
            <a:r>
              <a:rPr lang="en-US" sz="2800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6. </a:t>
            </a:r>
            <a:r>
              <a:rPr lang="en-US" sz="2800" b="1" dirty="0">
                <a:solidFill>
                  <a:schemeClr val="tx1"/>
                </a:solidFill>
                <a:latin typeface="Trebuchet MS" panose="020B0603020202020204" pitchFamily="34" charset="0"/>
              </a:rPr>
              <a:t>Coding an </a:t>
            </a:r>
            <a:r>
              <a:rPr lang="en-US" sz="2800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Algorithm</a:t>
            </a:r>
            <a:endParaRPr lang="en-US" sz="2800"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0267" y="1171687"/>
            <a:ext cx="8006602" cy="456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800" b="1" u="sng" dirty="0" smtClean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4358" y="561818"/>
            <a:ext cx="8949642" cy="456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Trebuchet MS" panose="020B06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7945" y="711981"/>
            <a:ext cx="860092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3538" algn="just">
              <a:lnSpc>
                <a:spcPct val="150000"/>
              </a:lnSpc>
            </a:pPr>
            <a:r>
              <a:rPr lang="en-US" sz="2000" dirty="0">
                <a:latin typeface="Trebuchet MS" panose="020B0603020202020204" pitchFamily="34" charset="0"/>
              </a:rPr>
              <a:t>subexpressions, replacing expensive operations by cheap ones, selection of programming language and so on should be known to the programmer.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rebuchet MS" panose="020B0603020202020204" pitchFamily="34" charset="0"/>
              </a:rPr>
              <a:t>Typically</a:t>
            </a:r>
            <a:r>
              <a:rPr lang="en-US" sz="2000" dirty="0">
                <a:latin typeface="Trebuchet MS" panose="020B0603020202020204" pitchFamily="34" charset="0"/>
              </a:rPr>
              <a:t>, such improvements can speed up a program only by a </a:t>
            </a:r>
            <a:r>
              <a:rPr lang="en-US" sz="2000" dirty="0" smtClean="0">
                <a:latin typeface="Trebuchet MS" panose="020B0603020202020204" pitchFamily="34" charset="0"/>
              </a:rPr>
              <a:t>constant factor</a:t>
            </a:r>
            <a:r>
              <a:rPr lang="en-US" sz="2000" dirty="0">
                <a:latin typeface="Trebuchet MS" panose="020B0603020202020204" pitchFamily="34" charset="0"/>
              </a:rPr>
              <a:t>, whereas a better algorithm can make a difference in running time </a:t>
            </a:r>
            <a:r>
              <a:rPr lang="en-US" sz="2000" dirty="0" smtClean="0">
                <a:latin typeface="Trebuchet MS" panose="020B0603020202020204" pitchFamily="34" charset="0"/>
              </a:rPr>
              <a:t>by orders </a:t>
            </a:r>
            <a:r>
              <a:rPr lang="en-US" sz="2000" dirty="0">
                <a:latin typeface="Trebuchet MS" panose="020B0603020202020204" pitchFamily="34" charset="0"/>
              </a:rPr>
              <a:t>of magnitude. But once an algorithm is selected, a 10–50% </a:t>
            </a:r>
            <a:r>
              <a:rPr lang="en-US" sz="2000" dirty="0" smtClean="0">
                <a:latin typeface="Trebuchet MS" panose="020B0603020202020204" pitchFamily="34" charset="0"/>
              </a:rPr>
              <a:t>speedup may </a:t>
            </a:r>
            <a:r>
              <a:rPr lang="en-US" sz="2000" dirty="0">
                <a:latin typeface="Trebuchet MS" panose="020B0603020202020204" pitchFamily="34" charset="0"/>
              </a:rPr>
              <a:t>be worth an effort.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rebuchet MS" panose="020B0603020202020204" pitchFamily="34" charset="0"/>
              </a:rPr>
              <a:t>It </a:t>
            </a:r>
            <a:r>
              <a:rPr lang="en-US" sz="2000" dirty="0">
                <a:latin typeface="Trebuchet MS" panose="020B0603020202020204" pitchFamily="34" charset="0"/>
              </a:rPr>
              <a:t>is very 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essential to write an optimized code </a:t>
            </a:r>
            <a:r>
              <a:rPr lang="en-US" sz="2000" dirty="0">
                <a:latin typeface="Trebuchet MS" panose="020B0603020202020204" pitchFamily="34" charset="0"/>
              </a:rPr>
              <a:t>(efficient code) to reduce </a:t>
            </a:r>
            <a:r>
              <a:rPr lang="en-US" sz="2000" dirty="0" smtClean="0">
                <a:latin typeface="Trebuchet MS" panose="020B0603020202020204" pitchFamily="34" charset="0"/>
              </a:rPr>
              <a:t>the burden </a:t>
            </a:r>
            <a:r>
              <a:rPr lang="en-US" sz="2000" dirty="0">
                <a:latin typeface="Trebuchet MS" panose="020B0603020202020204" pitchFamily="34" charset="0"/>
              </a:rPr>
              <a:t>of compiler</a:t>
            </a:r>
            <a:r>
              <a:rPr lang="en-US" sz="2000" dirty="0" smtClean="0">
                <a:latin typeface="Trebuchet MS" panose="020B0603020202020204" pitchFamily="34" charset="0"/>
              </a:rPr>
              <a:t>.</a:t>
            </a:r>
            <a:endParaRPr lang="en-US" sz="2000" dirty="0">
              <a:latin typeface="Trebuchet MS" panose="020B0603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135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86868"/>
            <a:ext cx="9144000" cy="52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46978" y="1035035"/>
            <a:ext cx="7749571" cy="3382729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000" dirty="0" smtClean="0">
                <a:latin typeface="Trebuchet MS" panose="020B0603020202020204" pitchFamily="34" charset="0"/>
                <a:ea typeface="Cambria" panose="02040503050406030204" pitchFamily="18" charset="0"/>
              </a:rPr>
              <a:t>The </a:t>
            </a:r>
            <a:r>
              <a:rPr lang="en-US" sz="2000" dirty="0">
                <a:latin typeface="Trebuchet MS" panose="020B0603020202020204" pitchFamily="34" charset="0"/>
                <a:ea typeface="Cambria" panose="02040503050406030204" pitchFamily="18" charset="0"/>
              </a:rPr>
              <a:t>efficiency of an algorithm is a </a:t>
            </a:r>
            <a:r>
              <a:rPr lang="en-US" sz="2000" dirty="0">
                <a:solidFill>
                  <a:srgbClr val="FF000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measure of the amount of resources </a:t>
            </a:r>
            <a:r>
              <a:rPr lang="en-US" sz="2000" dirty="0">
                <a:latin typeface="Trebuchet MS" panose="020B0603020202020204" pitchFamily="34" charset="0"/>
                <a:ea typeface="Cambria" panose="02040503050406030204" pitchFamily="18" charset="0"/>
              </a:rPr>
              <a:t>consumed in solving a problem of size 𝑛.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000" dirty="0">
                <a:latin typeface="Trebuchet MS" panose="020B0603020202020204" pitchFamily="34" charset="0"/>
                <a:ea typeface="Cambria" panose="02040503050406030204" pitchFamily="18" charset="0"/>
              </a:rPr>
              <a:t>An algorithm must be </a:t>
            </a:r>
            <a:r>
              <a:rPr lang="en-US" sz="2000" dirty="0">
                <a:solidFill>
                  <a:srgbClr val="FF000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analyzed</a:t>
            </a:r>
            <a:r>
              <a:rPr lang="en-US" sz="2000" dirty="0">
                <a:solidFill>
                  <a:srgbClr val="7030A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Trebuchet MS" panose="020B0603020202020204" pitchFamily="34" charset="0"/>
                <a:ea typeface="Cambria" panose="02040503050406030204" pitchFamily="18" charset="0"/>
              </a:rPr>
              <a:t>to determine its resource usage.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000" dirty="0">
                <a:latin typeface="Trebuchet MS" panose="020B0603020202020204" pitchFamily="34" charset="0"/>
                <a:ea typeface="Cambria" panose="02040503050406030204" pitchFamily="18" charset="0"/>
              </a:rPr>
              <a:t>Two major computational resources are </a:t>
            </a:r>
            <a:r>
              <a:rPr lang="en-US" sz="2000" dirty="0">
                <a:solidFill>
                  <a:srgbClr val="FF000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execution time </a:t>
            </a:r>
            <a:r>
              <a:rPr lang="en-US" sz="2000" dirty="0">
                <a:latin typeface="Trebuchet MS" panose="020B0603020202020204" pitchFamily="34" charset="0"/>
                <a:ea typeface="Cambria" panose="02040503050406030204" pitchFamily="18" charset="0"/>
              </a:rPr>
              <a:t>and </a:t>
            </a:r>
            <a:r>
              <a:rPr lang="en-US" sz="2000" dirty="0">
                <a:solidFill>
                  <a:srgbClr val="FF000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memory space.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000" dirty="0">
                <a:latin typeface="Trebuchet MS" panose="020B0603020202020204" pitchFamily="34" charset="0"/>
                <a:ea typeface="Cambria" panose="02040503050406030204" pitchFamily="18" charset="0"/>
              </a:rPr>
              <a:t>Memory Space requirement </a:t>
            </a:r>
            <a:r>
              <a:rPr lang="en-US" sz="2000" dirty="0">
                <a:solidFill>
                  <a:srgbClr val="FF000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can not be </a:t>
            </a:r>
            <a:r>
              <a:rPr lang="en-US" sz="2000" dirty="0">
                <a:latin typeface="Trebuchet MS" panose="020B0603020202020204" pitchFamily="34" charset="0"/>
                <a:ea typeface="Cambria" panose="02040503050406030204" pitchFamily="18" charset="0"/>
              </a:rPr>
              <a:t>compared directly, so the important resource is computational time required by an algorithm</a:t>
            </a:r>
            <a:r>
              <a:rPr lang="en-US" sz="2000" dirty="0" smtClean="0">
                <a:latin typeface="Trebuchet MS" panose="020B0603020202020204" pitchFamily="34" charset="0"/>
                <a:ea typeface="Cambria" panose="02040503050406030204" pitchFamily="18" charset="0"/>
              </a:rPr>
              <a:t>.</a:t>
            </a:r>
            <a:endParaRPr lang="en-US" sz="2400" b="1" dirty="0">
              <a:solidFill>
                <a:srgbClr val="A71160"/>
              </a:solidFill>
              <a:latin typeface="Corbel" panose="020B0503020204020204" pitchFamily="34" charset="0"/>
              <a:ea typeface="Cambria" panose="02040503050406030204" pitchFamily="18" charset="0"/>
            </a:endParaRPr>
          </a:p>
        </p:txBody>
      </p:sp>
      <p:sp>
        <p:nvSpPr>
          <p:cNvPr id="4" name="TextShape 1">
            <a:extLst>
              <a:ext uri="{FF2B5EF4-FFF2-40B4-BE49-F238E27FC236}">
                <a16:creationId xmlns:a16="http://schemas.microsoft.com/office/drawing/2014/main" id="{499B719A-EC22-3029-B582-783315C89322}"/>
              </a:ext>
            </a:extLst>
          </p:cNvPr>
          <p:cNvSpPr txBox="1"/>
          <p:nvPr/>
        </p:nvSpPr>
        <p:spPr>
          <a:xfrm>
            <a:off x="215673" y="0"/>
            <a:ext cx="6390090" cy="429300"/>
          </a:xfrm>
          <a:prstGeom prst="rect">
            <a:avLst/>
          </a:prstGeom>
          <a:noFill/>
          <a:ln>
            <a:noFill/>
          </a:ln>
        </p:spPr>
        <p:txBody>
          <a:bodyPr tIns="68580" bIns="68580">
            <a:noAutofit/>
          </a:bodyPr>
          <a:lstStyle/>
          <a:p>
            <a:pPr algn="just" defTabSz="685800">
              <a:buClrTx/>
              <a:defRPr/>
            </a:pPr>
            <a:r>
              <a:rPr lang="en-US" sz="2800" b="1" kern="1200" dirty="0" smtClean="0">
                <a:solidFill>
                  <a:schemeClr val="tx1"/>
                </a:solidFill>
                <a:latin typeface="Trebuchet MS" panose="020B0603020202020204" pitchFamily="34" charset="0"/>
                <a:ea typeface="Cambria" panose="02040503050406030204" pitchFamily="18" charset="0"/>
                <a:cs typeface="+mj-cs"/>
              </a:rPr>
              <a:t>Efficiency of </a:t>
            </a:r>
            <a:r>
              <a:rPr lang="en-US" sz="2800" b="1" kern="1200" dirty="0">
                <a:solidFill>
                  <a:schemeClr val="tx1"/>
                </a:solidFill>
                <a:latin typeface="Trebuchet MS" panose="020B0603020202020204" pitchFamily="34" charset="0"/>
                <a:ea typeface="Cambria" panose="02040503050406030204" pitchFamily="18" charset="0"/>
                <a:cs typeface="+mj-cs"/>
              </a:rPr>
              <a:t>algorithm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96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3595"/>
            <a:ext cx="9144000" cy="52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15637" y="1227304"/>
            <a:ext cx="8181953" cy="285514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900"/>
              </a:spcBef>
              <a:spcAft>
                <a:spcPts val="450"/>
              </a:spcAft>
            </a:pPr>
            <a:r>
              <a:rPr lang="en-US" sz="2000" dirty="0">
                <a:latin typeface="Trebuchet MS" panose="020B0603020202020204" pitchFamily="34" charset="0"/>
                <a:ea typeface="Cambria" panose="02040503050406030204" pitchFamily="18" charset="0"/>
              </a:rPr>
              <a:t>To measure the </a:t>
            </a:r>
            <a:r>
              <a:rPr lang="en-US" sz="2000" dirty="0">
                <a:solidFill>
                  <a:srgbClr val="FF000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efficiency of an algorithm </a:t>
            </a:r>
            <a:r>
              <a:rPr lang="en-US" sz="2000" dirty="0">
                <a:latin typeface="Trebuchet MS" panose="020B0603020202020204" pitchFamily="34" charset="0"/>
                <a:ea typeface="Cambria" panose="02040503050406030204" pitchFamily="18" charset="0"/>
              </a:rPr>
              <a:t>requires to measure its execution time using any of the following approaches: </a:t>
            </a:r>
          </a:p>
          <a:p>
            <a:pPr marL="685800" lvl="1" indent="-342900">
              <a:lnSpc>
                <a:spcPct val="150000"/>
              </a:lnSpc>
              <a:spcBef>
                <a:spcPts val="90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Empirical Approach</a:t>
            </a: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: </a:t>
            </a:r>
            <a:r>
              <a:rPr lang="en-US" sz="2000" dirty="0">
                <a:latin typeface="Trebuchet MS" panose="020B0603020202020204" pitchFamily="34" charset="0"/>
                <a:ea typeface="Cambria" panose="02040503050406030204" pitchFamily="18" charset="0"/>
              </a:rPr>
              <a:t>To run it and measure how much processor time is needed.</a:t>
            </a:r>
          </a:p>
          <a:p>
            <a:pPr marL="685800" lvl="1" indent="-342900">
              <a:lnSpc>
                <a:spcPct val="150000"/>
              </a:lnSpc>
              <a:spcBef>
                <a:spcPts val="90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Theoretical Approach: </a:t>
            </a:r>
            <a:r>
              <a:rPr lang="en-US" sz="2000" dirty="0">
                <a:latin typeface="Trebuchet MS" panose="020B0603020202020204" pitchFamily="34" charset="0"/>
                <a:ea typeface="Cambria" panose="02040503050406030204" pitchFamily="18" charset="0"/>
              </a:rPr>
              <a:t>Mathematically computing how much time is needed as a function of input size.</a:t>
            </a:r>
          </a:p>
        </p:txBody>
      </p:sp>
      <p:sp>
        <p:nvSpPr>
          <p:cNvPr id="4" name="TextShape 1">
            <a:extLst>
              <a:ext uri="{FF2B5EF4-FFF2-40B4-BE49-F238E27FC236}">
                <a16:creationId xmlns:a16="http://schemas.microsoft.com/office/drawing/2014/main" id="{499B719A-EC22-3029-B582-783315C89322}"/>
              </a:ext>
            </a:extLst>
          </p:cNvPr>
          <p:cNvSpPr txBox="1"/>
          <p:nvPr/>
        </p:nvSpPr>
        <p:spPr>
          <a:xfrm>
            <a:off x="214558" y="119675"/>
            <a:ext cx="6390090" cy="429300"/>
          </a:xfrm>
          <a:prstGeom prst="rect">
            <a:avLst/>
          </a:prstGeom>
          <a:noFill/>
          <a:ln>
            <a:noFill/>
          </a:ln>
        </p:spPr>
        <p:txBody>
          <a:bodyPr tIns="68580" bIns="68580">
            <a:noAutofit/>
          </a:bodyPr>
          <a:lstStyle/>
          <a:p>
            <a:pPr algn="just" defTabSz="685800">
              <a:buClrTx/>
              <a:defRPr/>
            </a:pPr>
            <a:r>
              <a:rPr lang="en-US" sz="2800" b="1" kern="1200" dirty="0">
                <a:solidFill>
                  <a:schemeClr val="tx1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Efficiency of algorithm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397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46809" y="789709"/>
            <a:ext cx="7845137" cy="3791600"/>
          </a:xfrm>
        </p:spPr>
        <p:txBody>
          <a:bodyPr>
            <a:normAutofit/>
          </a:bodyPr>
          <a:lstStyle/>
          <a:p>
            <a:endParaRPr lang="en-US" sz="1800" dirty="0">
              <a:ea typeface="Cambria" panose="02040503050406030204" pitchFamily="18" charset="0"/>
            </a:endParaRP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450"/>
              </a:spcAft>
            </a:pPr>
            <a:r>
              <a:rPr lang="en-US" sz="2000" dirty="0">
                <a:latin typeface="Trebuchet MS" panose="020B0603020202020204" pitchFamily="34" charset="0"/>
                <a:ea typeface="Cambria" panose="02040503050406030204" pitchFamily="18" charset="0"/>
              </a:rPr>
              <a:t>Time complexity of an algorithm quantifies the 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amount of time taken by an algorithm</a:t>
            </a:r>
            <a:r>
              <a:rPr lang="en-US" sz="2000" dirty="0">
                <a:solidFill>
                  <a:srgbClr val="A7116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Trebuchet MS" panose="020B0603020202020204" pitchFamily="34" charset="0"/>
                <a:ea typeface="Cambria" panose="02040503050406030204" pitchFamily="18" charset="0"/>
              </a:rPr>
              <a:t>to run as a function of the length of the input.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450"/>
              </a:spcAft>
            </a:pPr>
            <a:r>
              <a:rPr lang="en-US" sz="2000" dirty="0">
                <a:latin typeface="Trebuchet MS" panose="020B0603020202020204" pitchFamily="34" charset="0"/>
                <a:ea typeface="Cambria" panose="02040503050406030204" pitchFamily="18" charset="0"/>
              </a:rPr>
              <a:t>Running time of an algorithm depends upon,</a:t>
            </a:r>
          </a:p>
          <a:p>
            <a:pPr marL="751284" lvl="1" indent="-342900">
              <a:lnSpc>
                <a:spcPct val="100000"/>
              </a:lnSpc>
              <a:spcBef>
                <a:spcPts val="900"/>
              </a:spcBef>
              <a:spcAft>
                <a:spcPts val="450"/>
              </a:spcAft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Input Size</a:t>
            </a:r>
          </a:p>
          <a:p>
            <a:pPr marL="751284" lvl="1" indent="-342900">
              <a:lnSpc>
                <a:spcPct val="100000"/>
              </a:lnSpc>
              <a:spcBef>
                <a:spcPts val="900"/>
              </a:spcBef>
              <a:spcAft>
                <a:spcPts val="450"/>
              </a:spcAft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Nature of Input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450"/>
              </a:spcAft>
            </a:pPr>
            <a:r>
              <a:rPr lang="en-US" sz="2000" dirty="0">
                <a:latin typeface="Trebuchet MS" panose="020B0603020202020204" pitchFamily="34" charset="0"/>
                <a:ea typeface="Cambria" panose="02040503050406030204" pitchFamily="18" charset="0"/>
              </a:rPr>
              <a:t>Generally time </a:t>
            </a:r>
            <a:r>
              <a:rPr lang="en-US" sz="2000" dirty="0">
                <a:solidFill>
                  <a:srgbClr val="A7116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grows</a:t>
            </a:r>
            <a:r>
              <a:rPr lang="en-US" sz="2000" dirty="0">
                <a:latin typeface="Trebuchet MS" panose="020B0603020202020204" pitchFamily="34" charset="0"/>
                <a:ea typeface="Cambria" panose="02040503050406030204" pitchFamily="18" charset="0"/>
              </a:rPr>
              <a:t> with the size of input, for example, sorting 100 numbers will take less time than sorting of 10,000 numbers.</a:t>
            </a:r>
          </a:p>
          <a:p>
            <a:endParaRPr lang="en-US" sz="2000" dirty="0">
              <a:latin typeface="Trebuchet MS" panose="020B0603020202020204" pitchFamily="34" charset="0"/>
              <a:ea typeface="Cambria" panose="02040503050406030204" pitchFamily="18" charset="0"/>
            </a:endParaRPr>
          </a:p>
        </p:txBody>
      </p:sp>
      <p:sp>
        <p:nvSpPr>
          <p:cNvPr id="4" name="TextShape 1">
            <a:extLst>
              <a:ext uri="{FF2B5EF4-FFF2-40B4-BE49-F238E27FC236}">
                <a16:creationId xmlns:a16="http://schemas.microsoft.com/office/drawing/2014/main" id="{C7922E44-2EDE-3F82-1B0F-4983A8DB6BD0}"/>
              </a:ext>
            </a:extLst>
          </p:cNvPr>
          <p:cNvSpPr txBox="1"/>
          <p:nvPr/>
        </p:nvSpPr>
        <p:spPr>
          <a:xfrm>
            <a:off x="233820" y="55350"/>
            <a:ext cx="6390090" cy="429300"/>
          </a:xfrm>
          <a:prstGeom prst="rect">
            <a:avLst/>
          </a:prstGeom>
          <a:noFill/>
          <a:ln>
            <a:noFill/>
          </a:ln>
        </p:spPr>
        <p:txBody>
          <a:bodyPr tIns="68580" bIns="68580">
            <a:noAutofit/>
          </a:bodyPr>
          <a:lstStyle/>
          <a:p>
            <a:pPr algn="just" defTabSz="685800">
              <a:lnSpc>
                <a:spcPct val="120000"/>
              </a:lnSpc>
              <a:buClrTx/>
              <a:defRPr/>
            </a:pPr>
            <a:r>
              <a:rPr lang="en-US" sz="2800" b="1" kern="1200" dirty="0">
                <a:solidFill>
                  <a:schemeClr val="tx1"/>
                </a:solidFill>
                <a:latin typeface="Trebuchet MS" panose="020B0603020202020204" pitchFamily="34" charset="0"/>
                <a:ea typeface="Cambria" panose="02040503050406030204" pitchFamily="18" charset="0"/>
                <a:cs typeface="+mj-cs"/>
              </a:rPr>
              <a:t>Time complexity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235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19964" y="873431"/>
            <a:ext cx="8092515" cy="4042869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en-US" sz="2000" dirty="0">
                <a:latin typeface="Trebuchet MS" panose="020B0603020202020204" pitchFamily="34" charset="0"/>
                <a:ea typeface="Cambria" panose="02040503050406030204" pitchFamily="18" charset="0"/>
              </a:rPr>
              <a:t>So, running time of an algorithm is usually measured 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as a function of input size.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en-US" sz="2000" dirty="0">
                <a:latin typeface="Trebuchet MS" panose="020B0603020202020204" pitchFamily="34" charset="0"/>
                <a:ea typeface="Cambria" panose="02040503050406030204" pitchFamily="18" charset="0"/>
              </a:rPr>
              <a:t>Instead of measuring actual time required in executing each statement in the code, we consider 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how many times </a:t>
            </a:r>
            <a:r>
              <a:rPr lang="en-US" sz="2000" dirty="0">
                <a:latin typeface="Trebuchet MS" panose="020B0603020202020204" pitchFamily="34" charset="0"/>
                <a:ea typeface="Cambria" panose="02040503050406030204" pitchFamily="18" charset="0"/>
              </a:rPr>
              <a:t>each statement is executed.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en-US" sz="2000" dirty="0">
                <a:latin typeface="Trebuchet MS" panose="020B0603020202020204" pitchFamily="34" charset="0"/>
                <a:ea typeface="Cambria" panose="02040503050406030204" pitchFamily="18" charset="0"/>
              </a:rPr>
              <a:t>So, in theoretical computation of time complexity, running time is measured in terms of number of 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steps/primitive operations</a:t>
            </a:r>
            <a:r>
              <a:rPr lang="en-US" sz="2000" dirty="0">
                <a:solidFill>
                  <a:srgbClr val="A7116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Trebuchet MS" panose="020B0603020202020204" pitchFamily="34" charset="0"/>
                <a:ea typeface="Cambria" panose="02040503050406030204" pitchFamily="18" charset="0"/>
              </a:rPr>
              <a:t>performed.</a:t>
            </a:r>
          </a:p>
        </p:txBody>
      </p:sp>
      <p:sp>
        <p:nvSpPr>
          <p:cNvPr id="4" name="TextShape 1">
            <a:extLst>
              <a:ext uri="{FF2B5EF4-FFF2-40B4-BE49-F238E27FC236}">
                <a16:creationId xmlns:a16="http://schemas.microsoft.com/office/drawing/2014/main" id="{C7922E44-2EDE-3F82-1B0F-4983A8DB6BD0}"/>
              </a:ext>
            </a:extLst>
          </p:cNvPr>
          <p:cNvSpPr txBox="1"/>
          <p:nvPr/>
        </p:nvSpPr>
        <p:spPr>
          <a:xfrm>
            <a:off x="233820" y="55350"/>
            <a:ext cx="6390090" cy="429300"/>
          </a:xfrm>
          <a:prstGeom prst="rect">
            <a:avLst/>
          </a:prstGeom>
          <a:noFill/>
          <a:ln>
            <a:noFill/>
          </a:ln>
        </p:spPr>
        <p:txBody>
          <a:bodyPr tIns="68580" bIns="68580">
            <a:noAutofit/>
          </a:bodyPr>
          <a:lstStyle/>
          <a:p>
            <a:pPr algn="just" defTabSz="685800">
              <a:lnSpc>
                <a:spcPct val="120000"/>
              </a:lnSpc>
              <a:buClrTx/>
              <a:defRPr/>
            </a:pPr>
            <a:r>
              <a:rPr lang="en-US" sz="2800" b="1" kern="1200" dirty="0">
                <a:solidFill>
                  <a:schemeClr val="tx1"/>
                </a:solidFill>
                <a:latin typeface="Trebuchet MS" panose="020B0603020202020204" pitchFamily="34" charset="0"/>
                <a:ea typeface="Cambria" panose="02040503050406030204" pitchFamily="18" charset="0"/>
                <a:cs typeface="+mj-cs"/>
              </a:rPr>
              <a:t>Time complexity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250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6943"/>
            <a:ext cx="9144000" cy="52961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162245-51B9-CEA2-FE98-53373EAECA49}"/>
              </a:ext>
            </a:extLst>
          </p:cNvPr>
          <p:cNvSpPr txBox="1"/>
          <p:nvPr/>
        </p:nvSpPr>
        <p:spPr>
          <a:xfrm>
            <a:off x="146290" y="633823"/>
            <a:ext cx="871258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defTabSz="68580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IN" sz="2000" b="1" kern="1200" dirty="0">
                <a:solidFill>
                  <a:prstClr val="black"/>
                </a:solidFill>
                <a:latin typeface="Trebuchet MS" panose="020B0603020202020204" pitchFamily="34" charset="0"/>
              </a:rPr>
              <a:t>Space complexity</a:t>
            </a:r>
            <a:r>
              <a:rPr lang="en-IN" sz="2000" kern="1200" dirty="0">
                <a:solidFill>
                  <a:prstClr val="black"/>
                </a:solidFill>
                <a:latin typeface="Trebuchet MS" panose="020B0603020202020204" pitchFamily="34" charset="0"/>
              </a:rPr>
              <a:t>, also called </a:t>
            </a:r>
            <a:r>
              <a:rPr lang="en-IN" sz="2000" b="1" kern="1200" dirty="0">
                <a:solidFill>
                  <a:srgbClr val="FF0000"/>
                </a:solidFill>
                <a:latin typeface="Trebuchet MS" panose="020B0603020202020204" pitchFamily="34" charset="0"/>
              </a:rPr>
              <a:t>Space efficiency</a:t>
            </a:r>
            <a:r>
              <a:rPr lang="en-IN" sz="2000" kern="1200" dirty="0">
                <a:solidFill>
                  <a:prstClr val="black"/>
                </a:solidFill>
                <a:latin typeface="Trebuchet MS" panose="020B0603020202020204" pitchFamily="34" charset="0"/>
              </a:rPr>
              <a:t>, refers to the amount of memory units required by the algorithm in addition to the space needed for its </a:t>
            </a:r>
            <a:r>
              <a:rPr lang="en-IN" sz="2000" kern="1200" dirty="0">
                <a:solidFill>
                  <a:srgbClr val="FF0000"/>
                </a:solidFill>
                <a:latin typeface="Trebuchet MS" panose="020B0603020202020204" pitchFamily="34" charset="0"/>
              </a:rPr>
              <a:t>input and output</a:t>
            </a:r>
            <a:r>
              <a:rPr lang="en-IN" sz="2000" kern="1200" dirty="0">
                <a:solidFill>
                  <a:prstClr val="black"/>
                </a:solidFill>
                <a:latin typeface="Trebuchet MS" panose="020B0603020202020204" pitchFamily="34" charset="0"/>
              </a:rPr>
              <a:t>.</a:t>
            </a:r>
          </a:p>
          <a:p>
            <a:pPr marL="342900" indent="-342900" algn="just" defTabSz="68580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IN" sz="2000" kern="1200" dirty="0">
                <a:solidFill>
                  <a:prstClr val="black"/>
                </a:solidFill>
                <a:latin typeface="Trebuchet MS" panose="020B0603020202020204" pitchFamily="34" charset="0"/>
              </a:rPr>
              <a:t>When an algorithm is run on a computer, it necessitates a </a:t>
            </a:r>
            <a:r>
              <a:rPr lang="en-IN" sz="2000" kern="1200" dirty="0">
                <a:solidFill>
                  <a:srgbClr val="FF0000"/>
                </a:solidFill>
                <a:latin typeface="Trebuchet MS" panose="020B0603020202020204" pitchFamily="34" charset="0"/>
              </a:rPr>
              <a:t>certain amount </a:t>
            </a:r>
            <a:r>
              <a:rPr lang="en-IN" sz="2000" kern="1200" dirty="0">
                <a:solidFill>
                  <a:prstClr val="black"/>
                </a:solidFill>
                <a:latin typeface="Trebuchet MS" panose="020B0603020202020204" pitchFamily="34" charset="0"/>
              </a:rPr>
              <a:t>of memory space. </a:t>
            </a:r>
          </a:p>
          <a:p>
            <a:pPr marL="342900" indent="-342900" algn="just" defTabSz="68580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IN" sz="2000" kern="1200" dirty="0">
                <a:solidFill>
                  <a:prstClr val="black"/>
                </a:solidFill>
                <a:latin typeface="Trebuchet MS" panose="020B0603020202020204" pitchFamily="34" charset="0"/>
              </a:rPr>
              <a:t>The amount of memory used by a program to execute it is represented by its </a:t>
            </a:r>
            <a:r>
              <a:rPr lang="en-IN" sz="2000" kern="1200" dirty="0">
                <a:solidFill>
                  <a:srgbClr val="FF0000"/>
                </a:solidFill>
                <a:latin typeface="Trebuchet MS" panose="020B0603020202020204" pitchFamily="34" charset="0"/>
              </a:rPr>
              <a:t>space complexity</a:t>
            </a:r>
            <a:r>
              <a:rPr lang="en-IN" sz="2000" kern="1200" dirty="0">
                <a:solidFill>
                  <a:prstClr val="black"/>
                </a:solidFill>
                <a:latin typeface="Trebuchet MS" panose="020B0603020202020204" pitchFamily="34" charset="0"/>
              </a:rPr>
              <a:t>. </a:t>
            </a:r>
          </a:p>
          <a:p>
            <a:pPr marL="342900" indent="-342900" algn="just" defTabSz="68580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IN" sz="2000" kern="1200" dirty="0">
                <a:solidFill>
                  <a:prstClr val="black"/>
                </a:solidFill>
                <a:latin typeface="Trebuchet MS" panose="020B0603020202020204" pitchFamily="34" charset="0"/>
              </a:rPr>
              <a:t>Because a program requires memory to store input data and temporal values while running, the space complexity is auxiliary and input space.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1174E6-418D-7A55-80A2-D45E23245677}"/>
              </a:ext>
            </a:extLst>
          </p:cNvPr>
          <p:cNvSpPr txBox="1"/>
          <p:nvPr/>
        </p:nvSpPr>
        <p:spPr>
          <a:xfrm>
            <a:off x="322561" y="72715"/>
            <a:ext cx="49798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buClrTx/>
              <a:defRPr/>
            </a:pPr>
            <a:r>
              <a:rPr lang="en-IN" sz="2800" b="1" kern="1200" dirty="0">
                <a:solidFill>
                  <a:schemeClr val="tx1"/>
                </a:solidFill>
                <a:latin typeface="Trebuchet MS" panose="020B0603020202020204" pitchFamily="34" charset="0"/>
              </a:rPr>
              <a:t>Space complexity</a:t>
            </a:r>
            <a:endParaRPr lang="en-IN" sz="1600" kern="1200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170" y="72715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099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10"/>
          <p:cNvSpPr/>
          <p:nvPr/>
        </p:nvSpPr>
        <p:spPr>
          <a:xfrm>
            <a:off x="110891" y="620735"/>
            <a:ext cx="8747984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algn="just" defTabSz="685800">
              <a:lnSpc>
                <a:spcPct val="150000"/>
              </a:lnSpc>
              <a:buClrTx/>
              <a:buSzPct val="90000"/>
              <a:buFont typeface="Arial" panose="020B0604020202020204" pitchFamily="34" charset="0"/>
              <a:buChar char="•"/>
            </a:pPr>
            <a:r>
              <a:rPr lang="en-IN" sz="2000" b="1" kern="1200" dirty="0">
                <a:solidFill>
                  <a:srgbClr val="4285F4">
                    <a:lumMod val="50000"/>
                  </a:srgbClr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What is Analysis of an Algorithm?</a:t>
            </a:r>
          </a:p>
          <a:p>
            <a:pPr marL="540544" indent="-270272" algn="just" defTabSz="685800">
              <a:lnSpc>
                <a:spcPct val="150000"/>
              </a:lnSpc>
              <a:buClrTx/>
              <a:buSzPct val="90000"/>
              <a:buFont typeface="Wingdings" panose="05000000000000000000" pitchFamily="2" charset="2"/>
              <a:buChar char="ü"/>
            </a:pPr>
            <a:r>
              <a:rPr lang="en-US" sz="2000" kern="12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Analyzing an algorithm means</a:t>
            </a:r>
            <a:r>
              <a:rPr lang="en-US" sz="2000" kern="1200" dirty="0">
                <a:solidFill>
                  <a:srgbClr val="212121">
                    <a:lumMod val="75000"/>
                    <a:lumOff val="25000"/>
                  </a:srgbClr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 </a:t>
            </a:r>
            <a:r>
              <a:rPr lang="en-US" sz="2000" kern="1200" dirty="0">
                <a:solidFill>
                  <a:srgbClr val="FF000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calculating/predicting the resources </a:t>
            </a:r>
            <a:r>
              <a:rPr lang="en-US" sz="2000" kern="12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that the algorithm requires. </a:t>
            </a:r>
          </a:p>
          <a:p>
            <a:pPr marL="540544" indent="-270272" algn="just" defTabSz="685800">
              <a:lnSpc>
                <a:spcPct val="150000"/>
              </a:lnSpc>
              <a:buClrTx/>
              <a:buSzPct val="90000"/>
              <a:buFont typeface="Wingdings" panose="05000000000000000000" pitchFamily="2" charset="2"/>
              <a:buChar char="ü"/>
            </a:pPr>
            <a:r>
              <a:rPr lang="en-US" sz="2000" kern="12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Analysis provides </a:t>
            </a:r>
            <a:r>
              <a:rPr lang="en-US" sz="2000" kern="1200" dirty="0">
                <a:solidFill>
                  <a:srgbClr val="FF000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theoretical estimation </a:t>
            </a:r>
            <a:r>
              <a:rPr lang="en-US" sz="2000" kern="12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for the required resources of an algorithm to solve a specific computational problem.</a:t>
            </a:r>
          </a:p>
          <a:p>
            <a:pPr marL="540544" indent="-270272" algn="just" defTabSz="685800">
              <a:lnSpc>
                <a:spcPct val="150000"/>
              </a:lnSpc>
              <a:buClrTx/>
              <a:buSzPct val="90000"/>
              <a:buFont typeface="Wingdings" panose="05000000000000000000" pitchFamily="2" charset="2"/>
              <a:buChar char="ü"/>
            </a:pPr>
            <a:r>
              <a:rPr lang="en-US" sz="2000" kern="12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Two most important resources are </a:t>
            </a:r>
            <a:r>
              <a:rPr lang="en-US" sz="2000" kern="1200" dirty="0">
                <a:solidFill>
                  <a:srgbClr val="FF000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computing time </a:t>
            </a:r>
            <a:r>
              <a:rPr lang="en-US" sz="2000" kern="12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(time complexity) and</a:t>
            </a:r>
            <a:r>
              <a:rPr lang="en-US" sz="2000" kern="1200" dirty="0">
                <a:solidFill>
                  <a:srgbClr val="212121">
                    <a:lumMod val="75000"/>
                    <a:lumOff val="25000"/>
                  </a:srgbClr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 </a:t>
            </a:r>
            <a:r>
              <a:rPr lang="en-US" sz="2000" kern="1200" dirty="0">
                <a:solidFill>
                  <a:srgbClr val="FF000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storage space </a:t>
            </a:r>
            <a:r>
              <a:rPr lang="en-US" sz="2000" kern="12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(space complexity). </a:t>
            </a:r>
          </a:p>
          <a:p>
            <a:pPr marL="257175" indent="-257175" algn="just" defTabSz="685800">
              <a:lnSpc>
                <a:spcPct val="150000"/>
              </a:lnSpc>
              <a:buClrTx/>
              <a:buSzPct val="90000"/>
              <a:buFont typeface="Arial" panose="020B0604020202020204" pitchFamily="34" charset="0"/>
              <a:buChar char="•"/>
            </a:pPr>
            <a:r>
              <a:rPr lang="en-US" sz="2000" b="1" kern="1200" dirty="0">
                <a:solidFill>
                  <a:srgbClr val="4285F4">
                    <a:lumMod val="50000"/>
                  </a:srgbClr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Why Analysis is required?</a:t>
            </a:r>
          </a:p>
          <a:p>
            <a:pPr marL="540544" indent="-270272" algn="just" defTabSz="685800">
              <a:lnSpc>
                <a:spcPct val="150000"/>
              </a:lnSpc>
              <a:buClrTx/>
              <a:buSzPct val="90000"/>
              <a:buFont typeface="Wingdings" panose="05000000000000000000" pitchFamily="2" charset="2"/>
              <a:buChar char="ü"/>
            </a:pPr>
            <a:r>
              <a:rPr lang="en-US" sz="2000" kern="12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By analyzing some of the candidate algorithms for a problem</a:t>
            </a:r>
            <a:r>
              <a:rPr lang="en-US" sz="2000" kern="1200" dirty="0">
                <a:solidFill>
                  <a:srgbClr val="212121">
                    <a:lumMod val="75000"/>
                    <a:lumOff val="25000"/>
                  </a:srgbClr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, </a:t>
            </a:r>
            <a:r>
              <a:rPr lang="en-US" sz="2000" kern="1200" dirty="0">
                <a:solidFill>
                  <a:schemeClr val="tx1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the</a:t>
            </a:r>
            <a:r>
              <a:rPr lang="en-US" sz="2000" kern="1200" dirty="0">
                <a:solidFill>
                  <a:srgbClr val="890E4F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 </a:t>
            </a:r>
            <a:r>
              <a:rPr lang="en-US" sz="2000" kern="1200" dirty="0">
                <a:solidFill>
                  <a:srgbClr val="FF000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most efficient </a:t>
            </a:r>
            <a:r>
              <a:rPr lang="en-US" sz="2000" kern="12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one can be easily identified.</a:t>
            </a:r>
          </a:p>
        </p:txBody>
      </p:sp>
      <p:sp>
        <p:nvSpPr>
          <p:cNvPr id="8" name="TextShape 1">
            <a:extLst>
              <a:ext uri="{FF2B5EF4-FFF2-40B4-BE49-F238E27FC236}">
                <a16:creationId xmlns:a16="http://schemas.microsoft.com/office/drawing/2014/main" id="{362751D6-F840-582C-94A2-8AD5DE511B3F}"/>
              </a:ext>
            </a:extLst>
          </p:cNvPr>
          <p:cNvSpPr txBox="1"/>
          <p:nvPr/>
        </p:nvSpPr>
        <p:spPr>
          <a:xfrm>
            <a:off x="276144" y="148588"/>
            <a:ext cx="6390090" cy="429300"/>
          </a:xfrm>
          <a:prstGeom prst="rect">
            <a:avLst/>
          </a:prstGeom>
          <a:noFill/>
          <a:ln>
            <a:noFill/>
          </a:ln>
        </p:spPr>
        <p:txBody>
          <a:bodyPr tIns="68580" bIns="68580">
            <a:noAutofit/>
          </a:bodyPr>
          <a:lstStyle/>
          <a:p>
            <a:pPr algn="just" defTabSz="685800">
              <a:buClrTx/>
            </a:pPr>
            <a:r>
              <a:rPr lang="en-US" sz="2800" b="1" kern="1200" dirty="0" smtClean="0">
                <a:solidFill>
                  <a:schemeClr val="tx1"/>
                </a:solidFill>
                <a:latin typeface="Trebuchet MS" panose="020B0603020202020204" pitchFamily="34" charset="0"/>
                <a:ea typeface="Cambria" panose="02040503050406030204" pitchFamily="18" charset="0"/>
                <a:cs typeface="+mj-cs"/>
              </a:rPr>
              <a:t>How to Analysis </a:t>
            </a:r>
            <a:r>
              <a:rPr lang="en-US" sz="2800" b="1" kern="1200" dirty="0">
                <a:solidFill>
                  <a:schemeClr val="tx1"/>
                </a:solidFill>
                <a:latin typeface="Trebuchet MS" panose="020B0603020202020204" pitchFamily="34" charset="0"/>
                <a:ea typeface="Cambria" panose="02040503050406030204" pitchFamily="18" charset="0"/>
                <a:cs typeface="+mj-cs"/>
              </a:rPr>
              <a:t>of Algorithms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498" y="40122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926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9144000" cy="52961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06ECDB-EB88-FD3E-384D-BBCE59192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40" y="-71311"/>
            <a:ext cx="8520120" cy="572400"/>
          </a:xfrm>
        </p:spPr>
        <p:txBody>
          <a:bodyPr/>
          <a:lstStyle/>
          <a:p>
            <a:pPr lvl="0" algn="just" defTabSz="685800">
              <a:lnSpc>
                <a:spcPct val="100000"/>
              </a:lnSpc>
              <a:spcBef>
                <a:spcPts val="0"/>
              </a:spcBef>
            </a:pPr>
            <a:r>
              <a:rPr lang="en-US" sz="2100" b="1" dirty="0" smtClean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100" b="1" dirty="0" smtClean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2800" b="1" dirty="0" smtClean="0">
                <a:latin typeface="Trebuchet MS" panose="020B0603020202020204" pitchFamily="34" charset="0"/>
                <a:ea typeface="Cambria" panose="02040503050406030204" pitchFamily="18" charset="0"/>
                <a:sym typeface="Arial"/>
              </a:rPr>
              <a:t>How </a:t>
            </a:r>
            <a:r>
              <a:rPr lang="en-US" sz="2800" b="1" dirty="0">
                <a:latin typeface="Trebuchet MS" panose="020B0603020202020204" pitchFamily="34" charset="0"/>
                <a:ea typeface="Cambria" panose="02040503050406030204" pitchFamily="18" charset="0"/>
                <a:sym typeface="Arial"/>
              </a:rPr>
              <a:t>to Analysis of Algorithms</a:t>
            </a:r>
          </a:p>
        </p:txBody>
      </p:sp>
      <p:sp>
        <p:nvSpPr>
          <p:cNvPr id="7" name="Rectangle 6"/>
          <p:cNvSpPr/>
          <p:nvPr/>
        </p:nvSpPr>
        <p:spPr>
          <a:xfrm>
            <a:off x="234822" y="807536"/>
            <a:ext cx="8597238" cy="4324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685800">
              <a:spcBef>
                <a:spcPts val="300"/>
              </a:spcBef>
              <a:spcAft>
                <a:spcPts val="300"/>
              </a:spcAft>
              <a:buClrTx/>
              <a:buSzPct val="80000"/>
              <a:defRPr sz="1800">
                <a:solidFill>
                  <a:srgbClr val="000000"/>
                </a:solidFill>
              </a:defRPr>
            </a:pPr>
            <a:r>
              <a:rPr lang="en-IN" sz="2000" b="1" kern="1200" dirty="0">
                <a:solidFill>
                  <a:srgbClr val="4285F4">
                    <a:lumMod val="50000"/>
                  </a:srgbClr>
                </a:solidFill>
                <a:latin typeface="Trebuchet MS" panose="020B0603020202020204" pitchFamily="34" charset="0"/>
                <a:ea typeface="Cambria" panose="02040503050406030204" pitchFamily="18" charset="0"/>
                <a:cs typeface="+mn-cs"/>
                <a:sym typeface="Corbel"/>
              </a:rPr>
              <a:t>Goal of analysis of algorithms?</a:t>
            </a:r>
          </a:p>
          <a:p>
            <a:pPr marL="177800" lvl="0" algn="just" defTabSz="685800">
              <a:spcBef>
                <a:spcPts val="300"/>
              </a:spcBef>
              <a:spcAft>
                <a:spcPts val="300"/>
              </a:spcAft>
              <a:buClrTx/>
              <a:buSzPct val="80000"/>
              <a:defRPr sz="1800">
                <a:solidFill>
                  <a:srgbClr val="000000"/>
                </a:solidFill>
              </a:defRPr>
            </a:pPr>
            <a:r>
              <a:rPr lang="en-US" sz="2000" kern="1200" dirty="0">
                <a:latin typeface="Trebuchet MS" panose="020B0603020202020204" pitchFamily="34" charset="0"/>
                <a:ea typeface="Cambria" panose="02040503050406030204" pitchFamily="18" charset="0"/>
                <a:cs typeface="+mn-cs"/>
                <a:sym typeface="Corbel"/>
              </a:rPr>
              <a:t>To compare algorithms mainly in terms of running time but also in terms of other factors (e.g., memory requirements, programmer's effort etc.</a:t>
            </a:r>
            <a:r>
              <a:rPr lang="en-US" sz="2000" b="1" kern="1200" dirty="0">
                <a:latin typeface="Trebuchet MS" panose="020B0603020202020204" pitchFamily="34" charset="0"/>
                <a:ea typeface="Cambria" panose="02040503050406030204" pitchFamily="18" charset="0"/>
                <a:cs typeface="+mn-cs"/>
                <a:sym typeface="Corbel"/>
              </a:rPr>
              <a:t>) </a:t>
            </a:r>
          </a:p>
          <a:p>
            <a:pPr lvl="0" defTabSz="685800">
              <a:spcBef>
                <a:spcPts val="300"/>
              </a:spcBef>
              <a:spcAft>
                <a:spcPts val="300"/>
              </a:spcAft>
              <a:buClrTx/>
              <a:buSzPct val="80000"/>
              <a:defRPr sz="1800">
                <a:solidFill>
                  <a:srgbClr val="000000"/>
                </a:solidFill>
              </a:defRPr>
            </a:pPr>
            <a:r>
              <a:rPr lang="en-IN" sz="2000" b="1" kern="1200" dirty="0">
                <a:solidFill>
                  <a:srgbClr val="4285F4">
                    <a:lumMod val="50000"/>
                  </a:srgbClr>
                </a:solidFill>
                <a:latin typeface="Trebuchet MS" panose="020B0603020202020204" pitchFamily="34" charset="0"/>
                <a:ea typeface="Cambria" panose="02040503050406030204" pitchFamily="18" charset="0"/>
                <a:cs typeface="+mn-cs"/>
                <a:sym typeface="Corbel"/>
              </a:rPr>
              <a:t>Running time analysis?</a:t>
            </a:r>
          </a:p>
          <a:p>
            <a:pPr marL="177800" lvl="0" defTabSz="685800">
              <a:spcBef>
                <a:spcPts val="300"/>
              </a:spcBef>
              <a:spcAft>
                <a:spcPts val="300"/>
              </a:spcAft>
              <a:buClrTx/>
              <a:buSzPct val="80000"/>
              <a:defRPr sz="1800">
                <a:solidFill>
                  <a:srgbClr val="000000"/>
                </a:solidFill>
              </a:defRPr>
            </a:pPr>
            <a:r>
              <a:rPr lang="en-US" sz="2000" kern="1200" dirty="0">
                <a:latin typeface="Trebuchet MS" panose="020B0603020202020204" pitchFamily="34" charset="0"/>
                <a:ea typeface="Cambria" panose="02040503050406030204" pitchFamily="18" charset="0"/>
                <a:cs typeface="+mn-cs"/>
                <a:sym typeface="Corbel"/>
              </a:rPr>
              <a:t>Determine how running time increases as the size of the problem increases</a:t>
            </a:r>
            <a:r>
              <a:rPr lang="en-US" sz="2000" b="1" kern="1200" dirty="0">
                <a:solidFill>
                  <a:srgbClr val="4285F4">
                    <a:lumMod val="50000"/>
                  </a:srgbClr>
                </a:solidFill>
                <a:latin typeface="Trebuchet MS" panose="020B0603020202020204" pitchFamily="34" charset="0"/>
                <a:ea typeface="Cambria" panose="02040503050406030204" pitchFamily="18" charset="0"/>
                <a:cs typeface="+mn-cs"/>
                <a:sym typeface="Corbel"/>
              </a:rPr>
              <a:t>.</a:t>
            </a:r>
          </a:p>
          <a:p>
            <a:pPr lvl="0" defTabSz="685800">
              <a:spcBef>
                <a:spcPts val="300"/>
              </a:spcBef>
              <a:spcAft>
                <a:spcPts val="300"/>
              </a:spcAft>
              <a:buClrTx/>
              <a:buSzPct val="80000"/>
              <a:defRPr sz="1800">
                <a:solidFill>
                  <a:srgbClr val="000000"/>
                </a:solidFill>
              </a:defRPr>
            </a:pPr>
            <a:r>
              <a:rPr lang="en-IN" sz="2000" b="1" kern="1200" dirty="0">
                <a:solidFill>
                  <a:srgbClr val="4285F4">
                    <a:lumMod val="50000"/>
                  </a:srgbClr>
                </a:solidFill>
                <a:latin typeface="Trebuchet MS" panose="020B0603020202020204" pitchFamily="34" charset="0"/>
                <a:ea typeface="Cambria" panose="02040503050406030204" pitchFamily="18" charset="0"/>
                <a:cs typeface="+mn-cs"/>
                <a:sym typeface="Corbel"/>
              </a:rPr>
              <a:t>Input size</a:t>
            </a:r>
          </a:p>
          <a:p>
            <a:pPr marL="452438" lvl="1" indent="-276225" algn="just" defTabSz="685800">
              <a:spcBef>
                <a:spcPts val="300"/>
              </a:spcBef>
              <a:spcAft>
                <a:spcPts val="300"/>
              </a:spcAft>
              <a:buClrTx/>
              <a:buSzPct val="80000"/>
              <a:buFont typeface="Wingdings" panose="05000000000000000000" pitchFamily="2" charset="2"/>
              <a:buChar char="ü"/>
              <a:defRPr sz="1600">
                <a:solidFill>
                  <a:srgbClr val="000000"/>
                </a:solidFill>
              </a:defRPr>
            </a:pPr>
            <a:r>
              <a:rPr lang="en-IN" sz="2000" dirty="0" smtClean="0">
                <a:latin typeface="Trebuchet MS" panose="020B0603020202020204" pitchFamily="34" charset="0"/>
                <a:sym typeface="Corbel"/>
              </a:rPr>
              <a:t>No. of </a:t>
            </a:r>
            <a:r>
              <a:rPr lang="en-IN" sz="2000" dirty="0">
                <a:latin typeface="Trebuchet MS" panose="020B0603020202020204" pitchFamily="34" charset="0"/>
                <a:sym typeface="Corbel"/>
              </a:rPr>
              <a:t>elements in the array</a:t>
            </a:r>
          </a:p>
          <a:p>
            <a:pPr marL="452438" lvl="1" indent="-276225" algn="just" defTabSz="685800">
              <a:spcBef>
                <a:spcPts val="300"/>
              </a:spcBef>
              <a:spcAft>
                <a:spcPts val="300"/>
              </a:spcAft>
              <a:buClrTx/>
              <a:buSzPct val="80000"/>
              <a:buFont typeface="Wingdings" panose="05000000000000000000" pitchFamily="2" charset="2"/>
              <a:buChar char="ü"/>
              <a:defRPr sz="1600">
                <a:solidFill>
                  <a:srgbClr val="000000"/>
                </a:solidFill>
              </a:defRPr>
            </a:pPr>
            <a:r>
              <a:rPr lang="en-IN" sz="2000" dirty="0">
                <a:latin typeface="Trebuchet MS" panose="020B0603020202020204" pitchFamily="34" charset="0"/>
                <a:sym typeface="Corbel"/>
              </a:rPr>
              <a:t>No. </a:t>
            </a:r>
            <a:r>
              <a:rPr lang="en-IN" sz="2000" dirty="0" smtClean="0">
                <a:latin typeface="Trebuchet MS" panose="020B0603020202020204" pitchFamily="34" charset="0"/>
                <a:sym typeface="Corbel"/>
              </a:rPr>
              <a:t>of </a:t>
            </a:r>
            <a:r>
              <a:rPr lang="en-IN" sz="2000" dirty="0">
                <a:latin typeface="Trebuchet MS" panose="020B0603020202020204" pitchFamily="34" charset="0"/>
                <a:sym typeface="Corbel"/>
              </a:rPr>
              <a:t>elements in a matrix</a:t>
            </a:r>
          </a:p>
          <a:p>
            <a:pPr marL="452438" lvl="1" indent="-276225" algn="just" defTabSz="685800">
              <a:spcBef>
                <a:spcPts val="300"/>
              </a:spcBef>
              <a:spcAft>
                <a:spcPts val="300"/>
              </a:spcAft>
              <a:buClrTx/>
              <a:buSzPct val="80000"/>
              <a:buFont typeface="Wingdings" panose="05000000000000000000" pitchFamily="2" charset="2"/>
              <a:buChar char="ü"/>
              <a:defRPr sz="1600">
                <a:solidFill>
                  <a:srgbClr val="000000"/>
                </a:solidFill>
              </a:defRPr>
            </a:pPr>
            <a:r>
              <a:rPr lang="en-IN" sz="2000" dirty="0">
                <a:latin typeface="Trebuchet MS" panose="020B0603020202020204" pitchFamily="34" charset="0"/>
                <a:sym typeface="Corbel"/>
              </a:rPr>
              <a:t>No. </a:t>
            </a:r>
            <a:r>
              <a:rPr lang="en-IN" sz="2000" dirty="0" smtClean="0">
                <a:latin typeface="Trebuchet MS" panose="020B0603020202020204" pitchFamily="34" charset="0"/>
                <a:sym typeface="Corbel"/>
              </a:rPr>
              <a:t>of </a:t>
            </a:r>
            <a:r>
              <a:rPr lang="en-IN" sz="2000" dirty="0">
                <a:latin typeface="Trebuchet MS" panose="020B0603020202020204" pitchFamily="34" charset="0"/>
                <a:sym typeface="Corbel"/>
              </a:rPr>
              <a:t>bits in the binary representation of the input vertices and edges in a graph, etc.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262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06ECDB-EB88-FD3E-384D-BBCE5919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6858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1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1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24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  <a:t/>
            </a:r>
            <a:br>
              <a:rPr lang="en-US" sz="24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</a:br>
            <a:endParaRPr lang="en-IN" dirty="0">
              <a:latin typeface="Corbel" panose="020B0503020204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E8BC4C-70EA-7F89-7AB5-9EB8AB8AD6F3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13355" y="667336"/>
            <a:ext cx="8190817" cy="4177145"/>
          </a:xfrm>
        </p:spPr>
        <p:txBody>
          <a:bodyPr/>
          <a:lstStyle/>
          <a:p>
            <a:pPr defTabSz="685800">
              <a:lnSpc>
                <a:spcPct val="150000"/>
              </a:lnSpc>
              <a:spcBef>
                <a:spcPts val="0"/>
              </a:spcBef>
              <a:buSzPct val="80000"/>
              <a:defRPr sz="1800">
                <a:solidFill>
                  <a:srgbClr val="000000"/>
                </a:solidFill>
              </a:defRPr>
            </a:pPr>
            <a:r>
              <a:rPr lang="en-IN" sz="20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  <a:cs typeface="+mn-cs"/>
                <a:sym typeface="Corbel"/>
              </a:rPr>
              <a:t>Types of analysis:</a:t>
            </a:r>
          </a:p>
          <a:p>
            <a:pPr marL="690563" indent="-285750" defTabSz="685800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IN" sz="2000" kern="0" dirty="0">
                <a:solidFill>
                  <a:srgbClr val="000000"/>
                </a:solidFill>
                <a:latin typeface="Trebuchet MS" panose="020B0603020202020204" pitchFamily="34" charset="0"/>
                <a:sym typeface="Corbel"/>
              </a:rPr>
              <a:t>Best case Time complexity</a:t>
            </a:r>
          </a:p>
          <a:p>
            <a:pPr marL="690563" indent="-285750" defTabSz="685800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IN" sz="2000" kern="0" dirty="0">
                <a:latin typeface="Trebuchet MS" panose="020B0603020202020204" pitchFamily="34" charset="0"/>
                <a:sym typeface="Corbel"/>
              </a:rPr>
              <a:t>Worst case Time complexity</a:t>
            </a:r>
          </a:p>
          <a:p>
            <a:pPr marL="690563" indent="-285750" defTabSz="685800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IN" sz="2000" kern="0" dirty="0">
                <a:latin typeface="Trebuchet MS" panose="020B0603020202020204" pitchFamily="34" charset="0"/>
                <a:sym typeface="Corbel"/>
              </a:rPr>
              <a:t>Average case Time complexity</a:t>
            </a:r>
          </a:p>
          <a:p>
            <a:pPr defTabSz="685800">
              <a:lnSpc>
                <a:spcPct val="150000"/>
              </a:lnSpc>
              <a:spcBef>
                <a:spcPts val="0"/>
              </a:spcBef>
              <a:buClr>
                <a:srgbClr val="40BAD2"/>
              </a:buClr>
              <a:buSzPct val="80000"/>
              <a:defRPr sz="1800">
                <a:solidFill>
                  <a:srgbClr val="000000"/>
                </a:solidFill>
              </a:defRPr>
            </a:pPr>
            <a:r>
              <a:rPr lang="en-IN" sz="20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  <a:cs typeface="+mn-cs"/>
                <a:sym typeface="Corbel"/>
              </a:rPr>
              <a:t>Best case Time complexity:</a:t>
            </a:r>
          </a:p>
          <a:p>
            <a:pPr marL="675085" lvl="1" indent="-313135" algn="just" defTabSz="685800" rtl="0">
              <a:lnSpc>
                <a:spcPct val="150000"/>
              </a:lnSpc>
              <a:buSzPct val="100000"/>
              <a:buFontTx/>
              <a:buChar char="●"/>
              <a:defRPr>
                <a:solidFill>
                  <a:srgbClr val="000000"/>
                </a:solidFill>
              </a:defRPr>
            </a:pPr>
            <a:r>
              <a:rPr lang="en-IN" sz="2000" dirty="0">
                <a:solidFill>
                  <a:srgbClr val="000000"/>
                </a:solidFill>
                <a:latin typeface="Trebuchet MS" panose="020B0603020202020204" pitchFamily="34" charset="0"/>
                <a:sym typeface="Corbel"/>
              </a:rPr>
              <a:t>If an algorithm takes minimum amount of time to run to completion for a specific set of input is called best case time complexity.</a:t>
            </a:r>
          </a:p>
          <a:p>
            <a:pPr marL="675085" lvl="2" indent="-313135" algn="just" defTabSz="685800" rtl="0">
              <a:lnSpc>
                <a:spcPct val="150000"/>
              </a:lnSpc>
              <a:buSzPct val="100000"/>
              <a:buFontTx/>
              <a:buChar char="●"/>
              <a:defRPr sz="1800">
                <a:solidFill>
                  <a:srgbClr val="000000"/>
                </a:solidFill>
              </a:defRPr>
            </a:pPr>
            <a:r>
              <a:rPr lang="en-IN" sz="2000" dirty="0">
                <a:solidFill>
                  <a:srgbClr val="000000"/>
                </a:solidFill>
                <a:latin typeface="Trebuchet MS" panose="020B0603020202020204" pitchFamily="34" charset="0"/>
                <a:sym typeface="Corbel"/>
              </a:rPr>
              <a:t>Provides a lower bound on running time</a:t>
            </a:r>
            <a:r>
              <a:rPr lang="en-IN" sz="2000" dirty="0" smtClean="0">
                <a:solidFill>
                  <a:srgbClr val="000000"/>
                </a:solidFill>
                <a:latin typeface="Trebuchet MS" panose="020B0603020202020204" pitchFamily="34" charset="0"/>
                <a:sym typeface="Corbel"/>
              </a:rPr>
              <a:t>.</a:t>
            </a:r>
            <a:endParaRPr lang="en-IN" sz="2000" dirty="0">
              <a:latin typeface="Trebuchet MS" panose="020B0603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69413" y="148588"/>
            <a:ext cx="57173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spcBef>
                <a:spcPts val="450"/>
              </a:spcBef>
              <a:spcAft>
                <a:spcPts val="450"/>
              </a:spcAft>
              <a:buSzPct val="80000"/>
              <a:defRPr sz="1800">
                <a:solidFill>
                  <a:srgbClr val="000000"/>
                </a:solidFill>
              </a:defRPr>
            </a:pPr>
            <a:r>
              <a:rPr lang="en-IN" sz="2800" b="1" dirty="0">
                <a:solidFill>
                  <a:schemeClr val="tx1"/>
                </a:solidFill>
                <a:latin typeface="Trebuchet MS" panose="020B0603020202020204" pitchFamily="34" charset="0"/>
                <a:ea typeface="Cambria" panose="02040503050406030204" pitchFamily="18" charset="0"/>
                <a:sym typeface="Corbel"/>
              </a:rPr>
              <a:t>Types of </a:t>
            </a:r>
            <a:r>
              <a:rPr lang="en-IN" sz="2800" b="1" dirty="0" smtClean="0">
                <a:solidFill>
                  <a:schemeClr val="tx1"/>
                </a:solidFill>
                <a:latin typeface="Trebuchet MS" panose="020B0603020202020204" pitchFamily="34" charset="0"/>
                <a:ea typeface="Cambria" panose="02040503050406030204" pitchFamily="18" charset="0"/>
                <a:sym typeface="Corbel"/>
              </a:rPr>
              <a:t>analysis</a:t>
            </a:r>
            <a:endParaRPr lang="en-IN" sz="2800" b="1" dirty="0">
              <a:solidFill>
                <a:schemeClr val="tx1"/>
              </a:solidFill>
              <a:latin typeface="Trebuchet MS" panose="020B0603020202020204" pitchFamily="34" charset="0"/>
              <a:ea typeface="Cambria" panose="02040503050406030204" pitchFamily="18" charset="0"/>
              <a:sym typeface="Corbel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36" y="0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483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06ECDB-EB88-FD3E-384D-BBCE5919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6858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1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1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21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1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24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  <a:t/>
            </a:r>
            <a:br>
              <a:rPr lang="en-US" sz="24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</a:br>
            <a:endParaRPr lang="en-IN" dirty="0">
              <a:latin typeface="Corbel" panose="020B0503020204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4765" y="122980"/>
            <a:ext cx="56875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spcBef>
                <a:spcPts val="450"/>
              </a:spcBef>
              <a:spcAft>
                <a:spcPts val="450"/>
              </a:spcAft>
              <a:buSzPct val="80000"/>
              <a:defRPr sz="1800">
                <a:solidFill>
                  <a:srgbClr val="000000"/>
                </a:solidFill>
              </a:defRPr>
            </a:pPr>
            <a:r>
              <a:rPr lang="en-IN" sz="2800" b="1" dirty="0">
                <a:solidFill>
                  <a:schemeClr val="tx1"/>
                </a:solidFill>
                <a:latin typeface="Trebuchet MS" panose="020B0603020202020204" pitchFamily="34" charset="0"/>
                <a:ea typeface="Cambria" panose="02040503050406030204" pitchFamily="18" charset="0"/>
                <a:sym typeface="Corbel"/>
              </a:rPr>
              <a:t>Types of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4765" y="827608"/>
            <a:ext cx="852012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685800">
              <a:lnSpc>
                <a:spcPct val="150000"/>
              </a:lnSpc>
              <a:buClrTx/>
              <a:buSzPct val="100000"/>
              <a:defRPr>
                <a:solidFill>
                  <a:srgbClr val="000000"/>
                </a:solidFill>
              </a:defRPr>
            </a:pPr>
            <a:r>
              <a:rPr lang="en-IN" sz="2000" b="1" dirty="0">
                <a:solidFill>
                  <a:srgbClr val="0070C0"/>
                </a:solidFill>
                <a:latin typeface="Trebuchet MS" panose="020B0603020202020204" pitchFamily="34" charset="0"/>
                <a:sym typeface="Corbel"/>
              </a:rPr>
              <a:t>Worst case Time complexity:</a:t>
            </a:r>
          </a:p>
          <a:p>
            <a:pPr marL="363538" lvl="0" indent="-187325" algn="just" defTabSz="685800">
              <a:lnSpc>
                <a:spcPct val="150000"/>
              </a:lnSpc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</a:defRPr>
            </a:pPr>
            <a:r>
              <a:rPr lang="en-IN" sz="2000" dirty="0">
                <a:latin typeface="Trebuchet MS" panose="020B0603020202020204" pitchFamily="34" charset="0"/>
                <a:sym typeface="Corbel"/>
              </a:rPr>
              <a:t>If an algorithm takes maximum amount of time to run to completion for a specific set of input is called worst case time complexity.</a:t>
            </a:r>
          </a:p>
          <a:p>
            <a:pPr marL="363538" lvl="1" indent="-187325" algn="just" defTabSz="685800">
              <a:lnSpc>
                <a:spcPct val="150000"/>
              </a:lnSpc>
              <a:buClrTx/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IN" sz="2000" dirty="0">
                <a:latin typeface="Trebuchet MS" panose="020B0603020202020204" pitchFamily="34" charset="0"/>
                <a:sym typeface="Corbel"/>
              </a:rPr>
              <a:t>Provides an upper bound on running time.</a:t>
            </a:r>
          </a:p>
          <a:p>
            <a:pPr lvl="0" algn="just" defTabSz="685800">
              <a:lnSpc>
                <a:spcPct val="150000"/>
              </a:lnSpc>
              <a:buClrTx/>
              <a:buSzPct val="100000"/>
              <a:defRPr>
                <a:solidFill>
                  <a:srgbClr val="000000"/>
                </a:solidFill>
              </a:defRPr>
            </a:pPr>
            <a:r>
              <a:rPr lang="en-IN" sz="2000" b="1" dirty="0">
                <a:solidFill>
                  <a:srgbClr val="0070C0"/>
                </a:solidFill>
                <a:latin typeface="Trebuchet MS" panose="020B0603020202020204" pitchFamily="34" charset="0"/>
                <a:sym typeface="Corbel"/>
              </a:rPr>
              <a:t>Average case Time complexity:</a:t>
            </a:r>
          </a:p>
          <a:p>
            <a:pPr marL="363538" lvl="0" indent="-187325" algn="just" defTabSz="685800">
              <a:lnSpc>
                <a:spcPct val="150000"/>
              </a:lnSpc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</a:defRPr>
            </a:pPr>
            <a:r>
              <a:rPr lang="en-IN" sz="2000" dirty="0">
                <a:latin typeface="Trebuchet MS" panose="020B0603020202020204" pitchFamily="34" charset="0"/>
                <a:sym typeface="Corbel"/>
              </a:rPr>
              <a:t>If an algorithm takes average amount of time to run to completion for a specific set of input is called average case time complexity.</a:t>
            </a:r>
          </a:p>
          <a:p>
            <a:pPr marL="363538" lvl="1" indent="-187325" algn="just" defTabSz="685800">
              <a:lnSpc>
                <a:spcPct val="150000"/>
              </a:lnSpc>
              <a:buClrTx/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IN" sz="2000" dirty="0">
                <a:latin typeface="Trebuchet MS" panose="020B0603020202020204" pitchFamily="34" charset="0"/>
                <a:sym typeface="Corbel"/>
              </a:rPr>
              <a:t>Provides a prediction about the running time.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672" y="58397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369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80" y="-35671"/>
            <a:ext cx="9144000" cy="517917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06ECDB-EB88-FD3E-384D-BBCE5919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6858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1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1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21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1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24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  <a:t/>
            </a:r>
            <a:br>
              <a:rPr lang="en-US" sz="24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</a:br>
            <a:endParaRPr lang="en-IN" dirty="0">
              <a:latin typeface="Corbel" panose="020B0503020204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4765" y="122980"/>
            <a:ext cx="56875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85800">
              <a:buClrTx/>
            </a:pPr>
            <a:r>
              <a:rPr lang="en-US" sz="2800" b="1" kern="1200" dirty="0">
                <a:solidFill>
                  <a:schemeClr val="tx1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Asymptotic Notations</a:t>
            </a:r>
            <a:endParaRPr lang="en-US" sz="900" b="1" kern="1200" spc="-1" dirty="0">
              <a:solidFill>
                <a:schemeClr val="tx1"/>
              </a:solidFill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582" y="-32"/>
            <a:ext cx="2164268" cy="64623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3264" y="801076"/>
            <a:ext cx="852012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24000" lvl="0" indent="-243000" algn="just" defTabSz="914378">
              <a:lnSpc>
                <a:spcPct val="150000"/>
              </a:lnSpc>
              <a:buSzPct val="45000"/>
              <a:buFont typeface="Wingdings" charset="2"/>
              <a:buChar char=""/>
            </a:pPr>
            <a:r>
              <a:rPr lang="en-US" sz="2000" kern="12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The </a:t>
            </a:r>
            <a:r>
              <a:rPr lang="en-US" sz="2000" kern="12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theoretical (priori) approach </a:t>
            </a:r>
            <a:r>
              <a:rPr lang="en-US" sz="2000" kern="12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of analyzing an algorithm to measure the efficiency does not depend on the implementation of the algorithm.   </a:t>
            </a:r>
          </a:p>
          <a:p>
            <a:pPr marL="324000" lvl="0" indent="-243000" algn="just" defTabSz="914378">
              <a:lnSpc>
                <a:spcPct val="150000"/>
              </a:lnSpc>
              <a:buSzPct val="45000"/>
              <a:buFont typeface="Wingdings" charset="2"/>
              <a:buChar char=""/>
            </a:pPr>
            <a:r>
              <a:rPr lang="en-US" sz="2000" kern="12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In this approach, the running time of an algorithm is describes as </a:t>
            </a:r>
            <a:r>
              <a:rPr lang="en-US" sz="2000" kern="12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Asymptotic Notations</a:t>
            </a:r>
            <a:r>
              <a:rPr lang="en-US" sz="2000" kern="1200" dirty="0">
                <a:solidFill>
                  <a:srgbClr val="A7116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. </a:t>
            </a:r>
          </a:p>
          <a:p>
            <a:pPr marL="324000" lvl="0" indent="-243000" algn="just" defTabSz="914378">
              <a:lnSpc>
                <a:spcPct val="150000"/>
              </a:lnSpc>
              <a:buSzPct val="45000"/>
              <a:buFont typeface="Wingdings" charset="2"/>
              <a:buChar char=""/>
            </a:pPr>
            <a:r>
              <a:rPr lang="en-US" sz="2000" kern="12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Computing the running time of algorithm’s operations in mathematical units of computation and defining the mathematical formula of its run-time performance is referred to as </a:t>
            </a:r>
            <a:r>
              <a:rPr lang="en-US" sz="2000" kern="12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Asymptotic Analysis. </a:t>
            </a:r>
          </a:p>
        </p:txBody>
      </p:sp>
    </p:spTree>
    <p:extLst>
      <p:ext uri="{BB962C8B-B14F-4D97-AF65-F5344CB8AC3E}">
        <p14:creationId xmlns:p14="http://schemas.microsoft.com/office/powerpoint/2010/main" val="1064241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80" y="-35671"/>
            <a:ext cx="9144000" cy="517917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06ECDB-EB88-FD3E-384D-BBCE5919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6858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1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1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21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1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24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  <a:t/>
            </a:r>
            <a:br>
              <a:rPr lang="en-US" sz="24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</a:br>
            <a:endParaRPr lang="en-IN" dirty="0">
              <a:latin typeface="Corbel" panose="020B0503020204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4765" y="122980"/>
            <a:ext cx="56875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85800">
              <a:buClrTx/>
            </a:pPr>
            <a:r>
              <a:rPr lang="en-US" sz="2800" b="1" kern="1200" dirty="0">
                <a:solidFill>
                  <a:schemeClr val="tx1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Asymptotic Notations</a:t>
            </a:r>
            <a:endParaRPr lang="en-US" sz="900" b="1" kern="1200" spc="-1" dirty="0">
              <a:solidFill>
                <a:schemeClr val="tx1"/>
              </a:solidFill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582" y="-32"/>
            <a:ext cx="2164268" cy="64623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43570" y="804851"/>
            <a:ext cx="8363982" cy="4067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24000" lvl="0" indent="-243000" algn="just" defTabSz="914378">
              <a:lnSpc>
                <a:spcPct val="150000"/>
              </a:lnSpc>
              <a:spcBef>
                <a:spcPts val="1063"/>
              </a:spcBef>
              <a:buSzPct val="45000"/>
              <a:buFont typeface="Wingdings" charset="2"/>
              <a:buChar char=""/>
            </a:pPr>
            <a:r>
              <a:rPr lang="en-US" sz="2000" kern="12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An algorithm </a:t>
            </a:r>
            <a:r>
              <a:rPr lang="en-US" sz="2000" kern="12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may not have </a:t>
            </a:r>
            <a:r>
              <a:rPr lang="en-US" sz="2000" kern="12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the same performance for different types of inputs. With the increase in the input size, the performance will change.</a:t>
            </a:r>
          </a:p>
          <a:p>
            <a:pPr marL="324000" lvl="0" indent="-243000" algn="just" defTabSz="914378">
              <a:lnSpc>
                <a:spcPct val="150000"/>
              </a:lnSpc>
              <a:spcBef>
                <a:spcPts val="1063"/>
              </a:spcBef>
              <a:buSzPct val="45000"/>
              <a:buFont typeface="Wingdings" charset="2"/>
              <a:buChar char=""/>
            </a:pPr>
            <a:r>
              <a:rPr lang="en-US" sz="2000" kern="12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Asymptotic analysis accomplishes the study of </a:t>
            </a:r>
            <a:r>
              <a:rPr lang="en-US" sz="2000" kern="12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change in performance</a:t>
            </a:r>
            <a:r>
              <a:rPr lang="en-US" sz="2000" kern="1200" dirty="0">
                <a:solidFill>
                  <a:srgbClr val="A7116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 </a:t>
            </a:r>
            <a:r>
              <a:rPr lang="en-US" sz="2000" kern="12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of the algorithm with the change in the order of the input size.</a:t>
            </a:r>
          </a:p>
          <a:p>
            <a:pPr marL="324000" lvl="0" indent="-243000" algn="just" defTabSz="914378">
              <a:lnSpc>
                <a:spcPct val="150000"/>
              </a:lnSpc>
              <a:spcBef>
                <a:spcPts val="1063"/>
              </a:spcBef>
              <a:buSzPct val="45000"/>
              <a:buFont typeface="Wingdings" charset="2"/>
              <a:buChar char=""/>
            </a:pPr>
            <a:r>
              <a:rPr lang="en-US" sz="2000" kern="12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Using Asymptotic analysis, we can very well define the </a:t>
            </a:r>
            <a:r>
              <a:rPr lang="en-US" sz="2000" kern="12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best case, average case, and worst case</a:t>
            </a:r>
            <a:r>
              <a:rPr lang="en-US" sz="2000" kern="12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 scenario of an algorithm.</a:t>
            </a:r>
            <a:endParaRPr lang="en-US" sz="2000" kern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218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80" y="-35671"/>
            <a:ext cx="9144000" cy="517917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06ECDB-EB88-FD3E-384D-BBCE5919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6858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1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1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21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1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24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  <a:t/>
            </a:r>
            <a:br>
              <a:rPr lang="en-US" sz="24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</a:br>
            <a:endParaRPr lang="en-IN" dirty="0">
              <a:latin typeface="Corbel" panose="020B0503020204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4765" y="122980"/>
            <a:ext cx="56875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85800">
              <a:buClrTx/>
            </a:pPr>
            <a:r>
              <a:rPr lang="en-US" sz="2800" b="1" kern="1200" dirty="0">
                <a:solidFill>
                  <a:schemeClr val="tx1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Asymptotic Notations</a:t>
            </a:r>
            <a:endParaRPr lang="en-US" sz="900" b="1" kern="1200" spc="-1" dirty="0">
              <a:solidFill>
                <a:schemeClr val="tx1"/>
              </a:solidFill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582" y="-32"/>
            <a:ext cx="2164268" cy="6462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20624" y="732872"/>
                <a:ext cx="8089392" cy="40625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24000" lvl="0" indent="-243000" algn="just" defTabSz="914378">
                  <a:lnSpc>
                    <a:spcPct val="150000"/>
                  </a:lnSpc>
                  <a:spcBef>
                    <a:spcPts val="1063"/>
                  </a:spcBef>
                  <a:buSzPct val="45000"/>
                  <a:buFont typeface="Wingdings" charset="2"/>
                  <a:buChar char=""/>
                </a:pPr>
                <a:r>
                  <a:rPr lang="en-US" sz="2000" kern="12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Asymptotic notations are mathematical notations used to represent the time complexity of algorithms for Asymptotic analysis.</a:t>
                </a:r>
              </a:p>
              <a:p>
                <a:pPr marL="324000" lvl="0" indent="-243000" algn="just" defTabSz="914378">
                  <a:lnSpc>
                    <a:spcPct val="150000"/>
                  </a:lnSpc>
                  <a:spcBef>
                    <a:spcPts val="1063"/>
                  </a:spcBef>
                  <a:buSzPct val="45000"/>
                  <a:buFont typeface="Wingdings" charset="2"/>
                  <a:buChar char=""/>
                </a:pPr>
                <a:r>
                  <a:rPr lang="en-US" sz="2000" kern="12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Following are the commonly used asymptotic notations to calculate the running time complexity of an algorithm.</a:t>
                </a:r>
              </a:p>
              <a:p>
                <a:pPr marL="685800" lvl="1" indent="-342900" algn="just" defTabSz="914378">
                  <a:lnSpc>
                    <a:spcPct val="150000"/>
                  </a:lnSpc>
                  <a:spcBef>
                    <a:spcPts val="500"/>
                  </a:spcBef>
                  <a:buClr>
                    <a:srgbClr val="FF0000"/>
                  </a:buClr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Ο</m:t>
                    </m:r>
                  </m:oMath>
                </a14:m>
                <a:r>
                  <a:rPr lang="en-US" sz="2000" kern="1200" dirty="0">
                    <a:solidFill>
                      <a:schemeClr val="tx1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 Notation </a:t>
                </a:r>
                <a:r>
                  <a:rPr lang="en-US" sz="2000" kern="1200" dirty="0">
                    <a:solidFill>
                      <a:srgbClr val="0070C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(Big 𝐎 notation)</a:t>
                </a:r>
              </a:p>
              <a:p>
                <a:pPr marL="685800" lvl="1" indent="-342900" algn="just" defTabSz="914378">
                  <a:lnSpc>
                    <a:spcPct val="150000"/>
                  </a:lnSpc>
                  <a:spcBef>
                    <a:spcPts val="500"/>
                  </a:spcBef>
                  <a:buClr>
                    <a:srgbClr val="FF0000"/>
                  </a:buClr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Ω</m:t>
                    </m:r>
                  </m:oMath>
                </a14:m>
                <a:r>
                  <a:rPr lang="en-US" sz="2000" kern="1200" dirty="0">
                    <a:solidFill>
                      <a:schemeClr val="tx1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 </a:t>
                </a:r>
                <a:r>
                  <a:rPr lang="en-US" sz="2000" kern="1200" dirty="0" smtClean="0">
                    <a:solidFill>
                      <a:schemeClr val="tx1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Notation </a:t>
                </a:r>
                <a:r>
                  <a:rPr lang="en-US" sz="2000" kern="1200" dirty="0" smtClean="0">
                    <a:solidFill>
                      <a:srgbClr val="0070C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(</a:t>
                </a:r>
                <a:r>
                  <a:rPr lang="en-US" sz="2000" kern="1200" dirty="0">
                    <a:solidFill>
                      <a:srgbClr val="0070C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Omega notation)</a:t>
                </a:r>
              </a:p>
              <a:p>
                <a:pPr marL="685800" lvl="1" indent="-342900" algn="just" defTabSz="914378">
                  <a:lnSpc>
                    <a:spcPct val="150000"/>
                  </a:lnSpc>
                  <a:spcBef>
                    <a:spcPts val="500"/>
                  </a:spcBef>
                  <a:buClr>
                    <a:srgbClr val="FF0000"/>
                  </a:buClr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θ</m:t>
                    </m:r>
                  </m:oMath>
                </a14:m>
                <a:r>
                  <a:rPr lang="en-US" sz="2000" kern="1200" dirty="0">
                    <a:solidFill>
                      <a:schemeClr val="tx1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 Notation </a:t>
                </a:r>
                <a:r>
                  <a:rPr lang="en-US" sz="2000" kern="1200" dirty="0">
                    <a:solidFill>
                      <a:srgbClr val="0070C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(Theta notation)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24" y="732872"/>
                <a:ext cx="8089392" cy="4062587"/>
              </a:xfrm>
              <a:prstGeom prst="rect">
                <a:avLst/>
              </a:prstGeom>
              <a:blipFill>
                <a:blip r:embed="rId4"/>
                <a:stretch>
                  <a:fillRect r="-754" b="-14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8514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35671"/>
            <a:ext cx="9144000" cy="517917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06ECDB-EB88-FD3E-384D-BBCE5919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6858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1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1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21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1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24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  <a:t/>
            </a:r>
            <a:br>
              <a:rPr lang="en-US" sz="24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</a:br>
            <a:endParaRPr lang="en-IN" dirty="0">
              <a:latin typeface="Corbel" panose="020B0503020204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4765" y="122980"/>
            <a:ext cx="56875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85800">
              <a:buClrTx/>
            </a:pPr>
            <a:r>
              <a:rPr lang="en-US" sz="2800" b="1" kern="1200" dirty="0">
                <a:solidFill>
                  <a:schemeClr val="tx1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Asymptotic Notations</a:t>
            </a:r>
            <a:endParaRPr lang="en-US" sz="900" b="1" kern="1200" spc="-1" dirty="0">
              <a:solidFill>
                <a:schemeClr val="tx1"/>
              </a:solidFill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582" y="-32"/>
            <a:ext cx="2164268" cy="64623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20624" y="1317052"/>
            <a:ext cx="7735824" cy="1882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24000" lvl="0" indent="-243000" algn="just" defTabSz="914378">
              <a:lnSpc>
                <a:spcPct val="90000"/>
              </a:lnSpc>
              <a:spcBef>
                <a:spcPts val="1063"/>
              </a:spcBef>
              <a:buSzPct val="45000"/>
              <a:buFont typeface="Wingdings" charset="2"/>
              <a:buChar char=""/>
            </a:pPr>
            <a:r>
              <a:rPr lang="en-US" sz="2000" kern="12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Asymptotic Notations are used,</a:t>
            </a:r>
          </a:p>
          <a:p>
            <a:pPr marL="685800" lvl="1" indent="-342900" algn="just" defTabSz="914378">
              <a:lnSpc>
                <a:spcPct val="150000"/>
              </a:lnSpc>
              <a:spcBef>
                <a:spcPts val="500"/>
              </a:spcBef>
              <a:buClrTx/>
              <a:buFont typeface="+mj-lt"/>
              <a:buAutoNum type="arabicPeriod"/>
            </a:pPr>
            <a:r>
              <a:rPr lang="en-US" sz="2000" kern="12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To characterize the </a:t>
            </a:r>
            <a:r>
              <a:rPr lang="en-US" sz="2000" kern="12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complexity </a:t>
            </a:r>
            <a:r>
              <a:rPr lang="en-US" sz="2000" kern="12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of an algorithm.</a:t>
            </a:r>
          </a:p>
          <a:p>
            <a:pPr marL="685800" lvl="1" indent="-342900" algn="just" defTabSz="914378">
              <a:lnSpc>
                <a:spcPct val="150000"/>
              </a:lnSpc>
              <a:spcBef>
                <a:spcPts val="500"/>
              </a:spcBef>
              <a:buClrTx/>
              <a:buFont typeface="+mj-lt"/>
              <a:buAutoNum type="arabicPeriod"/>
            </a:pPr>
            <a:r>
              <a:rPr lang="en-US" sz="2000" kern="12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To compare the </a:t>
            </a:r>
            <a:r>
              <a:rPr lang="en-US" sz="2000" kern="12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performance</a:t>
            </a:r>
            <a:r>
              <a:rPr lang="en-US" sz="2000" kern="12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 of two or more algorithms solving the same problem.</a:t>
            </a:r>
          </a:p>
        </p:txBody>
      </p:sp>
    </p:spTree>
    <p:extLst>
      <p:ext uri="{BB962C8B-B14F-4D97-AF65-F5344CB8AC3E}">
        <p14:creationId xmlns:p14="http://schemas.microsoft.com/office/powerpoint/2010/main" val="1395040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80" y="-35671"/>
            <a:ext cx="9144000" cy="517917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06ECDB-EB88-FD3E-384D-BBCE5919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6858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1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1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21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  <a:t/>
            </a:r>
            <a:br>
              <a:rPr lang="en-US" sz="2100" b="1" dirty="0">
                <a:solidFill>
                  <a:prstClr val="black"/>
                </a:solidFill>
                <a:latin typeface="Arial"/>
                <a:ea typeface="Cambria" panose="02040503050406030204" pitchFamily="18" charset="0"/>
              </a:rPr>
            </a:br>
            <a:r>
              <a:rPr lang="en-US" sz="24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  <a:t/>
            </a:r>
            <a:br>
              <a:rPr lang="en-US" sz="2400" b="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</a:rPr>
            </a:br>
            <a:endParaRPr lang="en-IN" dirty="0">
              <a:latin typeface="Corbel" panose="020B0503020204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5790" y="122980"/>
            <a:ext cx="66677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buClrTx/>
            </a:pPr>
            <a:r>
              <a:rPr lang="en-US" sz="2800" b="1" kern="1200" spc="-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𝐎-Notation (Big 𝐎 notation</a:t>
            </a:r>
            <a:r>
              <a:rPr lang="en-US" sz="2800" b="1" kern="1200" spc="-1" dirty="0" smtClean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)</a:t>
            </a:r>
            <a:endParaRPr lang="en-US" sz="2800" b="1" kern="1200" spc="-1" dirty="0">
              <a:solidFill>
                <a:prstClr val="black"/>
              </a:solidFill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582" y="-32"/>
            <a:ext cx="2164268" cy="6462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>
              <a:xfrm>
                <a:off x="155790" y="755671"/>
                <a:ext cx="8794750" cy="4083050"/>
              </a:xfrm>
              <a:prstGeom prst="rect">
                <a:avLst/>
              </a:prstGeom>
            </p:spPr>
            <p:txBody>
              <a:bodyPr lIns="0" tIns="0" rIns="0" bIns="0">
                <a:normAutofit/>
              </a:bodyPr>
              <a:lstStyle>
                <a:lvl1pPr marL="324000" indent="-243000" algn="l" defTabSz="914378" rtl="0" eaLnBrk="1" latinLnBrk="0" hangingPunct="1">
                  <a:lnSpc>
                    <a:spcPct val="90000"/>
                  </a:lnSpc>
                  <a:spcBef>
                    <a:spcPts val="1063"/>
                  </a:spcBef>
                  <a:buClr>
                    <a:srgbClr val="000000"/>
                  </a:buClr>
                  <a:buSzPct val="45000"/>
                  <a:buFont typeface="Wingdings" charset="2"/>
                  <a:buChar char="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8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72" indent="-228594" algn="l" defTabSz="914378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8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348" indent="-228594" algn="l" defTabSz="914378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8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8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5" indent="-228594" algn="l" defTabSz="914378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8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 smtClean="0">
                    <a:latin typeface="Trebuchet MS" panose="020B0603020202020204" pitchFamily="34" charset="0"/>
                    <a:ea typeface="Cambria" panose="02040503050406030204" pitchFamily="18" charset="0"/>
                  </a:rPr>
                  <a:t>The notation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Ο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 is the formal way to express the </a:t>
                </a:r>
                <a:r>
                  <a:rPr lang="en-US" sz="2000" dirty="0">
                    <a:solidFill>
                      <a:srgbClr val="0070C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upper bound </a:t>
                </a:r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of an algorithm's running time. </a:t>
                </a:r>
              </a:p>
              <a:p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It measures the </a:t>
                </a:r>
                <a:r>
                  <a:rPr lang="en-US" sz="2000" dirty="0">
                    <a:solidFill>
                      <a:srgbClr val="0070C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worst case time complexity </a:t>
                </a:r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or the longest amount of time an algorithm can possibly take to complete.</a:t>
                </a:r>
              </a:p>
              <a:p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For a given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, we denote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Ο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the set of functions,</a:t>
                </a:r>
              </a:p>
              <a:p>
                <a:endParaRPr lang="en-US" sz="2000" dirty="0"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  <a:p>
                <a:endParaRPr lang="en-US" sz="2000" dirty="0"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  <a:p>
                <a:endParaRPr lang="en-US" sz="2000" dirty="0"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  <a:p>
                <a:endParaRPr lang="en-US" sz="2000" dirty="0"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790" y="755671"/>
                <a:ext cx="8794750" cy="4083050"/>
              </a:xfrm>
              <a:prstGeom prst="rect">
                <a:avLst/>
              </a:prstGeom>
              <a:blipFill>
                <a:blip r:embed="rId4"/>
                <a:stretch>
                  <a:fillRect t="-2836" r="-25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38771" y="2528852"/>
                <a:ext cx="8117549" cy="664012"/>
              </a:xfrm>
              <a:prstGeom prst="roundRect">
                <a:avLst/>
              </a:pr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defTabSz="685800">
                  <a:buClrTx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Ο</m:t>
                    </m:r>
                    <m: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1650" kern="1200" dirty="0">
                    <a:solidFill>
                      <a:srgbClr val="002060"/>
                    </a:solidFill>
                    <a:latin typeface="Trebuchet MS" panose="020B0603020202020204" pitchFamily="34" charset="0"/>
                  </a:rPr>
                  <a:t>= {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50" kern="1200" dirty="0">
                    <a:solidFill>
                      <a:srgbClr val="002060"/>
                    </a:solidFill>
                    <a:latin typeface="Trebuchet MS" panose="020B0603020202020204" pitchFamily="34" charset="0"/>
                  </a:rPr>
                  <a:t> : there exist positive constants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sz="1650" kern="1200" dirty="0">
                    <a:solidFill>
                      <a:srgbClr val="002060"/>
                    </a:solidFill>
                    <a:latin typeface="Trebuchet MS" panose="020B0603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1650" kern="1200" baseline="-25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50" kern="1200" dirty="0">
                    <a:solidFill>
                      <a:srgbClr val="002060"/>
                    </a:solidFill>
                    <a:latin typeface="Trebuchet MS" panose="020B0603020202020204" pitchFamily="34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0≤</m:t>
                    </m:r>
                    <m:r>
                      <m:rPr>
                        <m:sty m:val="p"/>
                      </m:rP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)≤</m:t>
                    </m:r>
                    <m:r>
                      <m:rPr>
                        <m:sty m:val="p"/>
                      </m:rP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cg</m:t>
                    </m:r>
                    <m: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650" kern="1200" dirty="0">
                    <a:solidFill>
                      <a:srgbClr val="002060"/>
                    </a:solidFill>
                    <a:latin typeface="Trebuchet MS" panose="020B0603020202020204" pitchFamily="34" charset="0"/>
                  </a:rPr>
                  <a:t>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1650" kern="1200" baseline="-250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sz="1650" kern="1200" dirty="0">
                    <a:solidFill>
                      <a:srgbClr val="002060"/>
                    </a:solidFill>
                    <a:latin typeface="Trebuchet MS" panose="020B0603020202020204" pitchFamily="34" charset="0"/>
                  </a:rPr>
                  <a:t>}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771" y="2528852"/>
                <a:ext cx="8117549" cy="664012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0975" y="3321937"/>
            <a:ext cx="4124302" cy="164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875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4B20E2A-F2D8-419C-9FD1-95D26342647C}"/>
                  </a:ext>
                </a:extLst>
              </p:cNvPr>
              <p:cNvSpPr/>
              <p:nvPr/>
            </p:nvSpPr>
            <p:spPr>
              <a:xfrm>
                <a:off x="4050461" y="830980"/>
                <a:ext cx="4828032" cy="41614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285750" indent="-285750" defTabSz="685800">
                  <a:spcBef>
                    <a:spcPts val="6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kern="12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 is an asymptotically </a:t>
                </a:r>
                <a:r>
                  <a:rPr lang="en-US" sz="2000" b="1" kern="12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upper bound </a:t>
                </a:r>
                <a:r>
                  <a:rPr lang="en-US" sz="2000" kern="12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kern="12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.</a:t>
                </a:r>
              </a:p>
              <a:p>
                <a:pPr marL="285750" indent="-285750" defTabSz="685800">
                  <a:spcBef>
                    <a:spcPts val="6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2000" kern="12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implies:  </a:t>
                </a:r>
              </a:p>
              <a:p>
                <a:pPr defTabSz="685800">
                  <a:spcBef>
                    <a:spcPts val="600"/>
                  </a:spcBef>
                  <a:spcAft>
                    <a:spcPts val="600"/>
                  </a:spcAft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0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0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“≤” </m:t>
                      </m:r>
                      <m:r>
                        <a:rPr lang="en-US" sz="20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0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0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0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kern="1200" dirty="0">
                  <a:solidFill>
                    <a:prstClr val="black"/>
                  </a:solidFill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  <a:p>
                <a:pPr marL="285750" indent="-285750" defTabSz="685800">
                  <a:spcBef>
                    <a:spcPts val="6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</a:pPr>
                <a:r>
                  <a:rPr lang="en-US" sz="2000" kern="1200" dirty="0" smtClean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An </a:t>
                </a:r>
                <a:r>
                  <a:rPr lang="en-US" sz="2000" kern="12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upper bound </a:t>
                </a:r>
                <a14:m>
                  <m:oMath xmlns:m="http://schemas.openxmlformats.org/officeDocument/2006/math"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kern="12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 of an algorithm defines the maximum time required, we can always solve the problem in at most </a:t>
                </a:r>
                <a14:m>
                  <m:oMath xmlns:m="http://schemas.openxmlformats.org/officeDocument/2006/math"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kern="12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 time. </a:t>
                </a:r>
              </a:p>
              <a:p>
                <a:pPr marL="285750" indent="-285750" defTabSz="685800">
                  <a:spcBef>
                    <a:spcPts val="6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</a:pPr>
                <a:r>
                  <a:rPr lang="en-US" sz="2000" kern="1200" dirty="0" smtClean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Time </a:t>
                </a:r>
                <a:r>
                  <a:rPr lang="en-US" sz="2000" kern="12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taken by a known algorithm to solve a problem with worse case input gives the upper bound.</a:t>
                </a:r>
              </a:p>
              <a:p>
                <a:pPr marL="257175" indent="-257175" defTabSz="685800">
                  <a:spcBef>
                    <a:spcPts val="6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§"/>
                </a:pPr>
                <a:endParaRPr lang="en-US" sz="2000" kern="1200" dirty="0">
                  <a:solidFill>
                    <a:prstClr val="white"/>
                  </a:solidFill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4B20E2A-F2D8-419C-9FD1-95D2634264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461" y="830980"/>
                <a:ext cx="4828032" cy="4161408"/>
              </a:xfrm>
              <a:prstGeom prst="rect">
                <a:avLst/>
              </a:prstGeom>
              <a:blipFill>
                <a:blip r:embed="rId3"/>
                <a:stretch>
                  <a:fillRect l="-1515" t="-1171" r="-25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307" y="1576547"/>
            <a:ext cx="2957513" cy="20002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07CDAC7-72D0-A072-B7B8-0A5E4CD3E74A}"/>
              </a:ext>
            </a:extLst>
          </p:cNvPr>
          <p:cNvGrpSpPr/>
          <p:nvPr/>
        </p:nvGrpSpPr>
        <p:grpSpPr>
          <a:xfrm>
            <a:off x="568199" y="1101340"/>
            <a:ext cx="3442969" cy="3221917"/>
            <a:chOff x="985183" y="1435941"/>
            <a:chExt cx="5051020" cy="4295890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985183" y="1435941"/>
              <a:ext cx="0" cy="379538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85184" y="5218801"/>
              <a:ext cx="4572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997134" y="3636725"/>
              <a:ext cx="0" cy="160020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/>
                <p:cNvSpPr txBox="1"/>
                <p:nvPr/>
              </p:nvSpPr>
              <p:spPr>
                <a:xfrm>
                  <a:off x="2523323" y="5239388"/>
                  <a:ext cx="2507672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685800"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1" i="1" kern="120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n-US" sz="1800" b="1" i="1" kern="120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1" i="1" kern="120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1800" b="1" i="1" kern="120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en-US" sz="1800" b="1" i="1" kern="120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</a:rPr>
                          <m:t>𝑶</m:t>
                        </m:r>
                        <m:r>
                          <a:rPr lang="en-US" sz="1800" b="1" i="1" kern="120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1" i="1" kern="120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  <m:r>
                          <a:rPr lang="en-US" sz="1800" b="1" i="1" kern="120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1" i="1" kern="120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1800" b="1" i="1" kern="120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</a:rPr>
                          <m:t>))</m:t>
                        </m:r>
                      </m:oMath>
                    </m:oMathPara>
                  </a14:m>
                  <a:endParaRPr lang="en-US" sz="1800" b="1" kern="1200">
                    <a:solidFill>
                      <a:srgbClr val="A71160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3323" y="5239388"/>
                  <a:ext cx="2507672" cy="492443"/>
                </a:xfrm>
                <a:prstGeom prst="rect">
                  <a:avLst/>
                </a:prstGeom>
                <a:blipFill>
                  <a:blip r:embed="rId5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1765131" y="5163094"/>
                  <a:ext cx="570116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685800"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500" b="1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1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sz="1500" b="1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500" b="1" i="1" kern="120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5131" y="5163094"/>
                  <a:ext cx="570116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5466087" y="4976894"/>
                  <a:ext cx="570116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685800"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00" b="1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oMath>
                    </m:oMathPara>
                  </a14:m>
                  <a:endParaRPr lang="en-US" sz="1500" b="1" i="1" kern="120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6087" y="4976894"/>
                  <a:ext cx="570116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4126986" y="1587298"/>
                  <a:ext cx="957064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685800"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00" b="1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sz="1500" b="1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500" b="1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  <m:r>
                          <a:rPr lang="en-US" sz="1500" b="1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500" b="1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1500" b="1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500" b="1" i="1" kern="120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6986" y="1587298"/>
                  <a:ext cx="957064" cy="430887"/>
                </a:xfrm>
                <a:prstGeom prst="rect">
                  <a:avLst/>
                </a:prstGeom>
                <a:blipFill>
                  <a:blip r:embed="rId8"/>
                  <a:stretch>
                    <a:fillRect r="-6838" b="-1320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4167714" y="2683019"/>
                  <a:ext cx="957064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685800">
                    <a:buClrTx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00" b="1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n-US" sz="1500" b="1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500" b="1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1500" b="1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500" b="1" i="1" kern="1200">
                    <a:solidFill>
                      <a:prstClr val="black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7714" y="2683019"/>
                  <a:ext cx="957064" cy="430887"/>
                </a:xfrm>
                <a:prstGeom prst="rect">
                  <a:avLst/>
                </a:prstGeom>
                <a:blipFill>
                  <a:blip r:embed="rId9"/>
                  <a:stretch>
                    <a:fillRect b="-1320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TextShape 1">
            <a:extLst>
              <a:ext uri="{FF2B5EF4-FFF2-40B4-BE49-F238E27FC236}">
                <a16:creationId xmlns:a16="http://schemas.microsoft.com/office/drawing/2014/main" id="{63A2289B-2D62-5707-2115-80E5B249785B}"/>
              </a:ext>
            </a:extLst>
          </p:cNvPr>
          <p:cNvSpPr txBox="1"/>
          <p:nvPr/>
        </p:nvSpPr>
        <p:spPr>
          <a:xfrm>
            <a:off x="194861" y="179311"/>
            <a:ext cx="6390090" cy="429300"/>
          </a:xfrm>
          <a:prstGeom prst="rect">
            <a:avLst/>
          </a:prstGeom>
          <a:noFill/>
          <a:ln>
            <a:noFill/>
          </a:ln>
        </p:spPr>
        <p:txBody>
          <a:bodyPr tIns="68580" bIns="68580">
            <a:normAutofit/>
          </a:bodyPr>
          <a:lstStyle/>
          <a:p>
            <a:pPr algn="just" defTabSz="685800">
              <a:buClrTx/>
            </a:pPr>
            <a:endParaRPr lang="en-US" sz="1725" kern="1200" spc="-1" dirty="0">
              <a:latin typeface="Algerian" panose="04020705040A02060702" pitchFamily="82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15" name="Google Shape;94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525" y="9684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23582" y="-32"/>
            <a:ext cx="2164268" cy="64623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2848" y="92440"/>
            <a:ext cx="6206262" cy="7886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685800">
              <a:buClrTx/>
            </a:pPr>
            <a:r>
              <a:rPr lang="en-US" sz="2800" b="1" kern="1200" spc="-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𝐎-Notation (Big 𝐎 notation)</a:t>
            </a:r>
          </a:p>
          <a:p>
            <a:pPr lvl="0" algn="just" defTabSz="685800">
              <a:buClrTx/>
            </a:pPr>
            <a:endParaRPr lang="en-US" sz="1725" kern="1200" spc="-1" dirty="0">
              <a:latin typeface="Algerian" panose="04020705040A02060702" pitchFamily="82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68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324514" y="841248"/>
                <a:ext cx="8612222" cy="413473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Big Omega notation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) is used to define the </a:t>
                </a:r>
                <a:r>
                  <a:rPr lang="en-US" sz="2000" dirty="0">
                    <a:solidFill>
                      <a:srgbClr val="0070C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lower bound</a:t>
                </a:r>
                <a:r>
                  <a:rPr lang="en-US" sz="2000" dirty="0">
                    <a:solidFill>
                      <a:srgbClr val="A7116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 </a:t>
                </a:r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of any algorithm or we can say the best case of any algorithm.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This always indicates the </a:t>
                </a:r>
                <a:r>
                  <a:rPr lang="en-US" sz="2000" dirty="0">
                    <a:solidFill>
                      <a:srgbClr val="0070C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minimum time required</a:t>
                </a:r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 for any algorithm for all input values, therefore the best case of any algorithm.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When a time complexity for any algorithm is represented in the form of big-Ω, it means that the algorithm will take </a:t>
                </a:r>
                <a:r>
                  <a:rPr lang="en-US" sz="2000" dirty="0">
                    <a:solidFill>
                      <a:srgbClr val="0070C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at least this much time</a:t>
                </a:r>
                <a:r>
                  <a:rPr lang="en-US" sz="2000" dirty="0">
                    <a:solidFill>
                      <a:srgbClr val="A7116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 </a:t>
                </a:r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to complete it's execution. It can definitely take more time than this too.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For a given function 𝑔(𝑛), we denote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𝑔(𝑛)) the set of functions,</a:t>
                </a:r>
              </a:p>
              <a:p>
                <a:endParaRPr lang="en-US" sz="2000" dirty="0"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  <a:p>
                <a:endParaRPr lang="en-US" sz="2000" dirty="0"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324514" y="841248"/>
                <a:ext cx="8612222" cy="4134739"/>
              </a:xfrm>
              <a:blipFill>
                <a:blip r:embed="rId2"/>
                <a:stretch>
                  <a:fillRect t="-2065" r="-1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12440" y="4121690"/>
                <a:ext cx="8121973" cy="664012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defTabSz="685800">
                  <a:buClrTx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Ω</m:t>
                    </m:r>
                    <m:r>
                      <a:rPr lang="el-GR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m:rPr>
                        <m:sty m:val="p"/>
                      </m:rPr>
                      <a:rPr lang="el-GR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g</m:t>
                    </m:r>
                    <m:r>
                      <a:rPr lang="el-GR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m:rPr>
                        <m:sty m:val="p"/>
                      </m:rPr>
                      <a:rPr lang="el-GR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n</m:t>
                    </m:r>
                    <m:r>
                      <a:rPr lang="el-GR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))={</m:t>
                    </m:r>
                    <m:r>
                      <m:rPr>
                        <m:sty m:val="p"/>
                      </m:rPr>
                      <a:rPr lang="el-GR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f</m:t>
                    </m:r>
                    <m:r>
                      <a:rPr lang="el-GR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m:rPr>
                        <m:sty m:val="p"/>
                      </m:rPr>
                      <a:rPr lang="el-GR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n</m:t>
                    </m:r>
                    <m:r>
                      <a:rPr lang="el-GR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):</m:t>
                    </m:r>
                  </m:oMath>
                </a14:m>
                <a:r>
                  <a:rPr lang="en-US" sz="1650" kern="1200" dirty="0">
                    <a:solidFill>
                      <a:srgbClr val="002060"/>
                    </a:solidFill>
                    <a:latin typeface="Trebuchet MS" panose="020B0603020202020204" pitchFamily="34" charset="0"/>
                    <a:ea typeface="+mn-ea"/>
                    <a:cs typeface="+mn-cs"/>
                  </a:rPr>
                  <a:t>there exist positive constants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c</m:t>
                    </m:r>
                  </m:oMath>
                </a14:m>
                <a:r>
                  <a:rPr lang="en-US" sz="1650" kern="1200" dirty="0">
                    <a:solidFill>
                      <a:srgbClr val="002060"/>
                    </a:solidFill>
                    <a:latin typeface="Trebuchet MS" panose="020B0603020202020204" pitchFamily="34" charset="0"/>
                    <a:ea typeface="+mn-ea"/>
                    <a:cs typeface="+mn-cs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50" i="1" kern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650" kern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e>
                      <m:sub>
                        <m:r>
                          <a:rPr lang="en-US" sz="1650" kern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50" kern="1200" dirty="0">
                    <a:solidFill>
                      <a:srgbClr val="002060"/>
                    </a:solidFill>
                    <a:latin typeface="Trebuchet MS" panose="020B0603020202020204" pitchFamily="34" charset="0"/>
                    <a:ea typeface="+mn-ea"/>
                    <a:cs typeface="+mn-cs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0≤</m:t>
                    </m:r>
                    <m:r>
                      <m:rPr>
                        <m:sty m:val="p"/>
                      </m:rP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cg</m:t>
                    </m:r>
                    <m:d>
                      <m:dPr>
                        <m:ctrlPr>
                          <a:rPr lang="en-US" sz="1650" i="1" kern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50" kern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n</m:t>
                        </m:r>
                      </m:e>
                    </m:d>
                    <m: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≤</m:t>
                    </m:r>
                    <m:r>
                      <m:rPr>
                        <m:sty m:val="p"/>
                      </m:rP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f</m:t>
                    </m:r>
                    <m:d>
                      <m:dPr>
                        <m:ctrlPr>
                          <a:rPr lang="en-US" sz="1650" i="1" kern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50" kern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n</m:t>
                        </m:r>
                      </m:e>
                    </m:d>
                    <m: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lang="en-US" sz="1650" kern="1200" dirty="0">
                    <a:solidFill>
                      <a:srgbClr val="002060"/>
                    </a:solidFill>
                    <a:latin typeface="Trebuchet MS" panose="020B0603020202020204" pitchFamily="34" charset="0"/>
                    <a:ea typeface="+mn-ea"/>
                    <a:cs typeface="+mn-cs"/>
                  </a:rPr>
                  <a:t>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50" i="1" kern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650" kern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e>
                      <m:sub>
                        <m:r>
                          <a:rPr lang="en-US" sz="1650" kern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  <m: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≤</m:t>
                    </m:r>
                    <m:r>
                      <m:rPr>
                        <m:sty m:val="p"/>
                      </m:rP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n</m:t>
                    </m:r>
                    <m:r>
                      <a:rPr lang="en-US" sz="165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}</m:t>
                    </m:r>
                  </m:oMath>
                </a14:m>
                <a:endParaRPr lang="en-US" sz="1650" kern="1200" dirty="0">
                  <a:solidFill>
                    <a:srgbClr val="002060"/>
                  </a:solidFill>
                  <a:latin typeface="Trebuchet MS" panose="020B0603020202020204" pitchFamily="34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40" y="4121690"/>
                <a:ext cx="8121973" cy="664012"/>
              </a:xfrm>
              <a:prstGeom prst="roundRect">
                <a:avLst/>
              </a:prstGeom>
              <a:blipFill>
                <a:blip r:embed="rId3"/>
                <a:stretch>
                  <a:fillRect b="-53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oogle Shape;9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3611" y="0"/>
            <a:ext cx="2164268" cy="6462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2390" y="141305"/>
            <a:ext cx="63959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685800">
              <a:buClrTx/>
            </a:pPr>
            <a:r>
              <a:rPr lang="en-US" sz="2800" b="1" kern="1200" spc="-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𝛀-Notation (Omega notation)</a:t>
            </a:r>
          </a:p>
        </p:txBody>
      </p:sp>
    </p:spTree>
    <p:extLst>
      <p:ext uri="{BB962C8B-B14F-4D97-AF65-F5344CB8AC3E}">
        <p14:creationId xmlns:p14="http://schemas.microsoft.com/office/powerpoint/2010/main" val="2081168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0" y="752475"/>
                <a:ext cx="8701088" cy="4089400"/>
              </a:xfrm>
            </p:spPr>
            <p:txBody>
              <a:bodyPr>
                <a:normAutofit/>
              </a:bodyPr>
              <a:lstStyle/>
              <a:p>
                <a:endParaRPr lang="en-US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81000" indent="0" algn="ctr">
                  <a:buNone/>
                </a:pPr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For a given function 𝑔(𝑛), we denote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𝑔(𝑛)) the set of functions,</a:t>
                </a:r>
              </a:p>
              <a:p>
                <a:endParaRPr lang="en-US" sz="2000" dirty="0"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  <a:p>
                <a:pPr marL="81000" indent="0">
                  <a:buNone/>
                </a:pPr>
                <a:endParaRPr lang="en-US" sz="1600" dirty="0"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0" y="752475"/>
                <a:ext cx="8701088" cy="40894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33820" y="1499439"/>
                <a:ext cx="8503920" cy="715089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defTabSz="685800">
                  <a:buClrTx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l-GR" sz="180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l-GR" sz="180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l-GR" sz="180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l-GR" sz="180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l-GR" sz="180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))={</m:t>
                    </m:r>
                    <m:r>
                      <m:rPr>
                        <m:sty m:val="p"/>
                      </m:rPr>
                      <a:rPr lang="el-GR" sz="180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l-GR" sz="180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l-GR" sz="180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l-GR" sz="180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):</m:t>
                    </m:r>
                  </m:oMath>
                </a14:m>
                <a:r>
                  <a:rPr lang="en-US" sz="1800" kern="1200" dirty="0">
                    <a:solidFill>
                      <a:srgbClr val="002060"/>
                    </a:solidFill>
                    <a:latin typeface="Trebuchet MS" panose="020B0603020202020204" pitchFamily="34" charset="0"/>
                  </a:rPr>
                  <a:t>there exist positive constants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sz="1800" kern="1200" dirty="0">
                    <a:solidFill>
                      <a:srgbClr val="002060"/>
                    </a:solidFill>
                    <a:latin typeface="Trebuchet MS" panose="020B0603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 kern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kern="1200" dirty="0">
                    <a:solidFill>
                      <a:srgbClr val="002060"/>
                    </a:solidFill>
                    <a:latin typeface="Trebuchet MS" panose="020B0603020202020204" pitchFamily="34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180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0≤</m:t>
                    </m:r>
                    <m:r>
                      <m:rPr>
                        <m:sty m:val="p"/>
                      </m:rPr>
                      <a:rPr lang="en-US" sz="180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cg</m:t>
                    </m:r>
                    <m:d>
                      <m:dPr>
                        <m:ctrlPr>
                          <a:rPr lang="en-US" sz="1800" i="1" kern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kern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sz="1800" i="1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sz="180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1800" i="1" kern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kern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sz="180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kern="1200" dirty="0">
                    <a:solidFill>
                      <a:srgbClr val="002060"/>
                    </a:solidFill>
                    <a:latin typeface="Trebuchet MS" panose="020B0603020202020204" pitchFamily="34" charset="0"/>
                  </a:rPr>
                  <a:t>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 kern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sz="180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sz="1800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800" kern="1200" dirty="0">
                  <a:solidFill>
                    <a:srgbClr val="002060"/>
                  </a:solidFill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820" y="1499439"/>
                <a:ext cx="8503920" cy="715089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280" y="2456814"/>
            <a:ext cx="4485521" cy="2167316"/>
          </a:xfrm>
          <a:prstGeom prst="rect">
            <a:avLst/>
          </a:prstGeom>
        </p:spPr>
      </p:pic>
      <p:pic>
        <p:nvPicPr>
          <p:cNvPr id="7" name="Google Shape;9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3582" y="-32"/>
            <a:ext cx="2164268" cy="64623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33820" y="141305"/>
            <a:ext cx="626451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685800">
              <a:buClrTx/>
            </a:pPr>
            <a:r>
              <a:rPr lang="en-US" sz="2800" b="1" kern="1200" spc="-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𝛀-Notation (Omega notation)</a:t>
            </a:r>
          </a:p>
        </p:txBody>
      </p:sp>
    </p:spTree>
    <p:extLst>
      <p:ext uri="{BB962C8B-B14F-4D97-AF65-F5344CB8AC3E}">
        <p14:creationId xmlns:p14="http://schemas.microsoft.com/office/powerpoint/2010/main" val="23925688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4B20E2A-F2D8-419C-9FD1-95D26342647C}"/>
                  </a:ext>
                </a:extLst>
              </p:cNvPr>
              <p:cNvSpPr/>
              <p:nvPr/>
            </p:nvSpPr>
            <p:spPr>
              <a:xfrm>
                <a:off x="4452813" y="759041"/>
                <a:ext cx="4447347" cy="41148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algn="just" defTabSz="685800">
                  <a:buClrTx/>
                </a:pPr>
                <a:endParaRPr lang="en-US" sz="1350" kern="1200" dirty="0">
                  <a:solidFill>
                    <a:prstClr val="white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342900" indent="-342900" algn="just" defTabSz="685800">
                  <a:buClrTx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kern="12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is an asymptotically </a:t>
                </a:r>
                <a:r>
                  <a:rPr lang="en-US" sz="2000" b="1" kern="12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lower bound </a:t>
                </a:r>
                <a:r>
                  <a:rPr lang="en-US" sz="2000" kern="12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000" kern="1200" dirty="0">
                  <a:solidFill>
                    <a:prstClr val="black"/>
                  </a:solidFill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  <a:p>
                <a:pPr marL="342900" indent="-342900" algn="just" defTabSz="685800">
                  <a:buClrTx/>
                  <a:buFont typeface="Wingdings" panose="05000000000000000000" pitchFamily="2" charset="2"/>
                  <a:buChar char="Ø"/>
                </a:pPr>
                <a:endParaRPr lang="en-US" sz="2000" i="1" kern="1200" dirty="0">
                  <a:solidFill>
                    <a:prstClr val="black"/>
                  </a:solidFill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  <a:p>
                <a:pPr marL="342900" indent="-342900" algn="just" defTabSz="685800">
                  <a:buClrTx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)= </m:t>
                    </m:r>
                    <m:r>
                      <m:rPr>
                        <m:sty m:val="p"/>
                      </m:rPr>
                      <a:rPr lang="el-GR" sz="2000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2000" kern="12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implies:  </a:t>
                </a:r>
              </a:p>
              <a:p>
                <a:pPr algn="ctr" defTabSz="6858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)“≥” </m:t>
                      </m:r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kern="1200" dirty="0">
                  <a:solidFill>
                    <a:prstClr val="black"/>
                  </a:solidFill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  <a:p>
                <a:pPr marL="342900" indent="-342900" algn="just" defTabSz="685800">
                  <a:buClrTx/>
                  <a:buFont typeface="Wingdings" panose="05000000000000000000" pitchFamily="2" charset="2"/>
                  <a:buChar char="Ø"/>
                </a:pPr>
                <a:endParaRPr lang="en-US" sz="2000" i="1" kern="1200" dirty="0">
                  <a:solidFill>
                    <a:prstClr val="black"/>
                  </a:solidFill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  <a:p>
                <a:pPr marL="342900" indent="-342900" algn="just" defTabSz="685800">
                  <a:buClrTx/>
                  <a:buFont typeface="Wingdings" panose="05000000000000000000" pitchFamily="2" charset="2"/>
                  <a:buChar char="Ø"/>
                </a:pPr>
                <a:r>
                  <a:rPr lang="en-US" sz="2000" kern="12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A lower bound </a:t>
                </a:r>
                <a14:m>
                  <m:oMath xmlns:m="http://schemas.openxmlformats.org/officeDocument/2006/math"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kern="12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of an algorithm defines the minimum time required, it is not possible to have any other algorithm (for the same problem) whose time complexity is less than </a:t>
                </a:r>
                <a14:m>
                  <m:oMath xmlns:m="http://schemas.openxmlformats.org/officeDocument/2006/math"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kern="12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 for random input.</a:t>
                </a:r>
              </a:p>
              <a:p>
                <a:pPr marL="257175" indent="-257175" algn="just" defTabSz="685800">
                  <a:buClrTx/>
                  <a:buFont typeface="Wingdings" panose="05000000000000000000" pitchFamily="2" charset="2"/>
                  <a:buChar char="§"/>
                </a:pPr>
                <a:endParaRPr lang="en-US" sz="1800" kern="1200" dirty="0">
                  <a:solidFill>
                    <a:prstClr val="white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4B20E2A-F2D8-419C-9FD1-95D2634264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813" y="759041"/>
                <a:ext cx="4447347" cy="4114800"/>
              </a:xfrm>
              <a:prstGeom prst="rect">
                <a:avLst/>
              </a:prstGeom>
              <a:blipFill>
                <a:blip r:embed="rId2"/>
                <a:stretch>
                  <a:fillRect l="-1644" r="-1918" b="-57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892492" y="3929541"/>
                <a:ext cx="18807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1800" b="1" i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1800" b="1" i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l-GR" sz="1800" b="1" i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𝜴</m:t>
                      </m:r>
                      <m:r>
                        <a:rPr lang="en-US" sz="1800" b="1" i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1800" b="1" i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1800" b="1" i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1800" b="1" i="1" kern="120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2492" y="3929541"/>
                <a:ext cx="1880754" cy="369332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23848" y="3872320"/>
                <a:ext cx="427587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15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1500" b="1" i="1" kern="120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848" y="3872320"/>
                <a:ext cx="427587" cy="3231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099565" y="3732670"/>
                <a:ext cx="427587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sz="1500" b="1" i="1" kern="120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565" y="3732670"/>
                <a:ext cx="427587" cy="3231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334" y="1377074"/>
            <a:ext cx="3429000" cy="18699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454826" y="1929378"/>
                <a:ext cx="71779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15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5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15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15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500" b="1" i="1" kern="120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826" y="1929378"/>
                <a:ext cx="717798" cy="323165"/>
              </a:xfrm>
              <a:prstGeom prst="rect">
                <a:avLst/>
              </a:prstGeom>
              <a:blipFill>
                <a:blip r:embed="rId7"/>
                <a:stretch>
                  <a:fillRect r="-6838" b="-1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316384" y="1129482"/>
                <a:ext cx="71779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15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15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500" b="1" i="1" kern="120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6384" y="1129482"/>
                <a:ext cx="717798" cy="323165"/>
              </a:xfrm>
              <a:prstGeom prst="rect">
                <a:avLst/>
              </a:prstGeom>
              <a:blipFill>
                <a:blip r:embed="rId8"/>
                <a:stretch>
                  <a:fillRect b="-132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/>
          <p:cNvCxnSpPr/>
          <p:nvPr/>
        </p:nvCxnSpPr>
        <p:spPr>
          <a:xfrm flipH="1">
            <a:off x="1510488" y="2595508"/>
            <a:ext cx="0" cy="130302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560333" y="1059728"/>
            <a:ext cx="0" cy="28465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60334" y="3896873"/>
            <a:ext cx="35661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oogle Shape;94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0" y="-32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23582" y="-32"/>
            <a:ext cx="2164268" cy="6462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93160" y="116225"/>
            <a:ext cx="591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685800">
              <a:buClrTx/>
            </a:pPr>
            <a:r>
              <a:rPr lang="en-US" sz="2800" b="1" kern="1200" spc="-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𝛀-Notation (Omega notation)</a:t>
            </a:r>
          </a:p>
        </p:txBody>
      </p:sp>
    </p:spTree>
    <p:extLst>
      <p:ext uri="{BB962C8B-B14F-4D97-AF65-F5344CB8AC3E}">
        <p14:creationId xmlns:p14="http://schemas.microsoft.com/office/powerpoint/2010/main" val="12929326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222366" y="777057"/>
                <a:ext cx="8670925" cy="4029075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The notation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is the formal way </a:t>
                </a:r>
                <a:r>
                  <a:rPr lang="en-US" sz="2000" dirty="0">
                    <a:solidFill>
                      <a:srgbClr val="A7116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to enclose </a:t>
                </a:r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both the lower bound and the upper bound of an algorithm's running time.</a:t>
                </a:r>
              </a:p>
              <a:p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Since it represents the upper and the lower bound of the running time of an algorithm, it is used for analyzing </a:t>
                </a:r>
                <a:r>
                  <a:rPr lang="en-US" sz="2000" dirty="0">
                    <a:solidFill>
                      <a:srgbClr val="A7116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the average case complexity </a:t>
                </a:r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of an algorithm.</a:t>
                </a:r>
              </a:p>
              <a:p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The time complexity represented by the Big-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 notation is the range within which </a:t>
                </a:r>
                <a:r>
                  <a:rPr lang="en-US" sz="2000" dirty="0">
                    <a:solidFill>
                      <a:srgbClr val="A7116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the actual running time </a:t>
                </a:r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of the algorithm will be.</a:t>
                </a:r>
              </a:p>
              <a:p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So, it defines </a:t>
                </a:r>
                <a:r>
                  <a:rPr lang="en-US" sz="2000" dirty="0">
                    <a:solidFill>
                      <a:srgbClr val="A7116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the exact </a:t>
                </a:r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Asymptotic behavior of an algorithm.</a:t>
                </a:r>
              </a:p>
              <a:p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For a given function 𝑔(𝑛), we denote by θ(𝑔(𝑛)) the set of functions</a:t>
                </a:r>
                <a:r>
                  <a:rPr lang="en-US" sz="2000" dirty="0" smtClean="0">
                    <a:latin typeface="Trebuchet MS" panose="020B0603020202020204" pitchFamily="34" charset="0"/>
                    <a:ea typeface="Cambria" panose="02040503050406030204" pitchFamily="18" charset="0"/>
                  </a:rPr>
                  <a:t>,</a:t>
                </a:r>
                <a:endParaRPr lang="en-US" sz="2000" dirty="0"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222366" y="777057"/>
                <a:ext cx="8670925" cy="4029075"/>
              </a:xfrm>
              <a:blipFill>
                <a:blip r:embed="rId2"/>
                <a:stretch>
                  <a:fillRect t="-2874" r="-23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79346" y="3969745"/>
                <a:ext cx="8356963" cy="587395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defTabSz="685800">
                  <a:buClrTx/>
                </a:pPr>
                <a14:m>
                  <m:oMath xmlns:m="http://schemas.openxmlformats.org/officeDocument/2006/math">
                    <m:r>
                      <a:rPr lang="el-GR" sz="1425" i="1" kern="12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425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25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425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25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425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)) = {</m:t>
                    </m:r>
                    <m:r>
                      <a:rPr lang="en-US" sz="1425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425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25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425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: </m:t>
                    </m:r>
                  </m:oMath>
                </a14:m>
                <a:r>
                  <a:rPr lang="en-US" sz="1425" kern="1200" dirty="0">
                    <a:solidFill>
                      <a:schemeClr val="tx1"/>
                    </a:solidFill>
                  </a:rPr>
                  <a:t>there exist positive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25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25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1425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25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25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25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1425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25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425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1425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425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1425" kern="1200" baseline="-25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425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425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such</m:t>
                    </m:r>
                    <m:r>
                      <a:rPr lang="en-US" sz="1425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425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that</m:t>
                    </m:r>
                    <m:r>
                      <a:rPr lang="en-US" sz="1425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25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0≤</m:t>
                    </m:r>
                    <m:sSub>
                      <m:sSubPr>
                        <m:ctrlPr>
                          <a:rPr lang="en-US" sz="1425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25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425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25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425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25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425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425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425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25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425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1425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25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425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25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425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25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425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425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for</m:t>
                    </m:r>
                    <m:r>
                      <a:rPr lang="en-US" sz="1425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425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all</m:t>
                    </m:r>
                    <m:r>
                      <a:rPr lang="en-US" sz="1425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25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425" i="1" kern="1200" baseline="-25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425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425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425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425" i="1" kern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346" y="3969745"/>
                <a:ext cx="8356963" cy="58739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oogle Shape;9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525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966" y="9525"/>
            <a:ext cx="2164268" cy="646232"/>
          </a:xfrm>
          <a:prstGeom prst="rect">
            <a:avLst/>
          </a:prstGeom>
        </p:spPr>
      </p:pic>
      <p:sp>
        <p:nvSpPr>
          <p:cNvPr id="8" name="TextShape 1">
            <a:extLst>
              <a:ext uri="{FF2B5EF4-FFF2-40B4-BE49-F238E27FC236}">
                <a16:creationId xmlns:a16="http://schemas.microsoft.com/office/drawing/2014/main" id="{EB327E99-F49E-D7F5-B23D-A3042B8711F6}"/>
              </a:ext>
            </a:extLst>
          </p:cNvPr>
          <p:cNvSpPr txBox="1"/>
          <p:nvPr/>
        </p:nvSpPr>
        <p:spPr>
          <a:xfrm>
            <a:off x="9525" y="92751"/>
            <a:ext cx="6390090" cy="429300"/>
          </a:xfrm>
          <a:prstGeom prst="rect">
            <a:avLst/>
          </a:prstGeom>
          <a:noFill/>
          <a:ln>
            <a:noFill/>
          </a:ln>
        </p:spPr>
        <p:txBody>
          <a:bodyPr tIns="68580" bIns="68580">
            <a:noAutofit/>
          </a:bodyPr>
          <a:lstStyle/>
          <a:p>
            <a:pPr algn="just" defTabSz="685800">
              <a:buClrTx/>
            </a:pPr>
            <a:r>
              <a:rPr lang="en-US" sz="2800" b="1" kern="1200" spc="-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𝛉-Notation (Theta notation)</a:t>
            </a:r>
          </a:p>
          <a:p>
            <a:pPr algn="just" defTabSz="685800">
              <a:buClrTx/>
            </a:pPr>
            <a:endParaRPr lang="en-US" sz="2800" b="1" kern="1200" spc="-1" dirty="0"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047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4B20E2A-F2D8-419C-9FD1-95D26342647C}"/>
                  </a:ext>
                </a:extLst>
              </p:cNvPr>
              <p:cNvSpPr/>
              <p:nvPr/>
            </p:nvSpPr>
            <p:spPr>
              <a:xfrm>
                <a:off x="4911235" y="687790"/>
                <a:ext cx="3811076" cy="40861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257175" indent="-257175" algn="just" defTabSz="685800">
                  <a:buClrTx/>
                  <a:buFont typeface="Wingdings" panose="05000000000000000000" pitchFamily="2" charset="2"/>
                  <a:buChar char="§"/>
                </a:pPr>
                <a:endParaRPr lang="en-US" sz="1800" kern="1200" dirty="0">
                  <a:solidFill>
                    <a:prstClr val="white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257175" indent="-257175" algn="just" defTabSz="685800">
                  <a:buClr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2000" kern="12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is a set, we can write </a:t>
                </a:r>
                <a14:m>
                  <m:oMath xmlns:m="http://schemas.openxmlformats.org/officeDocument/2006/math"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2000" kern="12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to indicate that </a:t>
                </a:r>
                <a14:m>
                  <m:oMath xmlns:m="http://schemas.openxmlformats.org/officeDocument/2006/math"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kern="12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is a member of </a:t>
                </a:r>
                <a14:m>
                  <m:oMath xmlns:m="http://schemas.openxmlformats.org/officeDocument/2006/math"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)).</m:t>
                    </m:r>
                  </m:oMath>
                </a14:m>
                <a:endParaRPr lang="el-GR" sz="2000" kern="1200" dirty="0">
                  <a:solidFill>
                    <a:prstClr val="black"/>
                  </a:solidFill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  <a:p>
                <a:pPr marL="257175" indent="-257175" algn="just" defTabSz="685800">
                  <a:buClrTx/>
                  <a:buFont typeface="Wingdings" panose="05000000000000000000" pitchFamily="2" charset="2"/>
                  <a:buChar char="§"/>
                </a:pPr>
                <a:endParaRPr lang="en-US" sz="2000" kern="1200" dirty="0">
                  <a:solidFill>
                    <a:prstClr val="black"/>
                  </a:solidFill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  <a:p>
                <a:pPr marL="257175" indent="-257175" algn="just" defTabSz="685800">
                  <a:buClr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l-GR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kern="12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is an asymptotically tight bound for </a:t>
                </a:r>
                <a14:m>
                  <m:oMath xmlns:m="http://schemas.openxmlformats.org/officeDocument/2006/math"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000" kern="1200" dirty="0">
                  <a:solidFill>
                    <a:prstClr val="black"/>
                  </a:solidFill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  <a:p>
                <a:pPr marL="257175" indent="-257175" algn="just" defTabSz="685800">
                  <a:buClrTx/>
                  <a:buFont typeface="Wingdings" panose="05000000000000000000" pitchFamily="2" charset="2"/>
                  <a:buChar char="§"/>
                </a:pPr>
                <a:endParaRPr lang="en-US" sz="2000" kern="1200" dirty="0">
                  <a:solidFill>
                    <a:prstClr val="black"/>
                  </a:solidFill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  <a:p>
                <a:pPr marL="257175" indent="-257175" algn="just" defTabSz="685800">
                  <a:buClrTx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2000" kern="12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implies: </a:t>
                </a:r>
              </a:p>
              <a:p>
                <a:pPr algn="ctr" defTabSz="6858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)“=” </m:t>
                      </m:r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kern="1200" dirty="0">
                  <a:solidFill>
                    <a:prstClr val="white"/>
                  </a:solidFill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4B20E2A-F2D8-419C-9FD1-95D2634264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1235" y="687790"/>
                <a:ext cx="3811076" cy="4086177"/>
              </a:xfrm>
              <a:prstGeom prst="rect">
                <a:avLst/>
              </a:prstGeom>
              <a:blipFill>
                <a:blip r:embed="rId2"/>
                <a:stretch>
                  <a:fillRect l="-2080" r="-22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892492" y="3919744"/>
                <a:ext cx="18807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1800" b="1" i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1800" b="1" i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l-GR" sz="1800" b="1" i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sz="1800" b="1" i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1800" b="1" i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1800" b="1" i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1800" b="1" i="1" kern="120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2492" y="3919744"/>
                <a:ext cx="1880754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132229" y="3872320"/>
                <a:ext cx="427587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15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1500" b="1" i="1" kern="120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229" y="3872320"/>
                <a:ext cx="427587" cy="3231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099565" y="3722585"/>
                <a:ext cx="427587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sz="1500" b="1" i="1" kern="120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565" y="3722585"/>
                <a:ext cx="427587" cy="3231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438" y="862068"/>
            <a:ext cx="3250406" cy="30432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591211" y="2087160"/>
                <a:ext cx="71779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15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5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5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15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15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500" b="1" i="1" kern="120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211" y="2087160"/>
                <a:ext cx="717798" cy="323165"/>
              </a:xfrm>
              <a:prstGeom prst="rect">
                <a:avLst/>
              </a:prstGeom>
              <a:blipFill>
                <a:blip r:embed="rId7"/>
                <a:stretch>
                  <a:fillRect r="-18644" b="-132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591211" y="1442605"/>
                <a:ext cx="71779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15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15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500" b="1" i="1" kern="120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211" y="1442605"/>
                <a:ext cx="717798" cy="323165"/>
              </a:xfrm>
              <a:prstGeom prst="rect">
                <a:avLst/>
              </a:prstGeom>
              <a:blipFill>
                <a:blip r:embed="rId8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/>
          <p:nvPr/>
        </p:nvCxnSpPr>
        <p:spPr>
          <a:xfrm flipH="1">
            <a:off x="560333" y="1059728"/>
            <a:ext cx="0" cy="28465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60334" y="3896873"/>
            <a:ext cx="35661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1374179" y="2509925"/>
            <a:ext cx="0" cy="137160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591211" y="687790"/>
                <a:ext cx="71779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15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5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5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15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5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15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500" b="1" i="1" kern="120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211" y="687790"/>
                <a:ext cx="717798" cy="323165"/>
              </a:xfrm>
              <a:prstGeom prst="rect">
                <a:avLst/>
              </a:prstGeom>
              <a:blipFill>
                <a:blip r:embed="rId9"/>
                <a:stretch>
                  <a:fillRect r="-18644" b="-113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Google Shape;94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0" y="9525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23582" y="-32"/>
            <a:ext cx="2164268" cy="64623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02336" y="89198"/>
            <a:ext cx="60090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685800">
              <a:buClrTx/>
            </a:pPr>
            <a:r>
              <a:rPr lang="en-US" sz="2800" b="1" kern="1200" spc="-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𝛉-Notation (Theta notation)</a:t>
            </a:r>
          </a:p>
        </p:txBody>
      </p:sp>
    </p:spTree>
    <p:extLst>
      <p:ext uri="{BB962C8B-B14F-4D97-AF65-F5344CB8AC3E}">
        <p14:creationId xmlns:p14="http://schemas.microsoft.com/office/powerpoint/2010/main" val="1400051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15938" y="746125"/>
            <a:ext cx="8628062" cy="4094163"/>
          </a:xfrm>
        </p:spPr>
        <p:txBody>
          <a:bodyPr>
            <a:normAutofit/>
          </a:bodyPr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8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O-Notation (Big O notation) (Upper Bound)</a:t>
            </a:r>
          </a:p>
          <a:p>
            <a:pPr marL="342900" indent="-342900">
              <a:buSzPct val="100000"/>
              <a:buFont typeface="+mj-lt"/>
              <a:buAutoNum type="arabicPeriod"/>
            </a:pP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SzPct val="100000"/>
              <a:buFont typeface="+mj-lt"/>
              <a:buAutoNum type="arabicPeriod"/>
            </a:pP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SzPct val="100000"/>
              <a:buFont typeface="+mj-lt"/>
              <a:buAutoNum type="arabicPeriod"/>
            </a:pP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8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Ω-Notation (Omega notation) (Lower Bound)</a:t>
            </a:r>
          </a:p>
          <a:p>
            <a:pPr marL="342900" indent="-342900">
              <a:buSzPct val="100000"/>
              <a:buFont typeface="+mj-lt"/>
              <a:buAutoNum type="arabicPeriod"/>
            </a:pP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SzPct val="100000"/>
              <a:buFont typeface="+mj-lt"/>
              <a:buAutoNum type="arabicPeriod"/>
            </a:pP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SzPct val="100000"/>
              <a:buFont typeface="+mj-lt"/>
              <a:buAutoNum type="arabicPeriod"/>
            </a:pPr>
            <a:endParaRPr lang="en-US" sz="1800" b="1" dirty="0" smtClean="0">
              <a:solidFill>
                <a:srgbClr val="0070C0"/>
              </a:solidFill>
              <a:latin typeface="Trebuchet MS" panose="020B0603020202020204" pitchFamily="34" charset="0"/>
              <a:ea typeface="Cambria" panose="02040503050406030204" pitchFamily="18" charset="0"/>
            </a:endParaRP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l-GR" sz="1800" b="1" dirty="0" smtClean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θ-</a:t>
            </a:r>
            <a:r>
              <a:rPr lang="en-US" sz="18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Notation (Theta notation) (Same order) </a:t>
            </a:r>
          </a:p>
          <a:p>
            <a:pPr marL="342900" indent="-342900">
              <a:buFont typeface="+mj-lt"/>
              <a:buAutoNum type="arabicPeriod"/>
            </a:pP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19656" y="1151165"/>
                <a:ext cx="6103620" cy="646331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 defTabSz="685800">
                  <a:buClrTx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kern="120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Ο</m:t>
                    </m:r>
                    <m:r>
                      <a:rPr lang="en-US" sz="1800" i="1" kern="120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 kern="120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800" i="1" kern="120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 kern="120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i="1" kern="120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1800" kern="1200" dirty="0">
                    <a:solidFill>
                      <a:srgbClr val="424242"/>
                    </a:solidFill>
                    <a:latin typeface="Trebuchet MS" panose="020B0603020202020204" pitchFamily="34" charset="0"/>
                  </a:rPr>
                  <a:t>= {</a:t>
                </a:r>
                <a14:m>
                  <m:oMath xmlns:m="http://schemas.openxmlformats.org/officeDocument/2006/math">
                    <m:r>
                      <a:rPr lang="en-US" sz="1800" i="1" kern="120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800" i="1" kern="120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 kern="120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i="1" kern="120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kern="1200" dirty="0">
                    <a:solidFill>
                      <a:srgbClr val="424242"/>
                    </a:solidFill>
                    <a:latin typeface="Trebuchet MS" panose="020B0603020202020204" pitchFamily="34" charset="0"/>
                  </a:rPr>
                  <a:t> : there exist positive constants </a:t>
                </a:r>
                <a14:m>
                  <m:oMath xmlns:m="http://schemas.openxmlformats.org/officeDocument/2006/math">
                    <m:r>
                      <a:rPr lang="en-US" sz="1800" i="1" kern="120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800" kern="1200" dirty="0">
                    <a:solidFill>
                      <a:srgbClr val="424242"/>
                    </a:solidFill>
                    <a:latin typeface="Trebuchet MS" panose="020B0603020202020204" pitchFamily="34" charset="0"/>
                  </a:rPr>
                  <a:t> and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200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1200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kern="1200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 kern="1200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kern="1200" dirty="0">
                    <a:solidFill>
                      <a:srgbClr val="424242"/>
                    </a:solidFill>
                    <a:latin typeface="Trebuchet MS" panose="020B0603020202020204" pitchFamily="34" charset="0"/>
                  </a:rPr>
                  <a:t> such that</a:t>
                </a:r>
                <a14:m>
                  <m:oMath xmlns:m="http://schemas.openxmlformats.org/officeDocument/2006/math">
                    <m:r>
                      <a:rPr lang="en-US" sz="1800" kern="120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1800" b="1" i="1" kern="120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800" b="1" i="1" kern="120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b="1" i="1" kern="120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1800" b="1" i="1" kern="120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1" i="1" kern="120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1800" b="1" i="1" kern="120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)≤</m:t>
                    </m:r>
                    <m:r>
                      <a:rPr lang="en-US" sz="1800" b="1" i="1" kern="120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1800" b="1" i="1" kern="120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1" i="1" kern="120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1800" b="1" i="1" kern="120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800" kern="1200" dirty="0">
                    <a:solidFill>
                      <a:srgbClr val="424242"/>
                    </a:solidFill>
                    <a:latin typeface="Trebuchet MS" panose="020B0603020202020204" pitchFamily="34" charset="0"/>
                  </a:rPr>
                  <a:t>for all</a:t>
                </a:r>
                <a14:m>
                  <m:oMath xmlns:m="http://schemas.openxmlformats.org/officeDocument/2006/math">
                    <m:r>
                      <a:rPr lang="en-US" sz="1800" kern="120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 kern="120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i="1" kern="1200" baseline="-2500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i="1" kern="120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i="1" kern="120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kern="1200" dirty="0">
                    <a:solidFill>
                      <a:srgbClr val="424242"/>
                    </a:solidFill>
                    <a:latin typeface="Trebuchet MS" panose="020B0603020202020204" pitchFamily="34" charset="0"/>
                  </a:rPr>
                  <a:t>}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56" y="1151165"/>
                <a:ext cx="6103620" cy="646331"/>
              </a:xfrm>
              <a:prstGeom prst="rect">
                <a:avLst/>
              </a:prstGeom>
              <a:blipFill>
                <a:blip r:embed="rId2"/>
                <a:stretch>
                  <a:fillRect t="-5556" b="-12037"/>
                </a:stretch>
              </a:blip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19656" y="2535828"/>
                <a:ext cx="6103620" cy="646331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2200">
                    <a:solidFill>
                      <a:srgbClr val="424242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defTabSz="685800">
                  <a:buClrTx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kern="120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1800" kern="12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800" kern="120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1800" kern="12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800" kern="120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1800" kern="1200"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1800" kern="1200" dirty="0">
                    <a:latin typeface="Trebuchet MS" panose="020B0603020202020204" pitchFamily="34" charset="0"/>
                  </a:rPr>
                  <a:t>= {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kern="120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1800" kern="12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800" kern="120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1800" kern="12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kern="1200" dirty="0">
                    <a:latin typeface="Trebuchet MS" panose="020B0603020202020204" pitchFamily="34" charset="0"/>
                  </a:rPr>
                  <a:t> : there exist positive constants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kern="120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sz="1800" kern="1200" dirty="0">
                    <a:latin typeface="Trebuchet MS" panose="020B0603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120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 kern="12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kern="1200" dirty="0">
                    <a:latin typeface="Trebuchet MS" panose="020B0603020202020204" pitchFamily="34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1800" b="1" i="1" kern="120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800" b="1" i="1" kern="120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b="1" i="1" kern="1200">
                        <a:latin typeface="Cambria Math" panose="02040503050406030204" pitchFamily="18" charset="0"/>
                      </a:rPr>
                      <m:t>𝒄𝒈</m:t>
                    </m:r>
                    <m:d>
                      <m:dPr>
                        <m:ctrlPr>
                          <a:rPr lang="en-US" sz="1800" b="1" i="1" kern="12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 kern="120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1800" b="1" i="1" kern="120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b="1" i="1" kern="120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1800" b="1" i="1" kern="12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 kern="120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1800" kern="12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kern="1200" dirty="0">
                    <a:latin typeface="Trebuchet MS" panose="020B0603020202020204" pitchFamily="34" charset="0"/>
                  </a:rPr>
                  <a:t>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120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 kern="12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kern="120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sz="1800" kern="120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sz="1800" kern="1200" dirty="0">
                    <a:latin typeface="Trebuchet MS" panose="020B0603020202020204" pitchFamily="34" charset="0"/>
                  </a:rPr>
                  <a:t>}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56" y="2535828"/>
                <a:ext cx="6103620" cy="646331"/>
              </a:xfrm>
              <a:prstGeom prst="rect">
                <a:avLst/>
              </a:prstGeom>
              <a:blipFill>
                <a:blip r:embed="rId3"/>
                <a:stretch>
                  <a:fillRect t="-5556" b="-12037"/>
                </a:stretch>
              </a:blip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19656" y="3920491"/>
                <a:ext cx="6103620" cy="92333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2200">
                    <a:solidFill>
                      <a:srgbClr val="424242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defTabSz="685800">
                  <a:buClrTx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kern="120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1800" kern="12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800" kern="120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1800" kern="12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800" kern="120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1800" kern="120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1800" kern="1200" dirty="0">
                    <a:latin typeface="Trebuchet MS" panose="020B0603020202020204" pitchFamily="34" charset="0"/>
                  </a:rPr>
                  <a:t> = {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kern="120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1800" kern="12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800" kern="120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1800" kern="12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kern="1200" dirty="0">
                    <a:latin typeface="Trebuchet MS" panose="020B0603020202020204" pitchFamily="34" charset="0"/>
                  </a:rPr>
                  <a:t> : there exist positive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kern="120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1800" kern="1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kern="1200" dirty="0">
                    <a:latin typeface="Trebuchet MS" panose="020B0603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kern="120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1800" kern="12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kern="1200" dirty="0">
                    <a:latin typeface="Trebuchet MS" panose="020B0603020202020204" pitchFamily="34" charset="0"/>
                  </a:rPr>
                  <a:t> and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12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 kern="120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 kern="12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kern="1200" dirty="0">
                    <a:latin typeface="Trebuchet MS" panose="020B0603020202020204" pitchFamily="34" charset="0"/>
                  </a:rPr>
                  <a:t>such that  </a:t>
                </a:r>
                <a14:m>
                  <m:oMath xmlns:m="http://schemas.openxmlformats.org/officeDocument/2006/math">
                    <m:r>
                      <a:rPr lang="en-US" sz="1800" b="1" i="1" kern="120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800" b="1" kern="120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1800" b="1" i="1" kern="1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kern="120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sz="1800" b="1" i="1" kern="120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800" b="1" i="1" kern="1200"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sz="1800" b="1" i="1" kern="12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 kern="120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1800" b="1" kern="120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b="1" i="1" kern="120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sz="1800" b="1" i="1" kern="12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 kern="120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1800" b="1" kern="120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1800" b="1" i="1" kern="1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kern="120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sz="1800" b="1" i="1" kern="120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800" b="1" i="1" kern="1200"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sz="1800" b="1" i="1" kern="12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 kern="120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sz="1800" kern="1200" dirty="0">
                    <a:latin typeface="Trebuchet MS" panose="020B0603020202020204" pitchFamily="34" charset="0"/>
                  </a:rPr>
                  <a:t> 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120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 kern="12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kern="120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sz="1800" kern="120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sz="1800" kern="1200" dirty="0">
                    <a:latin typeface="Trebuchet MS" panose="020B0603020202020204" pitchFamily="34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56" y="3920491"/>
                <a:ext cx="6103620" cy="923330"/>
              </a:xfrm>
              <a:prstGeom prst="rect">
                <a:avLst/>
              </a:prstGeom>
              <a:blipFill>
                <a:blip r:embed="rId4"/>
                <a:stretch>
                  <a:fillRect t="-3247" b="-7792"/>
                </a:stretch>
              </a:blip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975564" y="1189381"/>
                <a:ext cx="2062032" cy="442674"/>
              </a:xfrm>
              <a:prstGeom prst="wedgeRoundRectCallout">
                <a:avLst>
                  <a:gd name="adj1" fmla="val -68749"/>
                  <a:gd name="adj2" fmla="val 3679"/>
                  <a:gd name="adj3" fmla="val 16667"/>
                </a:avLst>
              </a:prstGeom>
              <a:noFill/>
              <a:ln w="9525">
                <a:solidFill>
                  <a:schemeClr val="accent5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defTabSz="6858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𝐟</m:t>
                      </m:r>
                      <m:r>
                        <a:rPr lang="en-US" sz="2000" b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US" sz="2000" b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b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𝐎</m:t>
                      </m:r>
                      <m:r>
                        <a:rPr lang="en-US" sz="2000" b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𝐠</m:t>
                      </m:r>
                      <m:r>
                        <a:rPr lang="en-US" sz="2000" b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US" sz="2000" b="1" kern="120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000" b="1" kern="1200" dirty="0">
                  <a:solidFill>
                    <a:srgbClr val="A71160"/>
                  </a:solidFill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564" y="1189381"/>
                <a:ext cx="2062032" cy="442674"/>
              </a:xfrm>
              <a:prstGeom prst="wedgeRoundRectCallout">
                <a:avLst>
                  <a:gd name="adj1" fmla="val -68749"/>
                  <a:gd name="adj2" fmla="val 3679"/>
                  <a:gd name="adj3" fmla="val 16667"/>
                </a:avLst>
              </a:prstGeom>
              <a:blipFill>
                <a:blip r:embed="rId5"/>
                <a:stretch>
                  <a:fillRect b="-8000"/>
                </a:stretch>
              </a:blipFill>
              <a:ln w="952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975565" y="2678376"/>
                <a:ext cx="2012284" cy="442674"/>
              </a:xfrm>
              <a:prstGeom prst="wedgeRoundRectCallout">
                <a:avLst>
                  <a:gd name="adj1" fmla="val -68537"/>
                  <a:gd name="adj2" fmla="val 6793"/>
                  <a:gd name="adj3" fmla="val 16667"/>
                </a:avLst>
              </a:prstGeom>
              <a:noFill/>
              <a:ln w="9525">
                <a:solidFill>
                  <a:schemeClr val="accent5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 b="1" i="1">
                    <a:solidFill>
                      <a:srgbClr val="A71160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defTabSz="6858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0" kern="1200">
                          <a:latin typeface="Cambria Math" panose="02040503050406030204" pitchFamily="18" charset="0"/>
                        </a:rPr>
                        <m:t>𝐟</m:t>
                      </m:r>
                      <m:d>
                        <m:dPr>
                          <m:ctrlPr>
                            <a:rPr lang="en-US" sz="2000" i="1" kern="12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0" kern="1200"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</m:d>
                      <m:r>
                        <a:rPr lang="en-US" sz="2000" i="0" kern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000" i="0" kern="120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2000" i="0" kern="12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0" kern="1200">
                          <a:latin typeface="Cambria Math" panose="02040503050406030204" pitchFamily="18" charset="0"/>
                        </a:rPr>
                        <m:t>𝐠</m:t>
                      </m:r>
                      <m:r>
                        <a:rPr lang="en-US" sz="2000" i="0" kern="12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0" kern="1200"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US" sz="2000" i="0" kern="120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000" i="0" kern="1200" dirty="0"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565" y="2678376"/>
                <a:ext cx="2012284" cy="442674"/>
              </a:xfrm>
              <a:prstGeom prst="wedgeRoundRectCallout">
                <a:avLst>
                  <a:gd name="adj1" fmla="val -68537"/>
                  <a:gd name="adj2" fmla="val 6793"/>
                  <a:gd name="adj3" fmla="val 16667"/>
                </a:avLst>
              </a:prstGeom>
              <a:blipFill>
                <a:blip r:embed="rId6"/>
                <a:stretch>
                  <a:fillRect b="-8000"/>
                </a:stretch>
              </a:blipFill>
              <a:ln w="952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025311" y="4029245"/>
                <a:ext cx="2012285" cy="442674"/>
              </a:xfrm>
              <a:prstGeom prst="wedgeRoundRectCallout">
                <a:avLst>
                  <a:gd name="adj1" fmla="val -69151"/>
                  <a:gd name="adj2" fmla="val 11694"/>
                  <a:gd name="adj3" fmla="val 16667"/>
                </a:avLst>
              </a:prstGeom>
              <a:noFill/>
              <a:ln w="9525">
                <a:solidFill>
                  <a:schemeClr val="accent5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 b="1" i="1">
                    <a:solidFill>
                      <a:srgbClr val="A71160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defTabSz="685800"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0" kern="1200">
                          <a:latin typeface="Cambria Math" panose="02040503050406030204" pitchFamily="18" charset="0"/>
                        </a:rPr>
                        <m:t>𝐟</m:t>
                      </m:r>
                      <m:r>
                        <a:rPr lang="en-US" sz="2000" i="0" kern="12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0" kern="1200"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US" sz="2000" i="0" kern="120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i="0" kern="1200">
                          <a:latin typeface="Cambria Math" panose="02040503050406030204" pitchFamily="18" charset="0"/>
                        </a:rPr>
                        <m:t>𝛉</m:t>
                      </m:r>
                      <m:r>
                        <a:rPr lang="en-US" sz="2000" i="0" kern="12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0" kern="1200">
                          <a:latin typeface="Cambria Math" panose="02040503050406030204" pitchFamily="18" charset="0"/>
                        </a:rPr>
                        <m:t>𝐠</m:t>
                      </m:r>
                      <m:r>
                        <a:rPr lang="en-US" sz="2000" i="0" kern="12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0" kern="1200"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US" sz="2000" i="0" kern="120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000" i="0" kern="1200" dirty="0"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5311" y="4029245"/>
                <a:ext cx="2012285" cy="442674"/>
              </a:xfrm>
              <a:prstGeom prst="wedgeRoundRectCallout">
                <a:avLst>
                  <a:gd name="adj1" fmla="val -69151"/>
                  <a:gd name="adj2" fmla="val 11694"/>
                  <a:gd name="adj3" fmla="val 16667"/>
                </a:avLst>
              </a:prstGeom>
              <a:blipFill>
                <a:blip r:embed="rId7"/>
                <a:stretch>
                  <a:fillRect b="-8000"/>
                </a:stretch>
              </a:blipFill>
              <a:ln w="952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Shape 1">
            <a:extLst>
              <a:ext uri="{FF2B5EF4-FFF2-40B4-BE49-F238E27FC236}">
                <a16:creationId xmlns:a16="http://schemas.microsoft.com/office/drawing/2014/main" id="{206744F8-D0D8-F1D6-1D5D-A083787F27A9}"/>
              </a:ext>
            </a:extLst>
          </p:cNvPr>
          <p:cNvSpPr txBox="1"/>
          <p:nvPr/>
        </p:nvSpPr>
        <p:spPr>
          <a:xfrm>
            <a:off x="233820" y="55350"/>
            <a:ext cx="6390090" cy="429300"/>
          </a:xfrm>
          <a:prstGeom prst="rect">
            <a:avLst/>
          </a:prstGeom>
          <a:noFill/>
          <a:ln>
            <a:noFill/>
          </a:ln>
        </p:spPr>
        <p:txBody>
          <a:bodyPr tIns="68580" bIns="68580">
            <a:noAutofit/>
          </a:bodyPr>
          <a:lstStyle/>
          <a:p>
            <a:pPr algn="just" defTabSz="685800">
              <a:buClrTx/>
            </a:pPr>
            <a:endParaRPr lang="en-US" sz="2800" b="1" kern="1200" spc="-1" dirty="0">
              <a:solidFill>
                <a:prstClr val="black"/>
              </a:solidFill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11" name="Google Shape;9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525" y="0"/>
            <a:ext cx="9134475" cy="5174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3582" y="-32"/>
            <a:ext cx="2164268" cy="6462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2851" y="77407"/>
            <a:ext cx="60920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685800">
              <a:buClrTx/>
            </a:pPr>
            <a:r>
              <a:rPr lang="en-US" sz="2800" b="1" kern="1200" spc="-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Asymptotic notations – Cases </a:t>
            </a:r>
          </a:p>
        </p:txBody>
      </p:sp>
    </p:spTree>
    <p:extLst>
      <p:ext uri="{BB962C8B-B14F-4D97-AF65-F5344CB8AC3E}">
        <p14:creationId xmlns:p14="http://schemas.microsoft.com/office/powerpoint/2010/main" val="32387441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1676268"/>
                  </p:ext>
                </p:extLst>
              </p:nvPr>
            </p:nvGraphicFramePr>
            <p:xfrm>
              <a:off x="439832" y="888335"/>
              <a:ext cx="7827917" cy="257175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712430">
                      <a:extLst>
                        <a:ext uri="{9D8B030D-6E8A-4147-A177-3AD203B41FA5}">
                          <a16:colId xmlns:a16="http://schemas.microsoft.com/office/drawing/2014/main" val="4290887919"/>
                        </a:ext>
                      </a:extLst>
                    </a:gridCol>
                    <a:gridCol w="824919">
                      <a:extLst>
                        <a:ext uri="{9D8B030D-6E8A-4147-A177-3AD203B41FA5}">
                          <a16:colId xmlns:a16="http://schemas.microsoft.com/office/drawing/2014/main" val="1575911806"/>
                        </a:ext>
                      </a:extLst>
                    </a:gridCol>
                    <a:gridCol w="1032170">
                      <a:extLst>
                        <a:ext uri="{9D8B030D-6E8A-4147-A177-3AD203B41FA5}">
                          <a16:colId xmlns:a16="http://schemas.microsoft.com/office/drawing/2014/main" val="2769260205"/>
                        </a:ext>
                      </a:extLst>
                    </a:gridCol>
                    <a:gridCol w="1160945">
                      <a:extLst>
                        <a:ext uri="{9D8B030D-6E8A-4147-A177-3AD203B41FA5}">
                          <a16:colId xmlns:a16="http://schemas.microsoft.com/office/drawing/2014/main" val="2024315581"/>
                        </a:ext>
                      </a:extLst>
                    </a:gridCol>
                    <a:gridCol w="1399231">
                      <a:extLst>
                        <a:ext uri="{9D8B030D-6E8A-4147-A177-3AD203B41FA5}">
                          <a16:colId xmlns:a16="http://schemas.microsoft.com/office/drawing/2014/main" val="1293002562"/>
                        </a:ext>
                      </a:extLst>
                    </a:gridCol>
                    <a:gridCol w="1449530">
                      <a:extLst>
                        <a:ext uri="{9D8B030D-6E8A-4147-A177-3AD203B41FA5}">
                          <a16:colId xmlns:a16="http://schemas.microsoft.com/office/drawing/2014/main" val="959502218"/>
                        </a:ext>
                      </a:extLst>
                    </a:gridCol>
                    <a:gridCol w="1248692">
                      <a:extLst>
                        <a:ext uri="{9D8B030D-6E8A-4147-A177-3AD203B41FA5}">
                          <a16:colId xmlns:a16="http://schemas.microsoft.com/office/drawing/2014/main" val="3111579742"/>
                        </a:ext>
                      </a:extLst>
                    </a:gridCol>
                  </a:tblGrid>
                  <a:tr h="51435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sz="1800" b="1" dirty="0">
                            <a:solidFill>
                              <a:srgbClr val="A71160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1800" b="1" i="1" smtClean="0">
                                        <a:solidFill>
                                          <a:srgbClr val="A711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sz="1800" b="1" smtClean="0">
                                        <a:solidFill>
                                          <a:srgbClr val="A711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fName>
                                  <m:e>
                                    <m:r>
                                      <a:rPr lang="en-US" sz="1800" b="1" smtClean="0">
                                        <a:solidFill>
                                          <a:srgbClr val="A711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sz="1800" b="1" i="1" dirty="0">
                            <a:solidFill>
                              <a:srgbClr val="A71160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𝒏𝒍𝒐𝒈</m:t>
                                </m:r>
                                <m:r>
                                  <a:rPr lang="en-US" sz="1800" b="1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800" b="1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sz="1800" b="1" dirty="0">
                            <a:solidFill>
                              <a:srgbClr val="A71160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1800" b="1" baseline="3000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1800" b="1">
                            <a:solidFill>
                              <a:srgbClr val="A71160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1800" b="1" baseline="3000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sz="1800" b="1" baseline="30000">
                            <a:solidFill>
                              <a:srgbClr val="A71160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1800" b="1" baseline="3000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sz="1800" b="1">
                            <a:solidFill>
                              <a:srgbClr val="A71160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1800" b="1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oMath>
                            </m:oMathPara>
                          </a14:m>
                          <a:endParaRPr lang="en-US" sz="1800" b="1">
                            <a:solidFill>
                              <a:srgbClr val="A71160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1377043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4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</a:t>
                          </a:r>
                          <a:endParaRPr lang="en-US" sz="1800" b="0" i="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8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16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64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16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24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50706830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16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4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64</a:t>
                          </a:r>
                          <a:endParaRPr lang="en-US" sz="1800" b="0" i="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256</a:t>
                          </a:r>
                          <a:endParaRPr lang="en-US" sz="1800" b="0" i="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4096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65536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2.09 x 10</a:t>
                          </a:r>
                          <a:r>
                            <a:rPr lang="en-US" sz="1800" b="0" baseline="3000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13</a:t>
                          </a:r>
                          <a:endParaRPr lang="en-US" sz="1800" b="0" i="0" baseline="3000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86189439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64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384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4096</a:t>
                          </a:r>
                          <a:endParaRPr lang="en-US" sz="1800" b="0" i="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u="none" strike="noStrike" kern="120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262144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u="none" strike="noStrike" kern="120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1.84 × 10</a:t>
                          </a:r>
                          <a:r>
                            <a:rPr lang="en-US" sz="1800" b="0" u="none" strike="noStrike" kern="1200" baseline="3000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19</a:t>
                          </a:r>
                          <a:endParaRPr lang="en-US" sz="1800" b="0" i="0" baseline="3000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1.26 x 10</a:t>
                          </a:r>
                          <a:r>
                            <a:rPr lang="en-US" sz="1800" b="0" baseline="3000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29</a:t>
                          </a:r>
                          <a:endParaRPr lang="en-US" sz="1800" b="0" i="0" baseline="3000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94087353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256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8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2048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65536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u="none" strike="noStrike" kern="1200" baseline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16777216</a:t>
                          </a:r>
                          <a:endParaRPr lang="en-US" sz="1800" b="0" i="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u="none" strike="noStrike" kern="1200" baseline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1.15 × 10</a:t>
                          </a:r>
                          <a:r>
                            <a:rPr lang="en-US" sz="1800" b="0" u="none" strike="noStrike" kern="1200" baseline="3000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77</a:t>
                          </a:r>
                          <a:endParaRPr lang="en-US" sz="1800" b="0" i="0" baseline="3000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baseline="0" smtClean="0">
                                    <a:solidFill>
                                      <a:srgbClr val="424242"/>
                                    </a:solidFill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1800" b="0" i="0" baseline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83190873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1024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10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10240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u="none" strike="noStrike" kern="120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1048576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u="none" strike="noStrike" kern="120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1.07 × 10</a:t>
                          </a:r>
                          <a:r>
                            <a:rPr lang="en-US" sz="1800" b="0" u="none" strike="noStrike" kern="1200" baseline="3000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9</a:t>
                          </a:r>
                          <a:endParaRPr lang="en-US" sz="1800" b="0" i="0" baseline="3000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u="none" strike="noStrike" kern="1200" baseline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1.79 × 10</a:t>
                          </a:r>
                          <a:r>
                            <a:rPr lang="en-US" sz="1800" b="0" u="none" strike="noStrike" kern="1200" baseline="3000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308</a:t>
                          </a:r>
                          <a:endParaRPr lang="en-US" sz="1800" b="0" i="0" baseline="3000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baseline="0" smtClean="0">
                                    <a:solidFill>
                                      <a:srgbClr val="424242"/>
                                    </a:solidFill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1800" b="0" i="0" baseline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0578997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4096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12</a:t>
                          </a:r>
                          <a:endParaRPr lang="en-US" sz="1800" b="0" i="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49152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u="none" strike="noStrike" kern="120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16777216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u="none" strike="noStrike" kern="120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6.87 × 10</a:t>
                          </a:r>
                          <a:r>
                            <a:rPr lang="en-US" sz="1800" b="0" u="none" strike="noStrike" kern="1200" baseline="3000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10</a:t>
                          </a:r>
                          <a:endParaRPr lang="en-US" sz="1800" b="0" i="0" baseline="3000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u="none" strike="noStrike" kern="1200" baseline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10</a:t>
                          </a:r>
                          <a:r>
                            <a:rPr lang="en-US" sz="1800" b="0" u="none" strike="noStrike" kern="1200" baseline="3000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1233</a:t>
                          </a:r>
                          <a:endParaRPr lang="en-US" sz="1800" b="0" i="0" baseline="3000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baseline="0" smtClean="0">
                                    <a:solidFill>
                                      <a:srgbClr val="424242"/>
                                    </a:solidFill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1800" b="0" i="0" baseline="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918449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1676268"/>
                  </p:ext>
                </p:extLst>
              </p:nvPr>
            </p:nvGraphicFramePr>
            <p:xfrm>
              <a:off x="439832" y="888335"/>
              <a:ext cx="7827917" cy="257175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712430">
                      <a:extLst>
                        <a:ext uri="{9D8B030D-6E8A-4147-A177-3AD203B41FA5}">
                          <a16:colId xmlns:a16="http://schemas.microsoft.com/office/drawing/2014/main" val="4290887919"/>
                        </a:ext>
                      </a:extLst>
                    </a:gridCol>
                    <a:gridCol w="824919">
                      <a:extLst>
                        <a:ext uri="{9D8B030D-6E8A-4147-A177-3AD203B41FA5}">
                          <a16:colId xmlns:a16="http://schemas.microsoft.com/office/drawing/2014/main" val="1575911806"/>
                        </a:ext>
                      </a:extLst>
                    </a:gridCol>
                    <a:gridCol w="1032170">
                      <a:extLst>
                        <a:ext uri="{9D8B030D-6E8A-4147-A177-3AD203B41FA5}">
                          <a16:colId xmlns:a16="http://schemas.microsoft.com/office/drawing/2014/main" val="2769260205"/>
                        </a:ext>
                      </a:extLst>
                    </a:gridCol>
                    <a:gridCol w="1160945">
                      <a:extLst>
                        <a:ext uri="{9D8B030D-6E8A-4147-A177-3AD203B41FA5}">
                          <a16:colId xmlns:a16="http://schemas.microsoft.com/office/drawing/2014/main" val="2024315581"/>
                        </a:ext>
                      </a:extLst>
                    </a:gridCol>
                    <a:gridCol w="1399231">
                      <a:extLst>
                        <a:ext uri="{9D8B030D-6E8A-4147-A177-3AD203B41FA5}">
                          <a16:colId xmlns:a16="http://schemas.microsoft.com/office/drawing/2014/main" val="1293002562"/>
                        </a:ext>
                      </a:extLst>
                    </a:gridCol>
                    <a:gridCol w="1449530">
                      <a:extLst>
                        <a:ext uri="{9D8B030D-6E8A-4147-A177-3AD203B41FA5}">
                          <a16:colId xmlns:a16="http://schemas.microsoft.com/office/drawing/2014/main" val="959502218"/>
                        </a:ext>
                      </a:extLst>
                    </a:gridCol>
                    <a:gridCol w="1248692">
                      <a:extLst>
                        <a:ext uri="{9D8B030D-6E8A-4147-A177-3AD203B41FA5}">
                          <a16:colId xmlns:a16="http://schemas.microsoft.com/office/drawing/2014/main" val="3111579742"/>
                        </a:ext>
                      </a:extLst>
                    </a:gridCol>
                  </a:tblGrid>
                  <a:tr h="514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55" t="-1176" r="-1000000" b="-4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7407" t="-1176" r="-766667" b="-4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8824" t="-1176" r="-508824" b="-4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2632" t="-1176" r="-355263" b="-4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6522" t="-1176" r="-193478" b="-4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54202" t="-1176" r="-86975" b="-4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27317" t="-1176" r="-976" b="-417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377043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4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</a:t>
                          </a:r>
                          <a:endParaRPr lang="en-US" sz="1800" b="0" i="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8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16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64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16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24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50706830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16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4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64</a:t>
                          </a:r>
                          <a:endParaRPr lang="en-US" sz="1800" b="0" i="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256</a:t>
                          </a:r>
                          <a:endParaRPr lang="en-US" sz="1800" b="0" i="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4096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65536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2.09 x 10</a:t>
                          </a:r>
                          <a:r>
                            <a:rPr lang="en-US" sz="1800" b="0" baseline="3000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13</a:t>
                          </a:r>
                          <a:endParaRPr lang="en-US" sz="1800" b="0" i="0" baseline="3000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86189439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64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384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4096</a:t>
                          </a:r>
                          <a:endParaRPr lang="en-US" sz="1800" b="0" i="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u="none" strike="noStrike" kern="120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262144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u="none" strike="noStrike" kern="120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1.84 × 10</a:t>
                          </a:r>
                          <a:r>
                            <a:rPr lang="en-US" sz="1800" b="0" u="none" strike="noStrike" kern="1200" baseline="3000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19</a:t>
                          </a:r>
                          <a:endParaRPr lang="en-US" sz="1800" b="0" i="0" baseline="3000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1.26 x 10</a:t>
                          </a:r>
                          <a:r>
                            <a:rPr lang="en-US" sz="1800" b="0" baseline="3000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29</a:t>
                          </a:r>
                          <a:endParaRPr lang="en-US" sz="1800" b="0" i="0" baseline="3000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94087353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256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8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2048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65536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u="none" strike="noStrike" kern="1200" baseline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16777216</a:t>
                          </a:r>
                          <a:endParaRPr lang="en-US" sz="1800" b="0" i="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u="none" strike="noStrike" kern="1200" baseline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1.15 × 10</a:t>
                          </a:r>
                          <a:r>
                            <a:rPr lang="en-US" sz="1800" b="0" u="none" strike="noStrike" kern="1200" baseline="3000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77</a:t>
                          </a:r>
                          <a:endParaRPr lang="en-US" sz="1800" b="0" i="0" baseline="3000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27317" t="-455357" r="-976" b="-232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3190873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1024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10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10240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u="none" strike="noStrike" kern="120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1048576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u="none" strike="noStrike" kern="120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1.07 × 10</a:t>
                          </a:r>
                          <a:r>
                            <a:rPr lang="en-US" sz="1800" b="0" u="none" strike="noStrike" kern="1200" baseline="3000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9</a:t>
                          </a:r>
                          <a:endParaRPr lang="en-US" sz="1800" b="0" i="0" baseline="3000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u="none" strike="noStrike" kern="1200" baseline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1.79 × 10</a:t>
                          </a:r>
                          <a:r>
                            <a:rPr lang="en-US" sz="1800" b="0" u="none" strike="noStrike" kern="1200" baseline="3000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308</a:t>
                          </a:r>
                          <a:endParaRPr lang="en-US" sz="1800" b="0" i="0" baseline="3000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27317" t="-545614" r="-976" b="-1280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0578997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4096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12</a:t>
                          </a:r>
                          <a:endParaRPr lang="en-US" sz="1800" b="0" i="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49152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u="none" strike="noStrike" kern="120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16777216</a:t>
                          </a:r>
                          <a:endParaRPr lang="en-US" sz="1800" b="0" i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u="none" strike="noStrike" kern="1200" baseline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6.87 × 10</a:t>
                          </a:r>
                          <a:r>
                            <a:rPr lang="en-US" sz="1800" b="0" u="none" strike="noStrike" kern="1200" baseline="3000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10</a:t>
                          </a:r>
                          <a:endParaRPr lang="en-US" sz="1800" b="0" i="0" baseline="3000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u="none" strike="noStrike" kern="1200" baseline="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10</a:t>
                          </a:r>
                          <a:r>
                            <a:rPr lang="en-US" sz="1800" b="0" u="none" strike="noStrike" kern="1200" baseline="30000" dirty="0">
                              <a:solidFill>
                                <a:srgbClr val="424242"/>
                              </a:solidFill>
                              <a:latin typeface="Trebuchet MS" panose="020B0603020202020204" pitchFamily="34" charset="0"/>
                            </a:rPr>
                            <a:t>1233</a:t>
                          </a:r>
                          <a:endParaRPr lang="en-US" sz="1800" b="0" i="0" baseline="30000" dirty="0">
                            <a:solidFill>
                              <a:srgbClr val="424242"/>
                            </a:solidFill>
                            <a:latin typeface="Trebuchet MS" panose="020B0603020202020204" pitchFamily="34" charset="0"/>
                            <a:ea typeface="Cambria" panose="020405030504060302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27317" t="-657143" r="-976" b="-303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18449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ounded Rectangle 5"/>
          <p:cNvSpPr/>
          <p:nvPr/>
        </p:nvSpPr>
        <p:spPr>
          <a:xfrm>
            <a:off x="716826" y="2174210"/>
            <a:ext cx="7708717" cy="285750"/>
          </a:xfrm>
          <a:prstGeom prst="roundRect">
            <a:avLst/>
          </a:prstGeom>
          <a:solidFill>
            <a:schemeClr val="accent2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endParaRPr lang="en-US" sz="1350" kern="1200">
              <a:solidFill>
                <a:prstClr val="white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139037-7560-8DA3-4388-600B926490E8}"/>
              </a:ext>
            </a:extLst>
          </p:cNvPr>
          <p:cNvSpPr txBox="1"/>
          <p:nvPr/>
        </p:nvSpPr>
        <p:spPr>
          <a:xfrm>
            <a:off x="355888" y="3721363"/>
            <a:ext cx="45771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685800">
              <a:buClrTx/>
              <a:defRPr/>
            </a:pPr>
            <a:r>
              <a:rPr lang="en-US" sz="2400" b="1" kern="1200" spc="-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Growth of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CA27784-F347-0803-0964-A4A0E21572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710200"/>
                  </p:ext>
                </p:extLst>
              </p:nvPr>
            </p:nvGraphicFramePr>
            <p:xfrm>
              <a:off x="1267000" y="4255165"/>
              <a:ext cx="5882639" cy="346837"/>
            </p:xfrm>
            <a:graphic>
              <a:graphicData uri="http://schemas.openxmlformats.org/drawingml/2006/table">
                <a:tbl>
                  <a:tblPr firstRow="1" bandRow="1">
                    <a:tableStyleId>{BDBED569-4797-4DF1-A0F4-6AAB3CD982D8}</a:tableStyleId>
                  </a:tblPr>
                  <a:tblGrid>
                    <a:gridCol w="468116">
                      <a:extLst>
                        <a:ext uri="{9D8B030D-6E8A-4147-A177-3AD203B41FA5}">
                          <a16:colId xmlns:a16="http://schemas.microsoft.com/office/drawing/2014/main" val="3352586213"/>
                        </a:ext>
                      </a:extLst>
                    </a:gridCol>
                    <a:gridCol w="4681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68116">
                      <a:extLst>
                        <a:ext uri="{9D8B030D-6E8A-4147-A177-3AD203B41FA5}">
                          <a16:colId xmlns:a16="http://schemas.microsoft.com/office/drawing/2014/main" val="2709402537"/>
                        </a:ext>
                      </a:extLst>
                    </a:gridCol>
                    <a:gridCol w="694988">
                      <a:extLst>
                        <a:ext uri="{9D8B030D-6E8A-4147-A177-3AD203B41FA5}">
                          <a16:colId xmlns:a16="http://schemas.microsoft.com/office/drawing/2014/main" val="3252694521"/>
                        </a:ext>
                      </a:extLst>
                    </a:gridCol>
                    <a:gridCol w="442266">
                      <a:extLst>
                        <a:ext uri="{9D8B030D-6E8A-4147-A177-3AD203B41FA5}">
                          <a16:colId xmlns:a16="http://schemas.microsoft.com/office/drawing/2014/main" val="3776547894"/>
                        </a:ext>
                      </a:extLst>
                    </a:gridCol>
                    <a:gridCol w="675000">
                      <a:extLst>
                        <a:ext uri="{9D8B030D-6E8A-4147-A177-3AD203B41FA5}">
                          <a16:colId xmlns:a16="http://schemas.microsoft.com/office/drawing/2014/main" val="3777864780"/>
                        </a:ext>
                      </a:extLst>
                    </a:gridCol>
                    <a:gridCol w="618335">
                      <a:extLst>
                        <a:ext uri="{9D8B030D-6E8A-4147-A177-3AD203B41FA5}">
                          <a16:colId xmlns:a16="http://schemas.microsoft.com/office/drawing/2014/main" val="1140023161"/>
                        </a:ext>
                      </a:extLst>
                    </a:gridCol>
                    <a:gridCol w="582101">
                      <a:extLst>
                        <a:ext uri="{9D8B030D-6E8A-4147-A177-3AD203B41FA5}">
                          <a16:colId xmlns:a16="http://schemas.microsoft.com/office/drawing/2014/main" val="1292681857"/>
                        </a:ext>
                      </a:extLst>
                    </a:gridCol>
                    <a:gridCol w="883017">
                      <a:extLst>
                        <a:ext uri="{9D8B030D-6E8A-4147-A177-3AD203B41FA5}">
                          <a16:colId xmlns:a16="http://schemas.microsoft.com/office/drawing/2014/main" val="3091747945"/>
                        </a:ext>
                      </a:extLst>
                    </a:gridCol>
                    <a:gridCol w="582584">
                      <a:extLst>
                        <a:ext uri="{9D8B030D-6E8A-4147-A177-3AD203B41FA5}">
                          <a16:colId xmlns:a16="http://schemas.microsoft.com/office/drawing/2014/main" val="2450183584"/>
                        </a:ext>
                      </a:extLst>
                    </a:gridCol>
                  </a:tblGrid>
                  <a:tr h="346805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80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en-US" sz="1800" smtClean="0"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  <a:latin typeface="Trebuchet MS" panose="020B0603020202020204" pitchFamily="34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800" smtClean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aseline="30000" err="1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sz="1800" b="0" baseline="30000">
                            <a:solidFill>
                              <a:schemeClr val="tx1"/>
                            </a:solidFill>
                            <a:latin typeface="Trebuchet MS" panose="020B0603020202020204" pitchFamily="34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aseline="3000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sz="1800" b="0" baseline="30000" dirty="0">
                            <a:solidFill>
                              <a:schemeClr val="tx1"/>
                            </a:solidFill>
                            <a:latin typeface="Trebuchet MS" panose="020B0603020202020204" pitchFamily="34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80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en-US" sz="1800" baseline="3000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b="0" baseline="30000" dirty="0">
                            <a:solidFill>
                              <a:schemeClr val="tx1"/>
                            </a:solidFill>
                            <a:latin typeface="Trebuchet MS" panose="020B0603020202020204" pitchFamily="34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80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en-IN" sz="1800" baseline="3000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 b="0" baseline="30000" dirty="0">
                            <a:solidFill>
                              <a:schemeClr val="tx1"/>
                            </a:solidFill>
                            <a:latin typeface="Trebuchet MS" panose="020B0603020202020204" pitchFamily="34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sz="180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smtClean="0">
                                    <a:latin typeface="Cambria Math" panose="02040503050406030204" pitchFamily="18" charset="0"/>
                                  </a:rPr>
                                  <m:t>logn</m:t>
                                </m:r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  <a:latin typeface="Trebuchet MS" panose="020B0603020202020204" pitchFamily="34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sz="180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  <a:latin typeface="Trebuchet MS" panose="020B0603020202020204" pitchFamily="34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80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1800" b="0" baseline="30000" dirty="0">
                            <a:solidFill>
                              <a:schemeClr val="tx1"/>
                            </a:solidFill>
                            <a:latin typeface="Trebuchet MS" panose="020B0603020202020204" pitchFamily="34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800" baseline="0" smtClean="0">
                                    <a:latin typeface="Cambria Math" panose="02040503050406030204" pitchFamily="18" charset="0"/>
                                  </a:rPr>
                                  <m:t>logn</m:t>
                                </m:r>
                              </m:oMath>
                            </m:oMathPara>
                          </a14:m>
                          <a:endParaRPr lang="en-US" sz="1800" b="0" baseline="30000" dirty="0">
                            <a:solidFill>
                              <a:schemeClr val="tx1"/>
                            </a:solidFill>
                            <a:latin typeface="Trebuchet MS" panose="020B0603020202020204" pitchFamily="34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800" baseline="300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  <a:latin typeface="Trebuchet MS" panose="020B0603020202020204" pitchFamily="34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0898474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CA27784-F347-0803-0964-A4A0E21572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710200"/>
                  </p:ext>
                </p:extLst>
              </p:nvPr>
            </p:nvGraphicFramePr>
            <p:xfrm>
              <a:off x="1267000" y="4255165"/>
              <a:ext cx="5882639" cy="346837"/>
            </p:xfrm>
            <a:graphic>
              <a:graphicData uri="http://schemas.openxmlformats.org/drawingml/2006/table">
                <a:tbl>
                  <a:tblPr firstRow="1" bandRow="1">
                    <a:tableStyleId>{BDBED569-4797-4DF1-A0F4-6AAB3CD982D8}</a:tableStyleId>
                  </a:tblPr>
                  <a:tblGrid>
                    <a:gridCol w="468116">
                      <a:extLst>
                        <a:ext uri="{9D8B030D-6E8A-4147-A177-3AD203B41FA5}">
                          <a16:colId xmlns:a16="http://schemas.microsoft.com/office/drawing/2014/main" val="3352586213"/>
                        </a:ext>
                      </a:extLst>
                    </a:gridCol>
                    <a:gridCol w="4681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68116">
                      <a:extLst>
                        <a:ext uri="{9D8B030D-6E8A-4147-A177-3AD203B41FA5}">
                          <a16:colId xmlns:a16="http://schemas.microsoft.com/office/drawing/2014/main" val="2709402537"/>
                        </a:ext>
                      </a:extLst>
                    </a:gridCol>
                    <a:gridCol w="694988">
                      <a:extLst>
                        <a:ext uri="{9D8B030D-6E8A-4147-A177-3AD203B41FA5}">
                          <a16:colId xmlns:a16="http://schemas.microsoft.com/office/drawing/2014/main" val="3252694521"/>
                        </a:ext>
                      </a:extLst>
                    </a:gridCol>
                    <a:gridCol w="442266">
                      <a:extLst>
                        <a:ext uri="{9D8B030D-6E8A-4147-A177-3AD203B41FA5}">
                          <a16:colId xmlns:a16="http://schemas.microsoft.com/office/drawing/2014/main" val="3776547894"/>
                        </a:ext>
                      </a:extLst>
                    </a:gridCol>
                    <a:gridCol w="675000">
                      <a:extLst>
                        <a:ext uri="{9D8B030D-6E8A-4147-A177-3AD203B41FA5}">
                          <a16:colId xmlns:a16="http://schemas.microsoft.com/office/drawing/2014/main" val="3777864780"/>
                        </a:ext>
                      </a:extLst>
                    </a:gridCol>
                    <a:gridCol w="618335">
                      <a:extLst>
                        <a:ext uri="{9D8B030D-6E8A-4147-A177-3AD203B41FA5}">
                          <a16:colId xmlns:a16="http://schemas.microsoft.com/office/drawing/2014/main" val="1140023161"/>
                        </a:ext>
                      </a:extLst>
                    </a:gridCol>
                    <a:gridCol w="582101">
                      <a:extLst>
                        <a:ext uri="{9D8B030D-6E8A-4147-A177-3AD203B41FA5}">
                          <a16:colId xmlns:a16="http://schemas.microsoft.com/office/drawing/2014/main" val="1292681857"/>
                        </a:ext>
                      </a:extLst>
                    </a:gridCol>
                    <a:gridCol w="883017">
                      <a:extLst>
                        <a:ext uri="{9D8B030D-6E8A-4147-A177-3AD203B41FA5}">
                          <a16:colId xmlns:a16="http://schemas.microsoft.com/office/drawing/2014/main" val="3091747945"/>
                        </a:ext>
                      </a:extLst>
                    </a:gridCol>
                    <a:gridCol w="582584">
                      <a:extLst>
                        <a:ext uri="{9D8B030D-6E8A-4147-A177-3AD203B41FA5}">
                          <a16:colId xmlns:a16="http://schemas.microsoft.com/office/drawing/2014/main" val="2450183584"/>
                        </a:ext>
                      </a:extLst>
                    </a:gridCol>
                  </a:tblGrid>
                  <a:tr h="3468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1299" t="-3509" r="-1158442" b="-192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101299" t="-3509" r="-1058442" b="-192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201299" t="-3509" r="-958442" b="-192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203509" t="-3509" r="-547368" b="-192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480556" t="-3509" r="-766667" b="-192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376577" t="-3509" r="-397297" b="-192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518627" t="-3509" r="-332353" b="-192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664211" t="-3509" r="-256842" b="-192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500690" t="-3509" r="-68276" b="-192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907292" t="-3509" r="-3125" b="-192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984743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Google Shape;9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525"/>
            <a:ext cx="9134475" cy="51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3582" y="-32"/>
            <a:ext cx="2164268" cy="6462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34742" y="87459"/>
            <a:ext cx="44324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 defTabSz="685800">
              <a:buClrTx/>
            </a:pPr>
            <a:r>
              <a:rPr lang="en-US" sz="2400" b="1" kern="1200" spc="-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Common orders of magnitude</a:t>
            </a:r>
          </a:p>
        </p:txBody>
      </p:sp>
    </p:spTree>
    <p:extLst>
      <p:ext uri="{BB962C8B-B14F-4D97-AF65-F5344CB8AC3E}">
        <p14:creationId xmlns:p14="http://schemas.microsoft.com/office/powerpoint/2010/main" val="1936396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" y="0"/>
            <a:ext cx="9134475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7;p17"/>
          <p:cNvSpPr txBox="1"/>
          <p:nvPr/>
        </p:nvSpPr>
        <p:spPr>
          <a:xfrm>
            <a:off x="292312" y="1798702"/>
            <a:ext cx="8202511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indent="-177800" algn="ctr">
              <a:lnSpc>
                <a:spcPct val="150000"/>
              </a:lnSpc>
            </a:pPr>
            <a:r>
              <a:rPr lang="en-US" sz="4400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Thank you!!</a:t>
            </a:r>
            <a:endParaRPr lang="en-US" sz="4400" b="1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0267" y="1171687"/>
            <a:ext cx="8006602" cy="456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800" b="1" u="sng" dirty="0" smtClean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582" y="-32"/>
            <a:ext cx="2164268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038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 Templat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PT Templat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8491</TotalTime>
  <Words>4240</Words>
  <Application>Microsoft Office PowerPoint</Application>
  <PresentationFormat>On-screen Show (16:9)</PresentationFormat>
  <Paragraphs>433</Paragraphs>
  <Slides>56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56</vt:i4>
      </vt:variant>
    </vt:vector>
  </HeadingPairs>
  <TitlesOfParts>
    <vt:vector size="71" baseType="lpstr">
      <vt:lpstr>Cambria</vt:lpstr>
      <vt:lpstr>DejaVu Sans</vt:lpstr>
      <vt:lpstr>Wingdings</vt:lpstr>
      <vt:lpstr>Arial</vt:lpstr>
      <vt:lpstr>Calibri</vt:lpstr>
      <vt:lpstr>Corbel</vt:lpstr>
      <vt:lpstr>Cambria Math</vt:lpstr>
      <vt:lpstr>Calibri Light</vt:lpstr>
      <vt:lpstr>Symbol</vt:lpstr>
      <vt:lpstr>Trebuchet MS</vt:lpstr>
      <vt:lpstr>Algerian</vt:lpstr>
      <vt:lpstr>Proxima Nova</vt:lpstr>
      <vt:lpstr>PPT Template</vt:lpstr>
      <vt:lpstr>1_Custom Design</vt:lpstr>
      <vt:lpstr>1_PPT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How to Analysis of Algorithms</vt:lpstr>
      <vt:lpstr>  </vt:lpstr>
      <vt:lpstr>   </vt:lpstr>
      <vt:lpstr>   </vt:lpstr>
      <vt:lpstr>   </vt:lpstr>
      <vt:lpstr>   </vt:lpstr>
      <vt:lpstr>   </vt:lpstr>
      <vt:lpstr>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tourist</cp:lastModifiedBy>
  <cp:revision>485</cp:revision>
  <dcterms:modified xsi:type="dcterms:W3CDTF">2026-06-27T09:32:12Z</dcterms:modified>
</cp:coreProperties>
</file>