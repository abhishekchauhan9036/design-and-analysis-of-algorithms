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62"/>
  </p:notesMasterIdLst>
  <p:sldIdLst>
    <p:sldId id="307" r:id="rId3"/>
    <p:sldId id="602" r:id="rId4"/>
    <p:sldId id="603" r:id="rId5"/>
    <p:sldId id="604" r:id="rId6"/>
    <p:sldId id="605" r:id="rId7"/>
    <p:sldId id="606" r:id="rId8"/>
    <p:sldId id="607" r:id="rId9"/>
    <p:sldId id="580" r:id="rId10"/>
    <p:sldId id="608" r:id="rId11"/>
    <p:sldId id="581" r:id="rId12"/>
    <p:sldId id="609" r:id="rId13"/>
    <p:sldId id="584" r:id="rId14"/>
    <p:sldId id="610" r:id="rId15"/>
    <p:sldId id="587" r:id="rId16"/>
    <p:sldId id="588" r:id="rId17"/>
    <p:sldId id="611" r:id="rId18"/>
    <p:sldId id="612" r:id="rId19"/>
    <p:sldId id="613" r:id="rId20"/>
    <p:sldId id="614" r:id="rId21"/>
    <p:sldId id="615" r:id="rId22"/>
    <p:sldId id="616" r:id="rId23"/>
    <p:sldId id="617" r:id="rId24"/>
    <p:sldId id="593" r:id="rId25"/>
    <p:sldId id="623" r:id="rId26"/>
    <p:sldId id="624" r:id="rId27"/>
    <p:sldId id="625" r:id="rId28"/>
    <p:sldId id="626" r:id="rId29"/>
    <p:sldId id="627" r:id="rId30"/>
    <p:sldId id="628" r:id="rId31"/>
    <p:sldId id="629" r:id="rId32"/>
    <p:sldId id="630" r:id="rId33"/>
    <p:sldId id="631" r:id="rId34"/>
    <p:sldId id="632" r:id="rId35"/>
    <p:sldId id="633" r:id="rId36"/>
    <p:sldId id="634" r:id="rId37"/>
    <p:sldId id="635" r:id="rId38"/>
    <p:sldId id="636" r:id="rId39"/>
    <p:sldId id="639" r:id="rId40"/>
    <p:sldId id="640" r:id="rId41"/>
    <p:sldId id="641" r:id="rId42"/>
    <p:sldId id="642" r:id="rId43"/>
    <p:sldId id="622" r:id="rId44"/>
    <p:sldId id="618" r:id="rId45"/>
    <p:sldId id="619" r:id="rId46"/>
    <p:sldId id="620" r:id="rId47"/>
    <p:sldId id="621" r:id="rId48"/>
    <p:sldId id="643" r:id="rId49"/>
    <p:sldId id="644" r:id="rId50"/>
    <p:sldId id="645" r:id="rId51"/>
    <p:sldId id="646" r:id="rId52"/>
    <p:sldId id="647" r:id="rId53"/>
    <p:sldId id="648" r:id="rId54"/>
    <p:sldId id="649" r:id="rId55"/>
    <p:sldId id="650" r:id="rId56"/>
    <p:sldId id="651" r:id="rId57"/>
    <p:sldId id="652" r:id="rId58"/>
    <p:sldId id="654" r:id="rId59"/>
    <p:sldId id="653" r:id="rId60"/>
    <p:sldId id="58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BB437-A6EA-4293-BBAE-0AB322C2F18F}" type="datetimeFigureOut">
              <a:rPr lang="en-IN" smtClean="0"/>
              <a:t>27-06-2026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1E7B0-72F8-44DA-9C2B-76615B29C4DF}" type="slidenum">
              <a:rPr lang="en-IN" smtClean="0"/>
              <a:t>‹#›</a:t>
            </a:fld>
            <a:endParaRPr lang="en-IN"/>
          </a:p>
        </p:txBody>
      </p:sp>
    </p:spTree>
    <p:extLst>
      <p:ext uri="{BB962C8B-B14F-4D97-AF65-F5344CB8AC3E}">
        <p14:creationId xmlns:p14="http://schemas.microsoft.com/office/powerpoint/2010/main" val="326862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10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6304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1237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9307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7644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8002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9926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1801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2865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7166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2199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5523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419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6748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6166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0871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9372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7311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4201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4112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8243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1186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2401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5295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9245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880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57790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26910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7904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76593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52574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45069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72663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84123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74951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39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25287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73276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78055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65049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24096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37933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52904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36899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35962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2987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56312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57801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49664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46330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74246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50297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85197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94134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59900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5592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13657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81750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060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microsoft.com/office/2007/relationships/hdphoto" Target="../media/hdphoto2.wdp"/></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0.jpeg"/><Relationship Id="rId5" Type="http://schemas.openxmlformats.org/officeDocument/2006/relationships/image" Target="../media/image6.png"/><Relationship Id="rId10" Type="http://schemas.openxmlformats.org/officeDocument/2006/relationships/image" Target="../media/image15.png"/><Relationship Id="rId4" Type="http://schemas.openxmlformats.org/officeDocument/2006/relationships/image" Target="../media/image14.png"/><Relationship Id="rId9"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jpeg"/><Relationship Id="rId4" Type="http://schemas.openxmlformats.org/officeDocument/2006/relationships/image" Target="../media/image14.png"/><Relationship Id="rId9" Type="http://schemas.microsoft.com/office/2007/relationships/hdphoto" Target="../media/hdphoto1.wdp"/></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0.jpeg"/><Relationship Id="rId5" Type="http://schemas.openxmlformats.org/officeDocument/2006/relationships/image" Target="../media/image6.png"/><Relationship Id="rId10" Type="http://schemas.openxmlformats.org/officeDocument/2006/relationships/image" Target="../media/image16.jpeg"/><Relationship Id="rId4" Type="http://schemas.openxmlformats.org/officeDocument/2006/relationships/image" Target="../media/image14.png"/><Relationship Id="rId9" Type="http://schemas.microsoft.com/office/2007/relationships/hdphoto" Target="../media/hdphoto1.wdp"/></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6007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22571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40600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08458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99483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937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6" name="PlaceHolder 2"/>
          <p:cNvSpPr>
            <a:spLocks noGrp="1"/>
          </p:cNvSpPr>
          <p:nvPr>
            <p:ph type="subTitle"/>
          </p:nvPr>
        </p:nvSpPr>
        <p:spPr>
          <a:xfrm>
            <a:off x="415680" y="1151520"/>
            <a:ext cx="11360160" cy="4554720"/>
          </a:xfrm>
          <a:prstGeom prst="rect">
            <a:avLst/>
          </a:prstGeom>
        </p:spPr>
        <p:txBody>
          <a:bodyPr lIns="0" tIns="0" rIns="0" bIns="0" anchor="ctr">
            <a:noAutofit/>
          </a:bodyPr>
          <a:lstStyle/>
          <a:p>
            <a:pPr algn="ctr"/>
            <a:r>
              <a:rPr lang="en-US" sz="4267" b="0" strike="noStrike" spc="-1">
                <a:latin typeface="Arial"/>
              </a:rPr>
              <a:t>Click to edit Master subtitle style</a:t>
            </a:r>
          </a:p>
        </p:txBody>
      </p:sp>
    </p:spTree>
    <p:extLst>
      <p:ext uri="{BB962C8B-B14F-4D97-AF65-F5344CB8AC3E}">
        <p14:creationId xmlns:p14="http://schemas.microsoft.com/office/powerpoint/2010/main" val="1403146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8" name="PlaceHolder 2"/>
          <p:cNvSpPr>
            <a:spLocks noGrp="1"/>
          </p:cNvSpPr>
          <p:nvPr>
            <p:ph type="body"/>
          </p:nvPr>
        </p:nvSpPr>
        <p:spPr>
          <a:xfrm>
            <a:off x="415680" y="1151520"/>
            <a:ext cx="1136016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282039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10" name="PlaceHolder 2"/>
          <p:cNvSpPr>
            <a:spLocks noGrp="1"/>
          </p:cNvSpPr>
          <p:nvPr>
            <p:ph type="body"/>
          </p:nvPr>
        </p:nvSpPr>
        <p:spPr>
          <a:xfrm>
            <a:off x="41568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11" name="PlaceHolder 3"/>
          <p:cNvSpPr>
            <a:spLocks noGrp="1"/>
          </p:cNvSpPr>
          <p:nvPr>
            <p:ph type="body"/>
          </p:nvPr>
        </p:nvSpPr>
        <p:spPr>
          <a:xfrm>
            <a:off x="623712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3536633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Tree>
    <p:extLst>
      <p:ext uri="{BB962C8B-B14F-4D97-AF65-F5344CB8AC3E}">
        <p14:creationId xmlns:p14="http://schemas.microsoft.com/office/powerpoint/2010/main" val="2989936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15680" y="98400"/>
            <a:ext cx="11360160" cy="3539520"/>
          </a:xfrm>
          <a:prstGeom prst="rect">
            <a:avLst/>
          </a:prstGeom>
        </p:spPr>
        <p:txBody>
          <a:bodyPr lIns="0" tIns="0" rIns="0" bIns="0" anchor="ctr">
            <a:noAutofit/>
          </a:bodyPr>
          <a:lstStyle/>
          <a:p>
            <a:pPr algn="ctr"/>
            <a:r>
              <a:rPr lang="en-US" sz="4267" b="0" strike="noStrike" spc="-1">
                <a:latin typeface="Arial"/>
              </a:rPr>
              <a:t>Click to edit Master subtitle style</a:t>
            </a:r>
          </a:p>
        </p:txBody>
      </p:sp>
    </p:spTree>
    <p:extLst>
      <p:ext uri="{BB962C8B-B14F-4D97-AF65-F5344CB8AC3E}">
        <p14:creationId xmlns:p14="http://schemas.microsoft.com/office/powerpoint/2010/main" val="4174398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15" name="PlaceHolder 2"/>
          <p:cNvSpPr>
            <a:spLocks noGrp="1"/>
          </p:cNvSpPr>
          <p:nvPr>
            <p:ph type="body"/>
          </p:nvPr>
        </p:nvSpPr>
        <p:spPr>
          <a:xfrm>
            <a:off x="41568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16" name="PlaceHolder 3"/>
          <p:cNvSpPr>
            <a:spLocks noGrp="1"/>
          </p:cNvSpPr>
          <p:nvPr>
            <p:ph type="body"/>
          </p:nvPr>
        </p:nvSpPr>
        <p:spPr>
          <a:xfrm>
            <a:off x="623712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17" name="PlaceHolder 4"/>
          <p:cNvSpPr>
            <a:spLocks noGrp="1"/>
          </p:cNvSpPr>
          <p:nvPr>
            <p:ph type="body"/>
          </p:nvPr>
        </p:nvSpPr>
        <p:spPr>
          <a:xfrm>
            <a:off x="415680" y="353088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3971641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19" name="PlaceHolder 2"/>
          <p:cNvSpPr>
            <a:spLocks noGrp="1"/>
          </p:cNvSpPr>
          <p:nvPr>
            <p:ph type="body"/>
          </p:nvPr>
        </p:nvSpPr>
        <p:spPr>
          <a:xfrm>
            <a:off x="41568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0" name="PlaceHolder 3"/>
          <p:cNvSpPr>
            <a:spLocks noGrp="1"/>
          </p:cNvSpPr>
          <p:nvPr>
            <p:ph type="body"/>
          </p:nvPr>
        </p:nvSpPr>
        <p:spPr>
          <a:xfrm>
            <a:off x="623712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1" name="PlaceHolder 4"/>
          <p:cNvSpPr>
            <a:spLocks noGrp="1"/>
          </p:cNvSpPr>
          <p:nvPr>
            <p:ph type="body"/>
          </p:nvPr>
        </p:nvSpPr>
        <p:spPr>
          <a:xfrm>
            <a:off x="6237120" y="353088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28587109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23" name="PlaceHolder 2"/>
          <p:cNvSpPr>
            <a:spLocks noGrp="1"/>
          </p:cNvSpPr>
          <p:nvPr>
            <p:ph type="body"/>
          </p:nvPr>
        </p:nvSpPr>
        <p:spPr>
          <a:xfrm>
            <a:off x="41568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4" name="PlaceHolder 3"/>
          <p:cNvSpPr>
            <a:spLocks noGrp="1"/>
          </p:cNvSpPr>
          <p:nvPr>
            <p:ph type="body"/>
          </p:nvPr>
        </p:nvSpPr>
        <p:spPr>
          <a:xfrm>
            <a:off x="623712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5" name="PlaceHolder 4"/>
          <p:cNvSpPr>
            <a:spLocks noGrp="1"/>
          </p:cNvSpPr>
          <p:nvPr>
            <p:ph type="body"/>
          </p:nvPr>
        </p:nvSpPr>
        <p:spPr>
          <a:xfrm>
            <a:off x="415680" y="3530880"/>
            <a:ext cx="1136016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3211995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27" name="PlaceHolder 2"/>
          <p:cNvSpPr>
            <a:spLocks noGrp="1"/>
          </p:cNvSpPr>
          <p:nvPr>
            <p:ph type="body"/>
          </p:nvPr>
        </p:nvSpPr>
        <p:spPr>
          <a:xfrm>
            <a:off x="415680" y="1151520"/>
            <a:ext cx="1136016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28" name="PlaceHolder 3"/>
          <p:cNvSpPr>
            <a:spLocks noGrp="1"/>
          </p:cNvSpPr>
          <p:nvPr>
            <p:ph type="body"/>
          </p:nvPr>
        </p:nvSpPr>
        <p:spPr>
          <a:xfrm>
            <a:off x="415680" y="3530880"/>
            <a:ext cx="1136016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1180753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30" name="PlaceHolder 2"/>
          <p:cNvSpPr>
            <a:spLocks noGrp="1"/>
          </p:cNvSpPr>
          <p:nvPr>
            <p:ph type="body"/>
          </p:nvPr>
        </p:nvSpPr>
        <p:spPr>
          <a:xfrm>
            <a:off x="41568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1" name="PlaceHolder 3"/>
          <p:cNvSpPr>
            <a:spLocks noGrp="1"/>
          </p:cNvSpPr>
          <p:nvPr>
            <p:ph type="body"/>
          </p:nvPr>
        </p:nvSpPr>
        <p:spPr>
          <a:xfrm>
            <a:off x="6237120" y="115152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2" name="PlaceHolder 4"/>
          <p:cNvSpPr>
            <a:spLocks noGrp="1"/>
          </p:cNvSpPr>
          <p:nvPr>
            <p:ph type="body"/>
          </p:nvPr>
        </p:nvSpPr>
        <p:spPr>
          <a:xfrm>
            <a:off x="415680" y="353088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3" name="PlaceHolder 5"/>
          <p:cNvSpPr>
            <a:spLocks noGrp="1"/>
          </p:cNvSpPr>
          <p:nvPr>
            <p:ph type="body"/>
          </p:nvPr>
        </p:nvSpPr>
        <p:spPr>
          <a:xfrm>
            <a:off x="6237120" y="3530880"/>
            <a:ext cx="554352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15143472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35" name="PlaceHolder 2"/>
          <p:cNvSpPr>
            <a:spLocks noGrp="1"/>
          </p:cNvSpPr>
          <p:nvPr>
            <p:ph type="body"/>
          </p:nvPr>
        </p:nvSpPr>
        <p:spPr>
          <a:xfrm>
            <a:off x="415680" y="115152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6" name="PlaceHolder 3"/>
          <p:cNvSpPr>
            <a:spLocks noGrp="1"/>
          </p:cNvSpPr>
          <p:nvPr>
            <p:ph type="body"/>
          </p:nvPr>
        </p:nvSpPr>
        <p:spPr>
          <a:xfrm>
            <a:off x="4256640" y="115152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7" name="PlaceHolder 4"/>
          <p:cNvSpPr>
            <a:spLocks noGrp="1"/>
          </p:cNvSpPr>
          <p:nvPr>
            <p:ph type="body"/>
          </p:nvPr>
        </p:nvSpPr>
        <p:spPr>
          <a:xfrm>
            <a:off x="8097600" y="115152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8" name="PlaceHolder 5"/>
          <p:cNvSpPr>
            <a:spLocks noGrp="1"/>
          </p:cNvSpPr>
          <p:nvPr>
            <p:ph type="body"/>
          </p:nvPr>
        </p:nvSpPr>
        <p:spPr>
          <a:xfrm>
            <a:off x="415680" y="353088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39" name="PlaceHolder 6"/>
          <p:cNvSpPr>
            <a:spLocks noGrp="1"/>
          </p:cNvSpPr>
          <p:nvPr>
            <p:ph type="body"/>
          </p:nvPr>
        </p:nvSpPr>
        <p:spPr>
          <a:xfrm>
            <a:off x="4256640" y="353088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40" name="PlaceHolder 7"/>
          <p:cNvSpPr>
            <a:spLocks noGrp="1"/>
          </p:cNvSpPr>
          <p:nvPr>
            <p:ph type="body"/>
          </p:nvPr>
        </p:nvSpPr>
        <p:spPr>
          <a:xfrm>
            <a:off x="8097600" y="3530880"/>
            <a:ext cx="3657600" cy="217248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1405938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lgn="ctr"/>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85918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r>
              <a:rPr lang="en-US" sz="1800" b="1"/>
              <a:t>Analysis and Design of Algorithms </a:t>
            </a:r>
            <a:r>
              <a:rPr lang="en-US" sz="1800">
                <a:latin typeface="Roboto Condensed Light" panose="02000000000000000000" pitchFamily="2" charset="0"/>
                <a:ea typeface="Roboto Condensed Light" panose="02000000000000000000" pitchFamily="2" charset="0"/>
              </a:rPr>
              <a:t>(ADA</a:t>
            </a:r>
            <a:r>
              <a:rPr lang="en-US">
                <a:latin typeface="Roboto Condensed Light" panose="02000000000000000000" pitchFamily="2" charset="0"/>
                <a:ea typeface="Roboto Condensed Light" panose="02000000000000000000" pitchFamily="2" charset="0"/>
              </a:rPr>
              <a:t>)</a:t>
            </a:r>
          </a:p>
          <a:p>
            <a:r>
              <a:rPr lang="en-US">
                <a:latin typeface="Roboto Condensed Light" panose="02000000000000000000" pitchFamily="2" charset="0"/>
                <a:ea typeface="Roboto Condensed Light" panose="02000000000000000000" pitchFamily="2" charset="0"/>
              </a:rPr>
              <a:t>GTU # 3150703</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5" name="Picture 4"/>
          <p:cNvPicPr>
            <a:picLocks noChangeAspect="1"/>
          </p:cNvPicPr>
          <p:nvPr userDrawn="1"/>
        </p:nvPicPr>
        <p:blipFill>
          <a:blip r:embed="rId10"/>
          <a:stretch>
            <a:fillRect/>
          </a:stretch>
        </p:blipFill>
        <p:spPr>
          <a:xfrm>
            <a:off x="8565204" y="2657799"/>
            <a:ext cx="2103120" cy="2086689"/>
          </a:xfrm>
          <a:prstGeom prst="rect">
            <a:avLst/>
          </a:prstGeom>
        </p:spPr>
      </p:pic>
    </p:spTree>
    <p:extLst>
      <p:ext uri="{BB962C8B-B14F-4D97-AF65-F5344CB8AC3E}">
        <p14:creationId xmlns:p14="http://schemas.microsoft.com/office/powerpoint/2010/main" val="323278978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a:gradFill flip="none" rotWithShape="1">
                  <a:gsLst>
                    <a:gs pos="10000">
                      <a:srgbClr val="890E4F"/>
                    </a:gs>
                    <a:gs pos="100000">
                      <a:srgbClr val="D81A60"/>
                    </a:gs>
                  </a:gsLst>
                  <a:lin ang="0" scaled="1"/>
                </a:gradFill>
                <a:effectLst/>
                <a:latin typeface="+mn-lt"/>
                <a:ea typeface="+mn-ea"/>
                <a:cs typeface="+mn-cs"/>
              </a:defRPr>
            </a:lvl1pPr>
          </a:lstStyle>
          <a:p>
            <a:r>
              <a:rPr lang="en-US"/>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Write here Section Subtitle</a:t>
            </a:r>
          </a:p>
        </p:txBody>
      </p:sp>
      <p:grpSp>
        <p:nvGrpSpPr>
          <p:cNvPr id="9" name="Group 8">
            <a:extLst>
              <a:ext uri="{FF2B5EF4-FFF2-40B4-BE49-F238E27FC236}">
                <a16:creationId xmlns:a16="http://schemas.microsoft.com/office/drawing/2014/main" id="{2802A992-B18A-47D4-8497-02E7586DF58D}"/>
              </a:ext>
            </a:extLst>
          </p:cNvPr>
          <p:cNvGrpSpPr/>
          <p:nvPr userDrawn="1"/>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id="{8DD61FEC-075B-4EDD-97CA-36E6F72630F4}"/>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47564483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736926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4038600" y="6604000"/>
            <a:ext cx="428376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solidFill>
            <a:srgbClr val="F48CAF"/>
          </a:solid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a:solidFill>
                  <a:schemeClr val="tx1">
                    <a:lumMod val="90000"/>
                    <a:lumOff val="10000"/>
                  </a:schemeClr>
                </a:solidFill>
                <a:effectLst/>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solidFill>
            <a:srgbClr val="DFDFDF">
              <a:alpha val="49804"/>
            </a:srgbClr>
          </a:solidFill>
          <a:ln>
            <a:noFill/>
          </a:ln>
        </p:spPr>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07489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4038600" y="6604000"/>
            <a:ext cx="429701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51064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0">
                      <a:srgbClr val="1D3064"/>
                    </a:gs>
                    <a:gs pos="100000">
                      <a:schemeClr val="tx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a:blip r:embed="rId10">
            <a:extLst>
              <a:ext uri="{28A0092B-C50C-407E-A947-70E740481C1C}">
                <a14:useLocalDpi xmlns:a14="http://schemas.microsoft.com/office/drawing/2010/main" val="0"/>
              </a:ext>
            </a:extLst>
          </a:blip>
          <a:srcRect l="144383" t="-16142" r="-144383" b="22103"/>
          <a:stretch>
            <a:fillRect/>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6750733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userDrawn="1"/>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22" name="Footer Placeholder 2">
            <a:extLst>
              <a:ext uri="{FF2B5EF4-FFF2-40B4-BE49-F238E27FC236}">
                <a16:creationId xmlns:a16="http://schemas.microsoft.com/office/drawing/2014/main" id="{BF2BE79E-EA17-4AB9-8CB5-714A52A6B2F5}"/>
              </a:ext>
            </a:extLst>
          </p:cNvPr>
          <p:cNvSpPr txBox="1"/>
          <p:nvPr userDrawn="1"/>
        </p:nvSpPr>
        <p:spPr>
          <a:xfrm>
            <a:off x="4038599" y="6604000"/>
            <a:ext cx="427051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a:blip r:embed="rId3"/>
          <a:srcRect t="86739" r="1768" b="3535"/>
          <a:stretch>
            <a:fillRect/>
          </a:stretch>
        </p:blipFill>
        <p:spPr>
          <a:xfrm>
            <a:off x="0" y="0"/>
            <a:ext cx="12192000" cy="711201"/>
          </a:xfrm>
          <a:prstGeom prst="rect">
            <a:avLst/>
          </a:prstGeom>
          <a:solidFill>
            <a:srgbClr val="DFDFDF">
              <a:alpha val="49804"/>
            </a:srgbClr>
          </a:solidFill>
          <a:ln>
            <a:noFill/>
          </a:ln>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a:solidFill>
                  <a:schemeClr val="tx1">
                    <a:lumMod val="90000"/>
                    <a:lumOff val="10000"/>
                  </a:schemeClr>
                </a:solidFill>
                <a:effectLst/>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4840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9954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680927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186549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7582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080867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4">
                        <a:lumMod val="50000"/>
                      </a:schemeClr>
                    </a:gs>
                    <a:gs pos="100000">
                      <a:srgbClr val="009788"/>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237420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2">
                        <a:lumMod val="50000"/>
                      </a:schemeClr>
                    </a:gs>
                    <a:gs pos="100000">
                      <a:schemeClr val="accent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062001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3">
                        <a:lumMod val="50000"/>
                      </a:schemeClr>
                    </a:gs>
                    <a:gs pos="100000">
                      <a:schemeClr val="accent3"/>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5600408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9CD21B45-1703-4330-B544-825BD8F37AF2}" type="datetimeFigureOut">
              <a:rPr lang="en-US" smtClean="0"/>
              <a:t>6/27/2026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6405758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5">
                        <a:lumMod val="75000"/>
                      </a:schemeClr>
                    </a:gs>
                    <a:gs pos="100000">
                      <a:schemeClr val="accent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4882099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8225960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273238"/>
                    </a:gs>
                    <a:gs pos="100000">
                      <a:srgbClr val="607D8B"/>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0509593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E2622"/>
                    </a:gs>
                    <a:gs pos="100000">
                      <a:srgbClr val="79554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428533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01B92"/>
                    </a:gs>
                    <a:gs pos="100000">
                      <a:srgbClr val="673BB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158652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0E47A1"/>
                    </a:gs>
                    <a:gs pos="100000">
                      <a:srgbClr val="03A9F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4936891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3898118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9" name="Freeform 17">
            <a:extLst>
              <a:ext uri="{FF2B5EF4-FFF2-40B4-BE49-F238E27FC236}">
                <a16:creationId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1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13"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14"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15" name="Picture 14">
            <a:extLst>
              <a:ext uri="{FF2B5EF4-FFF2-40B4-BE49-F238E27FC236}">
                <a16:creationId xmlns:a16="http://schemas.microsoft.com/office/drawing/2014/main" id="{1917B14A-5130-41DB-8F00-6C6611C994DF}"/>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463267" y="5858350"/>
            <a:ext cx="3573889" cy="821995"/>
          </a:xfrm>
          <a:prstGeom prst="rect">
            <a:avLst/>
          </a:prstGeom>
        </p:spPr>
      </p:pic>
      <p:sp>
        <p:nvSpPr>
          <p:cNvPr id="18"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0" name="Picture 19">
            <a:extLst>
              <a:ext uri="{FF2B5EF4-FFF2-40B4-BE49-F238E27FC236}">
                <a16:creationId xmlns:a16="http://schemas.microsoft.com/office/drawing/2014/main"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1" name="Picture 20">
            <a:extLst>
              <a:ext uri="{FF2B5EF4-FFF2-40B4-BE49-F238E27FC236}">
                <a16:creationId xmlns:a16="http://schemas.microsoft.com/office/drawing/2014/main"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Tree>
    <p:extLst>
      <p:ext uri="{BB962C8B-B14F-4D97-AF65-F5344CB8AC3E}">
        <p14:creationId xmlns:p14="http://schemas.microsoft.com/office/powerpoint/2010/main" val="42873237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8.xml"/><Relationship Id="rId18" Type="http://schemas.openxmlformats.org/officeDocument/2006/relationships/slideLayout" Target="../slideLayouts/slideLayout23.xml"/><Relationship Id="rId26" Type="http://schemas.openxmlformats.org/officeDocument/2006/relationships/slideLayout" Target="../slideLayouts/slideLayout31.xml"/><Relationship Id="rId39" Type="http://schemas.openxmlformats.org/officeDocument/2006/relationships/image" Target="../media/image3.png"/><Relationship Id="rId21" Type="http://schemas.openxmlformats.org/officeDocument/2006/relationships/slideLayout" Target="../slideLayouts/slideLayout26.xml"/><Relationship Id="rId34" Type="http://schemas.openxmlformats.org/officeDocument/2006/relationships/slideLayout" Target="../slideLayouts/slideLayout39.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5" Type="http://schemas.openxmlformats.org/officeDocument/2006/relationships/slideLayout" Target="../slideLayouts/slideLayout30.xml"/><Relationship Id="rId33" Type="http://schemas.openxmlformats.org/officeDocument/2006/relationships/slideLayout" Target="../slideLayouts/slideLayout38.xml"/><Relationship Id="rId38" Type="http://schemas.openxmlformats.org/officeDocument/2006/relationships/image" Target="../media/image2.png"/><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29" Type="http://schemas.openxmlformats.org/officeDocument/2006/relationships/slideLayout" Target="../slideLayouts/slideLayout34.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24" Type="http://schemas.openxmlformats.org/officeDocument/2006/relationships/slideLayout" Target="../slideLayouts/slideLayout29.xml"/><Relationship Id="rId32" Type="http://schemas.openxmlformats.org/officeDocument/2006/relationships/slideLayout" Target="../slideLayouts/slideLayout37.xml"/><Relationship Id="rId37" Type="http://schemas.openxmlformats.org/officeDocument/2006/relationships/image" Target="../media/image1.png"/><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slideLayout" Target="../slideLayouts/slideLayout28.xml"/><Relationship Id="rId28" Type="http://schemas.openxmlformats.org/officeDocument/2006/relationships/slideLayout" Target="../slideLayouts/slideLayout33.xml"/><Relationship Id="rId36" Type="http://schemas.openxmlformats.org/officeDocument/2006/relationships/theme" Target="../theme/theme2.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31" Type="http://schemas.openxmlformats.org/officeDocument/2006/relationships/slideLayout" Target="../slideLayouts/slideLayout36.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 Id="rId27" Type="http://schemas.openxmlformats.org/officeDocument/2006/relationships/slideLayout" Target="../slideLayouts/slideLayout32.xml"/><Relationship Id="rId30" Type="http://schemas.openxmlformats.org/officeDocument/2006/relationships/slideLayout" Target="../slideLayouts/slideLayout35.xml"/><Relationship Id="rId35" Type="http://schemas.openxmlformats.org/officeDocument/2006/relationships/slideLayout" Target="../slideLayouts/slideLayout40.xml"/><Relationship Id="rId8" Type="http://schemas.openxmlformats.org/officeDocument/2006/relationships/slideLayout" Target="../slideLayouts/slideLayout13.xml"/><Relationship Id="rId3"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84914274"/>
      </p:ext>
    </p:extLst>
  </p:cSld>
  <p:clrMap bg1="lt1" tx1="dk1" bg2="dk2" tx2="lt2" accent1="accent1" accent2="accent2" accent3="accent3" accent4="accent4" accent5="accent5" accent6="accent6" hlink="hlink" folHlink="folHlink"/>
  <p:sldLayoutIdLst>
    <p:sldLayoutId id="2147483661" r:id="rId1"/>
    <p:sldLayoutId id="2147483665" r:id="rId2"/>
    <p:sldLayoutId id="2147483666" r:id="rId3"/>
    <p:sldLayoutId id="2147483667" r:id="rId4"/>
    <p:sldLayoutId id="214748366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Google Shape;6;p1"/>
          <p:cNvPicPr/>
          <p:nvPr/>
        </p:nvPicPr>
        <p:blipFill>
          <a:blip r:embed="rId37"/>
          <a:stretch/>
        </p:blipFill>
        <p:spPr>
          <a:xfrm>
            <a:off x="7680" y="2880"/>
            <a:ext cx="12176160" cy="6852000"/>
          </a:xfrm>
          <a:prstGeom prst="rect">
            <a:avLst/>
          </a:prstGeom>
          <a:ln>
            <a:noFill/>
          </a:ln>
        </p:spPr>
      </p:pic>
      <p:pic>
        <p:nvPicPr>
          <p:cNvPr id="6" name="Google Shape;7;p1"/>
          <p:cNvPicPr/>
          <p:nvPr/>
        </p:nvPicPr>
        <p:blipFill>
          <a:blip r:embed="rId38"/>
          <a:stretch/>
        </p:blipFill>
        <p:spPr>
          <a:xfrm>
            <a:off x="-17280" y="-2880"/>
            <a:ext cx="12201600" cy="6857760"/>
          </a:xfrm>
          <a:prstGeom prst="rect">
            <a:avLst/>
          </a:prstGeom>
          <a:ln>
            <a:noFill/>
          </a:ln>
        </p:spPr>
      </p:pic>
      <p:pic>
        <p:nvPicPr>
          <p:cNvPr id="2" name="Google Shape;10;p1"/>
          <p:cNvPicPr/>
          <p:nvPr/>
        </p:nvPicPr>
        <p:blipFill>
          <a:blip r:embed="rId39"/>
          <a:stretch/>
        </p:blipFill>
        <p:spPr>
          <a:xfrm>
            <a:off x="9817920" y="198240"/>
            <a:ext cx="1993440" cy="494880"/>
          </a:xfrm>
          <a:prstGeom prst="rect">
            <a:avLst/>
          </a:prstGeom>
          <a:ln>
            <a:noFill/>
          </a:ln>
        </p:spPr>
      </p:pic>
      <p:sp>
        <p:nvSpPr>
          <p:cNvPr id="3" name="PlaceHolder 1"/>
          <p:cNvSpPr>
            <a:spLocks noGrp="1"/>
          </p:cNvSpPr>
          <p:nvPr>
            <p:ph type="title"/>
          </p:nvPr>
        </p:nvSpPr>
        <p:spPr>
          <a:xfrm>
            <a:off x="415680" y="992640"/>
            <a:ext cx="11360160" cy="2736480"/>
          </a:xfrm>
          <a:prstGeom prst="rect">
            <a:avLst/>
          </a:prstGeom>
        </p:spPr>
        <p:txBody>
          <a:bodyPr tIns="91440" bIns="91440" anchor="b">
            <a:normAutofit/>
          </a:bodyPr>
          <a:lstStyle/>
          <a:p>
            <a:pPr algn="ctr"/>
            <a:r>
              <a:rPr lang="en-US" sz="6933" b="0" strike="noStrike" spc="-1">
                <a:solidFill>
                  <a:srgbClr val="000000"/>
                </a:solidFill>
                <a:latin typeface="Arial"/>
              </a:rPr>
              <a:t>Click to edit the title text format</a:t>
            </a:r>
          </a:p>
        </p:txBody>
      </p:sp>
      <p:sp>
        <p:nvSpPr>
          <p:cNvPr id="4" name="PlaceHolder 2"/>
          <p:cNvSpPr>
            <a:spLocks noGrp="1"/>
          </p:cNvSpPr>
          <p:nvPr>
            <p:ph type="body"/>
          </p:nvPr>
        </p:nvSpPr>
        <p:spPr>
          <a:xfrm>
            <a:off x="609600" y="1604640"/>
            <a:ext cx="1097232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67" b="0" strike="noStrike" spc="-1">
                <a:solidFill>
                  <a:srgbClr val="000000"/>
                </a:solidFill>
                <a:latin typeface="Arial"/>
              </a:rPr>
              <a:t>Click to edit the outline text format</a:t>
            </a:r>
          </a:p>
          <a:p>
            <a:pPr marL="1151971" lvl="1" indent="-431989">
              <a:spcBef>
                <a:spcPts val="1512"/>
              </a:spcBef>
              <a:buClr>
                <a:srgbClr val="000000"/>
              </a:buClr>
              <a:buSzPct val="75000"/>
              <a:buFont typeface="Symbol" charset="2"/>
              <a:buChar char=""/>
            </a:pPr>
            <a:r>
              <a:rPr lang="en-US" sz="1867" b="0" strike="noStrike" spc="-1">
                <a:solidFill>
                  <a:srgbClr val="000000"/>
                </a:solidFill>
                <a:latin typeface="Arial"/>
              </a:rPr>
              <a:t>Second Outline Level</a:t>
            </a:r>
          </a:p>
          <a:p>
            <a:pPr marL="1727957" lvl="2" indent="-383990">
              <a:spcBef>
                <a:spcPts val="1133"/>
              </a:spcBef>
              <a:buClr>
                <a:srgbClr val="000000"/>
              </a:buClr>
              <a:buSzPct val="45000"/>
              <a:buFont typeface="Wingdings" charset="2"/>
              <a:buChar char=""/>
            </a:pPr>
            <a:r>
              <a:rPr lang="en-US" sz="1867" b="0" strike="noStrike" spc="-1">
                <a:solidFill>
                  <a:srgbClr val="000000"/>
                </a:solidFill>
                <a:latin typeface="Arial"/>
              </a:rPr>
              <a:t>Third Outline Level</a:t>
            </a:r>
          </a:p>
          <a:p>
            <a:pPr marL="2303942" lvl="3" indent="-287993">
              <a:spcBef>
                <a:spcPts val="756"/>
              </a:spcBef>
              <a:buClr>
                <a:srgbClr val="000000"/>
              </a:buClr>
              <a:buSzPct val="75000"/>
              <a:buFont typeface="Symbol" charset="2"/>
              <a:buChar char=""/>
            </a:pPr>
            <a:r>
              <a:rPr lang="en-US" sz="1867" b="0" strike="noStrike" spc="-1">
                <a:solidFill>
                  <a:srgbClr val="000000"/>
                </a:solidFill>
                <a:latin typeface="Arial"/>
              </a:rPr>
              <a:t>Fourth Outline Level</a:t>
            </a:r>
          </a:p>
          <a:p>
            <a:pPr marL="2879928" lvl="4" indent="-287993">
              <a:spcBef>
                <a:spcPts val="377"/>
              </a:spcBef>
              <a:buClr>
                <a:srgbClr val="000000"/>
              </a:buClr>
              <a:buSzPct val="45000"/>
              <a:buFont typeface="Wingdings" charset="2"/>
              <a:buChar char=""/>
            </a:pPr>
            <a:r>
              <a:rPr lang="en-US" sz="2667" b="0" strike="noStrike" spc="-1">
                <a:solidFill>
                  <a:srgbClr val="000000"/>
                </a:solidFill>
                <a:latin typeface="Arial"/>
              </a:rPr>
              <a:t>Fifth Outline Level</a:t>
            </a:r>
          </a:p>
          <a:p>
            <a:pPr marL="3455914" lvl="5" indent="-287993">
              <a:spcBef>
                <a:spcPts val="377"/>
              </a:spcBef>
              <a:buClr>
                <a:srgbClr val="000000"/>
              </a:buClr>
              <a:buSzPct val="45000"/>
              <a:buFont typeface="Wingdings" charset="2"/>
              <a:buChar char=""/>
            </a:pPr>
            <a:r>
              <a:rPr lang="en-US" sz="2667" b="0" strike="noStrike" spc="-1">
                <a:solidFill>
                  <a:srgbClr val="000000"/>
                </a:solidFill>
                <a:latin typeface="Arial"/>
              </a:rPr>
              <a:t>Sixth Outline Level</a:t>
            </a:r>
          </a:p>
          <a:p>
            <a:pPr marL="4031899" lvl="6" indent="-287993">
              <a:spcBef>
                <a:spcPts val="377"/>
              </a:spcBef>
              <a:buClr>
                <a:srgbClr val="000000"/>
              </a:buClr>
              <a:buSzPct val="45000"/>
              <a:buFont typeface="Wingdings" charset="2"/>
              <a:buChar char=""/>
            </a:pPr>
            <a:r>
              <a:rPr lang="en-US" sz="2667" b="0" strike="noStrike" spc="-1">
                <a:solidFill>
                  <a:srgbClr val="000000"/>
                </a:solidFill>
                <a:latin typeface="Arial"/>
              </a:rPr>
              <a:t>Seventh Outline Level</a:t>
            </a:r>
          </a:p>
        </p:txBody>
      </p:sp>
    </p:spTree>
    <p:extLst>
      <p:ext uri="{BB962C8B-B14F-4D97-AF65-F5344CB8AC3E}">
        <p14:creationId xmlns:p14="http://schemas.microsoft.com/office/powerpoint/2010/main" val="47532003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 id="2147483700" r:id="rId31"/>
    <p:sldLayoutId id="2147483701" r:id="rId32"/>
    <p:sldLayoutId id="2147483702" r:id="rId33"/>
    <p:sldLayoutId id="2147483703" r:id="rId34"/>
    <p:sldLayoutId id="2147483704" r:id="rId35"/>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575986" indent="-431989" algn="l" defTabSz="1219170" rtl="0" eaLnBrk="1" latinLnBrk="0" hangingPunct="1">
        <a:lnSpc>
          <a:spcPct val="90000"/>
        </a:lnSpc>
        <a:spcBef>
          <a:spcPts val="1889"/>
        </a:spcBef>
        <a:buClr>
          <a:srgbClr val="000000"/>
        </a:buClr>
        <a:buSzPct val="45000"/>
        <a:buFont typeface="Wingdings" charset="2"/>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7" Type="http://schemas.microsoft.com/office/2007/relationships/hdphoto" Target="../media/hdphoto3.wdp"/><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9.png"/><Relationship Id="rId7" Type="http://schemas.microsoft.com/office/2007/relationships/hdphoto" Target="../media/hdphoto4.wdp"/><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1.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9.png"/><Relationship Id="rId7"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9.png"/><Relationship Id="rId7"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21.png"/><Relationship Id="rId10" Type="http://schemas.openxmlformats.org/officeDocument/2006/relationships/image" Target="../media/image42.png"/><Relationship Id="rId4" Type="http://schemas.openxmlformats.org/officeDocument/2006/relationships/image" Target="../media/image20.png"/><Relationship Id="rId9"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21.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21.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21.png"/><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21.pn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21.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21.pn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6334" y="6334"/>
            <a:ext cx="12179300" cy="6845300"/>
          </a:xfrm>
          <a:prstGeom prst="rect">
            <a:avLst/>
          </a:prstGeom>
          <a:noFill/>
          <a:ln>
            <a:noFill/>
          </a:ln>
        </p:spPr>
      </p:pic>
      <p:pic>
        <p:nvPicPr>
          <p:cNvPr id="166" name="Google Shape;166;p22"/>
          <p:cNvPicPr preferRelativeResize="0"/>
          <p:nvPr/>
        </p:nvPicPr>
        <p:blipFill>
          <a:blip r:embed="rId4">
            <a:alphaModFix/>
          </a:blip>
          <a:stretch>
            <a:fillRect/>
          </a:stretch>
        </p:blipFill>
        <p:spPr>
          <a:xfrm>
            <a:off x="0" y="6334"/>
            <a:ext cx="12179300" cy="6845300"/>
          </a:xfrm>
          <a:prstGeom prst="rect">
            <a:avLst/>
          </a:prstGeom>
          <a:noFill/>
          <a:ln>
            <a:noFill/>
          </a:ln>
        </p:spPr>
      </p:pic>
      <p:pic>
        <p:nvPicPr>
          <p:cNvPr id="171" name="Google Shape;171;p22"/>
          <p:cNvPicPr preferRelativeResize="0"/>
          <p:nvPr/>
        </p:nvPicPr>
        <p:blipFill>
          <a:blip r:embed="rId5">
            <a:alphaModFix/>
          </a:blip>
          <a:stretch>
            <a:fillRect/>
          </a:stretch>
        </p:blipFill>
        <p:spPr>
          <a:xfrm>
            <a:off x="9817918" y="198118"/>
            <a:ext cx="1993900" cy="495300"/>
          </a:xfrm>
          <a:prstGeom prst="rect">
            <a:avLst/>
          </a:prstGeom>
          <a:noFill/>
          <a:ln>
            <a:noFill/>
          </a:ln>
        </p:spPr>
      </p:pic>
      <p:sp>
        <p:nvSpPr>
          <p:cNvPr id="11" name="Google Shape;71;p15"/>
          <p:cNvSpPr txBox="1"/>
          <p:nvPr/>
        </p:nvSpPr>
        <p:spPr>
          <a:xfrm>
            <a:off x="445083" y="2794392"/>
            <a:ext cx="6441204" cy="1138733"/>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spcBef>
                <a:spcPts val="1200"/>
              </a:spcBef>
              <a:spcAft>
                <a:spcPts val="0"/>
              </a:spcAft>
              <a:buClr>
                <a:srgbClr val="000000"/>
              </a:buClr>
              <a:buSzTx/>
              <a:buFontTx/>
              <a:buNone/>
              <a:tabLst/>
              <a:defRPr/>
            </a:pPr>
            <a:r>
              <a:rPr kumimoji="0" lang="en-US"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Proxima Nova"/>
              </a:rPr>
              <a:t>Unit – </a:t>
            </a:r>
            <a:r>
              <a:rPr kumimoji="0" lang="en-US" sz="2400" b="1" i="0" u="none" strike="noStrike" kern="0" cap="none" spc="0" normalizeH="0" baseline="0" noProof="0" dirty="0" smtClean="0">
                <a:ln>
                  <a:noFill/>
                </a:ln>
                <a:solidFill>
                  <a:srgbClr val="000000"/>
                </a:solidFill>
                <a:effectLst/>
                <a:uLnTx/>
                <a:uFillTx/>
                <a:latin typeface="Trebuchet MS" panose="020B0603020202020204" pitchFamily="34" charset="0"/>
                <a:ea typeface="Proxima Nova"/>
                <a:cs typeface="Proxima Nova"/>
                <a:sym typeface="Proxima Nova"/>
              </a:rPr>
              <a:t>6</a:t>
            </a:r>
            <a:endParaRPr kumimoji="0" lang="en-US"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Proxima Nova"/>
            </a:endParaRPr>
          </a:p>
          <a:p>
            <a:r>
              <a:rPr lang="en-IN" sz="2400" b="1" kern="0" dirty="0" smtClean="0">
                <a:solidFill>
                  <a:srgbClr val="000000"/>
                </a:solidFill>
                <a:latin typeface="Trebuchet MS" panose="020B0603020202020204" pitchFamily="34" charset="0"/>
              </a:rPr>
              <a:t>NP-Complete and Approximation Algorithm</a:t>
            </a:r>
            <a:endParaRPr lang="en-IN" sz="2400" b="1" kern="0" dirty="0">
              <a:solidFill>
                <a:srgbClr val="000000"/>
              </a:solidFill>
              <a:latin typeface="Trebuchet MS" panose="020B0603020202020204" pitchFamily="34" charset="0"/>
            </a:endParaRPr>
          </a:p>
        </p:txBody>
      </p:sp>
      <p:sp>
        <p:nvSpPr>
          <p:cNvPr id="12" name="Google Shape;73;p15"/>
          <p:cNvSpPr txBox="1"/>
          <p:nvPr/>
        </p:nvSpPr>
        <p:spPr>
          <a:xfrm>
            <a:off x="445083" y="4576792"/>
            <a:ext cx="3825165" cy="1631175"/>
          </a:xfrm>
          <a:prstGeom prst="rect">
            <a:avLst/>
          </a:prstGeom>
          <a:noFill/>
          <a:ln>
            <a:noFill/>
          </a:ln>
        </p:spPr>
        <p:txBody>
          <a:bodyPr spcFirstLastPara="1" wrap="square" lIns="121900" tIns="121900" rIns="121900" bIns="121900" anchor="t" anchorCtr="0">
            <a:spAutoFit/>
          </a:bodyPr>
          <a:lstStyle/>
          <a:p>
            <a:pPr defTabSz="1219170">
              <a:spcBef>
                <a:spcPts val="600"/>
              </a:spcBef>
              <a:spcAft>
                <a:spcPts val="600"/>
              </a:spcAft>
              <a:buClr>
                <a:srgbClr val="000000"/>
              </a:buClr>
              <a:defRPr/>
            </a:pPr>
            <a:r>
              <a:rPr lang="en-US" sz="2000" b="1" dirty="0">
                <a:latin typeface="Trebuchet MS" panose="020B0603020202020204" pitchFamily="34" charset="0"/>
              </a:rPr>
              <a:t>Prepared by</a:t>
            </a: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Prof</a:t>
            </a: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lang="en-US" sz="2000" b="1" kern="0" dirty="0" smtClean="0">
                <a:solidFill>
                  <a:srgbClr val="000000"/>
                </a:solidFill>
                <a:latin typeface="Trebuchet MS" panose="020B0603020202020204" pitchFamily="34" charset="0"/>
                <a:cs typeface="Arial"/>
                <a:sym typeface="Arial"/>
              </a:rPr>
              <a:t>Abhishek Chauhan</a:t>
            </a: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 </a:t>
            </a:r>
            <a:endPar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CSE- AI, ML &amp; DS </a:t>
            </a: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Department</a:t>
            </a:r>
            <a:endParaRPr kumimoji="0"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
        <p:nvSpPr>
          <p:cNvPr id="13" name="Google Shape;71;p15"/>
          <p:cNvSpPr txBox="1"/>
          <p:nvPr/>
        </p:nvSpPr>
        <p:spPr>
          <a:xfrm>
            <a:off x="445083" y="1072056"/>
            <a:ext cx="8182724" cy="615513"/>
          </a:xfrm>
          <a:prstGeom prst="rect">
            <a:avLst/>
          </a:prstGeom>
          <a:noFill/>
          <a:ln>
            <a:noFill/>
          </a:ln>
        </p:spPr>
        <p:txBody>
          <a:bodyPr spcFirstLastPara="1" wrap="square" lIns="121900" tIns="121900" rIns="121900" bIns="121900" anchor="t" anchorCtr="0">
            <a:spAutoFit/>
          </a:bodyPr>
          <a:lstStyle/>
          <a:p>
            <a:pPr lvl="0" defTabSz="1219170">
              <a:buClr>
                <a:srgbClr val="000000"/>
              </a:buClr>
              <a:defRPr/>
            </a:pPr>
            <a:r>
              <a:rPr lang="en-IN" sz="2400" b="1" kern="0" dirty="0">
                <a:solidFill>
                  <a:srgbClr val="000000"/>
                </a:solidFill>
                <a:latin typeface="Trebuchet MS" panose="020B0603020202020204" pitchFamily="34" charset="0"/>
                <a:ea typeface="Proxima Nova"/>
                <a:cs typeface="Proxima Nova"/>
                <a:sym typeface="Proxima Nova"/>
              </a:rPr>
              <a:t>01AI0506 </a:t>
            </a:r>
            <a:r>
              <a:rPr kumimoji="0" lang="en-IN"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Proxima Nova"/>
              </a:rPr>
              <a:t>- </a:t>
            </a:r>
            <a:r>
              <a:rPr kumimoji="0" lang="en-IN"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Arial"/>
              </a:rPr>
              <a:t>Design and Analysis of Algorithm</a:t>
            </a:r>
            <a:endParaRPr kumimoji="0" lang="en-IN" sz="2400" b="1" i="0" u="none" strike="noStrike" kern="0" cap="none" spc="0" normalizeH="0" baseline="0" noProof="0" dirty="0">
              <a:ln>
                <a:noFill/>
              </a:ln>
              <a:solidFill>
                <a:srgbClr val="000000"/>
              </a:solidFill>
              <a:effectLst/>
              <a:uLnTx/>
              <a:uFillTx/>
              <a:latin typeface="Trebuchet MS" panose="020B0603020202020204" pitchFamily="34" charset="0"/>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Tractable and </a:t>
            </a:r>
            <a:r>
              <a:rPr lang="en-US" sz="3200" b="1" dirty="0" smtClean="0">
                <a:solidFill>
                  <a:schemeClr val="bg1"/>
                </a:solidFill>
                <a:latin typeface="Trebuchet MS" panose="020B0603020202020204" pitchFamily="34" charset="0"/>
                <a:ea typeface="+mj-ea"/>
                <a:cs typeface="+mj-cs"/>
              </a:rPr>
              <a:t>Intractable Problems</a:t>
            </a:r>
            <a:endParaRPr lang="en-US" sz="3200" b="1" dirty="0">
              <a:solidFill>
                <a:schemeClr val="bg1"/>
              </a:solidFill>
              <a:latin typeface="Corbel" panose="020B0503020204020204" pitchFamily="34" charset="0"/>
              <a:ea typeface="+mj-ea"/>
              <a:cs typeface="+mj-cs"/>
            </a:endParaRPr>
          </a:p>
        </p:txBody>
      </p:sp>
      <p:sp>
        <p:nvSpPr>
          <p:cNvPr id="3" name="Rectangle 2"/>
          <p:cNvSpPr/>
          <p:nvPr/>
        </p:nvSpPr>
        <p:spPr>
          <a:xfrm>
            <a:off x="228375" y="946409"/>
            <a:ext cx="11722549"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In </a:t>
            </a:r>
            <a:r>
              <a:rPr lang="en-US" sz="2400" dirty="0">
                <a:latin typeface="Trebuchet MS" panose="020B0603020202020204" pitchFamily="34" charset="0"/>
              </a:rPr>
              <a:t>computational theory and problem-solving, </a:t>
            </a:r>
            <a:r>
              <a:rPr lang="en-US" sz="2400" b="1" dirty="0">
                <a:solidFill>
                  <a:srgbClr val="0070C0"/>
                </a:solidFill>
                <a:latin typeface="Trebuchet MS" panose="020B0603020202020204" pitchFamily="34" charset="0"/>
              </a:rPr>
              <a:t>tractable</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and</a:t>
            </a:r>
            <a:r>
              <a:rPr lang="en-US" sz="2400" dirty="0">
                <a:solidFill>
                  <a:srgbClr val="0070C0"/>
                </a:solidFill>
                <a:latin typeface="Trebuchet MS" panose="020B0603020202020204" pitchFamily="34" charset="0"/>
              </a:rPr>
              <a:t> </a:t>
            </a:r>
            <a:r>
              <a:rPr lang="en-US" sz="2400" b="1" dirty="0">
                <a:solidFill>
                  <a:srgbClr val="0070C0"/>
                </a:solidFill>
                <a:latin typeface="Trebuchet MS" panose="020B0603020202020204" pitchFamily="34" charset="0"/>
              </a:rPr>
              <a:t>intractable</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problems describe the </a:t>
            </a:r>
            <a:r>
              <a:rPr lang="en-US" sz="2400" dirty="0">
                <a:solidFill>
                  <a:srgbClr val="0070C0"/>
                </a:solidFill>
                <a:latin typeface="Trebuchet MS" panose="020B0603020202020204" pitchFamily="34" charset="0"/>
              </a:rPr>
              <a:t>ease </a:t>
            </a:r>
            <a:r>
              <a:rPr lang="en-US" sz="2400" dirty="0">
                <a:latin typeface="Trebuchet MS" panose="020B0603020202020204" pitchFamily="34" charset="0"/>
              </a:rPr>
              <a:t>or</a:t>
            </a:r>
            <a:r>
              <a:rPr lang="en-US" sz="2400" dirty="0">
                <a:solidFill>
                  <a:srgbClr val="0070C0"/>
                </a:solidFill>
                <a:latin typeface="Trebuchet MS" panose="020B0603020202020204" pitchFamily="34" charset="0"/>
              </a:rPr>
              <a:t> difficulty of finding a solution </a:t>
            </a:r>
            <a:r>
              <a:rPr lang="en-US" sz="2400" dirty="0">
                <a:latin typeface="Trebuchet MS" panose="020B0603020202020204" pitchFamily="34" charset="0"/>
              </a:rPr>
              <a:t>using algorithms</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Understanding </a:t>
            </a:r>
            <a:r>
              <a:rPr lang="en-US" sz="2400" dirty="0">
                <a:latin typeface="Trebuchet MS" panose="020B0603020202020204" pitchFamily="34" charset="0"/>
              </a:rPr>
              <a:t>this distinction is crucial in computer science, especially in areas like algorithm design, artificial intelligence, and optimization</a:t>
            </a:r>
            <a:r>
              <a:rPr lang="en-US" sz="2400" dirty="0" smtClean="0">
                <a:latin typeface="Trebuchet MS" panose="020B0603020202020204" pitchFamily="34" charset="0"/>
              </a:rPr>
              <a:t>.</a:t>
            </a:r>
          </a:p>
          <a:p>
            <a:pPr>
              <a:lnSpc>
                <a:spcPct val="150000"/>
              </a:lnSpc>
            </a:pPr>
            <a:r>
              <a:rPr lang="en-US" sz="2400" dirty="0">
                <a:solidFill>
                  <a:srgbClr val="0070C0"/>
                </a:solidFill>
                <a:latin typeface="Trebuchet MS" panose="020B0603020202020204" pitchFamily="34" charset="0"/>
              </a:rPr>
              <a:t>Tractable </a:t>
            </a:r>
            <a:r>
              <a:rPr lang="en-US" sz="2400" dirty="0" smtClean="0">
                <a:solidFill>
                  <a:srgbClr val="0070C0"/>
                </a:solidFill>
                <a:latin typeface="Trebuchet MS" panose="020B0603020202020204" pitchFamily="34" charset="0"/>
              </a:rPr>
              <a:t>Problems</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Tractable </a:t>
            </a:r>
            <a:r>
              <a:rPr lang="en-US" sz="2400" dirty="0">
                <a:latin typeface="Trebuchet MS" panose="020B0603020202020204" pitchFamily="34" charset="0"/>
              </a:rPr>
              <a:t>problems are those for which an algorithm can solve the problem efficiently, typically within polynomial time</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smtClean="0">
                <a:solidFill>
                  <a:srgbClr val="0070C0"/>
                </a:solidFill>
                <a:latin typeface="Trebuchet MS" panose="020B0603020202020204" pitchFamily="34" charset="0"/>
              </a:rPr>
              <a:t>Definition: </a:t>
            </a:r>
            <a:r>
              <a:rPr lang="en-US" sz="2400" dirty="0" smtClean="0">
                <a:latin typeface="Trebuchet MS" panose="020B0603020202020204" pitchFamily="34" charset="0"/>
              </a:rPr>
              <a:t>Problems </a:t>
            </a:r>
            <a:r>
              <a:rPr lang="en-US" sz="2400" dirty="0">
                <a:latin typeface="Trebuchet MS" panose="020B0603020202020204" pitchFamily="34" charset="0"/>
              </a:rPr>
              <a:t>that can be solved in a reasonable amount of time (e.g., linear, </a:t>
            </a:r>
            <a:r>
              <a:rPr lang="en-US" sz="2400" dirty="0" smtClean="0">
                <a:latin typeface="Trebuchet MS" panose="020B0603020202020204" pitchFamily="34" charset="0"/>
              </a:rPr>
              <a:t>quadratic</a:t>
            </a:r>
            <a:r>
              <a:rPr lang="en-US" sz="2400" dirty="0">
                <a:latin typeface="Trebuchet MS" panose="020B0603020202020204" pitchFamily="34" charset="0"/>
              </a:rPr>
              <a:t>, cubic time complexity</a:t>
            </a:r>
            <a:r>
              <a:rPr lang="en-US" sz="2400" dirty="0" smtClean="0">
                <a:latin typeface="Trebuchet MS" panose="020B0603020202020204" pitchFamily="34" charset="0"/>
              </a:rPr>
              <a:t>).</a:t>
            </a:r>
            <a:endParaRPr lang="en-IN" sz="2200" dirty="0">
              <a:latin typeface="Trebuchet MS" panose="020B0603020202020204" pitchFamily="34" charset="0"/>
            </a:endParaRPr>
          </a:p>
        </p:txBody>
      </p:sp>
    </p:spTree>
    <p:extLst>
      <p:ext uri="{BB962C8B-B14F-4D97-AF65-F5344CB8AC3E}">
        <p14:creationId xmlns:p14="http://schemas.microsoft.com/office/powerpoint/2010/main" val="2725415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Tractable and </a:t>
            </a:r>
            <a:r>
              <a:rPr lang="en-US" sz="3200" b="1" dirty="0" smtClean="0">
                <a:solidFill>
                  <a:schemeClr val="bg1"/>
                </a:solidFill>
                <a:latin typeface="Trebuchet MS" panose="020B0603020202020204" pitchFamily="34" charset="0"/>
                <a:ea typeface="+mj-ea"/>
                <a:cs typeface="+mj-cs"/>
              </a:rPr>
              <a:t>Intractable Problems</a:t>
            </a:r>
            <a:endParaRPr lang="en-US" sz="3200" b="1" dirty="0">
              <a:solidFill>
                <a:schemeClr val="bg1"/>
              </a:solidFill>
              <a:latin typeface="Corbel" panose="020B0503020204020204" pitchFamily="34" charset="0"/>
              <a:ea typeface="+mj-ea"/>
              <a:cs typeface="+mj-cs"/>
            </a:endParaRPr>
          </a:p>
        </p:txBody>
      </p:sp>
      <p:sp>
        <p:nvSpPr>
          <p:cNvPr id="3" name="Rectangle 2"/>
          <p:cNvSpPr/>
          <p:nvPr/>
        </p:nvSpPr>
        <p:spPr>
          <a:xfrm>
            <a:off x="370943" y="1459952"/>
            <a:ext cx="11152431" cy="3970318"/>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solidFill>
                  <a:srgbClr val="0070C0"/>
                </a:solidFill>
                <a:latin typeface="Trebuchet MS" panose="020B0603020202020204" pitchFamily="34" charset="0"/>
              </a:rPr>
              <a:t>Examples</a:t>
            </a:r>
            <a:r>
              <a:rPr lang="en-US" sz="2400" dirty="0" smtClean="0">
                <a:solidFill>
                  <a:srgbClr val="0070C0"/>
                </a:solidFill>
                <a:latin typeface="Trebuchet MS" panose="020B0603020202020204" pitchFamily="34" charset="0"/>
              </a:rPr>
              <a:t>:</a:t>
            </a:r>
          </a:p>
          <a:p>
            <a:pPr marL="1257300" lvl="2" indent="-342900">
              <a:lnSpc>
                <a:spcPct val="150000"/>
              </a:lnSpc>
              <a:buFont typeface="Wingdings" panose="05000000000000000000" pitchFamily="2" charset="2"/>
              <a:buChar char="ü"/>
            </a:pPr>
            <a:r>
              <a:rPr lang="en-US" sz="2400" dirty="0" smtClean="0">
                <a:latin typeface="Trebuchet MS" panose="020B0603020202020204" pitchFamily="34" charset="0"/>
              </a:rPr>
              <a:t>Sorting </a:t>
            </a:r>
            <a:r>
              <a:rPr lang="en-US" sz="2400" dirty="0">
                <a:latin typeface="Trebuchet MS" panose="020B0603020202020204" pitchFamily="34" charset="0"/>
              </a:rPr>
              <a:t>algorithms -</a:t>
            </a:r>
            <a:r>
              <a:rPr lang="en-US" sz="2400" dirty="0" smtClean="0">
                <a:latin typeface="Trebuchet MS" panose="020B0603020202020204" pitchFamily="34" charset="0"/>
              </a:rPr>
              <a:t> </a:t>
            </a:r>
            <a:r>
              <a:rPr lang="en-US" sz="2400" dirty="0">
                <a:latin typeface="Trebuchet MS" panose="020B0603020202020204" pitchFamily="34" charset="0"/>
              </a:rPr>
              <a:t>merge sort, quick </a:t>
            </a:r>
            <a:r>
              <a:rPr lang="en-US" sz="2400" dirty="0" smtClean="0">
                <a:latin typeface="Trebuchet MS" panose="020B0603020202020204" pitchFamily="34" charset="0"/>
              </a:rPr>
              <a:t>sort</a:t>
            </a:r>
          </a:p>
          <a:p>
            <a:pPr marL="1257300" lvl="2" indent="-342900">
              <a:lnSpc>
                <a:spcPct val="150000"/>
              </a:lnSpc>
              <a:buFont typeface="Wingdings" panose="05000000000000000000" pitchFamily="2" charset="2"/>
              <a:buChar char="ü"/>
            </a:pPr>
            <a:r>
              <a:rPr lang="en-US" sz="2400" dirty="0" smtClean="0">
                <a:latin typeface="Trebuchet MS" panose="020B0603020202020204" pitchFamily="34" charset="0"/>
              </a:rPr>
              <a:t>Searching </a:t>
            </a:r>
            <a:r>
              <a:rPr lang="en-US" sz="2400" dirty="0">
                <a:latin typeface="Trebuchet MS" panose="020B0603020202020204" pitchFamily="34" charset="0"/>
              </a:rPr>
              <a:t>algorithms -</a:t>
            </a:r>
            <a:r>
              <a:rPr lang="en-US" sz="2400" dirty="0" smtClean="0">
                <a:latin typeface="Trebuchet MS" panose="020B0603020202020204" pitchFamily="34" charset="0"/>
              </a:rPr>
              <a:t> </a:t>
            </a:r>
            <a:r>
              <a:rPr lang="en-US" sz="2400" dirty="0">
                <a:latin typeface="Trebuchet MS" panose="020B0603020202020204" pitchFamily="34" charset="0"/>
              </a:rPr>
              <a:t>binary </a:t>
            </a:r>
            <a:r>
              <a:rPr lang="en-US" sz="2400" dirty="0" smtClean="0">
                <a:latin typeface="Trebuchet MS" panose="020B0603020202020204" pitchFamily="34" charset="0"/>
              </a:rPr>
              <a:t>search</a:t>
            </a:r>
          </a:p>
          <a:p>
            <a:pPr marL="1257300" lvl="2" indent="-342900">
              <a:lnSpc>
                <a:spcPct val="150000"/>
              </a:lnSpc>
              <a:buFont typeface="Wingdings" panose="05000000000000000000" pitchFamily="2" charset="2"/>
              <a:buChar char="ü"/>
            </a:pPr>
            <a:r>
              <a:rPr lang="en-US" sz="2400" dirty="0" smtClean="0">
                <a:latin typeface="Trebuchet MS" panose="020B0603020202020204" pitchFamily="34" charset="0"/>
              </a:rPr>
              <a:t>Shortest </a:t>
            </a:r>
            <a:r>
              <a:rPr lang="en-US" sz="2400" dirty="0">
                <a:latin typeface="Trebuchet MS" panose="020B0603020202020204" pitchFamily="34" charset="0"/>
              </a:rPr>
              <a:t>path algorithms </a:t>
            </a:r>
            <a:r>
              <a:rPr lang="en-US" sz="2400" dirty="0" smtClean="0">
                <a:latin typeface="Trebuchet MS" panose="020B0603020202020204" pitchFamily="34" charset="0"/>
              </a:rPr>
              <a:t>- </a:t>
            </a:r>
            <a:r>
              <a:rPr lang="en-US" sz="2400" dirty="0" err="1" smtClean="0">
                <a:latin typeface="Trebuchet MS" panose="020B0603020202020204" pitchFamily="34" charset="0"/>
              </a:rPr>
              <a:t>Dijkstra's</a:t>
            </a:r>
            <a:r>
              <a:rPr lang="en-US" sz="2400" dirty="0" smtClean="0">
                <a:latin typeface="Trebuchet MS" panose="020B0603020202020204" pitchFamily="34" charset="0"/>
              </a:rPr>
              <a:t> algorithm</a:t>
            </a:r>
          </a:p>
          <a:p>
            <a:pPr marL="342900" indent="-342900">
              <a:lnSpc>
                <a:spcPct val="150000"/>
              </a:lnSpc>
              <a:buFont typeface="Arial" panose="020B0604020202020204" pitchFamily="34" charset="0"/>
              <a:buChar char="•"/>
            </a:pPr>
            <a:r>
              <a:rPr lang="en-US" sz="2400" b="1" dirty="0" smtClean="0">
                <a:solidFill>
                  <a:srgbClr val="0070C0"/>
                </a:solidFill>
                <a:latin typeface="Trebuchet MS" panose="020B0603020202020204" pitchFamily="34" charset="0"/>
              </a:rPr>
              <a:t>Real-World </a:t>
            </a:r>
            <a:r>
              <a:rPr lang="en-US" sz="2400" b="1" dirty="0">
                <a:solidFill>
                  <a:srgbClr val="0070C0"/>
                </a:solidFill>
                <a:latin typeface="Trebuchet MS" panose="020B0603020202020204" pitchFamily="34" charset="0"/>
              </a:rPr>
              <a:t>Example:</a:t>
            </a:r>
          </a:p>
          <a:p>
            <a:pPr marL="1257300" lvl="2" indent="-342900">
              <a:lnSpc>
                <a:spcPct val="150000"/>
              </a:lnSpc>
              <a:buFont typeface="Wingdings" panose="05000000000000000000" pitchFamily="2" charset="2"/>
              <a:buChar char="ü"/>
            </a:pPr>
            <a:r>
              <a:rPr lang="en-US" sz="2400" dirty="0" smtClean="0">
                <a:latin typeface="Trebuchet MS" panose="020B0603020202020204" pitchFamily="34" charset="0"/>
              </a:rPr>
              <a:t>Scheduling meetings or finding the shortest driving route between two cities on a map are considered tractable problems.</a:t>
            </a:r>
            <a:endParaRPr lang="en-US" sz="3200" dirty="0">
              <a:latin typeface="Trebuchet MS" panose="020B0603020202020204" pitchFamily="34" charset="0"/>
            </a:endParaRPr>
          </a:p>
        </p:txBody>
      </p:sp>
    </p:spTree>
    <p:extLst>
      <p:ext uri="{BB962C8B-B14F-4D97-AF65-F5344CB8AC3E}">
        <p14:creationId xmlns:p14="http://schemas.microsoft.com/office/powerpoint/2010/main" val="804332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Tractable and </a:t>
            </a:r>
            <a:r>
              <a:rPr lang="en-US" sz="3200" b="1" dirty="0" smtClean="0">
                <a:solidFill>
                  <a:schemeClr val="bg1"/>
                </a:solidFill>
                <a:latin typeface="Trebuchet MS" panose="020B0603020202020204" pitchFamily="34" charset="0"/>
                <a:ea typeface="+mj-ea"/>
                <a:cs typeface="+mj-cs"/>
              </a:rPr>
              <a:t>Intractable Problems</a:t>
            </a:r>
            <a:endParaRPr lang="en-US" sz="3200" b="1" dirty="0">
              <a:solidFill>
                <a:schemeClr val="bg1"/>
              </a:solidFill>
              <a:latin typeface="Corbel" panose="020B0503020204020204" pitchFamily="34" charset="0"/>
              <a:ea typeface="+mj-ea"/>
              <a:cs typeface="+mj-cs"/>
            </a:endParaRPr>
          </a:p>
        </p:txBody>
      </p:sp>
      <p:sp>
        <p:nvSpPr>
          <p:cNvPr id="4" name="Rectangle 3"/>
          <p:cNvSpPr/>
          <p:nvPr/>
        </p:nvSpPr>
        <p:spPr>
          <a:xfrm>
            <a:off x="565323" y="1410592"/>
            <a:ext cx="10958051" cy="3970318"/>
          </a:xfrm>
          <a:prstGeom prst="rect">
            <a:avLst/>
          </a:prstGeom>
        </p:spPr>
        <p:txBody>
          <a:bodyPr wrap="square">
            <a:spAutoFit/>
          </a:bodyPr>
          <a:lstStyle/>
          <a:p>
            <a:pPr>
              <a:lnSpc>
                <a:spcPct val="150000"/>
              </a:lnSpc>
            </a:pPr>
            <a:r>
              <a:rPr lang="en-US" sz="2400" b="1" dirty="0">
                <a:latin typeface="Trebuchet MS" panose="020B0603020202020204" pitchFamily="34" charset="0"/>
              </a:rPr>
              <a:t>Intractable Problems</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Intractable problems are those for which no efficient algorithm is known to solve them within polynomial time.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latin typeface="Trebuchet MS" panose="020B0603020202020204" pitchFamily="34" charset="0"/>
              </a:rPr>
              <a:t>time required grows exponentially or </a:t>
            </a:r>
            <a:r>
              <a:rPr lang="en-US" sz="2400" dirty="0" err="1">
                <a:latin typeface="Trebuchet MS" panose="020B0603020202020204" pitchFamily="34" charset="0"/>
              </a:rPr>
              <a:t>factorially</a:t>
            </a:r>
            <a:r>
              <a:rPr lang="en-US" sz="2400" dirty="0">
                <a:latin typeface="Trebuchet MS" panose="020B0603020202020204" pitchFamily="34" charset="0"/>
              </a:rPr>
              <a:t> with the size of the input, making them impractical to solve for large inputs.</a:t>
            </a:r>
          </a:p>
          <a:p>
            <a:pPr marL="342900" indent="-342900">
              <a:lnSpc>
                <a:spcPct val="150000"/>
              </a:lnSpc>
              <a:buFont typeface="Arial" panose="020B0604020202020204" pitchFamily="34" charset="0"/>
              <a:buChar char="•"/>
            </a:pPr>
            <a:r>
              <a:rPr lang="en-US" sz="2400" b="1" dirty="0">
                <a:solidFill>
                  <a:srgbClr val="0070C0"/>
                </a:solidFill>
                <a:latin typeface="Trebuchet MS" panose="020B0603020202020204" pitchFamily="34" charset="0"/>
              </a:rPr>
              <a:t>Definition</a:t>
            </a:r>
            <a:r>
              <a:rPr lang="en-US" sz="2400" dirty="0">
                <a:solidFill>
                  <a:srgbClr val="0070C0"/>
                </a:solidFill>
                <a:latin typeface="Trebuchet MS" panose="020B0603020202020204" pitchFamily="34" charset="0"/>
              </a:rPr>
              <a:t>:</a:t>
            </a:r>
            <a:r>
              <a:rPr lang="en-US" sz="2400" dirty="0">
                <a:latin typeface="Trebuchet MS" panose="020B0603020202020204" pitchFamily="34" charset="0"/>
              </a:rPr>
              <a:t> Problems that cannot be solved efficiently or are computationally expensive</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2316004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Tractable and </a:t>
            </a:r>
            <a:r>
              <a:rPr lang="en-US" sz="3200" b="1" dirty="0" smtClean="0">
                <a:solidFill>
                  <a:schemeClr val="bg1"/>
                </a:solidFill>
                <a:latin typeface="Trebuchet MS" panose="020B0603020202020204" pitchFamily="34" charset="0"/>
                <a:ea typeface="+mj-ea"/>
                <a:cs typeface="+mj-cs"/>
              </a:rPr>
              <a:t>Intractable Problems</a:t>
            </a:r>
            <a:endParaRPr lang="en-US" sz="3200" b="1" dirty="0">
              <a:solidFill>
                <a:schemeClr val="bg1"/>
              </a:solidFill>
              <a:latin typeface="Corbel" panose="020B0503020204020204" pitchFamily="34" charset="0"/>
              <a:ea typeface="+mj-ea"/>
              <a:cs typeface="+mj-cs"/>
            </a:endParaRPr>
          </a:p>
        </p:txBody>
      </p:sp>
      <p:sp>
        <p:nvSpPr>
          <p:cNvPr id="4" name="Rectangle 3"/>
          <p:cNvSpPr/>
          <p:nvPr/>
        </p:nvSpPr>
        <p:spPr>
          <a:xfrm>
            <a:off x="368710" y="1333278"/>
            <a:ext cx="11154664" cy="3970318"/>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solidFill>
                  <a:srgbClr val="0070C0"/>
                </a:solidFill>
                <a:latin typeface="Trebuchet MS" panose="020B0603020202020204" pitchFamily="34" charset="0"/>
              </a:rPr>
              <a:t>Examples:</a:t>
            </a:r>
          </a:p>
          <a:p>
            <a:pPr marL="1257300" lvl="2" indent="-342900">
              <a:lnSpc>
                <a:spcPct val="150000"/>
              </a:lnSpc>
              <a:buFont typeface="Wingdings" panose="05000000000000000000" pitchFamily="2" charset="2"/>
              <a:buChar char="ü"/>
            </a:pPr>
            <a:r>
              <a:rPr lang="en-US" sz="2400" b="1" dirty="0">
                <a:latin typeface="Trebuchet MS" panose="020B0603020202020204" pitchFamily="34" charset="0"/>
              </a:rPr>
              <a:t>The Traveling Salesman Problem </a:t>
            </a:r>
            <a:endParaRPr lang="en-US" sz="2400" b="1" dirty="0" smtClean="0">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b="1" dirty="0" smtClean="0">
                <a:latin typeface="Trebuchet MS" panose="020B0603020202020204" pitchFamily="34" charset="0"/>
              </a:rPr>
              <a:t>Graph </a:t>
            </a:r>
            <a:r>
              <a:rPr lang="en-US" sz="2400" b="1" dirty="0">
                <a:latin typeface="Trebuchet MS" panose="020B0603020202020204" pitchFamily="34" charset="0"/>
              </a:rPr>
              <a:t>coloring </a:t>
            </a:r>
            <a:r>
              <a:rPr lang="en-US" sz="2400" b="1" dirty="0" smtClean="0">
                <a:latin typeface="Trebuchet MS" panose="020B0603020202020204" pitchFamily="34" charset="0"/>
              </a:rPr>
              <a:t>problems</a:t>
            </a:r>
          </a:p>
          <a:p>
            <a:pPr marL="342900" indent="-342900">
              <a:lnSpc>
                <a:spcPct val="150000"/>
              </a:lnSpc>
              <a:buFont typeface="Arial" panose="020B0604020202020204" pitchFamily="34" charset="0"/>
              <a:buChar char="•"/>
            </a:pPr>
            <a:r>
              <a:rPr lang="en-US" sz="2400" b="1" dirty="0" smtClean="0">
                <a:solidFill>
                  <a:srgbClr val="0070C0"/>
                </a:solidFill>
                <a:latin typeface="Trebuchet MS" panose="020B0603020202020204" pitchFamily="34" charset="0"/>
              </a:rPr>
              <a:t>Real-World </a:t>
            </a:r>
            <a:r>
              <a:rPr lang="en-US" sz="2400" b="1" dirty="0">
                <a:solidFill>
                  <a:srgbClr val="0070C0"/>
                </a:solidFill>
                <a:latin typeface="Trebuchet MS" panose="020B0603020202020204" pitchFamily="34" charset="0"/>
              </a:rPr>
              <a:t>Example:</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Determining the optimal routes for a fleet of delivery trucks when the number of locations is very large (TSP).</a:t>
            </a:r>
          </a:p>
          <a:p>
            <a:pPr lvl="2">
              <a:lnSpc>
                <a:spcPct val="150000"/>
              </a:lnSpc>
            </a:pPr>
            <a:endParaRPr lang="en-US" sz="2400" b="1" dirty="0">
              <a:latin typeface="Trebuchet MS" panose="020B0603020202020204" pitchFamily="34" charset="0"/>
            </a:endParaRPr>
          </a:p>
        </p:txBody>
      </p:sp>
    </p:spTree>
    <p:extLst>
      <p:ext uri="{BB962C8B-B14F-4D97-AF65-F5344CB8AC3E}">
        <p14:creationId xmlns:p14="http://schemas.microsoft.com/office/powerpoint/2010/main" val="1240491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Polynomial Time Algorithms</a:t>
            </a:r>
          </a:p>
        </p:txBody>
      </p:sp>
      <p:sp>
        <p:nvSpPr>
          <p:cNvPr id="3" name="Rectangle 2"/>
          <p:cNvSpPr/>
          <p:nvPr/>
        </p:nvSpPr>
        <p:spPr>
          <a:xfrm>
            <a:off x="387751" y="1376811"/>
            <a:ext cx="11135623" cy="4524315"/>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Polynomial </a:t>
            </a:r>
            <a:r>
              <a:rPr lang="en-US" sz="2400" dirty="0">
                <a:latin typeface="Trebuchet MS" panose="020B0603020202020204" pitchFamily="34" charset="0"/>
              </a:rPr>
              <a:t>time algorithms are </a:t>
            </a:r>
            <a:r>
              <a:rPr lang="en-US" sz="2400" dirty="0">
                <a:solidFill>
                  <a:srgbClr val="0070C0"/>
                </a:solidFill>
                <a:latin typeface="Trebuchet MS" panose="020B0603020202020204" pitchFamily="34" charset="0"/>
              </a:rPr>
              <a:t>fundamental</a:t>
            </a:r>
            <a:r>
              <a:rPr lang="en-US" sz="2400" dirty="0">
                <a:latin typeface="Trebuchet MS" panose="020B0603020202020204" pitchFamily="34" charset="0"/>
              </a:rPr>
              <a:t> in computational theory and computer science.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These </a:t>
            </a:r>
            <a:r>
              <a:rPr lang="en-US" sz="2400" dirty="0">
                <a:latin typeface="Trebuchet MS" panose="020B0603020202020204" pitchFamily="34" charset="0"/>
              </a:rPr>
              <a:t>algorithms solve problems in a </a:t>
            </a:r>
            <a:r>
              <a:rPr lang="en-US" sz="2400" dirty="0">
                <a:solidFill>
                  <a:srgbClr val="0070C0"/>
                </a:solidFill>
                <a:latin typeface="Trebuchet MS" panose="020B0603020202020204" pitchFamily="34" charset="0"/>
              </a:rPr>
              <a:t>time</a:t>
            </a:r>
            <a:r>
              <a:rPr lang="en-US" sz="2400" dirty="0">
                <a:latin typeface="Trebuchet MS" panose="020B0603020202020204" pitchFamily="34" charset="0"/>
              </a:rPr>
              <a:t> that can be expressed as a </a:t>
            </a:r>
            <a:r>
              <a:rPr lang="en-US" sz="2400" dirty="0">
                <a:solidFill>
                  <a:srgbClr val="0070C0"/>
                </a:solidFill>
                <a:latin typeface="Trebuchet MS" panose="020B0603020202020204" pitchFamily="34" charset="0"/>
              </a:rPr>
              <a:t>polynomial function of the size of the input</a:t>
            </a:r>
            <a:r>
              <a:rPr lang="en-US" sz="2400" dirty="0">
                <a:latin typeface="Trebuchet MS" panose="020B0603020202020204" pitchFamily="34" charset="0"/>
              </a:rPr>
              <a:t>, making them </a:t>
            </a:r>
            <a:r>
              <a:rPr lang="en-US" sz="2400" dirty="0">
                <a:solidFill>
                  <a:srgbClr val="0070C0"/>
                </a:solidFill>
                <a:latin typeface="Trebuchet MS" panose="020B0603020202020204" pitchFamily="34" charset="0"/>
              </a:rPr>
              <a:t>efficient</a:t>
            </a:r>
            <a:r>
              <a:rPr lang="en-US" sz="2400" dirty="0">
                <a:latin typeface="Trebuchet MS" panose="020B0603020202020204" pitchFamily="34" charset="0"/>
              </a:rPr>
              <a:t> and </a:t>
            </a:r>
            <a:r>
              <a:rPr lang="en-US" sz="2400" dirty="0">
                <a:solidFill>
                  <a:srgbClr val="0070C0"/>
                </a:solidFill>
                <a:latin typeface="Trebuchet MS" panose="020B0603020202020204" pitchFamily="34" charset="0"/>
              </a:rPr>
              <a:t>practical</a:t>
            </a:r>
            <a:r>
              <a:rPr lang="en-US" sz="2400" dirty="0">
                <a:latin typeface="Trebuchet MS" panose="020B0603020202020204" pitchFamily="34" charset="0"/>
              </a:rPr>
              <a:t> for many applications</a:t>
            </a:r>
            <a:r>
              <a:rPr lang="en-US" sz="2400" dirty="0" smtClean="0">
                <a:latin typeface="Trebuchet MS" panose="020B0603020202020204" pitchFamily="34" charset="0"/>
              </a:rPr>
              <a:t>.</a:t>
            </a:r>
          </a:p>
          <a:p>
            <a:pPr>
              <a:lnSpc>
                <a:spcPct val="150000"/>
              </a:lnSpc>
            </a:pPr>
            <a:r>
              <a:rPr lang="en-US" sz="2400" b="1" dirty="0" smtClean="0">
                <a:solidFill>
                  <a:srgbClr val="C00000"/>
                </a:solidFill>
                <a:latin typeface="Trebuchet MS" panose="020B0603020202020204" pitchFamily="34" charset="0"/>
              </a:rPr>
              <a:t>Definition</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A </a:t>
            </a:r>
            <a:r>
              <a:rPr lang="en-US" sz="2400" dirty="0">
                <a:latin typeface="Trebuchet MS" panose="020B0603020202020204" pitchFamily="34" charset="0"/>
              </a:rPr>
              <a:t>polynomial time algorithm is one whose running time is bounded by a polynomial expression in the size of the input (denoted as </a:t>
            </a:r>
            <a:r>
              <a:rPr lang="en-US" sz="2400" dirty="0" smtClean="0">
                <a:latin typeface="Trebuchet MS" panose="020B0603020202020204" pitchFamily="34" charset="0"/>
              </a:rPr>
              <a:t>𝑛).</a:t>
            </a:r>
          </a:p>
        </p:txBody>
      </p:sp>
    </p:spTree>
    <p:extLst>
      <p:ext uri="{BB962C8B-B14F-4D97-AF65-F5344CB8AC3E}">
        <p14:creationId xmlns:p14="http://schemas.microsoft.com/office/powerpoint/2010/main" val="2447741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238393" y="198118"/>
            <a:ext cx="7637245" cy="584775"/>
          </a:xfrm>
          <a:prstGeom prst="rect">
            <a:avLst/>
          </a:prstGeom>
          <a:noFill/>
        </p:spPr>
        <p:txBody>
          <a:bodyPr wrap="square">
            <a:spAutoFit/>
          </a:bodyPr>
          <a:lstStyle/>
          <a:p>
            <a:r>
              <a:rPr lang="en-US" sz="3200" b="1" dirty="0">
                <a:solidFill>
                  <a:schemeClr val="bg1"/>
                </a:solidFill>
                <a:latin typeface="Trebuchet MS" panose="020B0603020202020204" pitchFamily="34" charset="0"/>
                <a:ea typeface="+mj-ea"/>
                <a:cs typeface="+mj-cs"/>
              </a:rPr>
              <a:t>Polynomial Time Algorithms</a:t>
            </a:r>
          </a:p>
        </p:txBody>
      </p:sp>
      <p:sp>
        <p:nvSpPr>
          <p:cNvPr id="3" name="Rectangle 2"/>
          <p:cNvSpPr/>
          <p:nvPr/>
        </p:nvSpPr>
        <p:spPr>
          <a:xfrm>
            <a:off x="280932" y="883493"/>
            <a:ext cx="11694758" cy="6376233"/>
          </a:xfrm>
          <a:prstGeom prst="rect">
            <a:avLst/>
          </a:prstGeom>
        </p:spPr>
        <p:txBody>
          <a:bodyPr wrap="square">
            <a:spAutoFit/>
          </a:bodyPr>
          <a:lstStyle/>
          <a:p>
            <a:pPr>
              <a:lnSpc>
                <a:spcPts val="3800"/>
              </a:lnSpc>
            </a:pPr>
            <a:r>
              <a:rPr lang="en-IN" sz="2400" b="1" dirty="0" smtClean="0">
                <a:solidFill>
                  <a:srgbClr val="0070C0"/>
                </a:solidFill>
              </a:rPr>
              <a:t>What Is </a:t>
            </a:r>
            <a:r>
              <a:rPr lang="en-IN" sz="2400" b="1" dirty="0">
                <a:solidFill>
                  <a:srgbClr val="0070C0"/>
                </a:solidFill>
              </a:rPr>
              <a:t>Polynomial Time? </a:t>
            </a:r>
            <a:endParaRPr lang="en-IN" sz="2400" b="1" dirty="0" smtClean="0">
              <a:solidFill>
                <a:srgbClr val="0070C0"/>
              </a:solidFill>
            </a:endParaRPr>
          </a:p>
          <a:p>
            <a:pPr marL="342900" indent="-342900">
              <a:lnSpc>
                <a:spcPts val="3800"/>
              </a:lnSpc>
              <a:buFont typeface="Arial" panose="020B0604020202020204" pitchFamily="34" charset="0"/>
              <a:buChar char="•"/>
            </a:pPr>
            <a:r>
              <a:rPr lang="en-US" sz="2400" dirty="0"/>
              <a:t>If the running time </a:t>
            </a:r>
            <a:r>
              <a:rPr lang="en-US" sz="2400" dirty="0" smtClean="0"/>
              <a:t>T(n) </a:t>
            </a:r>
            <a:r>
              <a:rPr lang="en-US" sz="2400" dirty="0"/>
              <a:t>of an algorithm is proportional to a polynomial expression of the input size </a:t>
            </a:r>
            <a:r>
              <a:rPr lang="en-US" sz="2400" dirty="0" smtClean="0"/>
              <a:t>n, </a:t>
            </a:r>
            <a:r>
              <a:rPr lang="en-US" sz="2400" dirty="0"/>
              <a:t>such as</a:t>
            </a:r>
            <a:r>
              <a:rPr lang="en-US" sz="2400" dirty="0" smtClean="0"/>
              <a:t>:</a:t>
            </a:r>
          </a:p>
          <a:p>
            <a:pPr>
              <a:lnSpc>
                <a:spcPts val="3800"/>
              </a:lnSpc>
            </a:pPr>
            <a:r>
              <a:rPr lang="en-IN" sz="2400" dirty="0" smtClean="0"/>
              <a:t>			</a:t>
            </a:r>
            <a:r>
              <a:rPr lang="en-IN" sz="2400" b="1" dirty="0" smtClean="0">
                <a:solidFill>
                  <a:srgbClr val="C00000"/>
                </a:solidFill>
              </a:rPr>
              <a:t>T(n</a:t>
            </a:r>
            <a:r>
              <a:rPr lang="en-IN" sz="2400" b="1" dirty="0">
                <a:solidFill>
                  <a:srgbClr val="C00000"/>
                </a:solidFill>
              </a:rPr>
              <a:t>) = O(</a:t>
            </a:r>
            <a:r>
              <a:rPr lang="en-US" sz="2400" b="1" dirty="0">
                <a:solidFill>
                  <a:srgbClr val="C00000"/>
                </a:solidFill>
                <a:latin typeface="Cambria Math" panose="02040503050406030204" pitchFamily="18" charset="0"/>
                <a:ea typeface="Times New Roman" panose="02020603050405020304" pitchFamily="18" charset="0"/>
                <a:cs typeface="Cambria Math" panose="02040503050406030204" pitchFamily="18" charset="0"/>
              </a:rPr>
              <a:t>𝑛</a:t>
            </a:r>
            <a:r>
              <a:rPr lang="en-US" sz="2400" b="1" baseline="30000" dirty="0">
                <a:solidFill>
                  <a:srgbClr val="C00000"/>
                </a:solidFill>
                <a:latin typeface="Trebuchet MS" panose="020B0603020202020204" pitchFamily="34" charset="0"/>
                <a:ea typeface="Times New Roman" panose="02020603050405020304" pitchFamily="18" charset="0"/>
                <a:cs typeface="Cambria Math" panose="02040503050406030204" pitchFamily="18" charset="0"/>
              </a:rPr>
              <a:t>𝑘</a:t>
            </a:r>
            <a:r>
              <a:rPr lang="en-IN" sz="2400" b="1" dirty="0">
                <a:solidFill>
                  <a:srgbClr val="C00000"/>
                </a:solidFill>
              </a:rPr>
              <a:t>)</a:t>
            </a:r>
            <a:endParaRPr lang="en-US" sz="2400" b="1" dirty="0">
              <a:solidFill>
                <a:srgbClr val="C00000"/>
              </a:solidFill>
              <a:latin typeface="Trebuchet MS" panose="020B0603020202020204" pitchFamily="34" charset="0"/>
            </a:endParaRPr>
          </a:p>
          <a:p>
            <a:pPr>
              <a:lnSpc>
                <a:spcPts val="3800"/>
              </a:lnSpc>
            </a:pPr>
            <a:r>
              <a:rPr lang="en-US" sz="2400" dirty="0">
                <a:latin typeface="Trebuchet MS" panose="020B0603020202020204" pitchFamily="34" charset="0"/>
              </a:rPr>
              <a:t> </a:t>
            </a:r>
            <a:r>
              <a:rPr lang="en-US" sz="2400" dirty="0" smtClean="0">
                <a:latin typeface="Trebuchet MS" panose="020B0603020202020204" pitchFamily="34" charset="0"/>
              </a:rPr>
              <a:t>   where </a:t>
            </a:r>
            <a:r>
              <a:rPr lang="en-US" sz="2400" dirty="0" smtClean="0">
                <a:solidFill>
                  <a:srgbClr val="0070C0"/>
                </a:solidFill>
                <a:latin typeface="Trebuchet MS" panose="020B0603020202020204" pitchFamily="34" charset="0"/>
              </a:rPr>
              <a:t>𝑘 </a:t>
            </a:r>
            <a:r>
              <a:rPr lang="en-US" sz="2400" dirty="0">
                <a:solidFill>
                  <a:srgbClr val="0070C0"/>
                </a:solidFill>
                <a:latin typeface="Trebuchet MS" panose="020B0603020202020204" pitchFamily="34" charset="0"/>
              </a:rPr>
              <a:t>is a constant</a:t>
            </a:r>
            <a:r>
              <a:rPr lang="en-US" sz="2400" dirty="0">
                <a:latin typeface="Trebuchet MS" panose="020B0603020202020204" pitchFamily="34" charset="0"/>
              </a:rPr>
              <a:t>, the algorithm operates in polynomial time. </a:t>
            </a:r>
          </a:p>
          <a:p>
            <a:pPr>
              <a:lnSpc>
                <a:spcPts val="3800"/>
              </a:lnSpc>
            </a:pPr>
            <a:r>
              <a:rPr lang="pt-BR" sz="2400" b="1" dirty="0" smtClean="0">
                <a:solidFill>
                  <a:srgbClr val="0070C0"/>
                </a:solidFill>
                <a:latin typeface="Trebuchet MS" panose="020B0603020202020204" pitchFamily="34" charset="0"/>
              </a:rPr>
              <a:t>Examples </a:t>
            </a:r>
            <a:r>
              <a:rPr lang="pt-BR" sz="2400" b="1" dirty="0">
                <a:solidFill>
                  <a:srgbClr val="0070C0"/>
                </a:solidFill>
                <a:latin typeface="Trebuchet MS" panose="020B0603020202020204" pitchFamily="34" charset="0"/>
              </a:rPr>
              <a:t>of Polynomial Time </a:t>
            </a:r>
            <a:r>
              <a:rPr lang="pt-BR" sz="2400" b="1" dirty="0" smtClean="0">
                <a:solidFill>
                  <a:srgbClr val="0070C0"/>
                </a:solidFill>
                <a:latin typeface="Trebuchet MS" panose="020B0603020202020204" pitchFamily="34" charset="0"/>
              </a:rPr>
              <a:t>Complexities</a:t>
            </a:r>
            <a:endParaRPr lang="pt-BR" sz="2400" b="1" dirty="0">
              <a:solidFill>
                <a:srgbClr val="0070C0"/>
              </a:solidFill>
              <a:latin typeface="Trebuchet MS" panose="020B0603020202020204" pitchFamily="34" charset="0"/>
            </a:endParaRPr>
          </a:p>
          <a:p>
            <a:pPr marL="1257300" lvl="2" indent="-342900">
              <a:lnSpc>
                <a:spcPts val="3800"/>
              </a:lnSpc>
              <a:buFont typeface="Wingdings" panose="05000000000000000000" pitchFamily="2" charset="2"/>
              <a:buChar char="ü"/>
            </a:pPr>
            <a:r>
              <a:rPr lang="pt-BR" sz="2400" dirty="0" smtClean="0">
                <a:latin typeface="Trebuchet MS" panose="020B0603020202020204" pitchFamily="34" charset="0"/>
              </a:rPr>
              <a:t>O(n) </a:t>
            </a:r>
            <a:r>
              <a:rPr lang="pt-BR" sz="2400" dirty="0">
                <a:latin typeface="Trebuchet MS" panose="020B0603020202020204" pitchFamily="34" charset="0"/>
              </a:rPr>
              <a:t>(Linear time)</a:t>
            </a:r>
          </a:p>
          <a:p>
            <a:pPr marL="1257300" lvl="2" indent="-342900">
              <a:lnSpc>
                <a:spcPts val="3800"/>
              </a:lnSpc>
              <a:buFont typeface="Wingdings" panose="05000000000000000000" pitchFamily="2" charset="2"/>
              <a:buChar char="ü"/>
            </a:pPr>
            <a:r>
              <a:rPr lang="pt-BR" sz="2400" dirty="0" smtClean="0">
                <a:latin typeface="Trebuchet MS" panose="020B0603020202020204" pitchFamily="34" charset="0"/>
              </a:rPr>
              <a:t>O(</a:t>
            </a:r>
            <a:r>
              <a:rPr lang="en-US" sz="2400" b="1" dirty="0">
                <a:latin typeface="Trebuchet MS" panose="020B0603020202020204" pitchFamily="34" charset="0"/>
              </a:rPr>
              <a:t>n</a:t>
            </a:r>
            <a:r>
              <a:rPr lang="en-US" sz="2400" b="1" baseline="30000" dirty="0">
                <a:latin typeface="Trebuchet MS" panose="020B0603020202020204" pitchFamily="34" charset="0"/>
              </a:rPr>
              <a:t>2</a:t>
            </a:r>
            <a:r>
              <a:rPr lang="pt-BR" sz="2400" dirty="0" smtClean="0">
                <a:latin typeface="Trebuchet MS" panose="020B0603020202020204" pitchFamily="34" charset="0"/>
              </a:rPr>
              <a:t>)(</a:t>
            </a:r>
            <a:r>
              <a:rPr lang="pt-BR" sz="2400" dirty="0">
                <a:latin typeface="Trebuchet MS" panose="020B0603020202020204" pitchFamily="34" charset="0"/>
              </a:rPr>
              <a:t>Quadratic time)</a:t>
            </a:r>
          </a:p>
          <a:p>
            <a:pPr marL="1257300" lvl="2" indent="-342900">
              <a:lnSpc>
                <a:spcPts val="3800"/>
              </a:lnSpc>
              <a:buFont typeface="Wingdings" panose="05000000000000000000" pitchFamily="2" charset="2"/>
              <a:buChar char="ü"/>
            </a:pPr>
            <a:r>
              <a:rPr lang="pt-BR" sz="2400" dirty="0" smtClean="0">
                <a:latin typeface="Trebuchet MS" panose="020B0603020202020204" pitchFamily="34" charset="0"/>
              </a:rPr>
              <a:t>O(</a:t>
            </a:r>
            <a:r>
              <a:rPr lang="en-US" sz="2400" b="1" dirty="0" smtClean="0">
                <a:latin typeface="Trebuchet MS" panose="020B0603020202020204" pitchFamily="34" charset="0"/>
              </a:rPr>
              <a:t>n</a:t>
            </a:r>
            <a:r>
              <a:rPr lang="en-US" sz="2400" b="1" baseline="30000" dirty="0" smtClean="0">
                <a:latin typeface="Trebuchet MS" panose="020B0603020202020204" pitchFamily="34" charset="0"/>
              </a:rPr>
              <a:t>3</a:t>
            </a:r>
            <a:r>
              <a:rPr lang="pt-BR" sz="2400" dirty="0" smtClean="0">
                <a:latin typeface="Trebuchet MS" panose="020B0603020202020204" pitchFamily="34" charset="0"/>
              </a:rPr>
              <a:t>)(</a:t>
            </a:r>
            <a:r>
              <a:rPr lang="pt-BR" sz="2400" dirty="0">
                <a:latin typeface="Trebuchet MS" panose="020B0603020202020204" pitchFamily="34" charset="0"/>
              </a:rPr>
              <a:t>Cubic time</a:t>
            </a:r>
            <a:r>
              <a:rPr lang="pt-BR" sz="2400" dirty="0" smtClean="0">
                <a:latin typeface="Trebuchet MS" panose="020B0603020202020204" pitchFamily="34" charset="0"/>
              </a:rPr>
              <a:t>)</a:t>
            </a:r>
          </a:p>
          <a:p>
            <a:pPr>
              <a:lnSpc>
                <a:spcPts val="3800"/>
              </a:lnSpc>
            </a:pPr>
            <a:r>
              <a:rPr lang="en-US" sz="2400" b="1" dirty="0">
                <a:solidFill>
                  <a:srgbClr val="0070C0"/>
                </a:solidFill>
                <a:latin typeface="Trebuchet MS" panose="020B0603020202020204" pitchFamily="34" charset="0"/>
              </a:rPr>
              <a:t>Why Polynomial Time?</a:t>
            </a:r>
          </a:p>
          <a:p>
            <a:pPr marL="342900" indent="-342900">
              <a:lnSpc>
                <a:spcPts val="3800"/>
              </a:lnSpc>
              <a:buFont typeface="Arial" panose="020B0604020202020204" pitchFamily="34" charset="0"/>
              <a:buChar char="•"/>
            </a:pPr>
            <a:r>
              <a:rPr lang="en-US" sz="2400" b="1" dirty="0">
                <a:solidFill>
                  <a:srgbClr val="FF0000"/>
                </a:solidFill>
                <a:latin typeface="Trebuchet MS" panose="020B0603020202020204" pitchFamily="34" charset="0"/>
              </a:rPr>
              <a:t>Feasibility</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Problems solvable in polynomial time are deemed computationally feasible.</a:t>
            </a:r>
          </a:p>
          <a:p>
            <a:pPr marL="1257300" lvl="2" indent="-342900">
              <a:lnSpc>
                <a:spcPts val="3800"/>
              </a:lnSpc>
              <a:buFont typeface="Wingdings" panose="05000000000000000000" pitchFamily="2" charset="2"/>
              <a:buChar char="ü"/>
            </a:pPr>
            <a:endParaRPr lang="pt-BR" sz="2400" dirty="0">
              <a:latin typeface="Trebuchet MS" panose="020B0603020202020204" pitchFamily="34" charset="0"/>
            </a:endParaRPr>
          </a:p>
        </p:txBody>
      </p:sp>
    </p:spTree>
    <p:extLst>
      <p:ext uri="{BB962C8B-B14F-4D97-AF65-F5344CB8AC3E}">
        <p14:creationId xmlns:p14="http://schemas.microsoft.com/office/powerpoint/2010/main" val="2788514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2EE4D6-8DCA-AB2D-02D9-3661EF64D785}"/>
                  </a:ext>
                </a:extLst>
              </p:cNvPr>
              <p:cNvSpPr txBox="1"/>
              <p:nvPr/>
            </p:nvSpPr>
            <p:spPr>
              <a:xfrm>
                <a:off x="235974" y="991311"/>
                <a:ext cx="11575860" cy="5642122"/>
              </a:xfrm>
              <a:prstGeom prst="rect">
                <a:avLst/>
              </a:prstGeom>
              <a:noFill/>
            </p:spPr>
            <p:txBody>
              <a:bodyPr wrap="square">
                <a:spAutoFit/>
              </a:bodyPr>
              <a:lstStyle/>
              <a:p>
                <a:pPr marL="342900" marR="0" lvl="0" indent="-342900"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class P consists of those problems that are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solvable in polynomial time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by deterministic algorithms.</a:t>
                </a:r>
              </a:p>
              <a:p>
                <a:pPr marL="342900" indent="-342900">
                  <a:lnSpc>
                    <a:spcPct val="150000"/>
                  </a:lnSpc>
                  <a:buClr>
                    <a:schemeClr val="tx1"/>
                  </a:buClr>
                  <a:buFont typeface="Arial" panose="020B0604020202020204" pitchFamily="34" charset="0"/>
                  <a:buChar char="•"/>
                  <a:defRPr/>
                </a:pPr>
                <a:r>
                  <a:rPr lang="en-US" sz="2400" dirty="0">
                    <a:solidFill>
                      <a:srgbClr val="212121"/>
                    </a:solidFill>
                    <a:latin typeface="Trebuchet MS" panose="020B0603020202020204" pitchFamily="34" charset="0"/>
                  </a:rPr>
                  <a:t>The P in the class P stands for Polynomial Time. It is the collection of decision problems(problems with a </a:t>
                </a:r>
                <a:r>
                  <a:rPr lang="en-US" sz="2400" dirty="0">
                    <a:solidFill>
                      <a:srgbClr val="0070C0"/>
                    </a:solidFill>
                    <a:latin typeface="Trebuchet MS" panose="020B0603020202020204" pitchFamily="34" charset="0"/>
                  </a:rPr>
                  <a:t>“yes” or “no” </a:t>
                </a:r>
                <a:r>
                  <a:rPr lang="en-US" sz="2400" dirty="0">
                    <a:solidFill>
                      <a:srgbClr val="212121"/>
                    </a:solidFill>
                    <a:latin typeface="Trebuchet MS" panose="020B0603020202020204" pitchFamily="34" charset="0"/>
                  </a:rPr>
                  <a:t>answer) that can be solved by a deterministic machine in polynomial time. </a:t>
                </a:r>
                <a:endParaRPr lang="en-US" sz="2400" dirty="0">
                  <a:solidFill>
                    <a:srgbClr val="AD1457"/>
                  </a:solidFill>
                  <a:latin typeface="Trebuchet MS" panose="020B0603020202020204" pitchFamily="34" charset="0"/>
                </a:endParaRPr>
              </a:p>
              <a:p>
                <a:pPr marL="342900" marR="0" lvl="0" indent="-342900"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rPr>
                  <a:t>Polynomial</a:t>
                </a:r>
                <a:r>
                  <a:rPr kumimoji="0" lang="en-US" sz="2400" b="0" i="0" u="none" strike="noStrike" kern="1200" cap="none" spc="0" normalizeH="0" noProof="0" dirty="0" smtClean="0">
                    <a:ln>
                      <a:noFill/>
                    </a:ln>
                    <a:solidFill>
                      <a:srgbClr val="212121"/>
                    </a:solidFill>
                    <a:effectLst/>
                    <a:uLnTx/>
                    <a:uFillTx/>
                    <a:latin typeface="Trebuchet MS" panose="020B0603020202020204" pitchFamily="34" charset="0"/>
                  </a:rPr>
                  <a:t> </a:t>
                </a:r>
                <a:r>
                  <a:rPr kumimoji="0" lang="en-US" sz="2400" b="0" i="0" u="none" strike="noStrike" kern="1200" cap="none" spc="0" normalizeH="0" noProof="0" dirty="0">
                    <a:ln>
                      <a:noFill/>
                    </a:ln>
                    <a:solidFill>
                      <a:srgbClr val="212121"/>
                    </a:solidFill>
                    <a:effectLst/>
                    <a:uLnTx/>
                    <a:uFillTx/>
                    <a:latin typeface="Trebuchet MS" panose="020B0603020202020204" pitchFamily="34" charset="0"/>
                  </a:rPr>
                  <a:t>time -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More specifically, they are problems that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can be solved in time </a:t>
                </a:r>
                <a14:m>
                  <m:oMath xmlns:m="http://schemas.openxmlformats.org/officeDocument/2006/math">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𝑂</m:t>
                    </m:r>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m:t>
                    </m:r>
                    <m:sSup>
                      <m:sSupPr>
                        <m:ctrlP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ctrlPr>
                      </m:sSupPr>
                      <m:e>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𝑛</m:t>
                        </m:r>
                      </m:e>
                      <m:sup>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𝑘</m:t>
                        </m:r>
                      </m:sup>
                    </m:sSup>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m:t>
                    </m:r>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some constant </a:t>
                </a:r>
                <a14:m>
                  <m:oMath xmlns:m="http://schemas.openxmlformats.org/officeDocument/2006/math">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rPr>
                      <m:t>𝑘</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where </a:t>
                </a:r>
                <a14:m>
                  <m:oMath xmlns:m="http://schemas.openxmlformats.org/officeDocument/2006/math">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rPr>
                      <m:t>𝑛</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is the size of the input to the problem.</a:t>
                </a:r>
              </a:p>
              <a:p>
                <a:pPr marL="342900" marR="0" lvl="0" indent="-342900"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example,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𝑂(</a:t>
                </a:r>
                <a14:m>
                  <m:oMath xmlns:m="http://schemas.openxmlformats.org/officeDocument/2006/math">
                    <m:sSup>
                      <m:sSupPr>
                        <m:ctrlP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rPr>
                        </m:ctrlPr>
                      </m:sSupPr>
                      <m:e>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rPr>
                          <m:t>𝑛</m:t>
                        </m:r>
                      </m:e>
                      <m:sup>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3</m:t>
                        </m:r>
                      </m:sup>
                    </m:sSup>
                  </m:oMath>
                </a14:m>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𝑂(</a:t>
                </a:r>
                <a14:m>
                  <m:oMath xmlns:m="http://schemas.openxmlformats.org/officeDocument/2006/math">
                    <m:sSup>
                      <m:sSupPr>
                        <m:ctrlP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rPr>
                        </m:ctrlPr>
                      </m:sSupPr>
                      <m:e>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rPr>
                          <m:t>𝑛</m:t>
                        </m:r>
                      </m:e>
                      <m:sup>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rPr>
                          <m:t>4</m:t>
                        </m:r>
                      </m:sup>
                    </m:sSup>
                  </m:oMath>
                </a14:m>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𝑂(𝑙𝑜𝑔𝑛),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Fractional Knapsack, MST, Sorting algorithms etc</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rPr>
                  <a:t>…</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mc:Choice>
        <mc:Fallback xmlns="">
          <p:sp>
            <p:nvSpPr>
              <p:cNvPr id="8" name="TextBox 7">
                <a:extLst>
                  <a:ext uri="{FF2B5EF4-FFF2-40B4-BE49-F238E27FC236}">
                    <a16:creationId xmlns:a16="http://schemas.microsoft.com/office/drawing/2014/main" id="{262EE4D6-8DCA-AB2D-02D9-3661EF64D785}"/>
                  </a:ext>
                </a:extLst>
              </p:cNvPr>
              <p:cNvSpPr txBox="1">
                <a:spLocks noRot="1" noChangeAspect="1" noMove="1" noResize="1" noEditPoints="1" noAdjustHandles="1" noChangeArrowheads="1" noChangeShapeType="1" noTextEdit="1"/>
              </p:cNvSpPr>
              <p:nvPr/>
            </p:nvSpPr>
            <p:spPr>
              <a:xfrm>
                <a:off x="235974" y="991311"/>
                <a:ext cx="11575860" cy="5642122"/>
              </a:xfrm>
              <a:prstGeom prst="rect">
                <a:avLst/>
              </a:prstGeom>
              <a:blipFill>
                <a:blip r:embed="rId6"/>
                <a:stretch>
                  <a:fillRect l="-737" b="-324"/>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58EC8C91-21F6-C5C4-89C0-E58AF82404A8}"/>
              </a:ext>
            </a:extLst>
          </p:cNvPr>
          <p:cNvSpPr txBox="1"/>
          <p:nvPr/>
        </p:nvSpPr>
        <p:spPr>
          <a:xfrm>
            <a:off x="430123" y="304227"/>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The Class P</a:t>
            </a:r>
            <a:endParaRPr lang="en-IN" sz="1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344261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262EE4D6-8DCA-AB2D-02D9-3661EF64D785}"/>
              </a:ext>
            </a:extLst>
          </p:cNvPr>
          <p:cNvSpPr txBox="1"/>
          <p:nvPr/>
        </p:nvSpPr>
        <p:spPr>
          <a:xfrm>
            <a:off x="235974" y="991311"/>
            <a:ext cx="11575860" cy="5632311"/>
          </a:xfrm>
          <a:prstGeom prst="rect">
            <a:avLst/>
          </a:prstGeom>
          <a:noFill/>
        </p:spPr>
        <p:txBody>
          <a:bodyPr wrap="square">
            <a:spAutoFit/>
          </a:bodyPr>
          <a:lstStyle/>
          <a:p>
            <a:pPr fontAlgn="base">
              <a:lnSpc>
                <a:spcPct val="150000"/>
              </a:lnSpc>
            </a:pPr>
            <a:r>
              <a:rPr lang="en-US" sz="2400" b="1" dirty="0">
                <a:solidFill>
                  <a:srgbClr val="0070C0"/>
                </a:solidFill>
                <a:latin typeface="Trebuchet MS" panose="020B0603020202020204" pitchFamily="34" charset="0"/>
              </a:rPr>
              <a:t>Features:</a:t>
            </a:r>
            <a:endParaRPr lang="en-US" sz="2400" dirty="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400" dirty="0">
                <a:solidFill>
                  <a:srgbClr val="273239"/>
                </a:solidFill>
                <a:latin typeface="Trebuchet MS" panose="020B0603020202020204" pitchFamily="34" charset="0"/>
              </a:rPr>
              <a:t>The solution to </a:t>
            </a:r>
            <a:r>
              <a:rPr lang="en-US" sz="2400" b="1" dirty="0">
                <a:solidFill>
                  <a:srgbClr val="273239"/>
                </a:solidFill>
                <a:latin typeface="Trebuchet MS" panose="020B0603020202020204" pitchFamily="34" charset="0"/>
              </a:rPr>
              <a:t>P problem</a:t>
            </a:r>
            <a:r>
              <a:rPr lang="en-US" sz="2400" dirty="0">
                <a:solidFill>
                  <a:srgbClr val="273239"/>
                </a:solidFill>
                <a:latin typeface="Trebuchet MS" panose="020B0603020202020204" pitchFamily="34" charset="0"/>
              </a:rPr>
              <a:t>s is easy to find. </a:t>
            </a:r>
          </a:p>
          <a:p>
            <a:pPr marL="342900" indent="-342900" fontAlgn="base">
              <a:lnSpc>
                <a:spcPct val="150000"/>
              </a:lnSpc>
              <a:buFont typeface="Arial" panose="020B0604020202020204" pitchFamily="34" charset="0"/>
              <a:buChar char="•"/>
            </a:pPr>
            <a:r>
              <a:rPr lang="en-US" sz="2400" b="1" dirty="0">
                <a:solidFill>
                  <a:srgbClr val="273239"/>
                </a:solidFill>
                <a:latin typeface="Trebuchet MS" panose="020B0603020202020204" pitchFamily="34" charset="0"/>
              </a:rPr>
              <a:t>P</a:t>
            </a:r>
            <a:r>
              <a:rPr lang="en-US" sz="2400" dirty="0">
                <a:solidFill>
                  <a:srgbClr val="273239"/>
                </a:solidFill>
                <a:latin typeface="Trebuchet MS" panose="020B0603020202020204" pitchFamily="34" charset="0"/>
              </a:rPr>
              <a:t> is often a class of computational problems that are solvable and tractable. Tractable means that the problems can be solved in theory as well as in practice. But the problems that can be solved in theory but not in practice are known as intractable.</a:t>
            </a:r>
          </a:p>
          <a:p>
            <a:pPr fontAlgn="base">
              <a:lnSpc>
                <a:spcPct val="150000"/>
              </a:lnSpc>
            </a:pPr>
            <a:r>
              <a:rPr lang="en-US" sz="2400" b="1" dirty="0">
                <a:solidFill>
                  <a:srgbClr val="0070C0"/>
                </a:solidFill>
                <a:latin typeface="Trebuchet MS" panose="020B0603020202020204" pitchFamily="34" charset="0"/>
              </a:rPr>
              <a:t>Examples:</a:t>
            </a: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Calculating the greatest common </a:t>
            </a:r>
            <a:r>
              <a:rPr lang="en-US" sz="2400" dirty="0" smtClean="0">
                <a:latin typeface="Trebuchet MS" panose="020B0603020202020204" pitchFamily="34" charset="0"/>
              </a:rPr>
              <a:t>divisor</a:t>
            </a:r>
            <a:endParaRPr lang="en-US" sz="2400" dirty="0">
              <a:latin typeface="Trebuchet MS" panose="020B0603020202020204" pitchFamily="34" charset="0"/>
            </a:endParaRP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Finding a maximum </a:t>
            </a:r>
            <a:r>
              <a:rPr lang="en-US" sz="2400" dirty="0" smtClean="0">
                <a:latin typeface="Trebuchet MS" panose="020B0603020202020204" pitchFamily="34" charset="0"/>
              </a:rPr>
              <a:t>matching</a:t>
            </a:r>
            <a:endParaRPr lang="en-US" sz="2400" dirty="0">
              <a:latin typeface="Trebuchet MS" panose="020B0603020202020204" pitchFamily="34" charset="0"/>
            </a:endParaRP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Merge </a:t>
            </a:r>
            <a:r>
              <a:rPr lang="en-US" sz="2400" dirty="0" smtClean="0">
                <a:latin typeface="Trebuchet MS" panose="020B0603020202020204" pitchFamily="34" charset="0"/>
              </a:rPr>
              <a:t>Sort</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12" name="TextBox 11">
            <a:extLst>
              <a:ext uri="{FF2B5EF4-FFF2-40B4-BE49-F238E27FC236}">
                <a16:creationId xmlns:a16="http://schemas.microsoft.com/office/drawing/2014/main" id="{58EC8C91-21F6-C5C4-89C0-E58AF82404A8}"/>
              </a:ext>
            </a:extLst>
          </p:cNvPr>
          <p:cNvSpPr txBox="1"/>
          <p:nvPr/>
        </p:nvSpPr>
        <p:spPr>
          <a:xfrm>
            <a:off x="430123" y="304227"/>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The Class P</a:t>
            </a:r>
            <a:endParaRPr lang="en-IN" sz="1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575866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4A881C8-E8C7-ABC5-1607-14D080BE2459}"/>
              </a:ext>
            </a:extLst>
          </p:cNvPr>
          <p:cNvSpPr txBox="1"/>
          <p:nvPr/>
        </p:nvSpPr>
        <p:spPr>
          <a:xfrm>
            <a:off x="265473" y="1034146"/>
            <a:ext cx="11257902" cy="5078313"/>
          </a:xfrm>
          <a:prstGeom prst="rect">
            <a:avLst/>
          </a:prstGeom>
          <a:noFill/>
        </p:spPr>
        <p:txBody>
          <a:bodyPr wrap="square">
            <a:spAutoFit/>
          </a:bodyPr>
          <a:lstStyle/>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NP is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Non-Deterministic</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polynomial time.</a:t>
            </a: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class NP consists of those problems that are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verifiable in polynomial time</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NP is the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class of decision problems</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which it is easy to check the correctness of a claimed answer, with the help of a little extra information. </a:t>
            </a: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Hence, we are not asking for a way to find a solution, but only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to verify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that an alleged solution really is correct.</a:t>
            </a: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Every problem in this class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can be solved in exponential time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using exhaustive search.</a:t>
            </a:r>
          </a:p>
        </p:txBody>
      </p:sp>
      <p:sp>
        <p:nvSpPr>
          <p:cNvPr id="7" name="TextBox 6">
            <a:extLst>
              <a:ext uri="{FF2B5EF4-FFF2-40B4-BE49-F238E27FC236}">
                <a16:creationId xmlns:a16="http://schemas.microsoft.com/office/drawing/2014/main" id="{05697BED-9E29-B1AD-6FEA-3F8BE48F26E8}"/>
              </a:ext>
            </a:extLst>
          </p:cNvPr>
          <p:cNvSpPr txBox="1"/>
          <p:nvPr/>
        </p:nvSpPr>
        <p:spPr>
          <a:xfrm>
            <a:off x="380166" y="202690"/>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The NP class</a:t>
            </a:r>
            <a:endParaRPr lang="en-IN" sz="1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040278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4A881C8-E8C7-ABC5-1607-14D080BE2459}"/>
              </a:ext>
            </a:extLst>
          </p:cNvPr>
          <p:cNvSpPr txBox="1"/>
          <p:nvPr/>
        </p:nvSpPr>
        <p:spPr>
          <a:xfrm>
            <a:off x="265473" y="1034146"/>
            <a:ext cx="11429998" cy="5632311"/>
          </a:xfrm>
          <a:prstGeom prst="rect">
            <a:avLst/>
          </a:prstGeom>
          <a:noFill/>
        </p:spPr>
        <p:txBody>
          <a:bodyPr wrap="square">
            <a:spAutoFit/>
          </a:bodyPr>
          <a:lstStyle/>
          <a:p>
            <a:pPr fontAlgn="base">
              <a:lnSpc>
                <a:spcPct val="150000"/>
              </a:lnSpc>
            </a:pPr>
            <a:r>
              <a:rPr lang="en-US" sz="2400" b="1" dirty="0" smtClean="0">
                <a:solidFill>
                  <a:srgbClr val="0070C0"/>
                </a:solidFill>
                <a:latin typeface="Trebuchet MS" panose="020B0603020202020204" pitchFamily="34" charset="0"/>
              </a:rPr>
              <a:t>Features</a:t>
            </a:r>
            <a:endParaRPr lang="en-US" sz="2400" dirty="0" smtClean="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400" dirty="0" smtClean="0">
                <a:latin typeface="Trebuchet MS" panose="020B0603020202020204" pitchFamily="34" charset="0"/>
              </a:rPr>
              <a:t>The solutions of the NP class are hard to find since they are being solved by a non-deterministic machine but the solutions are easy to verify.</a:t>
            </a:r>
          </a:p>
          <a:p>
            <a:pPr marL="342900" indent="-342900" fontAlgn="base">
              <a:lnSpc>
                <a:spcPct val="150000"/>
              </a:lnSpc>
              <a:buFont typeface="Arial" panose="020B0604020202020204" pitchFamily="34" charset="0"/>
              <a:buChar char="•"/>
            </a:pPr>
            <a:r>
              <a:rPr lang="en-US" sz="2400" dirty="0" smtClean="0">
                <a:latin typeface="Trebuchet MS" panose="020B0603020202020204" pitchFamily="34" charset="0"/>
              </a:rPr>
              <a:t>Problems of NP can be verified by a Turing machine in polynomial time. </a:t>
            </a:r>
          </a:p>
          <a:p>
            <a:pPr fontAlgn="base">
              <a:lnSpc>
                <a:spcPct val="150000"/>
              </a:lnSpc>
            </a:pPr>
            <a:r>
              <a:rPr lang="en-US" sz="2400" b="1" dirty="0" smtClean="0">
                <a:solidFill>
                  <a:srgbClr val="0070C0"/>
                </a:solidFill>
                <a:latin typeface="Trebuchet MS" panose="020B0603020202020204" pitchFamily="34" charset="0"/>
              </a:rPr>
              <a:t>Example </a:t>
            </a:r>
          </a:p>
          <a:p>
            <a:pPr marL="1257300" lvl="2" indent="-342900" fontAlgn="base">
              <a:lnSpc>
                <a:spcPct val="150000"/>
              </a:lnSpc>
              <a:buFont typeface="Wingdings" panose="05000000000000000000" pitchFamily="2" charset="2"/>
              <a:buChar char="ü"/>
            </a:pPr>
            <a:r>
              <a:rPr lang="en-US" sz="2400" dirty="0" smtClean="0">
                <a:latin typeface="Trebuchet MS" panose="020B0603020202020204" pitchFamily="34" charset="0"/>
              </a:rPr>
              <a:t>Boolean </a:t>
            </a:r>
            <a:r>
              <a:rPr lang="en-US" sz="2400" dirty="0">
                <a:latin typeface="Trebuchet MS" panose="020B0603020202020204" pitchFamily="34" charset="0"/>
              </a:rPr>
              <a:t>Satisfiability Problem (SAT</a:t>
            </a:r>
            <a:r>
              <a:rPr lang="en-US" sz="2400" dirty="0" smtClean="0">
                <a:latin typeface="Trebuchet MS" panose="020B0603020202020204" pitchFamily="34" charset="0"/>
              </a:rPr>
              <a:t>)</a:t>
            </a:r>
            <a:endParaRPr lang="en-US" sz="2400" dirty="0">
              <a:latin typeface="Trebuchet MS" panose="020B0603020202020204" pitchFamily="34" charset="0"/>
            </a:endParaRP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Hamiltonian Path </a:t>
            </a:r>
            <a:r>
              <a:rPr lang="en-US" sz="2400" dirty="0" smtClean="0">
                <a:latin typeface="Trebuchet MS" panose="020B0603020202020204" pitchFamily="34" charset="0"/>
              </a:rPr>
              <a:t>Problem</a:t>
            </a:r>
            <a:endParaRPr lang="en-US" sz="2400" dirty="0">
              <a:latin typeface="Trebuchet MS" panose="020B0603020202020204" pitchFamily="34" charset="0"/>
            </a:endParaRPr>
          </a:p>
          <a:p>
            <a:pPr marL="1257300" lvl="2" indent="-342900" fontAlgn="base">
              <a:lnSpc>
                <a:spcPct val="150000"/>
              </a:lnSpc>
              <a:buFont typeface="Wingdings" panose="05000000000000000000" pitchFamily="2" charset="2"/>
              <a:buChar char="ü"/>
            </a:pPr>
            <a:r>
              <a:rPr lang="en-US" sz="2400" dirty="0">
                <a:latin typeface="Trebuchet MS" panose="020B0603020202020204" pitchFamily="34" charset="0"/>
              </a:rPr>
              <a:t>Graph </a:t>
            </a:r>
            <a:r>
              <a:rPr lang="en-US" sz="2400" dirty="0" smtClean="0">
                <a:latin typeface="Trebuchet MS" panose="020B0603020202020204" pitchFamily="34" charset="0"/>
              </a:rPr>
              <a:t>coloring</a:t>
            </a:r>
            <a:endParaRPr lang="en-US" sz="2400" dirty="0">
              <a:latin typeface="Trebuchet MS" panose="020B0603020202020204" pitchFamily="34" charset="0"/>
            </a:endParaRPr>
          </a:p>
          <a:p>
            <a:pPr marL="342900" indent="-342900" fontAlgn="base">
              <a:lnSpc>
                <a:spcPct val="150000"/>
              </a:lnSpc>
              <a:buFont typeface="Arial" panose="020B0604020202020204" pitchFamily="34" charset="0"/>
              <a:buChar char="•"/>
            </a:pPr>
            <a:endParaRPr lang="en-US" sz="2400" dirty="0">
              <a:solidFill>
                <a:srgbClr val="273239"/>
              </a:solidFill>
              <a:latin typeface="Trebuchet MS" panose="020B0603020202020204" pitchFamily="34" charset="0"/>
            </a:endParaRPr>
          </a:p>
          <a:p>
            <a:pPr marL="342900" marR="0" lvl="0" indent="-342900" algn="just" defTabSz="914400" rtl="0" eaLnBrk="1" fontAlgn="auto" latinLnBrk="0" hangingPunct="1">
              <a:lnSpc>
                <a:spcPct val="150000"/>
              </a:lnSpc>
              <a:buClr>
                <a:schemeClr val="tx1"/>
              </a:buClr>
              <a:buSzTx/>
              <a:buFont typeface="Arial" panose="020B0604020202020204" pitchFamily="34" charset="0"/>
              <a:buChar char="•"/>
              <a:tabLst/>
              <a:defRPr/>
            </a:pP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7" name="TextBox 6">
            <a:extLst>
              <a:ext uri="{FF2B5EF4-FFF2-40B4-BE49-F238E27FC236}">
                <a16:creationId xmlns:a16="http://schemas.microsoft.com/office/drawing/2014/main" id="{05697BED-9E29-B1AD-6FEA-3F8BE48F26E8}"/>
              </a:ext>
            </a:extLst>
          </p:cNvPr>
          <p:cNvSpPr txBox="1"/>
          <p:nvPr/>
        </p:nvSpPr>
        <p:spPr>
          <a:xfrm>
            <a:off x="380166" y="202690"/>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The NP class</a:t>
            </a:r>
            <a:endParaRPr lang="en-IN" sz="1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905823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9CD461DE-09BC-EA37-53FF-4AFBF409B9E2}"/>
              </a:ext>
            </a:extLst>
          </p:cNvPr>
          <p:cNvSpPr txBox="1"/>
          <p:nvPr/>
        </p:nvSpPr>
        <p:spPr>
          <a:xfrm>
            <a:off x="265471" y="198118"/>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Classification of NP Problems </a:t>
            </a:r>
            <a:endParaRPr lang="en-IN" sz="1600" dirty="0">
              <a:solidFill>
                <a:schemeClr val="bg1"/>
              </a:solidFill>
              <a:latin typeface="Trebuchet MS" panose="020B0603020202020204" pitchFamily="34" charset="0"/>
            </a:endParaRPr>
          </a:p>
        </p:txBody>
      </p:sp>
      <p:sp>
        <p:nvSpPr>
          <p:cNvPr id="9" name="TextBox 8">
            <a:extLst>
              <a:ext uri="{FF2B5EF4-FFF2-40B4-BE49-F238E27FC236}">
                <a16:creationId xmlns:a16="http://schemas.microsoft.com/office/drawing/2014/main" id="{958BC973-53C7-2ED8-3689-6177035E4782}"/>
              </a:ext>
            </a:extLst>
          </p:cNvPr>
          <p:cNvSpPr txBox="1"/>
          <p:nvPr/>
        </p:nvSpPr>
        <p:spPr>
          <a:xfrm>
            <a:off x="389493" y="1013330"/>
            <a:ext cx="11400314" cy="5601533"/>
          </a:xfrm>
          <a:prstGeom prst="rect">
            <a:avLst/>
          </a:prstGeom>
          <a:noFill/>
        </p:spPr>
        <p:txBody>
          <a:bodyPr wrap="square">
            <a:spAutoFit/>
          </a:bodyPr>
          <a:lstStyle/>
          <a:p>
            <a:pPr marL="457200" marR="0" lvl="0" indent="-457200" algn="just" defTabSz="914400" rtl="0" eaLnBrk="1" fontAlgn="auto" latinLnBrk="0" hangingPunct="1">
              <a:spcBef>
                <a:spcPts val="1200"/>
              </a:spcBef>
              <a:spcAft>
                <a:spcPts val="1200"/>
              </a:spcAft>
              <a:buClr>
                <a:srgbClr val="CC3399"/>
              </a:buClr>
              <a:buSzTx/>
              <a:buFont typeface="+mj-lt"/>
              <a:buAutoNum type="arabicParenR"/>
              <a:tabLst/>
              <a:defRPr/>
            </a:pPr>
            <a:r>
              <a:rPr kumimoji="0" lang="en-US" sz="2400" b="1" i="0" u="none" strike="noStrike" kern="1200" cap="none" spc="0" normalizeH="0" baseline="0" noProof="0" dirty="0" smtClean="0">
                <a:ln>
                  <a:noFill/>
                </a:ln>
                <a:solidFill>
                  <a:srgbClr val="AD1457"/>
                </a:solidFill>
                <a:effectLst/>
                <a:uLnTx/>
                <a:uFillTx/>
                <a:latin typeface="Trebuchet MS" panose="020B0603020202020204" pitchFamily="34" charset="0"/>
              </a:rPr>
              <a:t>NP Hard</a:t>
            </a:r>
            <a:endPar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endParaRPr>
          </a:p>
          <a:p>
            <a:pPr marL="342900" lvl="0" indent="-342900" algn="just">
              <a:lnSpc>
                <a:spcPct val="150000"/>
              </a:lnSpc>
              <a:buClr>
                <a:schemeClr val="tx1"/>
              </a:buClr>
              <a:buFont typeface="Arial" panose="020B0604020202020204" pitchFamily="34" charset="0"/>
              <a:buChar char="•"/>
              <a:defRPr/>
            </a:pPr>
            <a:r>
              <a:rPr lang="en-US" sz="2400" dirty="0">
                <a:solidFill>
                  <a:srgbClr val="212121"/>
                </a:solidFill>
                <a:latin typeface="Trebuchet MS" panose="020B0603020202020204" pitchFamily="34" charset="0"/>
              </a:rPr>
              <a:t>An NP-hard problem is at least as hard as the hardest problem in NP and it is a class of problems such that every problem in NP reduces to NP-hard.</a:t>
            </a:r>
          </a:p>
          <a:p>
            <a:pPr lvl="0" algn="just">
              <a:lnSpc>
                <a:spcPct val="150000"/>
              </a:lnSpc>
              <a:buClr>
                <a:schemeClr val="tx1"/>
              </a:buClr>
              <a:defRPr/>
            </a:pPr>
            <a:r>
              <a:rPr lang="en-US" sz="2400" b="1" dirty="0" smtClean="0">
                <a:solidFill>
                  <a:srgbClr val="0070C0"/>
                </a:solidFill>
                <a:latin typeface="Trebuchet MS" panose="020B0603020202020204" pitchFamily="34" charset="0"/>
              </a:rPr>
              <a:t>Features</a:t>
            </a:r>
            <a:r>
              <a:rPr lang="en-US" sz="2400" b="1" dirty="0">
                <a:solidFill>
                  <a:srgbClr val="0070C0"/>
                </a:solidFill>
                <a:latin typeface="Trebuchet MS" panose="020B0603020202020204" pitchFamily="34" charset="0"/>
              </a:rPr>
              <a:t>:</a:t>
            </a:r>
          </a:p>
          <a:p>
            <a:pPr marL="800100" lvl="1" indent="-342900" algn="just">
              <a:lnSpc>
                <a:spcPct val="150000"/>
              </a:lnSpc>
              <a:buClr>
                <a:schemeClr val="tx1"/>
              </a:buClr>
              <a:buFont typeface="Wingdings" panose="05000000000000000000" pitchFamily="2" charset="2"/>
              <a:buChar char="ü"/>
              <a:defRPr/>
            </a:pPr>
            <a:r>
              <a:rPr lang="en-US" sz="2400" dirty="0" smtClean="0">
                <a:solidFill>
                  <a:srgbClr val="212121"/>
                </a:solidFill>
                <a:latin typeface="Trebuchet MS" panose="020B0603020202020204" pitchFamily="34" charset="0"/>
              </a:rPr>
              <a:t>All </a:t>
            </a:r>
            <a:r>
              <a:rPr lang="en-US" sz="2400" dirty="0">
                <a:solidFill>
                  <a:srgbClr val="212121"/>
                </a:solidFill>
                <a:latin typeface="Trebuchet MS" panose="020B0603020202020204" pitchFamily="34" charset="0"/>
              </a:rPr>
              <a:t>NP-hard problems are not in NP.</a:t>
            </a:r>
          </a:p>
          <a:p>
            <a:pPr marL="800100" lvl="1" indent="-342900" algn="just">
              <a:lnSpc>
                <a:spcPct val="150000"/>
              </a:lnSpc>
              <a:buClr>
                <a:schemeClr val="tx1"/>
              </a:buClr>
              <a:buFont typeface="Wingdings" panose="05000000000000000000" pitchFamily="2" charset="2"/>
              <a:buChar char="ü"/>
              <a:defRPr/>
            </a:pPr>
            <a:r>
              <a:rPr lang="en-US" sz="2400" dirty="0">
                <a:solidFill>
                  <a:srgbClr val="212121"/>
                </a:solidFill>
                <a:latin typeface="Trebuchet MS" panose="020B0603020202020204" pitchFamily="34" charset="0"/>
              </a:rPr>
              <a:t>It takes a long time to check them. This means if a solution for an NP-hard problem is given then it takes a long time to check whether it is right or not.</a:t>
            </a:r>
          </a:p>
          <a:p>
            <a:pPr marL="800100" lvl="1" indent="-342900" algn="just">
              <a:lnSpc>
                <a:spcPct val="150000"/>
              </a:lnSpc>
              <a:buClr>
                <a:schemeClr val="tx1"/>
              </a:buClr>
              <a:buFont typeface="Wingdings" panose="05000000000000000000" pitchFamily="2" charset="2"/>
              <a:buChar char="ü"/>
              <a:defRPr/>
            </a:pPr>
            <a:r>
              <a:rPr lang="en-US" sz="2400" dirty="0">
                <a:solidFill>
                  <a:srgbClr val="212121"/>
                </a:solidFill>
                <a:latin typeface="Trebuchet MS" panose="020B0603020202020204" pitchFamily="34" charset="0"/>
              </a:rPr>
              <a:t>A problem A is in NP-hard if, for every problem L in NP, there exists a polynomial-time reduction from L to A</a:t>
            </a:r>
            <a:r>
              <a:rPr lang="en-US" sz="2400" dirty="0" smtClean="0">
                <a:solidFill>
                  <a:srgbClr val="212121"/>
                </a:solidFill>
                <a:latin typeface="Trebuchet MS" panose="020B0603020202020204" pitchFamily="34" charset="0"/>
              </a:rPr>
              <a:t>.</a:t>
            </a:r>
            <a:endParaRPr lang="en-US" sz="2400" dirty="0">
              <a:solidFill>
                <a:srgbClr val="212121"/>
              </a:solidFill>
              <a:latin typeface="Trebuchet MS" panose="020B0603020202020204" pitchFamily="34" charset="0"/>
            </a:endParaRPr>
          </a:p>
        </p:txBody>
      </p:sp>
    </p:spTree>
    <p:extLst>
      <p:ext uri="{BB962C8B-B14F-4D97-AF65-F5344CB8AC3E}">
        <p14:creationId xmlns:p14="http://schemas.microsoft.com/office/powerpoint/2010/main" val="234480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9CD461DE-09BC-EA37-53FF-4AFBF409B9E2}"/>
              </a:ext>
            </a:extLst>
          </p:cNvPr>
          <p:cNvSpPr txBox="1"/>
          <p:nvPr/>
        </p:nvSpPr>
        <p:spPr>
          <a:xfrm>
            <a:off x="265471" y="198118"/>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Classification of NP Problems </a:t>
            </a:r>
            <a:endParaRPr lang="en-IN" sz="1600" dirty="0">
              <a:solidFill>
                <a:schemeClr val="bg1"/>
              </a:solidFill>
              <a:latin typeface="Trebuchet MS" panose="020B0603020202020204" pitchFamily="34" charset="0"/>
            </a:endParaRPr>
          </a:p>
        </p:txBody>
      </p:sp>
      <p:sp>
        <p:nvSpPr>
          <p:cNvPr id="9" name="TextBox 8">
            <a:extLst>
              <a:ext uri="{FF2B5EF4-FFF2-40B4-BE49-F238E27FC236}">
                <a16:creationId xmlns:a16="http://schemas.microsoft.com/office/drawing/2014/main" id="{958BC973-53C7-2ED8-3689-6177035E4782}"/>
              </a:ext>
            </a:extLst>
          </p:cNvPr>
          <p:cNvSpPr txBox="1"/>
          <p:nvPr/>
        </p:nvSpPr>
        <p:spPr>
          <a:xfrm>
            <a:off x="265470" y="974677"/>
            <a:ext cx="11546363" cy="4431983"/>
          </a:xfrm>
          <a:prstGeom prst="rect">
            <a:avLst/>
          </a:prstGeom>
          <a:noFill/>
        </p:spPr>
        <p:txBody>
          <a:bodyPr wrap="square">
            <a:spAutoFit/>
          </a:bodyPr>
          <a:lstStyle/>
          <a:p>
            <a:pPr lvl="0" algn="just">
              <a:lnSpc>
                <a:spcPct val="150000"/>
              </a:lnSpc>
              <a:spcBef>
                <a:spcPts val="1200"/>
              </a:spcBef>
              <a:spcAft>
                <a:spcPts val="1200"/>
              </a:spcAft>
              <a:buClr>
                <a:srgbClr val="B84742"/>
              </a:buClr>
              <a:defRPr/>
            </a:pPr>
            <a:r>
              <a:rPr lang="en-US" sz="2400" b="1" dirty="0">
                <a:solidFill>
                  <a:srgbClr val="0070C0"/>
                </a:solidFill>
                <a:latin typeface="Trebuchet MS" panose="020B0603020202020204" pitchFamily="34" charset="0"/>
              </a:rPr>
              <a:t>E</a:t>
            </a:r>
            <a:r>
              <a:rPr lang="en-US" sz="2400" b="1" dirty="0" smtClean="0">
                <a:solidFill>
                  <a:srgbClr val="0070C0"/>
                </a:solidFill>
                <a:latin typeface="Trebuchet MS" panose="020B0603020202020204" pitchFamily="34" charset="0"/>
              </a:rPr>
              <a:t>xamples </a:t>
            </a:r>
            <a:r>
              <a:rPr lang="en-US" sz="2400" b="1" dirty="0">
                <a:solidFill>
                  <a:srgbClr val="0070C0"/>
                </a:solidFill>
                <a:latin typeface="Trebuchet MS" panose="020B0603020202020204" pitchFamily="34" charset="0"/>
              </a:rPr>
              <a:t>of problems in </a:t>
            </a:r>
            <a:r>
              <a:rPr lang="en-US" sz="2400" b="1" dirty="0" smtClean="0">
                <a:solidFill>
                  <a:srgbClr val="0070C0"/>
                </a:solidFill>
                <a:latin typeface="Trebuchet MS" panose="020B0603020202020204" pitchFamily="34" charset="0"/>
              </a:rPr>
              <a:t>NP-Hard</a:t>
            </a:r>
            <a:endParaRPr lang="en-US" sz="2400" b="1" dirty="0">
              <a:solidFill>
                <a:srgbClr val="0070C0"/>
              </a:solidFill>
              <a:latin typeface="Trebuchet MS" panose="020B0603020202020204" pitchFamily="34" charset="0"/>
            </a:endParaRPr>
          </a:p>
          <a:p>
            <a:pPr marL="1257300" lvl="2" indent="-342900" algn="just">
              <a:lnSpc>
                <a:spcPct val="150000"/>
              </a:lnSpc>
              <a:buClr>
                <a:schemeClr val="tx1"/>
              </a:buClr>
              <a:buFont typeface="Wingdings" panose="05000000000000000000" pitchFamily="2" charset="2"/>
              <a:buChar char="ü"/>
              <a:defRPr/>
            </a:pPr>
            <a:r>
              <a:rPr lang="en-US" sz="2400" dirty="0" smtClean="0">
                <a:solidFill>
                  <a:srgbClr val="212121"/>
                </a:solidFill>
                <a:latin typeface="Trebuchet MS" panose="020B0603020202020204" pitchFamily="34" charset="0"/>
              </a:rPr>
              <a:t>Halting problem</a:t>
            </a:r>
          </a:p>
          <a:p>
            <a:pPr marL="1257300" lvl="2" indent="-342900" algn="just">
              <a:lnSpc>
                <a:spcPct val="150000"/>
              </a:lnSpc>
              <a:buClr>
                <a:schemeClr val="tx1"/>
              </a:buClr>
              <a:buFont typeface="Wingdings" panose="05000000000000000000" pitchFamily="2" charset="2"/>
              <a:buChar char="ü"/>
              <a:defRPr/>
            </a:pPr>
            <a:r>
              <a:rPr lang="en-US" sz="2400" dirty="0" smtClean="0">
                <a:solidFill>
                  <a:srgbClr val="212121"/>
                </a:solidFill>
                <a:latin typeface="Trebuchet MS" panose="020B0603020202020204" pitchFamily="34" charset="0"/>
              </a:rPr>
              <a:t>Qualified Boolean formulas</a:t>
            </a:r>
          </a:p>
          <a:p>
            <a:pPr marL="1257300" lvl="2" indent="-342900" algn="just">
              <a:lnSpc>
                <a:spcPct val="150000"/>
              </a:lnSpc>
              <a:buClr>
                <a:schemeClr val="tx1"/>
              </a:buClr>
              <a:buFont typeface="Wingdings" panose="05000000000000000000" pitchFamily="2" charset="2"/>
              <a:buChar char="ü"/>
              <a:defRPr/>
            </a:pPr>
            <a:r>
              <a:rPr lang="en-US" sz="2400" dirty="0" smtClean="0">
                <a:solidFill>
                  <a:srgbClr val="212121"/>
                </a:solidFill>
                <a:latin typeface="Trebuchet MS" panose="020B0603020202020204" pitchFamily="34" charset="0"/>
              </a:rPr>
              <a:t>No </a:t>
            </a:r>
            <a:r>
              <a:rPr lang="en-US" sz="2400" dirty="0">
                <a:solidFill>
                  <a:srgbClr val="212121"/>
                </a:solidFill>
                <a:latin typeface="Trebuchet MS" panose="020B0603020202020204" pitchFamily="34" charset="0"/>
              </a:rPr>
              <a:t>Hamiltonian </a:t>
            </a:r>
            <a:r>
              <a:rPr lang="en-US" sz="2400" dirty="0" smtClean="0">
                <a:solidFill>
                  <a:srgbClr val="212121"/>
                </a:solidFill>
                <a:latin typeface="Trebuchet MS" panose="020B0603020202020204" pitchFamily="34" charset="0"/>
              </a:rPr>
              <a:t>cycle</a:t>
            </a:r>
          </a:p>
          <a:p>
            <a:pPr lvl="0" algn="just">
              <a:lnSpc>
                <a:spcPct val="150000"/>
              </a:lnSpc>
              <a:spcBef>
                <a:spcPts val="1200"/>
              </a:spcBef>
              <a:spcAft>
                <a:spcPts val="1200"/>
              </a:spcAft>
              <a:buClr>
                <a:srgbClr val="B84742"/>
              </a:buClr>
              <a:defRPr/>
            </a:pPr>
            <a:r>
              <a:rPr lang="en-US" sz="2400" b="1" dirty="0">
                <a:solidFill>
                  <a:srgbClr val="AD1457"/>
                </a:solidFill>
                <a:latin typeface="Roboto Condensed"/>
              </a:rPr>
              <a:t>2. </a:t>
            </a:r>
            <a:r>
              <a:rPr lang="en-US" sz="2400" b="1" dirty="0">
                <a:solidFill>
                  <a:srgbClr val="AD1457"/>
                </a:solidFill>
                <a:latin typeface="Corbel" panose="020B0503020204020204" pitchFamily="34" charset="0"/>
              </a:rPr>
              <a:t>NP </a:t>
            </a:r>
            <a:r>
              <a:rPr lang="en-US" sz="2400" b="1" dirty="0" smtClean="0">
                <a:solidFill>
                  <a:srgbClr val="AD1457"/>
                </a:solidFill>
                <a:latin typeface="Corbel" panose="020B0503020204020204" pitchFamily="34" charset="0"/>
              </a:rPr>
              <a:t>Complete </a:t>
            </a:r>
            <a:endParaRPr lang="en-US" sz="2400" b="1" dirty="0">
              <a:solidFill>
                <a:srgbClr val="AD1457"/>
              </a:solidFill>
              <a:latin typeface="Corbel" panose="020B0503020204020204" pitchFamily="34" charset="0"/>
            </a:endParaRPr>
          </a:p>
          <a:p>
            <a:pPr fontAlgn="base">
              <a:lnSpc>
                <a:spcPct val="150000"/>
              </a:lnSpc>
            </a:pPr>
            <a:r>
              <a:rPr lang="en-US" sz="2400" dirty="0">
                <a:solidFill>
                  <a:srgbClr val="273239"/>
                </a:solidFill>
                <a:latin typeface="Trebuchet MS" panose="020B0603020202020204" pitchFamily="34" charset="0"/>
              </a:rPr>
              <a:t>A problem is NP-complete if it is both NP and NP-hard. NP-complete problems are the hard problems in NP</a:t>
            </a:r>
            <a:r>
              <a:rPr lang="en-US" sz="2400" dirty="0" smtClean="0">
                <a:solidFill>
                  <a:srgbClr val="273239"/>
                </a:solidFill>
                <a:latin typeface="Trebuchet MS" panose="020B0603020202020204" pitchFamily="34" charset="0"/>
              </a:rPr>
              <a:t>.</a:t>
            </a:r>
            <a:endParaRPr lang="en-US" sz="2400" dirty="0">
              <a:solidFill>
                <a:srgbClr val="273239"/>
              </a:solidFill>
              <a:latin typeface="Trebuchet MS" panose="020B0603020202020204" pitchFamily="34" charset="0"/>
            </a:endParaRPr>
          </a:p>
        </p:txBody>
      </p:sp>
    </p:spTree>
    <p:extLst>
      <p:ext uri="{BB962C8B-B14F-4D97-AF65-F5344CB8AC3E}">
        <p14:creationId xmlns:p14="http://schemas.microsoft.com/office/powerpoint/2010/main" val="3831144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2D46F040-C28B-D880-AD22-F33D457F69EE}"/>
              </a:ext>
            </a:extLst>
          </p:cNvPr>
          <p:cNvSpPr txBox="1"/>
          <p:nvPr/>
        </p:nvSpPr>
        <p:spPr>
          <a:xfrm>
            <a:off x="380166" y="151535"/>
            <a:ext cx="619432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Classification of NP Problems </a:t>
            </a:r>
            <a:endParaRPr kumimoji="0" lang="en-IN" sz="1600" b="0" i="0" u="none" strike="noStrike" kern="1200" cap="none" spc="0" normalizeH="0" baseline="0" noProof="0" dirty="0">
              <a:ln>
                <a:noFill/>
              </a:ln>
              <a:solidFill>
                <a:srgbClr val="FFFFFF"/>
              </a:solidFill>
              <a:effectLst/>
              <a:uLnTx/>
              <a:uFillTx/>
              <a:latin typeface="Corbel" panose="020B0503020204020204" pitchFamily="34" charset="0"/>
              <a:ea typeface="+mn-ea"/>
              <a:cs typeface="+mn-cs"/>
            </a:endParaRPr>
          </a:p>
        </p:txBody>
      </p:sp>
      <p:sp>
        <p:nvSpPr>
          <p:cNvPr id="3" name="Rectangle 2"/>
          <p:cNvSpPr/>
          <p:nvPr/>
        </p:nvSpPr>
        <p:spPr>
          <a:xfrm>
            <a:off x="380166" y="1045425"/>
            <a:ext cx="11431668" cy="5447645"/>
          </a:xfrm>
          <a:prstGeom prst="rect">
            <a:avLst/>
          </a:prstGeom>
        </p:spPr>
        <p:txBody>
          <a:bodyPr wrap="square">
            <a:spAutoFit/>
          </a:bodyPr>
          <a:lstStyle/>
          <a:p>
            <a:pPr fontAlgn="base">
              <a:lnSpc>
                <a:spcPct val="150000"/>
              </a:lnSpc>
            </a:pPr>
            <a:r>
              <a:rPr lang="en-US" sz="2400" b="1" dirty="0">
                <a:solidFill>
                  <a:srgbClr val="0070C0"/>
                </a:solidFill>
                <a:latin typeface="Trebuchet MS" panose="020B0603020202020204" pitchFamily="34" charset="0"/>
              </a:rPr>
              <a:t>Features:</a:t>
            </a:r>
            <a:endParaRPr lang="en-US" sz="2400" dirty="0">
              <a:solidFill>
                <a:srgbClr val="0070C0"/>
              </a:solidFill>
              <a:latin typeface="Trebuchet MS" panose="020B0603020202020204" pitchFamily="34" charset="0"/>
            </a:endParaRPr>
          </a:p>
          <a:p>
            <a:pPr marL="342900" indent="-342900" fontAlgn="base">
              <a:lnSpc>
                <a:spcPct val="150000"/>
              </a:lnSpc>
              <a:buFont typeface="Arial" panose="020B0604020202020204" pitchFamily="34" charset="0"/>
              <a:buChar char="•"/>
            </a:pPr>
            <a:r>
              <a:rPr lang="en-US" sz="2400" dirty="0">
                <a:solidFill>
                  <a:srgbClr val="273239"/>
                </a:solidFill>
                <a:latin typeface="Trebuchet MS" panose="020B0603020202020204" pitchFamily="34" charset="0"/>
              </a:rPr>
              <a:t>NP-complete problems are special as any problem in NP class can be transformed or reduced into NP-complete problems in polynomial time.</a:t>
            </a:r>
          </a:p>
          <a:p>
            <a:pPr marL="342900" indent="-342900" fontAlgn="base">
              <a:lnSpc>
                <a:spcPct val="150000"/>
              </a:lnSpc>
              <a:buFont typeface="Arial" panose="020B0604020202020204" pitchFamily="34" charset="0"/>
              <a:buChar char="•"/>
            </a:pPr>
            <a:r>
              <a:rPr lang="en-US" sz="2400" dirty="0">
                <a:solidFill>
                  <a:srgbClr val="273239"/>
                </a:solidFill>
                <a:latin typeface="Trebuchet MS" panose="020B0603020202020204" pitchFamily="34" charset="0"/>
              </a:rPr>
              <a:t>If one could solve an NP-complete problem in polynomial time, then one could also solve any NP problem in polynomial time.</a:t>
            </a:r>
          </a:p>
          <a:p>
            <a:pPr lvl="0" fontAlgn="base">
              <a:lnSpc>
                <a:spcPct val="150000"/>
              </a:lnSpc>
            </a:pPr>
            <a:r>
              <a:rPr lang="en-US" sz="2400" dirty="0">
                <a:solidFill>
                  <a:srgbClr val="0070C0"/>
                </a:solidFill>
                <a:latin typeface="Trebuchet MS" panose="020B0603020202020204" pitchFamily="34" charset="0"/>
              </a:rPr>
              <a:t>E</a:t>
            </a:r>
            <a:r>
              <a:rPr lang="en-US" sz="2400" dirty="0" smtClean="0">
                <a:solidFill>
                  <a:srgbClr val="0070C0"/>
                </a:solidFill>
                <a:latin typeface="Trebuchet MS" panose="020B0603020202020204" pitchFamily="34" charset="0"/>
              </a:rPr>
              <a:t>xample problems:</a:t>
            </a:r>
            <a:endParaRPr lang="en-US" sz="2400" dirty="0">
              <a:solidFill>
                <a:srgbClr val="0070C0"/>
              </a:solidFill>
              <a:latin typeface="Trebuchet MS" panose="020B0603020202020204" pitchFamily="34" charset="0"/>
            </a:endParaRPr>
          </a:p>
          <a:p>
            <a:pPr marL="800100" lvl="1" indent="-342900" fontAlgn="base">
              <a:lnSpc>
                <a:spcPct val="150000"/>
              </a:lnSpc>
              <a:buFont typeface="Wingdings" panose="05000000000000000000" pitchFamily="2" charset="2"/>
              <a:buChar char="ü"/>
            </a:pPr>
            <a:r>
              <a:rPr lang="en-US" sz="2400" dirty="0">
                <a:solidFill>
                  <a:srgbClr val="273239"/>
                </a:solidFill>
                <a:latin typeface="Trebuchet MS" panose="020B0603020202020204" pitchFamily="34" charset="0"/>
              </a:rPr>
              <a:t>Hamiltonian </a:t>
            </a:r>
            <a:r>
              <a:rPr lang="en-US" sz="2400" dirty="0" smtClean="0">
                <a:solidFill>
                  <a:srgbClr val="273239"/>
                </a:solidFill>
                <a:latin typeface="Trebuchet MS" panose="020B0603020202020204" pitchFamily="34" charset="0"/>
              </a:rPr>
              <a:t>Cycle</a:t>
            </a:r>
            <a:endParaRPr lang="en-US" sz="2400" dirty="0">
              <a:solidFill>
                <a:srgbClr val="273239"/>
              </a:solidFill>
              <a:latin typeface="Trebuchet MS" panose="020B0603020202020204" pitchFamily="34" charset="0"/>
            </a:endParaRPr>
          </a:p>
          <a:p>
            <a:pPr marL="800100" lvl="1" indent="-342900" fontAlgn="base">
              <a:lnSpc>
                <a:spcPct val="150000"/>
              </a:lnSpc>
              <a:buFont typeface="Wingdings" panose="05000000000000000000" pitchFamily="2" charset="2"/>
              <a:buChar char="ü"/>
            </a:pPr>
            <a:r>
              <a:rPr lang="en-US" sz="2400" dirty="0" smtClean="0">
                <a:solidFill>
                  <a:srgbClr val="273239"/>
                </a:solidFill>
                <a:latin typeface="Trebuchet MS" panose="020B0603020202020204" pitchFamily="34" charset="0"/>
              </a:rPr>
              <a:t>Satisfiability</a:t>
            </a:r>
            <a:endParaRPr lang="en-US" sz="2400" dirty="0">
              <a:solidFill>
                <a:srgbClr val="273239"/>
              </a:solidFill>
              <a:latin typeface="Trebuchet MS" panose="020B0603020202020204" pitchFamily="34" charset="0"/>
            </a:endParaRPr>
          </a:p>
          <a:p>
            <a:pPr marL="800100" lvl="1" indent="-342900" fontAlgn="base">
              <a:lnSpc>
                <a:spcPct val="150000"/>
              </a:lnSpc>
              <a:buFont typeface="Wingdings" panose="05000000000000000000" pitchFamily="2" charset="2"/>
              <a:buChar char="ü"/>
            </a:pPr>
            <a:r>
              <a:rPr lang="en-US" sz="2400" dirty="0">
                <a:solidFill>
                  <a:srgbClr val="273239"/>
                </a:solidFill>
                <a:latin typeface="Trebuchet MS" panose="020B0603020202020204" pitchFamily="34" charset="0"/>
              </a:rPr>
              <a:t>Vertex </a:t>
            </a:r>
            <a:r>
              <a:rPr lang="en-US" sz="2400" dirty="0" smtClean="0">
                <a:solidFill>
                  <a:srgbClr val="273239"/>
                </a:solidFill>
                <a:latin typeface="Trebuchet MS" panose="020B0603020202020204" pitchFamily="34" charset="0"/>
              </a:rPr>
              <a:t>cover</a:t>
            </a:r>
            <a:endParaRPr lang="en-US" sz="2400" dirty="0">
              <a:solidFill>
                <a:srgbClr val="212121"/>
              </a:solidFill>
              <a:latin typeface="Trebuchet MS" panose="020B0603020202020204" pitchFamily="34" charset="0"/>
            </a:endParaRPr>
          </a:p>
          <a:p>
            <a:pPr marL="1257300" lvl="2" indent="-342900" algn="just">
              <a:buClr>
                <a:srgbClr val="000000"/>
              </a:buClr>
              <a:buFont typeface="Wingdings" panose="05000000000000000000" pitchFamily="2" charset="2"/>
              <a:buChar char="ü"/>
              <a:defRPr/>
            </a:pPr>
            <a:endParaRPr lang="en-US" sz="2400" dirty="0">
              <a:solidFill>
                <a:srgbClr val="212121"/>
              </a:solidFill>
              <a:latin typeface="Trebuchet MS" panose="020B0603020202020204" pitchFamily="34" charset="0"/>
            </a:endParaRPr>
          </a:p>
        </p:txBody>
      </p:sp>
    </p:spTree>
    <p:extLst>
      <p:ext uri="{BB962C8B-B14F-4D97-AF65-F5344CB8AC3E}">
        <p14:creationId xmlns:p14="http://schemas.microsoft.com/office/powerpoint/2010/main" val="2332844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P, </a:t>
            </a:r>
            <a:r>
              <a:rPr kumimoji="0" lang="en-US" sz="3200" b="1" i="0" u="none" strike="noStrike" kern="1200" cap="none" spc="0" normalizeH="0" baseline="0" noProof="0" dirty="0" smtClean="0">
                <a:ln>
                  <a:noFill/>
                </a:ln>
                <a:solidFill>
                  <a:schemeClr val="bg1"/>
                </a:solidFill>
                <a:effectLst/>
                <a:uLnTx/>
                <a:uFillTx/>
                <a:latin typeface="Corbel" panose="020B0503020204020204" pitchFamily="34" charset="0"/>
                <a:ea typeface="+mj-ea"/>
                <a:cs typeface="+mj-cs"/>
              </a:rPr>
              <a:t>NP </a:t>
            </a:r>
            <a:r>
              <a:rPr lang="en-US" sz="3200" b="1" dirty="0" smtClean="0">
                <a:solidFill>
                  <a:schemeClr val="bg1"/>
                </a:solidFill>
                <a:latin typeface="Corbel" panose="020B0503020204020204" pitchFamily="34" charset="0"/>
                <a:ea typeface="+mj-ea"/>
                <a:cs typeface="+mj-cs"/>
              </a:rPr>
              <a:t>Hard and </a:t>
            </a:r>
            <a:r>
              <a:rPr lang="en-US" sz="3200" b="1" dirty="0">
                <a:solidFill>
                  <a:schemeClr val="bg1"/>
                </a:solidFill>
                <a:latin typeface="Corbel" panose="020B0503020204020204" pitchFamily="34" charset="0"/>
                <a:ea typeface="+mj-ea"/>
                <a:cs typeface="+mj-cs"/>
              </a:rPr>
              <a:t>NP Complete </a:t>
            </a:r>
            <a:endParaRPr lang="en-IN" sz="1600" dirty="0">
              <a:solidFill>
                <a:schemeClr val="bg1"/>
              </a:solidFill>
              <a:latin typeface="Corbel" panose="020B0503020204020204" pitchFamily="34" charset="0"/>
            </a:endParaRPr>
          </a:p>
        </p:txBody>
      </p:sp>
      <p:pic>
        <p:nvPicPr>
          <p:cNvPr id="5" name="Picture 4">
            <a:extLst>
              <a:ext uri="{FF2B5EF4-FFF2-40B4-BE49-F238E27FC236}">
                <a16:creationId xmlns:a16="http://schemas.microsoft.com/office/drawing/2014/main" id="{862F451F-1899-9BB1-BB81-546290D2EE18}"/>
              </a:ext>
            </a:extLst>
          </p:cNvPr>
          <p:cNvPicPr>
            <a:picLocks noChangeAspect="1"/>
          </p:cNvPicPr>
          <p:nvPr/>
        </p:nvPicPr>
        <p:blipFill>
          <a:blip r:embed="rId6">
            <a:grayscl/>
          </a:blip>
          <a:stretch>
            <a:fillRect/>
          </a:stretch>
        </p:blipFill>
        <p:spPr>
          <a:xfrm>
            <a:off x="781665" y="1297858"/>
            <a:ext cx="9822425" cy="5161936"/>
          </a:xfrm>
          <a:prstGeom prst="rect">
            <a:avLst/>
          </a:prstGeom>
        </p:spPr>
      </p:pic>
    </p:spTree>
    <p:extLst>
      <p:ext uri="{BB962C8B-B14F-4D97-AF65-F5344CB8AC3E}">
        <p14:creationId xmlns:p14="http://schemas.microsoft.com/office/powerpoint/2010/main" val="3029051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a:t>
            </a:r>
            <a:r>
              <a:rPr lang="en-US" sz="3200" b="1" dirty="0" smtClean="0">
                <a:solidFill>
                  <a:schemeClr val="bg1"/>
                </a:solidFill>
                <a:latin typeface="Corbel" panose="020B0503020204020204" pitchFamily="34" charset="0"/>
                <a:ea typeface="+mj-ea"/>
                <a:cs typeface="+mj-cs"/>
              </a:rPr>
              <a:t>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475135" y="1407591"/>
            <a:ext cx="11229029" cy="4524315"/>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Venn Diagram</a:t>
            </a:r>
            <a:endParaRPr lang="en-US" sz="2400" b="1" dirty="0">
              <a:solidFill>
                <a:srgbClr val="0070C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A Venn diagram is a </a:t>
            </a:r>
            <a:r>
              <a:rPr lang="en-US" sz="2400" dirty="0">
                <a:solidFill>
                  <a:srgbClr val="0070C0"/>
                </a:solidFill>
                <a:latin typeface="Trebuchet MS" panose="020B0603020202020204" pitchFamily="34" charset="0"/>
              </a:rPr>
              <a:t>graphical representation of mathematical </a:t>
            </a:r>
            <a:r>
              <a:rPr lang="en-US" sz="2400" dirty="0">
                <a:latin typeface="Trebuchet MS" panose="020B0603020202020204" pitchFamily="34" charset="0"/>
              </a:rPr>
              <a:t>or </a:t>
            </a:r>
            <a:r>
              <a:rPr lang="en-US" sz="2400" dirty="0">
                <a:solidFill>
                  <a:srgbClr val="0070C0"/>
                </a:solidFill>
                <a:latin typeface="Trebuchet MS" panose="020B0603020202020204" pitchFamily="34" charset="0"/>
              </a:rPr>
              <a:t>logical relationships</a:t>
            </a:r>
            <a:r>
              <a:rPr lang="en-US" sz="2400" dirty="0">
                <a:latin typeface="Trebuchet MS" panose="020B0603020202020204" pitchFamily="34" charset="0"/>
              </a:rPr>
              <a:t> between </a:t>
            </a:r>
            <a:r>
              <a:rPr lang="en-US" sz="2400" dirty="0">
                <a:solidFill>
                  <a:srgbClr val="0070C0"/>
                </a:solidFill>
                <a:latin typeface="Trebuchet MS" panose="020B0603020202020204" pitchFamily="34" charset="0"/>
              </a:rPr>
              <a:t>different sets</a:t>
            </a:r>
            <a:r>
              <a:rPr lang="en-US" sz="2400" dirty="0">
                <a:latin typeface="Trebuchet MS" panose="020B0603020202020204" pitchFamily="34" charset="0"/>
              </a:rPr>
              <a:t>. </a:t>
            </a:r>
            <a:endParaRPr lang="en-US" sz="2400" dirty="0" smtClean="0">
              <a:latin typeface="Trebuchet MS" panose="020B0603020202020204" pitchFamily="34" charset="0"/>
            </a:endParaRPr>
          </a:p>
          <a:p>
            <a:pPr>
              <a:lnSpc>
                <a:spcPct val="150000"/>
              </a:lnSpc>
            </a:pPr>
            <a:r>
              <a:rPr lang="en-US" sz="2400" b="1" dirty="0" smtClean="0">
                <a:solidFill>
                  <a:srgbClr val="0070C0"/>
                </a:solidFill>
                <a:latin typeface="Trebuchet MS" panose="020B0603020202020204" pitchFamily="34" charset="0"/>
              </a:rPr>
              <a:t>Use </a:t>
            </a:r>
            <a:r>
              <a:rPr lang="en-US" sz="2400" b="1" dirty="0">
                <a:solidFill>
                  <a:srgbClr val="0070C0"/>
                </a:solidFill>
                <a:latin typeface="Trebuchet MS" panose="020B0603020202020204" pitchFamily="34" charset="0"/>
              </a:rPr>
              <a:t>of Venn </a:t>
            </a:r>
            <a:r>
              <a:rPr lang="en-US" sz="2400" b="1" dirty="0" smtClean="0">
                <a:solidFill>
                  <a:srgbClr val="0070C0"/>
                </a:solidFill>
                <a:latin typeface="Trebuchet MS" panose="020B0603020202020204" pitchFamily="34" charset="0"/>
              </a:rPr>
              <a:t>Diagram</a:t>
            </a:r>
          </a:p>
          <a:p>
            <a:pPr marL="342900" indent="-342900">
              <a:lnSpc>
                <a:spcPct val="150000"/>
              </a:lnSpc>
              <a:buFont typeface="Arial" panose="020B0604020202020204" pitchFamily="34" charset="0"/>
              <a:buChar char="•"/>
            </a:pPr>
            <a:r>
              <a:rPr lang="en-US" sz="2400" dirty="0">
                <a:latin typeface="Trebuchet MS" panose="020B0603020202020204" pitchFamily="34" charset="0"/>
              </a:rPr>
              <a:t>Venn diagram is used in mathematics to understand the set theory.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We </a:t>
            </a:r>
            <a:r>
              <a:rPr lang="en-US" sz="2400" dirty="0">
                <a:latin typeface="Trebuchet MS" panose="020B0603020202020204" pitchFamily="34" charset="0"/>
              </a:rPr>
              <a:t>also use it to understand the relationship between or among sets of objects. It depicts the set of </a:t>
            </a:r>
            <a:r>
              <a:rPr lang="en-US" sz="2400" dirty="0">
                <a:solidFill>
                  <a:srgbClr val="FF0000"/>
                </a:solidFill>
                <a:latin typeface="Trebuchet MS" panose="020B0603020202020204" pitchFamily="34" charset="0"/>
              </a:rPr>
              <a:t>intersections</a:t>
            </a:r>
            <a:r>
              <a:rPr lang="en-US" sz="2400" dirty="0">
                <a:latin typeface="Trebuchet MS" panose="020B0603020202020204" pitchFamily="34" charset="0"/>
              </a:rPr>
              <a:t> and </a:t>
            </a:r>
            <a:r>
              <a:rPr lang="en-US" sz="2400" dirty="0" smtClean="0">
                <a:solidFill>
                  <a:srgbClr val="FF0000"/>
                </a:solidFill>
                <a:latin typeface="Trebuchet MS" panose="020B0603020202020204" pitchFamily="34" charset="0"/>
              </a:rPr>
              <a:t>unions.</a:t>
            </a:r>
            <a:endParaRPr lang="en-US" sz="2400" dirty="0">
              <a:solidFill>
                <a:srgbClr val="FF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Venn </a:t>
            </a:r>
            <a:r>
              <a:rPr lang="en-US" sz="2400" dirty="0">
                <a:latin typeface="Trebuchet MS" panose="020B0603020202020204" pitchFamily="34" charset="0"/>
              </a:rPr>
              <a:t>Diagrams are used to </a:t>
            </a:r>
            <a:r>
              <a:rPr lang="en-US" sz="2400" dirty="0">
                <a:solidFill>
                  <a:srgbClr val="0070C0"/>
                </a:solidFill>
                <a:latin typeface="Trebuchet MS" panose="020B0603020202020204" pitchFamily="34" charset="0"/>
              </a:rPr>
              <a:t>represent the groups of data </a:t>
            </a:r>
            <a:r>
              <a:rPr lang="en-US" sz="2400" dirty="0">
                <a:latin typeface="Trebuchet MS" panose="020B0603020202020204" pitchFamily="34" charset="0"/>
              </a:rPr>
              <a:t>in </a:t>
            </a:r>
            <a:r>
              <a:rPr lang="en-US" sz="2400" dirty="0" smtClean="0">
                <a:latin typeface="Trebuchet MS" panose="020B0603020202020204" pitchFamily="34" charset="0"/>
              </a:rPr>
              <a:t>circles. </a:t>
            </a:r>
            <a:endParaRPr lang="en-US" sz="2400" dirty="0">
              <a:latin typeface="Trebuchet MS" panose="020B0603020202020204" pitchFamily="34" charset="0"/>
            </a:endParaRPr>
          </a:p>
        </p:txBody>
      </p:sp>
    </p:spTree>
    <p:extLst>
      <p:ext uri="{BB962C8B-B14F-4D97-AF65-F5344CB8AC3E}">
        <p14:creationId xmlns:p14="http://schemas.microsoft.com/office/powerpoint/2010/main" val="3971389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a:t>
            </a:r>
            <a:r>
              <a:rPr lang="en-US" sz="3200" b="1" dirty="0" smtClean="0">
                <a:solidFill>
                  <a:schemeClr val="bg1"/>
                </a:solidFill>
                <a:latin typeface="Corbel" panose="020B0503020204020204" pitchFamily="34" charset="0"/>
                <a:ea typeface="+mj-ea"/>
                <a:cs typeface="+mj-cs"/>
              </a:rPr>
              <a:t>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94345" y="1081007"/>
            <a:ext cx="11229029" cy="5632311"/>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Advantages of Venn Diagram</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It is used for both comparison and </a:t>
            </a:r>
            <a:r>
              <a:rPr lang="en-US" sz="2400" dirty="0" smtClean="0">
                <a:latin typeface="Trebuchet MS" panose="020B0603020202020204" pitchFamily="34" charset="0"/>
              </a:rPr>
              <a:t>classification</a:t>
            </a:r>
            <a:endParaRPr lang="en-US" sz="2400" dirty="0">
              <a:latin typeface="Trebuchet MS" panose="020B0603020202020204" pitchFamily="34" charset="0"/>
            </a:endParaRP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It groups the information into different </a:t>
            </a:r>
            <a:r>
              <a:rPr lang="en-US" sz="2400" dirty="0" smtClean="0">
                <a:latin typeface="Trebuchet MS" panose="020B0603020202020204" pitchFamily="34" charset="0"/>
              </a:rPr>
              <a:t>parts</a:t>
            </a:r>
            <a:endParaRPr lang="en-US" sz="2400" dirty="0">
              <a:latin typeface="Trebuchet MS" panose="020B0603020202020204" pitchFamily="34" charset="0"/>
            </a:endParaRP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It also highlights the similarities and </a:t>
            </a:r>
            <a:r>
              <a:rPr lang="en-US" sz="2400" dirty="0" smtClean="0">
                <a:latin typeface="Trebuchet MS" panose="020B0603020202020204" pitchFamily="34" charset="0"/>
              </a:rPr>
              <a:t>differences</a:t>
            </a:r>
          </a:p>
          <a:p>
            <a:pPr marL="0" lvl="1">
              <a:lnSpc>
                <a:spcPct val="150000"/>
              </a:lnSpc>
            </a:pPr>
            <a:r>
              <a:rPr lang="en-US" sz="2400" b="1" dirty="0">
                <a:solidFill>
                  <a:srgbClr val="0070C0"/>
                </a:solidFill>
                <a:latin typeface="Trebuchet MS" panose="020B0603020202020204" pitchFamily="34" charset="0"/>
              </a:rPr>
              <a:t>Example </a:t>
            </a:r>
            <a:endParaRPr lang="en-US" sz="2400" b="1" dirty="0" smtClean="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a:p>
            <a:pPr marL="0" lvl="1">
              <a:lnSpc>
                <a:spcPct val="150000"/>
              </a:lnSpc>
            </a:pPr>
            <a:endParaRPr lang="en-US" sz="2400" b="1" dirty="0" smtClean="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a:p>
            <a:pPr marL="0" lvl="1">
              <a:lnSpc>
                <a:spcPct val="150000"/>
              </a:lnSpc>
            </a:pPr>
            <a:endParaRPr lang="en-US" sz="2400" b="1" dirty="0" smtClean="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p:txBody>
      </p:sp>
      <p:pic>
        <p:nvPicPr>
          <p:cNvPr id="3" name="Picture 2"/>
          <p:cNvPicPr>
            <a:picLocks noChangeAspect="1"/>
          </p:cNvPicPr>
          <p:nvPr/>
        </p:nvPicPr>
        <p:blipFill>
          <a:blip r:embed="rId6">
            <a:extLst>
              <a:ext uri="{BEBA8EAE-BF5A-486C-A8C5-ECC9F3942E4B}">
                <a14:imgProps xmlns:a14="http://schemas.microsoft.com/office/drawing/2010/main">
                  <a14:imgLayer r:embed="rId7">
                    <a14:imgEffect>
                      <a14:saturation sat="33000"/>
                    </a14:imgEffect>
                  </a14:imgLayer>
                </a14:imgProps>
              </a:ext>
            </a:extLst>
          </a:blip>
          <a:stretch>
            <a:fillRect/>
          </a:stretch>
        </p:blipFill>
        <p:spPr>
          <a:xfrm>
            <a:off x="1165123" y="3956533"/>
            <a:ext cx="3339794" cy="2253955"/>
          </a:xfrm>
          <a:prstGeom prst="rect">
            <a:avLst/>
          </a:prstGeom>
        </p:spPr>
      </p:pic>
    </p:spTree>
    <p:extLst>
      <p:ext uri="{BB962C8B-B14F-4D97-AF65-F5344CB8AC3E}">
        <p14:creationId xmlns:p14="http://schemas.microsoft.com/office/powerpoint/2010/main" val="1068383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a:t>
            </a:r>
            <a:r>
              <a:rPr lang="en-US" sz="3200" b="1" dirty="0" smtClean="0">
                <a:solidFill>
                  <a:schemeClr val="bg1"/>
                </a:solidFill>
                <a:latin typeface="Corbel" panose="020B0503020204020204" pitchFamily="34" charset="0"/>
                <a:ea typeface="+mj-ea"/>
                <a:cs typeface="+mj-cs"/>
              </a:rPr>
              <a:t>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21225" y="885202"/>
            <a:ext cx="7051029" cy="6740307"/>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Venn Diagram Example</a:t>
            </a:r>
          </a:p>
          <a:p>
            <a:pPr marL="342900" indent="-342900">
              <a:lnSpc>
                <a:spcPct val="150000"/>
              </a:lnSpc>
              <a:buFont typeface="Arial" panose="020B0604020202020204" pitchFamily="34" charset="0"/>
              <a:buChar char="•"/>
            </a:pPr>
            <a:r>
              <a:rPr lang="en-US" sz="2400" dirty="0">
                <a:latin typeface="Trebuchet MS" panose="020B0603020202020204" pitchFamily="34" charset="0"/>
              </a:rPr>
              <a:t>Let us observe a Venn diagram example. Here is the Venn diagram that shows the correlation between the following set of numbers.</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One </a:t>
            </a:r>
            <a:r>
              <a:rPr lang="en-US" sz="2400" dirty="0">
                <a:latin typeface="Trebuchet MS" panose="020B0603020202020204" pitchFamily="34" charset="0"/>
              </a:rPr>
              <a:t>set contains even numbers from 1 to 25 and the other set contains the numbers in the 5x table from 1 to 25.</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The intersecting part shows that 10 and 20 are both even numbers and also multiples of 5 between 1 to 25.</a:t>
            </a:r>
          </a:p>
          <a:p>
            <a:pPr marL="0" lvl="1">
              <a:lnSpc>
                <a:spcPct val="150000"/>
              </a:lnSpc>
            </a:pPr>
            <a:endParaRPr lang="en-US" sz="2400" b="1" dirty="0" smtClean="0">
              <a:solidFill>
                <a:srgbClr val="0070C0"/>
              </a:solidFill>
              <a:latin typeface="Trebuchet MS" panose="020B0603020202020204" pitchFamily="34" charset="0"/>
            </a:endParaRPr>
          </a:p>
          <a:p>
            <a:pPr marL="0" lvl="1">
              <a:lnSpc>
                <a:spcPct val="150000"/>
              </a:lnSpc>
            </a:pPr>
            <a:endParaRPr lang="en-US" sz="2400" b="1" dirty="0">
              <a:solidFill>
                <a:srgbClr val="0070C0"/>
              </a:solidFill>
              <a:latin typeface="Trebuchet MS" panose="020B0603020202020204" pitchFamily="34" charset="0"/>
            </a:endParaRPr>
          </a:p>
        </p:txBody>
      </p:sp>
      <p:pic>
        <p:nvPicPr>
          <p:cNvPr id="5" name="Picture 4"/>
          <p:cNvPicPr>
            <a:picLocks noChangeAspect="1"/>
          </p:cNvPicPr>
          <p:nvPr/>
        </p:nvPicPr>
        <p:blipFill rotWithShape="1">
          <a:blip r:embed="rId6"/>
          <a:srcRect l="4469" r="4665"/>
          <a:stretch/>
        </p:blipFill>
        <p:spPr>
          <a:xfrm>
            <a:off x="7064477" y="1592826"/>
            <a:ext cx="4906233" cy="4350774"/>
          </a:xfrm>
          <a:prstGeom prst="rect">
            <a:avLst/>
          </a:prstGeom>
        </p:spPr>
      </p:pic>
    </p:spTree>
    <p:extLst>
      <p:ext uri="{BB962C8B-B14F-4D97-AF65-F5344CB8AC3E}">
        <p14:creationId xmlns:p14="http://schemas.microsoft.com/office/powerpoint/2010/main" val="2477068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a:t>
            </a:r>
            <a:r>
              <a:rPr lang="en-US" sz="3200" b="1" dirty="0" smtClean="0">
                <a:solidFill>
                  <a:schemeClr val="bg1"/>
                </a:solidFill>
                <a:latin typeface="Corbel" panose="020B0503020204020204" pitchFamily="34" charset="0"/>
                <a:ea typeface="+mj-ea"/>
                <a:cs typeface="+mj-cs"/>
              </a:rPr>
              <a:t>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27165" y="1066184"/>
            <a:ext cx="11296209" cy="5078313"/>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Terms </a:t>
            </a:r>
            <a:r>
              <a:rPr lang="en-US" sz="2400" b="1" dirty="0" smtClean="0">
                <a:solidFill>
                  <a:srgbClr val="0070C0"/>
                </a:solidFill>
                <a:latin typeface="Trebuchet MS" panose="020B0603020202020204" pitchFamily="34" charset="0"/>
              </a:rPr>
              <a:t>for represents the Venn </a:t>
            </a:r>
            <a:r>
              <a:rPr lang="en-US" sz="2400" b="1" dirty="0">
                <a:solidFill>
                  <a:srgbClr val="0070C0"/>
                </a:solidFill>
                <a:latin typeface="Trebuchet MS" panose="020B0603020202020204" pitchFamily="34" charset="0"/>
              </a:rPr>
              <a:t>Diagram</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Let </a:t>
            </a:r>
            <a:r>
              <a:rPr lang="en-US" sz="2400" dirty="0">
                <a:latin typeface="Trebuchet MS" panose="020B0603020202020204" pitchFamily="34" charset="0"/>
              </a:rPr>
              <a:t>us understand the following terms and concepts related to Venn Diagram, to understand it better.</a:t>
            </a:r>
          </a:p>
          <a:p>
            <a:pPr>
              <a:lnSpc>
                <a:spcPct val="150000"/>
              </a:lnSpc>
            </a:pPr>
            <a:r>
              <a:rPr lang="en-US" sz="2400" b="1" dirty="0" smtClean="0">
                <a:solidFill>
                  <a:srgbClr val="0070C0"/>
                </a:solidFill>
                <a:latin typeface="Trebuchet MS" panose="020B0603020202020204" pitchFamily="34" charset="0"/>
              </a:rPr>
              <a:t>Universal </a:t>
            </a:r>
            <a:r>
              <a:rPr lang="en-US" sz="2400" b="1" dirty="0">
                <a:solidFill>
                  <a:srgbClr val="0070C0"/>
                </a:solidFill>
                <a:latin typeface="Trebuchet MS" panose="020B0603020202020204" pitchFamily="34" charset="0"/>
              </a:rPr>
              <a:t>Set</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Whenever </a:t>
            </a:r>
            <a:r>
              <a:rPr lang="en-US" sz="2400" dirty="0">
                <a:latin typeface="Trebuchet MS" panose="020B0603020202020204" pitchFamily="34" charset="0"/>
              </a:rPr>
              <a:t>we use a set, it is easier to first consider a </a:t>
            </a:r>
            <a:r>
              <a:rPr lang="en-US" sz="2400" b="1" dirty="0">
                <a:solidFill>
                  <a:srgbClr val="0070C0"/>
                </a:solidFill>
                <a:latin typeface="Trebuchet MS" panose="020B0603020202020204" pitchFamily="34" charset="0"/>
              </a:rPr>
              <a:t>larger set called a universal set </a:t>
            </a:r>
            <a:r>
              <a:rPr lang="en-US" sz="2400" dirty="0">
                <a:latin typeface="Trebuchet MS" panose="020B0603020202020204" pitchFamily="34" charset="0"/>
              </a:rPr>
              <a:t>that contains all of the elements in all of the sets that are being considered. </a:t>
            </a:r>
            <a:r>
              <a:rPr lang="en-US" sz="2400" dirty="0" smtClean="0">
                <a:latin typeface="Trebuchet MS" panose="020B0603020202020204" pitchFamily="34" charset="0"/>
              </a:rPr>
              <a:t>Follow the below, </a:t>
            </a:r>
          </a:p>
          <a:p>
            <a:pPr marL="1257300" lvl="2" indent="-342900">
              <a:lnSpc>
                <a:spcPct val="150000"/>
              </a:lnSpc>
              <a:buFont typeface="Wingdings" panose="05000000000000000000" pitchFamily="2" charset="2"/>
              <a:buChar char="ü"/>
            </a:pPr>
            <a:r>
              <a:rPr lang="en-US" sz="2400" dirty="0" smtClean="0">
                <a:latin typeface="Trebuchet MS" panose="020B0603020202020204" pitchFamily="34" charset="0"/>
              </a:rPr>
              <a:t>A </a:t>
            </a:r>
            <a:r>
              <a:rPr lang="en-US" sz="2400" dirty="0">
                <a:latin typeface="Trebuchet MS" panose="020B0603020202020204" pitchFamily="34" charset="0"/>
              </a:rPr>
              <a:t>large rectangle is used to represent the universal set and it is usually denoted by the symbol E or sometimes U</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2904028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a:t>
            </a:r>
            <a:r>
              <a:rPr lang="en-US" sz="3200" b="1" dirty="0" smtClean="0">
                <a:solidFill>
                  <a:schemeClr val="bg1"/>
                </a:solidFill>
                <a:latin typeface="Corbel" panose="020B0503020204020204" pitchFamily="34" charset="0"/>
                <a:ea typeface="+mj-ea"/>
                <a:cs typeface="+mj-cs"/>
              </a:rPr>
              <a:t>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27165" y="1066184"/>
            <a:ext cx="11296209" cy="2794483"/>
          </a:xfrm>
          <a:prstGeom prst="rect">
            <a:avLst/>
          </a:prstGeom>
        </p:spPr>
        <p:txBody>
          <a:bodyPr wrap="square">
            <a:spAutoFit/>
          </a:bodyPr>
          <a:lstStyle/>
          <a:p>
            <a:pPr marL="1257300" lvl="2" indent="-342900">
              <a:lnSpc>
                <a:spcPct val="150000"/>
              </a:lnSpc>
              <a:buFont typeface="Wingdings" panose="05000000000000000000" pitchFamily="2" charset="2"/>
              <a:buChar char="ü"/>
            </a:pPr>
            <a:r>
              <a:rPr lang="en-US" sz="2400" dirty="0" smtClean="0">
                <a:latin typeface="Trebuchet MS" panose="020B0603020202020204" pitchFamily="34" charset="0"/>
              </a:rPr>
              <a:t>All the other sets are represented by circles or closed figures within this larger rectangle.</a:t>
            </a:r>
          </a:p>
          <a:p>
            <a:pPr marL="1257300" lvl="2" indent="-342900">
              <a:lnSpc>
                <a:spcPct val="150000"/>
              </a:lnSpc>
              <a:buFont typeface="Wingdings" panose="05000000000000000000" pitchFamily="2" charset="2"/>
              <a:buChar char="ü"/>
            </a:pPr>
            <a:r>
              <a:rPr lang="en-US" sz="2400" dirty="0" smtClean="0">
                <a:latin typeface="Trebuchet MS" panose="020B0603020202020204" pitchFamily="34" charset="0"/>
              </a:rPr>
              <a:t>Every set is the subset of the universal set U.</a:t>
            </a:r>
          </a:p>
          <a:p>
            <a:pPr>
              <a:lnSpc>
                <a:spcPct val="150000"/>
              </a:lnSpc>
            </a:pPr>
            <a:endParaRPr lang="en-US" sz="2400" b="1" dirty="0" smtClean="0">
              <a:latin typeface="Trebuchet MS" panose="020B0603020202020204" pitchFamily="34" charset="0"/>
            </a:endParaRPr>
          </a:p>
          <a:p>
            <a:pPr>
              <a:lnSpc>
                <a:spcPct val="150000"/>
              </a:lnSpc>
            </a:pPr>
            <a:endParaRPr lang="en-US" sz="2400" b="1" dirty="0">
              <a:latin typeface="Trebuchet MS" panose="020B0603020202020204" pitchFamily="34" charset="0"/>
            </a:endParaRPr>
          </a:p>
        </p:txBody>
      </p:sp>
      <p:pic>
        <p:nvPicPr>
          <p:cNvPr id="3" name="Picture 2"/>
          <p:cNvPicPr>
            <a:picLocks noChangeAspect="1"/>
          </p:cNvPicPr>
          <p:nvPr/>
        </p:nvPicPr>
        <p:blipFill>
          <a:blip r:embed="rId6">
            <a:grayscl/>
          </a:blip>
          <a:stretch>
            <a:fillRect/>
          </a:stretch>
        </p:blipFill>
        <p:spPr>
          <a:xfrm>
            <a:off x="2197509" y="3170102"/>
            <a:ext cx="4483509" cy="2683733"/>
          </a:xfrm>
          <a:prstGeom prst="rect">
            <a:avLst/>
          </a:prstGeom>
        </p:spPr>
      </p:pic>
    </p:spTree>
    <p:extLst>
      <p:ext uri="{BB962C8B-B14F-4D97-AF65-F5344CB8AC3E}">
        <p14:creationId xmlns:p14="http://schemas.microsoft.com/office/powerpoint/2010/main" val="3318554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a:t>
            </a:r>
            <a:r>
              <a:rPr lang="en-US" sz="3200" b="1" dirty="0" smtClean="0">
                <a:solidFill>
                  <a:schemeClr val="bg1"/>
                </a:solidFill>
                <a:latin typeface="Corbel" panose="020B0503020204020204" pitchFamily="34" charset="0"/>
                <a:ea typeface="+mj-ea"/>
                <a:cs typeface="+mj-cs"/>
              </a:rPr>
              <a:t>Diagram Representation </a:t>
            </a:r>
            <a:endParaRPr lang="en-IN" sz="1600" dirty="0">
              <a:solidFill>
                <a:schemeClr val="bg1"/>
              </a:solidFill>
              <a:latin typeface="Corbel" panose="020B0503020204020204" pitchFamily="34" charset="0"/>
            </a:endParaRPr>
          </a:p>
        </p:txBody>
      </p:sp>
      <p:sp>
        <p:nvSpPr>
          <p:cNvPr id="6" name="Rectangle 5"/>
          <p:cNvSpPr/>
          <p:nvPr/>
        </p:nvSpPr>
        <p:spPr>
          <a:xfrm>
            <a:off x="227165" y="933082"/>
            <a:ext cx="11584669" cy="5632311"/>
          </a:xfrm>
          <a:prstGeom prst="rect">
            <a:avLst/>
          </a:prstGeom>
        </p:spPr>
        <p:txBody>
          <a:bodyPr wrap="square">
            <a:spAutoFit/>
          </a:bodyPr>
          <a:lstStyle/>
          <a:p>
            <a:pPr marL="88900" lvl="2">
              <a:lnSpc>
                <a:spcPct val="150000"/>
              </a:lnSpc>
            </a:pPr>
            <a:r>
              <a:rPr lang="en-US" sz="2400" dirty="0">
                <a:solidFill>
                  <a:srgbClr val="0070C0"/>
                </a:solidFill>
                <a:latin typeface="Trebuchet MS" panose="020B0603020202020204" pitchFamily="34" charset="0"/>
              </a:rPr>
              <a:t>Subset</a:t>
            </a:r>
          </a:p>
          <a:p>
            <a:pPr marL="431800" lvl="2" indent="-342900">
              <a:lnSpc>
                <a:spcPct val="150000"/>
              </a:lnSpc>
              <a:buFont typeface="Arial" panose="020B0604020202020204" pitchFamily="34" charset="0"/>
              <a:buChar char="•"/>
            </a:pPr>
            <a:r>
              <a:rPr lang="en-US" sz="2400" dirty="0" smtClean="0">
                <a:latin typeface="Trebuchet MS" panose="020B0603020202020204" pitchFamily="34" charset="0"/>
              </a:rPr>
              <a:t>Venn </a:t>
            </a:r>
            <a:r>
              <a:rPr lang="en-US" sz="2400" dirty="0">
                <a:latin typeface="Trebuchet MS" panose="020B0603020202020204" pitchFamily="34" charset="0"/>
              </a:rPr>
              <a:t>diagrams are used to show subsets. A subset is actually a set that is contained within another set. </a:t>
            </a:r>
            <a:endParaRPr lang="en-US" sz="2400" dirty="0" smtClean="0">
              <a:latin typeface="Trebuchet MS" panose="020B0603020202020204" pitchFamily="34" charset="0"/>
            </a:endParaRPr>
          </a:p>
          <a:p>
            <a:pPr marL="431800" lvl="2" indent="-342900">
              <a:lnSpc>
                <a:spcPct val="150000"/>
              </a:lnSpc>
              <a:buFont typeface="Arial" panose="020B0604020202020204" pitchFamily="34" charset="0"/>
              <a:buChar char="•"/>
            </a:pPr>
            <a:r>
              <a:rPr lang="en-US" sz="2400" dirty="0" smtClean="0">
                <a:latin typeface="Trebuchet MS" panose="020B0603020202020204" pitchFamily="34" charset="0"/>
              </a:rPr>
              <a:t>Let </a:t>
            </a:r>
            <a:r>
              <a:rPr lang="en-US" sz="2400" dirty="0">
                <a:latin typeface="Trebuchet MS" panose="020B0603020202020204" pitchFamily="34" charset="0"/>
              </a:rPr>
              <a:t>us consider the examples of two sets A and B in the below-given figure. Here, A is a subset of B. Circle A is contained entirely within circle B. Also, all the elements of A are elements of set B</a:t>
            </a:r>
            <a:r>
              <a:rPr lang="en-US" sz="2400" dirty="0" smtClean="0">
                <a:latin typeface="Trebuchet MS" panose="020B0603020202020204" pitchFamily="34" charset="0"/>
              </a:rPr>
              <a:t>.</a:t>
            </a:r>
          </a:p>
          <a:p>
            <a:pPr marL="431800" lvl="2" indent="-342900">
              <a:lnSpc>
                <a:spcPct val="150000"/>
              </a:lnSpc>
              <a:buFont typeface="Arial" panose="020B0604020202020204" pitchFamily="34" charset="0"/>
              <a:buChar char="•"/>
            </a:pPr>
            <a:endParaRPr lang="en-US" sz="2400" b="1" dirty="0">
              <a:latin typeface="Trebuchet MS" panose="020B0603020202020204" pitchFamily="34" charset="0"/>
            </a:endParaRPr>
          </a:p>
          <a:p>
            <a:pPr marL="431800" lvl="2" indent="-342900">
              <a:lnSpc>
                <a:spcPct val="150000"/>
              </a:lnSpc>
              <a:buFont typeface="Arial" panose="020B0604020202020204" pitchFamily="34" charset="0"/>
              <a:buChar char="•"/>
            </a:pPr>
            <a:endParaRPr lang="en-US" sz="2400" b="1" dirty="0" smtClean="0">
              <a:latin typeface="Trebuchet MS" panose="020B0603020202020204" pitchFamily="34" charset="0"/>
            </a:endParaRPr>
          </a:p>
          <a:p>
            <a:pPr marL="431800" lvl="2" indent="-342900">
              <a:lnSpc>
                <a:spcPct val="150000"/>
              </a:lnSpc>
              <a:buFont typeface="Arial" panose="020B0604020202020204" pitchFamily="34" charset="0"/>
              <a:buChar char="•"/>
            </a:pPr>
            <a:endParaRPr lang="en-US" sz="2400" b="1" dirty="0" smtClean="0">
              <a:latin typeface="Trebuchet MS" panose="020B0603020202020204" pitchFamily="34" charset="0"/>
            </a:endParaRPr>
          </a:p>
          <a:p>
            <a:pPr>
              <a:lnSpc>
                <a:spcPct val="150000"/>
              </a:lnSpc>
            </a:pPr>
            <a:endParaRPr lang="en-US" sz="2400" b="1" dirty="0">
              <a:latin typeface="Trebuchet MS" panose="020B0603020202020204" pitchFamily="34" charset="0"/>
            </a:endParaRPr>
          </a:p>
        </p:txBody>
      </p:sp>
      <p:pic>
        <p:nvPicPr>
          <p:cNvPr id="5" name="Picture 4"/>
          <p:cNvPicPr>
            <a:picLocks noChangeAspect="1"/>
          </p:cNvPicPr>
          <p:nvPr/>
        </p:nvPicPr>
        <p:blipFill rotWithShape="1">
          <a:blip r:embed="rId6">
            <a:grayscl/>
          </a:blip>
          <a:srcRect t="3413" r="9232"/>
          <a:stretch/>
        </p:blipFill>
        <p:spPr>
          <a:xfrm>
            <a:off x="2713703" y="4173793"/>
            <a:ext cx="3628103" cy="2503907"/>
          </a:xfrm>
          <a:prstGeom prst="rect">
            <a:avLst/>
          </a:prstGeom>
        </p:spPr>
      </p:pic>
    </p:spTree>
    <p:extLst>
      <p:ext uri="{BB962C8B-B14F-4D97-AF65-F5344CB8AC3E}">
        <p14:creationId xmlns:p14="http://schemas.microsoft.com/office/powerpoint/2010/main" val="2018251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F9BEAA9B-A97E-2A43-5E64-7518350CFDB0}"/>
              </a:ext>
            </a:extLst>
          </p:cNvPr>
          <p:cNvSpPr txBox="1"/>
          <p:nvPr/>
        </p:nvSpPr>
        <p:spPr>
          <a:xfrm>
            <a:off x="221225" y="156523"/>
            <a:ext cx="6194322" cy="584775"/>
          </a:xfrm>
          <a:prstGeom prst="rect">
            <a:avLst/>
          </a:prstGeom>
          <a:noFill/>
        </p:spPr>
        <p:txBody>
          <a:bodyPr wrap="square">
            <a:spAutoFit/>
          </a:bodyPr>
          <a:lstStyle/>
          <a:p>
            <a:r>
              <a:rPr lang="en-US" sz="3200" b="1" dirty="0">
                <a:solidFill>
                  <a:schemeClr val="bg1"/>
                </a:solidFill>
                <a:latin typeface="Corbel" panose="020B0503020204020204" pitchFamily="34" charset="0"/>
                <a:ea typeface="+mj-ea"/>
                <a:cs typeface="+mj-cs"/>
              </a:rPr>
              <a:t>Venn </a:t>
            </a:r>
            <a:r>
              <a:rPr lang="en-US" sz="3200" b="1" dirty="0" smtClean="0">
                <a:solidFill>
                  <a:schemeClr val="bg1"/>
                </a:solidFill>
                <a:latin typeface="Corbel" panose="020B0503020204020204" pitchFamily="34" charset="0"/>
                <a:ea typeface="+mj-ea"/>
                <a:cs typeface="+mj-cs"/>
              </a:rPr>
              <a:t>Diagram Representation </a:t>
            </a:r>
            <a:endParaRPr lang="en-IN" sz="1600" dirty="0">
              <a:solidFill>
                <a:schemeClr val="bg1"/>
              </a:solidFill>
              <a:latin typeface="Corbel" panose="020B0503020204020204" pitchFamily="34" charset="0"/>
            </a:endParaRPr>
          </a:p>
        </p:txBody>
      </p:sp>
      <p:pic>
        <p:nvPicPr>
          <p:cNvPr id="3" name="Picture 2"/>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662243" y="1100208"/>
            <a:ext cx="7506929" cy="5410366"/>
          </a:xfrm>
          <a:prstGeom prst="rect">
            <a:avLst/>
          </a:prstGeom>
        </p:spPr>
      </p:pic>
      <p:pic>
        <p:nvPicPr>
          <p:cNvPr id="7" name="Picture 6"/>
          <p:cNvPicPr>
            <a:picLocks noChangeAspect="1"/>
          </p:cNvPicPr>
          <p:nvPr/>
        </p:nvPicPr>
        <p:blipFill>
          <a:blip r:embed="rId8">
            <a:grayscl/>
          </a:blip>
          <a:stretch>
            <a:fillRect/>
          </a:stretch>
        </p:blipFill>
        <p:spPr>
          <a:xfrm>
            <a:off x="8703305" y="1271896"/>
            <a:ext cx="2702082" cy="2533495"/>
          </a:xfrm>
          <a:prstGeom prst="rect">
            <a:avLst/>
          </a:prstGeom>
        </p:spPr>
      </p:pic>
    </p:spTree>
    <p:extLst>
      <p:ext uri="{BB962C8B-B14F-4D97-AF65-F5344CB8AC3E}">
        <p14:creationId xmlns:p14="http://schemas.microsoft.com/office/powerpoint/2010/main" val="2289256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5" y="1122020"/>
            <a:ext cx="11143209" cy="3323987"/>
          </a:xfrm>
          <a:prstGeom prst="rect">
            <a:avLst/>
          </a:prstGeom>
          <a:noFill/>
        </p:spPr>
        <p:txBody>
          <a:bodyPr wrap="square">
            <a:spAutoFit/>
          </a:bodyPr>
          <a:lstStyle/>
          <a:p>
            <a:pPr marL="342900" lvl="0" indent="-342900" algn="just">
              <a:lnSpc>
                <a:spcPct val="150000"/>
              </a:lnSpc>
              <a:spcBef>
                <a:spcPts val="1200"/>
              </a:spcBef>
              <a:spcAft>
                <a:spcPts val="600"/>
              </a:spcAft>
              <a:buFont typeface="Arial" panose="020B0604020202020204" pitchFamily="34" charset="0"/>
              <a:buChar char="•"/>
              <a:defRPr/>
            </a:pPr>
            <a:r>
              <a:rPr lang="en-US" sz="2400" dirty="0">
                <a:latin typeface="Trebuchet MS" panose="020B0603020202020204" pitchFamily="34" charset="0"/>
              </a:rPr>
              <a:t>Bin Packing problem involves assigning </a:t>
            </a:r>
            <a:r>
              <a:rPr lang="en-US" sz="2400" dirty="0">
                <a:solidFill>
                  <a:srgbClr val="FF0000"/>
                </a:solidFill>
                <a:latin typeface="Trebuchet MS" panose="020B0603020202020204" pitchFamily="34" charset="0"/>
              </a:rPr>
              <a:t>n</a:t>
            </a:r>
            <a:r>
              <a:rPr lang="en-US" sz="2400" dirty="0">
                <a:latin typeface="Trebuchet MS" panose="020B0603020202020204" pitchFamily="34" charset="0"/>
              </a:rPr>
              <a:t> items of </a:t>
            </a:r>
            <a:r>
              <a:rPr lang="en-US" sz="2400" dirty="0">
                <a:solidFill>
                  <a:srgbClr val="FF0000"/>
                </a:solidFill>
                <a:latin typeface="Trebuchet MS" panose="020B0603020202020204" pitchFamily="34" charset="0"/>
              </a:rPr>
              <a:t>different weights </a:t>
            </a:r>
            <a:r>
              <a:rPr lang="en-US" sz="2400" dirty="0">
                <a:latin typeface="Trebuchet MS" panose="020B0603020202020204" pitchFamily="34" charset="0"/>
              </a:rPr>
              <a:t>and bins each of capacity </a:t>
            </a:r>
            <a:r>
              <a:rPr lang="en-US" sz="2400" dirty="0" smtClean="0">
                <a:latin typeface="Trebuchet MS" panose="020B0603020202020204" pitchFamily="34" charset="0"/>
              </a:rPr>
              <a:t>C </a:t>
            </a:r>
            <a:r>
              <a:rPr lang="en-US" sz="2400" dirty="0">
                <a:latin typeface="Trebuchet MS" panose="020B0603020202020204" pitchFamily="34" charset="0"/>
              </a:rPr>
              <a:t>to a bin such that number of total used bins is minimized. It may be assumed that all items have weights smaller than bin capacity</a:t>
            </a:r>
            <a:r>
              <a:rPr lang="en-US" sz="2400" dirty="0" smtClean="0">
                <a:latin typeface="Trebuchet MS" panose="020B0603020202020204" pitchFamily="34" charset="0"/>
              </a:rPr>
              <a:t>.</a:t>
            </a:r>
          </a:p>
          <a:p>
            <a:pPr marL="342900" lvl="0" indent="-342900" algn="just">
              <a:lnSpc>
                <a:spcPct val="150000"/>
              </a:lnSpc>
              <a:spcBef>
                <a:spcPts val="1200"/>
              </a:spcBef>
              <a:spcAft>
                <a:spcPts val="600"/>
              </a:spcAft>
              <a:buFont typeface="Arial" panose="020B0604020202020204" pitchFamily="34" charset="0"/>
              <a:buChar char="•"/>
              <a:defRPr/>
            </a:pPr>
            <a:endParaRPr lang="en-US" sz="2400" dirty="0">
              <a:latin typeface="Trebuchet MS" panose="020B0603020202020204" pitchFamily="34" charset="0"/>
            </a:endParaRPr>
          </a:p>
          <a:p>
            <a:pPr marL="342900" lvl="0" indent="-342900" algn="just">
              <a:lnSpc>
                <a:spcPct val="150000"/>
              </a:lnSpc>
              <a:spcBef>
                <a:spcPts val="1200"/>
              </a:spcBef>
              <a:spcAft>
                <a:spcPts val="600"/>
              </a:spcAft>
              <a:buFont typeface="Arial" panose="020B0604020202020204" pitchFamily="34" charset="0"/>
              <a:buChar char="•"/>
              <a:defRPr/>
            </a:pP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2272859" y="3422650"/>
            <a:ext cx="5620534" cy="2139043"/>
          </a:xfrm>
          <a:prstGeom prst="rect">
            <a:avLst/>
          </a:prstGeom>
        </p:spPr>
      </p:pic>
    </p:spTree>
    <p:extLst>
      <p:ext uri="{BB962C8B-B14F-4D97-AF65-F5344CB8AC3E}">
        <p14:creationId xmlns:p14="http://schemas.microsoft.com/office/powerpoint/2010/main" val="2714463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5" y="983821"/>
            <a:ext cx="11143209" cy="5232202"/>
          </a:xfrm>
          <a:prstGeom prst="rect">
            <a:avLst/>
          </a:prstGeom>
          <a:noFill/>
        </p:spPr>
        <p:txBody>
          <a:bodyPr wrap="square">
            <a:spAutoFit/>
          </a:bodyPr>
          <a:lstStyle/>
          <a:p>
            <a:pPr lvl="0" algn="just">
              <a:lnSpc>
                <a:spcPct val="150000"/>
              </a:lnSpc>
              <a:defRPr/>
            </a:pPr>
            <a:r>
              <a:rPr lang="en-US" sz="2400" b="1" dirty="0">
                <a:solidFill>
                  <a:srgbClr val="0070C0"/>
                </a:solidFill>
                <a:latin typeface="Trebuchet MS" panose="020B0603020202020204" pitchFamily="34" charset="0"/>
              </a:rPr>
              <a:t>Mathematical Formulation of Bin </a:t>
            </a:r>
            <a:r>
              <a:rPr lang="en-US" sz="2400" b="1" dirty="0" smtClean="0">
                <a:solidFill>
                  <a:srgbClr val="0070C0"/>
                </a:solidFill>
                <a:latin typeface="Trebuchet MS" panose="020B0603020202020204" pitchFamily="34" charset="0"/>
              </a:rPr>
              <a:t>Packing</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The Bin-Packing Problem (BPP) can also be </a:t>
            </a:r>
            <a:r>
              <a:rPr lang="en-US" sz="2400" dirty="0" err="1">
                <a:latin typeface="Trebuchet MS" panose="020B0603020202020204" pitchFamily="34" charset="0"/>
              </a:rPr>
              <a:t>described,using</a:t>
            </a:r>
            <a:r>
              <a:rPr lang="en-US" sz="2400" dirty="0">
                <a:latin typeface="Trebuchet MS" panose="020B0603020202020204" pitchFamily="34" charset="0"/>
              </a:rPr>
              <a:t> the terminology </a:t>
            </a:r>
            <a:r>
              <a:rPr lang="en-US" sz="2400" dirty="0" smtClean="0">
                <a:latin typeface="Trebuchet MS" panose="020B0603020202020204" pitchFamily="34" charset="0"/>
              </a:rPr>
              <a:t>of knapsack </a:t>
            </a:r>
            <a:r>
              <a:rPr lang="en-US" sz="2400" dirty="0">
                <a:latin typeface="Trebuchet MS" panose="020B0603020202020204" pitchFamily="34" charset="0"/>
              </a:rPr>
              <a:t>problems, as follows. </a:t>
            </a:r>
            <a:endParaRPr lang="en-US" sz="2400" dirty="0" smtClean="0">
              <a:latin typeface="Trebuchet MS" panose="020B0603020202020204" pitchFamily="34" charset="0"/>
            </a:endParaRPr>
          </a:p>
          <a:p>
            <a:pPr marL="342900" lvl="0" indent="-342900" algn="just">
              <a:lnSpc>
                <a:spcPct val="150000"/>
              </a:lnSpc>
              <a:buFont typeface="Arial" panose="020B0604020202020204" pitchFamily="34" charset="0"/>
              <a:buChar char="•"/>
              <a:defRPr/>
            </a:pPr>
            <a:r>
              <a:rPr lang="en-US" sz="2400" dirty="0" smtClean="0">
                <a:latin typeface="Trebuchet MS" panose="020B0603020202020204" pitchFamily="34" charset="0"/>
              </a:rPr>
              <a:t>Given </a:t>
            </a:r>
            <a:r>
              <a:rPr lang="en-US" sz="2400" dirty="0">
                <a:latin typeface="Trebuchet MS" panose="020B0603020202020204" pitchFamily="34" charset="0"/>
              </a:rPr>
              <a:t>n items and n knapsacks (or bins), </a:t>
            </a:r>
            <a:r>
              <a:rPr lang="en-US" sz="2400" dirty="0" smtClean="0">
                <a:latin typeface="Trebuchet MS" panose="020B0603020202020204" pitchFamily="34" charset="0"/>
              </a:rPr>
              <a:t>with</a:t>
            </a:r>
          </a:p>
          <a:p>
            <a:pPr marL="1257300" lvl="2" indent="-342900" algn="just">
              <a:lnSpc>
                <a:spcPct val="150000"/>
              </a:lnSpc>
              <a:buFont typeface="Wingdings" panose="05000000000000000000" pitchFamily="2" charset="2"/>
              <a:buChar char="ü"/>
              <a:defRPr/>
            </a:pPr>
            <a:r>
              <a:rPr lang="en-US" sz="2400" dirty="0" err="1">
                <a:latin typeface="Trebuchet MS" panose="020B0603020202020204" pitchFamily="34" charset="0"/>
              </a:rPr>
              <a:t>Wj</a:t>
            </a:r>
            <a:r>
              <a:rPr lang="en-US" sz="2400" dirty="0">
                <a:latin typeface="Trebuchet MS" panose="020B0603020202020204" pitchFamily="34" charset="0"/>
              </a:rPr>
              <a:t> = weight of item j,</a:t>
            </a:r>
          </a:p>
          <a:p>
            <a:pPr marL="1257300" lvl="2" indent="-342900" algn="just">
              <a:lnSpc>
                <a:spcPct val="150000"/>
              </a:lnSpc>
              <a:buFont typeface="Wingdings" panose="05000000000000000000" pitchFamily="2" charset="2"/>
              <a:buChar char="ü"/>
              <a:defRPr/>
            </a:pPr>
            <a:r>
              <a:rPr lang="en-US" sz="2400" dirty="0" err="1">
                <a:latin typeface="Trebuchet MS" panose="020B0603020202020204" pitchFamily="34" charset="0"/>
              </a:rPr>
              <a:t>cj</a:t>
            </a:r>
            <a:r>
              <a:rPr lang="en-US" sz="2400" dirty="0">
                <a:latin typeface="Trebuchet MS" panose="020B0603020202020204" pitchFamily="34" charset="0"/>
              </a:rPr>
              <a:t> = capacity of each </a:t>
            </a:r>
            <a:r>
              <a:rPr lang="en-US" sz="2400" dirty="0" smtClean="0">
                <a:latin typeface="Trebuchet MS" panose="020B0603020202020204" pitchFamily="34" charset="0"/>
              </a:rPr>
              <a:t>bin</a:t>
            </a:r>
          </a:p>
          <a:p>
            <a:pPr marL="457200" lvl="3">
              <a:lnSpc>
                <a:spcPct val="150000"/>
              </a:lnSpc>
              <a:defRPr/>
            </a:pPr>
            <a:r>
              <a:rPr lang="en-US" sz="2400" dirty="0">
                <a:latin typeface="Trebuchet MS" panose="020B0603020202020204" pitchFamily="34" charset="0"/>
              </a:rPr>
              <a:t>assign each item to one bin so that the total weight of the items in each </a:t>
            </a:r>
            <a:r>
              <a:rPr lang="en-US" sz="2400" dirty="0" smtClean="0">
                <a:latin typeface="Trebuchet MS" panose="020B0603020202020204" pitchFamily="34" charset="0"/>
              </a:rPr>
              <a:t>bin does not </a:t>
            </a:r>
            <a:r>
              <a:rPr lang="en-US" sz="2400" dirty="0">
                <a:latin typeface="Trebuchet MS" panose="020B0603020202020204" pitchFamily="34" charset="0"/>
              </a:rPr>
              <a:t>exceed c and the number of bins used is a minimum. </a:t>
            </a:r>
            <a:endParaRPr lang="en-US" sz="2400" dirty="0" smtClean="0">
              <a:latin typeface="Trebuchet MS" panose="020B0603020202020204" pitchFamily="34" charset="0"/>
            </a:endParaRPr>
          </a:p>
          <a:p>
            <a:pPr lvl="0" algn="just">
              <a:lnSpc>
                <a:spcPct val="150000"/>
              </a:lnSpc>
              <a:spcBef>
                <a:spcPts val="1200"/>
              </a:spcBef>
              <a:spcAft>
                <a:spcPts val="600"/>
              </a:spcAft>
              <a:defRPr/>
            </a:pPr>
            <a:endParaRPr lang="en-US" sz="2400" dirty="0">
              <a:latin typeface="Trebuchet MS" panose="020B0603020202020204" pitchFamily="34" charset="0"/>
            </a:endParaRPr>
          </a:p>
        </p:txBody>
      </p:sp>
    </p:spTree>
    <p:extLst>
      <p:ext uri="{BB962C8B-B14F-4D97-AF65-F5344CB8AC3E}">
        <p14:creationId xmlns:p14="http://schemas.microsoft.com/office/powerpoint/2010/main" val="2573728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5" y="885202"/>
            <a:ext cx="11143209" cy="1286378"/>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A possible  mathematical formulation of the problem is</a:t>
            </a:r>
          </a:p>
          <a:p>
            <a:pPr marL="342900" lvl="0" indent="-342900" algn="just">
              <a:lnSpc>
                <a:spcPct val="150000"/>
              </a:lnSpc>
              <a:spcBef>
                <a:spcPts val="1200"/>
              </a:spcBef>
              <a:spcAft>
                <a:spcPts val="600"/>
              </a:spcAft>
              <a:buFont typeface="Arial" panose="020B0604020202020204" pitchFamily="34" charset="0"/>
              <a:buChar char="•"/>
              <a:defRPr/>
            </a:pP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520505" y="1564412"/>
            <a:ext cx="7793502" cy="3190406"/>
          </a:xfrm>
          <a:prstGeom prst="rect">
            <a:avLst/>
          </a:prstGeom>
        </p:spPr>
      </p:pic>
      <p:pic>
        <p:nvPicPr>
          <p:cNvPr id="5" name="Picture 4"/>
          <p:cNvPicPr>
            <a:picLocks noChangeAspect="1"/>
          </p:cNvPicPr>
          <p:nvPr/>
        </p:nvPicPr>
        <p:blipFill>
          <a:blip r:embed="rId7"/>
          <a:stretch>
            <a:fillRect/>
          </a:stretch>
        </p:blipFill>
        <p:spPr>
          <a:xfrm>
            <a:off x="1112549" y="4852944"/>
            <a:ext cx="5887272" cy="1602235"/>
          </a:xfrm>
          <a:prstGeom prst="rect">
            <a:avLst/>
          </a:prstGeom>
        </p:spPr>
      </p:pic>
    </p:spTree>
    <p:extLst>
      <p:ext uri="{BB962C8B-B14F-4D97-AF65-F5344CB8AC3E}">
        <p14:creationId xmlns:p14="http://schemas.microsoft.com/office/powerpoint/2010/main" val="662859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662243" y="1437491"/>
            <a:ext cx="10803650" cy="3970318"/>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We will suppose, as is usual, that the weights </a:t>
            </a:r>
            <a:r>
              <a:rPr lang="en-US" sz="2400" dirty="0" err="1">
                <a:latin typeface="Trebuchet MS" panose="020B0603020202020204" pitchFamily="34" charset="0"/>
              </a:rPr>
              <a:t>Wj</a:t>
            </a:r>
            <a:r>
              <a:rPr lang="en-US" sz="2400" dirty="0">
                <a:latin typeface="Trebuchet MS" panose="020B0603020202020204" pitchFamily="34" charset="0"/>
              </a:rPr>
              <a:t> are positive integers. Hence</a:t>
            </a:r>
            <a:r>
              <a:rPr lang="en-US" sz="2400" dirty="0" smtClean="0">
                <a:latin typeface="Trebuchet MS" panose="020B0603020202020204" pitchFamily="34" charset="0"/>
              </a:rPr>
              <a:t>, without </a:t>
            </a:r>
            <a:r>
              <a:rPr lang="en-US" sz="2400" dirty="0">
                <a:latin typeface="Trebuchet MS" panose="020B0603020202020204" pitchFamily="34" charset="0"/>
              </a:rPr>
              <a:t>loss of generality, we will also assume that c is a positive integer</a:t>
            </a:r>
          </a:p>
          <a:p>
            <a:pPr lvl="2" algn="just">
              <a:lnSpc>
                <a:spcPct val="150000"/>
              </a:lnSpc>
              <a:defRPr/>
            </a:pPr>
            <a:r>
              <a:rPr lang="en-US" sz="2400" dirty="0" err="1" smtClean="0">
                <a:solidFill>
                  <a:srgbClr val="C00000"/>
                </a:solidFill>
                <a:latin typeface="Trebuchet MS" panose="020B0603020202020204" pitchFamily="34" charset="0"/>
              </a:rPr>
              <a:t>Wj</a:t>
            </a:r>
            <a:r>
              <a:rPr lang="en-US" sz="2400" dirty="0" smtClean="0">
                <a:solidFill>
                  <a:srgbClr val="C00000"/>
                </a:solidFill>
                <a:latin typeface="Trebuchet MS" panose="020B0603020202020204" pitchFamily="34" charset="0"/>
              </a:rPr>
              <a:t> </a:t>
            </a:r>
            <a:r>
              <a:rPr lang="en-US" sz="2400" dirty="0">
                <a:solidFill>
                  <a:srgbClr val="C00000"/>
                </a:solidFill>
                <a:latin typeface="Trebuchet MS" panose="020B0603020202020204" pitchFamily="34" charset="0"/>
              </a:rPr>
              <a:t>&lt; c for j belonging to N.</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As you can see, we have a broad rule of approximation and not an exact algorithm. Such algorithms are called NP problems. In fact Bin Packing Problem is a NP-hard </a:t>
            </a:r>
            <a:r>
              <a:rPr lang="en-US" sz="2400" dirty="0" smtClean="0">
                <a:latin typeface="Trebuchet MS" panose="020B0603020202020204" pitchFamily="34" charset="0"/>
              </a:rPr>
              <a:t>problem.</a:t>
            </a:r>
          </a:p>
        </p:txBody>
      </p:sp>
    </p:spTree>
    <p:extLst>
      <p:ext uri="{BB962C8B-B14F-4D97-AF65-F5344CB8AC3E}">
        <p14:creationId xmlns:p14="http://schemas.microsoft.com/office/powerpoint/2010/main" val="2588080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6" y="1276207"/>
            <a:ext cx="10803650" cy="1754326"/>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For the Bin-Packing problem, let us consider bins of size </a:t>
            </a:r>
            <a:r>
              <a:rPr lang="en-US" sz="2400" dirty="0" smtClean="0">
                <a:solidFill>
                  <a:srgbClr val="000000"/>
                </a:solidFill>
                <a:latin typeface="Trebuchet MS" panose="020B0603020202020204" pitchFamily="34" charset="0"/>
              </a:rPr>
              <a:t>1,</a:t>
            </a:r>
            <a:endParaRPr lang="en-US" sz="2400" dirty="0">
              <a:solidFill>
                <a:srgbClr val="000000"/>
              </a:solidFill>
              <a:latin typeface="Trebuchet MS" panose="020B0603020202020204" pitchFamily="34" charset="0"/>
            </a:endParaRPr>
          </a:p>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Assuming the sizes of the items be {0.5, 0.7, 0.5, 0.2, 0.4, 0.2, 0.5, 0.1, 0.6</a:t>
            </a:r>
            <a:r>
              <a:rPr lang="en-US" sz="2400" dirty="0" smtClean="0">
                <a:solidFill>
                  <a:srgbClr val="000000"/>
                </a:solidFill>
                <a:latin typeface="Trebuchet MS" panose="020B0603020202020204" pitchFamily="34" charset="0"/>
              </a:rPr>
              <a:t>}.</a:t>
            </a:r>
            <a:endParaRPr lang="en-US" sz="2400" dirty="0">
              <a:solidFill>
                <a:srgbClr val="000000"/>
              </a:solidFill>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2381747" y="2644725"/>
            <a:ext cx="5487166" cy="1411907"/>
          </a:xfrm>
          <a:prstGeom prst="rect">
            <a:avLst/>
          </a:prstGeom>
        </p:spPr>
      </p:pic>
      <p:pic>
        <p:nvPicPr>
          <p:cNvPr id="5" name="Picture 4"/>
          <p:cNvPicPr>
            <a:picLocks noChangeAspect="1"/>
          </p:cNvPicPr>
          <p:nvPr/>
        </p:nvPicPr>
        <p:blipFill>
          <a:blip r:embed="rId7"/>
          <a:stretch>
            <a:fillRect/>
          </a:stretch>
        </p:blipFill>
        <p:spPr>
          <a:xfrm>
            <a:off x="1591480" y="4208972"/>
            <a:ext cx="7130489" cy="2388777"/>
          </a:xfrm>
          <a:prstGeom prst="rect">
            <a:avLst/>
          </a:prstGeom>
        </p:spPr>
      </p:pic>
    </p:spTree>
    <p:extLst>
      <p:ext uri="{BB962C8B-B14F-4D97-AF65-F5344CB8AC3E}">
        <p14:creationId xmlns:p14="http://schemas.microsoft.com/office/powerpoint/2010/main" val="281100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6" y="1276207"/>
            <a:ext cx="10803650" cy="1754326"/>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For the Bin-Packing problem, let us consider bins of size </a:t>
            </a:r>
            <a:r>
              <a:rPr lang="en-US" sz="2400" dirty="0" smtClean="0">
                <a:solidFill>
                  <a:srgbClr val="000000"/>
                </a:solidFill>
                <a:latin typeface="Trebuchet MS" panose="020B0603020202020204" pitchFamily="34" charset="0"/>
              </a:rPr>
              <a:t>1,</a:t>
            </a:r>
            <a:endParaRPr lang="en-US" sz="2400" dirty="0">
              <a:solidFill>
                <a:srgbClr val="000000"/>
              </a:solidFill>
              <a:latin typeface="Trebuchet MS" panose="020B0603020202020204" pitchFamily="34" charset="0"/>
            </a:endParaRPr>
          </a:p>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Assuming the sizes of the items be {0.5, 0.7, 0.5, 0.2, 0.4, 0.2, 0.5, 0.1, 0.6</a:t>
            </a:r>
            <a:r>
              <a:rPr lang="en-US" sz="2400" dirty="0" smtClean="0">
                <a:solidFill>
                  <a:srgbClr val="000000"/>
                </a:solidFill>
                <a:latin typeface="Trebuchet MS" panose="020B0603020202020204" pitchFamily="34" charset="0"/>
              </a:rPr>
              <a:t>}.</a:t>
            </a:r>
            <a:endParaRPr lang="en-US" sz="2400" dirty="0">
              <a:solidFill>
                <a:srgbClr val="000000"/>
              </a:solidFill>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2381747" y="2644725"/>
            <a:ext cx="5487166" cy="1411907"/>
          </a:xfrm>
          <a:prstGeom prst="rect">
            <a:avLst/>
          </a:prstGeom>
        </p:spPr>
      </p:pic>
      <p:pic>
        <p:nvPicPr>
          <p:cNvPr id="5" name="Picture 4"/>
          <p:cNvPicPr>
            <a:picLocks noChangeAspect="1"/>
          </p:cNvPicPr>
          <p:nvPr/>
        </p:nvPicPr>
        <p:blipFill>
          <a:blip r:embed="rId7"/>
          <a:stretch>
            <a:fillRect/>
          </a:stretch>
        </p:blipFill>
        <p:spPr>
          <a:xfrm>
            <a:off x="1591480" y="4208972"/>
            <a:ext cx="7130489" cy="2388777"/>
          </a:xfrm>
          <a:prstGeom prst="rect">
            <a:avLst/>
          </a:prstGeom>
        </p:spPr>
      </p:pic>
    </p:spTree>
    <p:extLst>
      <p:ext uri="{BB962C8B-B14F-4D97-AF65-F5344CB8AC3E}">
        <p14:creationId xmlns:p14="http://schemas.microsoft.com/office/powerpoint/2010/main" val="2243134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225421" y="906180"/>
            <a:ext cx="11431668" cy="6186309"/>
          </a:xfrm>
          <a:prstGeom prst="rect">
            <a:avLst/>
          </a:prstGeom>
          <a:noFill/>
        </p:spPr>
        <p:txBody>
          <a:bodyPr wrap="square">
            <a:spAutoFit/>
          </a:bodyPr>
          <a:lstStyle/>
          <a:p>
            <a:pPr lvl="0" algn="just">
              <a:lnSpc>
                <a:spcPct val="150000"/>
              </a:lnSpc>
              <a:defRPr/>
            </a:pPr>
            <a:r>
              <a:rPr lang="en-US" sz="2400" dirty="0">
                <a:solidFill>
                  <a:srgbClr val="0070C0"/>
                </a:solidFill>
                <a:latin typeface="Trebuchet MS" panose="020B0603020202020204" pitchFamily="34" charset="0"/>
              </a:rPr>
              <a:t>Lower Bound on Bins</a:t>
            </a:r>
          </a:p>
          <a:p>
            <a:pPr marL="342900" lvl="0" indent="-342900" algn="just">
              <a:lnSpc>
                <a:spcPct val="150000"/>
              </a:lnSpc>
              <a:buFont typeface="Arial" panose="020B0604020202020204" pitchFamily="34" charset="0"/>
              <a:buChar char="•"/>
              <a:defRPr/>
            </a:pPr>
            <a:r>
              <a:rPr lang="en-US" sz="2400" dirty="0">
                <a:solidFill>
                  <a:srgbClr val="000000"/>
                </a:solidFill>
                <a:latin typeface="Trebuchet MS" panose="020B0603020202020204" pitchFamily="34" charset="0"/>
              </a:rPr>
              <a:t>We can always find a lower bound on minimum number of bins required. The lower bound can be given as </a:t>
            </a:r>
            <a:r>
              <a:rPr lang="en-US" sz="2400" dirty="0" smtClean="0">
                <a:solidFill>
                  <a:srgbClr val="000000"/>
                </a:solidFill>
                <a:latin typeface="Trebuchet MS" panose="020B0603020202020204" pitchFamily="34" charset="0"/>
              </a:rPr>
              <a:t>:</a:t>
            </a:r>
          </a:p>
          <a:p>
            <a:pPr lvl="0" algn="just">
              <a:lnSpc>
                <a:spcPct val="150000"/>
              </a:lnSpc>
              <a:defRPr/>
            </a:pPr>
            <a:r>
              <a:rPr lang="en-US" sz="2400" dirty="0" smtClean="0">
                <a:solidFill>
                  <a:srgbClr val="000000"/>
                </a:solidFill>
                <a:latin typeface="Trebuchet MS" panose="020B0603020202020204" pitchFamily="34" charset="0"/>
              </a:rPr>
              <a:t>		</a:t>
            </a:r>
            <a:r>
              <a:rPr lang="en-US" sz="2400" dirty="0" smtClean="0">
                <a:solidFill>
                  <a:srgbClr val="FF0000"/>
                </a:solidFill>
                <a:latin typeface="Trebuchet MS" panose="020B0603020202020204" pitchFamily="34" charset="0"/>
              </a:rPr>
              <a:t>Min </a:t>
            </a:r>
            <a:r>
              <a:rPr lang="en-US" sz="2400" dirty="0">
                <a:solidFill>
                  <a:srgbClr val="FF0000"/>
                </a:solidFill>
                <a:latin typeface="Trebuchet MS" panose="020B0603020202020204" pitchFamily="34" charset="0"/>
              </a:rPr>
              <a:t>no. of bins  &gt;=  Ceil ((Total Weight) / (Bin Capacity</a:t>
            </a:r>
            <a:r>
              <a:rPr lang="en-US" sz="2400" dirty="0" smtClean="0">
                <a:solidFill>
                  <a:srgbClr val="FF0000"/>
                </a:solidFill>
                <a:latin typeface="Trebuchet MS" panose="020B0603020202020204" pitchFamily="34" charset="0"/>
              </a:rPr>
              <a:t>))</a:t>
            </a:r>
          </a:p>
          <a:p>
            <a:pPr lvl="0" algn="just">
              <a:lnSpc>
                <a:spcPct val="150000"/>
              </a:lnSpc>
              <a:defRPr/>
            </a:pPr>
            <a:r>
              <a:rPr lang="en-US" sz="2400" dirty="0" smtClean="0">
                <a:solidFill>
                  <a:srgbClr val="0070C0"/>
                </a:solidFill>
                <a:latin typeface="Trebuchet MS" panose="020B0603020202020204" pitchFamily="34" charset="0"/>
              </a:rPr>
              <a:t>Different Algorithms: </a:t>
            </a:r>
          </a:p>
          <a:p>
            <a:pPr marL="342900" lvl="0" indent="-342900" algn="just">
              <a:lnSpc>
                <a:spcPct val="150000"/>
              </a:lnSpc>
              <a:buFont typeface="Arial" panose="020B0604020202020204" pitchFamily="34" charset="0"/>
              <a:buChar char="•"/>
              <a:defRPr/>
            </a:pPr>
            <a:r>
              <a:rPr lang="en-US" sz="2400" dirty="0" smtClean="0">
                <a:latin typeface="Trebuchet MS" panose="020B0603020202020204" pitchFamily="34" charset="0"/>
              </a:rPr>
              <a:t>Let us now look at the various optimization algorithms for Bin Packing Problem. Here we are going to discuss about </a:t>
            </a:r>
            <a:r>
              <a:rPr lang="en-US" sz="2400" dirty="0" smtClean="0">
                <a:solidFill>
                  <a:srgbClr val="0070C0"/>
                </a:solidFill>
                <a:latin typeface="Trebuchet MS" panose="020B0603020202020204" pitchFamily="34" charset="0"/>
              </a:rPr>
              <a:t>Input </a:t>
            </a:r>
            <a:r>
              <a:rPr lang="en-US" sz="2400" dirty="0">
                <a:solidFill>
                  <a:srgbClr val="0070C0"/>
                </a:solidFill>
                <a:latin typeface="Trebuchet MS" panose="020B0603020202020204" pitchFamily="34" charset="0"/>
              </a:rPr>
              <a:t>Order dependent or Online </a:t>
            </a:r>
            <a:r>
              <a:rPr lang="en-US" sz="2400" dirty="0" smtClean="0">
                <a:solidFill>
                  <a:srgbClr val="0070C0"/>
                </a:solidFill>
                <a:latin typeface="Trebuchet MS" panose="020B0603020202020204" pitchFamily="34" charset="0"/>
              </a:rPr>
              <a:t>Algorithms.</a:t>
            </a:r>
            <a:endParaRPr lang="en-US" sz="2400" dirty="0">
              <a:solidFill>
                <a:srgbClr val="0070C0"/>
              </a:solidFill>
              <a:latin typeface="Trebuchet MS" panose="020B0603020202020204" pitchFamily="34" charset="0"/>
            </a:endParaRPr>
          </a:p>
          <a:p>
            <a:pPr marL="342900" lvl="0" indent="-342900" algn="just">
              <a:lnSpc>
                <a:spcPct val="150000"/>
              </a:lnSpc>
              <a:buFont typeface="Arial" panose="020B0604020202020204" pitchFamily="34" charset="0"/>
              <a:buChar char="•"/>
              <a:defRPr/>
            </a:pPr>
            <a:r>
              <a:rPr lang="en-US" sz="2400" dirty="0" smtClean="0">
                <a:latin typeface="Trebuchet MS" panose="020B0603020202020204" pitchFamily="34" charset="0"/>
              </a:rPr>
              <a:t>Under that we are going to see the </a:t>
            </a:r>
            <a:r>
              <a:rPr lang="en-US" sz="2400" dirty="0">
                <a:latin typeface="Trebuchet MS" panose="020B0603020202020204" pitchFamily="34" charset="0"/>
              </a:rPr>
              <a:t>following 4 algorithms depend on the order of their inputs. They pack the item given first and then move on to the next input or next item</a:t>
            </a:r>
          </a:p>
        </p:txBody>
      </p:sp>
    </p:spTree>
    <p:extLst>
      <p:ext uri="{BB962C8B-B14F-4D97-AF65-F5344CB8AC3E}">
        <p14:creationId xmlns:p14="http://schemas.microsoft.com/office/powerpoint/2010/main" val="2767392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225420" y="906180"/>
            <a:ext cx="11586413" cy="3416320"/>
          </a:xfrm>
          <a:prstGeom prst="rect">
            <a:avLst/>
          </a:prstGeom>
          <a:noFill/>
        </p:spPr>
        <p:txBody>
          <a:bodyPr wrap="square">
            <a:spAutoFit/>
          </a:bodyPr>
          <a:lstStyle/>
          <a:p>
            <a:pPr marL="342900" lvl="0" indent="-342900" algn="just">
              <a:lnSpc>
                <a:spcPct val="150000"/>
              </a:lnSpc>
              <a:buFont typeface="Arial" panose="020B0604020202020204" pitchFamily="34" charset="0"/>
              <a:buChar char="•"/>
              <a:defRPr/>
            </a:pPr>
            <a:r>
              <a:rPr lang="en-US" sz="2400" dirty="0" smtClean="0">
                <a:latin typeface="Trebuchet MS" panose="020B0603020202020204" pitchFamily="34" charset="0"/>
              </a:rPr>
              <a:t>They </a:t>
            </a:r>
            <a:r>
              <a:rPr lang="en-US" sz="2400" dirty="0">
                <a:latin typeface="Trebuchet MS" panose="020B0603020202020204" pitchFamily="34" charset="0"/>
              </a:rPr>
              <a:t>pack the item given first and then move on to the next input or next </a:t>
            </a:r>
            <a:r>
              <a:rPr lang="en-US" sz="2400" dirty="0" smtClean="0">
                <a:latin typeface="Trebuchet MS" panose="020B0603020202020204" pitchFamily="34" charset="0"/>
              </a:rPr>
              <a:t>item. The following algorithms are </a:t>
            </a:r>
          </a:p>
          <a:p>
            <a:pPr lvl="0" algn="just">
              <a:lnSpc>
                <a:spcPct val="150000"/>
              </a:lnSpc>
              <a:defRPr/>
            </a:pPr>
            <a:r>
              <a:rPr lang="en-US" sz="2400" dirty="0" smtClean="0">
                <a:latin typeface="Trebuchet MS" panose="020B0603020202020204" pitchFamily="34" charset="0"/>
              </a:rPr>
              <a:t>	1</a:t>
            </a:r>
            <a:r>
              <a:rPr lang="en-US" sz="2400" dirty="0">
                <a:latin typeface="Trebuchet MS" panose="020B0603020202020204" pitchFamily="34" charset="0"/>
              </a:rPr>
              <a:t>) Next Fit </a:t>
            </a:r>
            <a:r>
              <a:rPr lang="en-US" sz="2400" dirty="0" smtClean="0">
                <a:latin typeface="Trebuchet MS" panose="020B0603020202020204" pitchFamily="34" charset="0"/>
              </a:rPr>
              <a:t>algorithm</a:t>
            </a:r>
          </a:p>
          <a:p>
            <a:pPr lvl="0" algn="just">
              <a:lnSpc>
                <a:spcPct val="150000"/>
              </a:lnSpc>
              <a:defRPr/>
            </a:pPr>
            <a:r>
              <a:rPr lang="en-US" sz="2400" dirty="0">
                <a:latin typeface="Trebuchet MS" panose="020B0603020202020204" pitchFamily="34" charset="0"/>
              </a:rPr>
              <a:t>	2) First Fit </a:t>
            </a:r>
            <a:r>
              <a:rPr lang="en-US" sz="2400" dirty="0" smtClean="0">
                <a:latin typeface="Trebuchet MS" panose="020B0603020202020204" pitchFamily="34" charset="0"/>
              </a:rPr>
              <a:t>algorithm</a:t>
            </a:r>
          </a:p>
          <a:p>
            <a:pPr lvl="0" algn="just">
              <a:lnSpc>
                <a:spcPct val="150000"/>
              </a:lnSpc>
              <a:defRPr/>
            </a:pPr>
            <a:r>
              <a:rPr lang="en-US" sz="2400" dirty="0">
                <a:latin typeface="Trebuchet MS" panose="020B0603020202020204" pitchFamily="34" charset="0"/>
              </a:rPr>
              <a:t>	3) Best Fit </a:t>
            </a:r>
            <a:r>
              <a:rPr lang="en-US" sz="2400" dirty="0" smtClean="0">
                <a:latin typeface="Trebuchet MS" panose="020B0603020202020204" pitchFamily="34" charset="0"/>
              </a:rPr>
              <a:t>Algorithm</a:t>
            </a:r>
          </a:p>
          <a:p>
            <a:pPr lvl="0" algn="just">
              <a:lnSpc>
                <a:spcPct val="150000"/>
              </a:lnSpc>
              <a:defRPr/>
            </a:pPr>
            <a:r>
              <a:rPr lang="en-US" sz="2400" dirty="0">
                <a:latin typeface="Trebuchet MS" panose="020B0603020202020204" pitchFamily="34" charset="0"/>
              </a:rPr>
              <a:t>	4) Worst Fit Algorithm</a:t>
            </a:r>
          </a:p>
        </p:txBody>
      </p:sp>
    </p:spTree>
    <p:extLst>
      <p:ext uri="{BB962C8B-B14F-4D97-AF65-F5344CB8AC3E}">
        <p14:creationId xmlns:p14="http://schemas.microsoft.com/office/powerpoint/2010/main" val="1431445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6" y="1560333"/>
            <a:ext cx="10705177" cy="3416320"/>
          </a:xfrm>
          <a:prstGeom prst="rect">
            <a:avLst/>
          </a:prstGeom>
          <a:noFill/>
        </p:spPr>
        <p:txBody>
          <a:bodyPr wrap="square">
            <a:spAutoFit/>
          </a:bodyPr>
          <a:lstStyle/>
          <a:p>
            <a:pPr lvl="0" algn="just">
              <a:lnSpc>
                <a:spcPct val="150000"/>
              </a:lnSpc>
              <a:defRPr/>
            </a:pPr>
            <a:r>
              <a:rPr lang="en-US" sz="2400" b="1" dirty="0">
                <a:solidFill>
                  <a:srgbClr val="0070C0"/>
                </a:solidFill>
                <a:latin typeface="Trebuchet MS" panose="020B0603020202020204" pitchFamily="34" charset="0"/>
              </a:rPr>
              <a:t>Next Fit algorithm</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The simplest approximate approach to the bin packing problem is the Next-Fit (NF) algorithm which is explained later in this article. </a:t>
            </a:r>
            <a:endParaRPr lang="en-US" sz="2400" dirty="0" smtClean="0">
              <a:latin typeface="Trebuchet MS" panose="020B0603020202020204" pitchFamily="34" charset="0"/>
            </a:endParaRPr>
          </a:p>
          <a:p>
            <a:pPr marL="342900" lvl="0" indent="-342900" algn="just">
              <a:lnSpc>
                <a:spcPct val="150000"/>
              </a:lnSpc>
              <a:buFont typeface="Arial" panose="020B0604020202020204" pitchFamily="34" charset="0"/>
              <a:buChar char="•"/>
              <a:defRPr/>
            </a:pPr>
            <a:r>
              <a:rPr lang="en-US" sz="2400" dirty="0" smtClean="0">
                <a:latin typeface="Trebuchet MS" panose="020B0603020202020204" pitchFamily="34" charset="0"/>
              </a:rPr>
              <a:t>The </a:t>
            </a:r>
            <a:r>
              <a:rPr lang="en-US" sz="2400" dirty="0">
                <a:latin typeface="Trebuchet MS" panose="020B0603020202020204" pitchFamily="34" charset="0"/>
              </a:rPr>
              <a:t>first item is assigned to bin 1. Items 2,... ,n are then considered by increasing indices : each item is assigned to the current bin, if it fits; otherwise, it is assigned to a new bin, which becomes the current one</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1277401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211354" y="1114927"/>
            <a:ext cx="10705177" cy="2862322"/>
          </a:xfrm>
          <a:prstGeom prst="rect">
            <a:avLst/>
          </a:prstGeom>
          <a:noFill/>
        </p:spPr>
        <p:txBody>
          <a:bodyPr wrap="square">
            <a:spAutoFit/>
          </a:bodyPr>
          <a:lstStyle/>
          <a:p>
            <a:pPr lvl="0" algn="just">
              <a:lnSpc>
                <a:spcPct val="150000"/>
              </a:lnSpc>
              <a:defRPr/>
            </a:pPr>
            <a:r>
              <a:rPr lang="en-US" sz="2400" dirty="0">
                <a:solidFill>
                  <a:srgbClr val="0070C0"/>
                </a:solidFill>
                <a:latin typeface="Trebuchet MS" panose="020B0603020202020204" pitchFamily="34" charset="0"/>
              </a:rPr>
              <a:t>Visual Representation</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Let us consider the same example as used above and bins of size </a:t>
            </a:r>
            <a:r>
              <a:rPr lang="en-US" sz="2400" dirty="0" smtClean="0">
                <a:latin typeface="Trebuchet MS" panose="020B0603020202020204" pitchFamily="34" charset="0"/>
              </a:rPr>
              <a:t>1.</a:t>
            </a:r>
          </a:p>
          <a:p>
            <a:pPr marL="342900" lvl="0" indent="-342900" algn="just">
              <a:lnSpc>
                <a:spcPct val="150000"/>
              </a:lnSpc>
              <a:buFont typeface="Arial" panose="020B0604020202020204" pitchFamily="34" charset="0"/>
              <a:buChar char="•"/>
              <a:defRPr/>
            </a:pPr>
            <a:r>
              <a:rPr lang="en-US" sz="2400" dirty="0">
                <a:latin typeface="Trebuchet MS" panose="020B0603020202020204" pitchFamily="34" charset="0"/>
              </a:rPr>
              <a:t>Assuming the sizes of the items be {0.5, 0.7, 0.5, 0.2, 0.4, 0.2, 0.5, 0.1, 0.6}.</a:t>
            </a:r>
            <a:endParaRPr lang="en-US" sz="2400" dirty="0" smtClean="0">
              <a:latin typeface="Trebuchet MS" panose="020B0603020202020204" pitchFamily="34" charset="0"/>
            </a:endParaRPr>
          </a:p>
          <a:p>
            <a:pPr marL="342900" lvl="0" indent="-342900" algn="just">
              <a:lnSpc>
                <a:spcPct val="150000"/>
              </a:lnSpc>
              <a:buFont typeface="Arial" panose="020B0604020202020204" pitchFamily="34" charset="0"/>
              <a:buChar char="•"/>
              <a:defRPr/>
            </a:pP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1460586" y="3767095"/>
            <a:ext cx="5753903" cy="1966044"/>
          </a:xfrm>
          <a:prstGeom prst="rect">
            <a:avLst/>
          </a:prstGeom>
        </p:spPr>
      </p:pic>
    </p:spTree>
    <p:extLst>
      <p:ext uri="{BB962C8B-B14F-4D97-AF65-F5344CB8AC3E}">
        <p14:creationId xmlns:p14="http://schemas.microsoft.com/office/powerpoint/2010/main" val="2596408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6" y="954060"/>
            <a:ext cx="11799134" cy="4524315"/>
          </a:xfrm>
          <a:prstGeom prst="rect">
            <a:avLst/>
          </a:prstGeom>
          <a:noFill/>
        </p:spPr>
        <p:txBody>
          <a:bodyPr wrap="square">
            <a:spAutoFit/>
          </a:bodyPr>
          <a:lstStyle/>
          <a:p>
            <a:pPr lvl="0" algn="just">
              <a:lnSpc>
                <a:spcPct val="150000"/>
              </a:lnSpc>
              <a:defRPr/>
            </a:pPr>
            <a:r>
              <a:rPr lang="en-US" sz="2400" dirty="0" smtClean="0">
                <a:solidFill>
                  <a:srgbClr val="0070C0"/>
                </a:solidFill>
                <a:latin typeface="Trebuchet MS" panose="020B0603020202020204" pitchFamily="34" charset="0"/>
              </a:rPr>
              <a:t>Step 1 : </a:t>
            </a:r>
            <a:r>
              <a:rPr lang="en-US" sz="2400" dirty="0" smtClean="0">
                <a:latin typeface="Trebuchet MS" panose="020B0603020202020204" pitchFamily="34" charset="0"/>
              </a:rPr>
              <a:t>The </a:t>
            </a:r>
            <a:r>
              <a:rPr lang="en-US" sz="2400" dirty="0">
                <a:latin typeface="Trebuchet MS" panose="020B0603020202020204" pitchFamily="34" charset="0"/>
              </a:rPr>
              <a:t>minimum number of bins required would be </a:t>
            </a:r>
            <a:endParaRPr lang="en-US" sz="2400" dirty="0" smtClean="0">
              <a:latin typeface="Trebuchet MS" panose="020B0603020202020204" pitchFamily="34" charset="0"/>
            </a:endParaRPr>
          </a:p>
          <a:p>
            <a:pPr lvl="0" algn="just">
              <a:lnSpc>
                <a:spcPct val="150000"/>
              </a:lnSpc>
              <a:defRPr/>
            </a:pPr>
            <a:r>
              <a:rPr lang="en-US" sz="2400" dirty="0">
                <a:solidFill>
                  <a:srgbClr val="FF0000"/>
                </a:solidFill>
                <a:latin typeface="Trebuchet MS" panose="020B0603020202020204" pitchFamily="34" charset="0"/>
              </a:rPr>
              <a:t>	</a:t>
            </a:r>
            <a:r>
              <a:rPr lang="en-US" sz="2400" dirty="0" smtClean="0">
                <a:solidFill>
                  <a:srgbClr val="FF0000"/>
                </a:solidFill>
                <a:latin typeface="Trebuchet MS" panose="020B0603020202020204" pitchFamily="34" charset="0"/>
              </a:rPr>
              <a:t>Ceil </a:t>
            </a:r>
            <a:r>
              <a:rPr lang="en-US" sz="2400" dirty="0">
                <a:solidFill>
                  <a:srgbClr val="FF0000"/>
                </a:solidFill>
                <a:latin typeface="Trebuchet MS" panose="020B0603020202020204" pitchFamily="34" charset="0"/>
              </a:rPr>
              <a:t>((Total Weight) / (Bin Capacity</a:t>
            </a:r>
            <a:r>
              <a:rPr lang="en-US" sz="2400" dirty="0" smtClean="0">
                <a:solidFill>
                  <a:srgbClr val="FF0000"/>
                </a:solidFill>
                <a:latin typeface="Trebuchet MS" panose="020B0603020202020204" pitchFamily="34" charset="0"/>
              </a:rPr>
              <a:t>))= </a:t>
            </a:r>
            <a:r>
              <a:rPr lang="en-US" sz="2400" dirty="0" smtClean="0">
                <a:solidFill>
                  <a:srgbClr val="0070C0"/>
                </a:solidFill>
                <a:latin typeface="Trebuchet MS" panose="020B0603020202020204" pitchFamily="34" charset="0"/>
              </a:rPr>
              <a:t>Ceil(3.7/1</a:t>
            </a:r>
            <a:r>
              <a:rPr lang="en-US" sz="2400" dirty="0">
                <a:solidFill>
                  <a:srgbClr val="0070C0"/>
                </a:solidFill>
                <a:latin typeface="Trebuchet MS" panose="020B0603020202020204" pitchFamily="34" charset="0"/>
              </a:rPr>
              <a:t>) = 4 bins.</a:t>
            </a:r>
          </a:p>
          <a:p>
            <a:pPr lvl="0" algn="just">
              <a:lnSpc>
                <a:spcPct val="150000"/>
              </a:lnSpc>
              <a:defRPr/>
            </a:pPr>
            <a:r>
              <a:rPr lang="en-US" sz="2400" dirty="0" smtClean="0">
                <a:solidFill>
                  <a:srgbClr val="0070C0"/>
                </a:solidFill>
                <a:latin typeface="Trebuchet MS" panose="020B0603020202020204" pitchFamily="34" charset="0"/>
              </a:rPr>
              <a:t>Step 2</a:t>
            </a:r>
            <a:r>
              <a:rPr lang="en-US" sz="2400" dirty="0" smtClean="0">
                <a:latin typeface="Trebuchet MS" panose="020B0603020202020204" pitchFamily="34" charset="0"/>
              </a:rPr>
              <a:t>: The </a:t>
            </a:r>
            <a:r>
              <a:rPr lang="en-US" sz="2400" dirty="0">
                <a:latin typeface="Trebuchet MS" panose="020B0603020202020204" pitchFamily="34" charset="0"/>
              </a:rPr>
              <a:t>Next fit solution (NF(I))for this instance I would </a:t>
            </a:r>
            <a:r>
              <a:rPr lang="en-US" sz="2400" dirty="0" smtClean="0">
                <a:latin typeface="Trebuchet MS" panose="020B0603020202020204" pitchFamily="34" charset="0"/>
              </a:rPr>
              <a:t>be</a:t>
            </a:r>
          </a:p>
          <a:p>
            <a:pPr lvl="0" algn="just">
              <a:lnSpc>
                <a:spcPct val="150000"/>
              </a:lnSpc>
              <a:defRPr/>
            </a:pPr>
            <a:endParaRPr lang="en-US" sz="2400" dirty="0">
              <a:latin typeface="Trebuchet MS" panose="020B0603020202020204" pitchFamily="34" charset="0"/>
            </a:endParaRPr>
          </a:p>
          <a:p>
            <a:pPr lvl="0" algn="just">
              <a:lnSpc>
                <a:spcPct val="150000"/>
              </a:lnSpc>
              <a:defRPr/>
            </a:pPr>
            <a:endParaRPr lang="en-US" sz="2400" dirty="0" smtClean="0">
              <a:latin typeface="Trebuchet MS" panose="020B0603020202020204" pitchFamily="34" charset="0"/>
            </a:endParaRPr>
          </a:p>
          <a:p>
            <a:pPr lvl="0" algn="just">
              <a:lnSpc>
                <a:spcPct val="150000"/>
              </a:lnSpc>
              <a:defRPr/>
            </a:pPr>
            <a:endParaRPr lang="en-US" sz="2400" dirty="0">
              <a:latin typeface="Trebuchet MS" panose="020B0603020202020204" pitchFamily="34" charset="0"/>
            </a:endParaRPr>
          </a:p>
          <a:p>
            <a:pPr algn="just">
              <a:lnSpc>
                <a:spcPct val="150000"/>
              </a:lnSpc>
              <a:defRPr/>
            </a:pPr>
            <a:r>
              <a:rPr lang="en-US" sz="2400" dirty="0" smtClean="0">
                <a:solidFill>
                  <a:srgbClr val="0070C0"/>
                </a:solidFill>
                <a:latin typeface="Trebuchet MS" panose="020B0603020202020204" pitchFamily="34" charset="0"/>
              </a:rPr>
              <a:t>Step 3:</a:t>
            </a:r>
            <a:r>
              <a:rPr lang="en-US" sz="2400" dirty="0" smtClean="0">
                <a:latin typeface="Trebuchet MS" panose="020B0603020202020204" pitchFamily="34" charset="0"/>
              </a:rPr>
              <a:t> Considering </a:t>
            </a:r>
            <a:r>
              <a:rPr lang="en-US" sz="2400" dirty="0">
                <a:latin typeface="Trebuchet MS" panose="020B0603020202020204" pitchFamily="34" charset="0"/>
              </a:rPr>
              <a:t>0.5 sized item first, we can place it in the first bin</a:t>
            </a:r>
            <a:endParaRPr lang="en-IN" sz="2400" dirty="0">
              <a:latin typeface="Trebuchet MS" panose="020B0603020202020204" pitchFamily="34" charset="0"/>
            </a:endParaRPr>
          </a:p>
          <a:p>
            <a:pPr lvl="0" algn="just">
              <a:lnSpc>
                <a:spcPct val="150000"/>
              </a:lnSpc>
              <a:defRPr/>
            </a:pP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1699736" y="2560073"/>
            <a:ext cx="5753903" cy="1725154"/>
          </a:xfrm>
          <a:prstGeom prst="rect">
            <a:avLst/>
          </a:prstGeom>
        </p:spPr>
      </p:pic>
      <p:pic>
        <p:nvPicPr>
          <p:cNvPr id="8" name="Picture 7"/>
          <p:cNvPicPr>
            <a:picLocks noChangeAspect="1"/>
          </p:cNvPicPr>
          <p:nvPr/>
        </p:nvPicPr>
        <p:blipFill>
          <a:blip r:embed="rId7"/>
          <a:stretch>
            <a:fillRect/>
          </a:stretch>
        </p:blipFill>
        <p:spPr>
          <a:xfrm>
            <a:off x="1280515" y="4931912"/>
            <a:ext cx="5429774" cy="1058689"/>
          </a:xfrm>
          <a:prstGeom prst="rect">
            <a:avLst/>
          </a:prstGeom>
        </p:spPr>
      </p:pic>
      <p:pic>
        <p:nvPicPr>
          <p:cNvPr id="9" name="Picture 8"/>
          <p:cNvPicPr>
            <a:picLocks noChangeAspect="1"/>
          </p:cNvPicPr>
          <p:nvPr/>
        </p:nvPicPr>
        <p:blipFill>
          <a:blip r:embed="rId8"/>
          <a:stretch>
            <a:fillRect/>
          </a:stretch>
        </p:blipFill>
        <p:spPr>
          <a:xfrm>
            <a:off x="7984486" y="5206731"/>
            <a:ext cx="1833448" cy="1219370"/>
          </a:xfrm>
          <a:prstGeom prst="rect">
            <a:avLst/>
          </a:prstGeom>
        </p:spPr>
      </p:pic>
    </p:spTree>
    <p:extLst>
      <p:ext uri="{BB962C8B-B14F-4D97-AF65-F5344CB8AC3E}">
        <p14:creationId xmlns:p14="http://schemas.microsoft.com/office/powerpoint/2010/main" val="39157686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39175"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7" name="Rectangle 6"/>
          <p:cNvSpPr/>
          <p:nvPr/>
        </p:nvSpPr>
        <p:spPr>
          <a:xfrm>
            <a:off x="429326" y="1136786"/>
            <a:ext cx="10698219" cy="5078313"/>
          </a:xfrm>
          <a:prstGeom prst="rect">
            <a:avLst/>
          </a:prstGeom>
        </p:spPr>
        <p:txBody>
          <a:bodyPr wrap="square">
            <a:spAutoFit/>
          </a:bodyPr>
          <a:lstStyle/>
          <a:p>
            <a:pPr>
              <a:lnSpc>
                <a:spcPct val="150000"/>
              </a:lnSpc>
            </a:pPr>
            <a:r>
              <a:rPr lang="en-US" sz="2400" dirty="0" smtClean="0">
                <a:solidFill>
                  <a:srgbClr val="0070C0"/>
                </a:solidFill>
                <a:latin typeface="Trebuchet MS" panose="020B0603020202020204" pitchFamily="34" charset="0"/>
              </a:rPr>
              <a:t>Step 4:</a:t>
            </a:r>
            <a:r>
              <a:rPr lang="en-US" sz="2400" dirty="0" smtClean="0">
                <a:solidFill>
                  <a:srgbClr val="3C484E"/>
                </a:solidFill>
                <a:latin typeface="Trebuchet MS" panose="020B0603020202020204" pitchFamily="34" charset="0"/>
              </a:rPr>
              <a:t> Moving </a:t>
            </a:r>
            <a:r>
              <a:rPr lang="en-US" sz="2400" dirty="0">
                <a:solidFill>
                  <a:srgbClr val="3C484E"/>
                </a:solidFill>
                <a:latin typeface="Trebuchet MS" panose="020B0603020202020204" pitchFamily="34" charset="0"/>
              </a:rPr>
              <a:t>on to the 0.7 sized item, we cannot place it in the first bin. Hence we place it in a new bin</a:t>
            </a:r>
            <a:r>
              <a:rPr lang="en-US" sz="2400" dirty="0" smtClean="0">
                <a:solidFill>
                  <a:srgbClr val="3C484E"/>
                </a:solidFill>
                <a:latin typeface="Trebuchet MS" panose="020B0603020202020204" pitchFamily="34" charset="0"/>
              </a:rPr>
              <a:t>.</a:t>
            </a:r>
          </a:p>
          <a:p>
            <a:pPr>
              <a:lnSpc>
                <a:spcPct val="150000"/>
              </a:lnSpc>
            </a:pPr>
            <a:endParaRPr lang="en-US" sz="2400" dirty="0">
              <a:solidFill>
                <a:srgbClr val="3C484E"/>
              </a:solidFill>
              <a:latin typeface="Trebuchet MS" panose="020B0603020202020204" pitchFamily="34" charset="0"/>
            </a:endParaRPr>
          </a:p>
          <a:p>
            <a:pPr>
              <a:lnSpc>
                <a:spcPct val="150000"/>
              </a:lnSpc>
            </a:pPr>
            <a:r>
              <a:rPr lang="en-US" sz="2400" dirty="0" smtClean="0">
                <a:solidFill>
                  <a:srgbClr val="0070C0"/>
                </a:solidFill>
                <a:latin typeface="Trebuchet MS" panose="020B0603020202020204" pitchFamily="34" charset="0"/>
              </a:rPr>
              <a:t>Step 5:</a:t>
            </a:r>
            <a:r>
              <a:rPr lang="en-US" sz="2400" dirty="0" smtClean="0">
                <a:solidFill>
                  <a:srgbClr val="3C484E"/>
                </a:solidFill>
                <a:latin typeface="Trebuchet MS" panose="020B0603020202020204" pitchFamily="34" charset="0"/>
              </a:rPr>
              <a:t> Moving </a:t>
            </a:r>
            <a:r>
              <a:rPr lang="en-US" sz="2400" dirty="0">
                <a:solidFill>
                  <a:srgbClr val="3C484E"/>
                </a:solidFill>
                <a:latin typeface="Trebuchet MS" panose="020B0603020202020204" pitchFamily="34" charset="0"/>
              </a:rPr>
              <a:t>on to the 0.5 sized item, we cannot place it in the current bin. Hence we place it in a new bin</a:t>
            </a:r>
            <a:r>
              <a:rPr lang="en-US" sz="2400" dirty="0" smtClean="0">
                <a:solidFill>
                  <a:srgbClr val="3C484E"/>
                </a:solidFill>
                <a:latin typeface="Trebuchet MS" panose="020B0603020202020204" pitchFamily="34" charset="0"/>
              </a:rPr>
              <a:t>.</a:t>
            </a:r>
          </a:p>
          <a:p>
            <a:pPr>
              <a:lnSpc>
                <a:spcPct val="150000"/>
              </a:lnSpc>
            </a:pPr>
            <a:endParaRPr lang="en-US" sz="2400" dirty="0">
              <a:solidFill>
                <a:srgbClr val="3C484E"/>
              </a:solidFill>
              <a:latin typeface="Trebuchet MS" panose="020B0603020202020204" pitchFamily="34" charset="0"/>
            </a:endParaRPr>
          </a:p>
          <a:p>
            <a:pPr>
              <a:lnSpc>
                <a:spcPct val="150000"/>
              </a:lnSpc>
            </a:pPr>
            <a:r>
              <a:rPr lang="en-US" sz="2400" dirty="0" smtClean="0">
                <a:solidFill>
                  <a:srgbClr val="0070C0"/>
                </a:solidFill>
                <a:latin typeface="Trebuchet MS" panose="020B0603020202020204" pitchFamily="34" charset="0"/>
              </a:rPr>
              <a:t>Step 6:</a:t>
            </a:r>
            <a:r>
              <a:rPr lang="en-US" sz="2400" dirty="0" smtClean="0">
                <a:latin typeface="Trebuchet MS" panose="020B0603020202020204" pitchFamily="34" charset="0"/>
              </a:rPr>
              <a:t> Moving </a:t>
            </a:r>
            <a:r>
              <a:rPr lang="en-US" sz="2400" dirty="0">
                <a:latin typeface="Trebuchet MS" panose="020B0603020202020204" pitchFamily="34" charset="0"/>
              </a:rPr>
              <a:t>on to the 0.2 sized item, we can place it in the current (third bin)</a:t>
            </a:r>
          </a:p>
          <a:p>
            <a:pPr>
              <a:lnSpc>
                <a:spcPct val="150000"/>
              </a:lnSpc>
            </a:pPr>
            <a:endParaRPr lang="en-IN" sz="2400" dirty="0">
              <a:solidFill>
                <a:srgbClr val="3C484E"/>
              </a:solidFill>
              <a:latin typeface="Trebuchet MS" panose="020B0603020202020204" pitchFamily="34" charset="0"/>
            </a:endParaRPr>
          </a:p>
        </p:txBody>
      </p:sp>
      <p:pic>
        <p:nvPicPr>
          <p:cNvPr id="9" name="Picture 8"/>
          <p:cNvPicPr>
            <a:picLocks noChangeAspect="1"/>
          </p:cNvPicPr>
          <p:nvPr/>
        </p:nvPicPr>
        <p:blipFill rotWithShape="1">
          <a:blip r:embed="rId6"/>
          <a:srcRect l="9036" r="7431"/>
          <a:stretch/>
        </p:blipFill>
        <p:spPr>
          <a:xfrm>
            <a:off x="5105400" y="1709708"/>
            <a:ext cx="3938954" cy="1258221"/>
          </a:xfrm>
          <a:prstGeom prst="rect">
            <a:avLst/>
          </a:prstGeom>
        </p:spPr>
      </p:pic>
      <p:pic>
        <p:nvPicPr>
          <p:cNvPr id="10" name="Picture 9"/>
          <p:cNvPicPr>
            <a:picLocks noChangeAspect="1"/>
          </p:cNvPicPr>
          <p:nvPr/>
        </p:nvPicPr>
        <p:blipFill>
          <a:blip r:embed="rId7"/>
          <a:stretch>
            <a:fillRect/>
          </a:stretch>
        </p:blipFill>
        <p:spPr>
          <a:xfrm>
            <a:off x="9375475" y="1679962"/>
            <a:ext cx="2257740" cy="1333686"/>
          </a:xfrm>
          <a:prstGeom prst="rect">
            <a:avLst/>
          </a:prstGeom>
        </p:spPr>
      </p:pic>
      <p:pic>
        <p:nvPicPr>
          <p:cNvPr id="11" name="Picture 10"/>
          <p:cNvPicPr>
            <a:picLocks noChangeAspect="1"/>
          </p:cNvPicPr>
          <p:nvPr/>
        </p:nvPicPr>
        <p:blipFill>
          <a:blip r:embed="rId8"/>
          <a:stretch>
            <a:fillRect/>
          </a:stretch>
        </p:blipFill>
        <p:spPr>
          <a:xfrm>
            <a:off x="5105400" y="3380152"/>
            <a:ext cx="3877216" cy="1262043"/>
          </a:xfrm>
          <a:prstGeom prst="rect">
            <a:avLst/>
          </a:prstGeom>
        </p:spPr>
      </p:pic>
      <p:pic>
        <p:nvPicPr>
          <p:cNvPr id="12" name="Picture 11"/>
          <p:cNvPicPr>
            <a:picLocks noChangeAspect="1"/>
          </p:cNvPicPr>
          <p:nvPr/>
        </p:nvPicPr>
        <p:blipFill>
          <a:blip r:embed="rId9"/>
          <a:stretch>
            <a:fillRect/>
          </a:stretch>
        </p:blipFill>
        <p:spPr>
          <a:xfrm>
            <a:off x="9141362" y="3555558"/>
            <a:ext cx="2772162" cy="1076475"/>
          </a:xfrm>
          <a:prstGeom prst="rect">
            <a:avLst/>
          </a:prstGeom>
        </p:spPr>
      </p:pic>
      <p:pic>
        <p:nvPicPr>
          <p:cNvPr id="15" name="Picture 14"/>
          <p:cNvPicPr>
            <a:picLocks noChangeAspect="1"/>
          </p:cNvPicPr>
          <p:nvPr/>
        </p:nvPicPr>
        <p:blipFill>
          <a:blip r:embed="rId10"/>
          <a:stretch>
            <a:fillRect/>
          </a:stretch>
        </p:blipFill>
        <p:spPr>
          <a:xfrm>
            <a:off x="4612064" y="5085563"/>
            <a:ext cx="3924848" cy="1135902"/>
          </a:xfrm>
          <a:prstGeom prst="rect">
            <a:avLst/>
          </a:prstGeom>
        </p:spPr>
      </p:pic>
      <p:pic>
        <p:nvPicPr>
          <p:cNvPr id="16" name="Picture 15"/>
          <p:cNvPicPr>
            <a:picLocks noChangeAspect="1"/>
          </p:cNvPicPr>
          <p:nvPr/>
        </p:nvPicPr>
        <p:blipFill rotWithShape="1">
          <a:blip r:embed="rId11"/>
          <a:srcRect t="22035"/>
          <a:stretch/>
        </p:blipFill>
        <p:spPr>
          <a:xfrm>
            <a:off x="8712946" y="5123219"/>
            <a:ext cx="2943636" cy="1305556"/>
          </a:xfrm>
          <a:prstGeom prst="rect">
            <a:avLst/>
          </a:prstGeom>
        </p:spPr>
      </p:pic>
    </p:spTree>
    <p:extLst>
      <p:ext uri="{BB962C8B-B14F-4D97-AF65-F5344CB8AC3E}">
        <p14:creationId xmlns:p14="http://schemas.microsoft.com/office/powerpoint/2010/main" val="39248354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39175"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7" name="Rectangle 6"/>
          <p:cNvSpPr/>
          <p:nvPr/>
        </p:nvSpPr>
        <p:spPr>
          <a:xfrm>
            <a:off x="380166" y="1195772"/>
            <a:ext cx="11431668" cy="5078313"/>
          </a:xfrm>
          <a:prstGeom prst="rect">
            <a:avLst/>
          </a:prstGeom>
        </p:spPr>
        <p:txBody>
          <a:bodyPr wrap="square">
            <a:spAutoFit/>
          </a:bodyPr>
          <a:lstStyle/>
          <a:p>
            <a:pPr>
              <a:lnSpc>
                <a:spcPct val="150000"/>
              </a:lnSpc>
            </a:pPr>
            <a:r>
              <a:rPr lang="en-US" sz="2400" dirty="0" smtClean="0">
                <a:solidFill>
                  <a:srgbClr val="0070C0"/>
                </a:solidFill>
                <a:latin typeface="Trebuchet MS" panose="020B0603020202020204" pitchFamily="34" charset="0"/>
              </a:rPr>
              <a:t>Step 7:</a:t>
            </a:r>
            <a:r>
              <a:rPr lang="en-US" sz="2400" dirty="0" smtClean="0">
                <a:solidFill>
                  <a:srgbClr val="3C484E"/>
                </a:solidFill>
                <a:latin typeface="Trebuchet MS" panose="020B0603020202020204" pitchFamily="34" charset="0"/>
              </a:rPr>
              <a:t> </a:t>
            </a:r>
            <a:r>
              <a:rPr lang="en-US" sz="2400" dirty="0">
                <a:solidFill>
                  <a:srgbClr val="3C484E"/>
                </a:solidFill>
                <a:latin typeface="Trebuchet MS" panose="020B0603020202020204" pitchFamily="34" charset="0"/>
              </a:rPr>
              <a:t>Similarly, placing all the other items following the Next-Fit algorithm we </a:t>
            </a:r>
            <a:r>
              <a:rPr lang="en-US" sz="2400" dirty="0" smtClean="0">
                <a:solidFill>
                  <a:srgbClr val="3C484E"/>
                </a:solidFill>
                <a:latin typeface="Trebuchet MS" panose="020B0603020202020204" pitchFamily="34" charset="0"/>
              </a:rPr>
              <a:t>get,</a:t>
            </a:r>
          </a:p>
          <a:p>
            <a:pPr>
              <a:lnSpc>
                <a:spcPct val="150000"/>
              </a:lnSpc>
            </a:pPr>
            <a:endParaRPr lang="en-US" sz="2400" dirty="0">
              <a:solidFill>
                <a:srgbClr val="3C484E"/>
              </a:solidFill>
              <a:latin typeface="Trebuchet MS" panose="020B0603020202020204" pitchFamily="34" charset="0"/>
            </a:endParaRPr>
          </a:p>
          <a:p>
            <a:pPr>
              <a:lnSpc>
                <a:spcPct val="150000"/>
              </a:lnSpc>
            </a:pPr>
            <a:endParaRPr lang="en-US" sz="2400" dirty="0" smtClean="0">
              <a:solidFill>
                <a:srgbClr val="3C484E"/>
              </a:solidFill>
              <a:latin typeface="Trebuchet MS" panose="020B0603020202020204" pitchFamily="34" charset="0"/>
            </a:endParaRPr>
          </a:p>
          <a:p>
            <a:pPr>
              <a:lnSpc>
                <a:spcPct val="150000"/>
              </a:lnSpc>
            </a:pPr>
            <a:endParaRPr lang="en-US" sz="2400" dirty="0">
              <a:solidFill>
                <a:srgbClr val="3C484E"/>
              </a:solidFill>
              <a:latin typeface="Trebuchet MS" panose="020B0603020202020204" pitchFamily="34" charset="0"/>
            </a:endParaRPr>
          </a:p>
          <a:p>
            <a:pPr>
              <a:lnSpc>
                <a:spcPct val="150000"/>
              </a:lnSpc>
            </a:pPr>
            <a:endParaRPr lang="en-US" sz="2400" dirty="0" smtClean="0">
              <a:solidFill>
                <a:srgbClr val="3C484E"/>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Thus we need 6 bins as opposed to the 4 bins of the optimal solution. Thus we can see that this algorithm is not very efficient.</a:t>
            </a:r>
            <a:endParaRPr lang="en-US" sz="2400" dirty="0" smtClean="0">
              <a:latin typeface="Trebuchet MS" panose="020B0603020202020204" pitchFamily="34" charset="0"/>
            </a:endParaRPr>
          </a:p>
          <a:p>
            <a:pPr>
              <a:lnSpc>
                <a:spcPct val="150000"/>
              </a:lnSpc>
            </a:pPr>
            <a:endParaRPr lang="en-US" sz="2400" dirty="0">
              <a:solidFill>
                <a:srgbClr val="3C484E"/>
              </a:solidFill>
              <a:latin typeface="Trebuchet MS" panose="020B0603020202020204" pitchFamily="34" charset="0"/>
            </a:endParaRPr>
          </a:p>
        </p:txBody>
      </p:sp>
      <p:pic>
        <p:nvPicPr>
          <p:cNvPr id="3" name="Picture 2"/>
          <p:cNvPicPr>
            <a:picLocks noChangeAspect="1"/>
          </p:cNvPicPr>
          <p:nvPr/>
        </p:nvPicPr>
        <p:blipFill rotWithShape="1">
          <a:blip r:embed="rId6"/>
          <a:srcRect t="31954" b="6928"/>
          <a:stretch/>
        </p:blipFill>
        <p:spPr>
          <a:xfrm>
            <a:off x="3190818" y="1827740"/>
            <a:ext cx="4377600" cy="590844"/>
          </a:xfrm>
          <a:prstGeom prst="rect">
            <a:avLst/>
          </a:prstGeom>
        </p:spPr>
      </p:pic>
      <p:pic>
        <p:nvPicPr>
          <p:cNvPr id="5" name="Picture 4"/>
          <p:cNvPicPr>
            <a:picLocks noChangeAspect="1"/>
          </p:cNvPicPr>
          <p:nvPr/>
        </p:nvPicPr>
        <p:blipFill>
          <a:blip r:embed="rId7"/>
          <a:stretch>
            <a:fillRect/>
          </a:stretch>
        </p:blipFill>
        <p:spPr>
          <a:xfrm>
            <a:off x="2249044" y="2424950"/>
            <a:ext cx="5668166" cy="1865696"/>
          </a:xfrm>
          <a:prstGeom prst="rect">
            <a:avLst/>
          </a:prstGeom>
        </p:spPr>
      </p:pic>
    </p:spTree>
    <p:extLst>
      <p:ext uri="{BB962C8B-B14F-4D97-AF65-F5344CB8AC3E}">
        <p14:creationId xmlns:p14="http://schemas.microsoft.com/office/powerpoint/2010/main" val="1158597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6" name="Rectangle 5"/>
          <p:cNvSpPr/>
          <p:nvPr/>
        </p:nvSpPr>
        <p:spPr>
          <a:xfrm>
            <a:off x="380166" y="1056810"/>
            <a:ext cx="2416046" cy="3693319"/>
          </a:xfrm>
          <a:prstGeom prst="rect">
            <a:avLst/>
          </a:prstGeom>
        </p:spPr>
        <p:txBody>
          <a:bodyPr wrap="none">
            <a:spAutoFit/>
          </a:bodyPr>
          <a:lstStyle/>
          <a:p>
            <a:pPr fontAlgn="base"/>
            <a:r>
              <a:rPr lang="en-IN" b="1" dirty="0">
                <a:solidFill>
                  <a:srgbClr val="090A0B"/>
                </a:solidFill>
                <a:latin typeface="-apple-system"/>
              </a:rPr>
              <a:t>2) First Fit </a:t>
            </a:r>
            <a:r>
              <a:rPr lang="en-IN" b="1" dirty="0" smtClean="0">
                <a:solidFill>
                  <a:srgbClr val="090A0B"/>
                </a:solidFill>
                <a:latin typeface="-apple-system"/>
              </a:rPr>
              <a:t>algorithm</a:t>
            </a:r>
          </a:p>
          <a:p>
            <a:pPr fontAlgn="base"/>
            <a:endParaRPr lang="en-US" b="1" i="0" dirty="0">
              <a:solidFill>
                <a:srgbClr val="090A0B"/>
              </a:solidFill>
              <a:effectLst/>
              <a:latin typeface="-apple-system"/>
            </a:endParaRPr>
          </a:p>
          <a:p>
            <a:pPr fontAlgn="base"/>
            <a:r>
              <a:rPr lang="en-US" b="1" i="0" dirty="0" smtClean="0">
                <a:solidFill>
                  <a:srgbClr val="090A0B"/>
                </a:solidFill>
                <a:effectLst/>
                <a:latin typeface="-apple-system"/>
              </a:rPr>
              <a:t>Step1 </a:t>
            </a: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smtClean="0">
                <a:solidFill>
                  <a:srgbClr val="090A0B"/>
                </a:solidFill>
                <a:effectLst/>
                <a:latin typeface="-apple-system"/>
              </a:rPr>
              <a:t>Step2 </a:t>
            </a:r>
            <a:endParaRPr lang="en-IN" b="1" i="0" dirty="0">
              <a:solidFill>
                <a:srgbClr val="090A0B"/>
              </a:solidFill>
              <a:effectLst/>
              <a:latin typeface="-apple-system"/>
            </a:endParaRPr>
          </a:p>
        </p:txBody>
      </p:sp>
      <p:pic>
        <p:nvPicPr>
          <p:cNvPr id="10" name="Picture 9"/>
          <p:cNvPicPr>
            <a:picLocks noChangeAspect="1"/>
          </p:cNvPicPr>
          <p:nvPr/>
        </p:nvPicPr>
        <p:blipFill>
          <a:blip r:embed="rId6"/>
          <a:stretch>
            <a:fillRect/>
          </a:stretch>
        </p:blipFill>
        <p:spPr>
          <a:xfrm>
            <a:off x="1139484" y="1772529"/>
            <a:ext cx="9017390" cy="4882463"/>
          </a:xfrm>
          <a:prstGeom prst="rect">
            <a:avLst/>
          </a:prstGeom>
        </p:spPr>
      </p:pic>
    </p:spTree>
    <p:extLst>
      <p:ext uri="{BB962C8B-B14F-4D97-AF65-F5344CB8AC3E}">
        <p14:creationId xmlns:p14="http://schemas.microsoft.com/office/powerpoint/2010/main" val="24504479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9" name="Rectangle 8"/>
          <p:cNvSpPr/>
          <p:nvPr/>
        </p:nvSpPr>
        <p:spPr>
          <a:xfrm>
            <a:off x="380166" y="1056810"/>
            <a:ext cx="941283" cy="3139321"/>
          </a:xfrm>
          <a:prstGeom prst="rect">
            <a:avLst/>
          </a:prstGeom>
        </p:spPr>
        <p:txBody>
          <a:bodyPr wrap="none">
            <a:spAutoFit/>
          </a:bodyPr>
          <a:lstStyle/>
          <a:p>
            <a:pPr fontAlgn="base"/>
            <a:r>
              <a:rPr lang="en-US" b="1" i="0" dirty="0" smtClean="0">
                <a:solidFill>
                  <a:srgbClr val="090A0B"/>
                </a:solidFill>
                <a:effectLst/>
                <a:latin typeface="-apple-system"/>
              </a:rPr>
              <a:t>Step 3 </a:t>
            </a: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smtClean="0">
                <a:solidFill>
                  <a:srgbClr val="090A0B"/>
                </a:solidFill>
                <a:effectLst/>
                <a:latin typeface="-apple-system"/>
              </a:rPr>
              <a:t>Step 4 </a:t>
            </a:r>
            <a:endParaRPr lang="en-IN" b="1" i="0" dirty="0">
              <a:solidFill>
                <a:srgbClr val="090A0B"/>
              </a:solidFill>
              <a:effectLst/>
              <a:latin typeface="-apple-system"/>
            </a:endParaRPr>
          </a:p>
        </p:txBody>
      </p:sp>
      <p:pic>
        <p:nvPicPr>
          <p:cNvPr id="3" name="Picture 2"/>
          <p:cNvPicPr>
            <a:picLocks noChangeAspect="1"/>
          </p:cNvPicPr>
          <p:nvPr/>
        </p:nvPicPr>
        <p:blipFill>
          <a:blip r:embed="rId6"/>
          <a:stretch>
            <a:fillRect/>
          </a:stretch>
        </p:blipFill>
        <p:spPr>
          <a:xfrm>
            <a:off x="1327831" y="1090387"/>
            <a:ext cx="8754697" cy="5430008"/>
          </a:xfrm>
          <a:prstGeom prst="rect">
            <a:avLst/>
          </a:prstGeom>
        </p:spPr>
      </p:pic>
    </p:spTree>
    <p:extLst>
      <p:ext uri="{BB962C8B-B14F-4D97-AF65-F5344CB8AC3E}">
        <p14:creationId xmlns:p14="http://schemas.microsoft.com/office/powerpoint/2010/main" val="3373781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grpSp>
        <p:nvGrpSpPr>
          <p:cNvPr id="8" name="Group 7"/>
          <p:cNvGrpSpPr/>
          <p:nvPr/>
        </p:nvGrpSpPr>
        <p:grpSpPr>
          <a:xfrm>
            <a:off x="380165" y="983821"/>
            <a:ext cx="10184671" cy="5115639"/>
            <a:chOff x="380166" y="1056810"/>
            <a:chExt cx="8781452" cy="5115639"/>
          </a:xfrm>
        </p:grpSpPr>
        <p:sp>
          <p:nvSpPr>
            <p:cNvPr id="9" name="Rectangle 8"/>
            <p:cNvSpPr/>
            <p:nvPr/>
          </p:nvSpPr>
          <p:spPr>
            <a:xfrm>
              <a:off x="380166" y="1056810"/>
              <a:ext cx="941283" cy="3139321"/>
            </a:xfrm>
            <a:prstGeom prst="rect">
              <a:avLst/>
            </a:prstGeom>
          </p:spPr>
          <p:txBody>
            <a:bodyPr wrap="square">
              <a:spAutoFit/>
            </a:bodyPr>
            <a:lstStyle/>
            <a:p>
              <a:pPr fontAlgn="base"/>
              <a:r>
                <a:rPr lang="en-US" b="1" i="0" dirty="0" smtClean="0">
                  <a:solidFill>
                    <a:srgbClr val="090A0B"/>
                  </a:solidFill>
                  <a:effectLst/>
                  <a:latin typeface="-apple-system"/>
                </a:rPr>
                <a:t>Step 5 </a:t>
              </a: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smtClean="0">
                  <a:solidFill>
                    <a:srgbClr val="090A0B"/>
                  </a:solidFill>
                  <a:effectLst/>
                  <a:latin typeface="-apple-system"/>
                </a:rPr>
                <a:t>Step 6</a:t>
              </a:r>
              <a:endParaRPr lang="en-IN" b="1" i="0" dirty="0">
                <a:solidFill>
                  <a:srgbClr val="090A0B"/>
                </a:solidFill>
                <a:effectLst/>
                <a:latin typeface="-apple-system"/>
              </a:endParaRPr>
            </a:p>
          </p:txBody>
        </p:sp>
        <p:pic>
          <p:nvPicPr>
            <p:cNvPr id="5" name="Picture 4"/>
            <p:cNvPicPr>
              <a:picLocks noChangeAspect="1"/>
            </p:cNvPicPr>
            <p:nvPr/>
          </p:nvPicPr>
          <p:blipFill>
            <a:blip r:embed="rId6"/>
            <a:stretch>
              <a:fillRect/>
            </a:stretch>
          </p:blipFill>
          <p:spPr>
            <a:xfrm>
              <a:off x="1321449" y="1056810"/>
              <a:ext cx="7840169" cy="5115639"/>
            </a:xfrm>
            <a:prstGeom prst="rect">
              <a:avLst/>
            </a:prstGeom>
          </p:spPr>
        </p:pic>
      </p:grpSp>
      <p:sp>
        <p:nvSpPr>
          <p:cNvPr id="3" name="Rectangle 2"/>
          <p:cNvSpPr/>
          <p:nvPr/>
        </p:nvSpPr>
        <p:spPr>
          <a:xfrm>
            <a:off x="314314" y="6111478"/>
            <a:ext cx="11563305" cy="646331"/>
          </a:xfrm>
          <a:prstGeom prst="rect">
            <a:avLst/>
          </a:prstGeom>
        </p:spPr>
        <p:txBody>
          <a:bodyPr wrap="square">
            <a:spAutoFit/>
          </a:bodyPr>
          <a:lstStyle/>
          <a:p>
            <a:pPr marL="285750" indent="-285750">
              <a:buFont typeface="Arial" panose="020B0604020202020204" pitchFamily="34" charset="0"/>
              <a:buChar char="•"/>
            </a:pPr>
            <a:r>
              <a:rPr lang="en-US" b="1" dirty="0">
                <a:latin typeface="Trebuchet MS" panose="020B0603020202020204" pitchFamily="34" charset="0"/>
              </a:rPr>
              <a:t>Thus we need 5 bins as opposed to the 4 bins of the optimal solution but is much more efficient than Next-Fit algorithm.</a:t>
            </a:r>
            <a:endParaRPr lang="en-IN" b="1" dirty="0">
              <a:latin typeface="Trebuchet MS" panose="020B0603020202020204" pitchFamily="34" charset="0"/>
            </a:endParaRPr>
          </a:p>
        </p:txBody>
      </p:sp>
    </p:spTree>
    <p:extLst>
      <p:ext uri="{BB962C8B-B14F-4D97-AF65-F5344CB8AC3E}">
        <p14:creationId xmlns:p14="http://schemas.microsoft.com/office/powerpoint/2010/main" val="13997705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grpSp>
        <p:nvGrpSpPr>
          <p:cNvPr id="7" name="Group 6"/>
          <p:cNvGrpSpPr/>
          <p:nvPr/>
        </p:nvGrpSpPr>
        <p:grpSpPr>
          <a:xfrm>
            <a:off x="211353" y="983821"/>
            <a:ext cx="10775515" cy="5709332"/>
            <a:chOff x="211354" y="983821"/>
            <a:chExt cx="8580658" cy="5709332"/>
          </a:xfrm>
        </p:grpSpPr>
        <p:sp>
          <p:nvSpPr>
            <p:cNvPr id="9" name="Rectangle 8"/>
            <p:cNvSpPr/>
            <p:nvPr/>
          </p:nvSpPr>
          <p:spPr>
            <a:xfrm>
              <a:off x="211354" y="983821"/>
              <a:ext cx="2433102" cy="3693319"/>
            </a:xfrm>
            <a:prstGeom prst="rect">
              <a:avLst/>
            </a:prstGeom>
          </p:spPr>
          <p:txBody>
            <a:bodyPr wrap="none">
              <a:spAutoFit/>
            </a:bodyPr>
            <a:lstStyle/>
            <a:p>
              <a:pPr fontAlgn="base"/>
              <a:r>
                <a:rPr lang="en-IN" b="1" dirty="0" smtClean="0">
                  <a:solidFill>
                    <a:srgbClr val="0070C0"/>
                  </a:solidFill>
                </a:rPr>
                <a:t>3. Best </a:t>
              </a:r>
              <a:r>
                <a:rPr lang="en-IN" b="1" dirty="0">
                  <a:solidFill>
                    <a:srgbClr val="0070C0"/>
                  </a:solidFill>
                </a:rPr>
                <a:t>Fit Algorithm</a:t>
              </a:r>
            </a:p>
            <a:p>
              <a:pPr fontAlgn="base"/>
              <a:endParaRPr lang="en-US" b="1" i="0" dirty="0" smtClean="0">
                <a:solidFill>
                  <a:srgbClr val="090A0B"/>
                </a:solidFill>
                <a:effectLst/>
                <a:latin typeface="-apple-system"/>
              </a:endParaRPr>
            </a:p>
            <a:p>
              <a:pPr fontAlgn="base"/>
              <a:r>
                <a:rPr lang="en-US" b="1" i="0" dirty="0" smtClean="0">
                  <a:solidFill>
                    <a:srgbClr val="090A0B"/>
                  </a:solidFill>
                  <a:effectLst/>
                  <a:latin typeface="-apple-system"/>
                </a:rPr>
                <a:t>Step 1 </a:t>
              </a: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smtClean="0">
                  <a:solidFill>
                    <a:srgbClr val="090A0B"/>
                  </a:solidFill>
                  <a:effectLst/>
                  <a:latin typeface="-apple-system"/>
                </a:rPr>
                <a:t>Step 2</a:t>
              </a:r>
              <a:endParaRPr lang="en-IN" b="1" i="0" dirty="0">
                <a:solidFill>
                  <a:srgbClr val="090A0B"/>
                </a:solidFill>
                <a:effectLst/>
                <a:latin typeface="-apple-system"/>
              </a:endParaRPr>
            </a:p>
          </p:txBody>
        </p:sp>
        <p:pic>
          <p:nvPicPr>
            <p:cNvPr id="6" name="Picture 5"/>
            <p:cNvPicPr>
              <a:picLocks noChangeAspect="1"/>
            </p:cNvPicPr>
            <p:nvPr/>
          </p:nvPicPr>
          <p:blipFill>
            <a:blip r:embed="rId6"/>
            <a:stretch>
              <a:fillRect/>
            </a:stretch>
          </p:blipFill>
          <p:spPr>
            <a:xfrm>
              <a:off x="1132843" y="1587040"/>
              <a:ext cx="7659169" cy="5106113"/>
            </a:xfrm>
            <a:prstGeom prst="rect">
              <a:avLst/>
            </a:prstGeom>
          </p:spPr>
        </p:pic>
      </p:grpSp>
    </p:spTree>
    <p:extLst>
      <p:ext uri="{BB962C8B-B14F-4D97-AF65-F5344CB8AC3E}">
        <p14:creationId xmlns:p14="http://schemas.microsoft.com/office/powerpoint/2010/main" val="15665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9" name="Rectangle 8"/>
          <p:cNvSpPr/>
          <p:nvPr/>
        </p:nvSpPr>
        <p:spPr>
          <a:xfrm>
            <a:off x="211353" y="983821"/>
            <a:ext cx="941283" cy="3139321"/>
          </a:xfrm>
          <a:prstGeom prst="rect">
            <a:avLst/>
          </a:prstGeom>
        </p:spPr>
        <p:txBody>
          <a:bodyPr wrap="none">
            <a:spAutoFit/>
          </a:bodyPr>
          <a:lstStyle/>
          <a:p>
            <a:pPr fontAlgn="base"/>
            <a:r>
              <a:rPr lang="en-US" b="1" i="0" dirty="0" smtClean="0">
                <a:solidFill>
                  <a:srgbClr val="090A0B"/>
                </a:solidFill>
                <a:effectLst/>
                <a:latin typeface="-apple-system"/>
              </a:rPr>
              <a:t>Step 3 </a:t>
            </a: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smtClean="0">
                <a:solidFill>
                  <a:srgbClr val="090A0B"/>
                </a:solidFill>
                <a:effectLst/>
                <a:latin typeface="-apple-system"/>
              </a:rPr>
              <a:t>Step 4</a:t>
            </a:r>
            <a:endParaRPr lang="en-IN" b="1" i="0" dirty="0">
              <a:solidFill>
                <a:srgbClr val="090A0B"/>
              </a:solidFill>
              <a:effectLst/>
              <a:latin typeface="-apple-system"/>
            </a:endParaRPr>
          </a:p>
        </p:txBody>
      </p:sp>
      <p:pic>
        <p:nvPicPr>
          <p:cNvPr id="3" name="Picture 2"/>
          <p:cNvPicPr>
            <a:picLocks noChangeAspect="1"/>
          </p:cNvPicPr>
          <p:nvPr/>
        </p:nvPicPr>
        <p:blipFill rotWithShape="1">
          <a:blip r:embed="rId6"/>
          <a:srcRect b="2099"/>
          <a:stretch/>
        </p:blipFill>
        <p:spPr>
          <a:xfrm>
            <a:off x="1152636" y="983821"/>
            <a:ext cx="8863561" cy="5248167"/>
          </a:xfrm>
          <a:prstGeom prst="rect">
            <a:avLst/>
          </a:prstGeom>
        </p:spPr>
      </p:pic>
    </p:spTree>
    <p:extLst>
      <p:ext uri="{BB962C8B-B14F-4D97-AF65-F5344CB8AC3E}">
        <p14:creationId xmlns:p14="http://schemas.microsoft.com/office/powerpoint/2010/main" val="436190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Bin Packing problem</a:t>
            </a:r>
            <a:endParaRPr lang="en-IN" sz="3200" dirty="0">
              <a:solidFill>
                <a:schemeClr val="bg1"/>
              </a:solidFill>
              <a:latin typeface="Trebuchet MS" panose="020B0603020202020204" pitchFamily="34" charset="0"/>
            </a:endParaRPr>
          </a:p>
        </p:txBody>
      </p:sp>
      <p:sp>
        <p:nvSpPr>
          <p:cNvPr id="9" name="Rectangle 8"/>
          <p:cNvSpPr/>
          <p:nvPr/>
        </p:nvSpPr>
        <p:spPr>
          <a:xfrm>
            <a:off x="211353" y="983821"/>
            <a:ext cx="941283" cy="3139321"/>
          </a:xfrm>
          <a:prstGeom prst="rect">
            <a:avLst/>
          </a:prstGeom>
        </p:spPr>
        <p:txBody>
          <a:bodyPr wrap="none">
            <a:spAutoFit/>
          </a:bodyPr>
          <a:lstStyle/>
          <a:p>
            <a:pPr fontAlgn="base"/>
            <a:r>
              <a:rPr lang="en-US" b="1" i="0" dirty="0" smtClean="0">
                <a:solidFill>
                  <a:srgbClr val="090A0B"/>
                </a:solidFill>
                <a:effectLst/>
                <a:latin typeface="-apple-system"/>
              </a:rPr>
              <a:t>Step 5 </a:t>
            </a: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endParaRPr lang="en-US" b="1" i="0" dirty="0" smtClean="0">
              <a:solidFill>
                <a:srgbClr val="090A0B"/>
              </a:solidFill>
              <a:effectLst/>
              <a:latin typeface="-apple-system"/>
            </a:endParaRPr>
          </a:p>
          <a:p>
            <a:pPr fontAlgn="base"/>
            <a:endParaRPr lang="en-US" b="1" dirty="0">
              <a:solidFill>
                <a:srgbClr val="090A0B"/>
              </a:solidFill>
              <a:latin typeface="-apple-system"/>
            </a:endParaRPr>
          </a:p>
          <a:p>
            <a:pPr fontAlgn="base"/>
            <a:r>
              <a:rPr lang="en-US" b="1" i="0" dirty="0" smtClean="0">
                <a:solidFill>
                  <a:srgbClr val="090A0B"/>
                </a:solidFill>
                <a:effectLst/>
                <a:latin typeface="-apple-system"/>
              </a:rPr>
              <a:t>Step 6</a:t>
            </a:r>
            <a:endParaRPr lang="en-IN" b="1" i="0" dirty="0">
              <a:solidFill>
                <a:srgbClr val="090A0B"/>
              </a:solidFill>
              <a:effectLst/>
              <a:latin typeface="-apple-system"/>
            </a:endParaRPr>
          </a:p>
        </p:txBody>
      </p:sp>
      <p:pic>
        <p:nvPicPr>
          <p:cNvPr id="5" name="Picture 4"/>
          <p:cNvPicPr>
            <a:picLocks noChangeAspect="1"/>
          </p:cNvPicPr>
          <p:nvPr/>
        </p:nvPicPr>
        <p:blipFill>
          <a:blip r:embed="rId6"/>
          <a:stretch>
            <a:fillRect/>
          </a:stretch>
        </p:blipFill>
        <p:spPr>
          <a:xfrm>
            <a:off x="1049169" y="1026804"/>
            <a:ext cx="8615336" cy="5125165"/>
          </a:xfrm>
          <a:prstGeom prst="rect">
            <a:avLst/>
          </a:prstGeom>
        </p:spPr>
      </p:pic>
    </p:spTree>
    <p:extLst>
      <p:ext uri="{BB962C8B-B14F-4D97-AF65-F5344CB8AC3E}">
        <p14:creationId xmlns:p14="http://schemas.microsoft.com/office/powerpoint/2010/main" val="1154548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80165" y="1122020"/>
            <a:ext cx="10536363" cy="4601260"/>
          </a:xfrm>
          <a:prstGeom prst="rect">
            <a:avLst/>
          </a:prstGeom>
          <a:noFill/>
        </p:spPr>
        <p:txBody>
          <a:bodyPr wrap="square">
            <a:spAutoFit/>
          </a:bodyPr>
          <a:lstStyle/>
          <a:p>
            <a:pPr lvl="0" algn="just">
              <a:lnSpc>
                <a:spcPct val="150000"/>
              </a:lnSpc>
              <a:spcBef>
                <a:spcPts val="1200"/>
              </a:spcBef>
              <a:spcAft>
                <a:spcPts val="600"/>
              </a:spcAft>
              <a:buClr>
                <a:srgbClr val="D60093"/>
              </a:buClr>
              <a:defRPr/>
            </a:pPr>
            <a:r>
              <a:rPr lang="en-US" sz="2400" dirty="0">
                <a:solidFill>
                  <a:srgbClr val="0070C0"/>
                </a:solidFill>
                <a:latin typeface="Trebuchet MS" panose="020B0603020202020204" pitchFamily="34" charset="0"/>
              </a:rPr>
              <a:t>What is Problem Reduction?</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Problem reduction is an </a:t>
            </a:r>
            <a:r>
              <a:rPr lang="en-US" sz="2400" dirty="0">
                <a:solidFill>
                  <a:srgbClr val="0070C0"/>
                </a:solidFill>
                <a:latin typeface="Trebuchet MS" panose="020B0603020202020204" pitchFamily="34" charset="0"/>
              </a:rPr>
              <a:t>algorithm design technique </a:t>
            </a:r>
            <a:r>
              <a:rPr lang="en-US" sz="2400" dirty="0">
                <a:latin typeface="Trebuchet MS" panose="020B0603020202020204" pitchFamily="34" charset="0"/>
              </a:rPr>
              <a:t>that takes a complex problem and reduces it to a simpler one. </a:t>
            </a:r>
            <a:endParaRPr lang="en-US" sz="2400" dirty="0" smtClean="0">
              <a:latin typeface="Trebuchet MS" panose="020B0603020202020204" pitchFamily="34" charset="0"/>
            </a:endParaRPr>
          </a:p>
          <a:p>
            <a:pPr marL="342900" lvl="0" indent="-342900" algn="just">
              <a:lnSpc>
                <a:spcPct val="150000"/>
              </a:lnSpc>
              <a:buClr>
                <a:schemeClr val="tx1"/>
              </a:buClr>
              <a:buFont typeface="Arial" panose="020B0604020202020204" pitchFamily="34" charset="0"/>
              <a:buChar char="•"/>
              <a:defRPr/>
            </a:pPr>
            <a:r>
              <a:rPr lang="en-US" sz="2400" dirty="0" smtClean="0">
                <a:latin typeface="Trebuchet MS" panose="020B0603020202020204" pitchFamily="34" charset="0"/>
              </a:rPr>
              <a:t>The </a:t>
            </a:r>
            <a:r>
              <a:rPr lang="en-US" sz="2400" dirty="0">
                <a:latin typeface="Trebuchet MS" panose="020B0603020202020204" pitchFamily="34" charset="0"/>
              </a:rPr>
              <a:t>simpler problem is then solved and the solution of the simpler problem is then transformed to the solution of the original problem.</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Problem reduction is a powerful technique that can be used to simplify complex problems and make them easier to solve. It can also be used to reduce the time and space complexity of algorithms</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400526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73815" y="983821"/>
            <a:ext cx="11431669" cy="5078313"/>
          </a:xfrm>
          <a:prstGeom prst="rect">
            <a:avLst/>
          </a:prstGeom>
          <a:noFill/>
        </p:spPr>
        <p:txBody>
          <a:bodyPr wrap="square">
            <a:spAutoFit/>
          </a:bodyPr>
          <a:lstStyle/>
          <a:p>
            <a:pPr lvl="0" algn="just">
              <a:lnSpc>
                <a:spcPct val="150000"/>
              </a:lnSpc>
              <a:buClr>
                <a:srgbClr val="D60093"/>
              </a:buClr>
              <a:defRPr/>
            </a:pPr>
            <a:r>
              <a:rPr lang="en-US" sz="2400" dirty="0">
                <a:solidFill>
                  <a:srgbClr val="0070C0"/>
                </a:solidFill>
                <a:latin typeface="Trebuchet MS" panose="020B0603020202020204" pitchFamily="34" charset="0"/>
              </a:rPr>
              <a:t>Example</a:t>
            </a:r>
            <a:r>
              <a:rPr lang="en-US" sz="2400" dirty="0" smtClean="0">
                <a:solidFill>
                  <a:srgbClr val="0070C0"/>
                </a:solidFill>
                <a:latin typeface="Trebuchet MS" panose="020B0603020202020204" pitchFamily="34" charset="0"/>
              </a:rPr>
              <a:t>:</a:t>
            </a:r>
            <a:r>
              <a:rPr lang="en-US" sz="2400" dirty="0" smtClean="0">
                <a:latin typeface="Trebuchet MS" panose="020B0603020202020204" pitchFamily="34" charset="0"/>
              </a:rPr>
              <a:t> Calculate </a:t>
            </a:r>
            <a:r>
              <a:rPr lang="en-US" sz="2400" dirty="0">
                <a:latin typeface="Trebuchet MS" panose="020B0603020202020204" pitchFamily="34" charset="0"/>
              </a:rPr>
              <a:t>the LCM (Least Common Multiple) of two numbers X and Y.</a:t>
            </a:r>
          </a:p>
          <a:p>
            <a:pPr lvl="0" algn="just">
              <a:lnSpc>
                <a:spcPct val="150000"/>
              </a:lnSpc>
              <a:buClr>
                <a:srgbClr val="D60093"/>
              </a:buClr>
              <a:defRPr/>
            </a:pPr>
            <a:r>
              <a:rPr lang="en-US" sz="2400" dirty="0" smtClean="0">
                <a:solidFill>
                  <a:srgbClr val="FF0000"/>
                </a:solidFill>
                <a:latin typeface="Trebuchet MS" panose="020B0603020202020204" pitchFamily="34" charset="0"/>
              </a:rPr>
              <a:t>Approach </a:t>
            </a:r>
            <a:r>
              <a:rPr lang="en-US" sz="2400" dirty="0">
                <a:solidFill>
                  <a:srgbClr val="FF0000"/>
                </a:solidFill>
                <a:latin typeface="Trebuchet MS" panose="020B0603020202020204" pitchFamily="34" charset="0"/>
              </a:rPr>
              <a:t>1:</a:t>
            </a:r>
          </a:p>
          <a:p>
            <a:pPr lvl="0" algn="just">
              <a:lnSpc>
                <a:spcPct val="150000"/>
              </a:lnSpc>
              <a:buClr>
                <a:srgbClr val="D60093"/>
              </a:buClr>
              <a:defRPr/>
            </a:pPr>
            <a:r>
              <a:rPr lang="en-US" sz="2400" dirty="0" smtClean="0">
                <a:latin typeface="Trebuchet MS" panose="020B0603020202020204" pitchFamily="34" charset="0"/>
              </a:rPr>
              <a:t>To </a:t>
            </a:r>
            <a:r>
              <a:rPr lang="en-US" sz="2400" dirty="0">
                <a:latin typeface="Trebuchet MS" panose="020B0603020202020204" pitchFamily="34" charset="0"/>
              </a:rPr>
              <a:t>solve the problem one can iterate through the multiples of the bigger element (say X) until that is also a multiple of the other element. This can be written as follows:</a:t>
            </a:r>
          </a:p>
          <a:p>
            <a:pPr marL="342900" lvl="0" indent="-342900" algn="just">
              <a:lnSpc>
                <a:spcPct val="150000"/>
              </a:lnSpc>
              <a:buClr>
                <a:schemeClr val="tx1"/>
              </a:buClr>
              <a:buFont typeface="Arial" panose="020B0604020202020204" pitchFamily="34" charset="0"/>
              <a:buChar char="•"/>
              <a:defRPr/>
            </a:pPr>
            <a:r>
              <a:rPr lang="en-US" sz="2400" dirty="0" smtClean="0">
                <a:latin typeface="Trebuchet MS" panose="020B0603020202020204" pitchFamily="34" charset="0"/>
              </a:rPr>
              <a:t>Select </a:t>
            </a:r>
            <a:r>
              <a:rPr lang="en-US" sz="2400" dirty="0">
                <a:latin typeface="Trebuchet MS" panose="020B0603020202020204" pitchFamily="34" charset="0"/>
              </a:rPr>
              <a:t>the bigger element (say X here).</a:t>
            </a: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Iterate through the multiples of X:</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If this is also a multiple of Y, return this as the answer.</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Otherwise, continue the traversal</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12287987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73815" y="983821"/>
            <a:ext cx="11431669" cy="5632311"/>
          </a:xfrm>
          <a:prstGeom prst="rect">
            <a:avLst/>
          </a:prstGeom>
          <a:noFill/>
        </p:spPr>
        <p:txBody>
          <a:bodyPr wrap="square">
            <a:spAutoFit/>
          </a:bodyPr>
          <a:lstStyle/>
          <a:p>
            <a:pPr lvl="0" algn="just">
              <a:lnSpc>
                <a:spcPct val="150000"/>
              </a:lnSpc>
              <a:buClr>
                <a:srgbClr val="D60093"/>
              </a:buClr>
              <a:defRPr/>
            </a:pPr>
            <a:r>
              <a:rPr lang="en-US" sz="2400" dirty="0">
                <a:solidFill>
                  <a:srgbClr val="0070C0"/>
                </a:solidFill>
                <a:latin typeface="Trebuchet MS" panose="020B0603020202020204" pitchFamily="34" charset="0"/>
              </a:rPr>
              <a:t>Example</a:t>
            </a:r>
            <a:r>
              <a:rPr lang="en-US" sz="2400" dirty="0" smtClean="0">
                <a:solidFill>
                  <a:srgbClr val="0070C0"/>
                </a:solidFill>
                <a:latin typeface="Trebuchet MS" panose="020B0603020202020204" pitchFamily="34" charset="0"/>
              </a:rPr>
              <a:t>:</a:t>
            </a:r>
            <a:r>
              <a:rPr lang="en-US" sz="2400" dirty="0" smtClean="0">
                <a:latin typeface="Trebuchet MS" panose="020B0603020202020204" pitchFamily="34" charset="0"/>
              </a:rPr>
              <a:t> Calculate </a:t>
            </a:r>
            <a:r>
              <a:rPr lang="en-US" sz="2400" dirty="0">
                <a:latin typeface="Trebuchet MS" panose="020B0603020202020204" pitchFamily="34" charset="0"/>
              </a:rPr>
              <a:t>the LCM (Least Common Multiple) of two numbers X and Y.</a:t>
            </a:r>
          </a:p>
          <a:p>
            <a:pPr lvl="0" algn="just">
              <a:lnSpc>
                <a:spcPct val="150000"/>
              </a:lnSpc>
              <a:buClr>
                <a:srgbClr val="D60093"/>
              </a:buClr>
              <a:defRPr/>
            </a:pPr>
            <a:r>
              <a:rPr lang="en-US" sz="2400" dirty="0" smtClean="0">
                <a:solidFill>
                  <a:srgbClr val="FF0000"/>
                </a:solidFill>
                <a:latin typeface="Trebuchet MS" panose="020B0603020202020204" pitchFamily="34" charset="0"/>
              </a:rPr>
              <a:t>Approach </a:t>
            </a:r>
            <a:r>
              <a:rPr lang="en-US" sz="2400" dirty="0">
                <a:solidFill>
                  <a:srgbClr val="FF0000"/>
                </a:solidFill>
                <a:latin typeface="Trebuchet MS" panose="020B0603020202020204" pitchFamily="34" charset="0"/>
              </a:rPr>
              <a:t>1:</a:t>
            </a:r>
          </a:p>
          <a:p>
            <a:pPr lvl="0" algn="just">
              <a:lnSpc>
                <a:spcPct val="150000"/>
              </a:lnSpc>
              <a:buClr>
                <a:srgbClr val="D60093"/>
              </a:buClr>
              <a:defRPr/>
            </a:pPr>
            <a:r>
              <a:rPr lang="en-US" sz="2400" dirty="0" smtClean="0">
                <a:latin typeface="Trebuchet MS" panose="020B0603020202020204" pitchFamily="34" charset="0"/>
              </a:rPr>
              <a:t>To </a:t>
            </a:r>
            <a:r>
              <a:rPr lang="en-US" sz="2400" dirty="0">
                <a:latin typeface="Trebuchet MS" panose="020B0603020202020204" pitchFamily="34" charset="0"/>
              </a:rPr>
              <a:t>solve the problem one can iterate through the multiples of the bigger element (say X) until that is also a multiple of the other element. This can be written as follows:</a:t>
            </a:r>
          </a:p>
          <a:p>
            <a:pPr marL="342900" lvl="0" indent="-342900" algn="just">
              <a:lnSpc>
                <a:spcPct val="150000"/>
              </a:lnSpc>
              <a:buClr>
                <a:schemeClr val="tx1"/>
              </a:buClr>
              <a:buFont typeface="Arial" panose="020B0604020202020204" pitchFamily="34" charset="0"/>
              <a:buChar char="•"/>
              <a:defRPr/>
            </a:pPr>
            <a:r>
              <a:rPr lang="en-US" sz="2400" dirty="0" smtClean="0">
                <a:latin typeface="Trebuchet MS" panose="020B0603020202020204" pitchFamily="34" charset="0"/>
              </a:rPr>
              <a:t>Select </a:t>
            </a:r>
            <a:r>
              <a:rPr lang="en-US" sz="2400" dirty="0">
                <a:latin typeface="Trebuchet MS" panose="020B0603020202020204" pitchFamily="34" charset="0"/>
              </a:rPr>
              <a:t>the bigger element (say X here</a:t>
            </a:r>
            <a:r>
              <a:rPr lang="en-US" sz="2400" dirty="0" smtClean="0">
                <a:latin typeface="Trebuchet MS" panose="020B0603020202020204" pitchFamily="34" charset="0"/>
              </a:rPr>
              <a:t>).</a:t>
            </a:r>
            <a:endParaRPr lang="en-US" sz="2400" dirty="0">
              <a:latin typeface="Trebuchet MS" panose="020B0603020202020204" pitchFamily="34" charset="0"/>
            </a:endParaRPr>
          </a:p>
          <a:p>
            <a:pPr marL="342900" lvl="0" indent="-342900" algn="just">
              <a:lnSpc>
                <a:spcPct val="150000"/>
              </a:lnSpc>
              <a:buClr>
                <a:schemeClr val="tx1"/>
              </a:buClr>
              <a:buFont typeface="Arial" panose="020B0604020202020204" pitchFamily="34" charset="0"/>
              <a:buChar char="•"/>
              <a:defRPr/>
            </a:pPr>
            <a:r>
              <a:rPr lang="en-US" sz="2400" dirty="0">
                <a:latin typeface="Trebuchet MS" panose="020B0603020202020204" pitchFamily="34" charset="0"/>
              </a:rPr>
              <a:t>Iterate through the multiples of X:</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If this is also a multiple of Y, </a:t>
            </a:r>
            <a:endParaRPr lang="en-US" sz="2400" dirty="0" smtClean="0">
              <a:latin typeface="Trebuchet MS" panose="020B0603020202020204" pitchFamily="34" charset="0"/>
            </a:endParaRPr>
          </a:p>
          <a:p>
            <a:pPr lvl="1" algn="just">
              <a:lnSpc>
                <a:spcPct val="150000"/>
              </a:lnSpc>
              <a:buClr>
                <a:schemeClr val="tx1"/>
              </a:buClr>
              <a:defRPr/>
            </a:pPr>
            <a:r>
              <a:rPr lang="en-US" sz="2400" dirty="0">
                <a:latin typeface="Trebuchet MS" panose="020B0603020202020204" pitchFamily="34" charset="0"/>
              </a:rPr>
              <a:t> </a:t>
            </a:r>
            <a:r>
              <a:rPr lang="en-US" sz="2400" dirty="0" smtClean="0">
                <a:latin typeface="Trebuchet MS" panose="020B0603020202020204" pitchFamily="34" charset="0"/>
              </a:rPr>
              <a:t>   return </a:t>
            </a:r>
            <a:r>
              <a:rPr lang="en-US" sz="2400" dirty="0">
                <a:latin typeface="Trebuchet MS" panose="020B0603020202020204" pitchFamily="34" charset="0"/>
              </a:rPr>
              <a:t>this as the answer.</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Otherwise, continue the traversal</a:t>
            </a:r>
            <a:r>
              <a:rPr lang="en-US" sz="2400" dirty="0" smtClean="0">
                <a:latin typeface="Trebuchet MS" panose="020B0603020202020204" pitchFamily="34" charset="0"/>
              </a:rPr>
              <a:t>.</a:t>
            </a:r>
            <a:endParaRPr lang="en-US"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7181591" y="3637457"/>
            <a:ext cx="2896628" cy="2978675"/>
          </a:xfrm>
          <a:prstGeom prst="rect">
            <a:avLst/>
          </a:prstGeom>
        </p:spPr>
      </p:pic>
    </p:spTree>
    <p:extLst>
      <p:ext uri="{BB962C8B-B14F-4D97-AF65-F5344CB8AC3E}">
        <p14:creationId xmlns:p14="http://schemas.microsoft.com/office/powerpoint/2010/main" val="18591742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73815" y="983821"/>
            <a:ext cx="11431669" cy="3416320"/>
          </a:xfrm>
          <a:prstGeom prst="rect">
            <a:avLst/>
          </a:prstGeom>
          <a:noFill/>
        </p:spPr>
        <p:txBody>
          <a:bodyPr wrap="square">
            <a:spAutoFit/>
          </a:bodyPr>
          <a:lstStyle/>
          <a:p>
            <a:pPr lvl="0" algn="just">
              <a:lnSpc>
                <a:spcPct val="150000"/>
              </a:lnSpc>
              <a:buClr>
                <a:srgbClr val="D60093"/>
              </a:buClr>
              <a:defRPr/>
            </a:pPr>
            <a:r>
              <a:rPr lang="en-US" sz="2400" dirty="0">
                <a:solidFill>
                  <a:srgbClr val="0070C0"/>
                </a:solidFill>
                <a:latin typeface="Trebuchet MS" panose="020B0603020202020204" pitchFamily="34" charset="0"/>
              </a:rPr>
              <a:t>Approach 2 (Problem Reduction</a:t>
            </a:r>
            <a:r>
              <a:rPr lang="en-US" sz="2400" dirty="0" smtClean="0">
                <a:solidFill>
                  <a:srgbClr val="0070C0"/>
                </a:solidFill>
                <a:latin typeface="Trebuchet MS" panose="020B0603020202020204" pitchFamily="34" charset="0"/>
              </a:rPr>
              <a:t>):</a:t>
            </a:r>
          </a:p>
          <a:p>
            <a:pPr marL="342900" lvl="0" indent="-342900" algn="just">
              <a:lnSpc>
                <a:spcPct val="150000"/>
              </a:lnSpc>
              <a:buClr>
                <a:schemeClr val="tx1"/>
              </a:buClr>
              <a:buFont typeface="Arial" panose="020B0604020202020204" pitchFamily="34" charset="0"/>
              <a:buChar char="•"/>
              <a:defRPr/>
            </a:pPr>
            <a:r>
              <a:rPr lang="en-US" sz="2400" dirty="0" smtClean="0">
                <a:latin typeface="Trebuchet MS" panose="020B0603020202020204" pitchFamily="34" charset="0"/>
              </a:rPr>
              <a:t>The </a:t>
            </a:r>
            <a:r>
              <a:rPr lang="en-US" sz="2400" dirty="0">
                <a:latin typeface="Trebuchet MS" panose="020B0603020202020204" pitchFamily="34" charset="0"/>
              </a:rPr>
              <a:t>above method required a linear amount of time and if the value of Y is very big it may not be a feasible solution. </a:t>
            </a:r>
            <a:endParaRPr lang="en-US" sz="2400" dirty="0" smtClean="0">
              <a:latin typeface="Trebuchet MS" panose="020B0603020202020204" pitchFamily="34" charset="0"/>
            </a:endParaRPr>
          </a:p>
          <a:p>
            <a:pPr marL="342900" lvl="0" indent="-342900" algn="just">
              <a:lnSpc>
                <a:spcPct val="150000"/>
              </a:lnSpc>
              <a:buClr>
                <a:schemeClr val="tx1"/>
              </a:buClr>
              <a:buFont typeface="Arial" panose="020B0604020202020204" pitchFamily="34" charset="0"/>
              <a:buChar char="•"/>
              <a:defRPr/>
            </a:pPr>
            <a:r>
              <a:rPr lang="en-US" sz="2400" dirty="0" smtClean="0">
                <a:latin typeface="Trebuchet MS" panose="020B0603020202020204" pitchFamily="34" charset="0"/>
              </a:rPr>
              <a:t>This </a:t>
            </a:r>
            <a:r>
              <a:rPr lang="en-US" sz="2400" dirty="0">
                <a:latin typeface="Trebuchet MS" panose="020B0603020202020204" pitchFamily="34" charset="0"/>
              </a:rPr>
              <a:t>problem can be reduced to another problem which is to “calculate GCD of X and Y” and the solution of that can be transformed to get the answer to the given problem as shown below</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
        <p:nvSpPr>
          <p:cNvPr id="5" name="Rectangle 4"/>
          <p:cNvSpPr/>
          <p:nvPr/>
        </p:nvSpPr>
        <p:spPr>
          <a:xfrm>
            <a:off x="380166" y="4223466"/>
            <a:ext cx="7026645" cy="2308324"/>
          </a:xfrm>
          <a:prstGeom prst="rect">
            <a:avLst/>
          </a:prstGeom>
        </p:spPr>
        <p:txBody>
          <a:bodyPr wrap="square">
            <a:spAutoFit/>
          </a:bodyPr>
          <a:lstStyle/>
          <a:p>
            <a:pPr marL="342900" lvl="0" indent="-342900" algn="just">
              <a:lnSpc>
                <a:spcPct val="150000"/>
              </a:lnSpc>
              <a:buClr>
                <a:schemeClr val="tx1"/>
              </a:buClr>
              <a:buFont typeface="Arial" panose="020B0604020202020204" pitchFamily="34" charset="0"/>
              <a:buChar char="•"/>
              <a:defRPr/>
            </a:pPr>
            <a:r>
              <a:rPr lang="en-US" sz="2400" dirty="0">
                <a:solidFill>
                  <a:srgbClr val="0070C0"/>
                </a:solidFill>
                <a:latin typeface="Trebuchet MS" panose="020B0603020202020204" pitchFamily="34" charset="0"/>
              </a:rPr>
              <a:t>Calculate the GCD of X and Y using Euclid’s algorithm.</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Now we know that GCD * LCM = X*Y. So the LCM can be calculated as (X*Y/GCD).</a:t>
            </a:r>
          </a:p>
        </p:txBody>
      </p:sp>
      <p:pic>
        <p:nvPicPr>
          <p:cNvPr id="7" name="Picture 6"/>
          <p:cNvPicPr>
            <a:picLocks noChangeAspect="1"/>
          </p:cNvPicPr>
          <p:nvPr/>
        </p:nvPicPr>
        <p:blipFill>
          <a:blip r:embed="rId6"/>
          <a:stretch>
            <a:fillRect/>
          </a:stretch>
        </p:blipFill>
        <p:spPr>
          <a:xfrm>
            <a:off x="7780628" y="3899450"/>
            <a:ext cx="3473526" cy="2632340"/>
          </a:xfrm>
          <a:prstGeom prst="rect">
            <a:avLst/>
          </a:prstGeom>
        </p:spPr>
      </p:pic>
    </p:spTree>
    <p:extLst>
      <p:ext uri="{BB962C8B-B14F-4D97-AF65-F5344CB8AC3E}">
        <p14:creationId xmlns:p14="http://schemas.microsoft.com/office/powerpoint/2010/main" val="18711857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Problem Reduction</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407D4B2-DBB2-D36C-93D4-D270390D3B28}"/>
              </a:ext>
            </a:extLst>
          </p:cNvPr>
          <p:cNvSpPr txBox="1"/>
          <p:nvPr/>
        </p:nvSpPr>
        <p:spPr>
          <a:xfrm>
            <a:off x="373815" y="983821"/>
            <a:ext cx="11431669" cy="3416320"/>
          </a:xfrm>
          <a:prstGeom prst="rect">
            <a:avLst/>
          </a:prstGeom>
          <a:noFill/>
        </p:spPr>
        <p:txBody>
          <a:bodyPr wrap="square">
            <a:spAutoFit/>
          </a:bodyPr>
          <a:lstStyle/>
          <a:p>
            <a:pPr lvl="0" algn="just">
              <a:lnSpc>
                <a:spcPct val="150000"/>
              </a:lnSpc>
              <a:buClr>
                <a:srgbClr val="D60093"/>
              </a:buClr>
              <a:defRPr/>
            </a:pPr>
            <a:r>
              <a:rPr lang="en-US" sz="2400" dirty="0">
                <a:solidFill>
                  <a:srgbClr val="0070C0"/>
                </a:solidFill>
                <a:latin typeface="Trebuchet MS" panose="020B0603020202020204" pitchFamily="34" charset="0"/>
              </a:rPr>
              <a:t>Approach 2 (Problem Reduction</a:t>
            </a:r>
            <a:r>
              <a:rPr lang="en-US" sz="2400" dirty="0" smtClean="0">
                <a:solidFill>
                  <a:srgbClr val="0070C0"/>
                </a:solidFill>
                <a:latin typeface="Trebuchet MS" panose="020B0603020202020204" pitchFamily="34" charset="0"/>
              </a:rPr>
              <a:t>):</a:t>
            </a:r>
          </a:p>
          <a:p>
            <a:pPr marL="342900" lvl="0" indent="-342900" algn="just">
              <a:lnSpc>
                <a:spcPct val="150000"/>
              </a:lnSpc>
              <a:buClr>
                <a:schemeClr val="tx1"/>
              </a:buClr>
              <a:buFont typeface="Arial" panose="020B0604020202020204" pitchFamily="34" charset="0"/>
              <a:buChar char="•"/>
              <a:defRPr/>
            </a:pPr>
            <a:r>
              <a:rPr lang="en-US" sz="2400" dirty="0" smtClean="0">
                <a:latin typeface="Trebuchet MS" panose="020B0603020202020204" pitchFamily="34" charset="0"/>
              </a:rPr>
              <a:t>The </a:t>
            </a:r>
            <a:r>
              <a:rPr lang="en-US" sz="2400" dirty="0">
                <a:latin typeface="Trebuchet MS" panose="020B0603020202020204" pitchFamily="34" charset="0"/>
              </a:rPr>
              <a:t>above method required a linear amount of time and if the value of Y is very big it may not be a feasible solution. </a:t>
            </a:r>
            <a:endParaRPr lang="en-US" sz="2400" dirty="0" smtClean="0">
              <a:latin typeface="Trebuchet MS" panose="020B0603020202020204" pitchFamily="34" charset="0"/>
            </a:endParaRPr>
          </a:p>
          <a:p>
            <a:pPr marL="342900" lvl="0" indent="-342900" algn="just">
              <a:lnSpc>
                <a:spcPct val="150000"/>
              </a:lnSpc>
              <a:buClr>
                <a:schemeClr val="tx1"/>
              </a:buClr>
              <a:buFont typeface="Arial" panose="020B0604020202020204" pitchFamily="34" charset="0"/>
              <a:buChar char="•"/>
              <a:defRPr/>
            </a:pPr>
            <a:r>
              <a:rPr lang="en-US" sz="2400" dirty="0" smtClean="0">
                <a:latin typeface="Trebuchet MS" panose="020B0603020202020204" pitchFamily="34" charset="0"/>
              </a:rPr>
              <a:t>This </a:t>
            </a:r>
            <a:r>
              <a:rPr lang="en-US" sz="2400" dirty="0">
                <a:latin typeface="Trebuchet MS" panose="020B0603020202020204" pitchFamily="34" charset="0"/>
              </a:rPr>
              <a:t>problem can be reduced to another problem which is to “calculate GCD of X and Y” and the solution of that can be transformed to get the answer to the given problem as shown below</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
        <p:nvSpPr>
          <p:cNvPr id="5" name="Rectangle 4"/>
          <p:cNvSpPr/>
          <p:nvPr/>
        </p:nvSpPr>
        <p:spPr>
          <a:xfrm>
            <a:off x="380166" y="4223466"/>
            <a:ext cx="7026645" cy="2308324"/>
          </a:xfrm>
          <a:prstGeom prst="rect">
            <a:avLst/>
          </a:prstGeom>
        </p:spPr>
        <p:txBody>
          <a:bodyPr wrap="square">
            <a:spAutoFit/>
          </a:bodyPr>
          <a:lstStyle/>
          <a:p>
            <a:pPr marL="342900" lvl="0" indent="-342900" algn="just">
              <a:lnSpc>
                <a:spcPct val="150000"/>
              </a:lnSpc>
              <a:buClr>
                <a:schemeClr val="tx1"/>
              </a:buClr>
              <a:buFont typeface="Arial" panose="020B0604020202020204" pitchFamily="34" charset="0"/>
              <a:buChar char="•"/>
              <a:defRPr/>
            </a:pPr>
            <a:r>
              <a:rPr lang="en-US" sz="2400" dirty="0">
                <a:solidFill>
                  <a:srgbClr val="0070C0"/>
                </a:solidFill>
                <a:latin typeface="Trebuchet MS" panose="020B0603020202020204" pitchFamily="34" charset="0"/>
              </a:rPr>
              <a:t>Calculate the GCD of X and Y using Euclid’s algorithm.</a:t>
            </a:r>
          </a:p>
          <a:p>
            <a:pPr marL="800100" lvl="1" indent="-342900" algn="just">
              <a:lnSpc>
                <a:spcPct val="150000"/>
              </a:lnSpc>
              <a:buClr>
                <a:schemeClr val="tx1"/>
              </a:buClr>
              <a:buFont typeface="Wingdings" panose="05000000000000000000" pitchFamily="2" charset="2"/>
              <a:buChar char="ü"/>
              <a:defRPr/>
            </a:pPr>
            <a:r>
              <a:rPr lang="en-US" sz="2400" dirty="0">
                <a:latin typeface="Trebuchet MS" panose="020B0603020202020204" pitchFamily="34" charset="0"/>
              </a:rPr>
              <a:t>Now we know that GCD * LCM = X*Y. So the LCM can be calculated as (X*Y/GCD).</a:t>
            </a:r>
          </a:p>
        </p:txBody>
      </p:sp>
      <p:pic>
        <p:nvPicPr>
          <p:cNvPr id="7" name="Picture 6"/>
          <p:cNvPicPr>
            <a:picLocks noChangeAspect="1"/>
          </p:cNvPicPr>
          <p:nvPr/>
        </p:nvPicPr>
        <p:blipFill>
          <a:blip r:embed="rId6"/>
          <a:stretch>
            <a:fillRect/>
          </a:stretch>
        </p:blipFill>
        <p:spPr>
          <a:xfrm>
            <a:off x="7780628" y="3899450"/>
            <a:ext cx="3473526" cy="2632340"/>
          </a:xfrm>
          <a:prstGeom prst="rect">
            <a:avLst/>
          </a:prstGeom>
        </p:spPr>
      </p:pic>
    </p:spTree>
    <p:extLst>
      <p:ext uri="{BB962C8B-B14F-4D97-AF65-F5344CB8AC3E}">
        <p14:creationId xmlns:p14="http://schemas.microsoft.com/office/powerpoint/2010/main" val="10366338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3 CNF Problem </a:t>
            </a:r>
            <a:endParaRPr lang="en-IN" sz="3200" dirty="0">
              <a:solidFill>
                <a:schemeClr val="bg1"/>
              </a:solidFill>
              <a:latin typeface="Trebuchet MS" panose="020B0603020202020204" pitchFamily="34" charset="0"/>
            </a:endParaRPr>
          </a:p>
        </p:txBody>
      </p:sp>
      <p:sp>
        <p:nvSpPr>
          <p:cNvPr id="3" name="Rectangle 2"/>
          <p:cNvSpPr/>
          <p:nvPr/>
        </p:nvSpPr>
        <p:spPr>
          <a:xfrm>
            <a:off x="239151" y="998401"/>
            <a:ext cx="11732455"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solidFill>
                  <a:srgbClr val="0070C0"/>
                </a:solidFill>
                <a:latin typeface="Trebuchet MS" panose="020B0603020202020204" pitchFamily="34" charset="0"/>
              </a:rPr>
              <a:t>3-CNF</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stands for </a:t>
            </a:r>
            <a:r>
              <a:rPr lang="en-US" sz="2400" b="1" dirty="0">
                <a:solidFill>
                  <a:srgbClr val="0070C0"/>
                </a:solidFill>
                <a:latin typeface="Trebuchet MS" panose="020B0603020202020204" pitchFamily="34" charset="0"/>
              </a:rPr>
              <a:t>3-Conjunctive Normal Form</a:t>
            </a:r>
            <a:r>
              <a:rPr lang="en-US" sz="2400" dirty="0">
                <a:latin typeface="Trebuchet MS" panose="020B0603020202020204" pitchFamily="34" charset="0"/>
              </a:rPr>
              <a:t>, which is a special case of a Boolean formula written in </a:t>
            </a:r>
            <a:r>
              <a:rPr lang="en-US" sz="2400" b="1" dirty="0">
                <a:solidFill>
                  <a:srgbClr val="0070C0"/>
                </a:solidFill>
                <a:latin typeface="Trebuchet MS" panose="020B0603020202020204" pitchFamily="34" charset="0"/>
              </a:rPr>
              <a:t>Conjunctive Normal Form (CNF)</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A formula is in CNF if:</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It is a conjunction (AND) of one or more clauses.</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Each clause is a disjunction (OR) of literals.</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A literal is a Boolean variable or its negation.</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In the </a:t>
            </a:r>
            <a:r>
              <a:rPr lang="en-US" sz="2400" b="1" dirty="0">
                <a:latin typeface="Trebuchet MS" panose="020B0603020202020204" pitchFamily="34" charset="0"/>
              </a:rPr>
              <a:t>3-CNF</a:t>
            </a:r>
            <a:r>
              <a:rPr lang="en-US" sz="2400" dirty="0">
                <a:latin typeface="Trebuchet MS" panose="020B0603020202020204" pitchFamily="34" charset="0"/>
              </a:rPr>
              <a:t> problem:</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Each clause contains exactly </a:t>
            </a:r>
            <a:r>
              <a:rPr lang="en-US" sz="2400" b="1" dirty="0">
                <a:solidFill>
                  <a:srgbClr val="0070C0"/>
                </a:solidFill>
                <a:latin typeface="Trebuchet MS" panose="020B0603020202020204" pitchFamily="34" charset="0"/>
              </a:rPr>
              <a:t>three literals</a:t>
            </a:r>
            <a:r>
              <a:rPr lang="en-US" sz="2400" dirty="0">
                <a:latin typeface="Trebuchet MS" panose="020B0603020202020204" pitchFamily="34" charset="0"/>
              </a:rPr>
              <a:t>.</a:t>
            </a:r>
          </a:p>
          <a:p>
            <a:pPr marL="1257300" lvl="2" indent="-342900">
              <a:lnSpc>
                <a:spcPct val="150000"/>
              </a:lnSpc>
              <a:buFont typeface="Wingdings" panose="05000000000000000000" pitchFamily="2" charset="2"/>
              <a:buChar char="ü"/>
            </a:pPr>
            <a:r>
              <a:rPr lang="en-US" sz="2400" dirty="0">
                <a:latin typeface="Trebuchet MS" panose="020B0603020202020204" pitchFamily="34" charset="0"/>
              </a:rPr>
              <a:t>The goal is to determine if there exists an assignment of truth values (true or false) to the variables such that the entire formula evaluates to </a:t>
            </a:r>
            <a:r>
              <a:rPr lang="en-US" sz="2400" b="1" dirty="0">
                <a:latin typeface="Trebuchet MS" panose="020B0603020202020204" pitchFamily="34" charset="0"/>
              </a:rPr>
              <a:t>true</a:t>
            </a:r>
            <a:r>
              <a:rPr lang="en-US" sz="2400" dirty="0">
                <a:latin typeface="Trebuchet MS" panose="020B0603020202020204" pitchFamily="34" charset="0"/>
              </a:rPr>
              <a:t>.</a:t>
            </a:r>
          </a:p>
        </p:txBody>
      </p:sp>
    </p:spTree>
    <p:extLst>
      <p:ext uri="{BB962C8B-B14F-4D97-AF65-F5344CB8AC3E}">
        <p14:creationId xmlns:p14="http://schemas.microsoft.com/office/powerpoint/2010/main" val="1575031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3 CNF Problem </a:t>
            </a:r>
            <a:endParaRPr lang="en-IN" sz="3200" dirty="0">
              <a:solidFill>
                <a:schemeClr val="bg1"/>
              </a:solidFill>
              <a:latin typeface="Trebuchet MS" panose="020B0603020202020204" pitchFamily="34" charset="0"/>
            </a:endParaRPr>
          </a:p>
        </p:txBody>
      </p:sp>
      <p:sp>
        <p:nvSpPr>
          <p:cNvPr id="3" name="Rectangle 2"/>
          <p:cNvSpPr/>
          <p:nvPr/>
        </p:nvSpPr>
        <p:spPr>
          <a:xfrm>
            <a:off x="447538" y="1372239"/>
            <a:ext cx="11284223" cy="4524315"/>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Goal </a:t>
            </a:r>
            <a:r>
              <a:rPr lang="en-US" sz="2400" b="1" dirty="0">
                <a:solidFill>
                  <a:srgbClr val="0070C0"/>
                </a:solidFill>
                <a:latin typeface="Trebuchet MS" panose="020B0603020202020204" pitchFamily="34" charset="0"/>
              </a:rPr>
              <a:t>of 3-CNF </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latin typeface="Trebuchet MS" panose="020B0603020202020204" pitchFamily="34" charset="0"/>
              </a:rPr>
              <a:t>goal of the 3-CNF problem is to determine whether a given Boolean formula in 3-Conjunctive Normal Form (3-CNF) is </a:t>
            </a:r>
            <a:r>
              <a:rPr lang="en-US" sz="2400" dirty="0" err="1">
                <a:latin typeface="Trebuchet MS" panose="020B0603020202020204" pitchFamily="34" charset="0"/>
              </a:rPr>
              <a:t>satisfiable</a:t>
            </a:r>
            <a:r>
              <a:rPr lang="en-US" sz="2400" dirty="0">
                <a:latin typeface="Trebuchet MS" panose="020B0603020202020204" pitchFamily="34" charset="0"/>
              </a:rPr>
              <a:t>.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This </a:t>
            </a:r>
            <a:r>
              <a:rPr lang="en-US" sz="2400" dirty="0">
                <a:latin typeface="Trebuchet MS" panose="020B0603020202020204" pitchFamily="34" charset="0"/>
              </a:rPr>
              <a:t>means finding whether there exists an </a:t>
            </a:r>
            <a:r>
              <a:rPr lang="en-US" sz="2400" u="sng" dirty="0">
                <a:solidFill>
                  <a:srgbClr val="0070C0"/>
                </a:solidFill>
                <a:latin typeface="Trebuchet MS" panose="020B0603020202020204" pitchFamily="34" charset="0"/>
              </a:rPr>
              <a:t>assignment of truth values </a:t>
            </a:r>
            <a:r>
              <a:rPr lang="en-US" sz="2400" dirty="0">
                <a:latin typeface="Trebuchet MS" panose="020B0603020202020204" pitchFamily="34" charset="0"/>
              </a:rPr>
              <a:t>(True or False) to the variables in the formula such that the entire formula evaluates to True</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This is often called the </a:t>
            </a:r>
            <a:r>
              <a:rPr lang="en-US" sz="2400" u="sng" dirty="0" smtClean="0">
                <a:solidFill>
                  <a:srgbClr val="FF0000"/>
                </a:solidFill>
                <a:latin typeface="Trebuchet MS" panose="020B0603020202020204" pitchFamily="34" charset="0"/>
              </a:rPr>
              <a:t>3-SAT (3-Satisfiability) </a:t>
            </a:r>
            <a:r>
              <a:rPr lang="en-US" sz="2400" dirty="0" smtClean="0">
                <a:latin typeface="Trebuchet MS" panose="020B0603020202020204" pitchFamily="34" charset="0"/>
              </a:rPr>
              <a:t>problem</a:t>
            </a:r>
            <a:r>
              <a:rPr lang="en-US" sz="2400" dirty="0">
                <a:latin typeface="Trebuchet MS" panose="020B0603020202020204" pitchFamily="34" charset="0"/>
              </a:rPr>
              <a:t>.</a:t>
            </a:r>
          </a:p>
          <a:p>
            <a:pPr>
              <a:lnSpc>
                <a:spcPct val="150000"/>
              </a:lnSpc>
            </a:pPr>
            <a:endParaRPr lang="en-US" sz="2400" dirty="0">
              <a:latin typeface="Trebuchet MS" panose="020B0603020202020204" pitchFamily="34" charset="0"/>
            </a:endParaRPr>
          </a:p>
        </p:txBody>
      </p:sp>
    </p:spTree>
    <p:extLst>
      <p:ext uri="{BB962C8B-B14F-4D97-AF65-F5344CB8AC3E}">
        <p14:creationId xmlns:p14="http://schemas.microsoft.com/office/powerpoint/2010/main" val="15828602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3 CNF Problem </a:t>
            </a:r>
            <a:endParaRPr lang="en-IN" sz="3200" dirty="0">
              <a:solidFill>
                <a:schemeClr val="bg1"/>
              </a:solidFill>
              <a:latin typeface="Trebuchet MS" panose="020B0603020202020204" pitchFamily="34" charset="0"/>
            </a:endParaRPr>
          </a:p>
        </p:txBody>
      </p:sp>
      <p:sp>
        <p:nvSpPr>
          <p:cNvPr id="3" name="Rectangle 2"/>
          <p:cNvSpPr/>
          <p:nvPr/>
        </p:nvSpPr>
        <p:spPr>
          <a:xfrm>
            <a:off x="447538" y="1372239"/>
            <a:ext cx="11284223" cy="4524315"/>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Goal </a:t>
            </a:r>
            <a:r>
              <a:rPr lang="en-US" sz="2400" b="1" dirty="0">
                <a:solidFill>
                  <a:srgbClr val="0070C0"/>
                </a:solidFill>
                <a:latin typeface="Trebuchet MS" panose="020B0603020202020204" pitchFamily="34" charset="0"/>
              </a:rPr>
              <a:t>of 3-CNF </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latin typeface="Trebuchet MS" panose="020B0603020202020204" pitchFamily="34" charset="0"/>
              </a:rPr>
              <a:t>goal of the 3-CNF problem is to determine whether a given Boolean formula in 3-Conjunctive Normal Form (3-CNF) is </a:t>
            </a:r>
            <a:r>
              <a:rPr lang="en-US" sz="2400" dirty="0" err="1">
                <a:latin typeface="Trebuchet MS" panose="020B0603020202020204" pitchFamily="34" charset="0"/>
              </a:rPr>
              <a:t>satisfiable</a:t>
            </a:r>
            <a:r>
              <a:rPr lang="en-US" sz="2400" dirty="0">
                <a:latin typeface="Trebuchet MS" panose="020B0603020202020204" pitchFamily="34" charset="0"/>
              </a:rPr>
              <a:t>.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This </a:t>
            </a:r>
            <a:r>
              <a:rPr lang="en-US" sz="2400" dirty="0">
                <a:latin typeface="Trebuchet MS" panose="020B0603020202020204" pitchFamily="34" charset="0"/>
              </a:rPr>
              <a:t>means finding whether there exists an </a:t>
            </a:r>
            <a:r>
              <a:rPr lang="en-US" sz="2400" u="sng" dirty="0">
                <a:solidFill>
                  <a:srgbClr val="0070C0"/>
                </a:solidFill>
                <a:latin typeface="Trebuchet MS" panose="020B0603020202020204" pitchFamily="34" charset="0"/>
              </a:rPr>
              <a:t>assignment of truth values </a:t>
            </a:r>
            <a:r>
              <a:rPr lang="en-US" sz="2400" dirty="0">
                <a:latin typeface="Trebuchet MS" panose="020B0603020202020204" pitchFamily="34" charset="0"/>
              </a:rPr>
              <a:t>(True or False) to the variables in the formula such that the entire formula evaluates to True</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This is often called the </a:t>
            </a:r>
            <a:r>
              <a:rPr lang="en-US" sz="2400" u="sng" dirty="0" smtClean="0">
                <a:solidFill>
                  <a:srgbClr val="FF0000"/>
                </a:solidFill>
                <a:latin typeface="Trebuchet MS" panose="020B0603020202020204" pitchFamily="34" charset="0"/>
              </a:rPr>
              <a:t>3-SAT (3-Satisfiability) </a:t>
            </a:r>
            <a:r>
              <a:rPr lang="en-US" sz="2400" dirty="0" smtClean="0">
                <a:latin typeface="Trebuchet MS" panose="020B0603020202020204" pitchFamily="34" charset="0"/>
              </a:rPr>
              <a:t>problem</a:t>
            </a:r>
            <a:r>
              <a:rPr lang="en-US" sz="2400" dirty="0">
                <a:latin typeface="Trebuchet MS" panose="020B0603020202020204" pitchFamily="34" charset="0"/>
              </a:rPr>
              <a:t>.</a:t>
            </a:r>
          </a:p>
          <a:p>
            <a:pPr>
              <a:lnSpc>
                <a:spcPct val="150000"/>
              </a:lnSpc>
            </a:pPr>
            <a:endParaRPr lang="en-US" sz="2400" dirty="0">
              <a:latin typeface="Trebuchet MS" panose="020B0603020202020204" pitchFamily="34" charset="0"/>
            </a:endParaRPr>
          </a:p>
        </p:txBody>
      </p:sp>
    </p:spTree>
    <p:extLst>
      <p:ext uri="{BB962C8B-B14F-4D97-AF65-F5344CB8AC3E}">
        <p14:creationId xmlns:p14="http://schemas.microsoft.com/office/powerpoint/2010/main" val="11879032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Approximation algorithms </a:t>
            </a:r>
            <a:endParaRPr lang="en-IN" sz="3200" dirty="0">
              <a:solidFill>
                <a:schemeClr val="bg1"/>
              </a:solidFill>
              <a:latin typeface="Trebuchet MS" panose="020B0603020202020204" pitchFamily="34" charset="0"/>
            </a:endParaRPr>
          </a:p>
        </p:txBody>
      </p:sp>
      <p:sp>
        <p:nvSpPr>
          <p:cNvPr id="3" name="Rectangle 2"/>
          <p:cNvSpPr/>
          <p:nvPr/>
        </p:nvSpPr>
        <p:spPr>
          <a:xfrm>
            <a:off x="230456" y="885202"/>
            <a:ext cx="11783353" cy="655564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An approximation algorithm is a way of </a:t>
            </a:r>
            <a:r>
              <a:rPr lang="en-US" sz="2400" dirty="0">
                <a:solidFill>
                  <a:srgbClr val="0070C0"/>
                </a:solidFill>
                <a:latin typeface="Trebuchet MS" panose="020B0603020202020204" pitchFamily="34" charset="0"/>
              </a:rPr>
              <a:t>dealing with NP-completeness </a:t>
            </a:r>
            <a:r>
              <a:rPr lang="en-US" sz="2400" dirty="0">
                <a:latin typeface="Trebuchet MS" panose="020B0603020202020204" pitchFamily="34" charset="0"/>
              </a:rPr>
              <a:t>for an optimization problem. </a:t>
            </a:r>
            <a:r>
              <a:rPr lang="en-US" sz="2400" dirty="0" smtClean="0">
                <a:latin typeface="Trebuchet MS" panose="020B0603020202020204" pitchFamily="34" charset="0"/>
              </a:rPr>
              <a:t>This </a:t>
            </a:r>
            <a:r>
              <a:rPr lang="en-US" sz="2400" dirty="0">
                <a:latin typeface="Trebuchet MS" panose="020B0603020202020204" pitchFamily="34" charset="0"/>
              </a:rPr>
              <a:t>technique </a:t>
            </a:r>
            <a:r>
              <a:rPr lang="en-US" sz="2400" dirty="0">
                <a:solidFill>
                  <a:srgbClr val="0070C0"/>
                </a:solidFill>
                <a:latin typeface="Trebuchet MS" panose="020B0603020202020204" pitchFamily="34" charset="0"/>
              </a:rPr>
              <a:t>does not guarantee </a:t>
            </a:r>
            <a:r>
              <a:rPr lang="en-US" sz="2400" dirty="0">
                <a:latin typeface="Trebuchet MS" panose="020B0603020202020204" pitchFamily="34" charset="0"/>
              </a:rPr>
              <a:t>the best solution</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latin typeface="Trebuchet MS" panose="020B0603020202020204" pitchFamily="34" charset="0"/>
              </a:rPr>
              <a:t>goal of the approximation algorithm is to come as close as possible to the optimal solution in polynomial time.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Such </a:t>
            </a:r>
            <a:r>
              <a:rPr lang="en-US" sz="2400" dirty="0">
                <a:latin typeface="Trebuchet MS" panose="020B0603020202020204" pitchFamily="34" charset="0"/>
              </a:rPr>
              <a:t>algorithms are called approximation algorithms or </a:t>
            </a:r>
            <a:r>
              <a:rPr lang="en-US" sz="2400" dirty="0">
                <a:solidFill>
                  <a:srgbClr val="0070C0"/>
                </a:solidFill>
                <a:latin typeface="Trebuchet MS" panose="020B0603020202020204" pitchFamily="34" charset="0"/>
              </a:rPr>
              <a:t>heuristic algorithms</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Some examples of the Approximation algorithm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Here, </a:t>
            </a:r>
            <a:r>
              <a:rPr lang="en-US" sz="2400" dirty="0" smtClean="0">
                <a:latin typeface="Trebuchet MS" panose="020B0603020202020204" pitchFamily="34" charset="0"/>
              </a:rPr>
              <a:t>Some </a:t>
            </a:r>
            <a:r>
              <a:rPr lang="en-US" sz="2400" dirty="0">
                <a:latin typeface="Trebuchet MS" panose="020B0603020202020204" pitchFamily="34" charset="0"/>
              </a:rPr>
              <a:t>examples of the Approximation Algorithm as follows.</a:t>
            </a:r>
          </a:p>
          <a:p>
            <a:pPr marL="1257300" lvl="2" indent="-342900">
              <a:lnSpc>
                <a:spcPct val="150000"/>
              </a:lnSpc>
              <a:buFont typeface="Wingdings" panose="05000000000000000000" pitchFamily="2" charset="2"/>
              <a:buChar char="ü"/>
            </a:pPr>
            <a:r>
              <a:rPr lang="en-US" sz="2200" dirty="0" smtClean="0">
                <a:solidFill>
                  <a:srgbClr val="0070C0"/>
                </a:solidFill>
                <a:latin typeface="Trebuchet MS" panose="020B0603020202020204" pitchFamily="34" charset="0"/>
              </a:rPr>
              <a:t>The </a:t>
            </a:r>
            <a:r>
              <a:rPr lang="en-US" sz="2200" dirty="0">
                <a:solidFill>
                  <a:srgbClr val="0070C0"/>
                </a:solidFill>
                <a:latin typeface="Trebuchet MS" panose="020B0603020202020204" pitchFamily="34" charset="0"/>
              </a:rPr>
              <a:t>Vertex Cover </a:t>
            </a:r>
            <a:r>
              <a:rPr lang="en-US" sz="2200" dirty="0" smtClean="0">
                <a:solidFill>
                  <a:srgbClr val="0070C0"/>
                </a:solidFill>
                <a:latin typeface="Trebuchet MS" panose="020B0603020202020204" pitchFamily="34" charset="0"/>
              </a:rPr>
              <a:t>Problem</a:t>
            </a:r>
            <a:endParaRPr lang="en-US" sz="2200" dirty="0">
              <a:solidFill>
                <a:srgbClr val="0070C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IN" sz="2200" dirty="0">
                <a:solidFill>
                  <a:srgbClr val="0070C0"/>
                </a:solidFill>
                <a:latin typeface="Trebuchet MS" panose="020B0603020202020204" pitchFamily="34" charset="0"/>
              </a:rPr>
              <a:t>The Set Covering Problem</a:t>
            </a:r>
            <a:endParaRPr lang="en-US" sz="2200" dirty="0">
              <a:solidFill>
                <a:srgbClr val="0070C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Travelling Salesman </a:t>
            </a:r>
            <a:r>
              <a:rPr lang="en-US" sz="2200" dirty="0" smtClean="0">
                <a:solidFill>
                  <a:srgbClr val="0070C0"/>
                </a:solidFill>
                <a:latin typeface="Trebuchet MS" panose="020B0603020202020204" pitchFamily="34" charset="0"/>
              </a:rPr>
              <a:t>Problem</a:t>
            </a:r>
            <a:endParaRPr lang="en-US" sz="2200" dirty="0">
              <a:solidFill>
                <a:srgbClr val="0070C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The Subset Sum Problem </a:t>
            </a:r>
          </a:p>
          <a:p>
            <a:pPr marL="342900" indent="-342900">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24981437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380166" y="202690"/>
            <a:ext cx="6194322"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Approximation algorithms </a:t>
            </a:r>
            <a:endParaRPr lang="en-IN" sz="3200" dirty="0">
              <a:solidFill>
                <a:schemeClr val="bg1"/>
              </a:solidFill>
              <a:latin typeface="Trebuchet MS" panose="020B0603020202020204" pitchFamily="34" charset="0"/>
            </a:endParaRPr>
          </a:p>
        </p:txBody>
      </p:sp>
      <p:sp>
        <p:nvSpPr>
          <p:cNvPr id="3" name="Rectangle 2"/>
          <p:cNvSpPr/>
          <p:nvPr/>
        </p:nvSpPr>
        <p:spPr>
          <a:xfrm>
            <a:off x="230456" y="885202"/>
            <a:ext cx="11783353" cy="655564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An approximation algorithm is a way of </a:t>
            </a:r>
            <a:r>
              <a:rPr lang="en-US" sz="2400" dirty="0">
                <a:solidFill>
                  <a:srgbClr val="0070C0"/>
                </a:solidFill>
                <a:latin typeface="Trebuchet MS" panose="020B0603020202020204" pitchFamily="34" charset="0"/>
              </a:rPr>
              <a:t>dealing with NP-completeness </a:t>
            </a:r>
            <a:r>
              <a:rPr lang="en-US" sz="2400" dirty="0">
                <a:latin typeface="Trebuchet MS" panose="020B0603020202020204" pitchFamily="34" charset="0"/>
              </a:rPr>
              <a:t>for an optimization problem. </a:t>
            </a:r>
            <a:r>
              <a:rPr lang="en-US" sz="2400" dirty="0" smtClean="0">
                <a:latin typeface="Trebuchet MS" panose="020B0603020202020204" pitchFamily="34" charset="0"/>
              </a:rPr>
              <a:t>This </a:t>
            </a:r>
            <a:r>
              <a:rPr lang="en-US" sz="2400" dirty="0">
                <a:latin typeface="Trebuchet MS" panose="020B0603020202020204" pitchFamily="34" charset="0"/>
              </a:rPr>
              <a:t>technique </a:t>
            </a:r>
            <a:r>
              <a:rPr lang="en-US" sz="2400" dirty="0">
                <a:solidFill>
                  <a:srgbClr val="0070C0"/>
                </a:solidFill>
                <a:latin typeface="Trebuchet MS" panose="020B0603020202020204" pitchFamily="34" charset="0"/>
              </a:rPr>
              <a:t>does not guarantee </a:t>
            </a:r>
            <a:r>
              <a:rPr lang="en-US" sz="2400" dirty="0">
                <a:latin typeface="Trebuchet MS" panose="020B0603020202020204" pitchFamily="34" charset="0"/>
              </a:rPr>
              <a:t>the best solution</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latin typeface="Trebuchet MS" panose="020B0603020202020204" pitchFamily="34" charset="0"/>
              </a:rPr>
              <a:t>goal of the approximation algorithm is to come as close as possible to the optimal solution in polynomial time.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Such </a:t>
            </a:r>
            <a:r>
              <a:rPr lang="en-US" sz="2400" dirty="0">
                <a:latin typeface="Trebuchet MS" panose="020B0603020202020204" pitchFamily="34" charset="0"/>
              </a:rPr>
              <a:t>algorithms are called approximation algorithms or </a:t>
            </a:r>
            <a:r>
              <a:rPr lang="en-US" sz="2400" dirty="0">
                <a:solidFill>
                  <a:srgbClr val="0070C0"/>
                </a:solidFill>
                <a:latin typeface="Trebuchet MS" panose="020B0603020202020204" pitchFamily="34" charset="0"/>
              </a:rPr>
              <a:t>heuristic algorithms</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Some examples of the Approximation algorithm :</a:t>
            </a:r>
          </a:p>
          <a:p>
            <a:pPr marL="342900" indent="-342900">
              <a:lnSpc>
                <a:spcPct val="150000"/>
              </a:lnSpc>
              <a:buFont typeface="Arial" panose="020B0604020202020204" pitchFamily="34" charset="0"/>
              <a:buChar char="•"/>
            </a:pPr>
            <a:r>
              <a:rPr lang="en-US" sz="2400" dirty="0">
                <a:latin typeface="Trebuchet MS" panose="020B0603020202020204" pitchFamily="34" charset="0"/>
              </a:rPr>
              <a:t>Here, </a:t>
            </a:r>
            <a:r>
              <a:rPr lang="en-US" sz="2400" dirty="0" smtClean="0">
                <a:latin typeface="Trebuchet MS" panose="020B0603020202020204" pitchFamily="34" charset="0"/>
              </a:rPr>
              <a:t>Some </a:t>
            </a:r>
            <a:r>
              <a:rPr lang="en-US" sz="2400" dirty="0">
                <a:latin typeface="Trebuchet MS" panose="020B0603020202020204" pitchFamily="34" charset="0"/>
              </a:rPr>
              <a:t>examples of the Approximation Algorithm as follows.</a:t>
            </a:r>
          </a:p>
          <a:p>
            <a:pPr marL="1257300" lvl="2" indent="-342900">
              <a:lnSpc>
                <a:spcPct val="150000"/>
              </a:lnSpc>
              <a:buFont typeface="Wingdings" panose="05000000000000000000" pitchFamily="2" charset="2"/>
              <a:buChar char="ü"/>
            </a:pPr>
            <a:r>
              <a:rPr lang="en-US" sz="2200" dirty="0" smtClean="0">
                <a:solidFill>
                  <a:srgbClr val="0070C0"/>
                </a:solidFill>
                <a:latin typeface="Trebuchet MS" panose="020B0603020202020204" pitchFamily="34" charset="0"/>
              </a:rPr>
              <a:t>The </a:t>
            </a:r>
            <a:r>
              <a:rPr lang="en-US" sz="2200" dirty="0">
                <a:solidFill>
                  <a:srgbClr val="0070C0"/>
                </a:solidFill>
                <a:latin typeface="Trebuchet MS" panose="020B0603020202020204" pitchFamily="34" charset="0"/>
              </a:rPr>
              <a:t>Vertex Cover </a:t>
            </a:r>
            <a:r>
              <a:rPr lang="en-US" sz="2200" dirty="0" smtClean="0">
                <a:solidFill>
                  <a:srgbClr val="0070C0"/>
                </a:solidFill>
                <a:latin typeface="Trebuchet MS" panose="020B0603020202020204" pitchFamily="34" charset="0"/>
              </a:rPr>
              <a:t>Problem</a:t>
            </a:r>
            <a:endParaRPr lang="en-US" sz="2200" dirty="0">
              <a:solidFill>
                <a:srgbClr val="0070C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IN" sz="2200" dirty="0">
                <a:solidFill>
                  <a:srgbClr val="0070C0"/>
                </a:solidFill>
                <a:latin typeface="Trebuchet MS" panose="020B0603020202020204" pitchFamily="34" charset="0"/>
              </a:rPr>
              <a:t>The Set Covering Problem</a:t>
            </a:r>
            <a:endParaRPr lang="en-US" sz="2200" dirty="0">
              <a:solidFill>
                <a:srgbClr val="0070C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Travelling Salesman </a:t>
            </a:r>
            <a:r>
              <a:rPr lang="en-US" sz="2200" dirty="0" smtClean="0">
                <a:solidFill>
                  <a:srgbClr val="0070C0"/>
                </a:solidFill>
                <a:latin typeface="Trebuchet MS" panose="020B0603020202020204" pitchFamily="34" charset="0"/>
              </a:rPr>
              <a:t>Problem</a:t>
            </a:r>
            <a:endParaRPr lang="en-US" sz="2200" dirty="0">
              <a:solidFill>
                <a:srgbClr val="0070C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200" dirty="0">
                <a:solidFill>
                  <a:srgbClr val="0070C0"/>
                </a:solidFill>
                <a:latin typeface="Trebuchet MS" panose="020B0603020202020204" pitchFamily="34" charset="0"/>
              </a:rPr>
              <a:t>The Subset Sum Problem </a:t>
            </a:r>
          </a:p>
          <a:p>
            <a:pPr marL="342900" indent="-342900">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4123896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Randomized Algorithms: Concept </a:t>
            </a:r>
            <a:r>
              <a:rPr lang="en-US" sz="3200" b="1" dirty="0">
                <a:solidFill>
                  <a:schemeClr val="bg1"/>
                </a:solidFill>
                <a:latin typeface="Trebuchet MS" panose="020B0603020202020204" pitchFamily="34" charset="0"/>
              </a:rPr>
              <a:t>and </a:t>
            </a:r>
            <a:r>
              <a:rPr lang="en-US" sz="3200" b="1" dirty="0" smtClean="0">
                <a:solidFill>
                  <a:schemeClr val="bg1"/>
                </a:solidFill>
                <a:latin typeface="Trebuchet MS" panose="020B0603020202020204" pitchFamily="34" charset="0"/>
              </a:rPr>
              <a:t>Applications</a:t>
            </a:r>
            <a:endParaRPr lang="en-US" sz="3200" b="1" dirty="0">
              <a:solidFill>
                <a:schemeClr val="bg1"/>
              </a:solidFill>
              <a:latin typeface="Trebuchet MS" panose="020B0603020202020204" pitchFamily="34" charset="0"/>
            </a:endParaRPr>
          </a:p>
        </p:txBody>
      </p:sp>
      <p:sp>
        <p:nvSpPr>
          <p:cNvPr id="3" name="Rectangle 2"/>
          <p:cNvSpPr/>
          <p:nvPr/>
        </p:nvSpPr>
        <p:spPr>
          <a:xfrm>
            <a:off x="408647" y="1160492"/>
            <a:ext cx="11114727" cy="4524315"/>
          </a:xfrm>
          <a:prstGeom prst="rect">
            <a:avLst/>
          </a:prstGeom>
        </p:spPr>
        <p:txBody>
          <a:bodyPr wrap="square">
            <a:spAutoFit/>
          </a:bodyPr>
          <a:lstStyle/>
          <a:p>
            <a:pPr>
              <a:lnSpc>
                <a:spcPct val="150000"/>
              </a:lnSpc>
            </a:pPr>
            <a:r>
              <a:rPr lang="en-US" sz="2400" b="1" dirty="0">
                <a:solidFill>
                  <a:srgbClr val="0070C0"/>
                </a:solidFill>
                <a:latin typeface="CIDFont+F4"/>
              </a:rPr>
              <a:t>Concept of Randomized </a:t>
            </a:r>
            <a:r>
              <a:rPr lang="en-US" sz="2400" b="1" dirty="0" smtClean="0">
                <a:solidFill>
                  <a:srgbClr val="0070C0"/>
                </a:solidFill>
                <a:latin typeface="CIDFont+F4"/>
              </a:rPr>
              <a:t>Algorithms</a:t>
            </a:r>
          </a:p>
          <a:p>
            <a:pPr marL="342900" indent="-342900">
              <a:lnSpc>
                <a:spcPct val="150000"/>
              </a:lnSpc>
              <a:buFont typeface="Arial" panose="020B0604020202020204" pitchFamily="34" charset="0"/>
              <a:buChar char="•"/>
            </a:pPr>
            <a:r>
              <a:rPr lang="en-US" sz="2400" dirty="0" smtClean="0">
                <a:latin typeface="CIDFont+F4"/>
              </a:rPr>
              <a:t>An algorithm that uses </a:t>
            </a:r>
            <a:r>
              <a:rPr lang="en-US" sz="2400" dirty="0" smtClean="0">
                <a:solidFill>
                  <a:srgbClr val="0070C0"/>
                </a:solidFill>
                <a:latin typeface="CIDFont+F4"/>
              </a:rPr>
              <a:t>random numbers to decide </a:t>
            </a:r>
            <a:r>
              <a:rPr lang="en-US" sz="2400" dirty="0" smtClean="0">
                <a:latin typeface="CIDFont+F4"/>
              </a:rPr>
              <a:t>what to do next anywhere in its logic is called a Randomized Algorithm.</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A </a:t>
            </a:r>
            <a:r>
              <a:rPr lang="en-US" sz="2400" dirty="0">
                <a:latin typeface="Trebuchet MS" panose="020B0603020202020204" pitchFamily="34" charset="0"/>
              </a:rPr>
              <a:t>randomized algorithm uses </a:t>
            </a:r>
            <a:r>
              <a:rPr lang="en-US" sz="2400" dirty="0">
                <a:solidFill>
                  <a:srgbClr val="0070C0"/>
                </a:solidFill>
                <a:latin typeface="Trebuchet MS" panose="020B0603020202020204" pitchFamily="34" charset="0"/>
              </a:rPr>
              <a:t>random numbers or random decisions </a:t>
            </a:r>
            <a:r>
              <a:rPr lang="en-US" sz="2400" dirty="0">
                <a:latin typeface="Trebuchet MS" panose="020B0603020202020204" pitchFamily="34" charset="0"/>
              </a:rPr>
              <a:t>during its execution</a:t>
            </a:r>
            <a:r>
              <a:rPr lang="en-US" sz="2400" dirty="0" smtClean="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Unlike </a:t>
            </a:r>
            <a:r>
              <a:rPr lang="en-US" sz="2400" dirty="0">
                <a:latin typeface="Trebuchet MS" panose="020B0603020202020204" pitchFamily="34" charset="0"/>
              </a:rPr>
              <a:t>deterministic algorithms, which always produce the same output for a given input, randomized algorithms may produce different outputs or have different execution paths for the same input.</a:t>
            </a:r>
          </a:p>
        </p:txBody>
      </p:sp>
    </p:spTree>
    <p:extLst>
      <p:ext uri="{BB962C8B-B14F-4D97-AF65-F5344CB8AC3E}">
        <p14:creationId xmlns:p14="http://schemas.microsoft.com/office/powerpoint/2010/main" val="36960274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Randomized Algorithms: Concept </a:t>
            </a:r>
            <a:r>
              <a:rPr lang="en-US" sz="3200" b="1" dirty="0">
                <a:solidFill>
                  <a:schemeClr val="bg1"/>
                </a:solidFill>
                <a:latin typeface="Trebuchet MS" panose="020B0603020202020204" pitchFamily="34" charset="0"/>
              </a:rPr>
              <a:t>and </a:t>
            </a:r>
            <a:r>
              <a:rPr lang="en-US" sz="3200" b="1" dirty="0" smtClean="0">
                <a:solidFill>
                  <a:schemeClr val="bg1"/>
                </a:solidFill>
                <a:latin typeface="Trebuchet MS" panose="020B0603020202020204" pitchFamily="34" charset="0"/>
              </a:rPr>
              <a:t>Applications</a:t>
            </a:r>
            <a:endParaRPr lang="en-US" sz="3200" b="1" dirty="0">
              <a:solidFill>
                <a:schemeClr val="bg1"/>
              </a:solidFill>
              <a:latin typeface="Trebuchet MS" panose="020B0603020202020204" pitchFamily="34" charset="0"/>
            </a:endParaRPr>
          </a:p>
        </p:txBody>
      </p:sp>
      <p:sp>
        <p:nvSpPr>
          <p:cNvPr id="5" name="Rectangle 4"/>
          <p:cNvSpPr/>
          <p:nvPr/>
        </p:nvSpPr>
        <p:spPr>
          <a:xfrm>
            <a:off x="371132" y="1066184"/>
            <a:ext cx="10981495" cy="5078313"/>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Types of Randomized Algorithms</a:t>
            </a:r>
          </a:p>
          <a:p>
            <a:pPr>
              <a:lnSpc>
                <a:spcPct val="150000"/>
              </a:lnSpc>
              <a:buFont typeface="+mj-lt"/>
              <a:buAutoNum type="arabicPeriod"/>
            </a:pPr>
            <a:r>
              <a:rPr lang="en-US" sz="2400" b="1" dirty="0">
                <a:solidFill>
                  <a:srgbClr val="0070C0"/>
                </a:solidFill>
                <a:latin typeface="Trebuchet MS" panose="020B0603020202020204" pitchFamily="34" charset="0"/>
              </a:rPr>
              <a:t>Las Vegas Algorithms</a:t>
            </a:r>
            <a:r>
              <a:rPr lang="en-US" sz="2400" dirty="0">
                <a:solidFill>
                  <a:srgbClr val="0070C0"/>
                </a:solidFill>
                <a:latin typeface="Trebuchet MS" panose="020B0603020202020204" pitchFamily="34" charset="0"/>
              </a:rPr>
              <a: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Always produce the correct result.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Randomization only affects the runtime.</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Example: Randomized Quick Sort.</a:t>
            </a:r>
          </a:p>
          <a:p>
            <a:pPr>
              <a:lnSpc>
                <a:spcPct val="150000"/>
              </a:lnSpc>
              <a:buFont typeface="+mj-lt"/>
              <a:buAutoNum type="arabicPeriod"/>
            </a:pPr>
            <a:r>
              <a:rPr lang="en-US" sz="2400" b="1" dirty="0">
                <a:solidFill>
                  <a:srgbClr val="0070C0"/>
                </a:solidFill>
                <a:latin typeface="Trebuchet MS" panose="020B0603020202020204" pitchFamily="34" charset="0"/>
              </a:rPr>
              <a:t>Monte Carlo Algorithms</a:t>
            </a:r>
            <a:r>
              <a:rPr lang="en-US" sz="2400" dirty="0">
                <a:solidFill>
                  <a:srgbClr val="0070C0"/>
                </a:solidFill>
                <a:latin typeface="Trebuchet MS" panose="020B0603020202020204" pitchFamily="34" charset="0"/>
              </a:rPr>
              <a: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May produce an incorrect result with a small probability.</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Randomization affects both the output and runtime.</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Example: Randomized primality testing</a:t>
            </a:r>
            <a:r>
              <a:rPr lang="en-US" sz="2400" dirty="0"/>
              <a:t>.</a:t>
            </a:r>
          </a:p>
        </p:txBody>
      </p:sp>
    </p:spTree>
    <p:extLst>
      <p:ext uri="{BB962C8B-B14F-4D97-AF65-F5344CB8AC3E}">
        <p14:creationId xmlns:p14="http://schemas.microsoft.com/office/powerpoint/2010/main" val="27838210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Randomized Algorithms: Concept </a:t>
            </a:r>
            <a:r>
              <a:rPr lang="en-US" sz="3200" b="1" dirty="0">
                <a:solidFill>
                  <a:schemeClr val="bg1"/>
                </a:solidFill>
                <a:latin typeface="Trebuchet MS" panose="020B0603020202020204" pitchFamily="34" charset="0"/>
              </a:rPr>
              <a:t>and </a:t>
            </a:r>
            <a:r>
              <a:rPr lang="en-US" sz="3200" b="1" dirty="0" smtClean="0">
                <a:solidFill>
                  <a:schemeClr val="bg1"/>
                </a:solidFill>
                <a:latin typeface="Trebuchet MS" panose="020B0603020202020204" pitchFamily="34" charset="0"/>
              </a:rPr>
              <a:t>Applications</a:t>
            </a:r>
            <a:endParaRPr lang="en-US" sz="3200" b="1" dirty="0">
              <a:solidFill>
                <a:schemeClr val="bg1"/>
              </a:solidFill>
              <a:latin typeface="Trebuchet MS" panose="020B0603020202020204" pitchFamily="34" charset="0"/>
            </a:endParaRPr>
          </a:p>
        </p:txBody>
      </p:sp>
      <p:sp>
        <p:nvSpPr>
          <p:cNvPr id="5" name="Rectangle 4"/>
          <p:cNvSpPr/>
          <p:nvPr/>
        </p:nvSpPr>
        <p:spPr>
          <a:xfrm>
            <a:off x="230456" y="983821"/>
            <a:ext cx="10981495" cy="4524315"/>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Applications of Randomized </a:t>
            </a:r>
            <a:r>
              <a:rPr lang="en-US" sz="2400" b="1" dirty="0" smtClean="0">
                <a:solidFill>
                  <a:srgbClr val="0070C0"/>
                </a:solidFill>
                <a:latin typeface="Trebuchet MS" panose="020B0603020202020204" pitchFamily="34" charset="0"/>
              </a:rPr>
              <a:t>Algorithms</a:t>
            </a:r>
          </a:p>
          <a:p>
            <a:pPr marL="1371600" lvl="2" indent="-457200">
              <a:lnSpc>
                <a:spcPct val="150000"/>
              </a:lnSpc>
              <a:buFont typeface="+mj-lt"/>
              <a:buAutoNum type="arabicPeriod"/>
            </a:pPr>
            <a:r>
              <a:rPr lang="en-US" sz="2400" dirty="0"/>
              <a:t>P</a:t>
            </a:r>
            <a:r>
              <a:rPr lang="en-US" sz="2400" dirty="0" smtClean="0"/>
              <a:t>rimality </a:t>
            </a:r>
            <a:r>
              <a:rPr lang="en-US" sz="2400" dirty="0"/>
              <a:t>testing </a:t>
            </a:r>
            <a:endParaRPr lang="en-US" sz="2400" dirty="0" smtClean="0"/>
          </a:p>
          <a:p>
            <a:pPr marL="1371600" lvl="2" indent="-457200">
              <a:lnSpc>
                <a:spcPct val="150000"/>
              </a:lnSpc>
              <a:buFont typeface="+mj-lt"/>
              <a:buAutoNum type="arabicPeriod"/>
            </a:pPr>
            <a:r>
              <a:rPr lang="en-US" sz="2400" dirty="0" smtClean="0"/>
              <a:t>Randomized quick </a:t>
            </a:r>
            <a:r>
              <a:rPr lang="en-US" sz="2400" dirty="0"/>
              <a:t>sort </a:t>
            </a:r>
            <a:endParaRPr lang="en-US" sz="2400" dirty="0" smtClean="0"/>
          </a:p>
          <a:p>
            <a:pPr marL="1371600" lvl="2" indent="-457200">
              <a:lnSpc>
                <a:spcPct val="150000"/>
              </a:lnSpc>
              <a:buFont typeface="+mj-lt"/>
              <a:buAutoNum type="arabicPeriod"/>
            </a:pPr>
            <a:r>
              <a:rPr lang="en-US" sz="2400" dirty="0" smtClean="0"/>
              <a:t>Finding </a:t>
            </a:r>
            <a:r>
              <a:rPr lang="en-US" sz="2400" dirty="0"/>
              <a:t>kth smallest </a:t>
            </a:r>
            <a:r>
              <a:rPr lang="en-US" sz="2400" dirty="0" smtClean="0"/>
              <a:t>number</a:t>
            </a:r>
          </a:p>
          <a:p>
            <a:pPr>
              <a:lnSpc>
                <a:spcPct val="150000"/>
              </a:lnSpc>
            </a:pPr>
            <a:r>
              <a:rPr lang="en-US" sz="2400" b="1" u="sng" dirty="0" smtClean="0">
                <a:solidFill>
                  <a:srgbClr val="0070C0"/>
                </a:solidFill>
                <a:latin typeface="Trebuchet MS" panose="020B0603020202020204" pitchFamily="34" charset="0"/>
              </a:rPr>
              <a:t>1. Primality </a:t>
            </a:r>
            <a:r>
              <a:rPr lang="en-US" sz="2400" b="1" u="sng" dirty="0">
                <a:solidFill>
                  <a:srgbClr val="0070C0"/>
                </a:solidFill>
                <a:latin typeface="Trebuchet MS" panose="020B0603020202020204" pitchFamily="34" charset="0"/>
              </a:rPr>
              <a:t>Testing</a:t>
            </a:r>
          </a:p>
          <a:p>
            <a:pPr marL="342900" indent="-342900">
              <a:lnSpc>
                <a:spcPct val="150000"/>
              </a:lnSpc>
              <a:buFont typeface="Arial" panose="020B0604020202020204" pitchFamily="34" charset="0"/>
              <a:buChar char="•"/>
            </a:pPr>
            <a:r>
              <a:rPr lang="en-US" sz="2400" b="1" dirty="0">
                <a:solidFill>
                  <a:srgbClr val="FF0000"/>
                </a:solidFill>
                <a:latin typeface="Trebuchet MS" panose="020B0603020202020204" pitchFamily="34" charset="0"/>
              </a:rPr>
              <a:t>Problem</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Determine if a given number </a:t>
            </a:r>
            <a:r>
              <a:rPr lang="en-US" sz="2400" dirty="0">
                <a:solidFill>
                  <a:srgbClr val="0070C0"/>
                </a:solidFill>
                <a:latin typeface="Trebuchet MS" panose="020B0603020202020204" pitchFamily="34" charset="0"/>
              </a:rPr>
              <a:t>n</a:t>
            </a:r>
            <a:r>
              <a:rPr lang="en-US" sz="2400" dirty="0">
                <a:latin typeface="Trebuchet MS" panose="020B0603020202020204" pitchFamily="34" charset="0"/>
              </a:rPr>
              <a:t> is a prime number.</a:t>
            </a:r>
          </a:p>
          <a:p>
            <a:pPr marL="342900" indent="-342900">
              <a:lnSpc>
                <a:spcPct val="150000"/>
              </a:lnSpc>
              <a:buFont typeface="Arial" panose="020B0604020202020204" pitchFamily="34" charset="0"/>
              <a:buChar char="•"/>
            </a:pPr>
            <a:r>
              <a:rPr lang="en-US" sz="2400" b="1" dirty="0">
                <a:solidFill>
                  <a:srgbClr val="FF0000"/>
                </a:solidFill>
                <a:latin typeface="Trebuchet MS" panose="020B0603020202020204" pitchFamily="34" charset="0"/>
              </a:rPr>
              <a:t>Algorithm</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The </a:t>
            </a:r>
            <a:r>
              <a:rPr lang="en-US" sz="2400" b="1" dirty="0">
                <a:latin typeface="Trebuchet MS" panose="020B0603020202020204" pitchFamily="34" charset="0"/>
              </a:rPr>
              <a:t>Miller-Rabin Primality Test</a:t>
            </a:r>
            <a:r>
              <a:rPr lang="en-US" sz="2400" dirty="0">
                <a:latin typeface="Trebuchet MS" panose="020B0603020202020204" pitchFamily="34" charset="0"/>
              </a:rPr>
              <a:t> is a popular randomized algorithm for primality testing</a:t>
            </a:r>
            <a:endParaRPr lang="en-US" sz="2400" dirty="0"/>
          </a:p>
        </p:txBody>
      </p:sp>
    </p:spTree>
    <p:extLst>
      <p:ext uri="{BB962C8B-B14F-4D97-AF65-F5344CB8AC3E}">
        <p14:creationId xmlns:p14="http://schemas.microsoft.com/office/powerpoint/2010/main" val="4127835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Randomized Algorithms: Concept </a:t>
            </a:r>
            <a:r>
              <a:rPr lang="en-US" sz="3200" b="1" dirty="0">
                <a:solidFill>
                  <a:schemeClr val="bg1"/>
                </a:solidFill>
                <a:latin typeface="Trebuchet MS" panose="020B0603020202020204" pitchFamily="34" charset="0"/>
              </a:rPr>
              <a:t>and </a:t>
            </a:r>
            <a:r>
              <a:rPr lang="en-US" sz="3200" b="1" dirty="0" smtClean="0">
                <a:solidFill>
                  <a:schemeClr val="bg1"/>
                </a:solidFill>
                <a:latin typeface="Trebuchet MS" panose="020B0603020202020204" pitchFamily="34" charset="0"/>
              </a:rPr>
              <a:t>Applications</a:t>
            </a:r>
            <a:endParaRPr lang="en-US" sz="3200" b="1" dirty="0">
              <a:solidFill>
                <a:schemeClr val="bg1"/>
              </a:solidFill>
              <a:latin typeface="Trebuchet MS" panose="020B0603020202020204" pitchFamily="34" charset="0"/>
            </a:endParaRPr>
          </a:p>
        </p:txBody>
      </p:sp>
      <p:sp>
        <p:nvSpPr>
          <p:cNvPr id="3" name="Rectangle 2"/>
          <p:cNvSpPr/>
          <p:nvPr/>
        </p:nvSpPr>
        <p:spPr>
          <a:xfrm>
            <a:off x="230456" y="983821"/>
            <a:ext cx="11741150" cy="5632311"/>
          </a:xfrm>
          <a:prstGeom prst="rect">
            <a:avLst/>
          </a:prstGeom>
        </p:spPr>
        <p:txBody>
          <a:bodyPr wrap="square">
            <a:spAutoFit/>
          </a:bodyPr>
          <a:lstStyle/>
          <a:p>
            <a:pPr>
              <a:lnSpc>
                <a:spcPct val="150000"/>
              </a:lnSpc>
            </a:pPr>
            <a:r>
              <a:rPr lang="en-US" sz="2400" b="1" dirty="0" smtClean="0">
                <a:solidFill>
                  <a:srgbClr val="FF0000"/>
                </a:solidFill>
                <a:latin typeface="Trebuchet MS" panose="020B0603020202020204" pitchFamily="34" charset="0"/>
              </a:rPr>
              <a:t>Miller-Rabin </a:t>
            </a:r>
            <a:r>
              <a:rPr lang="en-US" sz="2400" b="1" dirty="0">
                <a:solidFill>
                  <a:srgbClr val="FF0000"/>
                </a:solidFill>
                <a:latin typeface="Trebuchet MS" panose="020B0603020202020204" pitchFamily="34" charset="0"/>
              </a:rPr>
              <a:t>Primality Test</a:t>
            </a:r>
            <a:r>
              <a:rPr lang="en-US" sz="2400" dirty="0">
                <a:solidFill>
                  <a:srgbClr val="FF0000"/>
                </a:solidFill>
                <a:latin typeface="Trebuchet MS" panose="020B0603020202020204" pitchFamily="34" charset="0"/>
              </a:rPr>
              <a:t>:</a:t>
            </a:r>
          </a:p>
          <a:p>
            <a:pPr marL="457200" indent="-457200">
              <a:lnSpc>
                <a:spcPct val="150000"/>
              </a:lnSpc>
              <a:buFont typeface="+mj-lt"/>
              <a:buAutoNum type="arabicPeriod"/>
            </a:pPr>
            <a:r>
              <a:rPr lang="en-US" sz="2400" dirty="0">
                <a:latin typeface="Trebuchet MS" panose="020B0603020202020204" pitchFamily="34" charset="0"/>
              </a:rPr>
              <a:t>Select a random integer </a:t>
            </a:r>
            <a:r>
              <a:rPr lang="en-US" sz="2400" dirty="0" smtClean="0">
                <a:latin typeface="Trebuchet MS" panose="020B0603020202020204" pitchFamily="34" charset="0"/>
              </a:rPr>
              <a:t>a </a:t>
            </a:r>
            <a:r>
              <a:rPr lang="en-US" sz="2400" dirty="0">
                <a:latin typeface="Trebuchet MS" panose="020B0603020202020204" pitchFamily="34" charset="0"/>
              </a:rPr>
              <a:t>between </a:t>
            </a:r>
            <a:r>
              <a:rPr lang="en-US" sz="2400" dirty="0" smtClean="0">
                <a:latin typeface="Trebuchet MS" panose="020B0603020202020204" pitchFamily="34" charset="0"/>
              </a:rPr>
              <a:t>2 </a:t>
            </a:r>
            <a:r>
              <a:rPr lang="en-US" sz="2400" dirty="0">
                <a:latin typeface="Trebuchet MS" panose="020B0603020202020204" pitchFamily="34" charset="0"/>
              </a:rPr>
              <a:t>and n−</a:t>
            </a:r>
            <a:r>
              <a:rPr lang="en-US" sz="2400" dirty="0" smtClean="0">
                <a:latin typeface="Trebuchet MS" panose="020B0603020202020204" pitchFamily="34" charset="0"/>
              </a:rPr>
              <a:t>2.</a:t>
            </a:r>
            <a:endParaRPr lang="en-US" sz="2400" dirty="0">
              <a:latin typeface="Trebuchet MS" panose="020B0603020202020204" pitchFamily="34" charset="0"/>
            </a:endParaRPr>
          </a:p>
          <a:p>
            <a:pPr marL="457200" indent="-457200">
              <a:lnSpc>
                <a:spcPct val="150000"/>
              </a:lnSpc>
              <a:buFont typeface="+mj-lt"/>
              <a:buAutoNum type="arabicPeriod"/>
            </a:pPr>
            <a:r>
              <a:rPr lang="en-US" sz="2400" dirty="0">
                <a:latin typeface="Trebuchet MS" panose="020B0603020202020204" pitchFamily="34" charset="0"/>
              </a:rPr>
              <a:t>Perform modular exponentiation to test a mathematical property of </a:t>
            </a:r>
            <a:r>
              <a:rPr lang="en-US" sz="2400" dirty="0" smtClean="0">
                <a:latin typeface="Trebuchet MS" panose="020B0603020202020204" pitchFamily="34" charset="0"/>
              </a:rPr>
              <a:t>n </a:t>
            </a:r>
            <a:r>
              <a:rPr lang="en-US" sz="2400" dirty="0">
                <a:latin typeface="Trebuchet MS" panose="020B0603020202020204" pitchFamily="34" charset="0"/>
              </a:rPr>
              <a:t>(related to Fermat's Little Theorem).</a:t>
            </a:r>
          </a:p>
          <a:p>
            <a:pPr marL="457200" indent="-457200">
              <a:lnSpc>
                <a:spcPct val="150000"/>
              </a:lnSpc>
              <a:buFont typeface="+mj-lt"/>
              <a:buAutoNum type="arabicPeriod"/>
            </a:pPr>
            <a:r>
              <a:rPr lang="en-US" sz="2400" dirty="0">
                <a:latin typeface="Trebuchet MS" panose="020B0603020202020204" pitchFamily="34" charset="0"/>
              </a:rPr>
              <a:t>If </a:t>
            </a:r>
            <a:r>
              <a:rPr lang="en-US" sz="2400" dirty="0" smtClean="0">
                <a:latin typeface="Trebuchet MS" panose="020B0603020202020204" pitchFamily="34" charset="0"/>
              </a:rPr>
              <a:t>n </a:t>
            </a:r>
            <a:r>
              <a:rPr lang="en-US" sz="2400" dirty="0">
                <a:latin typeface="Trebuchet MS" panose="020B0603020202020204" pitchFamily="34" charset="0"/>
              </a:rPr>
              <a:t>fails the test for any </a:t>
            </a:r>
            <a:r>
              <a:rPr lang="en-US" sz="2400" dirty="0" err="1">
                <a:latin typeface="Trebuchet MS" panose="020B0603020202020204" pitchFamily="34" charset="0"/>
              </a:rPr>
              <a:t>aaa</a:t>
            </a:r>
            <a:r>
              <a:rPr lang="en-US" sz="2400" dirty="0">
                <a:latin typeface="Trebuchet MS" panose="020B0603020202020204" pitchFamily="34" charset="0"/>
              </a:rPr>
              <a:t>, it is composite.</a:t>
            </a:r>
          </a:p>
          <a:p>
            <a:pPr marL="457200" indent="-457200">
              <a:lnSpc>
                <a:spcPct val="150000"/>
              </a:lnSpc>
              <a:buFont typeface="+mj-lt"/>
              <a:buAutoNum type="arabicPeriod"/>
            </a:pPr>
            <a:r>
              <a:rPr lang="en-US" sz="2400" dirty="0">
                <a:latin typeface="Trebuchet MS" panose="020B0603020202020204" pitchFamily="34" charset="0"/>
              </a:rPr>
              <a:t>If </a:t>
            </a:r>
            <a:r>
              <a:rPr lang="en-US" sz="2400" dirty="0" smtClean="0">
                <a:latin typeface="Trebuchet MS" panose="020B0603020202020204" pitchFamily="34" charset="0"/>
              </a:rPr>
              <a:t>n </a:t>
            </a:r>
            <a:r>
              <a:rPr lang="en-US" sz="2400" dirty="0">
                <a:latin typeface="Trebuchet MS" panose="020B0603020202020204" pitchFamily="34" charset="0"/>
              </a:rPr>
              <a:t>passes the test for all chosen </a:t>
            </a:r>
            <a:r>
              <a:rPr lang="en-US" sz="2400" dirty="0" smtClean="0">
                <a:latin typeface="Trebuchet MS" panose="020B0603020202020204" pitchFamily="34" charset="0"/>
              </a:rPr>
              <a:t>a, </a:t>
            </a:r>
            <a:r>
              <a:rPr lang="en-US" sz="2400" dirty="0">
                <a:latin typeface="Trebuchet MS" panose="020B0603020202020204" pitchFamily="34" charset="0"/>
              </a:rPr>
              <a:t>it is probably prime</a:t>
            </a:r>
            <a:r>
              <a:rPr lang="en-US" sz="2400" dirty="0" smtClean="0">
                <a:latin typeface="Trebuchet MS" panose="020B0603020202020204" pitchFamily="34" charset="0"/>
              </a:rPr>
              <a:t>.</a:t>
            </a:r>
          </a:p>
          <a:p>
            <a:pPr marL="342900" lvl="0" indent="-342900">
              <a:lnSpc>
                <a:spcPct val="150000"/>
              </a:lnSpc>
              <a:buFont typeface="Arial" panose="020B0604020202020204" pitchFamily="34" charset="0"/>
              <a:buChar char="•"/>
            </a:pPr>
            <a:r>
              <a:rPr lang="en-US" sz="2400" b="1" dirty="0">
                <a:solidFill>
                  <a:srgbClr val="FF0000"/>
                </a:solidFill>
                <a:latin typeface="Trebuchet MS" panose="020B0603020202020204" pitchFamily="34" charset="0"/>
              </a:rPr>
              <a:t>Type</a:t>
            </a:r>
            <a:r>
              <a:rPr lang="en-US" sz="2400" dirty="0">
                <a:solidFill>
                  <a:srgbClr val="FF0000"/>
                </a:solidFill>
                <a:latin typeface="Trebuchet MS" panose="020B0603020202020204" pitchFamily="34" charset="0"/>
              </a:rPr>
              <a:t>:</a:t>
            </a:r>
            <a:r>
              <a:rPr lang="en-US" sz="2400" dirty="0">
                <a:solidFill>
                  <a:srgbClr val="000000"/>
                </a:solidFill>
                <a:latin typeface="Trebuchet MS" panose="020B0603020202020204" pitchFamily="34" charset="0"/>
              </a:rPr>
              <a:t> Monte Carlo algorithm (can incorrectly classify a composite number as prime with a small probability).</a:t>
            </a:r>
          </a:p>
          <a:p>
            <a:pPr marL="342900" lvl="0" indent="-342900">
              <a:lnSpc>
                <a:spcPct val="150000"/>
              </a:lnSpc>
              <a:buFont typeface="Arial" panose="020B0604020202020204" pitchFamily="34" charset="0"/>
              <a:buChar char="•"/>
            </a:pPr>
            <a:r>
              <a:rPr lang="en-US" sz="2400" b="1" dirty="0">
                <a:solidFill>
                  <a:srgbClr val="FF0000"/>
                </a:solidFill>
                <a:latin typeface="Trebuchet MS" panose="020B0603020202020204" pitchFamily="34" charset="0"/>
              </a:rPr>
              <a:t>Application</a:t>
            </a:r>
            <a:r>
              <a:rPr lang="en-US" sz="2400" dirty="0">
                <a:solidFill>
                  <a:srgbClr val="FF0000"/>
                </a:solidFill>
                <a:latin typeface="Trebuchet MS" panose="020B0603020202020204" pitchFamily="34" charset="0"/>
              </a:rPr>
              <a:t>:</a:t>
            </a:r>
            <a:r>
              <a:rPr lang="en-US" sz="2400" dirty="0">
                <a:solidFill>
                  <a:srgbClr val="000000"/>
                </a:solidFill>
                <a:latin typeface="Trebuchet MS" panose="020B0603020202020204" pitchFamily="34" charset="0"/>
              </a:rPr>
              <a:t> Used in cryptography (e.g., RSA key generation).</a:t>
            </a:r>
          </a:p>
          <a:p>
            <a:pPr marL="457200" indent="-457200">
              <a:lnSpc>
                <a:spcPct val="150000"/>
              </a:lnSpc>
              <a:buFont typeface="+mj-lt"/>
              <a:buAutoNum type="arabicPeriod"/>
            </a:pPr>
            <a:endParaRPr lang="en-US" sz="2400" dirty="0">
              <a:latin typeface="Trebuchet MS" panose="020B0603020202020204" pitchFamily="34" charset="0"/>
            </a:endParaRPr>
          </a:p>
        </p:txBody>
      </p:sp>
    </p:spTree>
    <p:extLst>
      <p:ext uri="{BB962C8B-B14F-4D97-AF65-F5344CB8AC3E}">
        <p14:creationId xmlns:p14="http://schemas.microsoft.com/office/powerpoint/2010/main" val="29510159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Randomized Algorithms: Concept </a:t>
            </a:r>
            <a:r>
              <a:rPr lang="en-US" sz="3200" b="1" dirty="0">
                <a:solidFill>
                  <a:schemeClr val="bg1"/>
                </a:solidFill>
                <a:latin typeface="Trebuchet MS" panose="020B0603020202020204" pitchFamily="34" charset="0"/>
              </a:rPr>
              <a:t>and </a:t>
            </a:r>
            <a:r>
              <a:rPr lang="en-US" sz="3200" b="1" dirty="0" smtClean="0">
                <a:solidFill>
                  <a:schemeClr val="bg1"/>
                </a:solidFill>
                <a:latin typeface="Trebuchet MS" panose="020B0603020202020204" pitchFamily="34" charset="0"/>
              </a:rPr>
              <a:t>Applications</a:t>
            </a:r>
            <a:endParaRPr lang="en-US" sz="3200" b="1" dirty="0">
              <a:solidFill>
                <a:schemeClr val="bg1"/>
              </a:solidFill>
              <a:latin typeface="Trebuchet MS" panose="020B0603020202020204" pitchFamily="34" charset="0"/>
            </a:endParaRPr>
          </a:p>
        </p:txBody>
      </p:sp>
      <p:sp>
        <p:nvSpPr>
          <p:cNvPr id="6" name="Rectangle 5"/>
          <p:cNvSpPr/>
          <p:nvPr/>
        </p:nvSpPr>
        <p:spPr>
          <a:xfrm>
            <a:off x="230457" y="983821"/>
            <a:ext cx="11581378" cy="6186309"/>
          </a:xfrm>
          <a:prstGeom prst="rect">
            <a:avLst/>
          </a:prstGeom>
        </p:spPr>
        <p:txBody>
          <a:bodyPr wrap="square">
            <a:spAutoFit/>
          </a:bodyPr>
          <a:lstStyle/>
          <a:p>
            <a:pPr>
              <a:lnSpc>
                <a:spcPct val="150000"/>
              </a:lnSpc>
            </a:pPr>
            <a:r>
              <a:rPr lang="en-US" sz="2400" b="1" u="sng" dirty="0" smtClean="0">
                <a:solidFill>
                  <a:srgbClr val="0070C0"/>
                </a:solidFill>
                <a:latin typeface="Trebuchet MS" panose="020B0603020202020204" pitchFamily="34" charset="0"/>
              </a:rPr>
              <a:t>2.Randomized </a:t>
            </a:r>
            <a:r>
              <a:rPr lang="en-US" sz="2400" b="1" u="sng" dirty="0">
                <a:solidFill>
                  <a:srgbClr val="0070C0"/>
                </a:solidFill>
                <a:latin typeface="Trebuchet MS" panose="020B0603020202020204" pitchFamily="34" charset="0"/>
              </a:rPr>
              <a:t>Quick Sort</a:t>
            </a:r>
          </a:p>
          <a:p>
            <a:pPr>
              <a:lnSpc>
                <a:spcPct val="150000"/>
              </a:lnSpc>
            </a:pPr>
            <a:r>
              <a:rPr lang="en-US" sz="2400" b="1" dirty="0">
                <a:solidFill>
                  <a:srgbClr val="FF0000"/>
                </a:solidFill>
                <a:latin typeface="Trebuchet MS" panose="020B0603020202020204" pitchFamily="34" charset="0"/>
              </a:rPr>
              <a:t>Problem</a:t>
            </a:r>
            <a:r>
              <a:rPr lang="en-US" sz="2400" dirty="0">
                <a:solidFill>
                  <a:srgbClr val="FF0000"/>
                </a:solidFill>
                <a:latin typeface="Trebuchet MS" panose="020B0603020202020204" pitchFamily="34" charset="0"/>
              </a:rPr>
              <a:t>:</a:t>
            </a:r>
            <a:r>
              <a:rPr lang="en-US" sz="2400" dirty="0">
                <a:latin typeface="Trebuchet MS" panose="020B0603020202020204" pitchFamily="34" charset="0"/>
              </a:rPr>
              <a:t> Sort an array of </a:t>
            </a:r>
            <a:r>
              <a:rPr lang="en-US" sz="2400" dirty="0" smtClean="0">
                <a:latin typeface="Trebuchet MS" panose="020B0603020202020204" pitchFamily="34" charset="0"/>
              </a:rPr>
              <a:t>n </a:t>
            </a:r>
            <a:r>
              <a:rPr lang="en-US" sz="2400" dirty="0">
                <a:latin typeface="Trebuchet MS" panose="020B0603020202020204" pitchFamily="34" charset="0"/>
              </a:rPr>
              <a:t>elements.</a:t>
            </a:r>
          </a:p>
          <a:p>
            <a:pPr>
              <a:lnSpc>
                <a:spcPct val="150000"/>
              </a:lnSpc>
            </a:pPr>
            <a:r>
              <a:rPr lang="en-US" sz="2400" b="1" dirty="0">
                <a:solidFill>
                  <a:srgbClr val="FF0000"/>
                </a:solidFill>
                <a:latin typeface="Trebuchet MS" panose="020B0603020202020204" pitchFamily="34" charset="0"/>
              </a:rPr>
              <a:t>Algorithm</a:t>
            </a:r>
            <a:r>
              <a:rPr lang="en-US" sz="2400" dirty="0">
                <a:solidFill>
                  <a:srgbClr val="FF0000"/>
                </a:solidFill>
                <a:latin typeface="Trebuchet MS" panose="020B0603020202020204" pitchFamily="34" charset="0"/>
              </a:rPr>
              <a: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Choose a random element as the pivot.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Partition the array into two parts: elements less than the pivot and elements greater than the pivot.</a:t>
            </a:r>
          </a:p>
          <a:p>
            <a:pPr marL="800100" lvl="1" indent="-342900">
              <a:lnSpc>
                <a:spcPct val="150000"/>
              </a:lnSpc>
              <a:buFont typeface="Wingdings" panose="05000000000000000000" pitchFamily="2" charset="2"/>
              <a:buChar char="ü"/>
            </a:pPr>
            <a:r>
              <a:rPr lang="en-US" sz="2400" dirty="0">
                <a:latin typeface="Trebuchet MS" panose="020B0603020202020204" pitchFamily="34" charset="0"/>
              </a:rPr>
              <a:t>Recursively sort the two parts.</a:t>
            </a:r>
          </a:p>
          <a:p>
            <a:pPr>
              <a:lnSpc>
                <a:spcPct val="150000"/>
              </a:lnSpc>
            </a:pPr>
            <a:r>
              <a:rPr lang="en-US" sz="2400" b="1" dirty="0">
                <a:solidFill>
                  <a:srgbClr val="FF0000"/>
                </a:solidFill>
                <a:latin typeface="Trebuchet MS" panose="020B0603020202020204" pitchFamily="34" charset="0"/>
              </a:rPr>
              <a:t>Randomization</a:t>
            </a:r>
            <a:r>
              <a:rPr lang="en-US" sz="2400" dirty="0">
                <a:solidFill>
                  <a:srgbClr val="FF0000"/>
                </a:solidFill>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Randomly selecting the pivot ensures balanced partitions on average, reducing the chance of worst-case performance.</a:t>
            </a:r>
          </a:p>
          <a:p>
            <a:pPr>
              <a:lnSpc>
                <a:spcPct val="150000"/>
              </a:lnSpc>
            </a:pPr>
            <a:endParaRPr lang="en-US" sz="2400" dirty="0">
              <a:latin typeface="Trebuchet MS" panose="020B0603020202020204" pitchFamily="34" charset="0"/>
            </a:endParaRPr>
          </a:p>
        </p:txBody>
      </p:sp>
    </p:spTree>
    <p:extLst>
      <p:ext uri="{BB962C8B-B14F-4D97-AF65-F5344CB8AC3E}">
        <p14:creationId xmlns:p14="http://schemas.microsoft.com/office/powerpoint/2010/main" val="1034851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Randomized Algorithms: Concept </a:t>
            </a:r>
            <a:r>
              <a:rPr lang="en-US" sz="3200" b="1" dirty="0">
                <a:solidFill>
                  <a:schemeClr val="bg1"/>
                </a:solidFill>
                <a:latin typeface="Trebuchet MS" panose="020B0603020202020204" pitchFamily="34" charset="0"/>
              </a:rPr>
              <a:t>and </a:t>
            </a:r>
            <a:r>
              <a:rPr lang="en-US" sz="3200" b="1" dirty="0" smtClean="0">
                <a:solidFill>
                  <a:schemeClr val="bg1"/>
                </a:solidFill>
                <a:latin typeface="Trebuchet MS" panose="020B0603020202020204" pitchFamily="34" charset="0"/>
              </a:rPr>
              <a:t>Applications</a:t>
            </a:r>
            <a:endParaRPr lang="en-US" sz="3200" b="1" dirty="0">
              <a:solidFill>
                <a:schemeClr val="bg1"/>
              </a:solidFill>
              <a:latin typeface="Trebuchet MS" panose="020B0603020202020204" pitchFamily="34" charset="0"/>
            </a:endParaRPr>
          </a:p>
        </p:txBody>
      </p:sp>
      <p:sp>
        <p:nvSpPr>
          <p:cNvPr id="3" name="Rectangle 2"/>
          <p:cNvSpPr/>
          <p:nvPr/>
        </p:nvSpPr>
        <p:spPr>
          <a:xfrm>
            <a:off x="380100" y="936274"/>
            <a:ext cx="11431734" cy="5632311"/>
          </a:xfrm>
          <a:prstGeom prst="rect">
            <a:avLst/>
          </a:prstGeom>
        </p:spPr>
        <p:txBody>
          <a:bodyPr wrap="square">
            <a:spAutoFit/>
          </a:bodyPr>
          <a:lstStyle/>
          <a:p>
            <a:pPr lvl="0">
              <a:lnSpc>
                <a:spcPct val="150000"/>
              </a:lnSpc>
            </a:pPr>
            <a:r>
              <a:rPr lang="en-US" sz="2400" b="1" dirty="0">
                <a:solidFill>
                  <a:srgbClr val="FF0000"/>
                </a:solidFill>
                <a:latin typeface="Trebuchet MS" panose="020B0603020202020204" pitchFamily="34" charset="0"/>
              </a:rPr>
              <a:t>Time Complexity</a:t>
            </a:r>
            <a:r>
              <a:rPr lang="en-US" sz="2400" dirty="0">
                <a:solidFill>
                  <a:srgbClr val="FF0000"/>
                </a:solidFill>
                <a:latin typeface="Trebuchet MS" panose="020B0603020202020204" pitchFamily="34" charset="0"/>
              </a:rPr>
              <a:t>:</a:t>
            </a:r>
          </a:p>
          <a:p>
            <a:pPr marL="742950" lvl="1" indent="-28575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Best/Average Case: </a:t>
            </a:r>
            <a:r>
              <a:rPr lang="en-US" sz="2400" dirty="0" smtClean="0">
                <a:solidFill>
                  <a:srgbClr val="000000"/>
                </a:solidFill>
                <a:latin typeface="Trebuchet MS" panose="020B0603020202020204" pitchFamily="34" charset="0"/>
              </a:rPr>
              <a:t>O(n log n)</a:t>
            </a:r>
            <a:endParaRPr lang="en-US" sz="2400" dirty="0">
              <a:solidFill>
                <a:srgbClr val="000000"/>
              </a:solidFill>
              <a:latin typeface="Trebuchet MS" panose="020B0603020202020204" pitchFamily="34" charset="0"/>
            </a:endParaRPr>
          </a:p>
          <a:p>
            <a:pPr marL="742950" lvl="1" indent="-28575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Worst Case: </a:t>
            </a:r>
            <a:r>
              <a:rPr lang="en-US" sz="2400" dirty="0" smtClean="0">
                <a:solidFill>
                  <a:srgbClr val="000000"/>
                </a:solidFill>
                <a:latin typeface="Trebuchet MS" panose="020B0603020202020204" pitchFamily="34" charset="0"/>
              </a:rPr>
              <a:t>O(n^2) (rare </a:t>
            </a:r>
            <a:r>
              <a:rPr lang="en-US" sz="2400" dirty="0">
                <a:solidFill>
                  <a:srgbClr val="000000"/>
                </a:solidFill>
                <a:latin typeface="Trebuchet MS" panose="020B0603020202020204" pitchFamily="34" charset="0"/>
              </a:rPr>
              <a:t>due to randomization</a:t>
            </a:r>
            <a:r>
              <a:rPr lang="en-US" sz="2400" dirty="0" smtClean="0">
                <a:solidFill>
                  <a:srgbClr val="000000"/>
                </a:solidFill>
                <a:latin typeface="Trebuchet MS" panose="020B0603020202020204" pitchFamily="34" charset="0"/>
              </a:rPr>
              <a:t>)</a:t>
            </a:r>
            <a:endParaRPr lang="en-US" sz="2400" dirty="0">
              <a:solidFill>
                <a:srgbClr val="000000"/>
              </a:solidFill>
              <a:latin typeface="Trebuchet MS" panose="020B0603020202020204" pitchFamily="34" charset="0"/>
            </a:endParaRPr>
          </a:p>
          <a:p>
            <a:pPr lvl="0">
              <a:lnSpc>
                <a:spcPct val="150000"/>
              </a:lnSpc>
            </a:pPr>
            <a:r>
              <a:rPr lang="en-US" sz="2400" b="1" dirty="0">
                <a:solidFill>
                  <a:srgbClr val="FF0000"/>
                </a:solidFill>
                <a:latin typeface="Trebuchet MS" panose="020B0603020202020204" pitchFamily="34" charset="0"/>
              </a:rPr>
              <a:t>Application</a:t>
            </a:r>
            <a:r>
              <a:rPr lang="en-US" sz="2400" dirty="0">
                <a:solidFill>
                  <a:srgbClr val="FF0000"/>
                </a:solidFill>
                <a:latin typeface="Trebuchet MS" panose="020B0603020202020204" pitchFamily="34" charset="0"/>
              </a:rPr>
              <a:t>: </a:t>
            </a:r>
            <a:r>
              <a:rPr lang="en-US" sz="2400" dirty="0">
                <a:solidFill>
                  <a:srgbClr val="000000"/>
                </a:solidFill>
                <a:latin typeface="Trebuchet MS" panose="020B0603020202020204" pitchFamily="34" charset="0"/>
              </a:rPr>
              <a:t>Efficient sorting in databases, systems, and libraries</a:t>
            </a:r>
            <a:r>
              <a:rPr lang="en-US" sz="2400" dirty="0" smtClean="0">
                <a:solidFill>
                  <a:srgbClr val="000000"/>
                </a:solidFill>
                <a:latin typeface="Trebuchet MS" panose="020B0603020202020204" pitchFamily="34" charset="0"/>
              </a:rPr>
              <a:t>.</a:t>
            </a:r>
          </a:p>
          <a:p>
            <a:pPr>
              <a:lnSpc>
                <a:spcPct val="150000"/>
              </a:lnSpc>
            </a:pPr>
            <a:r>
              <a:rPr lang="en-US" sz="2400" b="1" u="sng" dirty="0" smtClean="0">
                <a:solidFill>
                  <a:srgbClr val="0070C0"/>
                </a:solidFill>
                <a:latin typeface="Trebuchet MS" panose="020B0603020202020204" pitchFamily="34" charset="0"/>
              </a:rPr>
              <a:t>3. Finding </a:t>
            </a:r>
            <a:r>
              <a:rPr lang="en-US" sz="2400" b="1" u="sng" dirty="0">
                <a:solidFill>
                  <a:srgbClr val="0070C0"/>
                </a:solidFill>
                <a:latin typeface="Trebuchet MS" panose="020B0603020202020204" pitchFamily="34" charset="0"/>
              </a:rPr>
              <a:t>the k-</a:t>
            </a:r>
            <a:r>
              <a:rPr lang="en-US" sz="2400" b="1" u="sng" dirty="0" err="1">
                <a:solidFill>
                  <a:srgbClr val="0070C0"/>
                </a:solidFill>
                <a:latin typeface="Trebuchet MS" panose="020B0603020202020204" pitchFamily="34" charset="0"/>
              </a:rPr>
              <a:t>th</a:t>
            </a:r>
            <a:r>
              <a:rPr lang="en-US" sz="2400" b="1" u="sng" dirty="0">
                <a:solidFill>
                  <a:srgbClr val="0070C0"/>
                </a:solidFill>
                <a:latin typeface="Trebuchet MS" panose="020B0603020202020204" pitchFamily="34" charset="0"/>
              </a:rPr>
              <a:t> Smallest Number</a:t>
            </a:r>
          </a:p>
          <a:p>
            <a:pPr>
              <a:lnSpc>
                <a:spcPct val="150000"/>
              </a:lnSpc>
            </a:pPr>
            <a:r>
              <a:rPr lang="en-US" sz="2400" b="1" dirty="0">
                <a:solidFill>
                  <a:srgbClr val="FF0000"/>
                </a:solidFill>
                <a:latin typeface="Trebuchet MS" panose="020B0603020202020204" pitchFamily="34" charset="0"/>
              </a:rPr>
              <a:t>Problem</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Find the k-</a:t>
            </a:r>
            <a:r>
              <a:rPr lang="en-US" sz="2400" dirty="0" err="1">
                <a:latin typeface="Trebuchet MS" panose="020B0603020202020204" pitchFamily="34" charset="0"/>
              </a:rPr>
              <a:t>th</a:t>
            </a:r>
            <a:r>
              <a:rPr lang="en-US" sz="2400" dirty="0">
                <a:latin typeface="Trebuchet MS" panose="020B0603020202020204" pitchFamily="34" charset="0"/>
              </a:rPr>
              <a:t> smallest element in an unsorted array of </a:t>
            </a:r>
            <a:r>
              <a:rPr lang="en-US" sz="2400" dirty="0" smtClean="0">
                <a:latin typeface="Trebuchet MS" panose="020B0603020202020204" pitchFamily="34" charset="0"/>
              </a:rPr>
              <a:t>n </a:t>
            </a:r>
            <a:r>
              <a:rPr lang="en-US" sz="2400" dirty="0">
                <a:latin typeface="Trebuchet MS" panose="020B0603020202020204" pitchFamily="34" charset="0"/>
              </a:rPr>
              <a:t>elements.</a:t>
            </a:r>
          </a:p>
          <a:p>
            <a:pPr>
              <a:lnSpc>
                <a:spcPct val="150000"/>
              </a:lnSpc>
            </a:pPr>
            <a:r>
              <a:rPr lang="en-US" sz="2400" b="1" dirty="0">
                <a:solidFill>
                  <a:srgbClr val="FF0000"/>
                </a:solidFill>
                <a:latin typeface="Trebuchet MS" panose="020B0603020202020204" pitchFamily="34" charset="0"/>
              </a:rPr>
              <a:t>Algorithm</a:t>
            </a:r>
            <a:r>
              <a:rPr lang="en-US" sz="2400" dirty="0">
                <a:solidFill>
                  <a:srgbClr val="FF0000"/>
                </a:solidFill>
                <a:latin typeface="Trebuchet MS" panose="020B0603020202020204" pitchFamily="34" charset="0"/>
              </a:rPr>
              <a:t>: </a:t>
            </a:r>
            <a:r>
              <a:rPr lang="en-US" sz="2400" b="1" dirty="0">
                <a:latin typeface="Trebuchet MS" panose="020B0603020202020204" pitchFamily="34" charset="0"/>
              </a:rPr>
              <a:t>Randomized Quick Select</a:t>
            </a:r>
            <a:r>
              <a:rPr lang="en-US" sz="2400" dirty="0">
                <a:latin typeface="Trebuchet MS" panose="020B0603020202020204" pitchFamily="34" charset="0"/>
              </a:rPr>
              <a:t> (a variation of Quick Sort</a:t>
            </a:r>
            <a:r>
              <a:rPr lang="en-US" sz="2400" dirty="0" smtClean="0">
                <a:latin typeface="Trebuchet MS" panose="020B0603020202020204" pitchFamily="34" charset="0"/>
              </a:rPr>
              <a:t>).</a:t>
            </a:r>
          </a:p>
          <a:p>
            <a:pPr>
              <a:lnSpc>
                <a:spcPct val="150000"/>
              </a:lnSpc>
            </a:pPr>
            <a:r>
              <a:rPr lang="en-US" sz="2400" b="1" dirty="0">
                <a:solidFill>
                  <a:srgbClr val="7030A0"/>
                </a:solidFill>
                <a:latin typeface="Trebuchet MS" panose="020B0603020202020204" pitchFamily="34" charset="0"/>
              </a:rPr>
              <a:t>Randomized Quick Select</a:t>
            </a:r>
            <a:r>
              <a:rPr lang="en-US" sz="2400" dirty="0">
                <a:solidFill>
                  <a:srgbClr val="7030A0"/>
                </a:solidFill>
                <a:latin typeface="Trebuchet MS" panose="020B0603020202020204" pitchFamily="34" charset="0"/>
              </a:rPr>
              <a:t>:</a:t>
            </a:r>
          </a:p>
          <a:p>
            <a:pPr marL="457200" indent="-457200">
              <a:lnSpc>
                <a:spcPct val="150000"/>
              </a:lnSpc>
              <a:buFont typeface="+mj-lt"/>
              <a:buAutoNum type="arabicParenR"/>
            </a:pPr>
            <a:r>
              <a:rPr lang="en-US" sz="2400" dirty="0">
                <a:latin typeface="Trebuchet MS" panose="020B0603020202020204" pitchFamily="34" charset="0"/>
              </a:rPr>
              <a:t>Randomly select a pivot.</a:t>
            </a:r>
          </a:p>
          <a:p>
            <a:pPr marL="457200" indent="-457200">
              <a:lnSpc>
                <a:spcPct val="150000"/>
              </a:lnSpc>
              <a:buFont typeface="+mj-lt"/>
              <a:buAutoNum type="arabicParenR"/>
            </a:pPr>
            <a:r>
              <a:rPr lang="en-US" sz="2400" dirty="0">
                <a:latin typeface="Trebuchet MS" panose="020B0603020202020204" pitchFamily="34" charset="0"/>
              </a:rPr>
              <a:t>Partition the array into elements less than and greater than the </a:t>
            </a:r>
            <a:r>
              <a:rPr lang="en-US" sz="2400" dirty="0" smtClean="0">
                <a:latin typeface="Trebuchet MS" panose="020B0603020202020204" pitchFamily="34" charset="0"/>
              </a:rPr>
              <a:t>pivot</a:t>
            </a:r>
            <a:endParaRPr lang="en-IN" sz="2400" dirty="0">
              <a:latin typeface="Trebuchet MS" panose="020B0603020202020204" pitchFamily="34" charset="0"/>
            </a:endParaRPr>
          </a:p>
        </p:txBody>
      </p:sp>
    </p:spTree>
    <p:extLst>
      <p:ext uri="{BB962C8B-B14F-4D97-AF65-F5344CB8AC3E}">
        <p14:creationId xmlns:p14="http://schemas.microsoft.com/office/powerpoint/2010/main" val="6858228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C9696E9-2DD1-7E94-643A-9EB0914BFCCC}"/>
              </a:ext>
            </a:extLst>
          </p:cNvPr>
          <p:cNvSpPr txBox="1"/>
          <p:nvPr/>
        </p:nvSpPr>
        <p:spPr>
          <a:xfrm>
            <a:off x="230456" y="202690"/>
            <a:ext cx="9884215" cy="584775"/>
          </a:xfrm>
          <a:prstGeom prst="rect">
            <a:avLst/>
          </a:prstGeom>
          <a:noFill/>
        </p:spPr>
        <p:txBody>
          <a:bodyPr wrap="square">
            <a:spAutoFit/>
          </a:bodyPr>
          <a:lstStyle/>
          <a:p>
            <a:r>
              <a:rPr lang="en-US" sz="3200" b="1" dirty="0" smtClean="0">
                <a:solidFill>
                  <a:schemeClr val="bg1"/>
                </a:solidFill>
                <a:latin typeface="Trebuchet MS" panose="020B0603020202020204" pitchFamily="34" charset="0"/>
              </a:rPr>
              <a:t>Randomized Algorithms: Concept </a:t>
            </a:r>
            <a:r>
              <a:rPr lang="en-US" sz="3200" b="1" dirty="0">
                <a:solidFill>
                  <a:schemeClr val="bg1"/>
                </a:solidFill>
                <a:latin typeface="Trebuchet MS" panose="020B0603020202020204" pitchFamily="34" charset="0"/>
              </a:rPr>
              <a:t>and </a:t>
            </a:r>
            <a:r>
              <a:rPr lang="en-US" sz="3200" b="1" dirty="0" smtClean="0">
                <a:solidFill>
                  <a:schemeClr val="bg1"/>
                </a:solidFill>
                <a:latin typeface="Trebuchet MS" panose="020B0603020202020204" pitchFamily="34" charset="0"/>
              </a:rPr>
              <a:t>Applications</a:t>
            </a:r>
            <a:endParaRPr lang="en-US" sz="3200" b="1" dirty="0">
              <a:solidFill>
                <a:schemeClr val="bg1"/>
              </a:solidFill>
              <a:latin typeface="Trebuchet MS" panose="020B0603020202020204" pitchFamily="34" charset="0"/>
            </a:endParaRPr>
          </a:p>
        </p:txBody>
      </p:sp>
      <p:sp>
        <p:nvSpPr>
          <p:cNvPr id="3" name="Rectangle 2"/>
          <p:cNvSpPr/>
          <p:nvPr/>
        </p:nvSpPr>
        <p:spPr>
          <a:xfrm>
            <a:off x="230456" y="983821"/>
            <a:ext cx="11540197" cy="5632311"/>
          </a:xfrm>
          <a:prstGeom prst="rect">
            <a:avLst/>
          </a:prstGeom>
        </p:spPr>
        <p:txBody>
          <a:bodyPr wrap="square">
            <a:spAutoFit/>
          </a:bodyPr>
          <a:lstStyle/>
          <a:p>
            <a:pPr>
              <a:lnSpc>
                <a:spcPct val="150000"/>
              </a:lnSpc>
            </a:pPr>
            <a:r>
              <a:rPr lang="en-US" sz="2400" dirty="0" smtClean="0">
                <a:latin typeface="Trebuchet MS" panose="020B0603020202020204" pitchFamily="34" charset="0"/>
              </a:rPr>
              <a:t>3) Compare </a:t>
            </a:r>
            <a:r>
              <a:rPr lang="en-US" sz="2400" dirty="0">
                <a:latin typeface="Trebuchet MS" panose="020B0603020202020204" pitchFamily="34" charset="0"/>
              </a:rPr>
              <a:t>the pivot’s position to </a:t>
            </a:r>
            <a:r>
              <a:rPr lang="en-US" sz="2400" dirty="0" err="1">
                <a:latin typeface="Trebuchet MS" panose="020B0603020202020204" pitchFamily="34" charset="0"/>
              </a:rPr>
              <a:t>kkk</a:t>
            </a:r>
            <a:r>
              <a:rPr lang="en-US" sz="2400" dirty="0">
                <a:latin typeface="Trebuchet MS" panose="020B0603020202020204" pitchFamily="34" charset="0"/>
              </a:rPr>
              <a:t>:</a:t>
            </a:r>
          </a:p>
          <a:p>
            <a:pPr marL="914400" lvl="1" indent="-457200">
              <a:lnSpc>
                <a:spcPct val="150000"/>
              </a:lnSpc>
              <a:buFont typeface="Wingdings" panose="05000000000000000000" pitchFamily="2" charset="2"/>
              <a:buChar char="ü"/>
            </a:pPr>
            <a:r>
              <a:rPr lang="en-US" sz="2400" dirty="0">
                <a:latin typeface="Trebuchet MS" panose="020B0603020202020204" pitchFamily="34" charset="0"/>
              </a:rPr>
              <a:t>If the pivot is the </a:t>
            </a:r>
            <a:r>
              <a:rPr lang="en-US" sz="2400" dirty="0" smtClean="0">
                <a:latin typeface="Trebuchet MS" panose="020B0603020202020204" pitchFamily="34" charset="0"/>
              </a:rPr>
              <a:t>k-</a:t>
            </a:r>
            <a:r>
              <a:rPr lang="en-US" sz="2400" dirty="0" err="1" smtClean="0">
                <a:latin typeface="Trebuchet MS" panose="020B0603020202020204" pitchFamily="34" charset="0"/>
              </a:rPr>
              <a:t>th</a:t>
            </a:r>
            <a:r>
              <a:rPr lang="en-US" sz="2400" dirty="0" smtClean="0">
                <a:latin typeface="Trebuchet MS" panose="020B0603020202020204" pitchFamily="34" charset="0"/>
              </a:rPr>
              <a:t> </a:t>
            </a:r>
            <a:r>
              <a:rPr lang="en-US" sz="2400" dirty="0">
                <a:latin typeface="Trebuchet MS" panose="020B0603020202020204" pitchFamily="34" charset="0"/>
              </a:rPr>
              <a:t>smallest, return it.</a:t>
            </a:r>
          </a:p>
          <a:p>
            <a:pPr marL="914400" lvl="1" indent="-457200">
              <a:lnSpc>
                <a:spcPct val="150000"/>
              </a:lnSpc>
              <a:buFont typeface="Wingdings" panose="05000000000000000000" pitchFamily="2" charset="2"/>
              <a:buChar char="ü"/>
            </a:pPr>
            <a:r>
              <a:rPr lang="en-US" sz="2400" dirty="0">
                <a:latin typeface="Trebuchet MS" panose="020B0603020202020204" pitchFamily="34" charset="0"/>
              </a:rPr>
              <a:t>If </a:t>
            </a:r>
            <a:r>
              <a:rPr lang="en-US" sz="2400" dirty="0" smtClean="0">
                <a:latin typeface="Trebuchet MS" panose="020B0603020202020204" pitchFamily="34" charset="0"/>
              </a:rPr>
              <a:t>k </a:t>
            </a:r>
            <a:r>
              <a:rPr lang="en-US" sz="2400" dirty="0">
                <a:latin typeface="Trebuchet MS" panose="020B0603020202020204" pitchFamily="34" charset="0"/>
              </a:rPr>
              <a:t>lies in the left partition, recursively find the </a:t>
            </a:r>
            <a:r>
              <a:rPr lang="en-US" sz="2400" dirty="0" smtClean="0">
                <a:latin typeface="Trebuchet MS" panose="020B0603020202020204" pitchFamily="34" charset="0"/>
              </a:rPr>
              <a:t>k-</a:t>
            </a:r>
            <a:r>
              <a:rPr lang="en-US" sz="2400" dirty="0" err="1" smtClean="0">
                <a:latin typeface="Trebuchet MS" panose="020B0603020202020204" pitchFamily="34" charset="0"/>
              </a:rPr>
              <a:t>th</a:t>
            </a:r>
            <a:r>
              <a:rPr lang="en-US" sz="2400" dirty="0" smtClean="0">
                <a:latin typeface="Trebuchet MS" panose="020B0603020202020204" pitchFamily="34" charset="0"/>
              </a:rPr>
              <a:t> </a:t>
            </a:r>
            <a:r>
              <a:rPr lang="en-US" sz="2400" dirty="0">
                <a:latin typeface="Trebuchet MS" panose="020B0603020202020204" pitchFamily="34" charset="0"/>
              </a:rPr>
              <a:t>smallest in the left part.</a:t>
            </a:r>
          </a:p>
          <a:p>
            <a:pPr marL="914400" lvl="1" indent="-457200">
              <a:lnSpc>
                <a:spcPct val="150000"/>
              </a:lnSpc>
              <a:buFont typeface="Wingdings" panose="05000000000000000000" pitchFamily="2" charset="2"/>
              <a:buChar char="ü"/>
            </a:pPr>
            <a:r>
              <a:rPr lang="en-US" sz="2400" dirty="0">
                <a:latin typeface="Trebuchet MS" panose="020B0603020202020204" pitchFamily="34" charset="0"/>
              </a:rPr>
              <a:t>If </a:t>
            </a:r>
            <a:r>
              <a:rPr lang="en-US" sz="2400" dirty="0" smtClean="0">
                <a:latin typeface="Trebuchet MS" panose="020B0603020202020204" pitchFamily="34" charset="0"/>
              </a:rPr>
              <a:t>k </a:t>
            </a:r>
            <a:r>
              <a:rPr lang="en-US" sz="2400" dirty="0">
                <a:latin typeface="Trebuchet MS" panose="020B0603020202020204" pitchFamily="34" charset="0"/>
              </a:rPr>
              <a:t>lies in the right partition, adjust </a:t>
            </a:r>
            <a:r>
              <a:rPr lang="en-US" sz="2400" dirty="0" smtClean="0">
                <a:latin typeface="Trebuchet MS" panose="020B0603020202020204" pitchFamily="34" charset="0"/>
              </a:rPr>
              <a:t>k </a:t>
            </a:r>
            <a:r>
              <a:rPr lang="en-US" sz="2400" dirty="0">
                <a:latin typeface="Trebuchet MS" panose="020B0603020202020204" pitchFamily="34" charset="0"/>
              </a:rPr>
              <a:t>and recursively search the right part.</a:t>
            </a:r>
          </a:p>
          <a:p>
            <a:pPr>
              <a:lnSpc>
                <a:spcPct val="150000"/>
              </a:lnSpc>
            </a:pPr>
            <a:r>
              <a:rPr lang="en-US" sz="2400" b="1" dirty="0">
                <a:solidFill>
                  <a:srgbClr val="FF0000"/>
                </a:solidFill>
                <a:latin typeface="Trebuchet MS" panose="020B0603020202020204" pitchFamily="34" charset="0"/>
              </a:rPr>
              <a:t>Time Complexity</a:t>
            </a:r>
            <a:r>
              <a:rPr lang="en-US" sz="2400" dirty="0">
                <a:solidFill>
                  <a:srgbClr val="FF0000"/>
                </a:solidFill>
                <a:latin typeface="Trebuchet MS" panose="020B0603020202020204" pitchFamily="34" charset="0"/>
              </a:rPr>
              <a:t>:</a:t>
            </a:r>
          </a:p>
          <a:p>
            <a:pPr marL="742950" lvl="1" indent="-285750">
              <a:lnSpc>
                <a:spcPct val="150000"/>
              </a:lnSpc>
              <a:buFont typeface="Arial" panose="020B0604020202020204" pitchFamily="34" charset="0"/>
              <a:buChar char="•"/>
            </a:pPr>
            <a:r>
              <a:rPr lang="en-US" sz="2400" dirty="0">
                <a:latin typeface="Trebuchet MS" panose="020B0603020202020204" pitchFamily="34" charset="0"/>
              </a:rPr>
              <a:t>Average Case: </a:t>
            </a:r>
            <a:r>
              <a:rPr lang="en-US" sz="2400" dirty="0" smtClean="0">
                <a:latin typeface="Trebuchet MS" panose="020B0603020202020204" pitchFamily="34" charset="0"/>
              </a:rPr>
              <a:t>O(n)</a:t>
            </a:r>
            <a:endParaRPr lang="en-US" sz="2400" dirty="0">
              <a:latin typeface="Trebuchet MS" panose="020B0603020202020204" pitchFamily="34" charset="0"/>
            </a:endParaRPr>
          </a:p>
          <a:p>
            <a:pPr marL="742950" lvl="1" indent="-285750">
              <a:lnSpc>
                <a:spcPct val="150000"/>
              </a:lnSpc>
              <a:buFont typeface="Arial" panose="020B0604020202020204" pitchFamily="34" charset="0"/>
              <a:buChar char="•"/>
            </a:pPr>
            <a:r>
              <a:rPr lang="en-US" sz="2400" dirty="0">
                <a:latin typeface="Trebuchet MS" panose="020B0603020202020204" pitchFamily="34" charset="0"/>
              </a:rPr>
              <a:t>Worst Case: </a:t>
            </a:r>
            <a:r>
              <a:rPr lang="en-US" sz="2400" dirty="0" smtClean="0">
                <a:latin typeface="Trebuchet MS" panose="020B0603020202020204" pitchFamily="34" charset="0"/>
              </a:rPr>
              <a:t>O(n^2) </a:t>
            </a:r>
            <a:r>
              <a:rPr lang="en-US" sz="2400" dirty="0">
                <a:latin typeface="Trebuchet MS" panose="020B0603020202020204" pitchFamily="34" charset="0"/>
              </a:rPr>
              <a:t>(rare due to randomization).</a:t>
            </a:r>
          </a:p>
          <a:p>
            <a:pPr>
              <a:lnSpc>
                <a:spcPct val="150000"/>
              </a:lnSpc>
            </a:pPr>
            <a:r>
              <a:rPr lang="en-US" sz="2400" b="1" dirty="0">
                <a:solidFill>
                  <a:srgbClr val="FF0000"/>
                </a:solidFill>
                <a:latin typeface="Trebuchet MS" panose="020B0603020202020204" pitchFamily="34" charset="0"/>
              </a:rPr>
              <a:t>Application</a:t>
            </a:r>
            <a:r>
              <a:rPr lang="en-US" sz="2400" dirty="0">
                <a:solidFill>
                  <a:srgbClr val="FF0000"/>
                </a:solidFill>
                <a:latin typeface="Trebuchet MS" panose="020B0603020202020204" pitchFamily="34" charset="0"/>
              </a:rPr>
              <a:t>:</a:t>
            </a:r>
            <a:r>
              <a:rPr lang="en-US" sz="2400" dirty="0">
                <a:latin typeface="Trebuchet MS" panose="020B0603020202020204" pitchFamily="34" charset="0"/>
              </a:rPr>
              <a:t> Used in statistics (median finding), data analysis, and machine learning for feature selection.</a:t>
            </a:r>
          </a:p>
        </p:txBody>
      </p:sp>
    </p:spTree>
    <p:extLst>
      <p:ext uri="{BB962C8B-B14F-4D97-AF65-F5344CB8AC3E}">
        <p14:creationId xmlns:p14="http://schemas.microsoft.com/office/powerpoint/2010/main" val="21947703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1263868" y="2921168"/>
            <a:ext cx="8554066" cy="1015663"/>
          </a:xfrm>
          <a:prstGeom prst="rect">
            <a:avLst/>
          </a:prstGeom>
          <a:noFill/>
        </p:spPr>
        <p:txBody>
          <a:bodyPr wrap="square">
            <a:spAutoFit/>
          </a:bodyPr>
          <a:lstStyle/>
          <a:p>
            <a:pPr marL="354013" algn="ctr">
              <a:spcBef>
                <a:spcPts val="600"/>
              </a:spcBef>
              <a:spcAft>
                <a:spcPts val="600"/>
              </a:spcAft>
            </a:pPr>
            <a:r>
              <a:rPr lang="en-IN" sz="6000" b="1" dirty="0">
                <a:latin typeface="Corbel" panose="020B0503020204020204" pitchFamily="34" charset="0"/>
              </a:rPr>
              <a:t>Thank you!!</a:t>
            </a:r>
            <a:endParaRPr lang="en-IN" sz="6000" b="1" i="0" u="none" strike="noStrike" baseline="0" dirty="0">
              <a:latin typeface="Corbel" panose="020B0503020204020204" pitchFamily="34" charset="0"/>
            </a:endParaRPr>
          </a:p>
        </p:txBody>
      </p:sp>
    </p:spTree>
    <p:extLst>
      <p:ext uri="{BB962C8B-B14F-4D97-AF65-F5344CB8AC3E}">
        <p14:creationId xmlns:p14="http://schemas.microsoft.com/office/powerpoint/2010/main" val="38035636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PT Templat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1534</TotalTime>
  <Words>3723</Words>
  <Application>Microsoft Office PowerPoint</Application>
  <PresentationFormat>Widescreen</PresentationFormat>
  <Paragraphs>406</Paragraphs>
  <Slides>59</Slides>
  <Notes>59</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59</vt:i4>
      </vt:variant>
    </vt:vector>
  </HeadingPairs>
  <TitlesOfParts>
    <vt:vector size="77" baseType="lpstr">
      <vt:lpstr>-apple-system</vt:lpstr>
      <vt:lpstr>Arial</vt:lpstr>
      <vt:lpstr>Calibri</vt:lpstr>
      <vt:lpstr>Cambria Math</vt:lpstr>
      <vt:lpstr>CIDFont+F4</vt:lpstr>
      <vt:lpstr>Corbel</vt:lpstr>
      <vt:lpstr>DejaVu Sans</vt:lpstr>
      <vt:lpstr>Proxima Nova</vt:lpstr>
      <vt:lpstr>Roboto Condensed</vt:lpstr>
      <vt:lpstr>Roboto Condensed Light</vt:lpstr>
      <vt:lpstr>Segoe UI Black</vt:lpstr>
      <vt:lpstr>Symbol</vt:lpstr>
      <vt:lpstr>Times New Roman</vt:lpstr>
      <vt:lpstr>Trebuchet MS</vt:lpstr>
      <vt:lpstr>Wingdings</vt:lpstr>
      <vt:lpstr>Wingdings 3</vt:lpstr>
      <vt:lpstr>Simple Light</vt:lpstr>
      <vt:lpstr>PPT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prema</dc:creator>
  <cp:lastModifiedBy>tourist</cp:lastModifiedBy>
  <cp:revision>186</cp:revision>
  <dcterms:created xsi:type="dcterms:W3CDTF">2022-10-02T17:32:59Z</dcterms:created>
  <dcterms:modified xsi:type="dcterms:W3CDTF">2026-06-27T09:28:52Z</dcterms:modified>
</cp:coreProperties>
</file>