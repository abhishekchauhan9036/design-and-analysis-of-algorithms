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98"/>
  </p:notesMasterIdLst>
  <p:sldIdLst>
    <p:sldId id="307" r:id="rId3"/>
    <p:sldId id="309" r:id="rId4"/>
    <p:sldId id="500" r:id="rId5"/>
    <p:sldId id="504" r:id="rId6"/>
    <p:sldId id="505" r:id="rId7"/>
    <p:sldId id="524" r:id="rId8"/>
    <p:sldId id="503" r:id="rId9"/>
    <p:sldId id="502" r:id="rId10"/>
    <p:sldId id="507" r:id="rId11"/>
    <p:sldId id="512" r:id="rId12"/>
    <p:sldId id="513" r:id="rId13"/>
    <p:sldId id="514" r:id="rId14"/>
    <p:sldId id="515" r:id="rId15"/>
    <p:sldId id="546" r:id="rId16"/>
    <p:sldId id="510" r:id="rId17"/>
    <p:sldId id="519" r:id="rId18"/>
    <p:sldId id="516" r:id="rId19"/>
    <p:sldId id="518" r:id="rId20"/>
    <p:sldId id="517" r:id="rId21"/>
    <p:sldId id="511" r:id="rId22"/>
    <p:sldId id="506" r:id="rId23"/>
    <p:sldId id="602" r:id="rId24"/>
    <p:sldId id="603" r:id="rId25"/>
    <p:sldId id="604" r:id="rId26"/>
    <p:sldId id="605" r:id="rId27"/>
    <p:sldId id="606" r:id="rId28"/>
    <p:sldId id="607" r:id="rId29"/>
    <p:sldId id="608" r:id="rId30"/>
    <p:sldId id="609" r:id="rId31"/>
    <p:sldId id="610" r:id="rId32"/>
    <p:sldId id="611" r:id="rId33"/>
    <p:sldId id="612" r:id="rId34"/>
    <p:sldId id="536" r:id="rId35"/>
    <p:sldId id="543" r:id="rId36"/>
    <p:sldId id="545" r:id="rId37"/>
    <p:sldId id="537" r:id="rId38"/>
    <p:sldId id="538" r:id="rId39"/>
    <p:sldId id="542" r:id="rId40"/>
    <p:sldId id="544" r:id="rId41"/>
    <p:sldId id="539" r:id="rId42"/>
    <p:sldId id="601" r:id="rId43"/>
    <p:sldId id="549" r:id="rId44"/>
    <p:sldId id="550" r:id="rId45"/>
    <p:sldId id="551" r:id="rId46"/>
    <p:sldId id="552" r:id="rId47"/>
    <p:sldId id="553" r:id="rId48"/>
    <p:sldId id="554" r:id="rId49"/>
    <p:sldId id="555" r:id="rId50"/>
    <p:sldId id="556" r:id="rId51"/>
    <p:sldId id="557" r:id="rId52"/>
    <p:sldId id="558" r:id="rId53"/>
    <p:sldId id="572" r:id="rId54"/>
    <p:sldId id="573" r:id="rId55"/>
    <p:sldId id="582" r:id="rId56"/>
    <p:sldId id="583" r:id="rId57"/>
    <p:sldId id="584" r:id="rId58"/>
    <p:sldId id="585" r:id="rId59"/>
    <p:sldId id="586" r:id="rId60"/>
    <p:sldId id="587" r:id="rId61"/>
    <p:sldId id="588" r:id="rId62"/>
    <p:sldId id="589" r:id="rId63"/>
    <p:sldId id="627" r:id="rId64"/>
    <p:sldId id="628" r:id="rId65"/>
    <p:sldId id="629" r:id="rId66"/>
    <p:sldId id="630" r:id="rId67"/>
    <p:sldId id="631" r:id="rId68"/>
    <p:sldId id="632" r:id="rId69"/>
    <p:sldId id="633" r:id="rId70"/>
    <p:sldId id="634" r:id="rId71"/>
    <p:sldId id="613" r:id="rId72"/>
    <p:sldId id="614" r:id="rId73"/>
    <p:sldId id="615" r:id="rId74"/>
    <p:sldId id="616" r:id="rId75"/>
    <p:sldId id="617" r:id="rId76"/>
    <p:sldId id="618" r:id="rId77"/>
    <p:sldId id="619" r:id="rId78"/>
    <p:sldId id="620" r:id="rId79"/>
    <p:sldId id="621" r:id="rId80"/>
    <p:sldId id="622" r:id="rId81"/>
    <p:sldId id="623" r:id="rId82"/>
    <p:sldId id="624" r:id="rId83"/>
    <p:sldId id="625" r:id="rId84"/>
    <p:sldId id="626" r:id="rId85"/>
    <p:sldId id="590" r:id="rId86"/>
    <p:sldId id="591" r:id="rId87"/>
    <p:sldId id="592" r:id="rId88"/>
    <p:sldId id="593" r:id="rId89"/>
    <p:sldId id="594" r:id="rId90"/>
    <p:sldId id="595" r:id="rId91"/>
    <p:sldId id="596" r:id="rId92"/>
    <p:sldId id="597" r:id="rId93"/>
    <p:sldId id="598" r:id="rId94"/>
    <p:sldId id="599" r:id="rId95"/>
    <p:sldId id="600" r:id="rId96"/>
    <p:sldId id="541"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37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27-06-2026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9963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714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0728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5298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654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936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691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5465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259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283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264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964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2462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7437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924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976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751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3139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7449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191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49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4886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4844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884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491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9279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0305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5065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798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9230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55650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1725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7465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4706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504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82151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62546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2037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67919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7058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4204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031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2887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6058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73398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5116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35321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061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60363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95966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1324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444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13031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25932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0419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2149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7907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57885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50730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79442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44965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39665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9825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32932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24077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76198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66862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0592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6611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9939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3459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1889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1538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16662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8401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2491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5037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0554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01695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74167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8756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2583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6518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3313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257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0600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08458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3064896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43515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D8B86E-3F52-41AC-B810-CAEDBDE718C4}"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328918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D8B86E-3F52-41AC-B810-CAEDBDE718C4}"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576601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D8B86E-3F52-41AC-B810-CAEDBDE718C4}" type="datetimeFigureOut">
              <a:rPr lang="en-IN" smtClean="0"/>
              <a:t>27-06-2026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938470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D8B86E-3F52-41AC-B810-CAEDBDE718C4}" type="datetimeFigureOut">
              <a:rPr lang="en-IN" smtClean="0"/>
              <a:t>27-06-2026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842033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8B86E-3F52-41AC-B810-CAEDBDE718C4}" type="datetimeFigureOut">
              <a:rPr lang="en-IN" smtClean="0"/>
              <a:t>27-06-2026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585100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D8B86E-3F52-41AC-B810-CAEDBDE718C4}"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54643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D8B86E-3F52-41AC-B810-CAEDBDE718C4}"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979642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510788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1661595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8B86E-3F52-41AC-B810-CAEDBDE718C4}" type="datetimeFigureOut">
              <a:rPr lang="en-IN" smtClean="0"/>
              <a:t>27-06-2026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F33923-1E2D-40F3-B19D-93CB704D8D50}" type="slidenum">
              <a:rPr lang="en-IN" smtClean="0"/>
              <a:t>‹#›</a:t>
            </a:fld>
            <a:endParaRPr lang="en-IN"/>
          </a:p>
        </p:txBody>
      </p:sp>
    </p:spTree>
    <p:extLst>
      <p:ext uri="{BB962C8B-B14F-4D97-AF65-F5344CB8AC3E}">
        <p14:creationId xmlns:p14="http://schemas.microsoft.com/office/powerpoint/2010/main" val="2312599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90.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6.png"/><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png"/><Relationship Id="rId7"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image" Target="../media/image26.pn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71.png"/><Relationship Id="rId5" Type="http://schemas.openxmlformats.org/officeDocument/2006/relationships/image" Target="../media/image26.pn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0.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270.png"/><Relationship Id="rId5" Type="http://schemas.openxmlformats.org/officeDocument/2006/relationships/image" Target="../media/image26.pn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26.png"/><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6.png"/><Relationship Id="rId4" Type="http://schemas.openxmlformats.org/officeDocument/2006/relationships/image" Target="../media/image5.png"/></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8.png"/><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610.png"/><Relationship Id="rId4" Type="http://schemas.openxmlformats.org/officeDocument/2006/relationships/image" Target="../media/image611.png"/></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630.png"/><Relationship Id="rId4" Type="http://schemas.openxmlformats.org/officeDocument/2006/relationships/image" Target="../media/image63.pn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80.png"/><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650.png"/><Relationship Id="rId4" Type="http://schemas.openxmlformats.org/officeDocument/2006/relationships/image" Target="../media/image65.png"/></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80.png"/><Relationship Id="rId1" Type="http://schemas.openxmlformats.org/officeDocument/2006/relationships/slideLayout" Target="../slideLayouts/slideLayout6.xml"/><Relationship Id="rId4" Type="http://schemas.openxmlformats.org/officeDocument/2006/relationships/image" Target="../media/image68.png"/></Relationships>
</file>

<file path=ppt/slides/_rels/slide9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69.png"/></Relationships>
</file>

<file path=ppt/slides/_rels/slide91.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700.png"/></Relationships>
</file>

<file path=ppt/slides/_rels/slide92.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580.png"/><Relationship Id="rId1" Type="http://schemas.openxmlformats.org/officeDocument/2006/relationships/slideLayout" Target="../slideLayouts/slideLayout6.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93.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580.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12700" y="-82907"/>
            <a:ext cx="12179300" cy="6845300"/>
          </a:xfrm>
          <a:prstGeom prst="rect">
            <a:avLst/>
          </a:prstGeom>
          <a:noFill/>
          <a:ln>
            <a:noFill/>
          </a:ln>
        </p:spPr>
      </p:pic>
      <p:sp>
        <p:nvSpPr>
          <p:cNvPr id="11" name="Google Shape;71;p15"/>
          <p:cNvSpPr txBox="1"/>
          <p:nvPr/>
        </p:nvSpPr>
        <p:spPr>
          <a:xfrm>
            <a:off x="445082" y="2794392"/>
            <a:ext cx="6579831" cy="1107955"/>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2800" b="1" i="0" u="none" strike="noStrike" kern="0" cap="none" spc="0" normalizeH="0" baseline="0" noProof="0" dirty="0">
                <a:ln>
                  <a:noFill/>
                </a:ln>
                <a:solidFill>
                  <a:srgbClr val="000000"/>
                </a:solidFill>
                <a:effectLst/>
                <a:uLnTx/>
                <a:uFillTx/>
                <a:latin typeface="+mj-lt"/>
                <a:ea typeface="Proxima Nova"/>
                <a:cs typeface="Proxima Nova"/>
                <a:sym typeface="Proxima Nova"/>
              </a:rPr>
              <a:t>Unit – </a:t>
            </a:r>
            <a:r>
              <a:rPr kumimoji="0" lang="en-US" sz="2800" b="1" i="0" u="none" strike="noStrike" kern="0" cap="none" spc="0" normalizeH="0" baseline="0" noProof="0" dirty="0" smtClean="0">
                <a:ln>
                  <a:noFill/>
                </a:ln>
                <a:solidFill>
                  <a:srgbClr val="000000"/>
                </a:solidFill>
                <a:effectLst/>
                <a:uLnTx/>
                <a:uFillTx/>
                <a:latin typeface="+mj-lt"/>
                <a:ea typeface="Proxima Nova"/>
                <a:cs typeface="Proxima Nova"/>
                <a:sym typeface="Proxima Nova"/>
              </a:rPr>
              <a:t>4</a:t>
            </a:r>
            <a:endParaRPr kumimoji="0" lang="en-US" sz="2800" b="1" i="0" u="none" strike="noStrike" kern="0" cap="none" spc="0" normalizeH="0" baseline="0" noProof="0" dirty="0">
              <a:ln>
                <a:noFill/>
              </a:ln>
              <a:solidFill>
                <a:srgbClr val="000000"/>
              </a:solidFill>
              <a:effectLst/>
              <a:uLnTx/>
              <a:uFillTx/>
              <a:latin typeface="+mj-lt"/>
              <a:ea typeface="Proxima Nova"/>
              <a:cs typeface="Proxima Nova"/>
              <a:sym typeface="Proxima Nova"/>
            </a:endParaRPr>
          </a:p>
          <a:p>
            <a:r>
              <a:rPr lang="en-US" sz="2800" b="1" kern="0" dirty="0">
                <a:solidFill>
                  <a:srgbClr val="000000"/>
                </a:solidFill>
                <a:latin typeface="+mj-lt"/>
                <a:ea typeface="Proxima Nova"/>
                <a:cs typeface="Proxima Nova"/>
              </a:rPr>
              <a:t>Greedy Method &amp; Graph Algorithms</a:t>
            </a:r>
            <a:endParaRPr lang="en-US" sz="2800" b="1" kern="0" dirty="0">
              <a:solidFill>
                <a:srgbClr val="000000"/>
              </a:solidFill>
              <a:latin typeface="+mj-lt"/>
              <a:ea typeface="Proxima Nova"/>
              <a:cs typeface="Proxima Nova"/>
              <a:sym typeface="Proxima Nova"/>
            </a:endParaRPr>
          </a:p>
        </p:txBody>
      </p:sp>
      <p:sp>
        <p:nvSpPr>
          <p:cNvPr id="13" name="Google Shape;71;p15"/>
          <p:cNvSpPr txBox="1"/>
          <p:nvPr/>
        </p:nvSpPr>
        <p:spPr>
          <a:xfrm>
            <a:off x="314452" y="1138773"/>
            <a:ext cx="8103833" cy="677068"/>
          </a:xfrm>
          <a:prstGeom prst="rect">
            <a:avLst/>
          </a:prstGeom>
          <a:noFill/>
          <a:ln>
            <a:noFill/>
          </a:ln>
        </p:spPr>
        <p:txBody>
          <a:bodyPr spcFirstLastPara="1" wrap="square" lIns="121900" tIns="121900" rIns="121900" bIns="121900" anchor="t" anchorCtr="0">
            <a:spAutoFit/>
          </a:bodyPr>
          <a:lstStyle/>
          <a:p>
            <a:r>
              <a:rPr lang="en-IN" sz="2800" b="1" kern="0" dirty="0">
                <a:solidFill>
                  <a:srgbClr val="000000"/>
                </a:solidFill>
                <a:latin typeface="+mj-lt"/>
                <a:ea typeface="Proxima Nova"/>
                <a:cs typeface="Proxima Nova"/>
              </a:rPr>
              <a:t>01AI0506 - </a:t>
            </a:r>
            <a:r>
              <a:rPr lang="en-US" sz="2800" b="1" kern="0" dirty="0">
                <a:solidFill>
                  <a:srgbClr val="000000"/>
                </a:solidFill>
                <a:latin typeface="+mj-lt"/>
                <a:ea typeface="Proxima Nova"/>
                <a:cs typeface="Proxima Nova"/>
              </a:rPr>
              <a:t>Design and Analysis of Algorithms</a:t>
            </a:r>
            <a:endParaRPr lang="en-US" sz="2800" b="1" kern="0" dirty="0">
              <a:solidFill>
                <a:srgbClr val="000000"/>
              </a:solidFill>
              <a:latin typeface="+mj-lt"/>
              <a:ea typeface="Proxima Nova"/>
              <a:cs typeface="Proxima Nova"/>
              <a:sym typeface="Proxima Nova"/>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
        <p:nvSpPr>
          <p:cNvPr id="8" name="Google Shape;73;p15"/>
          <p:cNvSpPr txBox="1"/>
          <p:nvPr/>
        </p:nvSpPr>
        <p:spPr>
          <a:xfrm>
            <a:off x="541203" y="4597488"/>
            <a:ext cx="3825165" cy="1631175"/>
          </a:xfrm>
          <a:prstGeom prst="rect">
            <a:avLst/>
          </a:prstGeom>
          <a:noFill/>
          <a:ln>
            <a:noFill/>
          </a:ln>
        </p:spPr>
        <p:txBody>
          <a:bodyPr spcFirstLastPara="1" wrap="square" lIns="121900" tIns="121900" rIns="121900" bIns="1219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spcBef>
                <a:spcPts val="600"/>
              </a:spcBef>
              <a:spcAft>
                <a:spcPts val="600"/>
              </a:spcAft>
              <a:buClr>
                <a:srgbClr val="000000"/>
              </a:buClr>
              <a:defRPr/>
            </a:pPr>
            <a:r>
              <a:rPr lang="en-US" sz="2000" b="1" dirty="0">
                <a:latin typeface="Trebuchet MS" panose="020B0603020202020204" pitchFamily="34" charset="0"/>
              </a:rPr>
              <a:t>Prepared by</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Prof</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lang="en-US" sz="2000" b="1" kern="0" dirty="0" smtClean="0">
                <a:solidFill>
                  <a:srgbClr val="000000"/>
                </a:solidFill>
                <a:latin typeface="Trebuchet MS" panose="020B0603020202020204" pitchFamily="34" charset="0"/>
                <a:cs typeface="Arial"/>
                <a:sym typeface="Arial"/>
              </a:rPr>
              <a:t>Abhishek Chauhan</a:t>
            </a: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 </a:t>
            </a:r>
            <a:endPar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CSE- AI, ML &amp; DS </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Department</a:t>
            </a:r>
            <a:endParaRPr kumimoji="0"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6334"/>
            <a:ext cx="12179300" cy="6845300"/>
          </a:xfrm>
          <a:prstGeom prst="rect">
            <a:avLst/>
          </a:prstGeom>
          <a:noFill/>
          <a:ln>
            <a:noFill/>
          </a:ln>
        </p:spPr>
      </p:pic>
      <p:sp>
        <p:nvSpPr>
          <p:cNvPr id="97" name="Google Shape;97;p17"/>
          <p:cNvSpPr txBox="1"/>
          <p:nvPr/>
        </p:nvSpPr>
        <p:spPr>
          <a:xfrm>
            <a:off x="322013" y="199279"/>
            <a:ext cx="2324800" cy="800179"/>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IN" sz="3600" b="1" i="0" u="none" strike="noStrike" kern="0" cap="none" spc="0" normalizeH="0" baseline="0" noProof="0" dirty="0" smtClean="0">
                <a:ln>
                  <a:noFill/>
                </a:ln>
                <a:solidFill>
                  <a:srgbClr val="FFFFFF"/>
                </a:solidFill>
                <a:effectLst/>
                <a:uLnTx/>
                <a:uFillTx/>
                <a:latin typeface="Trebuchet MS" panose="020B0603020202020204" pitchFamily="34" charset="0"/>
                <a:ea typeface="Proxima Nova"/>
                <a:cs typeface="Proxima Nova"/>
                <a:sym typeface="Proxima Nova"/>
              </a:rPr>
              <a:t>Outline</a:t>
            </a:r>
            <a:endParaRPr kumimoji="0" lang="en-IN" sz="36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endParaRPr>
          </a:p>
        </p:txBody>
      </p:sp>
      <p:sp>
        <p:nvSpPr>
          <p:cNvPr id="99" name="Google Shape;99;p17"/>
          <p:cNvSpPr txBox="1"/>
          <p:nvPr/>
        </p:nvSpPr>
        <p:spPr>
          <a:xfrm>
            <a:off x="406870" y="958865"/>
            <a:ext cx="11390960" cy="5847714"/>
          </a:xfrm>
          <a:prstGeom prst="rect">
            <a:avLst/>
          </a:prstGeom>
          <a:noFill/>
          <a:ln>
            <a:noFill/>
          </a:ln>
        </p:spPr>
        <p:txBody>
          <a:bodyPr spcFirstLastPara="1" wrap="square" lIns="121900" tIns="121900" rIns="121900" bIns="121900" anchor="t" anchorCtr="0">
            <a:spAutoFit/>
          </a:bodyPr>
          <a:lstStyle/>
          <a:p>
            <a:pPr marL="342900" indent="-342900">
              <a:spcBef>
                <a:spcPts val="600"/>
              </a:spcBef>
              <a:spcAft>
                <a:spcPts val="600"/>
              </a:spcAft>
              <a:buFont typeface="Wingdings" panose="05000000000000000000" pitchFamily="2" charset="2"/>
              <a:buChar char="q"/>
            </a:pPr>
            <a:r>
              <a:rPr lang="en-IN" sz="2400" dirty="0">
                <a:solidFill>
                  <a:srgbClr val="000000"/>
                </a:solidFill>
                <a:latin typeface="Trebuchet MS" panose="020B0603020202020204" pitchFamily="34" charset="0"/>
              </a:rPr>
              <a:t>General Characteristics of greedy algorithms, </a:t>
            </a:r>
            <a:endParaRPr lang="en-IN" sz="2400" dirty="0" smtClean="0">
              <a:solidFill>
                <a:srgbClr val="000000"/>
              </a:solidFill>
              <a:latin typeface="Trebuchet MS" panose="020B0603020202020204" pitchFamily="34" charset="0"/>
            </a:endParaRPr>
          </a:p>
          <a:p>
            <a:pPr marL="342900" indent="-342900">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Elements </a:t>
            </a:r>
            <a:r>
              <a:rPr lang="en-IN" sz="2400" dirty="0">
                <a:solidFill>
                  <a:srgbClr val="000000"/>
                </a:solidFill>
                <a:latin typeface="Trebuchet MS" panose="020B0603020202020204" pitchFamily="34" charset="0"/>
              </a:rPr>
              <a:t>of </a:t>
            </a:r>
            <a:r>
              <a:rPr lang="en-IN" sz="2400" dirty="0" smtClean="0">
                <a:solidFill>
                  <a:srgbClr val="000000"/>
                </a:solidFill>
                <a:latin typeface="Trebuchet MS" panose="020B0603020202020204" pitchFamily="34" charset="0"/>
              </a:rPr>
              <a:t>greedy strategy</a:t>
            </a:r>
            <a:r>
              <a:rPr lang="en-IN" sz="2400" dirty="0">
                <a:solidFill>
                  <a:srgbClr val="000000"/>
                </a:solidFill>
                <a:latin typeface="Trebuchet MS" panose="020B0603020202020204" pitchFamily="34" charset="0"/>
              </a:rPr>
              <a:t>, </a:t>
            </a:r>
            <a:endParaRPr lang="en-IN" sz="2400" dirty="0" smtClean="0">
              <a:solidFill>
                <a:srgbClr val="000000"/>
              </a:solidFill>
              <a:latin typeface="Trebuchet MS" panose="020B0603020202020204" pitchFamily="34" charset="0"/>
            </a:endParaRPr>
          </a:p>
          <a:p>
            <a:pPr marL="342900" indent="-342900">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Problem solving using,</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Activity selection problem</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Fractional Knapsack Problem</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Job Scheduling Problem </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Huffman Code </a:t>
            </a: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Representations of graphs - Graph traversal: DFS – BFS -applications </a:t>
            </a:r>
            <a:r>
              <a:rPr lang="en-IN" sz="2400" dirty="0">
                <a:solidFill>
                  <a:srgbClr val="000000"/>
                </a:solidFill>
                <a:latin typeface="Trebuchet MS" panose="020B0603020202020204" pitchFamily="34" charset="0"/>
              </a:rPr>
              <a:t>– </a:t>
            </a:r>
            <a:r>
              <a:rPr lang="en-IN" sz="2400" dirty="0" smtClean="0">
                <a:solidFill>
                  <a:srgbClr val="000000"/>
                </a:solidFill>
                <a:latin typeface="Trebuchet MS" panose="020B0603020202020204" pitchFamily="34" charset="0"/>
              </a:rPr>
              <a:t>Connectivity </a:t>
            </a: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Minimum </a:t>
            </a:r>
            <a:r>
              <a:rPr lang="en-IN" sz="2400" dirty="0">
                <a:solidFill>
                  <a:srgbClr val="000000"/>
                </a:solidFill>
                <a:latin typeface="Trebuchet MS" panose="020B0603020202020204" pitchFamily="34" charset="0"/>
              </a:rPr>
              <a:t>spanning </a:t>
            </a:r>
            <a:r>
              <a:rPr lang="en-IN" sz="2400" dirty="0" smtClean="0">
                <a:solidFill>
                  <a:srgbClr val="000000"/>
                </a:solidFill>
                <a:latin typeface="Trebuchet MS" panose="020B0603020202020204" pitchFamily="34" charset="0"/>
              </a:rPr>
              <a:t>tree - Kruskal’s and Prim’s </a:t>
            </a:r>
            <a:r>
              <a:rPr lang="en-IN" sz="2400" dirty="0">
                <a:solidFill>
                  <a:srgbClr val="000000"/>
                </a:solidFill>
                <a:latin typeface="Trebuchet MS" panose="020B0603020202020204" pitchFamily="34" charset="0"/>
              </a:rPr>
              <a:t>algorithms, </a:t>
            </a:r>
            <a:endParaRPr lang="en-IN" sz="2400" dirty="0" smtClean="0">
              <a:solidFill>
                <a:srgbClr val="000000"/>
              </a:solidFill>
              <a:latin typeface="Trebuchet MS" panose="020B0603020202020204" pitchFamily="34" charset="0"/>
            </a:endParaRP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Shortest </a:t>
            </a:r>
            <a:r>
              <a:rPr lang="en-IN" sz="2400" dirty="0">
                <a:solidFill>
                  <a:srgbClr val="000000"/>
                </a:solidFill>
                <a:latin typeface="Trebuchet MS" panose="020B0603020202020204" pitchFamily="34" charset="0"/>
              </a:rPr>
              <a:t>path </a:t>
            </a:r>
            <a:r>
              <a:rPr lang="en-IN" sz="2400" dirty="0" smtClean="0">
                <a:solidFill>
                  <a:srgbClr val="000000"/>
                </a:solidFill>
                <a:latin typeface="Trebuchet MS" panose="020B0603020202020204" pitchFamily="34" charset="0"/>
              </a:rPr>
              <a:t>Algorithms -  </a:t>
            </a:r>
            <a:r>
              <a:rPr lang="en-IN" sz="2400" dirty="0">
                <a:solidFill>
                  <a:srgbClr val="000000"/>
                </a:solidFill>
                <a:latin typeface="Trebuchet MS" panose="020B0603020202020204" pitchFamily="34" charset="0"/>
              </a:rPr>
              <a:t>Dijkstra’s </a:t>
            </a:r>
            <a:r>
              <a:rPr lang="en-IN" sz="2400" dirty="0" smtClean="0">
                <a:solidFill>
                  <a:srgbClr val="000000"/>
                </a:solidFill>
                <a:latin typeface="Trebuchet MS" panose="020B0603020202020204" pitchFamily="34" charset="0"/>
              </a:rPr>
              <a:t>algorithm, Floyd - Warshall </a:t>
            </a:r>
            <a:r>
              <a:rPr lang="en-IN" sz="2400" dirty="0">
                <a:solidFill>
                  <a:srgbClr val="000000"/>
                </a:solidFill>
                <a:latin typeface="Trebuchet MS" panose="020B0603020202020204" pitchFamily="34" charset="0"/>
              </a:rPr>
              <a:t>algorithm</a:t>
            </a:r>
            <a:endParaRPr lang="en-IN" sz="2400" b="0" i="0" u="none" strike="noStrike" baseline="0" dirty="0">
              <a:solidFill>
                <a:srgbClr val="000000"/>
              </a:solidFill>
              <a:latin typeface="Trebuchet MS" panose="020B0603020202020204" pitchFamily="34" charset="0"/>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41809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21064"/>
            <a:ext cx="12179300" cy="6845300"/>
          </a:xfrm>
          <a:prstGeom prst="rect">
            <a:avLst/>
          </a:prstGeom>
          <a:noFill/>
          <a:ln>
            <a:noFill/>
          </a:ln>
        </p:spPr>
      </p:pic>
      <p:sp>
        <p:nvSpPr>
          <p:cNvPr id="7" name="Google Shape;97;p17"/>
          <p:cNvSpPr txBox="1"/>
          <p:nvPr/>
        </p:nvSpPr>
        <p:spPr>
          <a:xfrm>
            <a:off x="6318" y="633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200" b="1" dirty="0">
                <a:solidFill>
                  <a:schemeClr val="bg1"/>
                </a:solidFill>
                <a:latin typeface="Corbel" panose="020B0503020204020204" pitchFamily="34" charset="0"/>
              </a:rPr>
              <a:t> </a:t>
            </a:r>
            <a:r>
              <a:rPr lang="en-IN" sz="3200" b="1" dirty="0" smtClean="0">
                <a:solidFill>
                  <a:schemeClr val="bg1"/>
                </a:solidFill>
                <a:latin typeface="Corbel" panose="020B0503020204020204" pitchFamily="34" charset="0"/>
              </a:rPr>
              <a:t>  </a:t>
            </a:r>
            <a:r>
              <a:rPr lang="en-IN" sz="3600" b="1" dirty="0" smtClean="0">
                <a:solidFill>
                  <a:schemeClr val="bg1"/>
                </a:solidFill>
                <a:latin typeface="Trebuchet MS" panose="020B0603020202020204" pitchFamily="34" charset="0"/>
              </a:rPr>
              <a:t>G</a:t>
            </a:r>
            <a:r>
              <a:rPr lang="en-IN" sz="3600" b="1" i="0" u="none" strike="noStrike" baseline="0" dirty="0" smtClean="0">
                <a:solidFill>
                  <a:schemeClr val="bg1"/>
                </a:solidFill>
                <a:latin typeface="Trebuchet MS" panose="020B0603020202020204" pitchFamily="34" charset="0"/>
              </a:rPr>
              <a:t>reedy</a:t>
            </a:r>
            <a:r>
              <a:rPr lang="en-IN" sz="3200" b="1" i="0" u="none" strike="noStrike" baseline="0" dirty="0" smtClean="0">
                <a:solidFill>
                  <a:schemeClr val="bg1"/>
                </a:solidFill>
                <a:latin typeface="Trebuchet MS" panose="020B0603020202020204" pitchFamily="34" charset="0"/>
              </a:rPr>
              <a:t> Approach/Method - Introduction </a:t>
            </a:r>
            <a:endParaRPr lang="en-IN" sz="32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16E31A95-5147-EF0D-527F-96E1F95FC69F}"/>
              </a:ext>
            </a:extLst>
          </p:cNvPr>
          <p:cNvSpPr txBox="1"/>
          <p:nvPr/>
        </p:nvSpPr>
        <p:spPr>
          <a:xfrm>
            <a:off x="559004" y="1163520"/>
            <a:ext cx="11292730" cy="5293757"/>
          </a:xfrm>
          <a:prstGeom prst="rect">
            <a:avLst/>
          </a:prstGeom>
          <a:noFill/>
        </p:spPr>
        <p:txBody>
          <a:bodyPr wrap="square">
            <a:spAutoFit/>
          </a:bodyPr>
          <a:lstStyle/>
          <a:p>
            <a:pPr marL="457200" indent="-457200">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A Greedy algorithm is an approach to solving a problem that selects the </a:t>
            </a:r>
            <a:r>
              <a:rPr lang="en-IN" sz="2800" dirty="0">
                <a:solidFill>
                  <a:srgbClr val="CC3399"/>
                </a:solidFill>
                <a:latin typeface="Trebuchet MS" panose="020B0603020202020204" pitchFamily="34" charset="0"/>
              </a:rPr>
              <a:t>most appropriate option based on the current situation</a:t>
            </a:r>
            <a:r>
              <a:rPr lang="en-IN" sz="2800" b="0" i="0" dirty="0">
                <a:effectLst/>
                <a:latin typeface="Trebuchet MS" panose="020B0603020202020204" pitchFamily="34" charset="0"/>
              </a:rPr>
              <a:t>. </a:t>
            </a:r>
          </a:p>
          <a:p>
            <a:pPr marL="457200" indent="-457200">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This algorithm ignores the fact that the current best result may not </a:t>
            </a:r>
            <a:r>
              <a:rPr lang="en-IN" sz="2800" b="0" i="0" dirty="0">
                <a:solidFill>
                  <a:srgbClr val="CC3399"/>
                </a:solidFill>
                <a:effectLst/>
                <a:latin typeface="Trebuchet MS" panose="020B0603020202020204" pitchFamily="34" charset="0"/>
              </a:rPr>
              <a:t>bring about the overall optimal result</a:t>
            </a:r>
            <a:r>
              <a:rPr lang="en-IN" sz="2800" b="0" i="0" dirty="0">
                <a:effectLst/>
                <a:latin typeface="Trebuchet MS" panose="020B0603020202020204" pitchFamily="34" charset="0"/>
              </a:rPr>
              <a:t>. Even if the initial decision was incorrect, the algorithm never reverses it.</a:t>
            </a:r>
          </a:p>
          <a:p>
            <a:pPr marL="457200" indent="-457200">
              <a:spcBef>
                <a:spcPts val="600"/>
              </a:spcBef>
              <a:spcAft>
                <a:spcPts val="600"/>
              </a:spcAft>
              <a:buFont typeface="Arial" panose="020B0604020202020204" pitchFamily="34" charset="0"/>
              <a:buChar char="•"/>
            </a:pPr>
            <a:r>
              <a:rPr lang="en-IN" sz="2800" dirty="0">
                <a:latin typeface="Trebuchet MS" panose="020B0603020202020204" pitchFamily="34" charset="0"/>
              </a:rPr>
              <a:t>This simple, intuitive algorithm can be </a:t>
            </a:r>
            <a:r>
              <a:rPr lang="en-IN" sz="2800" dirty="0">
                <a:solidFill>
                  <a:srgbClr val="CC3399"/>
                </a:solidFill>
                <a:latin typeface="Trebuchet MS" panose="020B0603020202020204" pitchFamily="34" charset="0"/>
              </a:rPr>
              <a:t>applied to solve any optimization problem </a:t>
            </a:r>
            <a:r>
              <a:rPr lang="en-IN" sz="2800" dirty="0">
                <a:latin typeface="Trebuchet MS" panose="020B0603020202020204" pitchFamily="34" charset="0"/>
              </a:rPr>
              <a:t>which requires the maximum or minimum optimum result. </a:t>
            </a:r>
          </a:p>
          <a:p>
            <a:pPr marL="457200" indent="-457200">
              <a:spcBef>
                <a:spcPts val="600"/>
              </a:spcBef>
              <a:spcAft>
                <a:spcPts val="600"/>
              </a:spcAft>
              <a:buFont typeface="Arial" panose="020B0604020202020204" pitchFamily="34" charset="0"/>
              <a:buChar char="•"/>
            </a:pPr>
            <a:r>
              <a:rPr lang="en-IN" sz="2800" dirty="0">
                <a:latin typeface="Trebuchet MS" panose="020B0603020202020204" pitchFamily="34" charset="0"/>
              </a:rPr>
              <a:t>The best thing about this algorithm is that it is </a:t>
            </a:r>
            <a:r>
              <a:rPr lang="en-IN" sz="2800" dirty="0">
                <a:solidFill>
                  <a:srgbClr val="CC3399"/>
                </a:solidFill>
                <a:latin typeface="Trebuchet MS" panose="020B0603020202020204" pitchFamily="34" charset="0"/>
              </a:rPr>
              <a:t>easy to understand </a:t>
            </a:r>
            <a:r>
              <a:rPr lang="en-IN" sz="2800" dirty="0">
                <a:latin typeface="Trebuchet MS" panose="020B0603020202020204" pitchFamily="34" charset="0"/>
              </a:rPr>
              <a:t>and implement.</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83489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246744" y="198118"/>
            <a:ext cx="898574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Corbel" panose="020B0503020204020204" pitchFamily="34" charset="0"/>
              </a:rPr>
              <a:t>Limitations of Greedy </a:t>
            </a:r>
            <a:r>
              <a:rPr lang="en-IN" sz="3600" b="1" i="0" dirty="0" smtClean="0">
                <a:solidFill>
                  <a:schemeClr val="bg1"/>
                </a:solidFill>
                <a:effectLst/>
                <a:latin typeface="Corbel" panose="020B0503020204020204" pitchFamily="34" charset="0"/>
              </a:rPr>
              <a:t>Approach</a:t>
            </a:r>
            <a:endParaRPr lang="en-IN" sz="3600" b="1" i="0" dirty="0">
              <a:solidFill>
                <a:schemeClr val="bg1"/>
              </a:solidFill>
              <a:effectLst/>
              <a:latin typeface="Corbel" panose="020B0503020204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519670" y="1277019"/>
            <a:ext cx="11003704" cy="4862870"/>
          </a:xfrm>
          <a:prstGeom prst="rect">
            <a:avLst/>
          </a:prstGeom>
          <a:noFill/>
        </p:spPr>
        <p:txBody>
          <a:bodyPr wrap="square">
            <a:spAutoFit/>
          </a:bodyPr>
          <a:lstStyle/>
          <a:p>
            <a:pPr algn="just">
              <a:spcBef>
                <a:spcPts val="600"/>
              </a:spcBef>
              <a:spcAft>
                <a:spcPts val="600"/>
              </a:spcAft>
            </a:pPr>
            <a:r>
              <a:rPr lang="en-IN" sz="2800" b="1" i="0" dirty="0">
                <a:solidFill>
                  <a:srgbClr val="0070C0"/>
                </a:solidFill>
                <a:effectLst/>
                <a:latin typeface="Trebuchet MS" panose="020B0603020202020204" pitchFamily="34" charset="0"/>
              </a:rPr>
              <a:t>Factors listed below :</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The greedy algorithm makes judgments based on the information at </a:t>
            </a:r>
            <a:r>
              <a:rPr lang="en-IN" sz="2800" b="0" i="0" dirty="0">
                <a:solidFill>
                  <a:srgbClr val="CC3399"/>
                </a:solidFill>
                <a:effectLst/>
                <a:latin typeface="Trebuchet MS" panose="020B0603020202020204" pitchFamily="34" charset="0"/>
              </a:rPr>
              <a:t>each iteration without considering</a:t>
            </a:r>
            <a:r>
              <a:rPr lang="en-IN" sz="2800" b="0" i="0" dirty="0">
                <a:effectLst/>
                <a:latin typeface="Trebuchet MS" panose="020B0603020202020204" pitchFamily="34" charset="0"/>
              </a:rPr>
              <a:t> the broader problem; hence it does not produce the best answer for every problem.</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The problematic part for a greedy algorithm is </a:t>
            </a:r>
            <a:r>
              <a:rPr lang="en-IN" sz="2800" b="0" i="0" dirty="0" err="1">
                <a:effectLst/>
                <a:latin typeface="Trebuchet MS" panose="020B0603020202020204" pitchFamily="34" charset="0"/>
              </a:rPr>
              <a:t>analyzing</a:t>
            </a:r>
            <a:r>
              <a:rPr lang="en-IN" sz="2800" b="0" i="0" dirty="0">
                <a:effectLst/>
                <a:latin typeface="Trebuchet MS" panose="020B0603020202020204" pitchFamily="34" charset="0"/>
              </a:rPr>
              <a:t> its accuracy. Even with the proper solution, it is </a:t>
            </a:r>
            <a:r>
              <a:rPr lang="en-IN" sz="2800" b="0" i="0" dirty="0">
                <a:solidFill>
                  <a:srgbClr val="CC3399"/>
                </a:solidFill>
                <a:effectLst/>
                <a:latin typeface="Trebuchet MS" panose="020B0603020202020204" pitchFamily="34" charset="0"/>
              </a:rPr>
              <a:t>difficult to demonstrate why it is accurate</a:t>
            </a:r>
            <a:r>
              <a:rPr lang="en-IN" sz="2800" b="0" i="0" dirty="0">
                <a:effectLst/>
                <a:latin typeface="Trebuchet MS" panose="020B0603020202020204" pitchFamily="34" charset="0"/>
              </a:rPr>
              <a:t>. </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Optimization problems (Dijkstra’s Algorithm) with </a:t>
            </a:r>
            <a:r>
              <a:rPr lang="en-IN" sz="2800" b="0" i="0" dirty="0">
                <a:solidFill>
                  <a:srgbClr val="CC3399"/>
                </a:solidFill>
                <a:effectLst/>
                <a:latin typeface="Trebuchet MS" panose="020B0603020202020204" pitchFamily="34" charset="0"/>
              </a:rPr>
              <a:t>negative graph edges cannot be solved</a:t>
            </a:r>
            <a:r>
              <a:rPr lang="en-IN" sz="2800" b="0" i="0" dirty="0">
                <a:effectLst/>
                <a:latin typeface="Trebuchet MS" panose="020B0603020202020204" pitchFamily="34" charset="0"/>
              </a:rPr>
              <a:t> using a greedy algorithm</a:t>
            </a:r>
            <a:r>
              <a:rPr lang="en-IN" sz="2800" b="0" i="0" dirty="0">
                <a:effectLst/>
                <a:latin typeface="Corbel" panose="020B0503020204020204" pitchFamily="34" charset="0"/>
              </a:rPr>
              <a:t>.</a:t>
            </a:r>
          </a:p>
        </p:txBody>
      </p:sp>
      <p:pic>
        <p:nvPicPr>
          <p:cNvPr id="3" name="Picture 2"/>
          <p:cNvPicPr>
            <a:picLocks noChangeAspect="1"/>
          </p:cNvPicPr>
          <p:nvPr/>
        </p:nvPicPr>
        <p:blipFill>
          <a:blip r:embed="rId5"/>
          <a:stretch>
            <a:fillRect/>
          </a:stretch>
        </p:blipFill>
        <p:spPr>
          <a:xfrm>
            <a:off x="9626919" y="177456"/>
            <a:ext cx="2164268" cy="640135"/>
          </a:xfrm>
          <a:prstGeom prst="rect">
            <a:avLst/>
          </a:prstGeom>
        </p:spPr>
      </p:pic>
    </p:spTree>
    <p:extLst>
      <p:ext uri="{BB962C8B-B14F-4D97-AF65-F5344CB8AC3E}">
        <p14:creationId xmlns:p14="http://schemas.microsoft.com/office/powerpoint/2010/main" val="29662735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Trebuchet MS" panose="020B0603020202020204" pitchFamily="34" charset="0"/>
              </a:rPr>
              <a:t>Applications of Greedy </a:t>
            </a:r>
            <a:r>
              <a:rPr lang="en-IN" sz="3600" b="1" i="0" dirty="0" smtClean="0">
                <a:solidFill>
                  <a:schemeClr val="bg1"/>
                </a:solidFill>
                <a:effectLst/>
                <a:latin typeface="Trebuchet MS" panose="020B0603020202020204" pitchFamily="34" charset="0"/>
              </a:rPr>
              <a:t>Approach</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529444" y="1122480"/>
            <a:ext cx="10993930" cy="5293757"/>
          </a:xfrm>
          <a:prstGeom prst="rect">
            <a:avLst/>
          </a:prstGeom>
          <a:noFill/>
        </p:spPr>
        <p:txBody>
          <a:bodyPr wrap="square">
            <a:spAutoFit/>
          </a:bodyPr>
          <a:lstStyle/>
          <a:p>
            <a:pPr algn="just">
              <a:spcBef>
                <a:spcPts val="600"/>
              </a:spcBef>
              <a:spcAft>
                <a:spcPts val="600"/>
              </a:spcAft>
            </a:pPr>
            <a:r>
              <a:rPr lang="en-IN" sz="2800" b="0" i="0" dirty="0">
                <a:effectLst/>
                <a:latin typeface="Trebuchet MS" panose="020B0603020202020204" pitchFamily="34" charset="0"/>
              </a:rPr>
              <a:t>Following are few applications of the greedy algorithm:</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for Constructing Minimum Spanning Trees: </a:t>
            </a:r>
            <a:r>
              <a:rPr lang="en-IN" sz="2800" b="0" i="0" dirty="0">
                <a:effectLst/>
                <a:latin typeface="Trebuchet MS" panose="020B0603020202020204" pitchFamily="34" charset="0"/>
              </a:rPr>
              <a:t>Prim’s and Kruskal’s Algorithms used to construct minimum spanning trees are greedy algorithms.</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to Implement Huffman Encoding: </a:t>
            </a:r>
            <a:r>
              <a:rPr lang="en-IN" sz="2800" b="0" i="0" dirty="0">
                <a:effectLst/>
                <a:latin typeface="Trebuchet MS" panose="020B0603020202020204" pitchFamily="34" charset="0"/>
              </a:rPr>
              <a:t>A greedy algorithm is utilized to build a Huffman tree that compresses a given image, spreadsheet, or video into a lossless compressed file.</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to Solve Optimization Problems: </a:t>
            </a:r>
            <a:r>
              <a:rPr lang="en-IN" sz="2800" b="0" i="0" dirty="0">
                <a:effectLst/>
                <a:latin typeface="Trebuchet MS" panose="020B0603020202020204" pitchFamily="34" charset="0"/>
              </a:rPr>
              <a:t>Graph - Map </a:t>
            </a:r>
            <a:r>
              <a:rPr lang="en-IN" sz="2800" b="0" i="0" dirty="0" err="1">
                <a:effectLst/>
                <a:latin typeface="Trebuchet MS" panose="020B0603020202020204" pitchFamily="34" charset="0"/>
              </a:rPr>
              <a:t>Coloring</a:t>
            </a:r>
            <a:r>
              <a:rPr lang="en-IN" sz="2800" b="0" i="0" dirty="0">
                <a:effectLst/>
                <a:latin typeface="Trebuchet MS" panose="020B0603020202020204" pitchFamily="34" charset="0"/>
              </a:rPr>
              <a:t>, Graph - Vertex Cover, Knapsack Problem, Job Scheduling Problem, and activity selection problem are classic optimization problems solved using a greedy algorithmic paradigm.</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1919966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Trebuchet MS" panose="020B0603020202020204" pitchFamily="34" charset="0"/>
              </a:rPr>
              <a:t>Applications of Greedy </a:t>
            </a:r>
            <a:r>
              <a:rPr lang="en-IN" sz="3600" b="1" i="0" dirty="0" smtClean="0">
                <a:solidFill>
                  <a:schemeClr val="bg1"/>
                </a:solidFill>
                <a:effectLst/>
                <a:latin typeface="Trebuchet MS" panose="020B0603020202020204" pitchFamily="34" charset="0"/>
              </a:rPr>
              <a:t>Approach </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1294374" y="2173642"/>
            <a:ext cx="9870154" cy="4031873"/>
          </a:xfrm>
          <a:prstGeom prst="rect">
            <a:avLst/>
          </a:prstGeom>
          <a:noFill/>
        </p:spPr>
        <p:txBody>
          <a:bodyPr wrap="square">
            <a:spAutoFit/>
          </a:bodyPr>
          <a:lstStyle/>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Knapsack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Activity Selection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Dijkstra’s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Prim’s Algorithm for finding Minimum Spanning Tree</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Kruskal’s Algorithm for finding Minimum Spanning Tree</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Huffman Coding</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Travelling Salesman Problem</a:t>
            </a:r>
          </a:p>
        </p:txBody>
      </p:sp>
      <p:sp>
        <p:nvSpPr>
          <p:cNvPr id="5" name="TextBox 4">
            <a:extLst>
              <a:ext uri="{FF2B5EF4-FFF2-40B4-BE49-F238E27FC236}">
                <a16:creationId xmlns:a16="http://schemas.microsoft.com/office/drawing/2014/main" id="{A3FBECCA-5917-013C-FC81-787C9996487E}"/>
              </a:ext>
            </a:extLst>
          </p:cNvPr>
          <p:cNvSpPr txBox="1"/>
          <p:nvPr/>
        </p:nvSpPr>
        <p:spPr>
          <a:xfrm>
            <a:off x="445777" y="1108916"/>
            <a:ext cx="10527023" cy="954107"/>
          </a:xfrm>
          <a:prstGeom prst="rect">
            <a:avLst/>
          </a:prstGeom>
          <a:noFill/>
        </p:spPr>
        <p:txBody>
          <a:bodyPr wrap="square">
            <a:spAutoFit/>
          </a:bodyPr>
          <a:lstStyle/>
          <a:p>
            <a:r>
              <a:rPr lang="en-IN" sz="2800" b="0" i="0" dirty="0">
                <a:solidFill>
                  <a:srgbClr val="212529"/>
                </a:solidFill>
                <a:effectLst/>
                <a:latin typeface="Trebuchet MS" panose="020B0603020202020204" pitchFamily="34" charset="0"/>
              </a:rPr>
              <a:t>The following problems can be solved using greedy approach, here are a few popular problems which use greedy technique:</a:t>
            </a:r>
            <a:endParaRPr lang="en-IN" sz="2800" dirty="0">
              <a:latin typeface="Trebuchet MS" panose="020B0603020202020204" pitchFamily="34" charset="0"/>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5385682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21064"/>
            <a:ext cx="12179300" cy="6845300"/>
          </a:xfrm>
          <a:prstGeom prst="rect">
            <a:avLst/>
          </a:prstGeom>
          <a:noFill/>
          <a:ln>
            <a:noFill/>
          </a:ln>
        </p:spPr>
      </p:pic>
      <p:sp>
        <p:nvSpPr>
          <p:cNvPr id="7" name="Google Shape;97;p17"/>
          <p:cNvSpPr txBox="1"/>
          <p:nvPr/>
        </p:nvSpPr>
        <p:spPr>
          <a:xfrm>
            <a:off x="196511" y="39798"/>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600" b="1" i="0" u="none" strike="noStrike" baseline="0" dirty="0">
                <a:solidFill>
                  <a:schemeClr val="bg1"/>
                </a:solidFill>
                <a:latin typeface="Trebuchet MS" panose="020B0603020202020204" pitchFamily="34" charset="0"/>
              </a:rPr>
              <a:t>Characteristics of </a:t>
            </a:r>
            <a:r>
              <a:rPr lang="en-IN" sz="3600" b="1" dirty="0">
                <a:solidFill>
                  <a:schemeClr val="bg1"/>
                </a:solidFill>
                <a:latin typeface="Trebuchet MS" panose="020B0603020202020204" pitchFamily="34" charset="0"/>
              </a:rPr>
              <a:t>G</a:t>
            </a:r>
            <a:r>
              <a:rPr lang="en-IN" sz="3600" b="1" i="0" u="none" strike="noStrike" baseline="0" dirty="0" smtClean="0">
                <a:solidFill>
                  <a:schemeClr val="bg1"/>
                </a:solidFill>
                <a:latin typeface="Trebuchet MS" panose="020B0603020202020204" pitchFamily="34" charset="0"/>
              </a:rPr>
              <a:t>reedy Approach</a:t>
            </a:r>
            <a:r>
              <a:rPr lang="en-IN" sz="3600" b="1" i="0" u="none" strike="noStrike" dirty="0" smtClean="0">
                <a:solidFill>
                  <a:schemeClr val="bg1"/>
                </a:solidFill>
                <a:latin typeface="Trebuchet MS" panose="020B0603020202020204" pitchFamily="34" charset="0"/>
              </a:rPr>
              <a:t>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Greedy algorithms are </a:t>
            </a:r>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rPr>
              <a:t>characterized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by the following features.</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Greedy approach forms a set or list of </a:t>
            </a:r>
            <a:r>
              <a:rPr kumimoji="0" lang="en-US" sz="2800" b="0" i="0" u="none" strike="noStrike" kern="1200" cap="none" spc="0" normalizeH="0" baseline="0" noProof="0" dirty="0">
                <a:ln>
                  <a:noFill/>
                </a:ln>
                <a:effectLst/>
                <a:uLnTx/>
                <a:uFillTx/>
                <a:latin typeface="Trebuchet MS" panose="020B0603020202020204" pitchFamily="34" charset="0"/>
              </a:rPr>
              <a:t>candidates 𝑪</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Once a candidate is selected in the solution,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it is there forever</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once a candidate is excluded from the solution,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it is never reconsidered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To construct the solution in an optimal way, Greedy Algorithm maintains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two sets</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One set contains candidates that have already been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considered and chosen</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while the other set contains candidates that have been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considered but rejected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3977238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435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600" b="1" dirty="0">
                <a:solidFill>
                  <a:schemeClr val="bg1"/>
                </a:solidFill>
                <a:latin typeface="Trebuchet MS" panose="020B0603020202020204" pitchFamily="34" charset="0"/>
              </a:rPr>
              <a:t>Characteristics of Greedy Approach </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r>
              <a:rPr lang="en-US" sz="2800" dirty="0">
                <a:solidFill>
                  <a:srgbClr val="212121"/>
                </a:solidFill>
                <a:latin typeface="Corbel" panose="020B0503020204020204" pitchFamily="34" charset="0"/>
              </a:rPr>
              <a:t>The greedy algorithm consists of </a:t>
            </a:r>
            <a:r>
              <a:rPr lang="en-US" sz="2800" dirty="0">
                <a:solidFill>
                  <a:srgbClr val="0070C0"/>
                </a:solidFill>
                <a:latin typeface="Corbel" panose="020B0503020204020204" pitchFamily="34" charset="0"/>
              </a:rPr>
              <a:t>four functions</a:t>
            </a:r>
            <a:r>
              <a:rPr lang="en-US" sz="2800" dirty="0">
                <a:solidFill>
                  <a:srgbClr val="212121"/>
                </a:solidFill>
                <a:latin typeface="Corbel" panose="020B0503020204020204" pitchFamily="34" charset="0"/>
              </a:rPr>
              <a:t>.</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Solution Function</a:t>
            </a:r>
            <a:r>
              <a:rPr lang="en-US" sz="2800" dirty="0">
                <a:solidFill>
                  <a:srgbClr val="212121"/>
                </a:solidFill>
                <a:latin typeface="Corbel" panose="020B0503020204020204" pitchFamily="34" charset="0"/>
              </a:rPr>
              <a:t>:- A function that checks whether chosen set of items provides a solution.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Feasible Function</a:t>
            </a:r>
            <a:r>
              <a:rPr lang="en-US" sz="2800" dirty="0">
                <a:solidFill>
                  <a:srgbClr val="212121"/>
                </a:solidFill>
                <a:latin typeface="Corbel" panose="020B0503020204020204" pitchFamily="34" charset="0"/>
              </a:rPr>
              <a:t>:- A function that checks the feasibility of a set.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Selection Function</a:t>
            </a:r>
            <a:r>
              <a:rPr lang="en-US" sz="2800" dirty="0">
                <a:solidFill>
                  <a:srgbClr val="CC3399"/>
                </a:solidFill>
                <a:latin typeface="Corbel" panose="020B0503020204020204" pitchFamily="34" charset="0"/>
              </a:rPr>
              <a:t>:</a:t>
            </a:r>
            <a:r>
              <a:rPr lang="en-US" sz="2800" dirty="0">
                <a:solidFill>
                  <a:srgbClr val="212121"/>
                </a:solidFill>
                <a:latin typeface="Corbel" panose="020B0503020204020204" pitchFamily="34" charset="0"/>
              </a:rPr>
              <a:t>- The selection function tells which of the candidates is the most promising.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Objective Function</a:t>
            </a:r>
            <a:r>
              <a:rPr lang="en-US" sz="2800" dirty="0">
                <a:solidFill>
                  <a:srgbClr val="CC3399"/>
                </a:solidFill>
                <a:latin typeface="Corbel" panose="020B0503020204020204" pitchFamily="34" charset="0"/>
              </a:rPr>
              <a:t>:- </a:t>
            </a:r>
            <a:r>
              <a:rPr lang="en-US" sz="2800" dirty="0">
                <a:solidFill>
                  <a:srgbClr val="212121"/>
                </a:solidFill>
                <a:latin typeface="Corbel" panose="020B0503020204020204" pitchFamily="34" charset="0"/>
              </a:rPr>
              <a:t>An objective function, which does not appear explicitly, but gives the value of a solution.</a:t>
            </a: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557822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sp>
        <p:nvSpPr>
          <p:cNvPr id="7" name="Google Shape;97;p17"/>
          <p:cNvSpPr txBox="1"/>
          <p:nvPr/>
        </p:nvSpPr>
        <p:spPr>
          <a:xfrm>
            <a:off x="365108" y="4143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a:t>
            </a:r>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rPr>
              <a:t> Selection Problem</a:t>
            </a:r>
            <a:endParaRPr lang="en-IN" sz="32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380345"/>
            <a:ext cx="10702507" cy="4431983"/>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Activity Selection Problem is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an optimization problem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which deals with the selection of non-overlapping activities that needs to be executed by a single person or a machine in a given time duration.</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 activity-selection can also be applicable for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scheduling a resourc</a:t>
            </a:r>
            <a:r>
              <a:rPr kumimoji="0" lang="en-US" sz="2800" b="1"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e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among several competing activities.</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lang="en-IN" sz="2800" kern="0" dirty="0">
                <a:solidFill>
                  <a:srgbClr val="000000"/>
                </a:solidFill>
                <a:latin typeface="Trebuchet MS" panose="020B0603020202020204" pitchFamily="34" charset="0"/>
                <a:cs typeface="Arial"/>
              </a:rPr>
              <a:t>Each activity is marked by a start and finish time. Greedy technique is used for finding the solution since this is an optimization problem.</a:t>
            </a:r>
            <a:endParaRPr lang="en-US" sz="2800" kern="0" dirty="0">
              <a:solidFill>
                <a:srgbClr val="000000"/>
              </a:solidFill>
              <a:latin typeface="Trebuchet MS" panose="020B0603020202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2056606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3877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F129857-CF70-F211-9365-42C961CAEA8A}"/>
                  </a:ext>
                </a:extLst>
              </p:cNvPr>
              <p:cNvSpPr txBox="1"/>
              <p:nvPr/>
            </p:nvSpPr>
            <p:spPr>
              <a:xfrm>
                <a:off x="425922" y="1109620"/>
                <a:ext cx="11352855" cy="5391541"/>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Problem: </a:t>
                </a:r>
                <a:r>
                  <a:rPr kumimoji="0" lang="en-IN" sz="2800" b="0"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n” activities with their start and finish times, the objective is to find solution set having maximum number of non-conflicting activities that can be executed in a single time frame, assuming that only one person or machine is available for execution.</a:t>
                </a:r>
                <a:endPar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We are given a set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𝑆</m:t>
                    </m:r>
                  </m:oMath>
                </a14:m>
                <a:r>
                  <a:rPr kumimoji="0" lang="en-US" sz="2800" b="1" i="1" u="none" strike="noStrike" kern="0" cap="none" spc="0" normalizeH="0" baseline="0" noProof="0" dirty="0">
                    <a:ln>
                      <a:noFill/>
                    </a:ln>
                    <a:solidFill>
                      <a:srgbClr val="0066FF"/>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of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𝑛</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activities with start time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 finish time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of an </a:t>
                </a:r>
                <a14:m>
                  <m:oMath xmlns:m="http://schemas.openxmlformats.org/officeDocument/2006/math">
                    <m:sSup>
                      <m:sSup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p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e>
                      <m:sup>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𝒕𝒉</m:t>
                        </m:r>
                      </m:sup>
                    </m:sSup>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activity. Find the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maximum size set of mutually compatible activities</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Activities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compatible if the half-open internal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do not overlap</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that is,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oMath>
                </a14:m>
                <a:r>
                  <a:rPr kumimoji="0" lang="en-US" sz="2800" b="1" i="1" u="none" strike="noStrike" kern="0" cap="none" spc="0" normalizeH="0" baseline="0" noProof="0" dirty="0">
                    <a:ln>
                      <a:noFill/>
                    </a:ln>
                    <a:solidFill>
                      <a:srgbClr val="0066FF"/>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a:t>
                </a:r>
                <a:r>
                  <a:rPr kumimoji="0" lang="en-US" sz="2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oMath>
                </a14:m>
                <a:r>
                  <a:rPr kumimoji="0" lang="en-US" sz="2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compatible if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or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p:txBody>
          </p:sp>
        </mc:Choice>
        <mc:Fallback xmlns="">
          <p:sp>
            <p:nvSpPr>
              <p:cNvPr id="4" name="TextBox 3">
                <a:extLst>
                  <a:ext uri="{FF2B5EF4-FFF2-40B4-BE49-F238E27FC236}">
                    <a16:creationId xmlns:a16="http://schemas.microsoft.com/office/drawing/2014/main" id="{CF129857-CF70-F211-9365-42C961CAEA8A}"/>
                  </a:ext>
                </a:extLst>
              </p:cNvPr>
              <p:cNvSpPr txBox="1">
                <a:spLocks noRot="1" noChangeAspect="1" noMove="1" noResize="1" noEditPoints="1" noAdjustHandles="1" noChangeArrowheads="1" noChangeShapeType="1" noTextEdit="1"/>
              </p:cNvSpPr>
              <p:nvPr/>
            </p:nvSpPr>
            <p:spPr>
              <a:xfrm>
                <a:off x="425922" y="1109620"/>
                <a:ext cx="11352855" cy="5391541"/>
              </a:xfrm>
              <a:prstGeom prst="rect">
                <a:avLst/>
              </a:prstGeom>
              <a:blipFill>
                <a:blip r:embed="rId6"/>
                <a:stretch>
                  <a:fillRect l="-967" t="-1018" r="-1074" b="-1471"/>
                </a:stretch>
              </a:blipFill>
            </p:spPr>
            <p:txBody>
              <a:bodyPr/>
              <a:lstStyle/>
              <a:p>
                <a:r>
                  <a:rPr lang="en-IN">
                    <a:noFill/>
                  </a:rPr>
                  <a:t> </a:t>
                </a:r>
              </a:p>
            </p:txBody>
          </p:sp>
        </mc:Fallback>
      </mc:AlternateContent>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87401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0102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055091"/>
            <a:ext cx="10854814" cy="5524589"/>
          </a:xfrm>
          <a:prstGeom prst="rect">
            <a:avLst/>
          </a:prstGeom>
          <a:noFill/>
        </p:spPr>
        <p:txBody>
          <a:bodyPr wrap="square">
            <a:spAutoFit/>
          </a:bodyPr>
          <a:lstStyle/>
          <a:p>
            <a:pPr marR="0" lvl="0" algn="just" defTabSz="914400" rtl="0" eaLnBrk="1" fontAlgn="auto" latinLnBrk="0" hangingPunct="1">
              <a:spcBef>
                <a:spcPts val="1200"/>
              </a:spcBef>
              <a:spcAft>
                <a:spcPts val="600"/>
              </a:spcAft>
              <a:buSzPct val="100000"/>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Some points to note here:</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might </a:t>
            </a:r>
            <a:r>
              <a:rPr kumimoji="0" lang="en-IN" sz="2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not be possible to complete all the activities</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since their timings can collapse.</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Two activities, say </a:t>
            </a:r>
            <a:r>
              <a:rPr kumimoji="0" lang="en-IN" sz="2800" b="0"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and j, </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said to be non-conflicting if </a:t>
            </a:r>
            <a:r>
              <a:rPr kumimoji="0" lang="en-IN" sz="2800" b="1"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si</a:t>
            </a:r>
            <a:r>
              <a:rPr kumimoji="0" lang="en-IN" sz="2800" b="1"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&gt;= fj or </a:t>
            </a:r>
            <a:r>
              <a:rPr kumimoji="0" lang="en-IN" sz="2800" b="1"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sj</a:t>
            </a:r>
            <a:r>
              <a:rPr kumimoji="0" lang="en-IN" sz="2800" b="1"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&gt;= fi </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where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si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sj</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denote the starting time of activities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j respectively, and fi and fj refer to the finishing time of the activities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j respectively.</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Greedy approach can be used to find the solution since we want to </a:t>
            </a: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maximize the count of activities that can be executed</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This approach will greedily choose an activity with earliest finish time at every step, thus yielding an optimal solution.</a:t>
            </a:r>
            <a:endPar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958550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578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466286"/>
            <a:ext cx="10854814" cy="4893647"/>
          </a:xfrm>
          <a:prstGeom prst="rect">
            <a:avLst/>
          </a:prstGeom>
          <a:noFill/>
        </p:spPr>
        <p:txBody>
          <a:bodyPr wrap="square">
            <a:spAutoFit/>
          </a:bodyPr>
          <a:lstStyle/>
          <a:p>
            <a:pPr marR="0" lvl="0" algn="just" defTabSz="914400" rtl="0" eaLnBrk="1" fontAlgn="auto" latinLnBrk="0" hangingPunct="1">
              <a:spcBef>
                <a:spcPts val="1200"/>
              </a:spcBef>
              <a:spcAft>
                <a:spcPts val="600"/>
              </a:spcAft>
              <a:buSzPct val="100000"/>
              <a:tabLst/>
              <a:defRPr/>
            </a:pP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Input Data for the Algorithm:</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 array containing all the activities.</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 array containing the starting time of all the activities.</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f[] array containing the finishing time of all the activities.</a:t>
            </a:r>
          </a:p>
          <a:p>
            <a:pPr marR="0" lvl="0" algn="just" defTabSz="914400" rtl="0" eaLnBrk="1" fontAlgn="auto" latinLnBrk="0" hangingPunct="1">
              <a:spcBef>
                <a:spcPts val="1200"/>
              </a:spcBef>
              <a:spcAft>
                <a:spcPts val="600"/>
              </a:spcAft>
              <a:buSzPct val="100000"/>
              <a:tabLst/>
              <a:defRPr/>
            </a:pP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Output Data from the Algorithm:</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sol[] array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refering</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to the solution set containing the maximum number of non-conflicting activities.</a:t>
            </a:r>
            <a:endParaRPr lang="en-IN" sz="2800" kern="0" dirty="0">
              <a:solidFill>
                <a:srgbClr val="000000"/>
              </a:solidFill>
              <a:latin typeface="Trebuchet MS" panose="020B0603020202020204" pitchFamily="34" charset="0"/>
              <a:cs typeface="Arial"/>
              <a:sym typeface="Arial"/>
            </a:endParaRPr>
          </a:p>
          <a:p>
            <a:pPr marL="354013" marR="0" lvl="0" algn="just" defTabSz="914400" rtl="0" eaLnBrk="1" fontAlgn="auto" latinLnBrk="0" hangingPunct="1">
              <a:spcBef>
                <a:spcPts val="1200"/>
              </a:spcBef>
              <a:spcAft>
                <a:spcPts val="600"/>
              </a:spcAft>
              <a:buSzPct val="100000"/>
              <a:tabLst/>
              <a:defRPr/>
            </a:pPr>
            <a:endParaRPr kumimoji="0" lang="en-US" sz="2600" b="0" i="0" u="none" strike="noStrike" kern="0" cap="none" spc="0" normalizeH="0" baseline="0" noProof="0" dirty="0">
              <a:ln>
                <a:noFill/>
              </a:ln>
              <a:solidFill>
                <a:srgbClr val="000000"/>
              </a:solidFill>
              <a:effectLst/>
              <a:uLnTx/>
              <a:uFillTx/>
              <a:latin typeface="Corbel" panose="020B0503020204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15120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68299" y="55966"/>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05A29BB-7ECD-961A-B67F-5A1DC46902AE}"/>
              </a:ext>
            </a:extLst>
          </p:cNvPr>
          <p:cNvSpPr txBox="1"/>
          <p:nvPr/>
        </p:nvSpPr>
        <p:spPr>
          <a:xfrm>
            <a:off x="448146" y="1282414"/>
            <a:ext cx="11295641" cy="4539704"/>
          </a:xfrm>
          <a:prstGeom prst="rect">
            <a:avLst/>
          </a:prstGeom>
          <a:noFill/>
        </p:spPr>
        <p:txBody>
          <a:bodyPr wrap="square">
            <a:spAutoFit/>
          </a:bodyPr>
          <a:lstStyle/>
          <a:p>
            <a:pPr>
              <a:spcBef>
                <a:spcPts val="600"/>
              </a:spcBef>
              <a:spcAft>
                <a:spcPts val="600"/>
              </a:spcAft>
            </a:pPr>
            <a:r>
              <a:rPr lang="en-IN" sz="2800" b="1" dirty="0">
                <a:solidFill>
                  <a:srgbClr val="0070C0"/>
                </a:solidFill>
                <a:latin typeface="Trebuchet MS" panose="020B0603020202020204" pitchFamily="34" charset="0"/>
              </a:rPr>
              <a:t>Steps for Activity Selection Problem: </a:t>
            </a:r>
          </a:p>
          <a:p>
            <a:pPr>
              <a:spcBef>
                <a:spcPts val="600"/>
              </a:spcBef>
              <a:spcAft>
                <a:spcPts val="600"/>
              </a:spcAft>
            </a:pPr>
            <a:r>
              <a:rPr lang="en-IN" sz="2800" dirty="0">
                <a:latin typeface="Trebuchet MS" panose="020B0603020202020204" pitchFamily="34" charset="0"/>
              </a:rPr>
              <a:t>Following are the steps we will be following to solve the activity selection problem,</a:t>
            </a:r>
          </a:p>
          <a:p>
            <a:pPr>
              <a:spcBef>
                <a:spcPts val="1200"/>
              </a:spcBef>
              <a:spcAft>
                <a:spcPts val="1200"/>
              </a:spcAft>
            </a:pPr>
            <a:r>
              <a:rPr lang="en-IN" sz="2800" b="1" dirty="0">
                <a:solidFill>
                  <a:srgbClr val="0070C0"/>
                </a:solidFill>
                <a:latin typeface="Trebuchet MS" panose="020B0603020202020204" pitchFamily="34" charset="0"/>
              </a:rPr>
              <a:t>Step 1:</a:t>
            </a:r>
            <a:r>
              <a:rPr lang="en-IN" sz="2800" dirty="0">
                <a:latin typeface="Trebuchet MS" panose="020B0603020202020204" pitchFamily="34" charset="0"/>
              </a:rPr>
              <a:t> Sort the given activities in ascending order according to their finishing time.</a:t>
            </a:r>
          </a:p>
          <a:p>
            <a:pPr>
              <a:spcBef>
                <a:spcPts val="1200"/>
              </a:spcBef>
              <a:spcAft>
                <a:spcPts val="1200"/>
              </a:spcAft>
            </a:pPr>
            <a:r>
              <a:rPr lang="en-IN" sz="2800" b="1" dirty="0">
                <a:solidFill>
                  <a:srgbClr val="0070C0"/>
                </a:solidFill>
                <a:latin typeface="Trebuchet MS" panose="020B0603020202020204" pitchFamily="34" charset="0"/>
              </a:rPr>
              <a:t>Step 2:</a:t>
            </a:r>
            <a:r>
              <a:rPr lang="en-IN" sz="2800" b="1" dirty="0">
                <a:latin typeface="Trebuchet MS" panose="020B0603020202020204" pitchFamily="34" charset="0"/>
              </a:rPr>
              <a:t> </a:t>
            </a:r>
            <a:r>
              <a:rPr lang="en-IN" sz="2800" dirty="0">
                <a:latin typeface="Trebuchet MS" panose="020B0603020202020204" pitchFamily="34" charset="0"/>
              </a:rPr>
              <a:t>Select the first activity from sorted array act[] and add it to sol[] array.</a:t>
            </a:r>
          </a:p>
          <a:p>
            <a:pPr>
              <a:spcBef>
                <a:spcPts val="1200"/>
              </a:spcBef>
              <a:spcAft>
                <a:spcPts val="1200"/>
              </a:spcAft>
            </a:pPr>
            <a:r>
              <a:rPr lang="en-IN" sz="2800" b="1" dirty="0">
                <a:solidFill>
                  <a:srgbClr val="0070C0"/>
                </a:solidFill>
                <a:latin typeface="Trebuchet MS" panose="020B0603020202020204" pitchFamily="34" charset="0"/>
              </a:rPr>
              <a:t>Step 3:</a:t>
            </a:r>
            <a:r>
              <a:rPr lang="en-IN" sz="2800" dirty="0">
                <a:solidFill>
                  <a:srgbClr val="0070C0"/>
                </a:solidFill>
                <a:latin typeface="Trebuchet MS" panose="020B0603020202020204" pitchFamily="34" charset="0"/>
              </a:rPr>
              <a:t> </a:t>
            </a:r>
            <a:r>
              <a:rPr lang="en-IN" sz="2800" dirty="0">
                <a:latin typeface="Trebuchet MS" panose="020B0603020202020204" pitchFamily="34" charset="0"/>
              </a:rPr>
              <a:t>Repeat steps </a:t>
            </a:r>
            <a:r>
              <a:rPr lang="en-IN" sz="2800" dirty="0">
                <a:solidFill>
                  <a:srgbClr val="FF0000"/>
                </a:solidFill>
                <a:latin typeface="Trebuchet MS" panose="020B0603020202020204" pitchFamily="34" charset="0"/>
              </a:rPr>
              <a:t>4 and 5 </a:t>
            </a:r>
            <a:r>
              <a:rPr lang="en-IN" sz="2800" dirty="0">
                <a:latin typeface="Trebuchet MS" panose="020B0603020202020204" pitchFamily="34" charset="0"/>
              </a:rPr>
              <a:t>for the remaining activities in act</a:t>
            </a:r>
            <a:r>
              <a:rPr lang="en-IN" sz="2800" dirty="0" smtClean="0">
                <a:latin typeface="Trebuchet MS" panose="020B0603020202020204" pitchFamily="34" charset="0"/>
              </a:rPr>
              <a:t>[].</a:t>
            </a:r>
            <a:endParaRPr lang="en-IN" sz="2800" dirty="0">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8155105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435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05A29BB-7ECD-961A-B67F-5A1DC46902AE}"/>
              </a:ext>
            </a:extLst>
          </p:cNvPr>
          <p:cNvSpPr txBox="1"/>
          <p:nvPr/>
        </p:nvSpPr>
        <p:spPr>
          <a:xfrm>
            <a:off x="516193" y="1596402"/>
            <a:ext cx="11295641" cy="2862322"/>
          </a:xfrm>
          <a:prstGeom prst="rect">
            <a:avLst/>
          </a:prstGeom>
          <a:noFill/>
        </p:spPr>
        <p:txBody>
          <a:bodyPr wrap="square">
            <a:spAutoFit/>
          </a:bodyPr>
          <a:lstStyle/>
          <a:p>
            <a:pPr>
              <a:spcBef>
                <a:spcPts val="1200"/>
              </a:spcBef>
              <a:spcAft>
                <a:spcPts val="1200"/>
              </a:spcAft>
            </a:pPr>
            <a:r>
              <a:rPr lang="en-IN" sz="2800" b="1" dirty="0" smtClean="0">
                <a:solidFill>
                  <a:srgbClr val="0070C0"/>
                </a:solidFill>
                <a:latin typeface="Trebuchet MS" panose="020B0603020202020204" pitchFamily="34" charset="0"/>
              </a:rPr>
              <a:t>Step 4:</a:t>
            </a:r>
            <a:r>
              <a:rPr lang="en-IN" sz="2800" dirty="0" smtClean="0">
                <a:latin typeface="Trebuchet MS" panose="020B0603020202020204" pitchFamily="34" charset="0"/>
              </a:rPr>
              <a:t> If the start time of the currently selected activity is greater than or equal to the finish time of previously selected activity, then add it to the sol[] array.</a:t>
            </a:r>
          </a:p>
          <a:p>
            <a:pPr>
              <a:spcBef>
                <a:spcPts val="1200"/>
              </a:spcBef>
              <a:spcAft>
                <a:spcPts val="1200"/>
              </a:spcAft>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5:</a:t>
            </a:r>
            <a:r>
              <a:rPr lang="en-IN" sz="2800" b="1" dirty="0">
                <a:latin typeface="Trebuchet MS" panose="020B0603020202020204" pitchFamily="34" charset="0"/>
              </a:rPr>
              <a:t> </a:t>
            </a:r>
            <a:r>
              <a:rPr lang="en-IN" sz="2800" dirty="0">
                <a:latin typeface="Trebuchet MS" panose="020B0603020202020204" pitchFamily="34" charset="0"/>
              </a:rPr>
              <a:t>Select the next activity in act[] array.</a:t>
            </a:r>
          </a:p>
          <a:p>
            <a:pPr>
              <a:spcBef>
                <a:spcPts val="1200"/>
              </a:spcBef>
              <a:spcAft>
                <a:spcPts val="1200"/>
              </a:spcAft>
            </a:pPr>
            <a:r>
              <a:rPr lang="en-IN" sz="2800" b="1" dirty="0">
                <a:solidFill>
                  <a:srgbClr val="0070C0"/>
                </a:solidFill>
                <a:latin typeface="Trebuchet MS" panose="020B0603020202020204" pitchFamily="34" charset="0"/>
              </a:rPr>
              <a:t>Step 6:</a:t>
            </a:r>
            <a:r>
              <a:rPr lang="en-IN" sz="2800" dirty="0">
                <a:latin typeface="Trebuchet MS" panose="020B0603020202020204" pitchFamily="34" charset="0"/>
              </a:rPr>
              <a:t> Print the sol[] array.</a:t>
            </a:r>
            <a:endParaRPr lang="en-IN" sz="2400" dirty="0">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7306432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12700"/>
            <a:ext cx="12179300" cy="6845300"/>
          </a:xfrm>
          <a:prstGeom prst="rect">
            <a:avLst/>
          </a:prstGeom>
          <a:noFill/>
          <a:ln>
            <a:noFill/>
          </a:ln>
        </p:spPr>
      </p:pic>
      <p:sp>
        <p:nvSpPr>
          <p:cNvPr id="7" name="Google Shape;97;p17"/>
          <p:cNvSpPr txBox="1"/>
          <p:nvPr/>
        </p:nvSpPr>
        <p:spPr>
          <a:xfrm>
            <a:off x="136922" y="26483"/>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6" name="Content Placeholder 2">
            <a:extLst>
              <a:ext uri="{FF2B5EF4-FFF2-40B4-BE49-F238E27FC236}">
                <a16:creationId xmlns:a16="http://schemas.microsoft.com/office/drawing/2014/main" id="{538DFD67-7BD1-0B09-5A67-D9702763188D}"/>
              </a:ext>
            </a:extLst>
          </p:cNvPr>
          <p:cNvSpPr txBox="1">
            <a:spLocks/>
          </p:cNvSpPr>
          <p:nvPr/>
        </p:nvSpPr>
        <p:spPr>
          <a:xfrm>
            <a:off x="182336" y="1117571"/>
            <a:ext cx="11814628"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cs typeface="Consolas" pitchFamily="49" charset="0"/>
              </a:rPr>
              <a:t>Algorithm:</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Activity Selection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Step 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Sort the input activities by increasing finishing time.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1</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2</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 . .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f</a:t>
            </a:r>
            <a:r>
              <a:rPr kumimoji="0" lang="en-US" sz="2400" b="1" i="0" u="none" strike="noStrike" kern="1200" cap="none" spc="0" normalizeH="0" baseline="-25000" noProof="0" dirty="0" err="1">
                <a:ln>
                  <a:noFill/>
                </a:ln>
                <a:effectLst/>
                <a:uLnTx/>
                <a:uFillTx/>
                <a:latin typeface="Trebuchet MS" panose="020B0603020202020204" pitchFamily="34" charset="0"/>
                <a:cs typeface="Consolas" pitchFamily="49" charset="0"/>
              </a:rPr>
              <a:t>n</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endParaRP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Step II: </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Call GREEDY-ACTIVITY-SELECTOR (s, f)</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n = length [s]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A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j = 1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for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2  to  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do if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s</a:t>
            </a:r>
            <a:r>
              <a:rPr kumimoji="0" lang="en-US" sz="2400" b="1" i="0" u="none" strike="noStrike" kern="1200" cap="none" spc="0" normalizeH="0" baseline="-2500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j</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then  A = A U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j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return  set A</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17131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fade">
                                      <p:cBhvr>
                                        <p:cTn id="47" dur="500"/>
                                        <p:tgtEl>
                                          <p:spTgt spid="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0" end="10"/>
                                            </p:txEl>
                                          </p:spTgt>
                                        </p:tgtEl>
                                        <p:attrNameLst>
                                          <p:attrName>style.visibility</p:attrName>
                                        </p:attrNameLst>
                                      </p:cBhvr>
                                      <p:to>
                                        <p:strVal val="visible"/>
                                      </p:to>
                                    </p:set>
                                    <p:animEffect transition="in" filter="fade">
                                      <p:cBhvr>
                                        <p:cTn id="52" dur="500"/>
                                        <p:tgtEl>
                                          <p:spTgt spid="6">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1" end="11"/>
                                            </p:txEl>
                                          </p:spTgt>
                                        </p:tgtEl>
                                        <p:attrNameLst>
                                          <p:attrName>style.visibility</p:attrName>
                                        </p:attrNameLst>
                                      </p:cBhvr>
                                      <p:to>
                                        <p:strVal val="visible"/>
                                      </p:to>
                                    </p:set>
                                    <p:animEffect transition="in" filter="fade">
                                      <p:cBhvr>
                                        <p:cTn id="57"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3" y="6067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230E1D7E-FD7E-68E9-CA31-AA0CC90DC6BF}"/>
              </a:ext>
            </a:extLst>
          </p:cNvPr>
          <p:cNvSpPr txBox="1"/>
          <p:nvPr/>
        </p:nvSpPr>
        <p:spPr>
          <a:xfrm>
            <a:off x="417837" y="1069074"/>
            <a:ext cx="10672949" cy="1200329"/>
          </a:xfrm>
          <a:prstGeom prst="rect">
            <a:avLst/>
          </a:prstGeom>
          <a:noFill/>
        </p:spPr>
        <p:txBody>
          <a:bodyPr wrap="square">
            <a:spAutoFit/>
          </a:bodyPr>
          <a:lstStyle/>
          <a:p>
            <a:pPr marL="342900" indent="-342900">
              <a:buFont typeface="Arial" panose="020B0604020202020204" pitchFamily="34" charset="0"/>
              <a:buChar char="•"/>
            </a:pPr>
            <a:r>
              <a:rPr lang="en-IN" sz="2400" b="0" i="0" dirty="0">
                <a:solidFill>
                  <a:srgbClr val="212529"/>
                </a:solidFill>
                <a:effectLst/>
                <a:latin typeface="Trebuchet MS" panose="020B0603020202020204" pitchFamily="34" charset="0"/>
              </a:rPr>
              <a:t>In the table below, we have 6 activities with corresponding start and end time, the objective is to compute an execution schedule having maximum number of non-conflicting activities:</a:t>
            </a:r>
            <a:endParaRPr lang="en-IN" sz="2400" dirty="0">
              <a:latin typeface="Trebuchet MS" panose="020B0603020202020204" pitchFamily="34" charset="0"/>
            </a:endParaRPr>
          </a:p>
        </p:txBody>
      </p:sp>
      <p:graphicFrame>
        <p:nvGraphicFramePr>
          <p:cNvPr id="5" name="Table 4">
            <a:extLst>
              <a:ext uri="{FF2B5EF4-FFF2-40B4-BE49-F238E27FC236}">
                <a16:creationId xmlns:a16="http://schemas.microsoft.com/office/drawing/2014/main" id="{D9B284A4-D66E-3710-2F54-74AFFCA310C9}"/>
              </a:ext>
            </a:extLst>
          </p:cNvPr>
          <p:cNvGraphicFramePr>
            <a:graphicFrameLocks noGrp="1"/>
          </p:cNvGraphicFramePr>
          <p:nvPr>
            <p:extLst>
              <p:ext uri="{D42A27DB-BD31-4B8C-83A1-F6EECF244321}">
                <p14:modId xmlns:p14="http://schemas.microsoft.com/office/powerpoint/2010/main" val="1887939613"/>
              </p:ext>
            </p:extLst>
          </p:nvPr>
        </p:nvGraphicFramePr>
        <p:xfrm>
          <a:off x="1708444" y="2403988"/>
          <a:ext cx="7524045" cy="3740513"/>
        </p:xfrm>
        <a:graphic>
          <a:graphicData uri="http://schemas.openxmlformats.org/drawingml/2006/table">
            <a:tbl>
              <a:tblPr>
                <a:tableStyleId>{35758FB7-9AC5-4552-8A53-C91805E547FA}</a:tableStyleId>
              </a:tblPr>
              <a:tblGrid>
                <a:gridCol w="2508015">
                  <a:extLst>
                    <a:ext uri="{9D8B030D-6E8A-4147-A177-3AD203B41FA5}">
                      <a16:colId xmlns:a16="http://schemas.microsoft.com/office/drawing/2014/main" val="2154442919"/>
                    </a:ext>
                  </a:extLst>
                </a:gridCol>
                <a:gridCol w="2508015">
                  <a:extLst>
                    <a:ext uri="{9D8B030D-6E8A-4147-A177-3AD203B41FA5}">
                      <a16:colId xmlns:a16="http://schemas.microsoft.com/office/drawing/2014/main" val="3220529985"/>
                    </a:ext>
                  </a:extLst>
                </a:gridCol>
                <a:gridCol w="2508015">
                  <a:extLst>
                    <a:ext uri="{9D8B030D-6E8A-4147-A177-3AD203B41FA5}">
                      <a16:colId xmlns:a16="http://schemas.microsoft.com/office/drawing/2014/main" val="4258987409"/>
                    </a:ext>
                  </a:extLst>
                </a:gridCol>
              </a:tblGrid>
              <a:tr h="534359">
                <a:tc>
                  <a:txBody>
                    <a:bodyPr/>
                    <a:lstStyle/>
                    <a:p>
                      <a:r>
                        <a:rPr lang="en-IN" sz="2000" dirty="0">
                          <a:effectLst/>
                          <a:latin typeface="Trebuchet MS" panose="020B0603020202020204" pitchFamily="34" charset="0"/>
                        </a:rPr>
                        <a:t>Start Time (s)</a:t>
                      </a:r>
                    </a:p>
                  </a:txBody>
                  <a:tcPr/>
                </a:tc>
                <a:tc>
                  <a:txBody>
                    <a:bodyPr/>
                    <a:lstStyle/>
                    <a:p>
                      <a:r>
                        <a:rPr lang="en-IN" sz="2000" dirty="0">
                          <a:effectLst/>
                          <a:latin typeface="Trebuchet MS" panose="020B0603020202020204" pitchFamily="34" charset="0"/>
                        </a:rPr>
                        <a:t>Finish Time (f)</a:t>
                      </a:r>
                    </a:p>
                  </a:txBody>
                  <a:tcPr/>
                </a:tc>
                <a:tc>
                  <a:txBody>
                    <a:bodyPr/>
                    <a:lstStyle/>
                    <a:p>
                      <a:r>
                        <a:rPr lang="en-IN" sz="2000">
                          <a:effectLst/>
                          <a:latin typeface="Trebuchet MS" panose="020B0603020202020204" pitchFamily="34" charset="0"/>
                        </a:rPr>
                        <a:t>Activity Name</a:t>
                      </a:r>
                    </a:p>
                  </a:txBody>
                  <a:tcPr/>
                </a:tc>
                <a:extLst>
                  <a:ext uri="{0D108BD9-81ED-4DB2-BD59-A6C34878D82A}">
                    <a16:rowId xmlns:a16="http://schemas.microsoft.com/office/drawing/2014/main" val="1310075142"/>
                  </a:ext>
                </a:extLst>
              </a:tr>
              <a:tr h="534359">
                <a:tc>
                  <a:txBody>
                    <a:bodyPr/>
                    <a:lstStyle/>
                    <a:p>
                      <a:r>
                        <a:rPr lang="en-IN" sz="2000" dirty="0">
                          <a:effectLst/>
                          <a:latin typeface="Trebuchet MS" panose="020B0603020202020204" pitchFamily="34" charset="0"/>
                        </a:rPr>
                        <a:t>5</a:t>
                      </a:r>
                    </a:p>
                  </a:txBody>
                  <a:tcPr/>
                </a:tc>
                <a:tc>
                  <a:txBody>
                    <a:bodyPr/>
                    <a:lstStyle/>
                    <a:p>
                      <a:r>
                        <a:rPr lang="en-IN" sz="2000">
                          <a:effectLst/>
                          <a:latin typeface="Trebuchet MS" panose="020B0603020202020204" pitchFamily="34" charset="0"/>
                        </a:rPr>
                        <a:t>9</a:t>
                      </a:r>
                    </a:p>
                  </a:txBody>
                  <a:tcPr/>
                </a:tc>
                <a:tc>
                  <a:txBody>
                    <a:bodyPr/>
                    <a:lstStyle/>
                    <a:p>
                      <a:r>
                        <a:rPr lang="en-IN" sz="2000">
                          <a:effectLst/>
                          <a:latin typeface="Trebuchet MS" panose="020B0603020202020204" pitchFamily="34" charset="0"/>
                        </a:rPr>
                        <a:t>a1</a:t>
                      </a:r>
                    </a:p>
                  </a:txBody>
                  <a:tcPr/>
                </a:tc>
                <a:extLst>
                  <a:ext uri="{0D108BD9-81ED-4DB2-BD59-A6C34878D82A}">
                    <a16:rowId xmlns:a16="http://schemas.microsoft.com/office/drawing/2014/main" val="2284005043"/>
                  </a:ext>
                </a:extLst>
              </a:tr>
              <a:tr h="534359">
                <a:tc>
                  <a:txBody>
                    <a:bodyPr/>
                    <a:lstStyle/>
                    <a:p>
                      <a:r>
                        <a:rPr lang="en-IN" sz="2000">
                          <a:effectLst/>
                          <a:latin typeface="Trebuchet MS" panose="020B0603020202020204" pitchFamily="34" charset="0"/>
                        </a:rPr>
                        <a:t>1</a:t>
                      </a:r>
                    </a:p>
                  </a:txBody>
                  <a:tcPr/>
                </a:tc>
                <a:tc>
                  <a:txBody>
                    <a:bodyPr/>
                    <a:lstStyle/>
                    <a:p>
                      <a:r>
                        <a:rPr lang="en-IN" sz="2000">
                          <a:effectLst/>
                          <a:latin typeface="Trebuchet MS" panose="020B0603020202020204" pitchFamily="34" charset="0"/>
                        </a:rPr>
                        <a:t>2</a:t>
                      </a:r>
                    </a:p>
                  </a:txBody>
                  <a:tcPr/>
                </a:tc>
                <a:tc>
                  <a:txBody>
                    <a:bodyPr/>
                    <a:lstStyle/>
                    <a:p>
                      <a:r>
                        <a:rPr lang="en-IN" sz="2000">
                          <a:effectLst/>
                          <a:latin typeface="Trebuchet MS" panose="020B0603020202020204" pitchFamily="34" charset="0"/>
                        </a:rPr>
                        <a:t>a2</a:t>
                      </a:r>
                    </a:p>
                  </a:txBody>
                  <a:tcPr/>
                </a:tc>
                <a:extLst>
                  <a:ext uri="{0D108BD9-81ED-4DB2-BD59-A6C34878D82A}">
                    <a16:rowId xmlns:a16="http://schemas.microsoft.com/office/drawing/2014/main" val="3873837867"/>
                  </a:ext>
                </a:extLst>
              </a:tr>
              <a:tr h="534359">
                <a:tc>
                  <a:txBody>
                    <a:bodyPr/>
                    <a:lstStyle/>
                    <a:p>
                      <a:r>
                        <a:rPr lang="en-IN" sz="2000" dirty="0">
                          <a:effectLst/>
                          <a:latin typeface="Trebuchet MS" panose="020B0603020202020204" pitchFamily="34" charset="0"/>
                        </a:rPr>
                        <a:t>3</a:t>
                      </a:r>
                    </a:p>
                  </a:txBody>
                  <a:tcPr/>
                </a:tc>
                <a:tc>
                  <a:txBody>
                    <a:bodyPr/>
                    <a:lstStyle/>
                    <a:p>
                      <a:r>
                        <a:rPr lang="en-IN" sz="2000">
                          <a:effectLst/>
                          <a:latin typeface="Trebuchet MS" panose="020B0603020202020204" pitchFamily="34" charset="0"/>
                        </a:rPr>
                        <a:t>4</a:t>
                      </a:r>
                    </a:p>
                  </a:txBody>
                  <a:tcPr/>
                </a:tc>
                <a:tc>
                  <a:txBody>
                    <a:bodyPr/>
                    <a:lstStyle/>
                    <a:p>
                      <a:r>
                        <a:rPr lang="en-IN" sz="2000">
                          <a:effectLst/>
                          <a:latin typeface="Trebuchet MS" panose="020B0603020202020204" pitchFamily="34" charset="0"/>
                        </a:rPr>
                        <a:t>a3</a:t>
                      </a:r>
                    </a:p>
                  </a:txBody>
                  <a:tcPr/>
                </a:tc>
                <a:extLst>
                  <a:ext uri="{0D108BD9-81ED-4DB2-BD59-A6C34878D82A}">
                    <a16:rowId xmlns:a16="http://schemas.microsoft.com/office/drawing/2014/main" val="2463181588"/>
                  </a:ext>
                </a:extLst>
              </a:tr>
              <a:tr h="534359">
                <a:tc>
                  <a:txBody>
                    <a:bodyPr/>
                    <a:lstStyle/>
                    <a:p>
                      <a:r>
                        <a:rPr lang="en-IN" sz="2000">
                          <a:effectLst/>
                          <a:latin typeface="Trebuchet MS" panose="020B0603020202020204" pitchFamily="34" charset="0"/>
                        </a:rPr>
                        <a:t>0</a:t>
                      </a:r>
                    </a:p>
                  </a:txBody>
                  <a:tcPr/>
                </a:tc>
                <a:tc>
                  <a:txBody>
                    <a:bodyPr/>
                    <a:lstStyle/>
                    <a:p>
                      <a:r>
                        <a:rPr lang="en-IN" sz="2000" dirty="0">
                          <a:effectLst/>
                          <a:latin typeface="Trebuchet MS" panose="020B0603020202020204" pitchFamily="34" charset="0"/>
                        </a:rPr>
                        <a:t>6</a:t>
                      </a:r>
                    </a:p>
                  </a:txBody>
                  <a:tcPr/>
                </a:tc>
                <a:tc>
                  <a:txBody>
                    <a:bodyPr/>
                    <a:lstStyle/>
                    <a:p>
                      <a:r>
                        <a:rPr lang="en-IN" sz="2000">
                          <a:effectLst/>
                          <a:latin typeface="Trebuchet MS" panose="020B0603020202020204" pitchFamily="34" charset="0"/>
                        </a:rPr>
                        <a:t>a4</a:t>
                      </a:r>
                    </a:p>
                  </a:txBody>
                  <a:tcPr/>
                </a:tc>
                <a:extLst>
                  <a:ext uri="{0D108BD9-81ED-4DB2-BD59-A6C34878D82A}">
                    <a16:rowId xmlns:a16="http://schemas.microsoft.com/office/drawing/2014/main" val="450564036"/>
                  </a:ext>
                </a:extLst>
              </a:tr>
              <a:tr h="534359">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7</a:t>
                      </a:r>
                    </a:p>
                  </a:txBody>
                  <a:tcPr/>
                </a:tc>
                <a:tc>
                  <a:txBody>
                    <a:bodyPr/>
                    <a:lstStyle/>
                    <a:p>
                      <a:r>
                        <a:rPr lang="en-IN" sz="2000">
                          <a:effectLst/>
                          <a:latin typeface="Trebuchet MS" panose="020B0603020202020204" pitchFamily="34" charset="0"/>
                        </a:rPr>
                        <a:t>a5</a:t>
                      </a:r>
                    </a:p>
                  </a:txBody>
                  <a:tcPr/>
                </a:tc>
                <a:extLst>
                  <a:ext uri="{0D108BD9-81ED-4DB2-BD59-A6C34878D82A}">
                    <a16:rowId xmlns:a16="http://schemas.microsoft.com/office/drawing/2014/main" val="3645817742"/>
                  </a:ext>
                </a:extLst>
              </a:tr>
              <a:tr h="534359">
                <a:tc>
                  <a:txBody>
                    <a:bodyPr/>
                    <a:lstStyle/>
                    <a:p>
                      <a:r>
                        <a:rPr lang="en-IN" sz="2000">
                          <a:effectLst/>
                          <a:latin typeface="Trebuchet MS" panose="020B0603020202020204" pitchFamily="34" charset="0"/>
                        </a:rPr>
                        <a:t>8</a:t>
                      </a:r>
                    </a:p>
                  </a:txBody>
                  <a:tcPr/>
                </a:tc>
                <a:tc>
                  <a:txBody>
                    <a:bodyPr/>
                    <a:lstStyle/>
                    <a:p>
                      <a:r>
                        <a:rPr lang="en-IN" sz="2000" dirty="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a6</a:t>
                      </a:r>
                    </a:p>
                  </a:txBody>
                  <a:tcPr/>
                </a:tc>
                <a:extLst>
                  <a:ext uri="{0D108BD9-81ED-4DB2-BD59-A6C34878D82A}">
                    <a16:rowId xmlns:a16="http://schemas.microsoft.com/office/drawing/2014/main" val="3642983396"/>
                  </a:ext>
                </a:extLst>
              </a:tr>
            </a:tbl>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82834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67482" y="71449"/>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867F8E94-99E1-389E-23AA-FE9735A1359F}"/>
              </a:ext>
            </a:extLst>
          </p:cNvPr>
          <p:cNvSpPr txBox="1"/>
          <p:nvPr/>
        </p:nvSpPr>
        <p:spPr>
          <a:xfrm>
            <a:off x="535825" y="1090630"/>
            <a:ext cx="10861196" cy="1815882"/>
          </a:xfrm>
          <a:prstGeom prst="rect">
            <a:avLst/>
          </a:prstGeom>
          <a:noFill/>
        </p:spPr>
        <p:txBody>
          <a:bodyPr wrap="square">
            <a:spAutoFit/>
          </a:bodyPr>
          <a:lstStyle/>
          <a:p>
            <a:pPr algn="l"/>
            <a:r>
              <a:rPr lang="en-IN" sz="2800" b="0" i="0" dirty="0">
                <a:solidFill>
                  <a:srgbClr val="212529"/>
                </a:solidFill>
                <a:effectLst/>
                <a:latin typeface="Trebuchet MS" panose="020B0603020202020204" pitchFamily="34" charset="0"/>
              </a:rPr>
              <a:t>A possible </a:t>
            </a:r>
            <a:r>
              <a:rPr lang="en-IN" sz="2800" b="1" i="0" dirty="0">
                <a:solidFill>
                  <a:srgbClr val="212529"/>
                </a:solidFill>
                <a:effectLst/>
                <a:latin typeface="Trebuchet MS" panose="020B0603020202020204" pitchFamily="34" charset="0"/>
              </a:rPr>
              <a:t>solution</a:t>
            </a:r>
            <a:r>
              <a:rPr lang="en-IN" sz="2800" b="0" i="0" dirty="0">
                <a:solidFill>
                  <a:srgbClr val="212529"/>
                </a:solidFill>
                <a:effectLst/>
                <a:latin typeface="Trebuchet MS" panose="020B0603020202020204" pitchFamily="34" charset="0"/>
              </a:rPr>
              <a:t> would be:</a:t>
            </a:r>
          </a:p>
          <a:p>
            <a:pPr algn="l"/>
            <a:endParaRPr lang="en-IN" sz="2800" b="0" i="0" dirty="0">
              <a:solidFill>
                <a:srgbClr val="212529"/>
              </a:solidFill>
              <a:effectLst/>
              <a:latin typeface="Trebuchet MS" panose="020B0603020202020204" pitchFamily="34" charset="0"/>
            </a:endParaRPr>
          </a:p>
          <a:p>
            <a:pPr algn="l"/>
            <a:r>
              <a:rPr lang="en-IN" sz="2800" b="1" i="0" dirty="0">
                <a:solidFill>
                  <a:srgbClr val="0070C0"/>
                </a:solidFill>
                <a:effectLst/>
                <a:latin typeface="Trebuchet MS" panose="020B0603020202020204" pitchFamily="34" charset="0"/>
              </a:rPr>
              <a:t>Step 1</a:t>
            </a:r>
            <a:r>
              <a:rPr lang="en-IN" sz="2800" b="0" i="0" dirty="0">
                <a:solidFill>
                  <a:srgbClr val="0070C0"/>
                </a:solidFill>
                <a:effectLst/>
                <a:latin typeface="Trebuchet MS" panose="020B0603020202020204" pitchFamily="34" charset="0"/>
              </a:rPr>
              <a:t>: </a:t>
            </a:r>
            <a:r>
              <a:rPr lang="en-IN" sz="2800" b="0" i="0" dirty="0">
                <a:solidFill>
                  <a:srgbClr val="212529"/>
                </a:solidFill>
                <a:effectLst/>
                <a:latin typeface="Trebuchet MS" panose="020B0603020202020204" pitchFamily="34" charset="0"/>
              </a:rPr>
              <a:t>Sort the given activities in ascending order according to their finishing </a:t>
            </a:r>
            <a:r>
              <a:rPr lang="en-IN" sz="2800" b="0" i="0" dirty="0" smtClean="0">
                <a:solidFill>
                  <a:srgbClr val="212529"/>
                </a:solidFill>
                <a:effectLst/>
                <a:latin typeface="Trebuchet MS" panose="020B0603020202020204" pitchFamily="34" charset="0"/>
              </a:rPr>
              <a:t>time. The </a:t>
            </a:r>
            <a:r>
              <a:rPr lang="en-IN" sz="2800" b="0" i="0" dirty="0">
                <a:solidFill>
                  <a:srgbClr val="212529"/>
                </a:solidFill>
                <a:effectLst/>
                <a:latin typeface="Trebuchet MS" panose="020B0603020202020204" pitchFamily="34" charset="0"/>
              </a:rPr>
              <a:t>table after we have sorted it:</a:t>
            </a:r>
          </a:p>
        </p:txBody>
      </p:sp>
      <p:graphicFrame>
        <p:nvGraphicFramePr>
          <p:cNvPr id="6" name="Table 5">
            <a:extLst>
              <a:ext uri="{FF2B5EF4-FFF2-40B4-BE49-F238E27FC236}">
                <a16:creationId xmlns:a16="http://schemas.microsoft.com/office/drawing/2014/main" id="{8453AA2B-9866-159E-95CD-929DD5DB7AE7}"/>
              </a:ext>
            </a:extLst>
          </p:cNvPr>
          <p:cNvGraphicFramePr>
            <a:graphicFrameLocks noGrp="1"/>
          </p:cNvGraphicFramePr>
          <p:nvPr>
            <p:extLst>
              <p:ext uri="{D42A27DB-BD31-4B8C-83A1-F6EECF244321}">
                <p14:modId xmlns:p14="http://schemas.microsoft.com/office/powerpoint/2010/main" val="3854776391"/>
              </p:ext>
            </p:extLst>
          </p:nvPr>
        </p:nvGraphicFramePr>
        <p:xfrm>
          <a:off x="2551535" y="3211591"/>
          <a:ext cx="7101630" cy="3283308"/>
        </p:xfrm>
        <a:graphic>
          <a:graphicData uri="http://schemas.openxmlformats.org/drawingml/2006/table">
            <a:tbl>
              <a:tblPr>
                <a:tableStyleId>{35758FB7-9AC5-4552-8A53-C91805E547FA}</a:tableStyleId>
              </a:tblPr>
              <a:tblGrid>
                <a:gridCol w="2367210">
                  <a:extLst>
                    <a:ext uri="{9D8B030D-6E8A-4147-A177-3AD203B41FA5}">
                      <a16:colId xmlns:a16="http://schemas.microsoft.com/office/drawing/2014/main" val="894495033"/>
                    </a:ext>
                  </a:extLst>
                </a:gridCol>
                <a:gridCol w="2367210">
                  <a:extLst>
                    <a:ext uri="{9D8B030D-6E8A-4147-A177-3AD203B41FA5}">
                      <a16:colId xmlns:a16="http://schemas.microsoft.com/office/drawing/2014/main" val="1423411654"/>
                    </a:ext>
                  </a:extLst>
                </a:gridCol>
                <a:gridCol w="2367210">
                  <a:extLst>
                    <a:ext uri="{9D8B030D-6E8A-4147-A177-3AD203B41FA5}">
                      <a16:colId xmlns:a16="http://schemas.microsoft.com/office/drawing/2014/main" val="3974346940"/>
                    </a:ext>
                  </a:extLst>
                </a:gridCol>
              </a:tblGrid>
              <a:tr h="469044">
                <a:tc>
                  <a:txBody>
                    <a:bodyPr/>
                    <a:lstStyle/>
                    <a:p>
                      <a:r>
                        <a:rPr lang="en-IN" sz="2000" dirty="0">
                          <a:effectLst/>
                          <a:latin typeface="Trebuchet MS" panose="020B0603020202020204" pitchFamily="34" charset="0"/>
                        </a:rPr>
                        <a:t>Start Time (s)</a:t>
                      </a:r>
                    </a:p>
                  </a:txBody>
                  <a:tcPr/>
                </a:tc>
                <a:tc>
                  <a:txBody>
                    <a:bodyPr/>
                    <a:lstStyle/>
                    <a:p>
                      <a:r>
                        <a:rPr lang="en-IN" sz="2000">
                          <a:effectLst/>
                          <a:latin typeface="Trebuchet MS" panose="020B0603020202020204" pitchFamily="34" charset="0"/>
                        </a:rPr>
                        <a:t>Finish Time (f)</a:t>
                      </a:r>
                    </a:p>
                  </a:txBody>
                  <a:tcPr/>
                </a:tc>
                <a:tc>
                  <a:txBody>
                    <a:bodyPr/>
                    <a:lstStyle/>
                    <a:p>
                      <a:r>
                        <a:rPr lang="en-IN" sz="2000">
                          <a:effectLst/>
                          <a:latin typeface="Trebuchet MS" panose="020B0603020202020204" pitchFamily="34" charset="0"/>
                        </a:rPr>
                        <a:t>Activity Name</a:t>
                      </a:r>
                    </a:p>
                  </a:txBody>
                  <a:tcPr/>
                </a:tc>
                <a:extLst>
                  <a:ext uri="{0D108BD9-81ED-4DB2-BD59-A6C34878D82A}">
                    <a16:rowId xmlns:a16="http://schemas.microsoft.com/office/drawing/2014/main" val="2708625636"/>
                  </a:ext>
                </a:extLst>
              </a:tr>
              <a:tr h="469044">
                <a:tc>
                  <a:txBody>
                    <a:bodyPr/>
                    <a:lstStyle/>
                    <a:p>
                      <a:r>
                        <a:rPr lang="en-IN" sz="2000" dirty="0">
                          <a:effectLst/>
                          <a:latin typeface="Trebuchet MS" panose="020B0603020202020204" pitchFamily="34" charset="0"/>
                        </a:rPr>
                        <a:t>1</a:t>
                      </a:r>
                    </a:p>
                  </a:txBody>
                  <a:tcPr/>
                </a:tc>
                <a:tc>
                  <a:txBody>
                    <a:bodyPr/>
                    <a:lstStyle/>
                    <a:p>
                      <a:r>
                        <a:rPr lang="en-IN" sz="2000" dirty="0">
                          <a:effectLst/>
                          <a:latin typeface="Trebuchet MS" panose="020B0603020202020204" pitchFamily="34" charset="0"/>
                        </a:rPr>
                        <a:t>2</a:t>
                      </a:r>
                    </a:p>
                  </a:txBody>
                  <a:tcPr/>
                </a:tc>
                <a:tc>
                  <a:txBody>
                    <a:bodyPr/>
                    <a:lstStyle/>
                    <a:p>
                      <a:r>
                        <a:rPr lang="en-IN" sz="2000">
                          <a:effectLst/>
                          <a:latin typeface="Trebuchet MS" panose="020B0603020202020204" pitchFamily="34" charset="0"/>
                        </a:rPr>
                        <a:t>a2</a:t>
                      </a:r>
                    </a:p>
                  </a:txBody>
                  <a:tcPr/>
                </a:tc>
                <a:extLst>
                  <a:ext uri="{0D108BD9-81ED-4DB2-BD59-A6C34878D82A}">
                    <a16:rowId xmlns:a16="http://schemas.microsoft.com/office/drawing/2014/main" val="385324473"/>
                  </a:ext>
                </a:extLst>
              </a:tr>
              <a:tr h="469044">
                <a:tc>
                  <a:txBody>
                    <a:bodyPr/>
                    <a:lstStyle/>
                    <a:p>
                      <a:r>
                        <a:rPr lang="en-IN" sz="2000" dirty="0">
                          <a:effectLst/>
                          <a:latin typeface="Trebuchet MS" panose="020B0603020202020204" pitchFamily="34" charset="0"/>
                        </a:rPr>
                        <a:t>3</a:t>
                      </a:r>
                    </a:p>
                  </a:txBody>
                  <a:tcPr/>
                </a:tc>
                <a:tc>
                  <a:txBody>
                    <a:bodyPr/>
                    <a:lstStyle/>
                    <a:p>
                      <a:r>
                        <a:rPr lang="en-IN" sz="2000">
                          <a:effectLst/>
                          <a:latin typeface="Trebuchet MS" panose="020B0603020202020204" pitchFamily="34" charset="0"/>
                        </a:rPr>
                        <a:t>4</a:t>
                      </a:r>
                    </a:p>
                  </a:txBody>
                  <a:tcPr/>
                </a:tc>
                <a:tc>
                  <a:txBody>
                    <a:bodyPr/>
                    <a:lstStyle/>
                    <a:p>
                      <a:r>
                        <a:rPr lang="en-IN" sz="2000">
                          <a:effectLst/>
                          <a:latin typeface="Trebuchet MS" panose="020B0603020202020204" pitchFamily="34" charset="0"/>
                        </a:rPr>
                        <a:t>a3</a:t>
                      </a:r>
                    </a:p>
                  </a:txBody>
                  <a:tcPr/>
                </a:tc>
                <a:extLst>
                  <a:ext uri="{0D108BD9-81ED-4DB2-BD59-A6C34878D82A}">
                    <a16:rowId xmlns:a16="http://schemas.microsoft.com/office/drawing/2014/main" val="767709114"/>
                  </a:ext>
                </a:extLst>
              </a:tr>
              <a:tr h="469044">
                <a:tc>
                  <a:txBody>
                    <a:bodyPr/>
                    <a:lstStyle/>
                    <a:p>
                      <a:r>
                        <a:rPr lang="en-IN" sz="2000" dirty="0">
                          <a:effectLst/>
                          <a:latin typeface="Trebuchet MS" panose="020B0603020202020204" pitchFamily="34" charset="0"/>
                        </a:rPr>
                        <a:t>0</a:t>
                      </a:r>
                    </a:p>
                  </a:txBody>
                  <a:tcPr/>
                </a:tc>
                <a:tc>
                  <a:txBody>
                    <a:bodyPr/>
                    <a:lstStyle/>
                    <a:p>
                      <a:r>
                        <a:rPr lang="en-IN" sz="2000" dirty="0">
                          <a:effectLst/>
                          <a:latin typeface="Trebuchet MS" panose="020B0603020202020204" pitchFamily="34" charset="0"/>
                        </a:rPr>
                        <a:t>6</a:t>
                      </a:r>
                    </a:p>
                  </a:txBody>
                  <a:tcPr/>
                </a:tc>
                <a:tc>
                  <a:txBody>
                    <a:bodyPr/>
                    <a:lstStyle/>
                    <a:p>
                      <a:r>
                        <a:rPr lang="en-IN" sz="2000">
                          <a:effectLst/>
                          <a:latin typeface="Trebuchet MS" panose="020B0603020202020204" pitchFamily="34" charset="0"/>
                        </a:rPr>
                        <a:t>a4</a:t>
                      </a:r>
                    </a:p>
                  </a:txBody>
                  <a:tcPr/>
                </a:tc>
                <a:extLst>
                  <a:ext uri="{0D108BD9-81ED-4DB2-BD59-A6C34878D82A}">
                    <a16:rowId xmlns:a16="http://schemas.microsoft.com/office/drawing/2014/main" val="749580445"/>
                  </a:ext>
                </a:extLst>
              </a:tr>
              <a:tr h="469044">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7</a:t>
                      </a:r>
                    </a:p>
                  </a:txBody>
                  <a:tcPr/>
                </a:tc>
                <a:tc>
                  <a:txBody>
                    <a:bodyPr/>
                    <a:lstStyle/>
                    <a:p>
                      <a:r>
                        <a:rPr lang="en-IN" sz="2000">
                          <a:effectLst/>
                          <a:latin typeface="Trebuchet MS" panose="020B0603020202020204" pitchFamily="34" charset="0"/>
                        </a:rPr>
                        <a:t>a5</a:t>
                      </a:r>
                    </a:p>
                  </a:txBody>
                  <a:tcPr/>
                </a:tc>
                <a:extLst>
                  <a:ext uri="{0D108BD9-81ED-4DB2-BD59-A6C34878D82A}">
                    <a16:rowId xmlns:a16="http://schemas.microsoft.com/office/drawing/2014/main" val="2129193534"/>
                  </a:ext>
                </a:extLst>
              </a:tr>
              <a:tr h="469044">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a1</a:t>
                      </a:r>
                    </a:p>
                  </a:txBody>
                  <a:tcPr/>
                </a:tc>
                <a:extLst>
                  <a:ext uri="{0D108BD9-81ED-4DB2-BD59-A6C34878D82A}">
                    <a16:rowId xmlns:a16="http://schemas.microsoft.com/office/drawing/2014/main" val="3772602975"/>
                  </a:ext>
                </a:extLst>
              </a:tr>
              <a:tr h="469044">
                <a:tc>
                  <a:txBody>
                    <a:bodyPr/>
                    <a:lstStyle/>
                    <a:p>
                      <a:r>
                        <a:rPr lang="en-IN" sz="2000">
                          <a:effectLst/>
                          <a:latin typeface="Trebuchet MS" panose="020B0603020202020204" pitchFamily="34" charset="0"/>
                        </a:rPr>
                        <a:t>8</a:t>
                      </a:r>
                    </a:p>
                  </a:txBody>
                  <a:tcPr/>
                </a:tc>
                <a:tc>
                  <a:txBody>
                    <a:bodyPr/>
                    <a:lstStyle/>
                    <a:p>
                      <a:r>
                        <a:rPr lang="en-IN" sz="200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a6</a:t>
                      </a:r>
                    </a:p>
                  </a:txBody>
                  <a:tcPr/>
                </a:tc>
                <a:extLst>
                  <a:ext uri="{0D108BD9-81ED-4DB2-BD59-A6C34878D82A}">
                    <a16:rowId xmlns:a16="http://schemas.microsoft.com/office/drawing/2014/main" val="2762310163"/>
                  </a:ext>
                </a:extLst>
              </a:tr>
            </a:tbl>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3655279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3090"/>
            <a:ext cx="12179300" cy="6845300"/>
          </a:xfrm>
          <a:prstGeom prst="rect">
            <a:avLst/>
          </a:prstGeom>
          <a:noFill/>
          <a:ln>
            <a:noFill/>
          </a:ln>
        </p:spPr>
      </p:pic>
      <p:sp>
        <p:nvSpPr>
          <p:cNvPr id="7" name="Google Shape;97;p17"/>
          <p:cNvSpPr txBox="1"/>
          <p:nvPr/>
        </p:nvSpPr>
        <p:spPr>
          <a:xfrm>
            <a:off x="225539" y="6211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DF320F41-E4E4-DCA7-0B2B-873D46BCE0F5}"/>
              </a:ext>
            </a:extLst>
          </p:cNvPr>
          <p:cNvSpPr txBox="1"/>
          <p:nvPr/>
        </p:nvSpPr>
        <p:spPr>
          <a:xfrm>
            <a:off x="554324" y="1131964"/>
            <a:ext cx="11257510" cy="5262979"/>
          </a:xfrm>
          <a:prstGeom prst="rect">
            <a:avLst/>
          </a:prstGeom>
          <a:noFill/>
        </p:spPr>
        <p:txBody>
          <a:bodyPr wrap="square">
            <a:spAutoFit/>
          </a:bodyPr>
          <a:lstStyle/>
          <a:p>
            <a:pPr>
              <a:lnSpc>
                <a:spcPct val="150000"/>
              </a:lnSpc>
            </a:pPr>
            <a:r>
              <a:rPr lang="en-IN" sz="2800" b="1" dirty="0">
                <a:solidFill>
                  <a:srgbClr val="0070C0"/>
                </a:solidFill>
                <a:latin typeface="Trebuchet MS" panose="020B0603020202020204" pitchFamily="34" charset="0"/>
              </a:rPr>
              <a:t>Step 2</a:t>
            </a:r>
            <a:r>
              <a:rPr lang="en-IN" sz="2800" dirty="0">
                <a:solidFill>
                  <a:srgbClr val="0070C0"/>
                </a:solidFill>
                <a:latin typeface="Trebuchet MS" panose="020B0603020202020204" pitchFamily="34" charset="0"/>
              </a:rPr>
              <a:t>: </a:t>
            </a:r>
            <a:r>
              <a:rPr lang="en-IN" sz="2800" dirty="0">
                <a:latin typeface="Trebuchet MS" panose="020B0603020202020204" pitchFamily="34" charset="0"/>
              </a:rPr>
              <a:t>Select the first activity from sorted array act[] and add it to the sol[] array, thus sol = {a2}.</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3:</a:t>
            </a:r>
            <a:r>
              <a:rPr lang="en-IN" sz="2800" dirty="0">
                <a:latin typeface="Trebuchet MS" panose="020B0603020202020204" pitchFamily="34" charset="0"/>
              </a:rPr>
              <a:t> Repeat the steps 4 and 5 for the remaining activities in act[].</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4: </a:t>
            </a:r>
            <a:r>
              <a:rPr lang="en-IN" sz="2800" dirty="0">
                <a:latin typeface="Trebuchet MS" panose="020B0603020202020204" pitchFamily="34" charset="0"/>
              </a:rPr>
              <a:t>If the start time of the currently selected activity is greater than or equal to the finish time of the previously selected activity, then add it to sol[].</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5: </a:t>
            </a:r>
            <a:r>
              <a:rPr lang="en-IN" sz="2800" dirty="0">
                <a:latin typeface="Trebuchet MS" panose="020B0603020202020204" pitchFamily="34" charset="0"/>
              </a:rPr>
              <a:t>Select the next activity in act[]</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7639864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3A858E9B-966E-4184-CD84-F20CDE51CE8F}"/>
              </a:ext>
            </a:extLst>
          </p:cNvPr>
          <p:cNvSpPr txBox="1"/>
          <p:nvPr/>
        </p:nvSpPr>
        <p:spPr>
          <a:xfrm>
            <a:off x="455701" y="1227626"/>
            <a:ext cx="11517121" cy="5432256"/>
          </a:xfrm>
          <a:prstGeom prst="rect">
            <a:avLst/>
          </a:prstGeom>
          <a:noFill/>
        </p:spPr>
        <p:txBody>
          <a:bodyPr wrap="square">
            <a:spAutoFit/>
          </a:bodyPr>
          <a:lstStyle/>
          <a:p>
            <a:r>
              <a:rPr lang="en-IN" sz="2800" dirty="0">
                <a:solidFill>
                  <a:srgbClr val="0070C0"/>
                </a:solidFill>
                <a:latin typeface="Corbel" panose="020B0503020204020204" pitchFamily="34" charset="0"/>
              </a:rPr>
              <a:t>Step 5: </a:t>
            </a:r>
            <a:r>
              <a:rPr lang="en-IN" sz="2800" dirty="0">
                <a:latin typeface="Corbel" panose="020B0503020204020204" pitchFamily="34" charset="0"/>
              </a:rPr>
              <a:t>Select the next activity in act[].</a:t>
            </a:r>
          </a:p>
          <a:p>
            <a:endParaRPr lang="en-IN" sz="1600" dirty="0">
              <a:latin typeface="Corbel" panose="020B0503020204020204" pitchFamily="34" charset="0"/>
            </a:endParaRPr>
          </a:p>
          <a:p>
            <a:r>
              <a:rPr lang="en-IN" sz="2800" dirty="0">
                <a:latin typeface="Corbel" panose="020B0503020204020204" pitchFamily="34" charset="0"/>
              </a:rPr>
              <a:t>For the data given in the above table,</a:t>
            </a:r>
          </a:p>
          <a:p>
            <a:endParaRPr lang="en-IN" sz="1100" dirty="0">
              <a:latin typeface="Corbel" panose="020B0503020204020204" pitchFamily="34" charset="0"/>
            </a:endParaRP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activity a3</a:t>
            </a:r>
            <a:r>
              <a:rPr lang="en-IN" sz="2800" dirty="0">
                <a:latin typeface="Corbel" panose="020B0503020204020204" pitchFamily="34" charset="0"/>
              </a:rPr>
              <a:t>. Since the start time of a3 is greater than the finish time of a2 (i.e. s(a3) &gt; f(a2)), we add a3 to the solution set. Thus sol = {a2, a3}.</a:t>
            </a:r>
          </a:p>
          <a:p>
            <a:pPr marL="722313" indent="-368300">
              <a:buFont typeface="Arial" panose="020B0604020202020204" pitchFamily="34" charset="0"/>
              <a:buChar char="•"/>
            </a:pPr>
            <a:r>
              <a:rPr lang="en-IN" sz="2800" b="1" dirty="0">
                <a:solidFill>
                  <a:srgbClr val="0070C0"/>
                </a:solidFill>
                <a:latin typeface="Corbel" panose="020B0503020204020204" pitchFamily="34" charset="0"/>
              </a:rPr>
              <a:t>Select a4. </a:t>
            </a:r>
            <a:r>
              <a:rPr lang="en-IN" sz="2800" dirty="0">
                <a:latin typeface="Corbel" panose="020B0503020204020204" pitchFamily="34" charset="0"/>
              </a:rPr>
              <a:t>Since s(a4) &lt; f(a3), it is not added to the solution set.</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a5.</a:t>
            </a:r>
            <a:r>
              <a:rPr lang="en-IN" sz="2800" dirty="0">
                <a:latin typeface="Corbel" panose="020B0503020204020204" pitchFamily="34" charset="0"/>
              </a:rPr>
              <a:t> Since s(a5) &gt; f(a3), a5 gets added to solution set. Thus sol = {a2, a3, a5}</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a1. </a:t>
            </a:r>
            <a:r>
              <a:rPr lang="en-IN" sz="2800" dirty="0">
                <a:latin typeface="Corbel" panose="020B0503020204020204" pitchFamily="34" charset="0"/>
              </a:rPr>
              <a:t>Since s(a1) &lt; f(a5), a1 is not added to the solution set.</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a6. </a:t>
            </a:r>
            <a:r>
              <a:rPr lang="en-IN" sz="2800" dirty="0">
                <a:latin typeface="Corbel" panose="020B0503020204020204" pitchFamily="34" charset="0"/>
              </a:rPr>
              <a:t>a6 is added to the solution set since s(a6) &gt; f(a5). Thus sol = {a2, a3, a5, a6}.</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3656462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12700" y="12700"/>
            <a:ext cx="12179300" cy="6845300"/>
          </a:xfrm>
          <a:prstGeom prst="rect">
            <a:avLst/>
          </a:prstGeom>
          <a:noFill/>
          <a:ln>
            <a:noFill/>
          </a:ln>
        </p:spPr>
      </p:pic>
      <p:sp>
        <p:nvSpPr>
          <p:cNvPr id="7" name="Google Shape;97;p17"/>
          <p:cNvSpPr txBox="1"/>
          <p:nvPr/>
        </p:nvSpPr>
        <p:spPr>
          <a:xfrm>
            <a:off x="136922" y="26483"/>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a:t>
            </a:r>
            <a:r>
              <a:rPr lang="en-US" sz="3600" b="1" dirty="0">
                <a:solidFill>
                  <a:schemeClr val="bg1"/>
                </a:solidFill>
                <a:latin typeface="Trebuchet MS" panose="020B0603020202020204" pitchFamily="34" charset="0"/>
              </a:rPr>
              <a:t>-</a:t>
            </a: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 Example </a:t>
            </a:r>
            <a:endParaRPr lang="en-IN" sz="3600" b="1" i="0" u="none" strike="noStrike" baseline="0" dirty="0">
              <a:solidFill>
                <a:schemeClr val="bg1"/>
              </a:solidFill>
              <a:latin typeface="Trebuchet MS" panose="020B0603020202020204" pitchFamily="34" charset="0"/>
            </a:endParaRPr>
          </a:p>
        </p:txBody>
      </p:sp>
      <p:pic>
        <p:nvPicPr>
          <p:cNvPr id="9" name="Picture 8">
            <a:extLst>
              <a:ext uri="{FF2B5EF4-FFF2-40B4-BE49-F238E27FC236}">
                <a16:creationId xmlns:a16="http://schemas.microsoft.com/office/drawing/2014/main" id="{100A4BCD-065B-4975-24E8-23AEDD7940FA}"/>
              </a:ext>
            </a:extLst>
          </p:cNvPr>
          <p:cNvPicPr>
            <a:picLocks noChangeAspect="1"/>
          </p:cNvPicPr>
          <p:nvPr/>
        </p:nvPicPr>
        <p:blipFill>
          <a:blip r:embed="rId4"/>
          <a:stretch>
            <a:fillRect/>
          </a:stretch>
        </p:blipFill>
        <p:spPr>
          <a:xfrm>
            <a:off x="3194353" y="3118071"/>
            <a:ext cx="1917137" cy="3038175"/>
          </a:xfrm>
          <a:prstGeom prst="rect">
            <a:avLst/>
          </a:prstGeom>
          <a:ln>
            <a:solidFill>
              <a:schemeClr val="tx1"/>
            </a:solidFill>
          </a:ln>
        </p:spPr>
      </p:pic>
      <p:sp>
        <p:nvSpPr>
          <p:cNvPr id="10" name="TextBox 9">
            <a:extLst>
              <a:ext uri="{FF2B5EF4-FFF2-40B4-BE49-F238E27FC236}">
                <a16:creationId xmlns:a16="http://schemas.microsoft.com/office/drawing/2014/main" id="{7CA93867-DA76-86EE-2BE7-7F2C38CB2795}"/>
              </a:ext>
            </a:extLst>
          </p:cNvPr>
          <p:cNvSpPr txBox="1"/>
          <p:nvPr/>
        </p:nvSpPr>
        <p:spPr>
          <a:xfrm>
            <a:off x="457199" y="1291689"/>
            <a:ext cx="10869561" cy="1569660"/>
          </a:xfrm>
          <a:prstGeom prst="rect">
            <a:avLst/>
          </a:prstGeom>
          <a:noFill/>
        </p:spPr>
        <p:txBody>
          <a:bodyPr wrap="square">
            <a:spAutoFit/>
          </a:bodyPr>
          <a:lstStyle/>
          <a:p>
            <a:pPr marL="342900" indent="-342900">
              <a:buFont typeface="Arial" panose="020B0604020202020204" pitchFamily="34" charset="0"/>
              <a:buChar char="•"/>
            </a:pPr>
            <a:r>
              <a:rPr lang="en-IN" sz="2400" b="1" dirty="0">
                <a:solidFill>
                  <a:srgbClr val="0070C0"/>
                </a:solidFill>
                <a:latin typeface="Corbel" panose="020B0503020204020204" pitchFamily="34" charset="0"/>
              </a:rPr>
              <a:t>Step 6:</a:t>
            </a:r>
            <a:r>
              <a:rPr lang="en-IN" sz="2400" dirty="0">
                <a:latin typeface="Corbel" panose="020B0503020204020204" pitchFamily="34" charset="0"/>
              </a:rPr>
              <a:t> At last, print the array sol[] </a:t>
            </a:r>
          </a:p>
          <a:p>
            <a:endParaRPr lang="en-IN" sz="2400" dirty="0">
              <a:latin typeface="Corbel" panose="020B0503020204020204" pitchFamily="34" charset="0"/>
            </a:endParaRPr>
          </a:p>
          <a:p>
            <a:pPr marL="354013"/>
            <a:r>
              <a:rPr lang="en-IN" sz="2400" dirty="0">
                <a:latin typeface="Corbel" panose="020B0503020204020204" pitchFamily="34" charset="0"/>
              </a:rPr>
              <a:t>Hence, the execution schedule of maximum number of non-conflicting activities will be:</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554455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4" name="Picture 3">
            <a:extLst>
              <a:ext uri="{FF2B5EF4-FFF2-40B4-BE49-F238E27FC236}">
                <a16:creationId xmlns:a16="http://schemas.microsoft.com/office/drawing/2014/main" id="{C08408B8-5090-1441-785F-91E6B9A622F6}"/>
              </a:ext>
            </a:extLst>
          </p:cNvPr>
          <p:cNvPicPr>
            <a:picLocks noChangeAspect="1"/>
          </p:cNvPicPr>
          <p:nvPr/>
        </p:nvPicPr>
        <p:blipFill>
          <a:blip r:embed="rId5"/>
          <a:stretch>
            <a:fillRect/>
          </a:stretch>
        </p:blipFill>
        <p:spPr>
          <a:xfrm>
            <a:off x="1194620" y="1776226"/>
            <a:ext cx="8244348" cy="4860772"/>
          </a:xfrm>
          <a:prstGeom prst="rect">
            <a:avLst/>
          </a:prstGeom>
        </p:spPr>
      </p:pic>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64792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3200" b="1" i="0" u="none" strike="noStrike" kern="1200" cap="none" spc="0" normalizeH="0" baseline="0" noProof="0" dirty="0" smtClean="0">
                <a:ln>
                  <a:noFill/>
                </a:ln>
                <a:solidFill>
                  <a:srgbClr val="FFFFFF"/>
                </a:solidFill>
                <a:effectLst/>
                <a:uLnTx/>
                <a:uFillTx/>
                <a:latin typeface="Trebuchet MS" panose="020B0603020202020204" pitchFamily="34" charset="0"/>
              </a:rPr>
              <a:t>Activity Selection Problem - Example </a:t>
            </a:r>
            <a:endParaRPr kumimoji="0" lang="en-IN" sz="3200" b="1" i="0" u="none" strike="noStrike" kern="1200" cap="none" spc="0" normalizeH="0" baseline="0" noProof="0" dirty="0">
              <a:ln>
                <a:noFill/>
              </a:ln>
              <a:solidFill>
                <a:srgbClr val="FFFFFF"/>
              </a:solidFill>
              <a:effectLst/>
              <a:uLnTx/>
              <a:uFillTx/>
              <a:latin typeface="Trebuchet MS" panose="020B0603020202020204" pitchFamily="34" charset="0"/>
            </a:endParaRPr>
          </a:p>
        </p:txBody>
      </p:sp>
      <p:sp>
        <p:nvSpPr>
          <p:cNvPr id="11" name="TextBox 10">
            <a:extLst>
              <a:ext uri="{FF2B5EF4-FFF2-40B4-BE49-F238E27FC236}">
                <a16:creationId xmlns:a16="http://schemas.microsoft.com/office/drawing/2014/main" id="{93020A7F-7DF4-E6D3-BED5-2F4EAA4C1A88}"/>
              </a:ext>
            </a:extLst>
          </p:cNvPr>
          <p:cNvSpPr txBox="1"/>
          <p:nvPr/>
        </p:nvSpPr>
        <p:spPr>
          <a:xfrm>
            <a:off x="744792" y="1159591"/>
            <a:ext cx="9844550" cy="738664"/>
          </a:xfrm>
          <a:prstGeom prst="rect">
            <a:avLst/>
          </a:prstGeom>
          <a:noFill/>
        </p:spPr>
        <p:txBody>
          <a:bodyPr wrap="square">
            <a:spAutoFit/>
          </a:bodyPr>
          <a:lstStyle/>
          <a:p>
            <a:r>
              <a:rPr lang="en-IN" sz="2400" dirty="0">
                <a:latin typeface="Corbel" panose="020B0503020204020204" pitchFamily="34" charset="0"/>
              </a:rPr>
              <a:t>In the below diagram, the selected activities have been highlighted in grey.</a:t>
            </a:r>
          </a:p>
          <a:p>
            <a:endParaRPr lang="en-IN" dirty="0"/>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1147943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64792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3200" b="1" i="0" u="none" strike="noStrike" kern="1200" cap="none" spc="0" normalizeH="0" baseline="0" noProof="0" dirty="0" smtClean="0">
                <a:ln>
                  <a:noFill/>
                </a:ln>
                <a:solidFill>
                  <a:srgbClr val="FFFFFF"/>
                </a:solidFill>
                <a:effectLst/>
                <a:uLnTx/>
                <a:uFillTx/>
                <a:latin typeface="Trebuchet MS" panose="020B0603020202020204" pitchFamily="34" charset="0"/>
              </a:rPr>
              <a:t>Activity Selection Problem </a:t>
            </a:r>
            <a:endParaRPr kumimoji="0" lang="en-IN" sz="3200" b="1" i="0" u="none" strike="noStrike" kern="1200" cap="none" spc="0" normalizeH="0" baseline="0" noProof="0" dirty="0">
              <a:ln>
                <a:noFill/>
              </a:ln>
              <a:solidFill>
                <a:srgbClr val="FFFFFF"/>
              </a:solidFill>
              <a:effectLst/>
              <a:uLnTx/>
              <a:uFillTx/>
              <a:latin typeface="Trebuchet MS" panose="020B0603020202020204" pitchFamily="34" charset="0"/>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
        <p:nvSpPr>
          <p:cNvPr id="5" name="Rectangle 4"/>
          <p:cNvSpPr/>
          <p:nvPr/>
        </p:nvSpPr>
        <p:spPr>
          <a:xfrm>
            <a:off x="827314" y="1446095"/>
            <a:ext cx="10731939" cy="4154984"/>
          </a:xfrm>
          <a:prstGeom prst="rect">
            <a:avLst/>
          </a:prstGeom>
        </p:spPr>
        <p:txBody>
          <a:bodyPr wrap="square">
            <a:spAutoFit/>
          </a:bodyPr>
          <a:lstStyle/>
          <a:p>
            <a:pPr marL="457200" indent="-457200">
              <a:buFont typeface="+mj-lt"/>
              <a:buAutoNum type="arabicPeriod"/>
            </a:pPr>
            <a:r>
              <a:rPr lang="en-US" sz="2400" dirty="0">
                <a:solidFill>
                  <a:srgbClr val="000000"/>
                </a:solidFill>
                <a:latin typeface="Trebuchet MS" panose="020B0603020202020204" pitchFamily="34" charset="0"/>
              </a:rPr>
              <a:t>Given 10 activities along with their start and end time </a:t>
            </a:r>
            <a:r>
              <a:rPr lang="en-US" sz="2400" dirty="0" smtClean="0">
                <a:solidFill>
                  <a:srgbClr val="000000"/>
                </a:solidFill>
                <a:latin typeface="Trebuchet MS" panose="020B0603020202020204" pitchFamily="34" charset="0"/>
              </a:rPr>
              <a:t>as</a:t>
            </a:r>
          </a:p>
          <a:p>
            <a:pPr lvl="1"/>
            <a:r>
              <a:rPr lang="en-US" sz="2400" dirty="0">
                <a:solidFill>
                  <a:srgbClr val="000000"/>
                </a:solidFill>
                <a:latin typeface="Trebuchet MS" panose="020B0603020202020204" pitchFamily="34" charset="0"/>
              </a:rPr>
              <a:t>Jobs  = (A1 A2 A3 A4 A5 A6 A7 A8 A9 A10)</a:t>
            </a:r>
          </a:p>
          <a:p>
            <a:pPr lvl="1"/>
            <a:r>
              <a:rPr lang="en-US" sz="2400" dirty="0">
                <a:solidFill>
                  <a:srgbClr val="000000"/>
                </a:solidFill>
                <a:latin typeface="Trebuchet MS" panose="020B0603020202020204" pitchFamily="34" charset="0"/>
              </a:rPr>
              <a:t>Start time = (1,2,3,4,7,8,9,9,11,12)</a:t>
            </a:r>
          </a:p>
          <a:p>
            <a:pPr lvl="1"/>
            <a:r>
              <a:rPr lang="en-US" sz="2400" dirty="0">
                <a:solidFill>
                  <a:srgbClr val="000000"/>
                </a:solidFill>
                <a:latin typeface="Trebuchet MS" panose="020B0603020202020204" pitchFamily="34" charset="0"/>
              </a:rPr>
              <a:t>Finishing time = (3,5,4,7,10,9,11,13,12,14)</a:t>
            </a:r>
          </a:p>
          <a:p>
            <a:pPr lvl="1"/>
            <a:r>
              <a:rPr lang="en-US" sz="2400" dirty="0">
                <a:solidFill>
                  <a:srgbClr val="000000"/>
                </a:solidFill>
                <a:latin typeface="Trebuchet MS" panose="020B0603020202020204" pitchFamily="34" charset="0"/>
              </a:rPr>
              <a:t>Compute a schedule where the greatest number of activities takes place.</a:t>
            </a:r>
          </a:p>
          <a:p>
            <a:pPr marL="457200" indent="-457200">
              <a:buFont typeface="+mj-lt"/>
              <a:buAutoNum type="arabicPeriod"/>
            </a:pPr>
            <a:endParaRPr lang="en-US" sz="2400" dirty="0" smtClean="0">
              <a:solidFill>
                <a:srgbClr val="000000"/>
              </a:solidFill>
              <a:latin typeface="Trebuchet MS" panose="020B0603020202020204" pitchFamily="34" charset="0"/>
            </a:endParaRPr>
          </a:p>
          <a:p>
            <a:pPr marL="457200" indent="-457200">
              <a:buFont typeface="+mj-lt"/>
              <a:buAutoNum type="arabicPeriod"/>
            </a:pPr>
            <a:r>
              <a:rPr lang="en-IN" sz="2400" dirty="0" smtClean="0">
                <a:latin typeface="Trebuchet MS" panose="020B0603020202020204" pitchFamily="34" charset="0"/>
              </a:rPr>
              <a:t>Given 6 </a:t>
            </a:r>
            <a:r>
              <a:rPr lang="en-IN" sz="2400" dirty="0">
                <a:latin typeface="Trebuchet MS" panose="020B0603020202020204" pitchFamily="34" charset="0"/>
              </a:rPr>
              <a:t>activities with corresponding start and end time, the objective is to compute an execution schedule having maximum number of non-conflicting activities:</a:t>
            </a:r>
          </a:p>
          <a:p>
            <a:pPr marL="457200" lvl="2"/>
            <a:r>
              <a:rPr lang="en-US" sz="2400" dirty="0" smtClean="0">
                <a:latin typeface="Trebuchet MS" panose="020B0603020202020204" pitchFamily="34" charset="0"/>
              </a:rPr>
              <a:t>start</a:t>
            </a:r>
            <a:r>
              <a:rPr lang="en-US" sz="2400" dirty="0">
                <a:latin typeface="Trebuchet MS" panose="020B0603020202020204" pitchFamily="34" charset="0"/>
              </a:rPr>
              <a:t>[]  =  [1, 3, 0, 5, 8, 5]</a:t>
            </a:r>
          </a:p>
          <a:p>
            <a:pPr marL="457200" lvl="2"/>
            <a:r>
              <a:rPr lang="en-US" sz="2400" dirty="0">
                <a:latin typeface="Trebuchet MS" panose="020B0603020202020204" pitchFamily="34" charset="0"/>
              </a:rPr>
              <a:t>finish[] =  [2, 4, 6, 7, 9, 9]</a:t>
            </a:r>
            <a:endParaRPr lang="en-IN" sz="2400" dirty="0">
              <a:latin typeface="Trebuchet MS" panose="020B0603020202020204" pitchFamily="34" charset="0"/>
            </a:endParaRPr>
          </a:p>
        </p:txBody>
      </p:sp>
    </p:spTree>
    <p:extLst>
      <p:ext uri="{BB962C8B-B14F-4D97-AF65-F5344CB8AC3E}">
        <p14:creationId xmlns:p14="http://schemas.microsoft.com/office/powerpoint/2010/main" val="30365440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p:sp>
        <p:nvSpPr>
          <p:cNvPr id="4" name="TextBox 3">
            <a:extLst>
              <a:ext uri="{FF2B5EF4-FFF2-40B4-BE49-F238E27FC236}">
                <a16:creationId xmlns:a16="http://schemas.microsoft.com/office/drawing/2014/main" id="{D72BD6E8-A5DF-D871-BECD-993B323B6633}"/>
              </a:ext>
            </a:extLst>
          </p:cNvPr>
          <p:cNvSpPr txBox="1"/>
          <p:nvPr/>
        </p:nvSpPr>
        <p:spPr>
          <a:xfrm>
            <a:off x="476514" y="1049144"/>
            <a:ext cx="6185543" cy="5078313"/>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Fractional Knapsack problem is defined as, “Given a set of items having some weight and value/profit associated with it.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knapsack problem is to find the set of items such that the total weight is less than or equal to a given limit (size of knapsack) and the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total value/profit earned is as large as possible</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t>
            </a:r>
          </a:p>
        </p:txBody>
      </p:sp>
      <p:pic>
        <p:nvPicPr>
          <p:cNvPr id="5" name="Picture 4">
            <a:extLst>
              <a:ext uri="{FF2B5EF4-FFF2-40B4-BE49-F238E27FC236}">
                <a16:creationId xmlns:a16="http://schemas.microsoft.com/office/drawing/2014/main" id="{910EE78B-5934-D90B-6EC3-915F1DC59AA8}"/>
              </a:ext>
            </a:extLst>
          </p:cNvPr>
          <p:cNvPicPr>
            <a:picLocks noChangeAspect="1"/>
          </p:cNvPicPr>
          <p:nvPr/>
        </p:nvPicPr>
        <p:blipFill>
          <a:blip r:embed="rId5"/>
          <a:stretch>
            <a:fillRect/>
          </a:stretch>
        </p:blipFill>
        <p:spPr>
          <a:xfrm>
            <a:off x="7098860" y="1812721"/>
            <a:ext cx="4424514" cy="3949449"/>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5697543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3" name="Rectangle 2"/>
          <p:cNvSpPr/>
          <p:nvPr/>
        </p:nvSpPr>
        <p:spPr>
          <a:xfrm>
            <a:off x="1059543" y="3222171"/>
            <a:ext cx="10463831" cy="798286"/>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Arial"/>
              <a:ea typeface="+mn-ea"/>
              <a:cs typeface="+mn-cs"/>
            </a:endParaRPr>
          </a:p>
        </p:txBody>
      </p:sp>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68858B-0236-BB5E-C581-48B0D227A4F0}"/>
                  </a:ext>
                </a:extLst>
              </p:cNvPr>
              <p:cNvSpPr txBox="1"/>
              <p:nvPr/>
            </p:nvSpPr>
            <p:spPr>
              <a:xfrm>
                <a:off x="668561" y="1305322"/>
                <a:ext cx="10854813" cy="4801314"/>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We are given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𝑛</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objects and a knapsack.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Object</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has a positive weight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𝒘</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 positive value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𝒗</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for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𝒊</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𝟐</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oMath>
                </a14:m>
                <a:endPar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The knapsack can carry a weight not exceeding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𝑾</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Our aim is to fill the knapsack in a way that </a:t>
                </a:r>
                <a:r>
                  <a:rPr kumimoji="0" lang="en-US"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maximizes</a:t>
                </a:r>
                <a:r>
                  <a:rPr kumimoji="0" lang="en-US" sz="2400" b="1"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the value of the included objects, while respecting the capacity constraint.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In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fractional knapsack problem</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we assume that the objects </a:t>
                </a:r>
                <a:r>
                  <a:rPr kumimoji="0" lang="en-US" sz="24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mn-cs"/>
                  </a:rPr>
                  <a:t>can be broken into smaller pieces</a:t>
                </a:r>
                <a:r>
                  <a:rPr kumimoji="0" lang="en-US" sz="2400" b="0" i="0" u="sng"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 we may decide to carry only a fraction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of object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where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𝟎</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m:t>
                    </m:r>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𝟏</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endParaRPr kumimoji="0" lang="en-US" sz="2400" b="1" i="1" u="none" strike="noStrike" kern="1200" cap="none" spc="0" normalizeH="0" baseline="0" noProof="0" dirty="0">
                  <a:ln>
                    <a:noFill/>
                  </a:ln>
                  <a:solidFill>
                    <a:srgbClr val="0066FF"/>
                  </a:solidFill>
                  <a:effectLst/>
                  <a:uLnTx/>
                  <a:uFillTx/>
                  <a:latin typeface="Trebuchet MS" panose="020B0603020202020204" pitchFamily="34" charset="0"/>
                  <a:ea typeface="+mn-ea"/>
                  <a:cs typeface="+mn-cs"/>
                </a:endParaRPr>
              </a:p>
              <a:p>
                <a:pPr marL="0" marR="0" lvl="0" indent="0" algn="just" defTabSz="914400" rtl="0" eaLnBrk="1" fontAlgn="auto" latinLnBrk="0" hangingPunct="1">
                  <a:lnSpc>
                    <a:spcPct val="100000"/>
                  </a:lnSpc>
                  <a:spcBef>
                    <a:spcPts val="1200"/>
                  </a:spcBef>
                  <a:spcAft>
                    <a:spcPts val="600"/>
                  </a:spcAft>
                  <a:buClr>
                    <a:srgbClr val="B84742"/>
                  </a:buClr>
                  <a:buSzTx/>
                  <a:buFontTx/>
                  <a:buNone/>
                  <a:tabLst/>
                  <a:defRPr/>
                </a:pPr>
                <a:endParaRPr kumimoji="0" lang="en-US" sz="2400" b="1" i="1" u="none" strike="noStrike" kern="1200" cap="none" spc="0" normalizeH="0" baseline="0" noProof="0" dirty="0">
                  <a:ln>
                    <a:noFill/>
                  </a:ln>
                  <a:solidFill>
                    <a:srgbClr val="0066FF"/>
                  </a:solidFill>
                  <a:effectLst/>
                  <a:uLnTx/>
                  <a:uFillTx/>
                  <a:latin typeface="Corbel" panose="020B0503020204020204" pitchFamily="34" charset="0"/>
                  <a:ea typeface="+mn-ea"/>
                  <a:cs typeface="+mn-cs"/>
                </a:endParaRPr>
              </a:p>
            </p:txBody>
          </p:sp>
        </mc:Choice>
        <mc:Fallback xmlns="">
          <p:sp>
            <p:nvSpPr>
              <p:cNvPr id="6" name="TextBox 5">
                <a:extLst>
                  <a:ext uri="{FF2B5EF4-FFF2-40B4-BE49-F238E27FC236}">
                    <a16:creationId xmlns:a16="http://schemas.microsoft.com/office/drawing/2014/main" id="{C268858B-0236-BB5E-C581-48B0D227A4F0}"/>
                  </a:ext>
                </a:extLst>
              </p:cNvPr>
              <p:cNvSpPr txBox="1">
                <a:spLocks noRot="1" noChangeAspect="1" noMove="1" noResize="1" noEditPoints="1" noAdjustHandles="1" noChangeArrowheads="1" noChangeShapeType="1" noTextEdit="1"/>
              </p:cNvSpPr>
              <p:nvPr/>
            </p:nvSpPr>
            <p:spPr>
              <a:xfrm>
                <a:off x="668561" y="1305322"/>
                <a:ext cx="10854813" cy="4801314"/>
              </a:xfrm>
              <a:prstGeom prst="rect">
                <a:avLst/>
              </a:prstGeom>
              <a:blipFill>
                <a:blip r:embed="rId5"/>
                <a:stretch>
                  <a:fillRect l="-787" t="-1015" r="-899"/>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5214299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Rectangle 3"/>
          <p:cNvSpPr/>
          <p:nvPr/>
        </p:nvSpPr>
        <p:spPr>
          <a:xfrm>
            <a:off x="1045029" y="5152571"/>
            <a:ext cx="10145485" cy="76925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a:t>
            </a:r>
            <a:r>
              <a:rPr kumimoji="0" lang="en-US" sz="3600" b="1" i="0" u="none" strike="noStrike" kern="1200" cap="none" spc="0" normalizeH="0" baseline="0" noProof="0" dirty="0" smtClean="0">
                <a:ln>
                  <a:noFill/>
                </a:ln>
                <a:solidFill>
                  <a:srgbClr val="FFFFFF"/>
                </a:solidFill>
                <a:effectLst/>
                <a:uLnTx/>
                <a:uFillTx/>
                <a:latin typeface="Trebuchet MS" panose="020B0603020202020204" pitchFamily="34" charset="0"/>
                <a:ea typeface="+mn-ea"/>
                <a:cs typeface="+mn-cs"/>
              </a:rPr>
              <a:t>Problem</a:t>
            </a:r>
            <a:endPar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 name="Content Placeholder 2">
            <a:extLst>
              <a:ext uri="{FF2B5EF4-FFF2-40B4-BE49-F238E27FC236}">
                <a16:creationId xmlns:a16="http://schemas.microsoft.com/office/drawing/2014/main" id="{2A6FB7B7-F1F5-8A18-E094-827D4389C06B}"/>
              </a:ext>
            </a:extLst>
          </p:cNvPr>
          <p:cNvSpPr txBox="1">
            <a:spLocks/>
          </p:cNvSpPr>
          <p:nvPr/>
        </p:nvSpPr>
        <p:spPr>
          <a:xfrm>
            <a:off x="668561" y="1283314"/>
            <a:ext cx="10569710" cy="48611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marR="0" lvl="0" indent="-265113"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There are </a:t>
            </a: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3</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Selection Functions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can be defined as,</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Sort the items in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descending order of their values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select the items till weight criteria is satisfied.</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Sort the items in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ascending order of their weight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select the items till weight criteria is satisfied.</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To calculate the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ratio value/weight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for each item and sort the item on basis of this ratio. Then take the item with the highest ratio and add it. </a:t>
            </a:r>
            <a:endPar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endParaRPr>
          </a:p>
          <a:p>
            <a:pPr marL="400050" marR="0" lvl="1" indent="0"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None/>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Note that we going use </a:t>
            </a: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descending order of their values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for solving Knapsack problem.</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265113" marR="0" lvl="0" indent="-265113"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Char char=""/>
              <a:tabLst/>
              <a:defRPr/>
            </a:pP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7866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p:sp>
        <p:nvSpPr>
          <p:cNvPr id="3" name="Rectangle 2">
            <a:extLst>
              <a:ext uri="{FF2B5EF4-FFF2-40B4-BE49-F238E27FC236}">
                <a16:creationId xmlns:a16="http://schemas.microsoft.com/office/drawing/2014/main" id="{67124ACC-04CC-5A86-24C2-D6B977EC081F}"/>
              </a:ext>
            </a:extLst>
          </p:cNvPr>
          <p:cNvSpPr/>
          <p:nvPr/>
        </p:nvSpPr>
        <p:spPr>
          <a:xfrm>
            <a:off x="1091381" y="3628103"/>
            <a:ext cx="9837174" cy="14305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solidFill>
                  <a:srgbClr val="0070C0"/>
                </a:solid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68858B-0236-BB5E-C581-48B0D227A4F0}"/>
                  </a:ext>
                </a:extLst>
              </p:cNvPr>
              <p:cNvSpPr txBox="1"/>
              <p:nvPr/>
            </p:nvSpPr>
            <p:spPr>
              <a:xfrm>
                <a:off x="632682" y="1725107"/>
                <a:ext cx="11051318" cy="3170099"/>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In this case, object </a:t>
                </a:r>
                <a14:m>
                  <m:oMath xmlns:m="http://schemas.openxmlformats.org/officeDocument/2006/math">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contribute </a:t>
                </a:r>
                <a14:m>
                  <m:oMath xmlns:m="http://schemas.openxmlformats.org/officeDocument/2006/math">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𝒘</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to the total weight in the knapsack, and </a:t>
                </a:r>
                <a14:m>
                  <m:oMath xmlns:m="http://schemas.openxmlformats.org/officeDocument/2006/math">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𝒗</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to the value of the load.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Symbolic Representation of the problem can be given as follows:</a:t>
                </a:r>
              </a:p>
              <a:p>
                <a:pPr marL="736600" marR="0" lvl="0" indent="0" algn="l" defTabSz="914400" rtl="0" eaLnBrk="1" fontAlgn="auto" latinLnBrk="0" hangingPunct="1">
                  <a:lnSpc>
                    <a:spcPct val="100000"/>
                  </a:lnSpc>
                  <a:spcBef>
                    <a:spcPts val="1200"/>
                  </a:spcBef>
                  <a:spcAft>
                    <a:spcPts val="1200"/>
                  </a:spcAft>
                  <a:buClr>
                    <a:srgbClr val="B84742"/>
                  </a:buClr>
                  <a:buSzTx/>
                  <a:buFont typeface="Wingdings 3" panose="05040102010807070707" pitchFamily="18" charset="2"/>
                  <a:buNone/>
                  <a:tabLst/>
                  <a:defRPr/>
                </a:pP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r>
                  <a:rPr kumimoji="0" lang="en-US" sz="2800" b="1"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maximize </a:t>
                </a:r>
                <a14:m>
                  <m:oMath xmlns:m="http://schemas.openxmlformats.org/officeDocument/2006/math">
                    <m:nary>
                      <m:naryPr>
                        <m:chr m:val="∑"/>
                        <m:limLoc m:val="undOv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naryPr>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sub>
                      <m:sup>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𝒏</m:t>
                        </m:r>
                      </m:sup>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𝒙</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e>
                    </m:nary>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𝒗</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oMath>
                </a14:m>
                <a:r>
                  <a:rPr kumimoji="0" lang="en-US" sz="28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subject to </a:t>
                </a:r>
                <a14:m>
                  <m:oMath xmlns:m="http://schemas.openxmlformats.org/officeDocument/2006/math">
                    <m:nary>
                      <m:naryPr>
                        <m:chr m:val="∑"/>
                        <m:limLoc m:val="undOv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naryPr>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sub>
                      <m:sup>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𝒏</m:t>
                        </m:r>
                      </m:sup>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𝒙</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e>
                    </m:nary>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𝒘</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oMath>
                </a14:m>
                <a:r>
                  <a:rPr kumimoji="0" lang="en-US" sz="28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a:t>
                </a:r>
                <a14:m>
                  <m:oMath xmlns:m="http://schemas.openxmlformats.org/officeDocument/2006/math">
                    <m:r>
                      <a:rPr kumimoji="0" lang="en-US" sz="28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rPr>
                      <m:t>𝑾</m:t>
                    </m:r>
                  </m:oMath>
                </a14:m>
                <a:endParaRPr kumimoji="0" lang="en-US" sz="28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endParaRPr>
              </a:p>
              <a:p>
                <a:pPr marL="0" marR="0" lvl="0" indent="0" algn="just" defTabSz="914400" rtl="0" eaLnBrk="1" fontAlgn="auto" latinLnBrk="0" hangingPunct="1">
                  <a:lnSpc>
                    <a:spcPct val="100000"/>
                  </a:lnSpc>
                  <a:spcBef>
                    <a:spcPts val="1200"/>
                  </a:spcBef>
                  <a:spcAft>
                    <a:spcPts val="1200"/>
                  </a:spcAft>
                  <a:buClr>
                    <a:srgbClr val="B84742"/>
                  </a:buClr>
                  <a:buSzTx/>
                  <a:buFont typeface="Wingdings 3" panose="05040102010807070707" pitchFamily="18" charset="2"/>
                  <a:buNone/>
                  <a:tabLst/>
                  <a:defRPr/>
                </a:pP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         </a:t>
                </a:r>
                <a:r>
                  <a:rPr kumimoji="0" lang="en-US" sz="28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Where</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𝑣</m:t>
                        </m:r>
                      </m:e>
                      <m: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&gt;0</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𝑤</m:t>
                    </m:r>
                    <m:r>
                      <a:rPr kumimoji="0" lang="en-US" sz="2800" b="0" i="1" u="none" strike="noStrike" kern="1200" cap="none" spc="0" normalizeH="0" baseline="-25000" noProof="0" dirty="0" err="1">
                        <a:ln>
                          <a:noFill/>
                        </a:ln>
                        <a:solidFill>
                          <a:srgbClr val="0070C0"/>
                        </a:solidFill>
                        <a:effectLst/>
                        <a:uLnTx/>
                        <a:uFillTx/>
                        <a:latin typeface="Cambria Math" panose="02040503050406030204" pitchFamily="18" charset="0"/>
                        <a:ea typeface="+mn-ea"/>
                        <a:cs typeface="+mn-cs"/>
                      </a:rPr>
                      <m:t>𝑖</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&gt;0 </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and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0≤</m:t>
                    </m:r>
                    <m:sSub>
                      <m:sSubPr>
                        <m:ctrlP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≤1 </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for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1≤ </m:t>
                    </m:r>
                    <m:r>
                      <a:rPr kumimoji="0" lang="en-US" sz="2800" b="0" i="1" u="none" strike="noStrike" kern="1200" cap="none" spc="0" normalizeH="0" baseline="0" noProof="0" dirty="0" err="1">
                        <a:ln>
                          <a:noFill/>
                        </a:ln>
                        <a:solidFill>
                          <a:srgbClr val="0070C0"/>
                        </a:solidFill>
                        <a:effectLst/>
                        <a:uLnTx/>
                        <a:uFillTx/>
                        <a:latin typeface="Cambria Math" panose="02040503050406030204" pitchFamily="18" charset="0"/>
                        <a:ea typeface="+mn-ea"/>
                        <a:cs typeface="+mn-cs"/>
                      </a:rPr>
                      <m:t>𝑖</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𝑛</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p>
            </p:txBody>
          </p:sp>
        </mc:Choice>
        <mc:Fallback xmlns="">
          <p:sp>
            <p:nvSpPr>
              <p:cNvPr id="6" name="TextBox 5">
                <a:extLst>
                  <a:ext uri="{FF2B5EF4-FFF2-40B4-BE49-F238E27FC236}">
                    <a16:creationId xmlns:a16="http://schemas.microsoft.com/office/drawing/2014/main" id="{C268858B-0236-BB5E-C581-48B0D227A4F0}"/>
                  </a:ext>
                </a:extLst>
              </p:cNvPr>
              <p:cNvSpPr txBox="1">
                <a:spLocks noRot="1" noChangeAspect="1" noMove="1" noResize="1" noEditPoints="1" noAdjustHandles="1" noChangeArrowheads="1" noChangeShapeType="1" noTextEdit="1"/>
              </p:cNvSpPr>
              <p:nvPr/>
            </p:nvSpPr>
            <p:spPr>
              <a:xfrm>
                <a:off x="632682" y="1725107"/>
                <a:ext cx="11051318" cy="3170099"/>
              </a:xfrm>
              <a:prstGeom prst="rect">
                <a:avLst/>
              </a:prstGeom>
              <a:blipFill>
                <a:blip r:embed="rId5"/>
                <a:stretch>
                  <a:fillRect l="-993" t="-1923" r="-1103" b="-4615"/>
                </a:stretch>
              </a:blipFill>
            </p:spPr>
            <p:txBody>
              <a:bodyPr/>
              <a:lstStyle/>
              <a:p>
                <a:r>
                  <a:rPr lang="en-IN">
                    <a:noFill/>
                  </a:rPr>
                  <a:t> </a:t>
                </a:r>
              </a:p>
            </p:txBody>
          </p:sp>
        </mc:Fallback>
      </mc:AlternateContent>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0015419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4514" y="0"/>
            <a:ext cx="12206983"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Algorithm </a:t>
            </a:r>
            <a:endPar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 name="Content Placeholder 2">
            <a:extLst>
              <a:ext uri="{FF2B5EF4-FFF2-40B4-BE49-F238E27FC236}">
                <a16:creationId xmlns:a16="http://schemas.microsoft.com/office/drawing/2014/main" id="{2A6FB7B7-F1F5-8A18-E094-827D4389C06B}"/>
              </a:ext>
            </a:extLst>
          </p:cNvPr>
          <p:cNvSpPr txBox="1">
            <a:spLocks/>
          </p:cNvSpPr>
          <p:nvPr/>
        </p:nvSpPr>
        <p:spPr>
          <a:xfrm>
            <a:off x="668561" y="1283314"/>
            <a:ext cx="10569710" cy="48611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marR="0" lvl="0" indent="-265113"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78380E6-0792-1641-355F-9A32D57AEFFA}"/>
                  </a:ext>
                </a:extLst>
              </p:cNvPr>
              <p:cNvSpPr txBox="1">
                <a:spLocks/>
              </p:cNvSpPr>
              <p:nvPr/>
            </p:nvSpPr>
            <p:spPr>
              <a:xfrm>
                <a:off x="235973" y="973844"/>
                <a:ext cx="11754466" cy="5686038"/>
              </a:xfrm>
              <a:prstGeom prst="rect">
                <a:avLst/>
              </a:prstGeom>
              <a:solidFill>
                <a:schemeClr val="bg1"/>
              </a:solidFill>
              <a:ln>
                <a:solidFill>
                  <a:schemeClr val="tx2"/>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smtClean="0">
                    <a:ln>
                      <a:noFill/>
                    </a:ln>
                    <a:solidFill>
                      <a:srgbClr val="0070C0"/>
                    </a:solidFill>
                    <a:effectLst/>
                    <a:uLnTx/>
                    <a:uFillTx/>
                    <a:latin typeface="Consolas" pitchFamily="49" charset="0"/>
                    <a:ea typeface="+mn-ea"/>
                    <a:cs typeface="Consolas" pitchFamily="49" charset="0"/>
                  </a:rPr>
                  <a:t>Algorithm:</a:t>
                </a:r>
                <a:r>
                  <a:rPr kumimoji="0" lang="en-US" sz="2400" b="1" i="0" u="none" strike="noStrike" kern="1200" cap="none" spc="0" normalizeH="0" baseline="0" noProof="0" dirty="0" smtClean="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smtClean="0">
                    <a:ln>
                      <a:noFill/>
                    </a:ln>
                    <a:solidFill>
                      <a:srgbClr val="FF0000"/>
                    </a:solidFill>
                    <a:effectLst/>
                    <a:uLnTx/>
                    <a:uFillTx/>
                    <a:latin typeface="Consolas" pitchFamily="49" charset="0"/>
                    <a:ea typeface="+mn-ea"/>
                    <a:cs typeface="Consolas" pitchFamily="49" charset="0"/>
                  </a:rPr>
                  <a:t>Greedy-Fractional-Knapsack (w[1..n], p[1..n], W)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for</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 1 to n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do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0 ;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0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While</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&lt; W do</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the best remaining object</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if</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 W then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 </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1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else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 -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return</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878380E6-0792-1641-355F-9A32D57AEFFA}"/>
                  </a:ext>
                </a:extLst>
              </p:cNvPr>
              <p:cNvSpPr txBox="1">
                <a:spLocks noRot="1" noChangeAspect="1" noMove="1" noResize="1" noEditPoints="1" noAdjustHandles="1" noChangeArrowheads="1" noChangeShapeType="1" noTextEdit="1"/>
              </p:cNvSpPr>
              <p:nvPr/>
            </p:nvSpPr>
            <p:spPr>
              <a:xfrm>
                <a:off x="235973" y="973844"/>
                <a:ext cx="11754466" cy="5686038"/>
              </a:xfrm>
              <a:prstGeom prst="rect">
                <a:avLst/>
              </a:prstGeom>
              <a:blipFill>
                <a:blip r:embed="rId5"/>
                <a:stretch>
                  <a:fillRect l="-777" t="-1390"/>
                </a:stretch>
              </a:blipFill>
              <a:ln>
                <a:solidFill>
                  <a:schemeClr val="tx2"/>
                </a:solidFill>
              </a:ln>
            </p:spPr>
            <p:txBody>
              <a:bodyPr/>
              <a:lstStyle/>
              <a:p>
                <a:r>
                  <a:rPr lang="en-IN">
                    <a:noFill/>
                  </a:rPr>
                  <a:t> </a:t>
                </a:r>
              </a:p>
            </p:txBody>
          </p:sp>
        </mc:Fallback>
      </mc:AlternateContent>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74588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fade">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fade">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fade">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fade">
                                      <p:cBhvr>
                                        <p:cTn id="62" dur="500"/>
                                        <p:tgtEl>
                                          <p:spTgt spid="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11" end="11"/>
                                            </p:txEl>
                                          </p:spTgt>
                                        </p:tgtEl>
                                        <p:attrNameLst>
                                          <p:attrName>style.visibility</p:attrName>
                                        </p:attrNameLst>
                                      </p:cBhvr>
                                      <p:to>
                                        <p:strVal val="visible"/>
                                      </p:to>
                                    </p:set>
                                    <p:animEffect transition="in" filter="fade">
                                      <p:cBhvr>
                                        <p:cTn id="67"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4" name="TextBox 3">
            <a:extLst>
              <a:ext uri="{FF2B5EF4-FFF2-40B4-BE49-F238E27FC236}">
                <a16:creationId xmlns:a16="http://schemas.microsoft.com/office/drawing/2014/main" id="{26CAF493-8F36-C156-3620-E8AA757B4BD7}"/>
              </a:ext>
            </a:extLst>
          </p:cNvPr>
          <p:cNvSpPr txBox="1"/>
          <p:nvPr/>
        </p:nvSpPr>
        <p:spPr>
          <a:xfrm>
            <a:off x="235973" y="973843"/>
            <a:ext cx="11738313" cy="2769989"/>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Problem:</a:t>
            </a:r>
            <a:r>
              <a:rPr kumimoji="0" lang="en-IN" sz="2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t>
            </a: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Consider the following instances of the fractional knapsack problem: n = 3, M = 20, V = (24, 25, 15) and W = (18, 15, 20) find the feasible solutions.</a:t>
            </a: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Solution:</a:t>
            </a:r>
            <a:endPar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Let us arrange items by decreasing order of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profit(</a:t>
            </a:r>
            <a:r>
              <a:rPr kumimoji="0" lang="en-IN" sz="2400" b="1"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v</a:t>
            </a:r>
            <a:r>
              <a:rPr kumimoji="0" lang="en-IN" sz="2400" b="1"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Assume that items are labelled as X =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3</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have profit V = {24, 25, 15} and weight W = {18, 15, 20}.</a:t>
            </a:r>
          </a:p>
        </p:txBody>
      </p:sp>
      <p:graphicFrame>
        <p:nvGraphicFramePr>
          <p:cNvPr id="5" name="Table 4">
            <a:extLst>
              <a:ext uri="{FF2B5EF4-FFF2-40B4-BE49-F238E27FC236}">
                <a16:creationId xmlns:a16="http://schemas.microsoft.com/office/drawing/2014/main" id="{836202F2-005D-9E09-1E6D-C6865E009FFE}"/>
              </a:ext>
            </a:extLst>
          </p:cNvPr>
          <p:cNvGraphicFramePr>
            <a:graphicFrameLocks noGrp="1"/>
          </p:cNvGraphicFramePr>
          <p:nvPr>
            <p:extLst/>
          </p:nvPr>
        </p:nvGraphicFramePr>
        <p:xfrm>
          <a:off x="2472162" y="3941900"/>
          <a:ext cx="7345772" cy="2400656"/>
        </p:xfrm>
        <a:graphic>
          <a:graphicData uri="http://schemas.openxmlformats.org/drawingml/2006/table">
            <a:tbl>
              <a:tblPr>
                <a:tableStyleId>{35758FB7-9AC5-4552-8A53-C91805E547FA}</a:tableStyleId>
              </a:tblPr>
              <a:tblGrid>
                <a:gridCol w="1836443">
                  <a:extLst>
                    <a:ext uri="{9D8B030D-6E8A-4147-A177-3AD203B41FA5}">
                      <a16:colId xmlns:a16="http://schemas.microsoft.com/office/drawing/2014/main" val="2039533782"/>
                    </a:ext>
                  </a:extLst>
                </a:gridCol>
                <a:gridCol w="1836443">
                  <a:extLst>
                    <a:ext uri="{9D8B030D-6E8A-4147-A177-3AD203B41FA5}">
                      <a16:colId xmlns:a16="http://schemas.microsoft.com/office/drawing/2014/main" val="772923695"/>
                    </a:ext>
                  </a:extLst>
                </a:gridCol>
                <a:gridCol w="1836443">
                  <a:extLst>
                    <a:ext uri="{9D8B030D-6E8A-4147-A177-3AD203B41FA5}">
                      <a16:colId xmlns:a16="http://schemas.microsoft.com/office/drawing/2014/main" val="2665751151"/>
                    </a:ext>
                  </a:extLst>
                </a:gridCol>
                <a:gridCol w="1836443">
                  <a:extLst>
                    <a:ext uri="{9D8B030D-6E8A-4147-A177-3AD203B41FA5}">
                      <a16:colId xmlns:a16="http://schemas.microsoft.com/office/drawing/2014/main" val="1811437590"/>
                    </a:ext>
                  </a:extLst>
                </a:gridCol>
              </a:tblGrid>
              <a:tr h="600164">
                <a:tc>
                  <a:txBody>
                    <a:bodyPr/>
                    <a:lstStyle/>
                    <a:p>
                      <a:pPr algn="ctr" fontAlgn="ctr"/>
                      <a:r>
                        <a:rPr lang="en-IN" sz="2400" b="1" dirty="0">
                          <a:effectLst/>
                          <a:latin typeface="Trebuchet MS" panose="020B0603020202020204" pitchFamily="34" charset="0"/>
                        </a:rPr>
                        <a:t>Item (x</a:t>
                      </a:r>
                      <a:r>
                        <a:rPr lang="en-IN" sz="2400" b="1" baseline="-25000" dirty="0">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dirty="0">
                          <a:effectLst/>
                          <a:latin typeface="Trebuchet MS" panose="020B0603020202020204" pitchFamily="34" charset="0"/>
                        </a:rPr>
                        <a:t>Value (v</a:t>
                      </a:r>
                      <a:r>
                        <a:rPr lang="en-IN" sz="2400" b="1" baseline="-25000" dirty="0">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dirty="0">
                          <a:effectLst/>
                          <a:latin typeface="Trebuchet MS" panose="020B0603020202020204" pitchFamily="34" charset="0"/>
                        </a:rPr>
                        <a:t>Weight (</a:t>
                      </a:r>
                      <a:r>
                        <a:rPr lang="en-IN" sz="2400" b="1" dirty="0" err="1">
                          <a:effectLst/>
                          <a:latin typeface="Trebuchet MS" panose="020B0603020202020204" pitchFamily="34" charset="0"/>
                        </a:rPr>
                        <a:t>w</a:t>
                      </a:r>
                      <a:r>
                        <a:rPr lang="en-IN" sz="2400" b="1" baseline="-25000" dirty="0" err="1">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a:effectLst/>
                          <a:latin typeface="Trebuchet MS" panose="020B0603020202020204" pitchFamily="34" charset="0"/>
                        </a:rPr>
                        <a:t>p</a:t>
                      </a:r>
                      <a:r>
                        <a:rPr lang="en-IN" sz="2400" b="1" baseline="-25000">
                          <a:effectLst/>
                          <a:latin typeface="Trebuchet MS" panose="020B0603020202020204" pitchFamily="34" charset="0"/>
                        </a:rPr>
                        <a:t>i</a:t>
                      </a:r>
                      <a:r>
                        <a:rPr lang="en-IN" sz="2400" b="1">
                          <a:effectLst/>
                          <a:latin typeface="Trebuchet MS" panose="020B0603020202020204" pitchFamily="34" charset="0"/>
                        </a:rPr>
                        <a:t> = v</a:t>
                      </a:r>
                      <a:r>
                        <a:rPr lang="en-IN" sz="2400" b="1" baseline="-25000">
                          <a:effectLst/>
                          <a:latin typeface="Trebuchet MS" panose="020B0603020202020204" pitchFamily="34" charset="0"/>
                        </a:rPr>
                        <a:t>i</a:t>
                      </a:r>
                      <a:r>
                        <a:rPr lang="en-IN" sz="2400" b="1">
                          <a:effectLst/>
                          <a:latin typeface="Trebuchet MS" panose="020B0603020202020204" pitchFamily="34" charset="0"/>
                        </a:rPr>
                        <a:t> / w</a:t>
                      </a:r>
                      <a:r>
                        <a:rPr lang="en-IN" sz="2400" b="1" baseline="-25000">
                          <a:effectLst/>
                          <a:latin typeface="Trebuchet MS" panose="020B0603020202020204" pitchFamily="34" charset="0"/>
                        </a:rPr>
                        <a:t>i</a:t>
                      </a:r>
                      <a:endParaRPr lang="en-IN" sz="240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071707"/>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2</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1.67</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505396"/>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1</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24</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18</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1.33</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714074"/>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3</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20</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0.75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823853"/>
                  </a:ext>
                </a:extLst>
              </a:tr>
            </a:tbl>
          </a:graphicData>
        </a:graphic>
      </p:graphicFrame>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6367665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6334"/>
            <a:ext cx="12179300" cy="6883211"/>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2765F7E1-0CEF-49BE-9F30-1840A4529473}"/>
              </a:ext>
            </a:extLst>
          </p:cNvPr>
          <p:cNvSpPr txBox="1"/>
          <p:nvPr/>
        </p:nvSpPr>
        <p:spPr>
          <a:xfrm>
            <a:off x="206476" y="241946"/>
            <a:ext cx="9605076" cy="646331"/>
          </a:xfrm>
          <a:prstGeom prst="rect">
            <a:avLst/>
          </a:prstGeom>
          <a:noFill/>
        </p:spPr>
        <p:txBody>
          <a:bodyPr wrap="square">
            <a:spAutoFit/>
          </a:bodyPr>
          <a:lstStyle/>
          <a:p>
            <a:pPr marL="174625"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7" name="TextBox 6">
            <a:extLst>
              <a:ext uri="{FF2B5EF4-FFF2-40B4-BE49-F238E27FC236}">
                <a16:creationId xmlns:a16="http://schemas.microsoft.com/office/drawing/2014/main" id="{C9E6E857-92CB-7690-5DC6-9E79614DA56D}"/>
              </a:ext>
            </a:extLst>
          </p:cNvPr>
          <p:cNvSpPr txBox="1"/>
          <p:nvPr/>
        </p:nvSpPr>
        <p:spPr>
          <a:xfrm>
            <a:off x="530942" y="1135940"/>
            <a:ext cx="11280892" cy="5078313"/>
          </a:xfrm>
          <a:prstGeom prst="rect">
            <a:avLst/>
          </a:prstGeom>
          <a:noFill/>
        </p:spPr>
        <p:txBody>
          <a:bodyPr wrap="square">
            <a:spAutoFit/>
          </a:bodyPr>
          <a:lstStyle/>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We shall select one by one item from Table. </a:t>
            </a:r>
          </a:p>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If the inclusion of an item does not cross the knapsack capacity, then add it. Otherwise, break the current item and select only the portion of item equivalent to remaining knapsack capacity. Select the profit accordingly. </a:t>
            </a:r>
          </a:p>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We should stop when knapsack is full or all items are scanned.</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Initialize, Weight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SW = 0,</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Profit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SP = 0,</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Set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 = { },</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Here, Knapsack capacity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M = 20.</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2141060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18" y="0"/>
            <a:ext cx="12215179"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89E2BD7C-70E1-5459-D95F-F5ACF644442C}"/>
              </a:ext>
            </a:extLst>
          </p:cNvPr>
          <p:cNvSpPr txBox="1"/>
          <p:nvPr/>
        </p:nvSpPr>
        <p:spPr>
          <a:xfrm>
            <a:off x="235972" y="197701"/>
            <a:ext cx="9208177"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5" name="TextBox 4">
            <a:extLst>
              <a:ext uri="{FF2B5EF4-FFF2-40B4-BE49-F238E27FC236}">
                <a16:creationId xmlns:a16="http://schemas.microsoft.com/office/drawing/2014/main" id="{0A2E0F87-18BF-17CB-5FA6-7E6913939CD0}"/>
              </a:ext>
            </a:extLst>
          </p:cNvPr>
          <p:cNvSpPr txBox="1"/>
          <p:nvPr/>
        </p:nvSpPr>
        <p:spPr>
          <a:xfrm>
            <a:off x="349926" y="1143926"/>
            <a:ext cx="11492082" cy="5401479"/>
          </a:xfrm>
          <a:prstGeom prst="rect">
            <a:avLst/>
          </a:prstGeom>
          <a:noFill/>
        </p:spPr>
        <p:txBody>
          <a:bodyPr wrap="square">
            <a:spAutoFit/>
          </a:bodyPr>
          <a:lstStyle/>
          <a:p>
            <a:pPr marL="342900" marR="0" lvl="0" indent="-342900" algn="l" defTabSz="914400" rtl="0" eaLnBrk="1" fontAlgn="base" latinLnBrk="0" hangingPunct="1">
              <a:lnSpc>
                <a:spcPct val="100000"/>
              </a:lnSpc>
              <a:spcBef>
                <a:spcPts val="1200"/>
              </a:spcBef>
              <a:spcAft>
                <a:spcPts val="60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Iteration 1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endPar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1200"/>
              </a:spcBef>
              <a:spcAft>
                <a:spcPts val="600"/>
              </a:spcAft>
              <a:buClrTx/>
              <a:buSzTx/>
              <a:buFontTx/>
              <a:buNone/>
              <a:tabLst/>
              <a:defRPr/>
            </a:pPr>
            <a:r>
              <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SW</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(SW + w</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0 + 15 = 15</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SW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M</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so select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S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SW = 15, SP = 0 + 25 = 25</a:t>
            </a:r>
          </a:p>
          <a:p>
            <a:pPr marL="342900" marR="0" lvl="0" indent="-342900" algn="l" defTabSz="914400" rtl="0" eaLnBrk="1" fontAlgn="base" latinLnBrk="0" hangingPunct="1">
              <a:lnSpc>
                <a:spcPct val="100000"/>
              </a:lnSpc>
              <a:spcBef>
                <a:spcPts val="1200"/>
              </a:spcBef>
              <a:spcAft>
                <a:spcPts val="60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Iteration 2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endPar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1200"/>
              </a:spcBef>
              <a:spcAft>
                <a:spcPts val="600"/>
              </a:spcAft>
              <a:buClrTx/>
              <a:buSzTx/>
              <a:buFontTx/>
              <a:buNone/>
              <a:tabLst/>
              <a:defRPr/>
            </a:pP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SW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w</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&gt; M</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so break down item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The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remaining capacity of the knapsack is 5 unit, so select only 5 units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of</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item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frac</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(M – SW) / W[</a:t>
            </a:r>
            <a:r>
              <a:rPr kumimoji="0" lang="en-IN" sz="24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(20 – 15) / 18 = 5 / 18</a:t>
            </a:r>
          </a:p>
          <a:p>
            <a:pPr marL="457200" marR="0" lvl="1" indent="0" algn="l" defTabSz="914400" rtl="0" eaLnBrk="1" fontAlgn="base" latinLnBrk="0" hangingPunct="1">
              <a:lnSpc>
                <a:spcPct val="100000"/>
              </a:lnSpc>
              <a:spcBef>
                <a:spcPts val="600"/>
              </a:spcBef>
              <a:spcAft>
                <a:spcPts val="600"/>
              </a:spcAft>
              <a:buClrTx/>
              <a:buSzTx/>
              <a:buFontTx/>
              <a:buNone/>
              <a:tabLst/>
              <a:defRPr/>
            </a:pPr>
            <a:endParaRPr kumimoji="0" lang="en-IN" sz="2400" b="0" i="0" u="none" strike="noStrike" kern="1200" cap="none" spc="0" normalizeH="0" baseline="0" noProof="0" dirty="0">
              <a:ln>
                <a:noFill/>
              </a:ln>
              <a:solidFill>
                <a:srgbClr val="000000"/>
              </a:solidFill>
              <a:effectLst/>
              <a:uLnTx/>
              <a:uFillTx/>
              <a:latin typeface="Corbel" panose="020B0503020204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8629824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18" y="0"/>
            <a:ext cx="12215179"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89E2BD7C-70E1-5459-D95F-F5ACF644442C}"/>
              </a:ext>
            </a:extLst>
          </p:cNvPr>
          <p:cNvSpPr txBox="1"/>
          <p:nvPr/>
        </p:nvSpPr>
        <p:spPr>
          <a:xfrm>
            <a:off x="235972" y="197701"/>
            <a:ext cx="9208177"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5" name="TextBox 4">
            <a:extLst>
              <a:ext uri="{FF2B5EF4-FFF2-40B4-BE49-F238E27FC236}">
                <a16:creationId xmlns:a16="http://schemas.microsoft.com/office/drawing/2014/main" id="{0A2E0F87-18BF-17CB-5FA6-7E6913939CD0}"/>
              </a:ext>
            </a:extLst>
          </p:cNvPr>
          <p:cNvSpPr txBox="1"/>
          <p:nvPr/>
        </p:nvSpPr>
        <p:spPr>
          <a:xfrm>
            <a:off x="367866" y="1311638"/>
            <a:ext cx="10822648" cy="5139869"/>
          </a:xfrm>
          <a:prstGeom prst="rect">
            <a:avLst/>
          </a:prstGeom>
          <a:noFill/>
        </p:spPr>
        <p:txBody>
          <a:bodyPr wrap="square">
            <a:spAutoFit/>
          </a:bodyPr>
          <a:lstStyle/>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frac</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 (M – SW) / W[</a:t>
            </a: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 (20 – 15) / 18 = 5 / 18</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S = { I</a:t>
            </a:r>
            <a:r>
              <a:rPr kumimoji="0" lang="en-IN" sz="2400" b="0"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2, 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1 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5/18 }</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SP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SP + v</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 frac</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25 + (24 * (5/18)) = 25 + 6.67 = 31.67</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SW = SW + w</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 frac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15 + (18 * (5/18)) = 15 + 5 = 20</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knapsack is full.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Fractional Greedy algorithm selects items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I2, I1 * 5/18 }, and it gives a profit of </a:t>
            </a:r>
            <a:r>
              <a:rPr kumimoji="0" lang="en-IN" sz="2400" b="1" i="0" u="sng" strike="noStrike" kern="1200" cap="none" spc="0" normalizeH="0" baseline="0" noProof="0" dirty="0">
                <a:ln>
                  <a:noFill/>
                </a:ln>
                <a:solidFill>
                  <a:srgbClr val="FF0000"/>
                </a:solidFill>
                <a:effectLst/>
                <a:uLnTx/>
                <a:uFillTx/>
                <a:latin typeface="Trebuchet MS" panose="020B0603020202020204" pitchFamily="34" charset="0"/>
                <a:ea typeface="+mn-ea"/>
                <a:cs typeface="+mn-cs"/>
              </a:rPr>
              <a:t>31.67 units</a:t>
            </a:r>
            <a:r>
              <a:rPr kumimoji="0" lang="en-IN"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Note:</a:t>
            </a:r>
            <a:r>
              <a:rPr kumimoji="0" lang="en-US" sz="2400" b="1"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No.of iterations will be depends on the given problem.</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50000"/>
              </a:lnSpc>
              <a:spcBef>
                <a:spcPts val="600"/>
              </a:spcBef>
              <a:spcAft>
                <a:spcPts val="600"/>
              </a:spcAft>
              <a:buClrTx/>
              <a:buSzTx/>
              <a:buFontTx/>
              <a:buNone/>
              <a:tabLst/>
              <a:defRPr/>
            </a:pPr>
            <a:endParaRPr kumimoji="0" lang="en-IN" sz="2400" b="0" i="0" u="none" strike="noStrike" kern="1200" cap="none" spc="0" normalizeH="0" baseline="0" noProof="0" dirty="0">
              <a:ln>
                <a:noFill/>
              </a:ln>
              <a:solidFill>
                <a:srgbClr val="000000"/>
              </a:solidFill>
              <a:effectLst/>
              <a:uLnTx/>
              <a:uFillTx/>
              <a:latin typeface="Corbel" panose="020B0503020204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6858026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33966"/>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4625"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CDDEC25-0DDF-7800-A947-14B2302E3A97}"/>
                  </a:ext>
                </a:extLst>
              </p:cNvPr>
              <p:cNvSpPr txBox="1"/>
              <p:nvPr/>
            </p:nvSpPr>
            <p:spPr>
              <a:xfrm>
                <a:off x="508904" y="1815972"/>
                <a:ext cx="11342830" cy="4112921"/>
              </a:xfrm>
              <a:prstGeom prst="rect">
                <a:avLst/>
              </a:prstGeom>
              <a:noFill/>
            </p:spPr>
            <p:txBody>
              <a:bodyPr wrap="square">
                <a:spAutoFit/>
              </a:bodyPr>
              <a:lstStyle/>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8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Find the optimal solution for knapsack problem (fraction) where knapsack capacity = 28, P = {9, 5, 2, 7, 6, 16, 3} and w = {2, 5, 6, 11, 1, 9, 1</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and write down the maximum profit.</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Consider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Knapsack capacity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=50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(10, 20, 40)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v</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(60, 80,100)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find the maximum profit using greedy approach.</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Consider Knapsack capacity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=(4, 8, 2, 6, 1)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v</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(12, 32, 40, 30, 50)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Find the maximum profit using greedy approach.</a:t>
                </a:r>
              </a:p>
              <a:p>
                <a:pPr marL="0" marR="0" lvl="0" indent="0" algn="just" defTabSz="914400" rtl="0" eaLnBrk="1" fontAlgn="auto" latinLnBrk="0" hangingPunct="1">
                  <a:lnSpc>
                    <a:spcPct val="90000"/>
                  </a:lnSpc>
                  <a:spcBef>
                    <a:spcPts val="1000"/>
                  </a:spcBef>
                  <a:spcAft>
                    <a:spcPts val="0"/>
                  </a:spcAft>
                  <a:buClr>
                    <a:srgbClr val="B84742"/>
                  </a:buClr>
                  <a:buSzTx/>
                  <a:buFontTx/>
                  <a:buNone/>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4" name="TextBox 3">
                <a:extLst>
                  <a:ext uri="{FF2B5EF4-FFF2-40B4-BE49-F238E27FC236}">
                    <a16:creationId xmlns:a16="http://schemas.microsoft.com/office/drawing/2014/main" id="{9CDDEC25-0DDF-7800-A947-14B2302E3A97}"/>
                  </a:ext>
                </a:extLst>
              </p:cNvPr>
              <p:cNvSpPr txBox="1">
                <a:spLocks noRot="1" noChangeAspect="1" noMove="1" noResize="1" noEditPoints="1" noAdjustHandles="1" noChangeArrowheads="1" noChangeShapeType="1" noTextEdit="1"/>
              </p:cNvSpPr>
              <p:nvPr/>
            </p:nvSpPr>
            <p:spPr>
              <a:xfrm>
                <a:off x="508904" y="1815972"/>
                <a:ext cx="11342830" cy="4112921"/>
              </a:xfrm>
              <a:prstGeom prst="rect">
                <a:avLst/>
              </a:prstGeom>
              <a:blipFill>
                <a:blip r:embed="rId5"/>
                <a:stretch>
                  <a:fillRect l="-752" r="-806"/>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1BF9936D-BFC1-2298-FA58-31E08C09D43A}"/>
              </a:ext>
            </a:extLst>
          </p:cNvPr>
          <p:cNvSpPr txBox="1"/>
          <p:nvPr/>
        </p:nvSpPr>
        <p:spPr>
          <a:xfrm>
            <a:off x="502586" y="1252567"/>
            <a:ext cx="6493708"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smtClean="0">
                <a:ln>
                  <a:noFill/>
                </a:ln>
                <a:solidFill>
                  <a:srgbClr val="212121">
                    <a:lumMod val="90000"/>
                    <a:lumOff val="10000"/>
                  </a:srgbClr>
                </a:solidFill>
                <a:effectLst/>
                <a:uLnTx/>
                <a:uFillTx/>
                <a:latin typeface="Trebuchet MS" panose="020B0603020202020204" pitchFamily="34" charset="0"/>
                <a:ea typeface="+mn-ea"/>
                <a:cs typeface="+mn-cs"/>
              </a:rPr>
              <a:t>Exercises</a:t>
            </a:r>
            <a:endPar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405334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3540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TextBox 3">
            <a:extLst>
              <a:ext uri="{FF2B5EF4-FFF2-40B4-BE49-F238E27FC236}">
                <a16:creationId xmlns:a16="http://schemas.microsoft.com/office/drawing/2014/main" id="{9CDDEC25-0DDF-7800-A947-14B2302E3A97}"/>
              </a:ext>
            </a:extLst>
          </p:cNvPr>
          <p:cNvSpPr txBox="1"/>
          <p:nvPr/>
        </p:nvSpPr>
        <p:spPr>
          <a:xfrm>
            <a:off x="755736" y="1351634"/>
            <a:ext cx="10541530" cy="4969566"/>
          </a:xfrm>
          <a:prstGeom prst="rect">
            <a:avLst/>
          </a:prstGeom>
          <a:noFill/>
        </p:spPr>
        <p:txBody>
          <a:bodyPr wrap="square">
            <a:spAutoFit/>
          </a:bodyPr>
          <a:lstStyle/>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Job scheduling is the problem of </a:t>
            </a:r>
            <a:r>
              <a:rPr lang="en-IN" sz="2800" dirty="0">
                <a:solidFill>
                  <a:srgbClr val="CC3399"/>
                </a:solidFill>
                <a:latin typeface="Trebuchet MS" panose="020B0603020202020204" pitchFamily="34" charset="0"/>
              </a:rPr>
              <a:t>scheduling jobs out of a set of N </a:t>
            </a:r>
            <a:r>
              <a:rPr lang="en-IN" sz="2800" dirty="0">
                <a:latin typeface="Trebuchet MS" panose="020B0603020202020204" pitchFamily="34" charset="0"/>
              </a:rPr>
              <a:t>jobs on a single processor which maximizes profit as much as possible. </a:t>
            </a:r>
          </a:p>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Consider </a:t>
            </a:r>
            <a:r>
              <a:rPr lang="en-IN" sz="2800" dirty="0">
                <a:solidFill>
                  <a:srgbClr val="CC3399"/>
                </a:solidFill>
                <a:latin typeface="Trebuchet MS" panose="020B0603020202020204" pitchFamily="34" charset="0"/>
              </a:rPr>
              <a:t>N jobs</a:t>
            </a:r>
            <a:r>
              <a:rPr lang="en-IN" sz="2800" dirty="0">
                <a:latin typeface="Trebuchet MS" panose="020B0603020202020204" pitchFamily="34" charset="0"/>
              </a:rPr>
              <a:t>, each taking unit time for execution. Each job is having some </a:t>
            </a:r>
            <a:r>
              <a:rPr lang="en-IN" sz="2800" dirty="0">
                <a:solidFill>
                  <a:srgbClr val="CC3399"/>
                </a:solidFill>
                <a:latin typeface="Trebuchet MS" panose="020B0603020202020204" pitchFamily="34" charset="0"/>
              </a:rPr>
              <a:t>profit </a:t>
            </a:r>
            <a:r>
              <a:rPr lang="en-IN" sz="2800" dirty="0">
                <a:latin typeface="Trebuchet MS" panose="020B0603020202020204" pitchFamily="34" charset="0"/>
              </a:rPr>
              <a:t>and</a:t>
            </a:r>
            <a:r>
              <a:rPr lang="en-IN" sz="2800" dirty="0">
                <a:solidFill>
                  <a:srgbClr val="CC3399"/>
                </a:solidFill>
                <a:latin typeface="Trebuchet MS" panose="020B0603020202020204" pitchFamily="34" charset="0"/>
              </a:rPr>
              <a:t> deadline </a:t>
            </a:r>
            <a:r>
              <a:rPr lang="en-IN" sz="2800" dirty="0">
                <a:latin typeface="Trebuchet MS" panose="020B0603020202020204" pitchFamily="34" charset="0"/>
              </a:rPr>
              <a:t>associated with it. Profit earned only if the job is completed on or before its deadline. Otherwise, we have to pay a profit as a penalty. </a:t>
            </a:r>
          </a:p>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Each job has deadline </a:t>
            </a:r>
            <a:r>
              <a:rPr lang="en-IN" sz="2800" b="1" dirty="0">
                <a:solidFill>
                  <a:srgbClr val="CC3399"/>
                </a:solidFill>
                <a:latin typeface="Trebuchet MS" panose="020B0603020202020204" pitchFamily="34" charset="0"/>
              </a:rPr>
              <a:t>di ≥ 1 and profit pi ≥ 0</a:t>
            </a:r>
            <a:r>
              <a:rPr lang="en-IN" sz="2800" dirty="0">
                <a:latin typeface="Trebuchet MS" panose="020B0603020202020204" pitchFamily="34" charset="0"/>
              </a:rPr>
              <a:t>. At a time, only one job can be active on the processor.</a:t>
            </a:r>
            <a:endParaRPr lang="en-US" sz="2800" dirty="0">
              <a:latin typeface="Trebuchet MS" panose="020B0603020202020204" pitchFamily="34" charset="0"/>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482377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3540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1C3C3A-4B1C-8BA9-99E5-685996D7B6C6}"/>
                  </a:ext>
                </a:extLst>
              </p:cNvPr>
              <p:cNvSpPr txBox="1"/>
              <p:nvPr/>
            </p:nvSpPr>
            <p:spPr>
              <a:xfrm>
                <a:off x="849482" y="1132863"/>
                <a:ext cx="10564729" cy="5324535"/>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We have set of</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 </a:t>
                </a:r>
                <a14:m>
                  <m:oMath xmlns:m="http://schemas.openxmlformats.org/officeDocument/2006/math">
                    <m: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t>𝒏</m:t>
                    </m:r>
                  </m:oMath>
                </a14:m>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jobs to execute, each of which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takes unit time</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any point of time we can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execute only one job.</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Job</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t>𝒊</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earns profit </a:t>
                </a:r>
                <a14:m>
                  <m:oMath xmlns:m="http://schemas.openxmlformats.org/officeDocument/2006/math">
                    <m:sSub>
                      <m:sSubPr>
                        <m:ctrlP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ctrlPr>
                      </m:sSubPr>
                      <m:e>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𝒈</m:t>
                        </m:r>
                      </m:e>
                      <m: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𝒊</m:t>
                        </m:r>
                      </m:sub>
                    </m:s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&gt; </m:t>
                    </m:r>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𝟎</m:t>
                    </m:r>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if and only if it is executed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no later than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its deadline </a:t>
                </a:r>
                <a14:m>
                  <m:oMath xmlns:m="http://schemas.openxmlformats.org/officeDocument/2006/math">
                    <m:sSub>
                      <m:sSubPr>
                        <m:ctrlP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ctrlPr>
                      </m:sSubPr>
                      <m:e>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𝒅</m:t>
                        </m:r>
                      </m:e>
                      <m: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𝒊</m:t>
                        </m:r>
                      </m:sub>
                    </m:sSub>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rPr>
                      <m:t>.</m:t>
                    </m:r>
                  </m:oMath>
                </a14:m>
                <a:endPar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ndParaRP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We have to find an optimal sequence of jobs such that our total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profit is maximized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Feasible jobs: </a:t>
                </a:r>
                <a:r>
                  <a:rPr kumimoji="0" lang="en-US" sz="2800" b="0" i="0" u="none" strike="noStrike" kern="1200" cap="none" spc="0" normalizeH="0" baseline="0" noProof="0" dirty="0">
                    <a:ln>
                      <a:noFill/>
                    </a:ln>
                    <a:effectLst/>
                    <a:uLnTx/>
                    <a:uFillTx/>
                    <a:latin typeface="Trebuchet MS" panose="020B0603020202020204" pitchFamily="34" charset="0"/>
                  </a:rPr>
                  <a:t>A set of job is feasible if there exits </a:t>
                </a:r>
                <a:r>
                  <a:rPr kumimoji="0" lang="en-US" sz="2800" b="1" i="0" u="none" strike="noStrike" kern="1200" cap="none" spc="0" normalizeH="0" baseline="0" noProof="0" dirty="0">
                    <a:ln>
                      <a:noFill/>
                    </a:ln>
                    <a:effectLst/>
                    <a:uLnTx/>
                    <a:uFillTx/>
                    <a:latin typeface="Trebuchet MS" panose="020B0603020202020204" pitchFamily="34" charset="0"/>
                  </a:rPr>
                  <a:t>at least one sequence </a:t>
                </a:r>
                <a:r>
                  <a:rPr kumimoji="0" lang="en-US" sz="2800" b="0" i="0" u="none" strike="noStrike" kern="1200" cap="none" spc="0" normalizeH="0" baseline="0" noProof="0" dirty="0">
                    <a:ln>
                      <a:noFill/>
                    </a:ln>
                    <a:effectLst/>
                    <a:uLnTx/>
                    <a:uFillTx/>
                    <a:latin typeface="Trebuchet MS" panose="020B0603020202020204" pitchFamily="34" charset="0"/>
                  </a:rPr>
                  <a:t>that allows all the jobs in the set to be executed no later than their respective deadlines.</a:t>
                </a:r>
              </a:p>
            </p:txBody>
          </p:sp>
        </mc:Choice>
        <mc:Fallback xmlns="">
          <p:sp>
            <p:nvSpPr>
              <p:cNvPr id="5" name="TextBox 4">
                <a:extLst>
                  <a:ext uri="{FF2B5EF4-FFF2-40B4-BE49-F238E27FC236}">
                    <a16:creationId xmlns:a16="http://schemas.microsoft.com/office/drawing/2014/main" id="{5D1C3C3A-4B1C-8BA9-99E5-685996D7B6C6}"/>
                  </a:ext>
                </a:extLst>
              </p:cNvPr>
              <p:cNvSpPr txBox="1">
                <a:spLocks noRot="1" noChangeAspect="1" noMove="1" noResize="1" noEditPoints="1" noAdjustHandles="1" noChangeArrowheads="1" noChangeShapeType="1" noTextEdit="1"/>
              </p:cNvSpPr>
              <p:nvPr/>
            </p:nvSpPr>
            <p:spPr>
              <a:xfrm>
                <a:off x="849482" y="1132863"/>
                <a:ext cx="10564729" cy="5324535"/>
              </a:xfrm>
              <a:prstGeom prst="rect">
                <a:avLst/>
              </a:prstGeom>
              <a:blipFill>
                <a:blip r:embed="rId5"/>
                <a:stretch>
                  <a:fillRect l="-1039" t="-1145" r="-1212" b="-2405"/>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497676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TextBox 3">
            <a:extLst>
              <a:ext uri="{FF2B5EF4-FFF2-40B4-BE49-F238E27FC236}">
                <a16:creationId xmlns:a16="http://schemas.microsoft.com/office/drawing/2014/main" id="{4AC41825-A2AB-87AB-CCF5-63310FCB90C0}"/>
              </a:ext>
            </a:extLst>
          </p:cNvPr>
          <p:cNvSpPr txBox="1"/>
          <p:nvPr/>
        </p:nvSpPr>
        <p:spPr>
          <a:xfrm>
            <a:off x="421875" y="1001169"/>
            <a:ext cx="6194322" cy="6035498"/>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0070C0"/>
                </a:solidFill>
                <a:effectLst/>
                <a:uLnTx/>
                <a:uFillTx/>
                <a:latin typeface="Trebuchet MS" panose="020B0603020202020204" pitchFamily="34" charset="0"/>
              </a:rPr>
              <a:t>Algorithm</a:t>
            </a:r>
            <a:r>
              <a:rPr kumimoji="0" lang="en-IN" sz="20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JOB_SCHEDULING( J, D, P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FF0000"/>
                </a:solidFill>
                <a:effectLst/>
                <a:uLnTx/>
                <a:uFillTx/>
                <a:latin typeface="Trebuchet MS" panose="020B0603020202020204" pitchFamily="34" charset="0"/>
              </a:rPr>
              <a:t>// Description :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Schedule the jobs using the greedy approach which maximizes the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 Input : </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J: Array of N jobs</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D: Array of the deadline for each job</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P: Array of profit associated with each job</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 Output :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Set of scheduled job which gives maximum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Sort all jobs in J in decreasing order of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 ← Φ	// S is set of scheduled jobs, initially it is empty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SP ← 0	// Sum is the profit earned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for </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 1 to N do</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if Job J[</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is feasible then</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lang="en-IN" dirty="0"/>
          </a:p>
        </p:txBody>
      </p:sp>
      <p:sp>
        <p:nvSpPr>
          <p:cNvPr id="7" name="TextBox 6">
            <a:extLst>
              <a:ext uri="{FF2B5EF4-FFF2-40B4-BE49-F238E27FC236}">
                <a16:creationId xmlns:a16="http://schemas.microsoft.com/office/drawing/2014/main" id="{4F1197DC-539C-E77F-7ABC-7297025F380B}"/>
              </a:ext>
            </a:extLst>
          </p:cNvPr>
          <p:cNvSpPr txBox="1"/>
          <p:nvPr/>
        </p:nvSpPr>
        <p:spPr>
          <a:xfrm>
            <a:off x="7074977" y="1108784"/>
            <a:ext cx="4736857" cy="2267287"/>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b="0" i="0" u="none" strike="noStrike" kern="1200" cap="none" spc="0" normalizeH="0" baseline="0" noProof="0" dirty="0">
                <a:ln>
                  <a:noFill/>
                </a:ln>
                <a:solidFill>
                  <a:srgbClr val="212121"/>
                </a:solidFill>
                <a:effectLst/>
                <a:uLnTx/>
                <a:uFillTx/>
                <a:latin typeface="Roboto Condensed"/>
                <a:ea typeface="+mn-ea"/>
                <a:cs typeface="+mn-cs"/>
              </a:rPr>
              <a:t>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Schedule the job in the latest possible free slot meeting its deadline.</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S ← S ∪ J[</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SP ← SP + P[</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end</a:t>
            </a:r>
            <a:endParaRPr lang="en-IN" dirty="0">
              <a:latin typeface="Trebuchet MS" panose="020B0603020202020204" pitchFamily="34" charset="0"/>
            </a:endParaRPr>
          </a:p>
        </p:txBody>
      </p:sp>
      <p:cxnSp>
        <p:nvCxnSpPr>
          <p:cNvPr id="5" name="Straight Connector 4">
            <a:extLst>
              <a:ext uri="{FF2B5EF4-FFF2-40B4-BE49-F238E27FC236}">
                <a16:creationId xmlns:a16="http://schemas.microsoft.com/office/drawing/2014/main" id="{F410B449-4093-D1D1-42B1-C45EA436D6BF}"/>
              </a:ext>
            </a:extLst>
          </p:cNvPr>
          <p:cNvCxnSpPr>
            <a:cxnSpLocks/>
          </p:cNvCxnSpPr>
          <p:nvPr/>
        </p:nvCxnSpPr>
        <p:spPr>
          <a:xfrm>
            <a:off x="6904657" y="930270"/>
            <a:ext cx="0" cy="573002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0726938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59657" y="197701"/>
            <a:ext cx="8630382"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C053128-D962-4D7E-71FF-3E4F5ECB9A95}"/>
                  </a:ext>
                </a:extLst>
              </p:cNvPr>
              <p:cNvSpPr txBox="1">
                <a:spLocks/>
              </p:cNvSpPr>
              <p:nvPr/>
            </p:nvSpPr>
            <p:spPr>
              <a:xfrm>
                <a:off x="449944" y="1069317"/>
                <a:ext cx="1107343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
                    <a:srgbClr val="B84742"/>
                  </a:buClr>
                  <a:buSzTx/>
                  <a:buNone/>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𝟔</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R="0" lvl="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Profits:</a:t>
                </a:r>
                <a:r>
                  <a:rPr kumimoji="0" lang="en-US" sz="2400" b="0" i="0" u="none" strike="noStrike" kern="1200" cap="none" spc="0" normalizeH="0" baseline="0" noProof="0" dirty="0">
                    <a:ln>
                      <a:noFill/>
                    </a:ln>
                    <a:solidFill>
                      <a:srgbClr val="C00000"/>
                    </a:solidFill>
                    <a:effectLst/>
                    <a:uLnTx/>
                    <a:uFillTx/>
                    <a:latin typeface="Trebuchet MS" panose="020B0603020202020204" pitchFamily="34" charset="0"/>
                  </a:rPr>
                  <a:t> </a:t>
                </a:r>
                <a14:m>
                  <m:oMath xmlns:m="http://schemas.openxmlformats.org/officeDocument/2006/math">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1</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2</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3</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4</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5</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6</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 = (15,20,10,7,5,3) </m:t>
                    </m:r>
                    <m:r>
                      <a:rPr kumimoji="0" lang="en-US" sz="2400" b="0" i="1" u="none" strike="noStrike" kern="1200" cap="none" spc="0" normalizeH="0" baseline="0" noProof="0" dirty="0">
                        <a:ln>
                          <a:noFill/>
                        </a:ln>
                        <a:solidFill>
                          <a:srgbClr val="C00000"/>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C00000"/>
                    </a:solidFill>
                    <a:effectLst/>
                    <a:uLnTx/>
                    <a:uFillTx/>
                    <a:latin typeface="Trebuchet MS" panose="020B0603020202020204" pitchFamily="34" charset="0"/>
                  </a:rPr>
                  <a:t>&amp;</a:t>
                </a:r>
              </a:p>
              <a:p>
                <a:pPr marR="0" lvl="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lang="en-US" dirty="0">
                    <a:solidFill>
                      <a:srgbClr val="0070C0"/>
                    </a:solidFill>
                    <a:latin typeface="Trebuchet MS" panose="020B0603020202020204" pitchFamily="34" charset="0"/>
                  </a:rPr>
                  <a:t>Deadline:</a:t>
                </a:r>
                <a:r>
                  <a:rPr lang="en-US" dirty="0">
                    <a:solidFill>
                      <a:srgbClr val="212121"/>
                    </a:solidFill>
                    <a:latin typeface="Trebuchet MS" panose="020B0603020202020204" pitchFamily="34" charset="0"/>
                  </a:rPr>
                  <a:t> </a:t>
                </a:r>
                <a14:m>
                  <m:oMath xmlns:m="http://schemas.openxmlformats.org/officeDocument/2006/math">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1</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2</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3</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4</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5</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6</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 = (1, 3, 1, 3, 1, 3)</m:t>
                    </m:r>
                  </m:oMath>
                </a14:m>
                <a:endParaRPr kumimoji="0" lang="en-US" sz="2400" b="0" i="0" u="none" strike="noStrike" kern="1200" cap="none" spc="0" normalizeH="0" baseline="0" noProof="0" dirty="0">
                  <a:ln>
                    <a:noFill/>
                  </a:ln>
                  <a:solidFill>
                    <a:schemeClr val="tx1"/>
                  </a:solidFill>
                  <a:effectLst/>
                  <a:uLnTx/>
                  <a:uFillTx/>
                  <a:latin typeface="Trebuchet MS" panose="020B0603020202020204" pitchFamily="34" charset="0"/>
                </a:endParaRPr>
              </a:p>
              <a:p>
                <a:pPr marL="0" indent="0">
                  <a:buClr>
                    <a:srgbClr val="B84742"/>
                  </a:buClr>
                  <a:buNone/>
                </a:pPr>
                <a:endParaRPr kumimoji="0" lang="en-US" sz="2400" b="0" i="0" u="none" strike="noStrike" kern="1200" cap="none" spc="0" normalizeH="0" baseline="0" noProof="0" dirty="0">
                  <a:ln>
                    <a:noFill/>
                  </a:ln>
                  <a:solidFill>
                    <a:srgbClr val="0066FF"/>
                  </a:solidFill>
                  <a:effectLst/>
                  <a:uLnTx/>
                  <a:uFillTx/>
                  <a:latin typeface="Trebuchet MS" panose="020B0603020202020204" pitchFamily="34" charset="0"/>
                </a:endParaRPr>
              </a:p>
              <a:p>
                <a:pPr marL="0" indent="0">
                  <a:buClr>
                    <a:srgbClr val="B84742"/>
                  </a:buClr>
                  <a:buNone/>
                </a:pPr>
                <a:r>
                  <a:rPr kumimoji="0" lang="en-US" sz="2400" b="1" i="0" strike="noStrike" kern="1200" cap="none" spc="0" normalizeH="0" baseline="0" noProof="0" dirty="0">
                    <a:ln>
                      <a:noFill/>
                    </a:ln>
                    <a:effectLst/>
                    <a:uLnTx/>
                    <a:uFillTx/>
                    <a:latin typeface="Trebuchet MS" panose="020B0603020202020204" pitchFamily="34" charset="0"/>
                  </a:rPr>
                  <a:t>Solution:</a:t>
                </a:r>
              </a:p>
              <a:p>
                <a:pPr marL="0" indent="0">
                  <a:buClr>
                    <a:srgbClr val="B84742"/>
                  </a:buClr>
                  <a:buNone/>
                </a:pPr>
                <a:endParaRPr kumimoji="0" lang="en-US" sz="2400" b="0" i="0" u="none" strike="noStrike" kern="1200" cap="none" spc="0" normalizeH="0" baseline="0" noProof="0" dirty="0">
                  <a:ln>
                    <a:noFill/>
                  </a:ln>
                  <a:solidFill>
                    <a:srgbClr val="0066FF"/>
                  </a:solidFill>
                  <a:effectLst/>
                  <a:uLnTx/>
                  <a:uFillTx/>
                  <a:latin typeface="Corbel" panose="020B0503020204020204" pitchFamily="34" charset="0"/>
                </a:endParaRPr>
              </a:p>
              <a:p>
                <a:pPr marL="400050" marR="0" lvl="1" indent="0" algn="just" defTabSz="914400" rtl="0" eaLnBrk="1" fontAlgn="auto" latinLnBrk="0" hangingPunct="1">
                  <a:lnSpc>
                    <a:spcPct val="90000"/>
                  </a:lnSpc>
                  <a:spcBef>
                    <a:spcPts val="500"/>
                  </a:spcBef>
                  <a:spcAft>
                    <a:spcPts val="0"/>
                  </a:spcAft>
                  <a:buClr>
                    <a:srgbClr val="B84742"/>
                  </a:buClr>
                  <a:buSzTx/>
                  <a:buNone/>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Sort the jobs in </a:t>
                </a:r>
                <a:r>
                  <a:rPr kumimoji="0" lang="en-US" sz="2400" b="1" i="0" u="none" strike="noStrike" kern="1200" cap="none" spc="0" normalizeH="0" baseline="0" noProof="0" dirty="0">
                    <a:ln>
                      <a:noFill/>
                    </a:ln>
                    <a:solidFill>
                      <a:srgbClr val="AD1457"/>
                    </a:solidFill>
                    <a:effectLst/>
                    <a:uLnTx/>
                    <a:uFillTx/>
                    <a:latin typeface="Corbel" panose="020B0503020204020204" pitchFamily="34" charset="0"/>
                  </a:rPr>
                  <a:t>decreasing order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of their profit.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DC053128-D962-4D7E-71FF-3E4F5ECB9A95}"/>
                  </a:ext>
                </a:extLst>
              </p:cNvPr>
              <p:cNvSpPr txBox="1">
                <a:spLocks noRot="1" noChangeAspect="1" noMove="1" noResize="1" noEditPoints="1" noAdjustHandles="1" noChangeArrowheads="1" noChangeShapeType="1" noTextEdit="1"/>
              </p:cNvSpPr>
              <p:nvPr/>
            </p:nvSpPr>
            <p:spPr>
              <a:xfrm>
                <a:off x="449944" y="1069317"/>
                <a:ext cx="11073430" cy="5590565"/>
              </a:xfrm>
              <a:prstGeom prst="rect">
                <a:avLst/>
              </a:prstGeom>
              <a:blipFill>
                <a:blip r:embed="rId5"/>
                <a:stretch>
                  <a:fillRect l="-881" t="-15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3C2C881-C2AF-6C69-1C5D-490275287B77}"/>
                  </a:ext>
                </a:extLst>
              </p:cNvPr>
              <p:cNvGraphicFramePr>
                <a:graphicFrameLocks noGrp="1"/>
              </p:cNvGraphicFramePr>
              <p:nvPr>
                <p:extLst>
                  <p:ext uri="{D42A27DB-BD31-4B8C-83A1-F6EECF244321}">
                    <p14:modId xmlns:p14="http://schemas.microsoft.com/office/powerpoint/2010/main" val="3882396553"/>
                  </p:ext>
                </p:extLst>
              </p:nvPr>
            </p:nvGraphicFramePr>
            <p:xfrm>
              <a:off x="2032265" y="4513027"/>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6" name="Table 5">
                <a:extLst>
                  <a:ext uri="{FF2B5EF4-FFF2-40B4-BE49-F238E27FC236}">
                    <a16:creationId xmlns:a16="http://schemas.microsoft.com/office/drawing/2014/main" id="{A3C2C881-C2AF-6C69-1C5D-490275287B77}"/>
                  </a:ext>
                </a:extLst>
              </p:cNvPr>
              <p:cNvGraphicFramePr>
                <a:graphicFrameLocks noGrp="1"/>
              </p:cNvGraphicFramePr>
              <p:nvPr>
                <p:extLst>
                  <p:ext uri="{D42A27DB-BD31-4B8C-83A1-F6EECF244321}">
                    <p14:modId xmlns:p14="http://schemas.microsoft.com/office/powerpoint/2010/main" val="3882396553"/>
                  </p:ext>
                </p:extLst>
              </p:nvPr>
            </p:nvGraphicFramePr>
            <p:xfrm>
              <a:off x="2032265" y="4513027"/>
              <a:ext cx="6141721" cy="1279779"/>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11429" r="-250694"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11429" r="-5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11429" r="-4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11429" r="-3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11429" r="-2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11429" r="-1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11429" r="-1667" b="-238571"/>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109859" r="-250694"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109859" r="-5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109859" r="-4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109859" r="-3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109859" r="-2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109859" r="-1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109859" r="-1667" b="-135211"/>
                          </a:stretch>
                        </a:blipFill>
                      </a:tcPr>
                    </a:tc>
                    <a:extLst>
                      <a:ext uri="{0D108BD9-81ED-4DB2-BD59-A6C34878D82A}">
                        <a16:rowId xmlns:a16="http://schemas.microsoft.com/office/drawing/2014/main" val="301647988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212857" r="-250694"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212857" r="-5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212857" r="-4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212857" r="-3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212857" r="-2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212857" r="-1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212857" r="-1667" b="-37143"/>
                          </a:stretch>
                        </a:blipFill>
                      </a:tcPr>
                    </a:tc>
                    <a:extLst>
                      <a:ext uri="{0D108BD9-81ED-4DB2-BD59-A6C34878D82A}">
                        <a16:rowId xmlns:a16="http://schemas.microsoft.com/office/drawing/2014/main" val="2033643208"/>
                      </a:ext>
                    </a:extLst>
                  </a:tr>
                </a:tbl>
              </a:graphicData>
            </a:graphic>
          </p:graphicFrame>
        </mc:Fallback>
      </mc:AlternateContent>
      <p:sp>
        <p:nvSpPr>
          <p:cNvPr id="11" name="Rectangle 10">
            <a:extLst>
              <a:ext uri="{FF2B5EF4-FFF2-40B4-BE49-F238E27FC236}">
                <a16:creationId xmlns:a16="http://schemas.microsoft.com/office/drawing/2014/main" id="{B02D9DC5-2755-CC85-0F25-910C3E71B10B}"/>
              </a:ext>
            </a:extLst>
          </p:cNvPr>
          <p:cNvSpPr/>
          <p:nvPr/>
        </p:nvSpPr>
        <p:spPr>
          <a:xfrm>
            <a:off x="579610" y="3635999"/>
            <a:ext cx="1249190" cy="4572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1:</a:t>
            </a:r>
          </a:p>
        </p:txBody>
      </p:sp>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8515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fade">
                                      <p:cBhvr>
                                        <p:cTn id="30" dur="5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0"/>
            <a:ext cx="12192000" cy="6871519"/>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8900">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7D77C939-2CD9-DB0F-44A5-92441FD84E34}"/>
              </a:ext>
            </a:extLst>
          </p:cNvPr>
          <p:cNvSpPr/>
          <p:nvPr/>
        </p:nvSpPr>
        <p:spPr>
          <a:xfrm>
            <a:off x="3056614" y="33909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6" name="Rectangle 5">
            <a:extLst>
              <a:ext uri="{FF2B5EF4-FFF2-40B4-BE49-F238E27FC236}">
                <a16:creationId xmlns:a16="http://schemas.microsoft.com/office/drawing/2014/main" id="{46916B27-435E-B8B9-40F9-B526D0C3B9F4}"/>
              </a:ext>
            </a:extLst>
          </p:cNvPr>
          <p:cNvSpPr/>
          <p:nvPr/>
        </p:nvSpPr>
        <p:spPr>
          <a:xfrm>
            <a:off x="5413126"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7" name="Rectangle 6">
            <a:extLst>
              <a:ext uri="{FF2B5EF4-FFF2-40B4-BE49-F238E27FC236}">
                <a16:creationId xmlns:a16="http://schemas.microsoft.com/office/drawing/2014/main" id="{E5EA51D7-88A2-2344-7808-6876B9ECCA3D}"/>
              </a:ext>
            </a:extLst>
          </p:cNvPr>
          <p:cNvSpPr/>
          <p:nvPr/>
        </p:nvSpPr>
        <p:spPr>
          <a:xfrm>
            <a:off x="6096654"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8" name="Rectangle 7">
            <a:extLst>
              <a:ext uri="{FF2B5EF4-FFF2-40B4-BE49-F238E27FC236}">
                <a16:creationId xmlns:a16="http://schemas.microsoft.com/office/drawing/2014/main" id="{398D9ADA-35E2-248D-0ED0-F7C47652E2D8}"/>
              </a:ext>
            </a:extLst>
          </p:cNvPr>
          <p:cNvSpPr/>
          <p:nvPr/>
        </p:nvSpPr>
        <p:spPr>
          <a:xfrm>
            <a:off x="6786998"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0" name="Rectangle 9">
            <a:extLst>
              <a:ext uri="{FF2B5EF4-FFF2-40B4-BE49-F238E27FC236}">
                <a16:creationId xmlns:a16="http://schemas.microsoft.com/office/drawing/2014/main" id="{7D2F8472-F13D-83F7-B6E5-8D4B63206BD5}"/>
              </a:ext>
            </a:extLst>
          </p:cNvPr>
          <p:cNvSpPr/>
          <p:nvPr/>
        </p:nvSpPr>
        <p:spPr>
          <a:xfrm>
            <a:off x="3056614" y="385094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1" name="Rectangle 10">
            <a:extLst>
              <a:ext uri="{FF2B5EF4-FFF2-40B4-BE49-F238E27FC236}">
                <a16:creationId xmlns:a16="http://schemas.microsoft.com/office/drawing/2014/main" id="{8618B38C-A691-CAC0-70D1-C3D3E47B5A55}"/>
              </a:ext>
            </a:extLst>
          </p:cNvPr>
          <p:cNvSpPr/>
          <p:nvPr/>
        </p:nvSpPr>
        <p:spPr>
          <a:xfrm>
            <a:off x="5413126"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12" name="Rectangle 11">
            <a:extLst>
              <a:ext uri="{FF2B5EF4-FFF2-40B4-BE49-F238E27FC236}">
                <a16:creationId xmlns:a16="http://schemas.microsoft.com/office/drawing/2014/main" id="{5AF844EC-48B5-D402-1DF8-66A3C2E4CDA3}"/>
              </a:ext>
            </a:extLst>
          </p:cNvPr>
          <p:cNvSpPr/>
          <p:nvPr/>
        </p:nvSpPr>
        <p:spPr>
          <a:xfrm>
            <a:off x="6096654"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13" name="Rectangle 12">
            <a:extLst>
              <a:ext uri="{FF2B5EF4-FFF2-40B4-BE49-F238E27FC236}">
                <a16:creationId xmlns:a16="http://schemas.microsoft.com/office/drawing/2014/main" id="{AAB6C7BF-184D-1EB7-791C-48B87DAFEE6A}"/>
              </a:ext>
            </a:extLst>
          </p:cNvPr>
          <p:cNvSpPr/>
          <p:nvPr/>
        </p:nvSpPr>
        <p:spPr>
          <a:xfrm>
            <a:off x="6786998"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13C875CB-8D33-D1B2-0CD6-D0FAB4CFAEAB}"/>
                  </a:ext>
                </a:extLst>
              </p:cNvPr>
              <p:cNvGraphicFramePr>
                <a:graphicFrameLocks noGrp="1"/>
              </p:cNvGraphicFramePr>
              <p:nvPr>
                <p:extLst>
                  <p:ext uri="{D42A27DB-BD31-4B8C-83A1-F6EECF244321}">
                    <p14:modId xmlns:p14="http://schemas.microsoft.com/office/powerpoint/2010/main" val="1450293989"/>
                  </p:ext>
                </p:extLst>
              </p:nvPr>
            </p:nvGraphicFramePr>
            <p:xfrm>
              <a:off x="2197825" y="1035524"/>
              <a:ext cx="6141721" cy="1279779"/>
            </p:xfrm>
            <a:graphic>
              <a:graphicData uri="http://schemas.openxmlformats.org/drawingml/2006/table">
                <a:tbl>
                  <a:tblPr firstRow="1" firstCol="1" bandRow="1"/>
                  <a:tblGrid>
                    <a:gridCol w="1837146">
                      <a:extLst>
                        <a:ext uri="{9D8B030D-6E8A-4147-A177-3AD203B41FA5}">
                          <a16:colId xmlns:a16="http://schemas.microsoft.com/office/drawing/2014/main" val="1922602082"/>
                        </a:ext>
                      </a:extLst>
                    </a:gridCol>
                    <a:gridCol w="646975">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4" name="Table 13">
                <a:extLst>
                  <a:ext uri="{FF2B5EF4-FFF2-40B4-BE49-F238E27FC236}">
                    <a16:creationId xmlns:a16="http://schemas.microsoft.com/office/drawing/2014/main" id="{13C875CB-8D33-D1B2-0CD6-D0FAB4CFAEAB}"/>
                  </a:ext>
                </a:extLst>
              </p:cNvPr>
              <p:cNvGraphicFramePr>
                <a:graphicFrameLocks noGrp="1"/>
              </p:cNvGraphicFramePr>
              <p:nvPr>
                <p:extLst>
                  <p:ext uri="{D42A27DB-BD31-4B8C-83A1-F6EECF244321}">
                    <p14:modId xmlns:p14="http://schemas.microsoft.com/office/powerpoint/2010/main" val="1450293989"/>
                  </p:ext>
                </p:extLst>
              </p:nvPr>
            </p:nvGraphicFramePr>
            <p:xfrm>
              <a:off x="2197825" y="1035524"/>
              <a:ext cx="6141721" cy="1279779"/>
            </p:xfrm>
            <a:graphic>
              <a:graphicData uri="http://schemas.openxmlformats.org/drawingml/2006/table">
                <a:tbl>
                  <a:tblPr firstRow="1" firstCol="1" bandRow="1"/>
                  <a:tblGrid>
                    <a:gridCol w="1837146">
                      <a:extLst>
                        <a:ext uri="{9D8B030D-6E8A-4147-A177-3AD203B41FA5}">
                          <a16:colId xmlns:a16="http://schemas.microsoft.com/office/drawing/2014/main" val="1922602082"/>
                        </a:ext>
                      </a:extLst>
                    </a:gridCol>
                    <a:gridCol w="646975">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14286" r="-234768"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14286" r="-568868"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4286" r="-4025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4286" r="-3025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4286" r="-2000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4286" r="-1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4286" r="-1667" b="-238571"/>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112676" r="-234768"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112676" r="-568868"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2676" r="-4025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2676" r="-3025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2676" r="-2000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2676" r="-1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2676" r="-1667" b="-135211"/>
                          </a:stretch>
                        </a:blipFill>
                      </a:tcPr>
                    </a:tc>
                    <a:extLst>
                      <a:ext uri="{0D108BD9-81ED-4DB2-BD59-A6C34878D82A}">
                        <a16:rowId xmlns:a16="http://schemas.microsoft.com/office/drawing/2014/main" val="301647988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215714" r="-234768"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215714" r="-568868"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215714" r="-4025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215714" r="-3025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215714" r="-2000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215714" r="-1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215714" r="-1667" b="-37143"/>
                          </a:stretch>
                        </a:blipFill>
                      </a:tcPr>
                    </a:tc>
                    <a:extLst>
                      <a:ext uri="{0D108BD9-81ED-4DB2-BD59-A6C34878D82A}">
                        <a16:rowId xmlns:a16="http://schemas.microsoft.com/office/drawing/2014/main" val="2033643208"/>
                      </a:ext>
                    </a:extLst>
                  </a:tr>
                </a:tbl>
              </a:graphicData>
            </a:graphic>
          </p:graphicFrame>
        </mc:Fallback>
      </mc:AlternateContent>
      <p:sp>
        <p:nvSpPr>
          <p:cNvPr id="15" name="Rectangle 14">
            <a:extLst>
              <a:ext uri="{FF2B5EF4-FFF2-40B4-BE49-F238E27FC236}">
                <a16:creationId xmlns:a16="http://schemas.microsoft.com/office/drawing/2014/main" id="{D022D970-DDAA-78A0-6F17-819BC61F9A7D}"/>
              </a:ext>
            </a:extLst>
          </p:cNvPr>
          <p:cNvSpPr/>
          <p:nvPr/>
        </p:nvSpPr>
        <p:spPr>
          <a:xfrm>
            <a:off x="1230087" y="2848546"/>
            <a:ext cx="1237342"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2:</a:t>
            </a:r>
          </a:p>
        </p:txBody>
      </p:sp>
      <p:sp>
        <p:nvSpPr>
          <p:cNvPr id="16" name="Rectangle 15">
            <a:extLst>
              <a:ext uri="{FF2B5EF4-FFF2-40B4-BE49-F238E27FC236}">
                <a16:creationId xmlns:a16="http://schemas.microsoft.com/office/drawing/2014/main" id="{10D5F702-4556-8824-49B4-59B56B85D6B0}"/>
              </a:ext>
            </a:extLst>
          </p:cNvPr>
          <p:cNvSpPr/>
          <p:nvPr/>
        </p:nvSpPr>
        <p:spPr>
          <a:xfrm>
            <a:off x="1230087" y="4876800"/>
            <a:ext cx="1237342"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3:</a:t>
            </a:r>
          </a:p>
        </p:txBody>
      </p:sp>
      <p:sp>
        <p:nvSpPr>
          <p:cNvPr id="18" name="Rectangle 17">
            <a:extLst>
              <a:ext uri="{FF2B5EF4-FFF2-40B4-BE49-F238E27FC236}">
                <a16:creationId xmlns:a16="http://schemas.microsoft.com/office/drawing/2014/main" id="{D451B873-4365-DAE6-4628-080B6A99BF45}"/>
              </a:ext>
            </a:extLst>
          </p:cNvPr>
          <p:cNvSpPr/>
          <p:nvPr/>
        </p:nvSpPr>
        <p:spPr>
          <a:xfrm>
            <a:off x="3056614" y="5407356"/>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19" name="Rectangle 18">
            <a:extLst>
              <a:ext uri="{FF2B5EF4-FFF2-40B4-BE49-F238E27FC236}">
                <a16:creationId xmlns:a16="http://schemas.microsoft.com/office/drawing/2014/main" id="{6F547049-68FF-7572-028D-DDE862397AF3}"/>
              </a:ext>
            </a:extLst>
          </p:cNvPr>
          <p:cNvSpPr/>
          <p:nvPr/>
        </p:nvSpPr>
        <p:spPr>
          <a:xfrm>
            <a:off x="5418814"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20" name="Rectangle 19">
            <a:extLst>
              <a:ext uri="{FF2B5EF4-FFF2-40B4-BE49-F238E27FC236}">
                <a16:creationId xmlns:a16="http://schemas.microsoft.com/office/drawing/2014/main" id="{26F0AD14-E84C-5823-885C-6AF6F44DBB04}"/>
              </a:ext>
            </a:extLst>
          </p:cNvPr>
          <p:cNvSpPr/>
          <p:nvPr/>
        </p:nvSpPr>
        <p:spPr>
          <a:xfrm>
            <a:off x="6102342"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21" name="Rectangle 20">
            <a:extLst>
              <a:ext uri="{FF2B5EF4-FFF2-40B4-BE49-F238E27FC236}">
                <a16:creationId xmlns:a16="http://schemas.microsoft.com/office/drawing/2014/main" id="{1C37F405-AF94-6CDC-82C5-07972C9B246F}"/>
              </a:ext>
            </a:extLst>
          </p:cNvPr>
          <p:cNvSpPr/>
          <p:nvPr/>
        </p:nvSpPr>
        <p:spPr>
          <a:xfrm>
            <a:off x="6779038"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22" name="Rectangle 21">
            <a:extLst>
              <a:ext uri="{FF2B5EF4-FFF2-40B4-BE49-F238E27FC236}">
                <a16:creationId xmlns:a16="http://schemas.microsoft.com/office/drawing/2014/main" id="{780FCD0E-2D3D-D3EA-23F2-F3CDCC6291B5}"/>
              </a:ext>
            </a:extLst>
          </p:cNvPr>
          <p:cNvSpPr/>
          <p:nvPr/>
        </p:nvSpPr>
        <p:spPr>
          <a:xfrm>
            <a:off x="3056614" y="58674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23" name="Rectangle 22">
            <a:extLst>
              <a:ext uri="{FF2B5EF4-FFF2-40B4-BE49-F238E27FC236}">
                <a16:creationId xmlns:a16="http://schemas.microsoft.com/office/drawing/2014/main" id="{16616505-7557-B950-D26A-C866B9DB358C}"/>
              </a:ext>
            </a:extLst>
          </p:cNvPr>
          <p:cNvSpPr/>
          <p:nvPr/>
        </p:nvSpPr>
        <p:spPr>
          <a:xfrm>
            <a:off x="5418814"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24" name="Rectangle 23">
            <a:extLst>
              <a:ext uri="{FF2B5EF4-FFF2-40B4-BE49-F238E27FC236}">
                <a16:creationId xmlns:a16="http://schemas.microsoft.com/office/drawing/2014/main" id="{F04DB285-3927-C8BC-CC59-3D60D0EE72DD}"/>
              </a:ext>
            </a:extLst>
          </p:cNvPr>
          <p:cNvSpPr/>
          <p:nvPr/>
        </p:nvSpPr>
        <p:spPr>
          <a:xfrm>
            <a:off x="6102342"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25" name="Rectangle 24">
            <a:extLst>
              <a:ext uri="{FF2B5EF4-FFF2-40B4-BE49-F238E27FC236}">
                <a16:creationId xmlns:a16="http://schemas.microsoft.com/office/drawing/2014/main" id="{B7DA42C0-504F-D693-2C24-47A475CFA0B5}"/>
              </a:ext>
            </a:extLst>
          </p:cNvPr>
          <p:cNvSpPr/>
          <p:nvPr/>
        </p:nvSpPr>
        <p:spPr>
          <a:xfrm>
            <a:off x="6779038"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p:sp>
        <p:nvSpPr>
          <p:cNvPr id="26" name="Oval 25">
            <a:extLst>
              <a:ext uri="{FF2B5EF4-FFF2-40B4-BE49-F238E27FC236}">
                <a16:creationId xmlns:a16="http://schemas.microsoft.com/office/drawing/2014/main" id="{AB6922EB-A423-2D73-78AC-009862BEB8D8}"/>
              </a:ext>
            </a:extLst>
          </p:cNvPr>
          <p:cNvSpPr/>
          <p:nvPr/>
        </p:nvSpPr>
        <p:spPr>
          <a:xfrm>
            <a:off x="4055806" y="1903726"/>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7" name="Oval 26">
            <a:extLst>
              <a:ext uri="{FF2B5EF4-FFF2-40B4-BE49-F238E27FC236}">
                <a16:creationId xmlns:a16="http://schemas.microsoft.com/office/drawing/2014/main" id="{3BAAF0CF-966A-69B6-36CC-9A7A8E630881}"/>
              </a:ext>
            </a:extLst>
          </p:cNvPr>
          <p:cNvSpPr/>
          <p:nvPr/>
        </p:nvSpPr>
        <p:spPr>
          <a:xfrm>
            <a:off x="6893910" y="5889373"/>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8" name="Rectangle 27">
            <a:extLst>
              <a:ext uri="{FF2B5EF4-FFF2-40B4-BE49-F238E27FC236}">
                <a16:creationId xmlns:a16="http://schemas.microsoft.com/office/drawing/2014/main" id="{9222E633-3649-2356-E8B4-59DE684A0D1C}"/>
              </a:ext>
            </a:extLst>
          </p:cNvPr>
          <p:cNvSpPr/>
          <p:nvPr/>
        </p:nvSpPr>
        <p:spPr>
          <a:xfrm>
            <a:off x="2574696" y="2808213"/>
            <a:ext cx="5437190" cy="461665"/>
          </a:xfrm>
          <a:prstGeom prst="rect">
            <a:avLst/>
          </a:prstGeom>
        </p:spPr>
        <p:txBody>
          <a:bodyPr wrap="square">
            <a:spAutoFit/>
          </a:bodyPr>
          <a:lstStyle/>
          <a:p>
            <a:pPr marL="400050" lvl="1"/>
            <a:r>
              <a:rPr lang="da-DK" sz="2400" dirty="0">
                <a:latin typeface="Trebuchet MS" panose="020B0603020202020204" pitchFamily="34" charset="0"/>
              </a:rPr>
              <a:t>Select </a:t>
            </a:r>
            <a:r>
              <a:rPr lang="en-US" sz="2400" dirty="0">
                <a:latin typeface="Trebuchet MS" panose="020B0603020202020204" pitchFamily="34" charset="0"/>
              </a:rPr>
              <a:t>max profit = 20 deadline = 3 </a:t>
            </a: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C2926010-5D50-545D-7A08-B575A892DA58}"/>
                  </a:ext>
                </a:extLst>
              </p:cNvPr>
              <p:cNvSpPr/>
              <p:nvPr/>
            </p:nvSpPr>
            <p:spPr>
              <a:xfrm>
                <a:off x="2714170" y="4836467"/>
                <a:ext cx="5196115" cy="461665"/>
              </a:xfrm>
              <a:prstGeom prst="rect">
                <a:avLst/>
              </a:prstGeom>
            </p:spPr>
            <p:txBody>
              <a:bodyPr wrap="square">
                <a:spAutoFit/>
              </a:bodyPr>
              <a:lstStyle/>
              <a:p>
                <a:pPr marL="261938" lvl="1"/>
                <a14:m>
                  <m:oMath xmlns:m="http://schemas.openxmlformats.org/officeDocument/2006/math">
                    <m:r>
                      <a:rPr lang="en-US" sz="2400" i="1" dirty="0" smtClean="0">
                        <a:solidFill>
                          <a:schemeClr val="tx1"/>
                        </a:solidFill>
                        <a:latin typeface="Cambria Math" panose="02040503050406030204" pitchFamily="18" charset="0"/>
                      </a:rPr>
                      <m:t>𝑑</m:t>
                    </m:r>
                    <m:r>
                      <a:rPr lang="en-US" sz="2400" i="1" baseline="-25000" dirty="0">
                        <a:solidFill>
                          <a:schemeClr val="tx1"/>
                        </a:solidFill>
                        <a:latin typeface="Cambria Math" panose="02040503050406030204" pitchFamily="18" charset="0"/>
                      </a:rPr>
                      <m:t>1</m:t>
                    </m:r>
                    <m:r>
                      <a:rPr lang="en-US" sz="2400" i="1" dirty="0">
                        <a:solidFill>
                          <a:schemeClr val="tx1"/>
                        </a:solidFill>
                        <a:latin typeface="Cambria Math" panose="02040503050406030204" pitchFamily="18" charset="0"/>
                      </a:rPr>
                      <m:t> = 3 </m:t>
                    </m:r>
                  </m:oMath>
                </a14:m>
                <a:r>
                  <a:rPr lang="en-US" sz="2400" dirty="0">
                    <a:solidFill>
                      <a:schemeClr val="tx1"/>
                    </a:solidFill>
                    <a:latin typeface="Trebuchet MS" panose="020B0603020202020204" pitchFamily="34" charset="0"/>
                  </a:rPr>
                  <a:t>: assign job </a:t>
                </a:r>
                <a14:m>
                  <m:oMath xmlns:m="http://schemas.openxmlformats.org/officeDocument/2006/math">
                    <m:r>
                      <a:rPr lang="en-US" sz="2400" i="1" dirty="0">
                        <a:solidFill>
                          <a:schemeClr val="tx1"/>
                        </a:solidFill>
                        <a:latin typeface="Cambria Math" panose="02040503050406030204" pitchFamily="18" charset="0"/>
                      </a:rPr>
                      <m:t>1</m:t>
                    </m:r>
                  </m:oMath>
                </a14:m>
                <a:r>
                  <a:rPr lang="en-US" sz="2400" dirty="0">
                    <a:solidFill>
                      <a:schemeClr val="tx1"/>
                    </a:solidFill>
                    <a:latin typeface="Trebuchet MS" panose="020B0603020202020204" pitchFamily="34" charset="0"/>
                  </a:rPr>
                  <a:t> to position </a:t>
                </a:r>
                <a14:m>
                  <m:oMath xmlns:m="http://schemas.openxmlformats.org/officeDocument/2006/math">
                    <m:r>
                      <a:rPr lang="en-US" sz="2400" i="1" dirty="0">
                        <a:solidFill>
                          <a:schemeClr val="tx1"/>
                        </a:solidFill>
                        <a:latin typeface="Cambria Math" panose="02040503050406030204" pitchFamily="18" charset="0"/>
                      </a:rPr>
                      <m:t>3</m:t>
                    </m:r>
                  </m:oMath>
                </a14:m>
                <a:endParaRPr lang="da-DK" sz="2400" dirty="0">
                  <a:solidFill>
                    <a:schemeClr val="tx1"/>
                  </a:solidFill>
                  <a:latin typeface="Trebuchet MS" panose="020B0603020202020204" pitchFamily="34" charset="0"/>
                </a:endParaRPr>
              </a:p>
            </p:txBody>
          </p:sp>
        </mc:Choice>
        <mc:Fallback xmlns="">
          <p:sp>
            <p:nvSpPr>
              <p:cNvPr id="30" name="Rectangle 29">
                <a:extLst>
                  <a:ext uri="{FF2B5EF4-FFF2-40B4-BE49-F238E27FC236}">
                    <a16:creationId xmlns:a16="http://schemas.microsoft.com/office/drawing/2014/main" id="{C2926010-5D50-545D-7A08-B575A892DA58}"/>
                  </a:ext>
                </a:extLst>
              </p:cNvPr>
              <p:cNvSpPr>
                <a:spLocks noRot="1" noChangeAspect="1" noMove="1" noResize="1" noEditPoints="1" noAdjustHandles="1" noChangeArrowheads="1" noChangeShapeType="1" noTextEdit="1"/>
              </p:cNvSpPr>
              <p:nvPr/>
            </p:nvSpPr>
            <p:spPr>
              <a:xfrm>
                <a:off x="2714170" y="4836467"/>
                <a:ext cx="5196115" cy="461665"/>
              </a:xfrm>
              <a:prstGeom prst="rect">
                <a:avLst/>
              </a:prstGeom>
              <a:blipFill>
                <a:blip r:embed="rId5"/>
                <a:stretch>
                  <a:fillRect t="-10526" b="-28947"/>
                </a:stretch>
              </a:blipFill>
            </p:spPr>
            <p:txBody>
              <a:bodyPr/>
              <a:lstStyle/>
              <a:p>
                <a:r>
                  <a:rPr lang="en-IN">
                    <a:noFill/>
                  </a:rPr>
                  <a:t> </a:t>
                </a:r>
              </a:p>
            </p:txBody>
          </p:sp>
        </mc:Fallback>
      </mc:AlternateContent>
      <p:pic>
        <p:nvPicPr>
          <p:cNvPr id="29" name="Picture 2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6638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10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heel(1)">
                                      <p:cBhvr>
                                        <p:cTn id="50" dur="10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left)">
                                      <p:cBhvr>
                                        <p:cTn id="59" dur="10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heel(1)">
                                      <p:cBhvr>
                                        <p:cTn id="9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51691" y="0"/>
            <a:ext cx="12295316"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584775"/>
          </a:xfrm>
          <a:prstGeom prst="rect">
            <a:avLst/>
          </a:prstGeom>
          <a:noFill/>
        </p:spPr>
        <p:txBody>
          <a:bodyPr wrap="square">
            <a:spAutoFit/>
          </a:bodyPr>
          <a:lstStyle/>
          <a:p>
            <a:pPr marL="87313">
              <a:spcBef>
                <a:spcPts val="600"/>
              </a:spcBef>
              <a:spcAft>
                <a:spcPts val="600"/>
              </a:spcAft>
            </a:pPr>
            <a:r>
              <a:rPr lang="en-IN" sz="3200" b="1" dirty="0">
                <a:solidFill>
                  <a:schemeClr val="bg1"/>
                </a:solidFill>
                <a:latin typeface="Trebuchet MS" panose="020B0603020202020204" pitchFamily="34" charset="0"/>
              </a:rPr>
              <a:t>Job Scheduling Algorithm</a:t>
            </a:r>
            <a:endParaRPr lang="en-IN" sz="3200" b="1" i="0" u="none" strike="noStrike" baseline="0" dirty="0">
              <a:solidFill>
                <a:schemeClr val="bg1"/>
              </a:solidFill>
              <a:latin typeface="Trebuchet MS" panose="020B0603020202020204" pitchFamily="34" charset="0"/>
            </a:endParaRPr>
          </a:p>
        </p:txBody>
      </p:sp>
      <p:sp>
        <p:nvSpPr>
          <p:cNvPr id="7" name="Rectangle 6">
            <a:extLst>
              <a:ext uri="{FF2B5EF4-FFF2-40B4-BE49-F238E27FC236}">
                <a16:creationId xmlns:a16="http://schemas.microsoft.com/office/drawing/2014/main" id="{8335C066-B02F-2C08-5D86-F2DF4867DEA2}"/>
              </a:ext>
            </a:extLst>
          </p:cNvPr>
          <p:cNvSpPr/>
          <p:nvPr/>
        </p:nvSpPr>
        <p:spPr>
          <a:xfrm>
            <a:off x="3056614" y="326027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8" name="Rectangle 7">
            <a:extLst>
              <a:ext uri="{FF2B5EF4-FFF2-40B4-BE49-F238E27FC236}">
                <a16:creationId xmlns:a16="http://schemas.microsoft.com/office/drawing/2014/main" id="{33E77BB4-32CC-D815-B353-9CDA129CE981}"/>
              </a:ext>
            </a:extLst>
          </p:cNvPr>
          <p:cNvSpPr/>
          <p:nvPr/>
        </p:nvSpPr>
        <p:spPr>
          <a:xfrm>
            <a:off x="5413126"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10" name="Rectangle 9">
            <a:extLst>
              <a:ext uri="{FF2B5EF4-FFF2-40B4-BE49-F238E27FC236}">
                <a16:creationId xmlns:a16="http://schemas.microsoft.com/office/drawing/2014/main" id="{838CF033-F88E-94F0-8E6B-4384A1484964}"/>
              </a:ext>
            </a:extLst>
          </p:cNvPr>
          <p:cNvSpPr/>
          <p:nvPr/>
        </p:nvSpPr>
        <p:spPr>
          <a:xfrm>
            <a:off x="6096654"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11" name="Rectangle 10">
            <a:extLst>
              <a:ext uri="{FF2B5EF4-FFF2-40B4-BE49-F238E27FC236}">
                <a16:creationId xmlns:a16="http://schemas.microsoft.com/office/drawing/2014/main" id="{8BA9B1D5-E1E7-E6BA-DFA7-2DE26BE7C331}"/>
              </a:ext>
            </a:extLst>
          </p:cNvPr>
          <p:cNvSpPr/>
          <p:nvPr/>
        </p:nvSpPr>
        <p:spPr>
          <a:xfrm>
            <a:off x="6786998"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2" name="Rectangle 11">
            <a:extLst>
              <a:ext uri="{FF2B5EF4-FFF2-40B4-BE49-F238E27FC236}">
                <a16:creationId xmlns:a16="http://schemas.microsoft.com/office/drawing/2014/main" id="{0E3D70C5-1BBE-EB5B-DC9F-A7652AFBA92C}"/>
              </a:ext>
            </a:extLst>
          </p:cNvPr>
          <p:cNvSpPr/>
          <p:nvPr/>
        </p:nvSpPr>
        <p:spPr>
          <a:xfrm>
            <a:off x="3056614" y="372031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3" name="Rectangle 12">
            <a:extLst>
              <a:ext uri="{FF2B5EF4-FFF2-40B4-BE49-F238E27FC236}">
                <a16:creationId xmlns:a16="http://schemas.microsoft.com/office/drawing/2014/main" id="{A238BAC1-A6F0-AA50-33E0-E65F519699DA}"/>
              </a:ext>
            </a:extLst>
          </p:cNvPr>
          <p:cNvSpPr/>
          <p:nvPr/>
        </p:nvSpPr>
        <p:spPr>
          <a:xfrm>
            <a:off x="5413126"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J2</a:t>
            </a:r>
          </a:p>
        </p:txBody>
      </p:sp>
      <p:sp>
        <p:nvSpPr>
          <p:cNvPr id="14" name="Rectangle 13">
            <a:extLst>
              <a:ext uri="{FF2B5EF4-FFF2-40B4-BE49-F238E27FC236}">
                <a16:creationId xmlns:a16="http://schemas.microsoft.com/office/drawing/2014/main" id="{F719F97D-F018-E01A-0BBB-AD84BB741AF5}"/>
              </a:ext>
            </a:extLst>
          </p:cNvPr>
          <p:cNvSpPr/>
          <p:nvPr/>
        </p:nvSpPr>
        <p:spPr>
          <a:xfrm>
            <a:off x="6096654"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0</a:t>
            </a:r>
          </a:p>
        </p:txBody>
      </p:sp>
      <p:sp>
        <p:nvSpPr>
          <p:cNvPr id="15" name="Rectangle 14">
            <a:extLst>
              <a:ext uri="{FF2B5EF4-FFF2-40B4-BE49-F238E27FC236}">
                <a16:creationId xmlns:a16="http://schemas.microsoft.com/office/drawing/2014/main" id="{7045E460-1267-5AA6-BB46-C449E0146016}"/>
              </a:ext>
            </a:extLst>
          </p:cNvPr>
          <p:cNvSpPr/>
          <p:nvPr/>
        </p:nvSpPr>
        <p:spPr>
          <a:xfrm>
            <a:off x="6786998"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B22FF35C-9BE1-7328-D218-4E1AB65BA7CC}"/>
                  </a:ext>
                </a:extLst>
              </p:cNvPr>
              <p:cNvGraphicFramePr>
                <a:graphicFrameLocks noGrp="1"/>
              </p:cNvGraphicFramePr>
              <p:nvPr>
                <p:extLst>
                  <p:ext uri="{D42A27DB-BD31-4B8C-83A1-F6EECF244321}">
                    <p14:modId xmlns:p14="http://schemas.microsoft.com/office/powerpoint/2010/main" val="3937261125"/>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6" name="Table 15">
                <a:extLst>
                  <a:ext uri="{FF2B5EF4-FFF2-40B4-BE49-F238E27FC236}">
                    <a16:creationId xmlns:a16="http://schemas.microsoft.com/office/drawing/2014/main" id="{B22FF35C-9BE1-7328-D218-4E1AB65BA7CC}"/>
                  </a:ext>
                </a:extLst>
              </p:cNvPr>
              <p:cNvGraphicFramePr>
                <a:graphicFrameLocks noGrp="1"/>
              </p:cNvGraphicFramePr>
              <p:nvPr>
                <p:extLst>
                  <p:ext uri="{D42A27DB-BD31-4B8C-83A1-F6EECF244321}">
                    <p14:modId xmlns:p14="http://schemas.microsoft.com/office/powerpoint/2010/main" val="3937261125"/>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1429" r="-251042"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1429" r="-5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429" r="-4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429" r="-3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429" r="-2000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429" r="-101667"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429" r="-1667" b="-290000"/>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09859" r="-251042"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09859" r="-5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09859" r="-4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09859" r="-3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09859" r="-2000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09859" r="-101667"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09859" r="-1667" b="-185915"/>
                          </a:stretch>
                        </a:blipFill>
                      </a:tcPr>
                    </a:tc>
                    <a:extLst>
                      <a:ext uri="{0D108BD9-81ED-4DB2-BD59-A6C34878D82A}">
                        <a16:rowId xmlns:a16="http://schemas.microsoft.com/office/drawing/2014/main" val="3016479883"/>
                      </a:ext>
                    </a:extLst>
                  </a:tr>
                  <a:tr h="731520">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24167" r="-251042"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24167" r="-5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24167" r="-4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24167" r="-3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24167" r="-2000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24167" r="-101667"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24167" r="-1667" b="-10000"/>
                          </a:stretch>
                        </a:blipFill>
                      </a:tcPr>
                    </a:tc>
                    <a:extLst>
                      <a:ext uri="{0D108BD9-81ED-4DB2-BD59-A6C34878D82A}">
                        <a16:rowId xmlns:a16="http://schemas.microsoft.com/office/drawing/2014/main" val="2033643208"/>
                      </a:ext>
                    </a:extLst>
                  </a:tr>
                </a:tbl>
              </a:graphicData>
            </a:graphic>
          </p:graphicFrame>
        </mc:Fallback>
      </mc:AlternateContent>
      <p:sp>
        <p:nvSpPr>
          <p:cNvPr id="17" name="Rectangle 16">
            <a:extLst>
              <a:ext uri="{FF2B5EF4-FFF2-40B4-BE49-F238E27FC236}">
                <a16:creationId xmlns:a16="http://schemas.microsoft.com/office/drawing/2014/main" id="{068507DC-2FB4-D799-9185-AC36FECB3008}"/>
              </a:ext>
            </a:extLst>
          </p:cNvPr>
          <p:cNvSpPr/>
          <p:nvPr/>
        </p:nvSpPr>
        <p:spPr>
          <a:xfrm>
            <a:off x="1001487" y="2778687"/>
            <a:ext cx="1295400"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4:</a:t>
            </a:r>
          </a:p>
        </p:txBody>
      </p:sp>
      <p:sp>
        <p:nvSpPr>
          <p:cNvPr id="18" name="Rectangle 17">
            <a:extLst>
              <a:ext uri="{FF2B5EF4-FFF2-40B4-BE49-F238E27FC236}">
                <a16:creationId xmlns:a16="http://schemas.microsoft.com/office/drawing/2014/main" id="{E30A6404-ECEC-611F-E8B9-C2295338A96F}"/>
              </a:ext>
            </a:extLst>
          </p:cNvPr>
          <p:cNvSpPr/>
          <p:nvPr/>
        </p:nvSpPr>
        <p:spPr>
          <a:xfrm>
            <a:off x="1001487" y="4706981"/>
            <a:ext cx="1295400"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5:</a:t>
            </a:r>
          </a:p>
        </p:txBody>
      </p:sp>
      <p:sp>
        <p:nvSpPr>
          <p:cNvPr id="19" name="Oval 18">
            <a:extLst>
              <a:ext uri="{FF2B5EF4-FFF2-40B4-BE49-F238E27FC236}">
                <a16:creationId xmlns:a16="http://schemas.microsoft.com/office/drawing/2014/main" id="{5673AFD8-E94A-CDBC-A508-C48C27EB2EBA}"/>
              </a:ext>
            </a:extLst>
          </p:cNvPr>
          <p:cNvSpPr/>
          <p:nvPr/>
        </p:nvSpPr>
        <p:spPr>
          <a:xfrm>
            <a:off x="4811485" y="2081651"/>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A0A8066-8121-87F4-EFC5-9F1900886ED9}"/>
                  </a:ext>
                </a:extLst>
              </p:cNvPr>
              <p:cNvSpPr/>
              <p:nvPr/>
            </p:nvSpPr>
            <p:spPr>
              <a:xfrm>
                <a:off x="2316490" y="2722458"/>
                <a:ext cx="5622824" cy="461665"/>
              </a:xfrm>
              <a:prstGeom prst="rect">
                <a:avLst/>
              </a:prstGeom>
            </p:spPr>
            <p:txBody>
              <a:bodyPr wrap="square">
                <a:spAutoFit/>
              </a:bodyPr>
              <a:lstStyle/>
              <a:p>
                <a:pPr marL="400050" lvl="1"/>
                <a14:m>
                  <m:oMath xmlns:m="http://schemas.openxmlformats.org/officeDocument/2006/math">
                    <m:r>
                      <a:rPr lang="en-US" sz="2400" i="1" dirty="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2</m:t>
                    </m:r>
                    <m:r>
                      <a:rPr lang="en-US" sz="2400" i="1" dirty="0">
                        <a:solidFill>
                          <a:srgbClr val="212121"/>
                        </a:solidFill>
                        <a:latin typeface="Cambria Math" panose="02040503050406030204" pitchFamily="18" charset="0"/>
                      </a:rPr>
                      <m:t> = 1 : </m:t>
                    </m:r>
                  </m:oMath>
                </a14:m>
                <a:r>
                  <a:rPr lang="en-US" sz="2400" dirty="0">
                    <a:solidFill>
                      <a:srgbClr val="212121"/>
                    </a:solidFill>
                    <a:latin typeface="Roboto Condensed"/>
                  </a:rPr>
                  <a:t>assign job </a:t>
                </a:r>
                <a14:m>
                  <m:oMath xmlns:m="http://schemas.openxmlformats.org/officeDocument/2006/math">
                    <m:r>
                      <a:rPr lang="en-US" sz="2400" i="1" dirty="0">
                        <a:solidFill>
                          <a:srgbClr val="212121"/>
                        </a:solidFill>
                        <a:latin typeface="Cambria Math" panose="02040503050406030204" pitchFamily="18" charset="0"/>
                      </a:rPr>
                      <m:t>2</m:t>
                    </m:r>
                  </m:oMath>
                </a14:m>
                <a:r>
                  <a:rPr lang="en-US" sz="2400" dirty="0">
                    <a:solidFill>
                      <a:srgbClr val="212121"/>
                    </a:solidFill>
                    <a:latin typeface="Roboto Condensed"/>
                  </a:rPr>
                  <a:t> to position </a:t>
                </a:r>
                <a14:m>
                  <m:oMath xmlns:m="http://schemas.openxmlformats.org/officeDocument/2006/math">
                    <m:r>
                      <a:rPr lang="en-US" sz="2400" i="1" dirty="0">
                        <a:solidFill>
                          <a:srgbClr val="212121"/>
                        </a:solidFill>
                        <a:latin typeface="Cambria Math" panose="02040503050406030204" pitchFamily="18" charset="0"/>
                      </a:rPr>
                      <m:t>1</m:t>
                    </m:r>
                  </m:oMath>
                </a14:m>
                <a:endParaRPr lang="da-DK" sz="2400" dirty="0">
                  <a:solidFill>
                    <a:srgbClr val="212121"/>
                  </a:solidFill>
                  <a:latin typeface="Roboto Condensed"/>
                </a:endParaRPr>
              </a:p>
            </p:txBody>
          </p:sp>
        </mc:Choice>
        <mc:Fallback xmlns="">
          <p:sp>
            <p:nvSpPr>
              <p:cNvPr id="20" name="Rectangle 19">
                <a:extLst>
                  <a:ext uri="{FF2B5EF4-FFF2-40B4-BE49-F238E27FC236}">
                    <a16:creationId xmlns:a16="http://schemas.microsoft.com/office/drawing/2014/main" id="{2A0A8066-8121-87F4-EFC5-9F1900886ED9}"/>
                  </a:ext>
                </a:extLst>
              </p:cNvPr>
              <p:cNvSpPr>
                <a:spLocks noRot="1" noChangeAspect="1" noMove="1" noResize="1" noEditPoints="1" noAdjustHandles="1" noChangeArrowheads="1" noChangeShapeType="1" noTextEdit="1"/>
              </p:cNvSpPr>
              <p:nvPr/>
            </p:nvSpPr>
            <p:spPr>
              <a:xfrm>
                <a:off x="2316490" y="2722458"/>
                <a:ext cx="5622824" cy="461665"/>
              </a:xfrm>
              <a:prstGeom prst="rect">
                <a:avLst/>
              </a:prstGeom>
              <a:blipFill>
                <a:blip r:embed="rId6"/>
                <a:stretch>
                  <a:fillRect t="-9333" b="-3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082C200-E9B0-CC48-3AFC-44E6C854928B}"/>
                  </a:ext>
                </a:extLst>
              </p:cNvPr>
              <p:cNvSpPr/>
              <p:nvPr/>
            </p:nvSpPr>
            <p:spPr>
              <a:xfrm>
                <a:off x="2296886" y="4666648"/>
                <a:ext cx="4887300" cy="461665"/>
              </a:xfrm>
              <a:prstGeom prst="rect">
                <a:avLst/>
              </a:prstGeom>
            </p:spPr>
            <p:txBody>
              <a:bodyPr wrap="none">
                <a:spAutoFit/>
              </a:bodyPr>
              <a:lstStyle/>
              <a:p>
                <a:pPr marL="400050" lvl="1"/>
                <a14:m>
                  <m:oMath xmlns:m="http://schemas.openxmlformats.org/officeDocument/2006/math">
                    <m:r>
                      <a:rPr lang="en-US" sz="2400" i="1" dirty="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3</m:t>
                    </m:r>
                    <m:r>
                      <a:rPr lang="en-US" sz="2400" i="1" dirty="0">
                        <a:solidFill>
                          <a:srgbClr val="212121"/>
                        </a:solidFill>
                        <a:latin typeface="Cambria Math" panose="02040503050406030204" pitchFamily="18" charset="0"/>
                      </a:rPr>
                      <m:t> =1 </m:t>
                    </m:r>
                  </m:oMath>
                </a14:m>
                <a:r>
                  <a:rPr lang="en-US" sz="2400" dirty="0">
                    <a:solidFill>
                      <a:srgbClr val="212121"/>
                    </a:solidFill>
                    <a:latin typeface="Roboto Condensed"/>
                  </a:rPr>
                  <a:t>: assign job </a:t>
                </a:r>
                <a14:m>
                  <m:oMath xmlns:m="http://schemas.openxmlformats.org/officeDocument/2006/math">
                    <m:r>
                      <a:rPr lang="en-US" sz="2400" i="1" dirty="0">
                        <a:solidFill>
                          <a:srgbClr val="212121"/>
                        </a:solidFill>
                        <a:latin typeface="Cambria Math" panose="02040503050406030204" pitchFamily="18" charset="0"/>
                      </a:rPr>
                      <m:t>3</m:t>
                    </m:r>
                  </m:oMath>
                </a14:m>
                <a:r>
                  <a:rPr lang="en-US" sz="2400" dirty="0">
                    <a:solidFill>
                      <a:srgbClr val="212121"/>
                    </a:solidFill>
                    <a:latin typeface="Roboto Condensed"/>
                  </a:rPr>
                  <a:t> to position </a:t>
                </a:r>
                <a14:m>
                  <m:oMath xmlns:m="http://schemas.openxmlformats.org/officeDocument/2006/math">
                    <m:r>
                      <a:rPr lang="en-US" sz="2400" i="1" dirty="0">
                        <a:solidFill>
                          <a:srgbClr val="212121"/>
                        </a:solidFill>
                        <a:latin typeface="Cambria Math" panose="02040503050406030204" pitchFamily="18" charset="0"/>
                      </a:rPr>
                      <m:t>1</m:t>
                    </m:r>
                  </m:oMath>
                </a14:m>
                <a:endParaRPr lang="da-DK" sz="2400" dirty="0">
                  <a:solidFill>
                    <a:srgbClr val="212121"/>
                  </a:solidFill>
                  <a:latin typeface="Roboto Condensed"/>
                </a:endParaRPr>
              </a:p>
            </p:txBody>
          </p:sp>
        </mc:Choice>
        <mc:Fallback xmlns="">
          <p:sp>
            <p:nvSpPr>
              <p:cNvPr id="21" name="Rectangle 20">
                <a:extLst>
                  <a:ext uri="{FF2B5EF4-FFF2-40B4-BE49-F238E27FC236}">
                    <a16:creationId xmlns:a16="http://schemas.microsoft.com/office/drawing/2014/main" id="{A082C200-E9B0-CC48-3AFC-44E6C854928B}"/>
                  </a:ext>
                </a:extLst>
              </p:cNvPr>
              <p:cNvSpPr>
                <a:spLocks noRot="1" noChangeAspect="1" noMove="1" noResize="1" noEditPoints="1" noAdjustHandles="1" noChangeArrowheads="1" noChangeShapeType="1" noTextEdit="1"/>
              </p:cNvSpPr>
              <p:nvPr/>
            </p:nvSpPr>
            <p:spPr>
              <a:xfrm>
                <a:off x="2296886" y="4666648"/>
                <a:ext cx="4887300" cy="461665"/>
              </a:xfrm>
              <a:prstGeom prst="rect">
                <a:avLst/>
              </a:prstGeom>
              <a:blipFill>
                <a:blip r:embed="rId7"/>
                <a:stretch>
                  <a:fillRect t="-9333" b="-32000"/>
                </a:stretch>
              </a:blipFill>
            </p:spPr>
            <p:txBody>
              <a:bodyPr/>
              <a:lstStyle/>
              <a:p>
                <a:r>
                  <a:rPr lang="en-IN">
                    <a:noFill/>
                  </a:rPr>
                  <a:t> </a:t>
                </a:r>
              </a:p>
            </p:txBody>
          </p:sp>
        </mc:Fallback>
      </mc:AlternateContent>
      <p:sp>
        <p:nvSpPr>
          <p:cNvPr id="22" name="Oval 21">
            <a:extLst>
              <a:ext uri="{FF2B5EF4-FFF2-40B4-BE49-F238E27FC236}">
                <a16:creationId xmlns:a16="http://schemas.microsoft.com/office/drawing/2014/main" id="{5003B49F-0E69-9A2B-E01D-282F939E5004}"/>
              </a:ext>
            </a:extLst>
          </p:cNvPr>
          <p:cNvSpPr/>
          <p:nvPr/>
        </p:nvSpPr>
        <p:spPr>
          <a:xfrm>
            <a:off x="5529134" y="3746035"/>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3" name="Rectangle 22">
            <a:extLst>
              <a:ext uri="{FF2B5EF4-FFF2-40B4-BE49-F238E27FC236}">
                <a16:creationId xmlns:a16="http://schemas.microsoft.com/office/drawing/2014/main" id="{F48620FB-5E59-1E8E-63DE-E17F3BB49F79}"/>
              </a:ext>
            </a:extLst>
          </p:cNvPr>
          <p:cNvSpPr/>
          <p:nvPr/>
        </p:nvSpPr>
        <p:spPr>
          <a:xfrm>
            <a:off x="3151094" y="5390276"/>
            <a:ext cx="5889812" cy="830997"/>
          </a:xfrm>
          <a:prstGeom prst="rect">
            <a:avLst/>
          </a:prstGeom>
          <a:solidFill>
            <a:srgbClr val="FFFFFF">
              <a:lumMod val="95000"/>
            </a:srgbClr>
          </a:solid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rPr>
              <a:t>But position 1 is already occupied and two jobs can not be executed in parallel, so reject job 3</a:t>
            </a:r>
          </a:p>
        </p:txBody>
      </p:sp>
      <p:pic>
        <p:nvPicPr>
          <p:cNvPr id="24" name="Picture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77716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1000"/>
                                        <p:tgtEl>
                                          <p:spTgt spid="20"/>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heel(1)">
                                      <p:cBhvr>
                                        <p:cTn id="14" dur="10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heel(1)">
                                      <p:cBhvr>
                                        <p:cTn id="47" dur="10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10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p:bldP spid="21" grpId="0"/>
      <p:bldP spid="22"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0"/>
            <a:ext cx="12205705" cy="68580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Rectangle 3">
            <a:extLst>
              <a:ext uri="{FF2B5EF4-FFF2-40B4-BE49-F238E27FC236}">
                <a16:creationId xmlns:a16="http://schemas.microsoft.com/office/drawing/2014/main" id="{C0A9CFD9-729F-FD0E-12EC-C0D7048A2D3F}"/>
              </a:ext>
            </a:extLst>
          </p:cNvPr>
          <p:cNvSpPr/>
          <p:nvPr/>
        </p:nvSpPr>
        <p:spPr>
          <a:xfrm>
            <a:off x="3076015" y="34036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6" name="Rectangle 5">
            <a:extLst>
              <a:ext uri="{FF2B5EF4-FFF2-40B4-BE49-F238E27FC236}">
                <a16:creationId xmlns:a16="http://schemas.microsoft.com/office/drawing/2014/main" id="{F3C29962-3E08-AAE0-7535-DA77DDF42D6C}"/>
              </a:ext>
            </a:extLst>
          </p:cNvPr>
          <p:cNvSpPr/>
          <p:nvPr/>
        </p:nvSpPr>
        <p:spPr>
          <a:xfrm>
            <a:off x="5432527"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7" name="Rectangle 6">
            <a:extLst>
              <a:ext uri="{FF2B5EF4-FFF2-40B4-BE49-F238E27FC236}">
                <a16:creationId xmlns:a16="http://schemas.microsoft.com/office/drawing/2014/main" id="{E60A4F18-E1A5-413F-DA72-9D86365F1D75}"/>
              </a:ext>
            </a:extLst>
          </p:cNvPr>
          <p:cNvSpPr/>
          <p:nvPr/>
        </p:nvSpPr>
        <p:spPr>
          <a:xfrm>
            <a:off x="6116055"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8" name="Rectangle 7">
            <a:extLst>
              <a:ext uri="{FF2B5EF4-FFF2-40B4-BE49-F238E27FC236}">
                <a16:creationId xmlns:a16="http://schemas.microsoft.com/office/drawing/2014/main" id="{305DEE22-0E59-0E88-31F5-82B8A9D4C01C}"/>
              </a:ext>
            </a:extLst>
          </p:cNvPr>
          <p:cNvSpPr/>
          <p:nvPr/>
        </p:nvSpPr>
        <p:spPr>
          <a:xfrm>
            <a:off x="6806399"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0" name="Rectangle 9">
            <a:extLst>
              <a:ext uri="{FF2B5EF4-FFF2-40B4-BE49-F238E27FC236}">
                <a16:creationId xmlns:a16="http://schemas.microsoft.com/office/drawing/2014/main" id="{05A09AC9-6EF3-88A0-14D3-7E388A5481E4}"/>
              </a:ext>
            </a:extLst>
          </p:cNvPr>
          <p:cNvSpPr/>
          <p:nvPr/>
        </p:nvSpPr>
        <p:spPr>
          <a:xfrm>
            <a:off x="3076015" y="386364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1" name="Rectangle 10">
            <a:extLst>
              <a:ext uri="{FF2B5EF4-FFF2-40B4-BE49-F238E27FC236}">
                <a16:creationId xmlns:a16="http://schemas.microsoft.com/office/drawing/2014/main" id="{D59E543A-E952-6142-CA38-C595D821279C}"/>
              </a:ext>
            </a:extLst>
          </p:cNvPr>
          <p:cNvSpPr/>
          <p:nvPr/>
        </p:nvSpPr>
        <p:spPr>
          <a:xfrm>
            <a:off x="5432527"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J2</a:t>
            </a:r>
          </a:p>
        </p:txBody>
      </p:sp>
      <p:sp>
        <p:nvSpPr>
          <p:cNvPr id="12" name="Rectangle 11">
            <a:extLst>
              <a:ext uri="{FF2B5EF4-FFF2-40B4-BE49-F238E27FC236}">
                <a16:creationId xmlns:a16="http://schemas.microsoft.com/office/drawing/2014/main" id="{F05DB3CA-B76E-B94D-A869-099A5CE17BC2}"/>
              </a:ext>
            </a:extLst>
          </p:cNvPr>
          <p:cNvSpPr/>
          <p:nvPr/>
        </p:nvSpPr>
        <p:spPr>
          <a:xfrm>
            <a:off x="6116055"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J4</a:t>
            </a:r>
          </a:p>
        </p:txBody>
      </p:sp>
      <p:sp>
        <p:nvSpPr>
          <p:cNvPr id="13" name="Rectangle 12">
            <a:extLst>
              <a:ext uri="{FF2B5EF4-FFF2-40B4-BE49-F238E27FC236}">
                <a16:creationId xmlns:a16="http://schemas.microsoft.com/office/drawing/2014/main" id="{50742F8B-39BC-1A30-EF31-1664BE4F06AC}"/>
              </a:ext>
            </a:extLst>
          </p:cNvPr>
          <p:cNvSpPr/>
          <p:nvPr/>
        </p:nvSpPr>
        <p:spPr>
          <a:xfrm>
            <a:off x="6806399"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FE982F45-B185-5B0C-2B78-CB0EEBFA69BA}"/>
                  </a:ext>
                </a:extLst>
              </p:cNvPr>
              <p:cNvGraphicFramePr>
                <a:graphicFrameLocks noGrp="1"/>
              </p:cNvGraphicFramePr>
              <p:nvPr>
                <p:extLst>
                  <p:ext uri="{D42A27DB-BD31-4B8C-83A1-F6EECF244321}">
                    <p14:modId xmlns:p14="http://schemas.microsoft.com/office/powerpoint/2010/main" val="2367709851"/>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4" name="Table 13">
                <a:extLst>
                  <a:ext uri="{FF2B5EF4-FFF2-40B4-BE49-F238E27FC236}">
                    <a16:creationId xmlns:a16="http://schemas.microsoft.com/office/drawing/2014/main" id="{FE982F45-B185-5B0C-2B78-CB0EEBFA69BA}"/>
                  </a:ext>
                </a:extLst>
              </p:cNvPr>
              <p:cNvGraphicFramePr>
                <a:graphicFrameLocks noGrp="1"/>
              </p:cNvGraphicFramePr>
              <p:nvPr>
                <p:extLst>
                  <p:ext uri="{D42A27DB-BD31-4B8C-83A1-F6EECF244321}">
                    <p14:modId xmlns:p14="http://schemas.microsoft.com/office/powerpoint/2010/main" val="2367709851"/>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1429" r="-251042"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1429" r="-5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429" r="-4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429" r="-3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429" r="-2000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429" r="-101667"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429" r="-1667" b="-290000"/>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09859" r="-251042"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09859" r="-5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09859" r="-4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09859" r="-3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09859" r="-2000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09859" r="-101667"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09859" r="-1667" b="-185915"/>
                          </a:stretch>
                        </a:blipFill>
                      </a:tcPr>
                    </a:tc>
                    <a:extLst>
                      <a:ext uri="{0D108BD9-81ED-4DB2-BD59-A6C34878D82A}">
                        <a16:rowId xmlns:a16="http://schemas.microsoft.com/office/drawing/2014/main" val="3016479883"/>
                      </a:ext>
                    </a:extLst>
                  </a:tr>
                  <a:tr h="731520">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24167" r="-251042"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24167" r="-5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24167" r="-4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24167" r="-3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24167" r="-2000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24167" r="-101667"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24167" r="-1667" b="-10000"/>
                          </a:stretch>
                        </a:blipFill>
                      </a:tcPr>
                    </a:tc>
                    <a:extLst>
                      <a:ext uri="{0D108BD9-81ED-4DB2-BD59-A6C34878D82A}">
                        <a16:rowId xmlns:a16="http://schemas.microsoft.com/office/drawing/2014/main" val="2033643208"/>
                      </a:ext>
                    </a:extLst>
                  </a:tr>
                </a:tbl>
              </a:graphicData>
            </a:graphic>
          </p:graphicFrame>
        </mc:Fallback>
      </mc:AlternateContent>
      <p:sp>
        <p:nvSpPr>
          <p:cNvPr id="15" name="Rectangle 14">
            <a:extLst>
              <a:ext uri="{FF2B5EF4-FFF2-40B4-BE49-F238E27FC236}">
                <a16:creationId xmlns:a16="http://schemas.microsoft.com/office/drawing/2014/main" id="{38686292-9C93-EB4D-46B3-3F1BACC5C0DC}"/>
              </a:ext>
            </a:extLst>
          </p:cNvPr>
          <p:cNvSpPr/>
          <p:nvPr/>
        </p:nvSpPr>
        <p:spPr>
          <a:xfrm>
            <a:off x="568672" y="1729151"/>
            <a:ext cx="1243556"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6:</a:t>
            </a:r>
          </a:p>
        </p:txBody>
      </p:sp>
      <p:sp>
        <p:nvSpPr>
          <p:cNvPr id="16" name="Oval 15">
            <a:extLst>
              <a:ext uri="{FF2B5EF4-FFF2-40B4-BE49-F238E27FC236}">
                <a16:creationId xmlns:a16="http://schemas.microsoft.com/office/drawing/2014/main" id="{5A2C75BF-5EF9-4A09-B2FC-E27DBF36690D}"/>
              </a:ext>
            </a:extLst>
          </p:cNvPr>
          <p:cNvSpPr/>
          <p:nvPr/>
        </p:nvSpPr>
        <p:spPr>
          <a:xfrm>
            <a:off x="6225819" y="2075040"/>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7432B81-B953-57C2-919B-49961914F512}"/>
                  </a:ext>
                </a:extLst>
              </p:cNvPr>
              <p:cNvSpPr/>
              <p:nvPr/>
            </p:nvSpPr>
            <p:spPr>
              <a:xfrm>
                <a:off x="1976411" y="2655105"/>
                <a:ext cx="9612085" cy="830997"/>
              </a:xfrm>
              <a:prstGeom prst="rect">
                <a:avLst/>
              </a:prstGeom>
            </p:spPr>
            <p:txBody>
              <a:bodyPr wrap="square">
                <a:spAutoFit/>
              </a:bodyPr>
              <a:lstStyle/>
              <a:p>
                <a:pPr marL="400050" lvl="1"/>
                <a14:m>
                  <m:oMath xmlns:m="http://schemas.openxmlformats.org/officeDocument/2006/math">
                    <m:r>
                      <a:rPr lang="en-US" sz="2400" i="1" dirty="0" smtClean="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4</m:t>
                    </m:r>
                    <m:r>
                      <a:rPr lang="en-US" sz="2400" i="1" dirty="0">
                        <a:solidFill>
                          <a:srgbClr val="212121"/>
                        </a:solidFill>
                        <a:latin typeface="Cambria Math" panose="02040503050406030204" pitchFamily="18" charset="0"/>
                      </a:rPr>
                      <m:t> =3 :</m:t>
                    </m:r>
                    <m:r>
                      <m:rPr>
                        <m:sty m:val="p"/>
                      </m:rPr>
                      <a:rPr lang="en-US" sz="2400" b="0" i="0" dirty="0" smtClean="0">
                        <a:solidFill>
                          <a:srgbClr val="212121"/>
                        </a:solidFill>
                        <a:latin typeface="Cambria Math" panose="02040503050406030204" pitchFamily="18" charset="0"/>
                      </a:rPr>
                      <m:t>A</m:t>
                    </m:r>
                  </m:oMath>
                </a14:m>
                <a:r>
                  <a:rPr lang="en-US" sz="2400" dirty="0" smtClean="0">
                    <a:solidFill>
                      <a:srgbClr val="212121"/>
                    </a:solidFill>
                    <a:latin typeface="Trebuchet MS" panose="020B0603020202020204" pitchFamily="34" charset="0"/>
                  </a:rPr>
                  <a:t>ssign </a:t>
                </a:r>
                <a:r>
                  <a:rPr lang="en-US" sz="2400" dirty="0">
                    <a:solidFill>
                      <a:srgbClr val="212121"/>
                    </a:solidFill>
                    <a:latin typeface="Trebuchet MS" panose="020B0603020202020204" pitchFamily="34" charset="0"/>
                  </a:rPr>
                  <a:t>job </a:t>
                </a:r>
                <a14:m>
                  <m:oMath xmlns:m="http://schemas.openxmlformats.org/officeDocument/2006/math">
                    <m:r>
                      <a:rPr lang="en-US" sz="2400" i="1" dirty="0">
                        <a:solidFill>
                          <a:srgbClr val="212121"/>
                        </a:solidFill>
                        <a:latin typeface="Cambria Math" panose="02040503050406030204" pitchFamily="18" charset="0"/>
                      </a:rPr>
                      <m:t>4</m:t>
                    </m:r>
                  </m:oMath>
                </a14:m>
                <a:r>
                  <a:rPr lang="en-US" sz="2400" dirty="0">
                    <a:solidFill>
                      <a:srgbClr val="212121"/>
                    </a:solidFill>
                    <a:latin typeface="Trebuchet MS" panose="020B0603020202020204" pitchFamily="34" charset="0"/>
                  </a:rPr>
                  <a:t> to position </a:t>
                </a:r>
                <a14:m>
                  <m:oMath xmlns:m="http://schemas.openxmlformats.org/officeDocument/2006/math">
                    <m:r>
                      <a:rPr lang="en-US" sz="2400" i="1" dirty="0">
                        <a:solidFill>
                          <a:srgbClr val="212121"/>
                        </a:solidFill>
                        <a:latin typeface="Cambria Math" panose="02040503050406030204" pitchFamily="18" charset="0"/>
                      </a:rPr>
                      <m:t>2 </m:t>
                    </m:r>
                  </m:oMath>
                </a14:m>
                <a:r>
                  <a:rPr lang="en-US" sz="2400" dirty="0">
                    <a:solidFill>
                      <a:srgbClr val="212121"/>
                    </a:solidFill>
                    <a:latin typeface="Trebuchet MS" panose="020B0603020202020204" pitchFamily="34" charset="0"/>
                  </a:rPr>
                  <a:t>as, position </a:t>
                </a:r>
                <a14:m>
                  <m:oMath xmlns:m="http://schemas.openxmlformats.org/officeDocument/2006/math">
                    <m:r>
                      <a:rPr lang="en-US" sz="2400" i="1" dirty="0">
                        <a:solidFill>
                          <a:srgbClr val="212121"/>
                        </a:solidFill>
                        <a:latin typeface="Cambria Math" panose="02040503050406030204" pitchFamily="18" charset="0"/>
                      </a:rPr>
                      <m:t>3</m:t>
                    </m:r>
                  </m:oMath>
                </a14:m>
                <a:r>
                  <a:rPr lang="en-US" sz="2400" dirty="0">
                    <a:solidFill>
                      <a:srgbClr val="212121"/>
                    </a:solidFill>
                    <a:latin typeface="Trebuchet MS" panose="020B0603020202020204" pitchFamily="34" charset="0"/>
                  </a:rPr>
                  <a:t> is not free but position </a:t>
                </a:r>
                <a14:m>
                  <m:oMath xmlns:m="http://schemas.openxmlformats.org/officeDocument/2006/math">
                    <m:r>
                      <a:rPr lang="en-US" sz="2400" i="1" dirty="0">
                        <a:solidFill>
                          <a:srgbClr val="212121"/>
                        </a:solidFill>
                        <a:latin typeface="Cambria Math" panose="02040503050406030204" pitchFamily="18" charset="0"/>
                      </a:rPr>
                      <m:t>2</m:t>
                    </m:r>
                  </m:oMath>
                </a14:m>
                <a:r>
                  <a:rPr lang="en-US" sz="2400" dirty="0">
                    <a:solidFill>
                      <a:srgbClr val="212121"/>
                    </a:solidFill>
                    <a:latin typeface="Trebuchet MS" panose="020B0603020202020204" pitchFamily="34" charset="0"/>
                  </a:rPr>
                  <a:t> is free.</a:t>
                </a:r>
              </a:p>
            </p:txBody>
          </p:sp>
        </mc:Choice>
        <mc:Fallback xmlns="">
          <p:sp>
            <p:nvSpPr>
              <p:cNvPr id="17" name="Rectangle 16">
                <a:extLst>
                  <a:ext uri="{FF2B5EF4-FFF2-40B4-BE49-F238E27FC236}">
                    <a16:creationId xmlns:a16="http://schemas.microsoft.com/office/drawing/2014/main" id="{E7432B81-B953-57C2-919B-49961914F512}"/>
                  </a:ext>
                </a:extLst>
              </p:cNvPr>
              <p:cNvSpPr>
                <a:spLocks noRot="1" noChangeAspect="1" noMove="1" noResize="1" noEditPoints="1" noAdjustHandles="1" noChangeArrowheads="1" noChangeShapeType="1" noTextEdit="1"/>
              </p:cNvSpPr>
              <p:nvPr/>
            </p:nvSpPr>
            <p:spPr>
              <a:xfrm>
                <a:off x="1976411" y="2655105"/>
                <a:ext cx="9612085" cy="830997"/>
              </a:xfrm>
              <a:prstGeom prst="rect">
                <a:avLst/>
              </a:prstGeom>
              <a:blipFill>
                <a:blip r:embed="rId5"/>
                <a:stretch>
                  <a:fillRect t="-5882" b="-16176"/>
                </a:stretch>
              </a:blipFill>
            </p:spPr>
            <p:txBody>
              <a:bodyPr/>
              <a:lstStyle/>
              <a:p>
                <a:r>
                  <a:rPr lang="en-IN">
                    <a:noFill/>
                  </a:rPr>
                  <a:t> </a:t>
                </a:r>
              </a:p>
            </p:txBody>
          </p:sp>
        </mc:Fallback>
      </mc:AlternateContent>
      <p:sp>
        <p:nvSpPr>
          <p:cNvPr id="18" name="Rectangle 17">
            <a:extLst>
              <a:ext uri="{FF2B5EF4-FFF2-40B4-BE49-F238E27FC236}">
                <a16:creationId xmlns:a16="http://schemas.microsoft.com/office/drawing/2014/main" id="{667F2EEE-EA9F-01CC-4297-F887E28FB1B9}"/>
              </a:ext>
            </a:extLst>
          </p:cNvPr>
          <p:cNvSpPr/>
          <p:nvPr/>
        </p:nvSpPr>
        <p:spPr>
          <a:xfrm>
            <a:off x="1970317" y="4629638"/>
            <a:ext cx="8708569" cy="1569660"/>
          </a:xfrm>
          <a:prstGeom prst="rect">
            <a:avLst/>
          </a:prstGeom>
        </p:spPr>
        <p:txBody>
          <a:bodyPr wrap="square">
            <a:spAutoFit/>
          </a:bodyPr>
          <a:lstStyle/>
          <a:p>
            <a:r>
              <a:rPr lang="en-US" sz="2400" dirty="0">
                <a:solidFill>
                  <a:srgbClr val="212121"/>
                </a:solidFill>
                <a:latin typeface="Roboto Condensed"/>
              </a:rPr>
              <a:t>Now </a:t>
            </a:r>
            <a:r>
              <a:rPr lang="en-US" sz="2400" b="1" dirty="0">
                <a:solidFill>
                  <a:srgbClr val="212121"/>
                </a:solidFill>
                <a:latin typeface="Roboto Condensed"/>
              </a:rPr>
              <a:t>no more free position </a:t>
            </a:r>
            <a:r>
              <a:rPr lang="en-US" sz="2400" dirty="0">
                <a:solidFill>
                  <a:srgbClr val="212121"/>
                </a:solidFill>
                <a:latin typeface="Roboto Condensed"/>
              </a:rPr>
              <a:t>is left so no more jobs can be scheduled. </a:t>
            </a:r>
            <a:endParaRPr lang="en-US" sz="2400" dirty="0" smtClean="0">
              <a:solidFill>
                <a:srgbClr val="212121"/>
              </a:solidFill>
              <a:latin typeface="Roboto Condensed"/>
            </a:endParaRPr>
          </a:p>
          <a:p>
            <a:endParaRPr lang="en-US" sz="2400" dirty="0">
              <a:solidFill>
                <a:srgbClr val="212121"/>
              </a:solidFill>
              <a:latin typeface="Roboto Condensed"/>
            </a:endParaRPr>
          </a:p>
          <a:p>
            <a:r>
              <a:rPr lang="en-US" sz="2400" dirty="0">
                <a:solidFill>
                  <a:srgbClr val="212121"/>
                </a:solidFill>
                <a:latin typeface="Roboto Condensed"/>
              </a:rPr>
              <a:t>The final optimal sequence: </a:t>
            </a:r>
            <a:endParaRPr lang="da-DK" sz="2400" dirty="0">
              <a:solidFill>
                <a:srgbClr val="212121"/>
              </a:solidFill>
              <a:latin typeface="Roboto Condensed"/>
            </a:endParaRPr>
          </a:p>
        </p:txBody>
      </p:sp>
      <p:sp>
        <p:nvSpPr>
          <p:cNvPr id="19" name="Oval 18">
            <a:extLst>
              <a:ext uri="{FF2B5EF4-FFF2-40B4-BE49-F238E27FC236}">
                <a16:creationId xmlns:a16="http://schemas.microsoft.com/office/drawing/2014/main" id="{665D0294-FBF9-465C-9D5F-E48FB5AB6FD7}"/>
              </a:ext>
            </a:extLst>
          </p:cNvPr>
          <p:cNvSpPr/>
          <p:nvPr/>
        </p:nvSpPr>
        <p:spPr>
          <a:xfrm>
            <a:off x="6225819" y="3876665"/>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0" name="Rectangle 19">
            <a:extLst>
              <a:ext uri="{FF2B5EF4-FFF2-40B4-BE49-F238E27FC236}">
                <a16:creationId xmlns:a16="http://schemas.microsoft.com/office/drawing/2014/main" id="{479BD83C-6FE9-582A-E3C9-C6CCE809A9EA}"/>
              </a:ext>
            </a:extLst>
          </p:cNvPr>
          <p:cNvSpPr/>
          <p:nvPr/>
        </p:nvSpPr>
        <p:spPr>
          <a:xfrm>
            <a:off x="1970317" y="6101229"/>
            <a:ext cx="7109640" cy="461665"/>
          </a:xfrm>
          <a:prstGeom prst="rect">
            <a:avLst/>
          </a:prstGeom>
          <a:solidFill>
            <a:srgbClr val="FFFFFF">
              <a:lumMod val="95000"/>
            </a:srgbClr>
          </a:solid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Roboto Condensed"/>
              </a:rPr>
              <a:t>Execute the job in order </a:t>
            </a:r>
            <a:r>
              <a:rPr kumimoji="0" lang="en-US" sz="2400" b="1" i="0" u="none" strike="noStrike" kern="0" cap="none" spc="0" normalizeH="0" baseline="0" noProof="0" dirty="0">
                <a:ln>
                  <a:noFill/>
                </a:ln>
                <a:solidFill>
                  <a:srgbClr val="0070C0"/>
                </a:solidFill>
                <a:effectLst/>
                <a:uLnTx/>
                <a:uFillTx/>
                <a:latin typeface="Roboto Condensed"/>
              </a:rPr>
              <a:t>2, 4, 1 </a:t>
            </a:r>
            <a:r>
              <a:rPr kumimoji="0" lang="en-US" sz="2400" b="1" i="0" u="none" strike="noStrike" kern="0" cap="none" spc="0" normalizeH="0" baseline="0" noProof="0" dirty="0">
                <a:ln>
                  <a:noFill/>
                </a:ln>
                <a:solidFill>
                  <a:srgbClr val="AD1457"/>
                </a:solidFill>
                <a:effectLst/>
                <a:uLnTx/>
                <a:uFillTx/>
                <a:latin typeface="Roboto Condensed"/>
              </a:rPr>
              <a:t>with total profit value </a:t>
            </a:r>
            <a:r>
              <a:rPr kumimoji="0" lang="en-US" sz="2400" b="1" i="0" u="none" strike="noStrike" kern="0" cap="none" spc="0" normalizeH="0" baseline="0" noProof="0" dirty="0">
                <a:ln>
                  <a:noFill/>
                </a:ln>
                <a:solidFill>
                  <a:srgbClr val="0070C0"/>
                </a:solidFill>
                <a:effectLst/>
                <a:uLnTx/>
                <a:uFillTx/>
                <a:latin typeface="Roboto Condensed"/>
              </a:rPr>
              <a:t>42.</a:t>
            </a:r>
          </a:p>
        </p:txBody>
      </p:sp>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50009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1000"/>
                                        <p:tgtEl>
                                          <p:spTgt spid="17"/>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heel(1)">
                                      <p:cBhvr>
                                        <p:cTn id="14" dur="10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heel(1)">
                                      <p:cBhvr>
                                        <p:cTn id="47" dur="20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p:bldP spid="18" grpId="0"/>
      <p:bldP spid="19" grpId="0" animBg="1"/>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5" name="TextBox 4">
            <a:extLst>
              <a:ext uri="{FF2B5EF4-FFF2-40B4-BE49-F238E27FC236}">
                <a16:creationId xmlns:a16="http://schemas.microsoft.com/office/drawing/2014/main" id="{2D954558-5773-8294-25A9-4512DF984FE4}"/>
              </a:ext>
            </a:extLst>
          </p:cNvPr>
          <p:cNvSpPr txBox="1"/>
          <p:nvPr/>
        </p:nvSpPr>
        <p:spPr>
          <a:xfrm>
            <a:off x="860289" y="1949369"/>
            <a:ext cx="10991445" cy="3136243"/>
          </a:xfrm>
          <a:prstGeom prst="rect">
            <a:avLst/>
          </a:prstGeom>
          <a:noFill/>
        </p:spPr>
        <p:txBody>
          <a:bodyPr wrap="square">
            <a:spAutoFit/>
          </a:bodyPr>
          <a:lstStyle/>
          <a:p>
            <a:pPr marL="514350" marR="0" lvl="0" indent="-51435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𝒏=4. </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Profits: (a, b, c, d) = (20,10,40,30)  &amp;</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Deadline: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1</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2</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3</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4</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 (4, 1, 1, 1)</a:t>
            </a:r>
          </a:p>
          <a:p>
            <a:pPr marL="514350" marR="0" lvl="0" indent="-51435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𝒏=5. </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Profits: (a, b, c, d, e) = (100,19,27,25,15)  &amp;</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Deadline: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1</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2</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3</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4</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5</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 (2, 1, 2, 1, 3)</a:t>
            </a: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9420A111-53A5-B017-9DB5-79A8C99DAA7C}"/>
              </a:ext>
            </a:extLst>
          </p:cNvPr>
          <p:cNvSpPr txBox="1"/>
          <p:nvPr/>
        </p:nvSpPr>
        <p:spPr>
          <a:xfrm>
            <a:off x="668561" y="1166690"/>
            <a:ext cx="6194322" cy="523220"/>
          </a:xfrm>
          <a:prstGeom prst="rect">
            <a:avLst/>
          </a:prstGeom>
          <a:noFill/>
        </p:spPr>
        <p:txBody>
          <a:bodyPr wrap="square">
            <a:spAutoFit/>
          </a:bodyPr>
          <a:lstStyle/>
          <a:p>
            <a:r>
              <a:rPr kumimoji="0" lang="en-US" sz="2800" b="1" i="0" u="none" strike="noStrike" kern="1200" cap="none" spc="0" normalizeH="0" baseline="0" noProof="0" dirty="0" smtClean="0">
                <a:ln>
                  <a:noFill/>
                </a:ln>
                <a:solidFill>
                  <a:srgbClr val="212121">
                    <a:lumMod val="90000"/>
                    <a:lumOff val="10000"/>
                  </a:srgbClr>
                </a:solidFill>
                <a:effectLst/>
                <a:uLnTx/>
                <a:uFillTx/>
                <a:latin typeface="Trebuchet MS" panose="020B0603020202020204" pitchFamily="34" charset="0"/>
                <a:ea typeface="+mj-ea"/>
                <a:cs typeface="+mj-cs"/>
              </a:rPr>
              <a:t>Exercises:</a:t>
            </a:r>
            <a:endParaRPr lang="en-IN" sz="1400" dirty="0">
              <a:latin typeface="Trebuchet MS" panose="020B0603020202020204" pitchFamily="34" charset="0"/>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44757090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pic>
        <p:nvPicPr>
          <p:cNvPr id="10"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sp>
        <p:nvSpPr>
          <p:cNvPr id="11" name="Google Shape;97;p17"/>
          <p:cNvSpPr txBox="1"/>
          <p:nvPr/>
        </p:nvSpPr>
        <p:spPr>
          <a:xfrm>
            <a:off x="188437" y="7074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US" sz="3600" b="1" dirty="0">
                <a:solidFill>
                  <a:schemeClr val="bg1"/>
                </a:solidFill>
                <a:latin typeface="Trebuchet MS" panose="020B0603020202020204" pitchFamily="34" charset="0"/>
              </a:rPr>
              <a:t>Introduction to Graph</a:t>
            </a:r>
            <a:endParaRPr lang="en-IN" sz="3600" b="1" i="0" u="none" strike="noStrike" baseline="0" dirty="0">
              <a:solidFill>
                <a:schemeClr val="bg1"/>
              </a:solidFill>
              <a:latin typeface="Trebuchet MS" panose="020B0603020202020204" pitchFamily="34" charset="0"/>
            </a:endParaRPr>
          </a:p>
        </p:txBody>
      </p:sp>
      <p:sp>
        <p:nvSpPr>
          <p:cNvPr id="1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7E53997-7B44-24FA-C3B1-7CA5D3A076B8}"/>
                  </a:ext>
                </a:extLst>
              </p:cNvPr>
              <p:cNvSpPr txBox="1"/>
              <p:nvPr/>
            </p:nvSpPr>
            <p:spPr>
              <a:xfrm>
                <a:off x="483256" y="1679662"/>
                <a:ext cx="11211396" cy="1200329"/>
              </a:xfrm>
              <a:prstGeom prst="rect">
                <a:avLst/>
              </a:prstGeom>
              <a:noFill/>
            </p:spPr>
            <p:txBody>
              <a:bodyPr wrap="square">
                <a:spAutoFit/>
              </a:bodyPr>
              <a:lstStyle/>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 graph </a:t>
                </a:r>
                <a14:m>
                  <m:oMath xmlns:m="http://schemas.openxmlformats.org/officeDocument/2006/math">
                    <m:r>
                      <a:rPr kumimoji="0" lang="en-IN" sz="2400" b="1" i="1" u="none" strike="noStrike" kern="1200" cap="none" spc="0" normalizeH="0" baseline="0" noProof="0" smtClean="0">
                        <a:ln>
                          <a:noFill/>
                        </a:ln>
                        <a:solidFill>
                          <a:srgbClr val="AD1457"/>
                        </a:solidFill>
                        <a:effectLst/>
                        <a:uLnTx/>
                        <a:uFillTx/>
                        <a:latin typeface="Cambria Math" panose="02040503050406030204" pitchFamily="18" charset="0"/>
                      </a:rPr>
                      <m:t>𝐆</m:t>
                    </m:r>
                    <m:r>
                      <a:rPr kumimoji="0" lang="en-IN" sz="2400" b="1" i="0" u="none" strike="noStrike" kern="1200" cap="none" spc="0" normalizeH="0" baseline="0" noProof="0">
                        <a:ln>
                          <a:noFill/>
                        </a:ln>
                        <a:solidFill>
                          <a:srgbClr val="AD1457"/>
                        </a:solidFill>
                        <a:effectLst/>
                        <a:uLnTx/>
                        <a:uFillTx/>
                        <a:latin typeface="Cambria Math" panose="02040503050406030204" pitchFamily="18" charset="0"/>
                      </a:rPr>
                      <m:t>=</m:t>
                    </m:r>
                    <m:d>
                      <m:dPr>
                        <m:begChr m:val="⟨"/>
                        <m:endChr m:val=""/>
                        <m:ctrlP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ctrlPr>
                      </m:dPr>
                      <m:e>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𝑵</m:t>
                        </m:r>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 </m:t>
                        </m:r>
                      </m:e>
                    </m:d>
                    <m:d>
                      <m:dPr>
                        <m:begChr m:val=""/>
                        <m:endChr m:val="⟩"/>
                        <m:ctrlP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ctrlPr>
                      </m:dPr>
                      <m:e>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𝑨</m:t>
                        </m:r>
                      </m:e>
                    </m:d>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consists of a non-empty set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𝑵</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called the set of nodes (vertices) of the graph, a set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𝑨</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called the set of edges that also represents a mapping from the set of edges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𝑨</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to a set of pairs of elements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𝑵</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t>
                </a:r>
              </a:p>
            </p:txBody>
          </p:sp>
        </mc:Choice>
        <mc:Fallback xmlns="">
          <p:sp>
            <p:nvSpPr>
              <p:cNvPr id="13" name="TextBox 12">
                <a:extLst>
                  <a:ext uri="{FF2B5EF4-FFF2-40B4-BE49-F238E27FC236}">
                    <a16:creationId xmlns:a16="http://schemas.microsoft.com/office/drawing/2014/main" id="{47E53997-7B44-24FA-C3B1-7CA5D3A076B8}"/>
                  </a:ext>
                </a:extLst>
              </p:cNvPr>
              <p:cNvSpPr txBox="1">
                <a:spLocks noRot="1" noChangeAspect="1" noMove="1" noResize="1" noEditPoints="1" noAdjustHandles="1" noChangeArrowheads="1" noChangeShapeType="1" noTextEdit="1"/>
              </p:cNvSpPr>
              <p:nvPr/>
            </p:nvSpPr>
            <p:spPr>
              <a:xfrm>
                <a:off x="483256" y="1679662"/>
                <a:ext cx="11211396" cy="1200329"/>
              </a:xfrm>
              <a:prstGeom prst="rect">
                <a:avLst/>
              </a:prstGeom>
              <a:blipFill>
                <a:blip r:embed="rId6"/>
                <a:stretch>
                  <a:fillRect l="-707" t="-49490" r="-870" b="-15306"/>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251F1E03-591E-BD77-8C7F-75935A9B7A38}"/>
              </a:ext>
            </a:extLst>
          </p:cNvPr>
          <p:cNvSpPr txBox="1"/>
          <p:nvPr/>
        </p:nvSpPr>
        <p:spPr>
          <a:xfrm>
            <a:off x="316592" y="1032037"/>
            <a:ext cx="6194322" cy="461665"/>
          </a:xfrm>
          <a:prstGeom prst="rect">
            <a:avLst/>
          </a:prstGeom>
          <a:noFill/>
        </p:spPr>
        <p:txBody>
          <a:bodyPr wrap="square">
            <a:spAutoFit/>
          </a:bodyPr>
          <a:lstStyle/>
          <a:p>
            <a:r>
              <a:rPr kumimoji="0" lang="en-US" sz="2400" b="1" i="0" u="none" strike="noStrike" kern="1200" cap="none" spc="0" normalizeH="0" baseline="0" noProof="0" dirty="0">
                <a:ln>
                  <a:noFill/>
                </a:ln>
                <a:solidFill>
                  <a:srgbClr val="212121">
                    <a:lumMod val="90000"/>
                    <a:lumOff val="10000"/>
                  </a:srgbClr>
                </a:solidFill>
                <a:effectLst/>
                <a:uLnTx/>
                <a:uFillTx/>
                <a:latin typeface="Trebuchet MS" panose="020B0603020202020204" pitchFamily="34" charset="0"/>
                <a:ea typeface="+mj-ea"/>
                <a:cs typeface="+mj-cs"/>
              </a:rPr>
              <a:t>Graph - Definition</a:t>
            </a:r>
            <a:endParaRPr lang="en-IN" sz="1200" dirty="0">
              <a:latin typeface="Trebuchet MS" panose="020B0603020202020204" pitchFamily="34" charset="0"/>
            </a:endParaRPr>
          </a:p>
        </p:txBody>
      </p:sp>
      <p:sp>
        <p:nvSpPr>
          <p:cNvPr id="15" name="Oval 14">
            <a:extLst>
              <a:ext uri="{FF2B5EF4-FFF2-40B4-BE49-F238E27FC236}">
                <a16:creationId xmlns:a16="http://schemas.microsoft.com/office/drawing/2014/main" id="{EDEF4F7A-5918-F732-AC56-3D8B0D1EF42B}"/>
              </a:ext>
            </a:extLst>
          </p:cNvPr>
          <p:cNvSpPr/>
          <p:nvPr/>
        </p:nvSpPr>
        <p:spPr>
          <a:xfrm>
            <a:off x="4678658" y="3998218"/>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A</a:t>
            </a:r>
          </a:p>
        </p:txBody>
      </p:sp>
      <p:sp>
        <p:nvSpPr>
          <p:cNvPr id="16" name="Oval 15">
            <a:extLst>
              <a:ext uri="{FF2B5EF4-FFF2-40B4-BE49-F238E27FC236}">
                <a16:creationId xmlns:a16="http://schemas.microsoft.com/office/drawing/2014/main" id="{1457725B-4926-0BE2-F38B-53537D9680D2}"/>
              </a:ext>
            </a:extLst>
          </p:cNvPr>
          <p:cNvSpPr/>
          <p:nvPr/>
        </p:nvSpPr>
        <p:spPr>
          <a:xfrm>
            <a:off x="6202658" y="5645277"/>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F</a:t>
            </a:r>
          </a:p>
        </p:txBody>
      </p:sp>
      <p:sp>
        <p:nvSpPr>
          <p:cNvPr id="17" name="Oval 16">
            <a:extLst>
              <a:ext uri="{FF2B5EF4-FFF2-40B4-BE49-F238E27FC236}">
                <a16:creationId xmlns:a16="http://schemas.microsoft.com/office/drawing/2014/main" id="{F9970AEA-9888-30C6-341E-0C27184FC6AB}"/>
              </a:ext>
            </a:extLst>
          </p:cNvPr>
          <p:cNvSpPr/>
          <p:nvPr/>
        </p:nvSpPr>
        <p:spPr>
          <a:xfrm>
            <a:off x="5897858" y="4571851"/>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C</a:t>
            </a:r>
          </a:p>
        </p:txBody>
      </p:sp>
      <p:sp>
        <p:nvSpPr>
          <p:cNvPr id="18" name="Oval 17">
            <a:extLst>
              <a:ext uri="{FF2B5EF4-FFF2-40B4-BE49-F238E27FC236}">
                <a16:creationId xmlns:a16="http://schemas.microsoft.com/office/drawing/2014/main" id="{E7C6B5CF-74EE-C2B9-7602-4513B3867352}"/>
              </a:ext>
            </a:extLst>
          </p:cNvPr>
          <p:cNvSpPr/>
          <p:nvPr/>
        </p:nvSpPr>
        <p:spPr>
          <a:xfrm>
            <a:off x="4069058" y="5416677"/>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B</a:t>
            </a:r>
          </a:p>
        </p:txBody>
      </p:sp>
      <p:sp>
        <p:nvSpPr>
          <p:cNvPr id="19" name="Oval 18">
            <a:extLst>
              <a:ext uri="{FF2B5EF4-FFF2-40B4-BE49-F238E27FC236}">
                <a16:creationId xmlns:a16="http://schemas.microsoft.com/office/drawing/2014/main" id="{AC7B89CF-4DDE-1726-5179-1318228D604D}"/>
              </a:ext>
            </a:extLst>
          </p:cNvPr>
          <p:cNvSpPr/>
          <p:nvPr/>
        </p:nvSpPr>
        <p:spPr>
          <a:xfrm>
            <a:off x="7117058" y="3623844"/>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D</a:t>
            </a:r>
          </a:p>
        </p:txBody>
      </p:sp>
      <p:sp>
        <p:nvSpPr>
          <p:cNvPr id="20" name="Oval 19">
            <a:extLst>
              <a:ext uri="{FF2B5EF4-FFF2-40B4-BE49-F238E27FC236}">
                <a16:creationId xmlns:a16="http://schemas.microsoft.com/office/drawing/2014/main" id="{D8C27990-ED32-C893-CDBB-8EB45461F720}"/>
              </a:ext>
            </a:extLst>
          </p:cNvPr>
          <p:cNvSpPr/>
          <p:nvPr/>
        </p:nvSpPr>
        <p:spPr>
          <a:xfrm>
            <a:off x="8869658" y="4267051"/>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E</a:t>
            </a:r>
          </a:p>
        </p:txBody>
      </p:sp>
      <p:cxnSp>
        <p:nvCxnSpPr>
          <p:cNvPr id="21" name="Straight Connector 20">
            <a:extLst>
              <a:ext uri="{FF2B5EF4-FFF2-40B4-BE49-F238E27FC236}">
                <a16:creationId xmlns:a16="http://schemas.microsoft.com/office/drawing/2014/main" id="{96CAE37A-665E-8A65-A16E-4007AB59D3DD}"/>
              </a:ext>
            </a:extLst>
          </p:cNvPr>
          <p:cNvCxnSpPr>
            <a:stCxn id="15" idx="7"/>
            <a:endCxn id="19" idx="1"/>
          </p:cNvCxnSpPr>
          <p:nvPr/>
        </p:nvCxnSpPr>
        <p:spPr>
          <a:xfrm flipV="1">
            <a:off x="5198984" y="3713118"/>
            <a:ext cx="2007348" cy="374374"/>
          </a:xfrm>
          <a:prstGeom prst="line">
            <a:avLst/>
          </a:prstGeom>
          <a:noFill/>
          <a:ln w="25400"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4333DB3C-35E8-FE17-8EBF-9555F338F3E4}"/>
              </a:ext>
            </a:extLst>
          </p:cNvPr>
          <p:cNvCxnSpPr>
            <a:stCxn id="18" idx="6"/>
            <a:endCxn id="17" idx="2"/>
          </p:cNvCxnSpPr>
          <p:nvPr/>
        </p:nvCxnSpPr>
        <p:spPr>
          <a:xfrm flipV="1">
            <a:off x="4678658" y="4876651"/>
            <a:ext cx="1219200" cy="844826"/>
          </a:xfrm>
          <a:prstGeom prst="line">
            <a:avLst/>
          </a:prstGeom>
          <a:noFill/>
          <a:ln w="25400"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68F183E1-D98D-F2DA-209C-B84A22E53F9B}"/>
              </a:ext>
            </a:extLst>
          </p:cNvPr>
          <p:cNvCxnSpPr>
            <a:stCxn id="15" idx="3"/>
            <a:endCxn id="18" idx="0"/>
          </p:cNvCxnSpPr>
          <p:nvPr/>
        </p:nvCxnSpPr>
        <p:spPr>
          <a:xfrm flipH="1">
            <a:off x="4373858" y="4518544"/>
            <a:ext cx="394074" cy="898133"/>
          </a:xfrm>
          <a:prstGeom prst="line">
            <a:avLst/>
          </a:prstGeom>
          <a:noFill/>
          <a:ln w="25400" cap="flat" cmpd="sng" algn="ctr">
            <a:solidFill>
              <a:srgbClr val="909090"/>
            </a:solidFill>
            <a:prstDash val="solid"/>
            <a:miter lim="800000"/>
          </a:ln>
          <a:effectLst/>
        </p:spPr>
      </p:cxnSp>
      <p:cxnSp>
        <p:nvCxnSpPr>
          <p:cNvPr id="24" name="Straight Connector 23">
            <a:extLst>
              <a:ext uri="{FF2B5EF4-FFF2-40B4-BE49-F238E27FC236}">
                <a16:creationId xmlns:a16="http://schemas.microsoft.com/office/drawing/2014/main" id="{553F8770-E070-EFC5-0FCF-F5F0476707AF}"/>
              </a:ext>
            </a:extLst>
          </p:cNvPr>
          <p:cNvCxnSpPr>
            <a:stCxn id="18" idx="5"/>
            <a:endCxn id="16" idx="3"/>
          </p:cNvCxnSpPr>
          <p:nvPr/>
        </p:nvCxnSpPr>
        <p:spPr>
          <a:xfrm>
            <a:off x="4589384" y="5937003"/>
            <a:ext cx="1702548" cy="228600"/>
          </a:xfrm>
          <a:prstGeom prst="line">
            <a:avLst/>
          </a:prstGeom>
          <a:noFill/>
          <a:ln w="25400" cap="flat" cmpd="sng" algn="ctr">
            <a:solidFill>
              <a:srgbClr val="909090"/>
            </a:solidFill>
            <a:prstDash val="solid"/>
            <a:miter lim="800000"/>
          </a:ln>
          <a:effectLst/>
        </p:spPr>
      </p:cxnSp>
      <p:cxnSp>
        <p:nvCxnSpPr>
          <p:cNvPr id="25" name="Straight Connector 24">
            <a:extLst>
              <a:ext uri="{FF2B5EF4-FFF2-40B4-BE49-F238E27FC236}">
                <a16:creationId xmlns:a16="http://schemas.microsoft.com/office/drawing/2014/main" id="{0225CCF4-605D-0C8B-D9D2-DEFE20F55F6B}"/>
              </a:ext>
            </a:extLst>
          </p:cNvPr>
          <p:cNvCxnSpPr>
            <a:cxnSpLocks/>
            <a:stCxn id="19" idx="6"/>
          </p:cNvCxnSpPr>
          <p:nvPr/>
        </p:nvCxnSpPr>
        <p:spPr>
          <a:xfrm>
            <a:off x="7726658" y="3928644"/>
            <a:ext cx="1232274" cy="463648"/>
          </a:xfrm>
          <a:prstGeom prst="line">
            <a:avLst/>
          </a:prstGeom>
          <a:noFill/>
          <a:ln w="25400" cap="flat" cmpd="sng" algn="ctr">
            <a:solidFill>
              <a:srgbClr val="909090"/>
            </a:solidFill>
            <a:prstDash val="solid"/>
            <a:miter lim="800000"/>
          </a:ln>
          <a:effectLst/>
        </p:spPr>
      </p:cxnSp>
      <p:cxnSp>
        <p:nvCxnSpPr>
          <p:cNvPr id="26" name="Straight Connector 25">
            <a:extLst>
              <a:ext uri="{FF2B5EF4-FFF2-40B4-BE49-F238E27FC236}">
                <a16:creationId xmlns:a16="http://schemas.microsoft.com/office/drawing/2014/main" id="{AFC5B49F-CAF7-426D-2D89-17C405876E79}"/>
              </a:ext>
            </a:extLst>
          </p:cNvPr>
          <p:cNvCxnSpPr>
            <a:stCxn id="17" idx="7"/>
            <a:endCxn id="19" idx="3"/>
          </p:cNvCxnSpPr>
          <p:nvPr/>
        </p:nvCxnSpPr>
        <p:spPr>
          <a:xfrm flipV="1">
            <a:off x="6418184" y="4144170"/>
            <a:ext cx="788148" cy="516955"/>
          </a:xfrm>
          <a:prstGeom prst="line">
            <a:avLst/>
          </a:prstGeom>
          <a:noFill/>
          <a:ln w="25400" cap="flat" cmpd="sng" algn="ctr">
            <a:solidFill>
              <a:srgbClr val="909090"/>
            </a:solidFill>
            <a:prstDash val="solid"/>
            <a:miter lim="800000"/>
          </a:ln>
          <a:effectLst/>
        </p:spPr>
      </p:cxnSp>
      <p:cxnSp>
        <p:nvCxnSpPr>
          <p:cNvPr id="27" name="Straight Connector 26">
            <a:extLst>
              <a:ext uri="{FF2B5EF4-FFF2-40B4-BE49-F238E27FC236}">
                <a16:creationId xmlns:a16="http://schemas.microsoft.com/office/drawing/2014/main" id="{D2F6CF1C-7F89-B3E3-97FA-8677D49A66A6}"/>
              </a:ext>
            </a:extLst>
          </p:cNvPr>
          <p:cNvCxnSpPr>
            <a:cxnSpLocks/>
          </p:cNvCxnSpPr>
          <p:nvPr/>
        </p:nvCxnSpPr>
        <p:spPr>
          <a:xfrm flipV="1">
            <a:off x="6812258" y="4823344"/>
            <a:ext cx="2146674" cy="1162700"/>
          </a:xfrm>
          <a:prstGeom prst="line">
            <a:avLst/>
          </a:prstGeom>
          <a:noFill/>
          <a:ln w="25400" cap="flat" cmpd="sng" algn="ctr">
            <a:solidFill>
              <a:srgbClr val="909090"/>
            </a:solidFill>
            <a:prstDash val="solid"/>
            <a:miter lim="800000"/>
          </a:ln>
          <a:effectLst/>
        </p:spPr>
      </p:cxnSp>
      <p:cxnSp>
        <p:nvCxnSpPr>
          <p:cNvPr id="28" name="Straight Connector 27">
            <a:extLst>
              <a:ext uri="{FF2B5EF4-FFF2-40B4-BE49-F238E27FC236}">
                <a16:creationId xmlns:a16="http://schemas.microsoft.com/office/drawing/2014/main" id="{A5A6F921-5153-8CCA-C5B0-560A5BB595A4}"/>
              </a:ext>
            </a:extLst>
          </p:cNvPr>
          <p:cNvCxnSpPr>
            <a:stCxn id="17" idx="5"/>
            <a:endCxn id="16" idx="0"/>
          </p:cNvCxnSpPr>
          <p:nvPr/>
        </p:nvCxnSpPr>
        <p:spPr>
          <a:xfrm>
            <a:off x="6418184" y="5092177"/>
            <a:ext cx="89274" cy="553100"/>
          </a:xfrm>
          <a:prstGeom prst="line">
            <a:avLst/>
          </a:prstGeom>
          <a:noFill/>
          <a:ln w="25400" cap="flat" cmpd="sng" algn="ctr">
            <a:solidFill>
              <a:srgbClr val="909090"/>
            </a:solidFill>
            <a:prstDash val="solid"/>
            <a:miter lim="800000"/>
          </a:ln>
          <a:effectLst/>
        </p:spPr>
      </p:cxnSp>
      <p:sp>
        <p:nvSpPr>
          <p:cNvPr id="29" name="TextBox 28">
            <a:extLst>
              <a:ext uri="{FF2B5EF4-FFF2-40B4-BE49-F238E27FC236}">
                <a16:creationId xmlns:a16="http://schemas.microsoft.com/office/drawing/2014/main" id="{CAAD054A-9524-2502-A071-6F424D62DC91}"/>
              </a:ext>
            </a:extLst>
          </p:cNvPr>
          <p:cNvSpPr txBox="1"/>
          <p:nvPr/>
        </p:nvSpPr>
        <p:spPr>
          <a:xfrm>
            <a:off x="8602958" y="5760508"/>
            <a:ext cx="2471442" cy="830997"/>
          </a:xfrm>
          <a:prstGeom prst="rect">
            <a:avLst/>
          </a:prstGeom>
          <a:noFill/>
        </p:spPr>
        <p:txBody>
          <a:bodyPr wrap="square" rtlCol="0">
            <a:spAutoFit/>
          </a:bodyPr>
          <a:lstStyle/>
          <a:p>
            <a:pPr algn="ctr"/>
            <a:r>
              <a:rPr lang="en-US" sz="2400" b="1" dirty="0">
                <a:solidFill>
                  <a:srgbClr val="212121"/>
                </a:solidFill>
                <a:latin typeface="Trebuchet MS" panose="020B0603020202020204" pitchFamily="34" charset="0"/>
              </a:rPr>
              <a:t>nodes</a:t>
            </a:r>
          </a:p>
          <a:p>
            <a:pPr algn="ctr"/>
            <a:r>
              <a:rPr lang="en-US" sz="2400" b="1" dirty="0">
                <a:solidFill>
                  <a:srgbClr val="212121"/>
                </a:solidFill>
                <a:latin typeface="Trebuchet MS" panose="020B0603020202020204" pitchFamily="34" charset="0"/>
              </a:rPr>
              <a:t>(or vertices)</a:t>
            </a:r>
          </a:p>
        </p:txBody>
      </p:sp>
      <p:sp>
        <p:nvSpPr>
          <p:cNvPr id="30" name="TextBox 29">
            <a:extLst>
              <a:ext uri="{FF2B5EF4-FFF2-40B4-BE49-F238E27FC236}">
                <a16:creationId xmlns:a16="http://schemas.microsoft.com/office/drawing/2014/main" id="{18A0D169-565F-DAFF-A5ED-4097CF70976E}"/>
              </a:ext>
            </a:extLst>
          </p:cNvPr>
          <p:cNvSpPr txBox="1"/>
          <p:nvPr/>
        </p:nvSpPr>
        <p:spPr>
          <a:xfrm>
            <a:off x="8802233" y="2879991"/>
            <a:ext cx="2125761" cy="830997"/>
          </a:xfrm>
          <a:prstGeom prst="rect">
            <a:avLst/>
          </a:prstGeom>
          <a:noFill/>
        </p:spPr>
        <p:txBody>
          <a:bodyPr wrap="square" rtlCol="0">
            <a:spAutoFit/>
          </a:bodyPr>
          <a:lstStyle/>
          <a:p>
            <a:pPr algn="ctr"/>
            <a:r>
              <a:rPr lang="en-US" sz="2400" b="1" dirty="0">
                <a:solidFill>
                  <a:srgbClr val="212121"/>
                </a:solidFill>
                <a:latin typeface="Trebuchet MS" panose="020B0603020202020204" pitchFamily="34" charset="0"/>
              </a:rPr>
              <a:t>edges</a:t>
            </a:r>
          </a:p>
          <a:p>
            <a:pPr algn="ctr"/>
            <a:r>
              <a:rPr lang="en-US" sz="2400" b="1" dirty="0">
                <a:solidFill>
                  <a:srgbClr val="212121"/>
                </a:solidFill>
                <a:latin typeface="Trebuchet MS" panose="020B0603020202020204" pitchFamily="34" charset="0"/>
              </a:rPr>
              <a:t>(or links) </a:t>
            </a:r>
          </a:p>
        </p:txBody>
      </p:sp>
      <p:cxnSp>
        <p:nvCxnSpPr>
          <p:cNvPr id="31" name="Straight Arrow Connector 30">
            <a:extLst>
              <a:ext uri="{FF2B5EF4-FFF2-40B4-BE49-F238E27FC236}">
                <a16:creationId xmlns:a16="http://schemas.microsoft.com/office/drawing/2014/main" id="{FA2699C5-D96D-678F-0933-7034425525E5}"/>
              </a:ext>
            </a:extLst>
          </p:cNvPr>
          <p:cNvCxnSpPr/>
          <p:nvPr/>
        </p:nvCxnSpPr>
        <p:spPr>
          <a:xfrm flipH="1">
            <a:off x="6739314" y="6114451"/>
            <a:ext cx="1828800" cy="0"/>
          </a:xfrm>
          <a:prstGeom prst="straightConnector1">
            <a:avLst/>
          </a:prstGeom>
          <a:noFill/>
          <a:ln w="12700" cap="flat" cmpd="sng" algn="ctr">
            <a:solidFill>
              <a:srgbClr val="C00000"/>
            </a:solidFill>
            <a:prstDash val="dash"/>
            <a:miter lim="800000"/>
            <a:tailEnd type="arrow"/>
          </a:ln>
          <a:effectLst/>
        </p:spPr>
      </p:cxnSp>
      <p:cxnSp>
        <p:nvCxnSpPr>
          <p:cNvPr id="32" name="Straight Arrow Connector 31">
            <a:extLst>
              <a:ext uri="{FF2B5EF4-FFF2-40B4-BE49-F238E27FC236}">
                <a16:creationId xmlns:a16="http://schemas.microsoft.com/office/drawing/2014/main" id="{F53F1D81-3916-E775-7CB3-18E009607823}"/>
              </a:ext>
            </a:extLst>
          </p:cNvPr>
          <p:cNvCxnSpPr>
            <a:stCxn id="29" idx="1"/>
            <a:endCxn id="19" idx="5"/>
          </p:cNvCxnSpPr>
          <p:nvPr/>
        </p:nvCxnSpPr>
        <p:spPr>
          <a:xfrm flipH="1" flipV="1">
            <a:off x="7637384" y="4144170"/>
            <a:ext cx="965574" cy="2031837"/>
          </a:xfrm>
          <a:prstGeom prst="straightConnector1">
            <a:avLst/>
          </a:prstGeom>
          <a:noFill/>
          <a:ln w="12700" cap="flat" cmpd="sng" algn="ctr">
            <a:solidFill>
              <a:srgbClr val="C00000"/>
            </a:solidFill>
            <a:prstDash val="dash"/>
            <a:miter lim="800000"/>
            <a:tailEnd type="arrow"/>
          </a:ln>
          <a:effectLst/>
        </p:spPr>
      </p:cxnSp>
      <p:cxnSp>
        <p:nvCxnSpPr>
          <p:cNvPr id="33" name="Straight Arrow Connector 32">
            <a:extLst>
              <a:ext uri="{FF2B5EF4-FFF2-40B4-BE49-F238E27FC236}">
                <a16:creationId xmlns:a16="http://schemas.microsoft.com/office/drawing/2014/main" id="{EEEF0ED1-7056-421C-E8DA-2B19E12DE53D}"/>
              </a:ext>
            </a:extLst>
          </p:cNvPr>
          <p:cNvCxnSpPr>
            <a:cxnSpLocks/>
          </p:cNvCxnSpPr>
          <p:nvPr/>
        </p:nvCxnSpPr>
        <p:spPr>
          <a:xfrm flipV="1">
            <a:off x="8602958" y="4912618"/>
            <a:ext cx="571500" cy="1237800"/>
          </a:xfrm>
          <a:prstGeom prst="straightConnector1">
            <a:avLst/>
          </a:prstGeom>
          <a:noFill/>
          <a:ln w="12700" cap="flat" cmpd="sng" algn="ctr">
            <a:solidFill>
              <a:srgbClr val="C00000"/>
            </a:solidFill>
            <a:prstDash val="dash"/>
            <a:miter lim="800000"/>
            <a:tailEnd type="arrow"/>
          </a:ln>
          <a:effectLst/>
        </p:spPr>
      </p:cxnSp>
      <p:cxnSp>
        <p:nvCxnSpPr>
          <p:cNvPr id="34" name="Straight Arrow Connector 33">
            <a:extLst>
              <a:ext uri="{FF2B5EF4-FFF2-40B4-BE49-F238E27FC236}">
                <a16:creationId xmlns:a16="http://schemas.microsoft.com/office/drawing/2014/main" id="{7856AFF9-6A32-140D-574A-63BBB1B890AF}"/>
              </a:ext>
            </a:extLst>
          </p:cNvPr>
          <p:cNvCxnSpPr/>
          <p:nvPr/>
        </p:nvCxnSpPr>
        <p:spPr>
          <a:xfrm flipH="1">
            <a:off x="8221958" y="3224806"/>
            <a:ext cx="1047068" cy="891025"/>
          </a:xfrm>
          <a:prstGeom prst="straightConnector1">
            <a:avLst/>
          </a:prstGeom>
          <a:noFill/>
          <a:ln w="12700" cap="flat" cmpd="sng" algn="ctr">
            <a:solidFill>
              <a:srgbClr val="F19D19"/>
            </a:solidFill>
            <a:prstDash val="lgDashDot"/>
            <a:miter lim="800000"/>
            <a:tailEnd type="arrow"/>
          </a:ln>
          <a:effectLst/>
        </p:spPr>
      </p:cxnSp>
      <p:cxnSp>
        <p:nvCxnSpPr>
          <p:cNvPr id="35" name="Straight Arrow Connector 34">
            <a:extLst>
              <a:ext uri="{FF2B5EF4-FFF2-40B4-BE49-F238E27FC236}">
                <a16:creationId xmlns:a16="http://schemas.microsoft.com/office/drawing/2014/main" id="{4F97F4D4-47C9-66D8-B6C7-21DDCE865B35}"/>
              </a:ext>
            </a:extLst>
          </p:cNvPr>
          <p:cNvCxnSpPr/>
          <p:nvPr/>
        </p:nvCxnSpPr>
        <p:spPr>
          <a:xfrm flipH="1">
            <a:off x="7786046" y="3224806"/>
            <a:ext cx="1482980" cy="2179888"/>
          </a:xfrm>
          <a:prstGeom prst="straightConnector1">
            <a:avLst/>
          </a:prstGeom>
          <a:noFill/>
          <a:ln w="12700" cap="flat" cmpd="sng" algn="ctr">
            <a:solidFill>
              <a:srgbClr val="F19D19"/>
            </a:solidFill>
            <a:prstDash val="lgDashDot"/>
            <a:miter lim="800000"/>
            <a:tailEnd type="arrow"/>
          </a:ln>
          <a:effectLst/>
        </p:spPr>
      </p:cxnSp>
      <p:cxnSp>
        <p:nvCxnSpPr>
          <p:cNvPr id="36" name="Straight Arrow Connector 35">
            <a:extLst>
              <a:ext uri="{FF2B5EF4-FFF2-40B4-BE49-F238E27FC236}">
                <a16:creationId xmlns:a16="http://schemas.microsoft.com/office/drawing/2014/main" id="{F3D638AF-980C-A947-DB62-BAD4D01F3EB6}"/>
              </a:ext>
            </a:extLst>
          </p:cNvPr>
          <p:cNvCxnSpPr/>
          <p:nvPr/>
        </p:nvCxnSpPr>
        <p:spPr>
          <a:xfrm flipH="1">
            <a:off x="4616343" y="3202286"/>
            <a:ext cx="4666130" cy="1559859"/>
          </a:xfrm>
          <a:prstGeom prst="straightConnector1">
            <a:avLst/>
          </a:prstGeom>
          <a:noFill/>
          <a:ln w="12700" cap="flat" cmpd="sng" algn="ctr">
            <a:solidFill>
              <a:srgbClr val="F19D19"/>
            </a:solidFill>
            <a:prstDash val="lgDashDot"/>
            <a:miter lim="800000"/>
            <a:tailEnd type="arrow"/>
          </a:ln>
          <a:effectLst/>
        </p:spPr>
      </p:cxnSp>
    </p:spTree>
    <p:extLst>
      <p:ext uri="{BB962C8B-B14F-4D97-AF65-F5344CB8AC3E}">
        <p14:creationId xmlns:p14="http://schemas.microsoft.com/office/powerpoint/2010/main" val="425379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par>
                                <p:cTn id="38" presetID="10"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par>
                                <p:cTn id="41" presetID="10"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10"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par>
                                <p:cTn id="52" presetID="10" presetClass="entr" presetSubtype="0"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6" presetID="10" presetClass="entr" presetSubtype="0" fill="hold"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500"/>
                                        <p:tgtEl>
                                          <p:spTgt spid="36"/>
                                        </p:tgtEl>
                                      </p:cBhvr>
                                    </p:animEffect>
                                  </p:childTnLst>
                                </p:cTn>
                              </p:par>
                              <p:par>
                                <p:cTn id="69" presetID="10" presetClass="entr" presetSubtype="0" fill="hold"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par>
                                <p:cTn id="72" presetID="10" presetClass="entr" presetSubtype="0" fill="hold"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9"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E4FCC06-188B-3421-5D7D-241B3D95A796}"/>
              </a:ext>
            </a:extLst>
          </p:cNvPr>
          <p:cNvSpPr txBox="1"/>
          <p:nvPr/>
        </p:nvSpPr>
        <p:spPr>
          <a:xfrm>
            <a:off x="206478" y="151535"/>
            <a:ext cx="7798284"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Directed &amp; Undirected Graph</a:t>
            </a:r>
            <a:endParaRPr lang="en-IN" sz="3600" b="1" dirty="0">
              <a:solidFill>
                <a:schemeClr val="bg1"/>
              </a:solidFill>
              <a:latin typeface="Trebuchet MS" panose="020B0603020202020204" pitchFamily="34" charset="0"/>
            </a:endParaRPr>
          </a:p>
        </p:txBody>
      </p:sp>
      <p:sp>
        <p:nvSpPr>
          <p:cNvPr id="8" name="TextBox 7">
            <a:extLst>
              <a:ext uri="{FF2B5EF4-FFF2-40B4-BE49-F238E27FC236}">
                <a16:creationId xmlns:a16="http://schemas.microsoft.com/office/drawing/2014/main" id="{1366D7E8-6520-8FD3-29FE-FC0F0DE20D65}"/>
              </a:ext>
            </a:extLst>
          </p:cNvPr>
          <p:cNvSpPr txBox="1"/>
          <p:nvPr/>
        </p:nvSpPr>
        <p:spPr>
          <a:xfrm>
            <a:off x="668560" y="1112150"/>
            <a:ext cx="10861195" cy="1800493"/>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Directed Graph</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 graph in which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every edge is directed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from one node to another is called a directed graph or digraph.</a:t>
            </a:r>
          </a:p>
          <a:p>
            <a:pPr marL="342900" marR="0" lvl="0" indent="-342900" algn="just" defTabSz="914400" rtl="0" eaLnBrk="1" fontAlgn="auto" latinLnBrk="0" hangingPunct="1">
              <a:spcBef>
                <a:spcPts val="1200"/>
              </a:spcBef>
              <a:spcAft>
                <a:spcPts val="60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Undirected Graph</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 graph in which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every edge is undirected and no direction is associated with them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called an undirected graph.</a:t>
            </a:r>
          </a:p>
        </p:txBody>
      </p:sp>
      <p:grpSp>
        <p:nvGrpSpPr>
          <p:cNvPr id="38" name="Group 37">
            <a:extLst>
              <a:ext uri="{FF2B5EF4-FFF2-40B4-BE49-F238E27FC236}">
                <a16:creationId xmlns:a16="http://schemas.microsoft.com/office/drawing/2014/main" id="{778A4157-EF95-18BD-37F1-AB09BAAED8BF}"/>
              </a:ext>
            </a:extLst>
          </p:cNvPr>
          <p:cNvGrpSpPr/>
          <p:nvPr/>
        </p:nvGrpSpPr>
        <p:grpSpPr>
          <a:xfrm>
            <a:off x="1673546" y="3578350"/>
            <a:ext cx="2707497" cy="2073952"/>
            <a:chOff x="1980679" y="3969060"/>
            <a:chExt cx="2707497" cy="2073952"/>
          </a:xfrm>
        </p:grpSpPr>
        <p:sp>
          <p:nvSpPr>
            <p:cNvPr id="39" name="Oval 38">
              <a:extLst>
                <a:ext uri="{FF2B5EF4-FFF2-40B4-BE49-F238E27FC236}">
                  <a16:creationId xmlns:a16="http://schemas.microsoft.com/office/drawing/2014/main" id="{EF9B27D5-9BE5-EF97-C321-ABC0CD5E0840}"/>
                </a:ext>
              </a:extLst>
            </p:cNvPr>
            <p:cNvSpPr/>
            <p:nvPr/>
          </p:nvSpPr>
          <p:spPr>
            <a:xfrm>
              <a:off x="1980679" y="4073602"/>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0" name="Oval 39">
              <a:extLst>
                <a:ext uri="{FF2B5EF4-FFF2-40B4-BE49-F238E27FC236}">
                  <a16:creationId xmlns:a16="http://schemas.microsoft.com/office/drawing/2014/main" id="{A91F332A-B7E4-468C-3459-32F2DA70A405}"/>
                </a:ext>
              </a:extLst>
            </p:cNvPr>
            <p:cNvSpPr/>
            <p:nvPr/>
          </p:nvSpPr>
          <p:spPr>
            <a:xfrm>
              <a:off x="3028954" y="432070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1" name="Oval 40">
              <a:extLst>
                <a:ext uri="{FF2B5EF4-FFF2-40B4-BE49-F238E27FC236}">
                  <a16:creationId xmlns:a16="http://schemas.microsoft.com/office/drawing/2014/main" id="{B5CC06B0-76AA-CB41-7D45-45C7579359BD}"/>
                </a:ext>
              </a:extLst>
            </p:cNvPr>
            <p:cNvSpPr/>
            <p:nvPr/>
          </p:nvSpPr>
          <p:spPr>
            <a:xfrm>
              <a:off x="2386012" y="507150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Oval 41">
              <a:extLst>
                <a:ext uri="{FF2B5EF4-FFF2-40B4-BE49-F238E27FC236}">
                  <a16:creationId xmlns:a16="http://schemas.microsoft.com/office/drawing/2014/main" id="{15989431-3A95-8896-5501-82CF3A3A7367}"/>
                </a:ext>
              </a:extLst>
            </p:cNvPr>
            <p:cNvSpPr/>
            <p:nvPr/>
          </p:nvSpPr>
          <p:spPr>
            <a:xfrm>
              <a:off x="3788371" y="4843409"/>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3" name="Oval 42">
              <a:extLst>
                <a:ext uri="{FF2B5EF4-FFF2-40B4-BE49-F238E27FC236}">
                  <a16:creationId xmlns:a16="http://schemas.microsoft.com/office/drawing/2014/main" id="{5F249F2C-D882-0179-FFDC-4F380D9CBDD7}"/>
                </a:ext>
              </a:extLst>
            </p:cNvPr>
            <p:cNvSpPr/>
            <p:nvPr/>
          </p:nvSpPr>
          <p:spPr>
            <a:xfrm>
              <a:off x="4230976" y="396906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44" name="Straight Arrow Connector 43">
              <a:extLst>
                <a:ext uri="{FF2B5EF4-FFF2-40B4-BE49-F238E27FC236}">
                  <a16:creationId xmlns:a16="http://schemas.microsoft.com/office/drawing/2014/main" id="{4047D9AB-6164-172A-1B4B-0C3E733ECA6B}"/>
                </a:ext>
              </a:extLst>
            </p:cNvPr>
            <p:cNvCxnSpPr>
              <a:stCxn id="39" idx="6"/>
              <a:endCxn id="40" idx="1"/>
            </p:cNvCxnSpPr>
            <p:nvPr/>
          </p:nvCxnSpPr>
          <p:spPr>
            <a:xfrm>
              <a:off x="2437879" y="4302202"/>
              <a:ext cx="658030" cy="85453"/>
            </a:xfrm>
            <a:prstGeom prst="straightConnector1">
              <a:avLst/>
            </a:prstGeom>
            <a:noFill/>
            <a:ln w="22225" cap="flat" cmpd="sng" algn="ctr">
              <a:solidFill>
                <a:srgbClr val="909090"/>
              </a:solidFill>
              <a:prstDash val="solid"/>
              <a:miter lim="800000"/>
              <a:tailEnd type="arrow"/>
            </a:ln>
            <a:effectLst/>
          </p:spPr>
        </p:cxnSp>
        <p:cxnSp>
          <p:nvCxnSpPr>
            <p:cNvPr id="45" name="Straight Arrow Connector 44">
              <a:extLst>
                <a:ext uri="{FF2B5EF4-FFF2-40B4-BE49-F238E27FC236}">
                  <a16:creationId xmlns:a16="http://schemas.microsoft.com/office/drawing/2014/main" id="{C7CB356B-116F-9446-B6FB-E6EF719915E8}"/>
                </a:ext>
              </a:extLst>
            </p:cNvPr>
            <p:cNvCxnSpPr>
              <a:stCxn id="40" idx="5"/>
              <a:endCxn id="42" idx="2"/>
            </p:cNvCxnSpPr>
            <p:nvPr/>
          </p:nvCxnSpPr>
          <p:spPr>
            <a:xfrm>
              <a:off x="3419199" y="4710945"/>
              <a:ext cx="369172" cy="361064"/>
            </a:xfrm>
            <a:prstGeom prst="straightConnector1">
              <a:avLst/>
            </a:prstGeom>
            <a:noFill/>
            <a:ln w="22225" cap="flat" cmpd="sng" algn="ctr">
              <a:solidFill>
                <a:srgbClr val="909090"/>
              </a:solidFill>
              <a:prstDash val="solid"/>
              <a:miter lim="800000"/>
              <a:tailEnd type="arrow"/>
            </a:ln>
            <a:effectLst/>
          </p:spPr>
        </p:cxnSp>
        <p:cxnSp>
          <p:nvCxnSpPr>
            <p:cNvPr id="46" name="Straight Arrow Connector 45">
              <a:extLst>
                <a:ext uri="{FF2B5EF4-FFF2-40B4-BE49-F238E27FC236}">
                  <a16:creationId xmlns:a16="http://schemas.microsoft.com/office/drawing/2014/main" id="{02F64AFD-5473-2DEE-B124-61AAF11BD8E4}"/>
                </a:ext>
              </a:extLst>
            </p:cNvPr>
            <p:cNvCxnSpPr>
              <a:stCxn id="42" idx="7"/>
              <a:endCxn id="43" idx="4"/>
            </p:cNvCxnSpPr>
            <p:nvPr/>
          </p:nvCxnSpPr>
          <p:spPr>
            <a:xfrm flipV="1">
              <a:off x="4178616" y="4426260"/>
              <a:ext cx="280960" cy="484104"/>
            </a:xfrm>
            <a:prstGeom prst="straightConnector1">
              <a:avLst/>
            </a:prstGeom>
            <a:noFill/>
            <a:ln w="22225" cap="flat" cmpd="sng" algn="ctr">
              <a:solidFill>
                <a:srgbClr val="909090"/>
              </a:solidFill>
              <a:prstDash val="solid"/>
              <a:miter lim="800000"/>
              <a:tailEnd type="arrow"/>
            </a:ln>
            <a:effectLst/>
          </p:spPr>
        </p:cxnSp>
        <p:cxnSp>
          <p:nvCxnSpPr>
            <p:cNvPr id="47" name="Straight Arrow Connector 46">
              <a:extLst>
                <a:ext uri="{FF2B5EF4-FFF2-40B4-BE49-F238E27FC236}">
                  <a16:creationId xmlns:a16="http://schemas.microsoft.com/office/drawing/2014/main" id="{CEA90839-7543-69AA-0265-EBC24964464B}"/>
                </a:ext>
              </a:extLst>
            </p:cNvPr>
            <p:cNvCxnSpPr>
              <a:stCxn id="41" idx="1"/>
              <a:endCxn id="39" idx="4"/>
            </p:cNvCxnSpPr>
            <p:nvPr/>
          </p:nvCxnSpPr>
          <p:spPr>
            <a:xfrm flipH="1" flipV="1">
              <a:off x="2209279" y="4530802"/>
              <a:ext cx="243688" cy="607653"/>
            </a:xfrm>
            <a:prstGeom prst="straightConnector1">
              <a:avLst/>
            </a:prstGeom>
            <a:noFill/>
            <a:ln w="22225" cap="flat" cmpd="sng" algn="ctr">
              <a:solidFill>
                <a:srgbClr val="909090"/>
              </a:solidFill>
              <a:prstDash val="solid"/>
              <a:miter lim="800000"/>
              <a:tailEnd type="arrow"/>
            </a:ln>
            <a:effectLst/>
          </p:spPr>
        </p:cxnSp>
        <p:cxnSp>
          <p:nvCxnSpPr>
            <p:cNvPr id="48" name="Straight Arrow Connector 47">
              <a:extLst>
                <a:ext uri="{FF2B5EF4-FFF2-40B4-BE49-F238E27FC236}">
                  <a16:creationId xmlns:a16="http://schemas.microsoft.com/office/drawing/2014/main" id="{B0000F79-91C2-C53D-9776-38221E2D48EE}"/>
                </a:ext>
              </a:extLst>
            </p:cNvPr>
            <p:cNvCxnSpPr>
              <a:stCxn id="40" idx="7"/>
              <a:endCxn id="43" idx="1"/>
            </p:cNvCxnSpPr>
            <p:nvPr/>
          </p:nvCxnSpPr>
          <p:spPr>
            <a:xfrm flipV="1">
              <a:off x="3419199" y="4036015"/>
              <a:ext cx="878732" cy="351640"/>
            </a:xfrm>
            <a:prstGeom prst="straightConnector1">
              <a:avLst/>
            </a:prstGeom>
            <a:noFill/>
            <a:ln w="22225" cap="flat" cmpd="sng" algn="ctr">
              <a:solidFill>
                <a:srgbClr val="909090"/>
              </a:solidFill>
              <a:prstDash val="solid"/>
              <a:miter lim="800000"/>
              <a:tailEnd type="arrow"/>
            </a:ln>
            <a:effectLst/>
          </p:spPr>
        </p:cxnSp>
        <p:cxnSp>
          <p:nvCxnSpPr>
            <p:cNvPr id="49" name="Straight Arrow Connector 48">
              <a:extLst>
                <a:ext uri="{FF2B5EF4-FFF2-40B4-BE49-F238E27FC236}">
                  <a16:creationId xmlns:a16="http://schemas.microsoft.com/office/drawing/2014/main" id="{AA0A9353-BA0B-D561-48DB-885782B20E7B}"/>
                </a:ext>
              </a:extLst>
            </p:cNvPr>
            <p:cNvCxnSpPr>
              <a:stCxn id="42" idx="2"/>
            </p:cNvCxnSpPr>
            <p:nvPr/>
          </p:nvCxnSpPr>
          <p:spPr>
            <a:xfrm flipH="1">
              <a:off x="2814641" y="5072009"/>
              <a:ext cx="973730" cy="218080"/>
            </a:xfrm>
            <a:prstGeom prst="straightConnector1">
              <a:avLst/>
            </a:prstGeom>
            <a:noFill/>
            <a:ln w="22225" cap="flat" cmpd="sng" algn="ctr">
              <a:solidFill>
                <a:srgbClr val="909090"/>
              </a:solidFill>
              <a:prstDash val="solid"/>
              <a:miter lim="800000"/>
              <a:tailEnd type="arrow"/>
            </a:ln>
            <a:effectLst/>
          </p:spPr>
        </p:cxnSp>
        <p:sp>
          <p:nvSpPr>
            <p:cNvPr id="50" name="TextBox 49">
              <a:extLst>
                <a:ext uri="{FF2B5EF4-FFF2-40B4-BE49-F238E27FC236}">
                  <a16:creationId xmlns:a16="http://schemas.microsoft.com/office/drawing/2014/main" id="{2496D17E-AA28-72B9-487C-F546C8AE4661}"/>
                </a:ext>
              </a:extLst>
            </p:cNvPr>
            <p:cNvSpPr txBox="1"/>
            <p:nvPr/>
          </p:nvSpPr>
          <p:spPr>
            <a:xfrm>
              <a:off x="2117001" y="5642902"/>
              <a:ext cx="235745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12121"/>
                  </a:solidFill>
                  <a:effectLst/>
                  <a:uLnTx/>
                  <a:uFillTx/>
                  <a:latin typeface="Trebuchet MS" panose="020B0603020202020204" pitchFamily="34" charset="0"/>
                </a:rPr>
                <a:t>Directed Graph</a:t>
              </a:r>
            </a:p>
          </p:txBody>
        </p:sp>
      </p:grpSp>
      <p:grpSp>
        <p:nvGrpSpPr>
          <p:cNvPr id="51" name="Group 50">
            <a:extLst>
              <a:ext uri="{FF2B5EF4-FFF2-40B4-BE49-F238E27FC236}">
                <a16:creationId xmlns:a16="http://schemas.microsoft.com/office/drawing/2014/main" id="{E8D88B77-6DAA-8F91-0BFE-E7B24B75C6A9}"/>
              </a:ext>
            </a:extLst>
          </p:cNvPr>
          <p:cNvGrpSpPr/>
          <p:nvPr/>
        </p:nvGrpSpPr>
        <p:grpSpPr>
          <a:xfrm>
            <a:off x="6304063" y="3511014"/>
            <a:ext cx="3587304" cy="2185109"/>
            <a:chOff x="5833085" y="3753036"/>
            <a:chExt cx="3587304" cy="2185109"/>
          </a:xfrm>
        </p:grpSpPr>
        <p:sp>
          <p:nvSpPr>
            <p:cNvPr id="52" name="Oval 51">
              <a:extLst>
                <a:ext uri="{FF2B5EF4-FFF2-40B4-BE49-F238E27FC236}">
                  <a16:creationId xmlns:a16="http://schemas.microsoft.com/office/drawing/2014/main" id="{1B96753B-FF84-E88A-75CB-8A7303779F1A}"/>
                </a:ext>
              </a:extLst>
            </p:cNvPr>
            <p:cNvSpPr/>
            <p:nvPr/>
          </p:nvSpPr>
          <p:spPr>
            <a:xfrm>
              <a:off x="7076584" y="3953541"/>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3" name="Oval 52">
              <a:extLst>
                <a:ext uri="{FF2B5EF4-FFF2-40B4-BE49-F238E27FC236}">
                  <a16:creationId xmlns:a16="http://schemas.microsoft.com/office/drawing/2014/main" id="{2BBE9872-9003-9940-D042-D0327994B0CF}"/>
                </a:ext>
              </a:extLst>
            </p:cNvPr>
            <p:cNvSpPr/>
            <p:nvPr/>
          </p:nvSpPr>
          <p:spPr>
            <a:xfrm>
              <a:off x="7843325" y="4462373"/>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4" name="Oval 53">
              <a:extLst>
                <a:ext uri="{FF2B5EF4-FFF2-40B4-BE49-F238E27FC236}">
                  <a16:creationId xmlns:a16="http://schemas.microsoft.com/office/drawing/2014/main" id="{49583BB5-1E71-F693-2A26-21790D1EB85B}"/>
                </a:ext>
              </a:extLst>
            </p:cNvPr>
            <p:cNvSpPr/>
            <p:nvPr/>
          </p:nvSpPr>
          <p:spPr>
            <a:xfrm>
              <a:off x="6850493" y="4868890"/>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5" name="Oval 54">
              <a:extLst>
                <a:ext uri="{FF2B5EF4-FFF2-40B4-BE49-F238E27FC236}">
                  <a16:creationId xmlns:a16="http://schemas.microsoft.com/office/drawing/2014/main" id="{05A581CD-4FAD-2E3C-1846-2A775E8C46A1}"/>
                </a:ext>
              </a:extLst>
            </p:cNvPr>
            <p:cNvSpPr/>
            <p:nvPr/>
          </p:nvSpPr>
          <p:spPr>
            <a:xfrm>
              <a:off x="8482279" y="495606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6" name="Oval 55">
              <a:extLst>
                <a:ext uri="{FF2B5EF4-FFF2-40B4-BE49-F238E27FC236}">
                  <a16:creationId xmlns:a16="http://schemas.microsoft.com/office/drawing/2014/main" id="{562EC024-6ADE-0178-57D5-B3D837DED9A6}"/>
                </a:ext>
              </a:extLst>
            </p:cNvPr>
            <p:cNvSpPr/>
            <p:nvPr/>
          </p:nvSpPr>
          <p:spPr>
            <a:xfrm>
              <a:off x="8236527" y="375303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7" name="Oval 56">
              <a:extLst>
                <a:ext uri="{FF2B5EF4-FFF2-40B4-BE49-F238E27FC236}">
                  <a16:creationId xmlns:a16="http://schemas.microsoft.com/office/drawing/2014/main" id="{85555F93-BBA4-07EA-307C-7E5A95A57AE1}"/>
                </a:ext>
              </a:extLst>
            </p:cNvPr>
            <p:cNvSpPr/>
            <p:nvPr/>
          </p:nvSpPr>
          <p:spPr>
            <a:xfrm>
              <a:off x="5833085" y="455505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58" name="Straight Connector 57">
              <a:extLst>
                <a:ext uri="{FF2B5EF4-FFF2-40B4-BE49-F238E27FC236}">
                  <a16:creationId xmlns:a16="http://schemas.microsoft.com/office/drawing/2014/main" id="{587894EB-49F4-41C3-F873-2934F0489329}"/>
                </a:ext>
              </a:extLst>
            </p:cNvPr>
            <p:cNvCxnSpPr>
              <a:stCxn id="57" idx="7"/>
              <a:endCxn id="52" idx="2"/>
            </p:cNvCxnSpPr>
            <p:nvPr/>
          </p:nvCxnSpPr>
          <p:spPr>
            <a:xfrm flipV="1">
              <a:off x="6223330" y="4182141"/>
              <a:ext cx="853254" cy="439870"/>
            </a:xfrm>
            <a:prstGeom prst="line">
              <a:avLst/>
            </a:prstGeom>
            <a:noFill/>
            <a:ln w="28575" cap="flat" cmpd="sng" algn="ctr">
              <a:solidFill>
                <a:srgbClr val="B84742"/>
              </a:solidFill>
              <a:prstDash val="solid"/>
              <a:miter lim="800000"/>
            </a:ln>
            <a:effectLst/>
          </p:spPr>
        </p:cxnSp>
        <p:cxnSp>
          <p:nvCxnSpPr>
            <p:cNvPr id="59" name="Straight Connector 58">
              <a:extLst>
                <a:ext uri="{FF2B5EF4-FFF2-40B4-BE49-F238E27FC236}">
                  <a16:creationId xmlns:a16="http://schemas.microsoft.com/office/drawing/2014/main" id="{D60D7B36-4558-3E22-5E4C-F018E8069A15}"/>
                </a:ext>
              </a:extLst>
            </p:cNvPr>
            <p:cNvCxnSpPr>
              <a:stCxn id="57" idx="5"/>
              <a:endCxn id="54" idx="2"/>
            </p:cNvCxnSpPr>
            <p:nvPr/>
          </p:nvCxnSpPr>
          <p:spPr>
            <a:xfrm>
              <a:off x="6223330" y="4945301"/>
              <a:ext cx="627163" cy="152189"/>
            </a:xfrm>
            <a:prstGeom prst="line">
              <a:avLst/>
            </a:prstGeom>
            <a:noFill/>
            <a:ln w="28575" cap="flat" cmpd="sng" algn="ctr">
              <a:solidFill>
                <a:srgbClr val="B84742"/>
              </a:solidFill>
              <a:prstDash val="solid"/>
              <a:miter lim="800000"/>
            </a:ln>
            <a:effectLst/>
          </p:spPr>
        </p:cxnSp>
        <p:cxnSp>
          <p:nvCxnSpPr>
            <p:cNvPr id="60" name="Straight Connector 59">
              <a:extLst>
                <a:ext uri="{FF2B5EF4-FFF2-40B4-BE49-F238E27FC236}">
                  <a16:creationId xmlns:a16="http://schemas.microsoft.com/office/drawing/2014/main" id="{7767A141-9ABC-E5EB-707B-0070BE29973E}"/>
                </a:ext>
              </a:extLst>
            </p:cNvPr>
            <p:cNvCxnSpPr>
              <a:stCxn id="53" idx="7"/>
              <a:endCxn id="56" idx="3"/>
            </p:cNvCxnSpPr>
            <p:nvPr/>
          </p:nvCxnSpPr>
          <p:spPr>
            <a:xfrm flipV="1">
              <a:off x="8233570" y="4143281"/>
              <a:ext cx="69912" cy="386047"/>
            </a:xfrm>
            <a:prstGeom prst="line">
              <a:avLst/>
            </a:prstGeom>
            <a:noFill/>
            <a:ln w="28575" cap="flat" cmpd="sng" algn="ctr">
              <a:solidFill>
                <a:srgbClr val="B84742"/>
              </a:solidFill>
              <a:prstDash val="solid"/>
              <a:miter lim="800000"/>
            </a:ln>
            <a:effectLst/>
          </p:spPr>
        </p:cxnSp>
        <p:cxnSp>
          <p:nvCxnSpPr>
            <p:cNvPr id="61" name="Straight Connector 60">
              <a:extLst>
                <a:ext uri="{FF2B5EF4-FFF2-40B4-BE49-F238E27FC236}">
                  <a16:creationId xmlns:a16="http://schemas.microsoft.com/office/drawing/2014/main" id="{AC85DE88-8937-2B2D-C5D1-E5559B129804}"/>
                </a:ext>
              </a:extLst>
            </p:cNvPr>
            <p:cNvCxnSpPr>
              <a:stCxn id="52" idx="6"/>
              <a:endCxn id="56" idx="2"/>
            </p:cNvCxnSpPr>
            <p:nvPr/>
          </p:nvCxnSpPr>
          <p:spPr>
            <a:xfrm flipV="1">
              <a:off x="7533784" y="3981636"/>
              <a:ext cx="702743" cy="200505"/>
            </a:xfrm>
            <a:prstGeom prst="line">
              <a:avLst/>
            </a:prstGeom>
            <a:noFill/>
            <a:ln w="28575" cap="flat" cmpd="sng" algn="ctr">
              <a:solidFill>
                <a:srgbClr val="B84742"/>
              </a:solidFill>
              <a:prstDash val="solid"/>
              <a:miter lim="800000"/>
            </a:ln>
            <a:effectLst/>
          </p:spPr>
        </p:cxnSp>
        <p:cxnSp>
          <p:nvCxnSpPr>
            <p:cNvPr id="62" name="Straight Connector 61">
              <a:extLst>
                <a:ext uri="{FF2B5EF4-FFF2-40B4-BE49-F238E27FC236}">
                  <a16:creationId xmlns:a16="http://schemas.microsoft.com/office/drawing/2014/main" id="{13C70589-FD81-E37B-AA4C-0F32897DF1CF}"/>
                </a:ext>
              </a:extLst>
            </p:cNvPr>
            <p:cNvCxnSpPr>
              <a:stCxn id="52" idx="4"/>
              <a:endCxn id="54" idx="0"/>
            </p:cNvCxnSpPr>
            <p:nvPr/>
          </p:nvCxnSpPr>
          <p:spPr>
            <a:xfrm flipH="1">
              <a:off x="7079093" y="4410741"/>
              <a:ext cx="226091" cy="458149"/>
            </a:xfrm>
            <a:prstGeom prst="line">
              <a:avLst/>
            </a:prstGeom>
            <a:noFill/>
            <a:ln w="28575" cap="flat" cmpd="sng" algn="ctr">
              <a:solidFill>
                <a:srgbClr val="B84742"/>
              </a:solidFill>
              <a:prstDash val="solid"/>
              <a:miter lim="800000"/>
            </a:ln>
            <a:effectLst/>
          </p:spPr>
        </p:cxnSp>
        <p:cxnSp>
          <p:nvCxnSpPr>
            <p:cNvPr id="63" name="Straight Connector 62">
              <a:extLst>
                <a:ext uri="{FF2B5EF4-FFF2-40B4-BE49-F238E27FC236}">
                  <a16:creationId xmlns:a16="http://schemas.microsoft.com/office/drawing/2014/main" id="{A9CAB474-98C0-6CAA-7613-1E11BBE7E7FE}"/>
                </a:ext>
              </a:extLst>
            </p:cNvPr>
            <p:cNvCxnSpPr>
              <a:stCxn id="52" idx="5"/>
              <a:endCxn id="53" idx="1"/>
            </p:cNvCxnSpPr>
            <p:nvPr/>
          </p:nvCxnSpPr>
          <p:spPr>
            <a:xfrm>
              <a:off x="7466829" y="4343786"/>
              <a:ext cx="443451" cy="185542"/>
            </a:xfrm>
            <a:prstGeom prst="line">
              <a:avLst/>
            </a:prstGeom>
            <a:noFill/>
            <a:ln w="28575" cap="flat" cmpd="sng" algn="ctr">
              <a:solidFill>
                <a:srgbClr val="B84742"/>
              </a:solidFill>
              <a:prstDash val="solid"/>
              <a:miter lim="800000"/>
            </a:ln>
            <a:effectLst/>
          </p:spPr>
        </p:cxnSp>
        <p:cxnSp>
          <p:nvCxnSpPr>
            <p:cNvPr id="64" name="Straight Connector 63">
              <a:extLst>
                <a:ext uri="{FF2B5EF4-FFF2-40B4-BE49-F238E27FC236}">
                  <a16:creationId xmlns:a16="http://schemas.microsoft.com/office/drawing/2014/main" id="{7C7B51E9-00C2-9E55-EC95-1BEC707C9C33}"/>
                </a:ext>
              </a:extLst>
            </p:cNvPr>
            <p:cNvCxnSpPr>
              <a:stCxn id="54" idx="6"/>
              <a:endCxn id="55" idx="2"/>
            </p:cNvCxnSpPr>
            <p:nvPr/>
          </p:nvCxnSpPr>
          <p:spPr>
            <a:xfrm>
              <a:off x="7307693" y="5097490"/>
              <a:ext cx="1174586" cy="87176"/>
            </a:xfrm>
            <a:prstGeom prst="line">
              <a:avLst/>
            </a:prstGeom>
            <a:noFill/>
            <a:ln w="28575" cap="flat" cmpd="sng" algn="ctr">
              <a:solidFill>
                <a:srgbClr val="B84742"/>
              </a:solidFill>
              <a:prstDash val="solid"/>
              <a:miter lim="800000"/>
            </a:ln>
            <a:effectLst/>
          </p:spPr>
        </p:cxnSp>
        <p:cxnSp>
          <p:nvCxnSpPr>
            <p:cNvPr id="65" name="Straight Connector 64">
              <a:extLst>
                <a:ext uri="{FF2B5EF4-FFF2-40B4-BE49-F238E27FC236}">
                  <a16:creationId xmlns:a16="http://schemas.microsoft.com/office/drawing/2014/main" id="{B92D37CA-EEA5-04B1-8200-A8154424F560}"/>
                </a:ext>
              </a:extLst>
            </p:cNvPr>
            <p:cNvCxnSpPr>
              <a:stCxn id="56" idx="4"/>
              <a:endCxn id="55" idx="1"/>
            </p:cNvCxnSpPr>
            <p:nvPr/>
          </p:nvCxnSpPr>
          <p:spPr>
            <a:xfrm>
              <a:off x="8465127" y="4210236"/>
              <a:ext cx="84107" cy="812785"/>
            </a:xfrm>
            <a:prstGeom prst="line">
              <a:avLst/>
            </a:prstGeom>
            <a:noFill/>
            <a:ln w="28575" cap="flat" cmpd="sng" algn="ctr">
              <a:solidFill>
                <a:srgbClr val="B84742"/>
              </a:solidFill>
              <a:prstDash val="solid"/>
              <a:miter lim="800000"/>
            </a:ln>
            <a:effectLst/>
          </p:spPr>
        </p:cxnSp>
        <p:sp>
          <p:nvSpPr>
            <p:cNvPr id="66" name="TextBox 65">
              <a:extLst>
                <a:ext uri="{FF2B5EF4-FFF2-40B4-BE49-F238E27FC236}">
                  <a16:creationId xmlns:a16="http://schemas.microsoft.com/office/drawing/2014/main" id="{A74DCEC4-3414-12AC-AC8B-C759D53EB54D}"/>
                </a:ext>
              </a:extLst>
            </p:cNvPr>
            <p:cNvSpPr txBox="1"/>
            <p:nvPr/>
          </p:nvSpPr>
          <p:spPr>
            <a:xfrm>
              <a:off x="6515614" y="5538035"/>
              <a:ext cx="290477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12121"/>
                  </a:solidFill>
                  <a:effectLst/>
                  <a:uLnTx/>
                  <a:uFillTx/>
                  <a:latin typeface="Trebuchet MS" panose="020B0603020202020204" pitchFamily="34" charset="0"/>
                </a:rPr>
                <a:t>Undirected Graph</a:t>
              </a:r>
            </a:p>
          </p:txBody>
        </p:sp>
      </p:grpSp>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4154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1000"/>
                                        <p:tgtEl>
                                          <p:spTgt spid="38"/>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up)">
                                      <p:cBhvr>
                                        <p:cTn id="11"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kumimoji="0" lang="en-US" sz="3600" b="1"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rPr>
              <a:t>Traversing Graph/Tree</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2C3395A0-7298-CDE1-57DA-C81B603487F8}"/>
              </a:ext>
            </a:extLst>
          </p:cNvPr>
          <p:cNvSpPr txBox="1"/>
          <p:nvPr/>
        </p:nvSpPr>
        <p:spPr>
          <a:xfrm>
            <a:off x="502522" y="1175918"/>
            <a:ext cx="10441250" cy="5491760"/>
          </a:xfrm>
          <a:prstGeom prst="rect">
            <a:avLst/>
          </a:prstGeom>
          <a:noFill/>
        </p:spPr>
        <p:txBody>
          <a:bodyPr wrap="square">
            <a:spAutoFit/>
          </a:bodyPr>
          <a:lstStyle/>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Preorder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left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preorder.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right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preorder.</a:t>
            </a:r>
          </a:p>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In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left sub tree</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in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right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in order.</a:t>
            </a:r>
          </a:p>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the </a:t>
            </a: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rPr>
              <a:t>left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rPr>
              <a:t>right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2895212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sp>
        <p:nvSpPr>
          <p:cNvPr id="7" name="Google Shape;97;p17"/>
          <p:cNvSpPr txBox="1"/>
          <p:nvPr/>
        </p:nvSpPr>
        <p:spPr>
          <a:xfrm>
            <a:off x="138453" y="168621"/>
            <a:ext cx="10123147" cy="707846"/>
          </a:xfrm>
          <a:prstGeom prst="rect">
            <a:avLst/>
          </a:prstGeom>
          <a:noFill/>
          <a:ln>
            <a:noFill/>
          </a:ln>
        </p:spPr>
        <p:txBody>
          <a:bodyPr spcFirstLastPara="1" wrap="square" lIns="121900" tIns="121900" rIns="121900" bIns="121900" anchor="t" anchorCtr="0">
            <a:spAutoFit/>
          </a:bodyPr>
          <a:lstStyle/>
          <a:p>
            <a:pPr algn="l"/>
            <a:r>
              <a:rPr kumimoji="0" lang="en-US" sz="3000" b="1"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rPr>
              <a:t>Traversing Graph/Tree</a:t>
            </a:r>
            <a:r>
              <a:rPr lang="en-IN" sz="3000" b="1" dirty="0">
                <a:solidFill>
                  <a:prstClr val="white"/>
                </a:solidFill>
                <a:latin typeface="Trebuchet MS" panose="020B0603020202020204" pitchFamily="34" charset="0"/>
                <a:ea typeface="+mj-ea"/>
                <a:cs typeface="+mj-cs"/>
              </a:rPr>
              <a:t>Depth-First Search / Traversal</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45726F-BF19-1C50-AFD7-CABB5E561BD5}"/>
                  </a:ext>
                </a:extLst>
              </p:cNvPr>
              <p:cNvSpPr txBox="1"/>
              <p:nvPr/>
            </p:nvSpPr>
            <p:spPr>
              <a:xfrm>
                <a:off x="5670290" y="982465"/>
                <a:ext cx="6184028" cy="919401"/>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Select any node </a:t>
                </a:r>
                <a14:m>
                  <m:oMath xmlns:m="http://schemas.openxmlformats.org/officeDocument/2006/math">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𝑣</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𝑁</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 </m:t>
                    </m:r>
                  </m:oMath>
                </a14:m>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as starting point mark that node as visited</a:t>
                </a:r>
              </a:p>
            </p:txBody>
          </p:sp>
        </mc:Choice>
        <mc:Fallback xmlns="">
          <p:sp>
            <p:nvSpPr>
              <p:cNvPr id="23" name="TextBox 22">
                <a:extLst>
                  <a:ext uri="{FF2B5EF4-FFF2-40B4-BE49-F238E27FC236}">
                    <a16:creationId xmlns:a16="http://schemas.microsoft.com/office/drawing/2014/main" id="{9745726F-BF19-1C50-AFD7-CABB5E561BD5}"/>
                  </a:ext>
                </a:extLst>
              </p:cNvPr>
              <p:cNvSpPr txBox="1">
                <a:spLocks noRot="1" noChangeAspect="1" noMove="1" noResize="1" noEditPoints="1" noAdjustHandles="1" noChangeArrowheads="1" noChangeShapeType="1" noTextEdit="1"/>
              </p:cNvSpPr>
              <p:nvPr/>
            </p:nvSpPr>
            <p:spPr>
              <a:xfrm>
                <a:off x="5670290" y="982465"/>
                <a:ext cx="6184028" cy="919401"/>
              </a:xfrm>
              <a:prstGeom prst="roundRect">
                <a:avLst/>
              </a:prstGeom>
              <a:blipFill>
                <a:blip r:embed="rId4"/>
                <a:stretch>
                  <a:fillRect l="-492" r="-688" b="-9150"/>
                </a:stretch>
              </a:blipFill>
              <a:ln>
                <a:solidFill>
                  <a:srgbClr val="909090"/>
                </a:solidFill>
              </a:ln>
            </p:spPr>
            <p:txBody>
              <a:bodyPr/>
              <a:lstStyle/>
              <a:p>
                <a:r>
                  <a:rPr lang="en-IN">
                    <a:noFill/>
                  </a:rPr>
                  <a:t> </a:t>
                </a:r>
              </a:p>
            </p:txBody>
          </p:sp>
        </mc:Fallback>
      </mc:AlternateContent>
      <p:sp>
        <p:nvSpPr>
          <p:cNvPr id="24" name="TextBox 23">
            <a:extLst>
              <a:ext uri="{FF2B5EF4-FFF2-40B4-BE49-F238E27FC236}">
                <a16:creationId xmlns:a16="http://schemas.microsoft.com/office/drawing/2014/main" id="{1C349ADD-43E3-6142-8070-2769C8EEE286}"/>
              </a:ext>
            </a:extLst>
          </p:cNvPr>
          <p:cNvSpPr txBox="1"/>
          <p:nvPr/>
        </p:nvSpPr>
        <p:spPr>
          <a:xfrm>
            <a:off x="5670290" y="2056190"/>
            <a:ext cx="6148598" cy="1736646"/>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Select one of the unvisited adjacent of current node.</a:t>
            </a:r>
          </a:p>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Make it new starting point and mark it as visited </a:t>
            </a:r>
          </a:p>
        </p:txBody>
      </p:sp>
      <p:sp>
        <p:nvSpPr>
          <p:cNvPr id="25" name="TextBox 24">
            <a:extLst>
              <a:ext uri="{FF2B5EF4-FFF2-40B4-BE49-F238E27FC236}">
                <a16:creationId xmlns:a16="http://schemas.microsoft.com/office/drawing/2014/main" id="{58BF2487-39E5-73A0-81DC-E0C3C155DF43}"/>
              </a:ext>
            </a:extLst>
          </p:cNvPr>
          <p:cNvSpPr txBox="1"/>
          <p:nvPr/>
        </p:nvSpPr>
        <p:spPr>
          <a:xfrm>
            <a:off x="5670290" y="3960223"/>
            <a:ext cx="6184029" cy="1328023"/>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If new node has no unvisited adjacent then move to parent and make it starting point</a:t>
            </a:r>
          </a:p>
        </p:txBody>
      </p:sp>
      <p:sp>
        <p:nvSpPr>
          <p:cNvPr id="26" name="TextBox 25">
            <a:extLst>
              <a:ext uri="{FF2B5EF4-FFF2-40B4-BE49-F238E27FC236}">
                <a16:creationId xmlns:a16="http://schemas.microsoft.com/office/drawing/2014/main" id="{E124B3EC-B1FE-2EA0-22BF-9EF61954BB31}"/>
              </a:ext>
            </a:extLst>
          </p:cNvPr>
          <p:cNvSpPr txBox="1"/>
          <p:nvPr/>
        </p:nvSpPr>
        <p:spPr>
          <a:xfrm>
            <a:off x="1529219" y="5754301"/>
            <a:ext cx="4675077" cy="510778"/>
          </a:xfrm>
          <a:prstGeom prst="roundRect">
            <a:avLst/>
          </a:prstGeom>
          <a:solidFill>
            <a:srgbClr val="909090">
              <a:lumMod val="20000"/>
              <a:lumOff val="80000"/>
            </a:srgbClr>
          </a:solid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Trebuchet MS" panose="020B0603020202020204" pitchFamily="34" charset="0"/>
              </a:rPr>
              <a:t>Visited : </a:t>
            </a:r>
          </a:p>
        </p:txBody>
      </p:sp>
      <p:sp>
        <p:nvSpPr>
          <p:cNvPr id="27" name="Rectangle 26">
            <a:extLst>
              <a:ext uri="{FF2B5EF4-FFF2-40B4-BE49-F238E27FC236}">
                <a16:creationId xmlns:a16="http://schemas.microsoft.com/office/drawing/2014/main" id="{B3D54C37-9967-9D6D-13CA-014F3ED1ACA0}"/>
              </a:ext>
            </a:extLst>
          </p:cNvPr>
          <p:cNvSpPr/>
          <p:nvPr/>
        </p:nvSpPr>
        <p:spPr>
          <a:xfrm>
            <a:off x="2648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1</a:t>
            </a:r>
          </a:p>
        </p:txBody>
      </p:sp>
      <p:sp>
        <p:nvSpPr>
          <p:cNvPr id="28" name="Rectangle 27">
            <a:extLst>
              <a:ext uri="{FF2B5EF4-FFF2-40B4-BE49-F238E27FC236}">
                <a16:creationId xmlns:a16="http://schemas.microsoft.com/office/drawing/2014/main" id="{7D1F1BAA-499B-C00D-C121-3ADCC8CD0DD2}"/>
              </a:ext>
            </a:extLst>
          </p:cNvPr>
          <p:cNvSpPr/>
          <p:nvPr/>
        </p:nvSpPr>
        <p:spPr>
          <a:xfrm>
            <a:off x="3080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2</a:t>
            </a:r>
          </a:p>
        </p:txBody>
      </p:sp>
      <p:sp>
        <p:nvSpPr>
          <p:cNvPr id="29" name="Rectangle 28">
            <a:extLst>
              <a:ext uri="{FF2B5EF4-FFF2-40B4-BE49-F238E27FC236}">
                <a16:creationId xmlns:a16="http://schemas.microsoft.com/office/drawing/2014/main" id="{A1DE582D-50B7-72AB-6467-FDDC288FFDE0}"/>
              </a:ext>
            </a:extLst>
          </p:cNvPr>
          <p:cNvSpPr/>
          <p:nvPr/>
        </p:nvSpPr>
        <p:spPr>
          <a:xfrm>
            <a:off x="3512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3</a:t>
            </a:r>
          </a:p>
        </p:txBody>
      </p:sp>
      <p:sp>
        <p:nvSpPr>
          <p:cNvPr id="30" name="Rectangle 29">
            <a:extLst>
              <a:ext uri="{FF2B5EF4-FFF2-40B4-BE49-F238E27FC236}">
                <a16:creationId xmlns:a16="http://schemas.microsoft.com/office/drawing/2014/main" id="{DB16BC65-489C-DB36-C3DE-5D5D12C31EF0}"/>
              </a:ext>
            </a:extLst>
          </p:cNvPr>
          <p:cNvSpPr/>
          <p:nvPr/>
        </p:nvSpPr>
        <p:spPr>
          <a:xfrm>
            <a:off x="3944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6</a:t>
            </a:r>
          </a:p>
        </p:txBody>
      </p:sp>
      <p:sp>
        <p:nvSpPr>
          <p:cNvPr id="31" name="Rectangle 30">
            <a:extLst>
              <a:ext uri="{FF2B5EF4-FFF2-40B4-BE49-F238E27FC236}">
                <a16:creationId xmlns:a16="http://schemas.microsoft.com/office/drawing/2014/main" id="{E4EE71BC-F525-81FB-221B-41E9C1CA50A1}"/>
              </a:ext>
            </a:extLst>
          </p:cNvPr>
          <p:cNvSpPr/>
          <p:nvPr/>
        </p:nvSpPr>
        <p:spPr>
          <a:xfrm>
            <a:off x="4376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5</a:t>
            </a:r>
          </a:p>
        </p:txBody>
      </p:sp>
      <p:sp>
        <p:nvSpPr>
          <p:cNvPr id="32" name="Rectangle 31">
            <a:extLst>
              <a:ext uri="{FF2B5EF4-FFF2-40B4-BE49-F238E27FC236}">
                <a16:creationId xmlns:a16="http://schemas.microsoft.com/office/drawing/2014/main" id="{C8600ABB-621A-940D-D441-704834FF8CAD}"/>
              </a:ext>
            </a:extLst>
          </p:cNvPr>
          <p:cNvSpPr/>
          <p:nvPr/>
        </p:nvSpPr>
        <p:spPr>
          <a:xfrm>
            <a:off x="4808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4</a:t>
            </a:r>
          </a:p>
        </p:txBody>
      </p:sp>
      <p:sp>
        <p:nvSpPr>
          <p:cNvPr id="33" name="Rectangle 32">
            <a:extLst>
              <a:ext uri="{FF2B5EF4-FFF2-40B4-BE49-F238E27FC236}">
                <a16:creationId xmlns:a16="http://schemas.microsoft.com/office/drawing/2014/main" id="{AB5E45D3-ED40-6760-3065-9056FF3A2A96}"/>
              </a:ext>
            </a:extLst>
          </p:cNvPr>
          <p:cNvSpPr/>
          <p:nvPr/>
        </p:nvSpPr>
        <p:spPr>
          <a:xfrm>
            <a:off x="5238290"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7</a:t>
            </a:r>
          </a:p>
        </p:txBody>
      </p:sp>
      <p:sp>
        <p:nvSpPr>
          <p:cNvPr id="34" name="Rectangle 33">
            <a:extLst>
              <a:ext uri="{FF2B5EF4-FFF2-40B4-BE49-F238E27FC236}">
                <a16:creationId xmlns:a16="http://schemas.microsoft.com/office/drawing/2014/main" id="{A187DBDF-60FA-51F9-D15F-5DE567A49493}"/>
              </a:ext>
            </a:extLst>
          </p:cNvPr>
          <p:cNvSpPr/>
          <p:nvPr/>
        </p:nvSpPr>
        <p:spPr>
          <a:xfrm>
            <a:off x="5670290"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8</a:t>
            </a:r>
          </a:p>
        </p:txBody>
      </p:sp>
      <p:sp>
        <p:nvSpPr>
          <p:cNvPr id="54" name="Oval 53">
            <a:extLst>
              <a:ext uri="{FF2B5EF4-FFF2-40B4-BE49-F238E27FC236}">
                <a16:creationId xmlns:a16="http://schemas.microsoft.com/office/drawing/2014/main" id="{3952B87B-01F2-E9BD-1FBA-1426600AFCA7}"/>
              </a:ext>
            </a:extLst>
          </p:cNvPr>
          <p:cNvSpPr/>
          <p:nvPr/>
        </p:nvSpPr>
        <p:spPr>
          <a:xfrm>
            <a:off x="2141665" y="1627546"/>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IN" b="1" dirty="0"/>
          </a:p>
        </p:txBody>
      </p:sp>
      <p:sp>
        <p:nvSpPr>
          <p:cNvPr id="55" name="Oval 54">
            <a:extLst>
              <a:ext uri="{FF2B5EF4-FFF2-40B4-BE49-F238E27FC236}">
                <a16:creationId xmlns:a16="http://schemas.microsoft.com/office/drawing/2014/main" id="{B3A962F4-5A92-3FE5-434E-DE00F8AB2C12}"/>
              </a:ext>
            </a:extLst>
          </p:cNvPr>
          <p:cNvSpPr/>
          <p:nvPr/>
        </p:nvSpPr>
        <p:spPr>
          <a:xfrm>
            <a:off x="2141665" y="2704796"/>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IN" b="1" dirty="0"/>
          </a:p>
        </p:txBody>
      </p:sp>
      <p:sp>
        <p:nvSpPr>
          <p:cNvPr id="56" name="Oval 55">
            <a:extLst>
              <a:ext uri="{FF2B5EF4-FFF2-40B4-BE49-F238E27FC236}">
                <a16:creationId xmlns:a16="http://schemas.microsoft.com/office/drawing/2014/main" id="{DFE5D51D-6D9C-F57B-2C0C-D36A11FD445C}"/>
              </a:ext>
            </a:extLst>
          </p:cNvPr>
          <p:cNvSpPr/>
          <p:nvPr/>
        </p:nvSpPr>
        <p:spPr>
          <a:xfrm>
            <a:off x="989537" y="27082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a:t>
            </a:r>
          </a:p>
        </p:txBody>
      </p:sp>
      <p:sp>
        <p:nvSpPr>
          <p:cNvPr id="57" name="Oval 56">
            <a:extLst>
              <a:ext uri="{FF2B5EF4-FFF2-40B4-BE49-F238E27FC236}">
                <a16:creationId xmlns:a16="http://schemas.microsoft.com/office/drawing/2014/main" id="{AD88525C-5C13-FB5F-0880-F8964B249D0B}"/>
              </a:ext>
            </a:extLst>
          </p:cNvPr>
          <p:cNvSpPr/>
          <p:nvPr/>
        </p:nvSpPr>
        <p:spPr>
          <a:xfrm>
            <a:off x="2141665" y="37827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6</a:t>
            </a:r>
            <a:endParaRPr lang="en-IN" b="1" dirty="0"/>
          </a:p>
        </p:txBody>
      </p:sp>
      <p:sp>
        <p:nvSpPr>
          <p:cNvPr id="58" name="Oval 57">
            <a:extLst>
              <a:ext uri="{FF2B5EF4-FFF2-40B4-BE49-F238E27FC236}">
                <a16:creationId xmlns:a16="http://schemas.microsoft.com/office/drawing/2014/main" id="{E2ABE663-E0A7-4F13-4A2C-6DBDA8C94A6F}"/>
              </a:ext>
            </a:extLst>
          </p:cNvPr>
          <p:cNvSpPr/>
          <p:nvPr/>
        </p:nvSpPr>
        <p:spPr>
          <a:xfrm>
            <a:off x="989537" y="3786282"/>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IN" b="1" dirty="0"/>
          </a:p>
        </p:txBody>
      </p:sp>
      <p:sp>
        <p:nvSpPr>
          <p:cNvPr id="59" name="Oval 58">
            <a:extLst>
              <a:ext uri="{FF2B5EF4-FFF2-40B4-BE49-F238E27FC236}">
                <a16:creationId xmlns:a16="http://schemas.microsoft.com/office/drawing/2014/main" id="{C1C6EB95-1FE9-6829-B94F-8EDFFE0FE922}"/>
              </a:ext>
            </a:extLst>
          </p:cNvPr>
          <p:cNvSpPr/>
          <p:nvPr/>
        </p:nvSpPr>
        <p:spPr>
          <a:xfrm>
            <a:off x="3288007" y="27082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a:t>
            </a:r>
            <a:endParaRPr lang="en-IN" b="1" dirty="0"/>
          </a:p>
        </p:txBody>
      </p:sp>
      <p:sp>
        <p:nvSpPr>
          <p:cNvPr id="60" name="Oval 59">
            <a:extLst>
              <a:ext uri="{FF2B5EF4-FFF2-40B4-BE49-F238E27FC236}">
                <a16:creationId xmlns:a16="http://schemas.microsoft.com/office/drawing/2014/main" id="{3CDFAE9E-E95B-49B3-16D1-9EFDE63617D9}"/>
              </a:ext>
            </a:extLst>
          </p:cNvPr>
          <p:cNvSpPr/>
          <p:nvPr/>
        </p:nvSpPr>
        <p:spPr>
          <a:xfrm>
            <a:off x="4440135" y="37827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8</a:t>
            </a:r>
            <a:endParaRPr lang="en-IN" b="1" dirty="0"/>
          </a:p>
        </p:txBody>
      </p:sp>
      <p:sp>
        <p:nvSpPr>
          <p:cNvPr id="61" name="Oval 60">
            <a:extLst>
              <a:ext uri="{FF2B5EF4-FFF2-40B4-BE49-F238E27FC236}">
                <a16:creationId xmlns:a16="http://schemas.microsoft.com/office/drawing/2014/main" id="{03ABC771-06CC-228A-B359-F248F56E4D0F}"/>
              </a:ext>
            </a:extLst>
          </p:cNvPr>
          <p:cNvSpPr/>
          <p:nvPr/>
        </p:nvSpPr>
        <p:spPr>
          <a:xfrm>
            <a:off x="3288007" y="3786282"/>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7</a:t>
            </a:r>
            <a:endParaRPr lang="en-IN" b="1" dirty="0"/>
          </a:p>
        </p:txBody>
      </p:sp>
      <p:cxnSp>
        <p:nvCxnSpPr>
          <p:cNvPr id="62" name="Straight Connector 61">
            <a:extLst>
              <a:ext uri="{FF2B5EF4-FFF2-40B4-BE49-F238E27FC236}">
                <a16:creationId xmlns:a16="http://schemas.microsoft.com/office/drawing/2014/main" id="{AF5DFF2C-4C68-4538-B3CB-9FBDDA4E60B2}"/>
              </a:ext>
            </a:extLst>
          </p:cNvPr>
          <p:cNvCxnSpPr>
            <a:stCxn id="54" idx="4"/>
            <a:endCxn id="55" idx="0"/>
          </p:cNvCxnSpPr>
          <p:nvPr/>
        </p:nvCxnSpPr>
        <p:spPr>
          <a:xfrm>
            <a:off x="2415985" y="2176186"/>
            <a:ext cx="0" cy="5286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9B688E3-C681-F419-DBF4-022DDCEF79D3}"/>
              </a:ext>
            </a:extLst>
          </p:cNvPr>
          <p:cNvCxnSpPr>
            <a:stCxn id="56" idx="0"/>
            <a:endCxn id="54" idx="2"/>
          </p:cNvCxnSpPr>
          <p:nvPr/>
        </p:nvCxnSpPr>
        <p:spPr>
          <a:xfrm flipV="1">
            <a:off x="1263857" y="1901866"/>
            <a:ext cx="877808" cy="8064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AA6B8E-A73B-7BA0-55D1-85FF58C39F09}"/>
              </a:ext>
            </a:extLst>
          </p:cNvPr>
          <p:cNvCxnSpPr>
            <a:stCxn id="54" idx="6"/>
            <a:endCxn id="59" idx="0"/>
          </p:cNvCxnSpPr>
          <p:nvPr/>
        </p:nvCxnSpPr>
        <p:spPr>
          <a:xfrm>
            <a:off x="2690305" y="1901866"/>
            <a:ext cx="872022" cy="8064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6B89108-B9DB-DAE7-4269-71DF551D9A59}"/>
              </a:ext>
            </a:extLst>
          </p:cNvPr>
          <p:cNvCxnSpPr>
            <a:stCxn id="55" idx="4"/>
            <a:endCxn id="57" idx="0"/>
          </p:cNvCxnSpPr>
          <p:nvPr/>
        </p:nvCxnSpPr>
        <p:spPr>
          <a:xfrm>
            <a:off x="2415985" y="3253436"/>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A5C3462-0AE4-B6CE-CB41-646A1407E154}"/>
              </a:ext>
            </a:extLst>
          </p:cNvPr>
          <p:cNvCxnSpPr>
            <a:stCxn id="56" idx="4"/>
            <a:endCxn id="58" idx="0"/>
          </p:cNvCxnSpPr>
          <p:nvPr/>
        </p:nvCxnSpPr>
        <p:spPr>
          <a:xfrm>
            <a:off x="1263857" y="3256929"/>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84D64E9-F7E2-5CA0-A436-CBB14CFC906A}"/>
              </a:ext>
            </a:extLst>
          </p:cNvPr>
          <p:cNvCxnSpPr>
            <a:stCxn id="56" idx="5"/>
            <a:endCxn id="57" idx="1"/>
          </p:cNvCxnSpPr>
          <p:nvPr/>
        </p:nvCxnSpPr>
        <p:spPr>
          <a:xfrm>
            <a:off x="1457831" y="3176583"/>
            <a:ext cx="764180" cy="6865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CFC14B1-D906-A08B-21E2-054B131EAAF2}"/>
              </a:ext>
            </a:extLst>
          </p:cNvPr>
          <p:cNvCxnSpPr>
            <a:stCxn id="56" idx="6"/>
            <a:endCxn id="55" idx="2"/>
          </p:cNvCxnSpPr>
          <p:nvPr/>
        </p:nvCxnSpPr>
        <p:spPr>
          <a:xfrm flipV="1">
            <a:off x="1538177" y="2979116"/>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8C3A46B-6C16-D41E-A0D9-53389D386C4D}"/>
              </a:ext>
            </a:extLst>
          </p:cNvPr>
          <p:cNvCxnSpPr>
            <a:stCxn id="58" idx="6"/>
            <a:endCxn id="57" idx="2"/>
          </p:cNvCxnSpPr>
          <p:nvPr/>
        </p:nvCxnSpPr>
        <p:spPr>
          <a:xfrm flipV="1">
            <a:off x="1538177" y="4057109"/>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8511715-91E0-5622-22FB-FEE6482B5E1A}"/>
              </a:ext>
            </a:extLst>
          </p:cNvPr>
          <p:cNvCxnSpPr>
            <a:stCxn id="61" idx="6"/>
            <a:endCxn id="60" idx="2"/>
          </p:cNvCxnSpPr>
          <p:nvPr/>
        </p:nvCxnSpPr>
        <p:spPr>
          <a:xfrm flipV="1">
            <a:off x="3836647" y="4057109"/>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EE05EA-9E96-DB4C-D7D5-947D162510D6}"/>
              </a:ext>
            </a:extLst>
          </p:cNvPr>
          <p:cNvCxnSpPr>
            <a:stCxn id="59" idx="4"/>
            <a:endCxn id="61" idx="0"/>
          </p:cNvCxnSpPr>
          <p:nvPr/>
        </p:nvCxnSpPr>
        <p:spPr>
          <a:xfrm>
            <a:off x="3562327" y="3256929"/>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CE26493-DB98-55C5-E871-C88DC6B6F221}"/>
              </a:ext>
            </a:extLst>
          </p:cNvPr>
          <p:cNvCxnSpPr>
            <a:stCxn id="59" idx="6"/>
            <a:endCxn id="60" idx="0"/>
          </p:cNvCxnSpPr>
          <p:nvPr/>
        </p:nvCxnSpPr>
        <p:spPr>
          <a:xfrm>
            <a:off x="3836647" y="2982609"/>
            <a:ext cx="877808" cy="80018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9038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mph" presetSubtype="2" fill="hold" nodeType="clickEffect">
                                  <p:stCondLst>
                                    <p:cond delay="0"/>
                                  </p:stCondLst>
                                  <p:childTnLst>
                                    <p:animClr clrSpc="rgb" dir="cw">
                                      <p:cBhvr>
                                        <p:cTn id="55" dur="10" fill="hold"/>
                                        <p:tgtEl>
                                          <p:spTgt spid="54"/>
                                        </p:tgtEl>
                                        <p:attrNameLst>
                                          <p:attrName>fillcolor</p:attrName>
                                        </p:attrNameLst>
                                      </p:cBhvr>
                                      <p:to>
                                        <a:srgbClr val="689331"/>
                                      </p:to>
                                    </p:animClr>
                                    <p:set>
                                      <p:cBhvr>
                                        <p:cTn id="56" dur="10" fill="hold"/>
                                        <p:tgtEl>
                                          <p:spTgt spid="54"/>
                                        </p:tgtEl>
                                        <p:attrNameLst>
                                          <p:attrName>fill.type</p:attrName>
                                        </p:attrNameLst>
                                      </p:cBhvr>
                                      <p:to>
                                        <p:strVal val="solid"/>
                                      </p:to>
                                    </p:set>
                                    <p:set>
                                      <p:cBhvr>
                                        <p:cTn id="57" dur="10" fill="hold"/>
                                        <p:tgtEl>
                                          <p:spTgt spid="54"/>
                                        </p:tgtEl>
                                        <p:attrNameLst>
                                          <p:attrName>fill.on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61" dur="250" autoRev="1" fill="remove"/>
                                        <p:tgtEl>
                                          <p:spTgt spid="56"/>
                                        </p:tgtEl>
                                        <p:attrNameLst>
                                          <p:attrName>style.color</p:attrName>
                                        </p:attrNameLst>
                                      </p:cBhvr>
                                      <p:to>
                                        <a:schemeClr val="bg1"/>
                                      </p:to>
                                    </p:animClr>
                                    <p:animClr clrSpc="rgb" dir="cw">
                                      <p:cBhvr>
                                        <p:cTn id="62" dur="250" autoRev="1" fill="remove"/>
                                        <p:tgtEl>
                                          <p:spTgt spid="56"/>
                                        </p:tgtEl>
                                        <p:attrNameLst>
                                          <p:attrName>fillcolor</p:attrName>
                                        </p:attrNameLst>
                                      </p:cBhvr>
                                      <p:to>
                                        <a:schemeClr val="bg1"/>
                                      </p:to>
                                    </p:animClr>
                                    <p:set>
                                      <p:cBhvr>
                                        <p:cTn id="63" dur="250" autoRev="1" fill="remove"/>
                                        <p:tgtEl>
                                          <p:spTgt spid="56"/>
                                        </p:tgtEl>
                                        <p:attrNameLst>
                                          <p:attrName>fill.type</p:attrName>
                                        </p:attrNameLst>
                                      </p:cBhvr>
                                      <p:to>
                                        <p:strVal val="solid"/>
                                      </p:to>
                                    </p:set>
                                    <p:set>
                                      <p:cBhvr>
                                        <p:cTn id="64" dur="250" autoRev="1" fill="remove"/>
                                        <p:tgtEl>
                                          <p:spTgt spid="56"/>
                                        </p:tgtEl>
                                        <p:attrNameLst>
                                          <p:attrName>fill.on</p:attrName>
                                        </p:attrNameLst>
                                      </p:cBhvr>
                                      <p:to>
                                        <p:strVal val="true"/>
                                      </p:to>
                                    </p:set>
                                  </p:childTnLst>
                                </p:cTn>
                              </p:par>
                              <p:par>
                                <p:cTn id="65"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66" dur="250" autoRev="1" fill="remove"/>
                                        <p:tgtEl>
                                          <p:spTgt spid="55"/>
                                        </p:tgtEl>
                                        <p:attrNameLst>
                                          <p:attrName>style.color</p:attrName>
                                        </p:attrNameLst>
                                      </p:cBhvr>
                                      <p:to>
                                        <a:schemeClr val="bg1"/>
                                      </p:to>
                                    </p:animClr>
                                    <p:animClr clrSpc="rgb" dir="cw">
                                      <p:cBhvr>
                                        <p:cTn id="67" dur="250" autoRev="1" fill="remove"/>
                                        <p:tgtEl>
                                          <p:spTgt spid="55"/>
                                        </p:tgtEl>
                                        <p:attrNameLst>
                                          <p:attrName>fillcolor</p:attrName>
                                        </p:attrNameLst>
                                      </p:cBhvr>
                                      <p:to>
                                        <a:schemeClr val="bg1"/>
                                      </p:to>
                                    </p:animClr>
                                    <p:set>
                                      <p:cBhvr>
                                        <p:cTn id="68" dur="250" autoRev="1" fill="remove"/>
                                        <p:tgtEl>
                                          <p:spTgt spid="55"/>
                                        </p:tgtEl>
                                        <p:attrNameLst>
                                          <p:attrName>fill.type</p:attrName>
                                        </p:attrNameLst>
                                      </p:cBhvr>
                                      <p:to>
                                        <p:strVal val="solid"/>
                                      </p:to>
                                    </p:set>
                                    <p:set>
                                      <p:cBhvr>
                                        <p:cTn id="69" dur="250" autoRev="1" fill="remove"/>
                                        <p:tgtEl>
                                          <p:spTgt spid="55"/>
                                        </p:tgtEl>
                                        <p:attrNameLst>
                                          <p:attrName>fill.on</p:attrName>
                                        </p:attrNameLst>
                                      </p:cBhvr>
                                      <p:to>
                                        <p:strVal val="true"/>
                                      </p:to>
                                    </p:set>
                                  </p:childTnLst>
                                </p:cTn>
                              </p:par>
                              <p:par>
                                <p:cTn id="7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71" dur="250" autoRev="1" fill="remove"/>
                                        <p:tgtEl>
                                          <p:spTgt spid="59"/>
                                        </p:tgtEl>
                                        <p:attrNameLst>
                                          <p:attrName>style.color</p:attrName>
                                        </p:attrNameLst>
                                      </p:cBhvr>
                                      <p:to>
                                        <a:schemeClr val="bg1"/>
                                      </p:to>
                                    </p:animClr>
                                    <p:animClr clrSpc="rgb" dir="cw">
                                      <p:cBhvr>
                                        <p:cTn id="72" dur="250" autoRev="1" fill="remove"/>
                                        <p:tgtEl>
                                          <p:spTgt spid="59"/>
                                        </p:tgtEl>
                                        <p:attrNameLst>
                                          <p:attrName>fillcolor</p:attrName>
                                        </p:attrNameLst>
                                      </p:cBhvr>
                                      <p:to>
                                        <a:schemeClr val="bg1"/>
                                      </p:to>
                                    </p:animClr>
                                    <p:set>
                                      <p:cBhvr>
                                        <p:cTn id="73" dur="250" autoRev="1" fill="remove"/>
                                        <p:tgtEl>
                                          <p:spTgt spid="59"/>
                                        </p:tgtEl>
                                        <p:attrNameLst>
                                          <p:attrName>fill.type</p:attrName>
                                        </p:attrNameLst>
                                      </p:cBhvr>
                                      <p:to>
                                        <p:strVal val="solid"/>
                                      </p:to>
                                    </p:set>
                                    <p:set>
                                      <p:cBhvr>
                                        <p:cTn id="74" dur="250" autoRev="1" fill="remove"/>
                                        <p:tgtEl>
                                          <p:spTgt spid="59"/>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 presetClass="emph" presetSubtype="2" fill="hold" nodeType="clickEffect">
                                  <p:stCondLst>
                                    <p:cond delay="0"/>
                                  </p:stCondLst>
                                  <p:childTnLst>
                                    <p:animClr clrSpc="rgb" dir="cw">
                                      <p:cBhvr>
                                        <p:cTn id="78" dur="10" fill="hold"/>
                                        <p:tgtEl>
                                          <p:spTgt spid="56"/>
                                        </p:tgtEl>
                                        <p:attrNameLst>
                                          <p:attrName>fillcolor</p:attrName>
                                        </p:attrNameLst>
                                      </p:cBhvr>
                                      <p:to>
                                        <a:srgbClr val="689331"/>
                                      </p:to>
                                    </p:animClr>
                                    <p:set>
                                      <p:cBhvr>
                                        <p:cTn id="79" dur="10" fill="hold"/>
                                        <p:tgtEl>
                                          <p:spTgt spid="56"/>
                                        </p:tgtEl>
                                        <p:attrNameLst>
                                          <p:attrName>fill.type</p:attrName>
                                        </p:attrNameLst>
                                      </p:cBhvr>
                                      <p:to>
                                        <p:strVal val="solid"/>
                                      </p:to>
                                    </p:set>
                                    <p:set>
                                      <p:cBhvr>
                                        <p:cTn id="80" dur="10" fill="hold"/>
                                        <p:tgtEl>
                                          <p:spTgt spid="56"/>
                                        </p:tgtEl>
                                        <p:attrNameLst>
                                          <p:attrName>fill.on</p:attrName>
                                        </p:attrNameLst>
                                      </p:cBhvr>
                                      <p:to>
                                        <p:strVal val="true"/>
                                      </p:to>
                                    </p:set>
                                  </p:childTnLst>
                                </p:cTn>
                              </p:par>
                              <p:par>
                                <p:cTn id="81" presetID="7" presetClass="emph" presetSubtype="2" fill="hold" nodeType="withEffect">
                                  <p:stCondLst>
                                    <p:cond delay="0"/>
                                  </p:stCondLst>
                                  <p:childTnLst>
                                    <p:animClr clrSpc="rgb" dir="cw">
                                      <p:cBhvr>
                                        <p:cTn id="82" dur="10" fill="hold"/>
                                        <p:tgtEl>
                                          <p:spTgt spid="63"/>
                                        </p:tgtEl>
                                        <p:attrNameLst>
                                          <p:attrName>stroke.color</p:attrName>
                                        </p:attrNameLst>
                                      </p:cBhvr>
                                      <p:to>
                                        <a:srgbClr val="00BBD3"/>
                                      </p:to>
                                    </p:animClr>
                                    <p:set>
                                      <p:cBhvr>
                                        <p:cTn id="83" dur="10" fill="hold"/>
                                        <p:tgtEl>
                                          <p:spTgt spid="63"/>
                                        </p:tgtEl>
                                        <p:attrNameLst>
                                          <p:attrName>stroke.on</p:attrName>
                                        </p:attrNameLst>
                                      </p:cBhvr>
                                      <p:to>
                                        <p:strVal val="true"/>
                                      </p:to>
                                    </p:set>
                                  </p:childTnLst>
                                </p:cTn>
                              </p:par>
                            </p:childTnLst>
                          </p:cTn>
                        </p:par>
                      </p:childTnLst>
                    </p:cTn>
                  </p:par>
                  <p:par>
                    <p:cTn id="84" fill="hold">
                      <p:stCondLst>
                        <p:cond delay="indefinite"/>
                      </p:stCondLst>
                      <p:childTnLst>
                        <p:par>
                          <p:cTn id="85" fill="hold">
                            <p:stCondLst>
                              <p:cond delay="0"/>
                            </p:stCondLst>
                            <p:childTnLst>
                              <p:par>
                                <p:cTn id="86"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87" dur="250" autoRev="1" fill="remove"/>
                                        <p:tgtEl>
                                          <p:spTgt spid="55"/>
                                        </p:tgtEl>
                                        <p:attrNameLst>
                                          <p:attrName>style.color</p:attrName>
                                        </p:attrNameLst>
                                      </p:cBhvr>
                                      <p:to>
                                        <a:schemeClr val="bg1"/>
                                      </p:to>
                                    </p:animClr>
                                    <p:animClr clrSpc="rgb" dir="cw">
                                      <p:cBhvr>
                                        <p:cTn id="88" dur="250" autoRev="1" fill="remove"/>
                                        <p:tgtEl>
                                          <p:spTgt spid="55"/>
                                        </p:tgtEl>
                                        <p:attrNameLst>
                                          <p:attrName>fillcolor</p:attrName>
                                        </p:attrNameLst>
                                      </p:cBhvr>
                                      <p:to>
                                        <a:schemeClr val="bg1"/>
                                      </p:to>
                                    </p:animClr>
                                    <p:set>
                                      <p:cBhvr>
                                        <p:cTn id="89" dur="250" autoRev="1" fill="remove"/>
                                        <p:tgtEl>
                                          <p:spTgt spid="55"/>
                                        </p:tgtEl>
                                        <p:attrNameLst>
                                          <p:attrName>fill.type</p:attrName>
                                        </p:attrNameLst>
                                      </p:cBhvr>
                                      <p:to>
                                        <p:strVal val="solid"/>
                                      </p:to>
                                    </p:set>
                                    <p:set>
                                      <p:cBhvr>
                                        <p:cTn id="90" dur="250" autoRev="1" fill="remove"/>
                                        <p:tgtEl>
                                          <p:spTgt spid="55"/>
                                        </p:tgtEl>
                                        <p:attrNameLst>
                                          <p:attrName>fill.on</p:attrName>
                                        </p:attrNameLst>
                                      </p:cBhvr>
                                      <p:to>
                                        <p:strVal val="true"/>
                                      </p:to>
                                    </p:set>
                                  </p:childTnLst>
                                </p:cTn>
                              </p:par>
                              <p:par>
                                <p:cTn id="91"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92" dur="250" autoRev="1" fill="remove"/>
                                        <p:tgtEl>
                                          <p:spTgt spid="58"/>
                                        </p:tgtEl>
                                        <p:attrNameLst>
                                          <p:attrName>style.color</p:attrName>
                                        </p:attrNameLst>
                                      </p:cBhvr>
                                      <p:to>
                                        <a:schemeClr val="bg1"/>
                                      </p:to>
                                    </p:animClr>
                                    <p:animClr clrSpc="rgb" dir="cw">
                                      <p:cBhvr>
                                        <p:cTn id="93" dur="250" autoRev="1" fill="remove"/>
                                        <p:tgtEl>
                                          <p:spTgt spid="58"/>
                                        </p:tgtEl>
                                        <p:attrNameLst>
                                          <p:attrName>fillcolor</p:attrName>
                                        </p:attrNameLst>
                                      </p:cBhvr>
                                      <p:to>
                                        <a:schemeClr val="bg1"/>
                                      </p:to>
                                    </p:animClr>
                                    <p:set>
                                      <p:cBhvr>
                                        <p:cTn id="94" dur="250" autoRev="1" fill="remove"/>
                                        <p:tgtEl>
                                          <p:spTgt spid="58"/>
                                        </p:tgtEl>
                                        <p:attrNameLst>
                                          <p:attrName>fill.type</p:attrName>
                                        </p:attrNameLst>
                                      </p:cBhvr>
                                      <p:to>
                                        <p:strVal val="solid"/>
                                      </p:to>
                                    </p:set>
                                    <p:set>
                                      <p:cBhvr>
                                        <p:cTn id="95" dur="250" autoRev="1" fill="remove"/>
                                        <p:tgtEl>
                                          <p:spTgt spid="58"/>
                                        </p:tgtEl>
                                        <p:attrNameLst>
                                          <p:attrName>fill.on</p:attrName>
                                        </p:attrNameLst>
                                      </p:cBhvr>
                                      <p:to>
                                        <p:strVal val="true"/>
                                      </p:to>
                                    </p:set>
                                  </p:childTnLst>
                                </p:cTn>
                              </p:par>
                              <p:par>
                                <p:cTn id="96"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97" dur="250" autoRev="1" fill="remove"/>
                                        <p:tgtEl>
                                          <p:spTgt spid="57"/>
                                        </p:tgtEl>
                                        <p:attrNameLst>
                                          <p:attrName>style.color</p:attrName>
                                        </p:attrNameLst>
                                      </p:cBhvr>
                                      <p:to>
                                        <a:schemeClr val="bg1"/>
                                      </p:to>
                                    </p:animClr>
                                    <p:animClr clrSpc="rgb" dir="cw">
                                      <p:cBhvr>
                                        <p:cTn id="98" dur="250" autoRev="1" fill="remove"/>
                                        <p:tgtEl>
                                          <p:spTgt spid="57"/>
                                        </p:tgtEl>
                                        <p:attrNameLst>
                                          <p:attrName>fillcolor</p:attrName>
                                        </p:attrNameLst>
                                      </p:cBhvr>
                                      <p:to>
                                        <a:schemeClr val="bg1"/>
                                      </p:to>
                                    </p:animClr>
                                    <p:set>
                                      <p:cBhvr>
                                        <p:cTn id="99" dur="250" autoRev="1" fill="remove"/>
                                        <p:tgtEl>
                                          <p:spTgt spid="57"/>
                                        </p:tgtEl>
                                        <p:attrNameLst>
                                          <p:attrName>fill.type</p:attrName>
                                        </p:attrNameLst>
                                      </p:cBhvr>
                                      <p:to>
                                        <p:strVal val="solid"/>
                                      </p:to>
                                    </p:set>
                                    <p:set>
                                      <p:cBhvr>
                                        <p:cTn id="100" dur="250" autoRev="1" fill="remove"/>
                                        <p:tgtEl>
                                          <p:spTgt spid="57"/>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2" fill="hold" nodeType="clickEffect">
                                  <p:stCondLst>
                                    <p:cond delay="0"/>
                                  </p:stCondLst>
                                  <p:childTnLst>
                                    <p:animClr clrSpc="rgb" dir="cw">
                                      <p:cBhvr>
                                        <p:cTn id="104" dur="10" fill="hold"/>
                                        <p:tgtEl>
                                          <p:spTgt spid="55"/>
                                        </p:tgtEl>
                                        <p:attrNameLst>
                                          <p:attrName>fillcolor</p:attrName>
                                        </p:attrNameLst>
                                      </p:cBhvr>
                                      <p:to>
                                        <a:srgbClr val="689331"/>
                                      </p:to>
                                    </p:animClr>
                                    <p:set>
                                      <p:cBhvr>
                                        <p:cTn id="105" dur="10" fill="hold"/>
                                        <p:tgtEl>
                                          <p:spTgt spid="55"/>
                                        </p:tgtEl>
                                        <p:attrNameLst>
                                          <p:attrName>fill.type</p:attrName>
                                        </p:attrNameLst>
                                      </p:cBhvr>
                                      <p:to>
                                        <p:strVal val="solid"/>
                                      </p:to>
                                    </p:set>
                                    <p:set>
                                      <p:cBhvr>
                                        <p:cTn id="106" dur="10" fill="hold"/>
                                        <p:tgtEl>
                                          <p:spTgt spid="55"/>
                                        </p:tgtEl>
                                        <p:attrNameLst>
                                          <p:attrName>fill.on</p:attrName>
                                        </p:attrNameLst>
                                      </p:cBhvr>
                                      <p:to>
                                        <p:strVal val="true"/>
                                      </p:to>
                                    </p:set>
                                  </p:childTnLst>
                                </p:cTn>
                              </p:par>
                              <p:par>
                                <p:cTn id="107" presetID="7" presetClass="emph" presetSubtype="2" fill="hold" nodeType="withEffect">
                                  <p:stCondLst>
                                    <p:cond delay="0"/>
                                  </p:stCondLst>
                                  <p:childTnLst>
                                    <p:animClr clrSpc="rgb" dir="cw">
                                      <p:cBhvr>
                                        <p:cTn id="108" dur="10" fill="hold"/>
                                        <p:tgtEl>
                                          <p:spTgt spid="68"/>
                                        </p:tgtEl>
                                        <p:attrNameLst>
                                          <p:attrName>stroke.color</p:attrName>
                                        </p:attrNameLst>
                                      </p:cBhvr>
                                      <p:to>
                                        <a:schemeClr val="accent2"/>
                                      </p:to>
                                    </p:animClr>
                                    <p:set>
                                      <p:cBhvr>
                                        <p:cTn id="109" dur="10" fill="hold"/>
                                        <p:tgtEl>
                                          <p:spTgt spid="68"/>
                                        </p:tgtEl>
                                        <p:attrNameLst>
                                          <p:attrName>stroke.on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13" dur="250" autoRev="1" fill="remove"/>
                                        <p:tgtEl>
                                          <p:spTgt spid="57"/>
                                        </p:tgtEl>
                                        <p:attrNameLst>
                                          <p:attrName>style.color</p:attrName>
                                        </p:attrNameLst>
                                      </p:cBhvr>
                                      <p:to>
                                        <a:schemeClr val="bg1"/>
                                      </p:to>
                                    </p:animClr>
                                    <p:animClr clrSpc="rgb" dir="cw">
                                      <p:cBhvr>
                                        <p:cTn id="114" dur="250" autoRev="1" fill="remove"/>
                                        <p:tgtEl>
                                          <p:spTgt spid="57"/>
                                        </p:tgtEl>
                                        <p:attrNameLst>
                                          <p:attrName>fillcolor</p:attrName>
                                        </p:attrNameLst>
                                      </p:cBhvr>
                                      <p:to>
                                        <a:schemeClr val="bg1"/>
                                      </p:to>
                                    </p:animClr>
                                    <p:set>
                                      <p:cBhvr>
                                        <p:cTn id="115" dur="250" autoRev="1" fill="remove"/>
                                        <p:tgtEl>
                                          <p:spTgt spid="57"/>
                                        </p:tgtEl>
                                        <p:attrNameLst>
                                          <p:attrName>fill.type</p:attrName>
                                        </p:attrNameLst>
                                      </p:cBhvr>
                                      <p:to>
                                        <p:strVal val="solid"/>
                                      </p:to>
                                    </p:set>
                                    <p:set>
                                      <p:cBhvr>
                                        <p:cTn id="116" dur="250" autoRev="1" fill="remove"/>
                                        <p:tgtEl>
                                          <p:spTgt spid="57"/>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 presetClass="emph" presetSubtype="2" fill="hold" nodeType="clickEffect">
                                  <p:stCondLst>
                                    <p:cond delay="0"/>
                                  </p:stCondLst>
                                  <p:childTnLst>
                                    <p:animClr clrSpc="rgb" dir="cw">
                                      <p:cBhvr>
                                        <p:cTn id="120" dur="10" fill="hold"/>
                                        <p:tgtEl>
                                          <p:spTgt spid="57"/>
                                        </p:tgtEl>
                                        <p:attrNameLst>
                                          <p:attrName>fillcolor</p:attrName>
                                        </p:attrNameLst>
                                      </p:cBhvr>
                                      <p:to>
                                        <a:srgbClr val="689331"/>
                                      </p:to>
                                    </p:animClr>
                                    <p:set>
                                      <p:cBhvr>
                                        <p:cTn id="121" dur="10" fill="hold"/>
                                        <p:tgtEl>
                                          <p:spTgt spid="57"/>
                                        </p:tgtEl>
                                        <p:attrNameLst>
                                          <p:attrName>fill.type</p:attrName>
                                        </p:attrNameLst>
                                      </p:cBhvr>
                                      <p:to>
                                        <p:strVal val="solid"/>
                                      </p:to>
                                    </p:set>
                                    <p:set>
                                      <p:cBhvr>
                                        <p:cTn id="122" dur="10" fill="hold"/>
                                        <p:tgtEl>
                                          <p:spTgt spid="57"/>
                                        </p:tgtEl>
                                        <p:attrNameLst>
                                          <p:attrName>fill.on</p:attrName>
                                        </p:attrNameLst>
                                      </p:cBhvr>
                                      <p:to>
                                        <p:strVal val="true"/>
                                      </p:to>
                                    </p:set>
                                  </p:childTnLst>
                                </p:cTn>
                              </p:par>
                              <p:par>
                                <p:cTn id="123" presetID="7" presetClass="emph" presetSubtype="2" fill="hold" nodeType="withEffect">
                                  <p:stCondLst>
                                    <p:cond delay="0"/>
                                  </p:stCondLst>
                                  <p:childTnLst>
                                    <p:animClr clrSpc="rgb" dir="cw">
                                      <p:cBhvr>
                                        <p:cTn id="124" dur="10" fill="hold"/>
                                        <p:tgtEl>
                                          <p:spTgt spid="65"/>
                                        </p:tgtEl>
                                        <p:attrNameLst>
                                          <p:attrName>stroke.color</p:attrName>
                                        </p:attrNameLst>
                                      </p:cBhvr>
                                      <p:to>
                                        <a:schemeClr val="accent2"/>
                                      </p:to>
                                    </p:animClr>
                                    <p:set>
                                      <p:cBhvr>
                                        <p:cTn id="125" dur="10" fill="hold"/>
                                        <p:tgtEl>
                                          <p:spTgt spid="65"/>
                                        </p:tgtEl>
                                        <p:attrNameLst>
                                          <p:attrName>stroke.on</p:attrName>
                                        </p:attrNameLst>
                                      </p:cBhvr>
                                      <p:to>
                                        <p:strVal val="true"/>
                                      </p:to>
                                    </p:set>
                                  </p:childTnLst>
                                </p:cTn>
                              </p:par>
                            </p:childTnLst>
                          </p:cTn>
                        </p:par>
                      </p:childTnLst>
                    </p:cTn>
                  </p:par>
                  <p:par>
                    <p:cTn id="126" fill="hold">
                      <p:stCondLst>
                        <p:cond delay="indefinite"/>
                      </p:stCondLst>
                      <p:childTnLst>
                        <p:par>
                          <p:cTn id="127" fill="hold">
                            <p:stCondLst>
                              <p:cond delay="0"/>
                            </p:stCondLst>
                            <p:childTnLst>
                              <p:par>
                                <p:cTn id="128"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29" dur="250" autoRev="1" fill="remove"/>
                                        <p:tgtEl>
                                          <p:spTgt spid="58"/>
                                        </p:tgtEl>
                                        <p:attrNameLst>
                                          <p:attrName>style.color</p:attrName>
                                        </p:attrNameLst>
                                      </p:cBhvr>
                                      <p:to>
                                        <a:schemeClr val="bg1"/>
                                      </p:to>
                                    </p:animClr>
                                    <p:animClr clrSpc="rgb" dir="cw">
                                      <p:cBhvr>
                                        <p:cTn id="130" dur="250" autoRev="1" fill="remove"/>
                                        <p:tgtEl>
                                          <p:spTgt spid="58"/>
                                        </p:tgtEl>
                                        <p:attrNameLst>
                                          <p:attrName>fillcolor</p:attrName>
                                        </p:attrNameLst>
                                      </p:cBhvr>
                                      <p:to>
                                        <a:schemeClr val="bg1"/>
                                      </p:to>
                                    </p:animClr>
                                    <p:set>
                                      <p:cBhvr>
                                        <p:cTn id="131" dur="250" autoRev="1" fill="remove"/>
                                        <p:tgtEl>
                                          <p:spTgt spid="58"/>
                                        </p:tgtEl>
                                        <p:attrNameLst>
                                          <p:attrName>fill.type</p:attrName>
                                        </p:attrNameLst>
                                      </p:cBhvr>
                                      <p:to>
                                        <p:strVal val="solid"/>
                                      </p:to>
                                    </p:set>
                                    <p:set>
                                      <p:cBhvr>
                                        <p:cTn id="132" dur="250" autoRev="1" fill="remove"/>
                                        <p:tgtEl>
                                          <p:spTgt spid="58"/>
                                        </p:tgtEl>
                                        <p:attrNameLst>
                                          <p:attrName>fill.on</p:attrName>
                                        </p:attrNameLst>
                                      </p:cBhvr>
                                      <p:to>
                                        <p:strVal val="tru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2" fill="hold" nodeType="clickEffect">
                                  <p:stCondLst>
                                    <p:cond delay="0"/>
                                  </p:stCondLst>
                                  <p:childTnLst>
                                    <p:animClr clrSpc="rgb" dir="cw">
                                      <p:cBhvr>
                                        <p:cTn id="136" dur="10" fill="hold"/>
                                        <p:tgtEl>
                                          <p:spTgt spid="58"/>
                                        </p:tgtEl>
                                        <p:attrNameLst>
                                          <p:attrName>fillcolor</p:attrName>
                                        </p:attrNameLst>
                                      </p:cBhvr>
                                      <p:to>
                                        <a:srgbClr val="689331"/>
                                      </p:to>
                                    </p:animClr>
                                    <p:set>
                                      <p:cBhvr>
                                        <p:cTn id="137" dur="10" fill="hold"/>
                                        <p:tgtEl>
                                          <p:spTgt spid="58"/>
                                        </p:tgtEl>
                                        <p:attrNameLst>
                                          <p:attrName>fill.type</p:attrName>
                                        </p:attrNameLst>
                                      </p:cBhvr>
                                      <p:to>
                                        <p:strVal val="solid"/>
                                      </p:to>
                                    </p:set>
                                    <p:set>
                                      <p:cBhvr>
                                        <p:cTn id="138" dur="10" fill="hold"/>
                                        <p:tgtEl>
                                          <p:spTgt spid="58"/>
                                        </p:tgtEl>
                                        <p:attrNameLst>
                                          <p:attrName>fill.on</p:attrName>
                                        </p:attrNameLst>
                                      </p:cBhvr>
                                      <p:to>
                                        <p:strVal val="true"/>
                                      </p:to>
                                    </p:set>
                                  </p:childTnLst>
                                </p:cTn>
                              </p:par>
                              <p:par>
                                <p:cTn id="139" presetID="7" presetClass="emph" presetSubtype="2" fill="hold" nodeType="withEffect">
                                  <p:stCondLst>
                                    <p:cond delay="0"/>
                                  </p:stCondLst>
                                  <p:childTnLst>
                                    <p:animClr clrSpc="rgb" dir="cw">
                                      <p:cBhvr>
                                        <p:cTn id="140" dur="10" fill="hold"/>
                                        <p:tgtEl>
                                          <p:spTgt spid="69"/>
                                        </p:tgtEl>
                                        <p:attrNameLst>
                                          <p:attrName>stroke.color</p:attrName>
                                        </p:attrNameLst>
                                      </p:cBhvr>
                                      <p:to>
                                        <a:schemeClr val="accent2"/>
                                      </p:to>
                                    </p:animClr>
                                    <p:set>
                                      <p:cBhvr>
                                        <p:cTn id="141" dur="10" fill="hold"/>
                                        <p:tgtEl>
                                          <p:spTgt spid="69"/>
                                        </p:tgtEl>
                                        <p:attrNameLst>
                                          <p:attrName>stroke.on</p:attrName>
                                        </p:attrNameLst>
                                      </p:cBhvr>
                                      <p:to>
                                        <p:strVal val="true"/>
                                      </p:to>
                                    </p:set>
                                  </p:childTnLst>
                                </p:cTn>
                              </p:par>
                            </p:childTnLst>
                          </p:cTn>
                        </p:par>
                      </p:childTnLst>
                    </p:cTn>
                  </p:par>
                  <p:par>
                    <p:cTn id="142" fill="hold">
                      <p:stCondLst>
                        <p:cond delay="indefinite"/>
                      </p:stCondLst>
                      <p:childTnLst>
                        <p:par>
                          <p:cTn id="143" fill="hold">
                            <p:stCondLst>
                              <p:cond delay="0"/>
                            </p:stCondLst>
                            <p:childTnLst>
                              <p:par>
                                <p:cTn id="144" presetID="1" presetClass="emph" presetSubtype="2" fill="hold" nodeType="clickEffect">
                                  <p:stCondLst>
                                    <p:cond delay="0"/>
                                  </p:stCondLst>
                                  <p:childTnLst>
                                    <p:animClr clrSpc="rgb" dir="cw">
                                      <p:cBhvr>
                                        <p:cTn id="145" dur="10" fill="hold"/>
                                        <p:tgtEl>
                                          <p:spTgt spid="59"/>
                                        </p:tgtEl>
                                        <p:attrNameLst>
                                          <p:attrName>fillcolor</p:attrName>
                                        </p:attrNameLst>
                                      </p:cBhvr>
                                      <p:to>
                                        <a:srgbClr val="689331"/>
                                      </p:to>
                                    </p:animClr>
                                    <p:set>
                                      <p:cBhvr>
                                        <p:cTn id="146" dur="10" fill="hold"/>
                                        <p:tgtEl>
                                          <p:spTgt spid="59"/>
                                        </p:tgtEl>
                                        <p:attrNameLst>
                                          <p:attrName>fill.type</p:attrName>
                                        </p:attrNameLst>
                                      </p:cBhvr>
                                      <p:to>
                                        <p:strVal val="solid"/>
                                      </p:to>
                                    </p:set>
                                    <p:set>
                                      <p:cBhvr>
                                        <p:cTn id="147" dur="10" fill="hold"/>
                                        <p:tgtEl>
                                          <p:spTgt spid="59"/>
                                        </p:tgtEl>
                                        <p:attrNameLst>
                                          <p:attrName>fill.on</p:attrName>
                                        </p:attrNameLst>
                                      </p:cBhvr>
                                      <p:to>
                                        <p:strVal val="true"/>
                                      </p:to>
                                    </p:set>
                                  </p:childTnLst>
                                </p:cTn>
                              </p:par>
                              <p:par>
                                <p:cTn id="148" presetID="7" presetClass="emph" presetSubtype="2" fill="hold" nodeType="withEffect">
                                  <p:stCondLst>
                                    <p:cond delay="0"/>
                                  </p:stCondLst>
                                  <p:childTnLst>
                                    <p:animClr clrSpc="rgb" dir="cw">
                                      <p:cBhvr>
                                        <p:cTn id="149" dur="10" fill="hold"/>
                                        <p:tgtEl>
                                          <p:spTgt spid="64"/>
                                        </p:tgtEl>
                                        <p:attrNameLst>
                                          <p:attrName>stroke.color</p:attrName>
                                        </p:attrNameLst>
                                      </p:cBhvr>
                                      <p:to>
                                        <a:schemeClr val="accent2"/>
                                      </p:to>
                                    </p:animClr>
                                    <p:set>
                                      <p:cBhvr>
                                        <p:cTn id="150" dur="10" fill="hold"/>
                                        <p:tgtEl>
                                          <p:spTgt spid="64"/>
                                        </p:tgtEl>
                                        <p:attrNameLst>
                                          <p:attrName>stroke.on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54" dur="250" autoRev="1" fill="remove"/>
                                        <p:tgtEl>
                                          <p:spTgt spid="60"/>
                                        </p:tgtEl>
                                        <p:attrNameLst>
                                          <p:attrName>style.color</p:attrName>
                                        </p:attrNameLst>
                                      </p:cBhvr>
                                      <p:to>
                                        <a:schemeClr val="bg1"/>
                                      </p:to>
                                    </p:animClr>
                                    <p:animClr clrSpc="rgb" dir="cw">
                                      <p:cBhvr>
                                        <p:cTn id="155" dur="250" autoRev="1" fill="remove"/>
                                        <p:tgtEl>
                                          <p:spTgt spid="60"/>
                                        </p:tgtEl>
                                        <p:attrNameLst>
                                          <p:attrName>fillcolor</p:attrName>
                                        </p:attrNameLst>
                                      </p:cBhvr>
                                      <p:to>
                                        <a:schemeClr val="bg1"/>
                                      </p:to>
                                    </p:animClr>
                                    <p:set>
                                      <p:cBhvr>
                                        <p:cTn id="156" dur="250" autoRev="1" fill="remove"/>
                                        <p:tgtEl>
                                          <p:spTgt spid="60"/>
                                        </p:tgtEl>
                                        <p:attrNameLst>
                                          <p:attrName>fill.type</p:attrName>
                                        </p:attrNameLst>
                                      </p:cBhvr>
                                      <p:to>
                                        <p:strVal val="solid"/>
                                      </p:to>
                                    </p:set>
                                    <p:set>
                                      <p:cBhvr>
                                        <p:cTn id="157" dur="250" autoRev="1" fill="remove"/>
                                        <p:tgtEl>
                                          <p:spTgt spid="60"/>
                                        </p:tgtEl>
                                        <p:attrNameLst>
                                          <p:attrName>fill.on</p:attrName>
                                        </p:attrNameLst>
                                      </p:cBhvr>
                                      <p:to>
                                        <p:strVal val="true"/>
                                      </p:to>
                                    </p:set>
                                  </p:childTnLst>
                                </p:cTn>
                              </p:par>
                              <p:par>
                                <p:cTn id="158"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59" dur="250" autoRev="1" fill="remove"/>
                                        <p:tgtEl>
                                          <p:spTgt spid="61"/>
                                        </p:tgtEl>
                                        <p:attrNameLst>
                                          <p:attrName>style.color</p:attrName>
                                        </p:attrNameLst>
                                      </p:cBhvr>
                                      <p:to>
                                        <a:schemeClr val="bg1"/>
                                      </p:to>
                                    </p:animClr>
                                    <p:animClr clrSpc="rgb" dir="cw">
                                      <p:cBhvr>
                                        <p:cTn id="160" dur="250" autoRev="1" fill="remove"/>
                                        <p:tgtEl>
                                          <p:spTgt spid="61"/>
                                        </p:tgtEl>
                                        <p:attrNameLst>
                                          <p:attrName>fillcolor</p:attrName>
                                        </p:attrNameLst>
                                      </p:cBhvr>
                                      <p:to>
                                        <a:schemeClr val="bg1"/>
                                      </p:to>
                                    </p:animClr>
                                    <p:set>
                                      <p:cBhvr>
                                        <p:cTn id="161" dur="250" autoRev="1" fill="remove"/>
                                        <p:tgtEl>
                                          <p:spTgt spid="61"/>
                                        </p:tgtEl>
                                        <p:attrNameLst>
                                          <p:attrName>fill.type</p:attrName>
                                        </p:attrNameLst>
                                      </p:cBhvr>
                                      <p:to>
                                        <p:strVal val="solid"/>
                                      </p:to>
                                    </p:set>
                                    <p:set>
                                      <p:cBhvr>
                                        <p:cTn id="162" dur="250" autoRev="1" fill="remove"/>
                                        <p:tgtEl>
                                          <p:spTgt spid="61"/>
                                        </p:tgtEl>
                                        <p:attrNameLst>
                                          <p:attrName>fill.on</p:attrName>
                                        </p:attrNameLst>
                                      </p:cBhvr>
                                      <p:to>
                                        <p:strVal val="true"/>
                                      </p:to>
                                    </p:set>
                                  </p:childTnLst>
                                </p:cTn>
                              </p:par>
                            </p:childTnLst>
                          </p:cTn>
                        </p:par>
                      </p:childTnLst>
                    </p:cTn>
                  </p:par>
                  <p:par>
                    <p:cTn id="163" fill="hold">
                      <p:stCondLst>
                        <p:cond delay="indefinite"/>
                      </p:stCondLst>
                      <p:childTnLst>
                        <p:par>
                          <p:cTn id="164" fill="hold">
                            <p:stCondLst>
                              <p:cond delay="0"/>
                            </p:stCondLst>
                            <p:childTnLst>
                              <p:par>
                                <p:cTn id="165" presetID="1" presetClass="emph" presetSubtype="2" fill="hold" nodeType="clickEffect">
                                  <p:stCondLst>
                                    <p:cond delay="0"/>
                                  </p:stCondLst>
                                  <p:childTnLst>
                                    <p:animClr clrSpc="rgb" dir="cw">
                                      <p:cBhvr>
                                        <p:cTn id="166" dur="10" fill="hold"/>
                                        <p:tgtEl>
                                          <p:spTgt spid="61"/>
                                        </p:tgtEl>
                                        <p:attrNameLst>
                                          <p:attrName>fillcolor</p:attrName>
                                        </p:attrNameLst>
                                      </p:cBhvr>
                                      <p:to>
                                        <a:srgbClr val="689331"/>
                                      </p:to>
                                    </p:animClr>
                                    <p:set>
                                      <p:cBhvr>
                                        <p:cTn id="167" dur="10" fill="hold"/>
                                        <p:tgtEl>
                                          <p:spTgt spid="61"/>
                                        </p:tgtEl>
                                        <p:attrNameLst>
                                          <p:attrName>fill.type</p:attrName>
                                        </p:attrNameLst>
                                      </p:cBhvr>
                                      <p:to>
                                        <p:strVal val="solid"/>
                                      </p:to>
                                    </p:set>
                                    <p:set>
                                      <p:cBhvr>
                                        <p:cTn id="168" dur="10" fill="hold"/>
                                        <p:tgtEl>
                                          <p:spTgt spid="61"/>
                                        </p:tgtEl>
                                        <p:attrNameLst>
                                          <p:attrName>fill.on</p:attrName>
                                        </p:attrNameLst>
                                      </p:cBhvr>
                                      <p:to>
                                        <p:strVal val="true"/>
                                      </p:to>
                                    </p:set>
                                  </p:childTnLst>
                                </p:cTn>
                              </p:par>
                              <p:par>
                                <p:cTn id="169" presetID="7" presetClass="emph" presetSubtype="2" fill="hold" nodeType="withEffect">
                                  <p:stCondLst>
                                    <p:cond delay="0"/>
                                  </p:stCondLst>
                                  <p:childTnLst>
                                    <p:animClr clrSpc="rgb" dir="cw">
                                      <p:cBhvr>
                                        <p:cTn id="170" dur="10" fill="hold"/>
                                        <p:tgtEl>
                                          <p:spTgt spid="71"/>
                                        </p:tgtEl>
                                        <p:attrNameLst>
                                          <p:attrName>stroke.color</p:attrName>
                                        </p:attrNameLst>
                                      </p:cBhvr>
                                      <p:to>
                                        <a:schemeClr val="accent2"/>
                                      </p:to>
                                    </p:animClr>
                                    <p:set>
                                      <p:cBhvr>
                                        <p:cTn id="171" dur="10" fill="hold"/>
                                        <p:tgtEl>
                                          <p:spTgt spid="71"/>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75" dur="250" autoRev="1" fill="remove"/>
                                        <p:tgtEl>
                                          <p:spTgt spid="60"/>
                                        </p:tgtEl>
                                        <p:attrNameLst>
                                          <p:attrName>style.color</p:attrName>
                                        </p:attrNameLst>
                                      </p:cBhvr>
                                      <p:to>
                                        <a:schemeClr val="bg1"/>
                                      </p:to>
                                    </p:animClr>
                                    <p:animClr clrSpc="rgb" dir="cw">
                                      <p:cBhvr>
                                        <p:cTn id="176" dur="250" autoRev="1" fill="remove"/>
                                        <p:tgtEl>
                                          <p:spTgt spid="60"/>
                                        </p:tgtEl>
                                        <p:attrNameLst>
                                          <p:attrName>fillcolor</p:attrName>
                                        </p:attrNameLst>
                                      </p:cBhvr>
                                      <p:to>
                                        <a:schemeClr val="bg1"/>
                                      </p:to>
                                    </p:animClr>
                                    <p:set>
                                      <p:cBhvr>
                                        <p:cTn id="177" dur="250" autoRev="1" fill="remove"/>
                                        <p:tgtEl>
                                          <p:spTgt spid="60"/>
                                        </p:tgtEl>
                                        <p:attrNameLst>
                                          <p:attrName>fill.type</p:attrName>
                                        </p:attrNameLst>
                                      </p:cBhvr>
                                      <p:to>
                                        <p:strVal val="solid"/>
                                      </p:to>
                                    </p:set>
                                    <p:set>
                                      <p:cBhvr>
                                        <p:cTn id="178" dur="250" autoRev="1" fill="remove"/>
                                        <p:tgtEl>
                                          <p:spTgt spid="60"/>
                                        </p:tgtEl>
                                        <p:attrNameLst>
                                          <p:attrName>fill.on</p:attrName>
                                        </p:attrNameLst>
                                      </p:cBhvr>
                                      <p:to>
                                        <p:strVal val="true"/>
                                      </p:to>
                                    </p:set>
                                  </p:childTnLst>
                                </p:cTn>
                              </p:par>
                            </p:childTnLst>
                          </p:cTn>
                        </p:par>
                      </p:childTnLst>
                    </p:cTn>
                  </p:par>
                  <p:par>
                    <p:cTn id="179" fill="hold">
                      <p:stCondLst>
                        <p:cond delay="indefinite"/>
                      </p:stCondLst>
                      <p:childTnLst>
                        <p:par>
                          <p:cTn id="180" fill="hold">
                            <p:stCondLst>
                              <p:cond delay="0"/>
                            </p:stCondLst>
                            <p:childTnLst>
                              <p:par>
                                <p:cTn id="181" presetID="1" presetClass="emph" presetSubtype="2" fill="hold" nodeType="clickEffect">
                                  <p:stCondLst>
                                    <p:cond delay="0"/>
                                  </p:stCondLst>
                                  <p:childTnLst>
                                    <p:animClr clrSpc="rgb" dir="cw">
                                      <p:cBhvr>
                                        <p:cTn id="182" dur="10" fill="hold"/>
                                        <p:tgtEl>
                                          <p:spTgt spid="60"/>
                                        </p:tgtEl>
                                        <p:attrNameLst>
                                          <p:attrName>fillcolor</p:attrName>
                                        </p:attrNameLst>
                                      </p:cBhvr>
                                      <p:to>
                                        <a:srgbClr val="689331"/>
                                      </p:to>
                                    </p:animClr>
                                    <p:set>
                                      <p:cBhvr>
                                        <p:cTn id="183" dur="10" fill="hold"/>
                                        <p:tgtEl>
                                          <p:spTgt spid="60"/>
                                        </p:tgtEl>
                                        <p:attrNameLst>
                                          <p:attrName>fill.type</p:attrName>
                                        </p:attrNameLst>
                                      </p:cBhvr>
                                      <p:to>
                                        <p:strVal val="solid"/>
                                      </p:to>
                                    </p:set>
                                    <p:set>
                                      <p:cBhvr>
                                        <p:cTn id="184" dur="10" fill="hold"/>
                                        <p:tgtEl>
                                          <p:spTgt spid="60"/>
                                        </p:tgtEl>
                                        <p:attrNameLst>
                                          <p:attrName>fill.on</p:attrName>
                                        </p:attrNameLst>
                                      </p:cBhvr>
                                      <p:to>
                                        <p:strVal val="true"/>
                                      </p:to>
                                    </p:set>
                                  </p:childTnLst>
                                </p:cTn>
                              </p:par>
                              <p:par>
                                <p:cTn id="185" presetID="7" presetClass="emph" presetSubtype="2" fill="hold" nodeType="withEffect">
                                  <p:stCondLst>
                                    <p:cond delay="0"/>
                                  </p:stCondLst>
                                  <p:childTnLst>
                                    <p:animClr clrSpc="rgb" dir="cw">
                                      <p:cBhvr>
                                        <p:cTn id="186" dur="10" fill="hold"/>
                                        <p:tgtEl>
                                          <p:spTgt spid="70"/>
                                        </p:tgtEl>
                                        <p:attrNameLst>
                                          <p:attrName>stroke.color</p:attrName>
                                        </p:attrNameLst>
                                      </p:cBhvr>
                                      <p:to>
                                        <a:schemeClr val="accent2"/>
                                      </p:to>
                                    </p:animClr>
                                    <p:set>
                                      <p:cBhvr>
                                        <p:cTn id="187" dur="10" fill="hold"/>
                                        <p:tgtEl>
                                          <p:spTgt spid="70"/>
                                        </p:tgtEl>
                                        <p:attrNameLst>
                                          <p:attrName>stroke.on</p:attrName>
                                        </p:attrNameLst>
                                      </p:cBhvr>
                                      <p:to>
                                        <p:strVal val="true"/>
                                      </p:to>
                                    </p:set>
                                  </p:childTnLst>
                                </p:cTn>
                              </p:par>
                            </p:childTnLst>
                          </p:cTn>
                        </p:par>
                      </p:childTnLst>
                    </p:cTn>
                  </p:par>
                  <p:par>
                    <p:cTn id="188" fill="hold">
                      <p:stCondLst>
                        <p:cond delay="indefinite"/>
                      </p:stCondLst>
                      <p:childTnLst>
                        <p:par>
                          <p:cTn id="189" fill="hold">
                            <p:stCondLst>
                              <p:cond delay="0"/>
                            </p:stCondLst>
                            <p:childTnLst>
                              <p:par>
                                <p:cTn id="190" presetID="1" presetClass="exit" presetSubtype="0" fill="hold" nodeType="clickEffect">
                                  <p:stCondLst>
                                    <p:cond delay="0"/>
                                  </p:stCondLst>
                                  <p:childTnLst>
                                    <p:set>
                                      <p:cBhvr>
                                        <p:cTn id="191" dur="1" fill="hold">
                                          <p:stCondLst>
                                            <p:cond delay="0"/>
                                          </p:stCondLst>
                                        </p:cTn>
                                        <p:tgtEl>
                                          <p:spTgt spid="66"/>
                                        </p:tgtEl>
                                        <p:attrNameLst>
                                          <p:attrName>style.visibility</p:attrName>
                                        </p:attrNameLst>
                                      </p:cBhvr>
                                      <p:to>
                                        <p:strVal val="hidden"/>
                                      </p:to>
                                    </p:set>
                                  </p:childTnLst>
                                </p:cTn>
                              </p:par>
                              <p:par>
                                <p:cTn id="192" presetID="1" presetClass="exit" presetSubtype="0" fill="hold" nodeType="withEffect">
                                  <p:stCondLst>
                                    <p:cond delay="0"/>
                                  </p:stCondLst>
                                  <p:childTnLst>
                                    <p:set>
                                      <p:cBhvr>
                                        <p:cTn id="193" dur="1" fill="hold">
                                          <p:stCondLst>
                                            <p:cond delay="0"/>
                                          </p:stCondLst>
                                        </p:cTn>
                                        <p:tgtEl>
                                          <p:spTgt spid="67"/>
                                        </p:tgtEl>
                                        <p:attrNameLst>
                                          <p:attrName>style.visibility</p:attrName>
                                        </p:attrNameLst>
                                      </p:cBhvr>
                                      <p:to>
                                        <p:strVal val="hidden"/>
                                      </p:to>
                                    </p:set>
                                  </p:childTnLst>
                                </p:cTn>
                              </p:par>
                              <p:par>
                                <p:cTn id="194" presetID="1" presetClass="exit" presetSubtype="0" fill="hold" nodeType="withEffect">
                                  <p:stCondLst>
                                    <p:cond delay="0"/>
                                  </p:stCondLst>
                                  <p:childTnLst>
                                    <p:set>
                                      <p:cBhvr>
                                        <p:cTn id="195" dur="1" fill="hold">
                                          <p:stCondLst>
                                            <p:cond delay="0"/>
                                          </p:stCondLst>
                                        </p:cTn>
                                        <p:tgtEl>
                                          <p:spTgt spid="72"/>
                                        </p:tgtEl>
                                        <p:attrNameLst>
                                          <p:attrName>style.visibility</p:attrName>
                                        </p:attrNameLst>
                                      </p:cBhvr>
                                      <p:to>
                                        <p:strVal val="hidden"/>
                                      </p:to>
                                    </p:set>
                                  </p:childTnLst>
                                </p:cTn>
                              </p:par>
                              <p:par>
                                <p:cTn id="196" presetID="1" presetClass="exit" presetSubtype="0" fill="hold" nodeType="withEffect">
                                  <p:stCondLst>
                                    <p:cond delay="0"/>
                                  </p:stCondLst>
                                  <p:childTnLst>
                                    <p:set>
                                      <p:cBhvr>
                                        <p:cTn id="197"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55" grpId="0" animBg="1"/>
      <p:bldP spid="55" grpId="1" animBg="1"/>
      <p:bldP spid="56" grpId="0" animBg="1"/>
      <p:bldP spid="57" grpId="0" animBg="1"/>
      <p:bldP spid="57" grpId="1" animBg="1"/>
      <p:bldP spid="58" grpId="0" animBg="1"/>
      <p:bldP spid="58" grpId="1" animBg="1"/>
      <p:bldP spid="59" grpId="0" animBg="1"/>
      <p:bldP spid="60" grpId="0" animBg="1"/>
      <p:bldP spid="60" grpId="1" animBg="1"/>
      <p:bldP spid="6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DFS – Procedure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271989-8D30-AD44-4E04-52593655EAC2}"/>
                  </a:ext>
                </a:extLst>
              </p:cNvPr>
              <p:cNvSpPr txBox="1"/>
              <p:nvPr/>
            </p:nvSpPr>
            <p:spPr>
              <a:xfrm>
                <a:off x="261257" y="998297"/>
                <a:ext cx="11262117" cy="5909310"/>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Let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𝑮</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𝑵</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 </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𝑨</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be an undirected graph all of whose nodes we wish to visit.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is somehow possible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to mark a node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show it has already been visited.</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carry out a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depth-first traversal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of the graph, choose any node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𝑣</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𝑁</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as the starting point.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Mark this node to show it has been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visited</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there is a node adjacent to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𝒗</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that has not yet been visited, choose this node as a new starting point and call the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depth-first search procedure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recursively</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When all the nodes adjacent to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𝒗</m:t>
                    </m:r>
                  </m:oMath>
                </a14:m>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 are marked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the search starting at</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𝑣</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finished.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there remain any nodes of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that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have not been visited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choose any one of them as a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new starting point</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and call the procedure again.</a:t>
                </a:r>
              </a:p>
            </p:txBody>
          </p:sp>
        </mc:Choice>
        <mc:Fallback xmlns="">
          <p:sp>
            <p:nvSpPr>
              <p:cNvPr id="4" name="TextBox 3">
                <a:extLst>
                  <a:ext uri="{FF2B5EF4-FFF2-40B4-BE49-F238E27FC236}">
                    <a16:creationId xmlns:a16="http://schemas.microsoft.com/office/drawing/2014/main" id="{CD271989-8D30-AD44-4E04-52593655EAC2}"/>
                  </a:ext>
                </a:extLst>
              </p:cNvPr>
              <p:cNvSpPr txBox="1">
                <a:spLocks noRot="1" noChangeAspect="1" noMove="1" noResize="1" noEditPoints="1" noAdjustHandles="1" noChangeArrowheads="1" noChangeShapeType="1" noTextEdit="1"/>
              </p:cNvSpPr>
              <p:nvPr/>
            </p:nvSpPr>
            <p:spPr>
              <a:xfrm>
                <a:off x="261257" y="998297"/>
                <a:ext cx="11262117" cy="5909310"/>
              </a:xfrm>
              <a:prstGeom prst="rect">
                <a:avLst/>
              </a:prstGeom>
              <a:blipFill>
                <a:blip r:embed="rId5"/>
                <a:stretch>
                  <a:fillRect l="-758" t="-826" r="-812" b="-1445"/>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5986486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DFS – Procedure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7E52E7C-F1FC-BAA5-F3DB-12800027A587}"/>
              </a:ext>
            </a:extLst>
          </p:cNvPr>
          <p:cNvSpPr txBox="1"/>
          <p:nvPr/>
        </p:nvSpPr>
        <p:spPr>
          <a:xfrm>
            <a:off x="662179" y="1044052"/>
            <a:ext cx="6343304" cy="5491760"/>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procedure </a:t>
            </a:r>
            <a:r>
              <a:rPr kumimoji="0" lang="en-US" sz="2400" b="1" i="0" u="none" strike="noStrike" kern="1200" cap="none" spc="0" normalizeH="0" baseline="0" noProof="0" dirty="0" err="1">
                <a:ln>
                  <a:noFill/>
                </a:ln>
                <a:solidFill>
                  <a:srgbClr val="0070C0"/>
                </a:solidFill>
                <a:effectLst/>
                <a:uLnTx/>
                <a:uFillTx/>
                <a:latin typeface="Trebuchet MS" panose="020B0603020202020204" pitchFamily="34" charset="0"/>
              </a:rPr>
              <a:t>dfsearch</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(G)</a:t>
            </a:r>
            <a:endPar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0" i="0" u="none" strike="noStrike" kern="1200" cap="none" spc="0" normalizeH="0" baseline="0" noProof="0" dirty="0">
                <a:ln>
                  <a:noFill/>
                </a:ln>
                <a:effectLst/>
                <a:uLnTx/>
                <a:uFillTx/>
                <a:latin typeface="Trebuchet MS" panose="020B0603020202020204" pitchFamily="34" charset="0"/>
              </a:rPr>
              <a:t> each v Є N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do</a:t>
            </a:r>
            <a:endPar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a:t>
            </a:r>
            <a:r>
              <a:rPr kumimoji="0" lang="en-US" sz="2400" b="0" i="0" u="none" strike="noStrike" kern="1200" cap="none" spc="0" normalizeH="0" baseline="0" noProof="0" dirty="0">
                <a:ln>
                  <a:noFill/>
                </a:ln>
                <a:effectLst/>
                <a:uLnTx/>
                <a:uFillTx/>
                <a:latin typeface="Trebuchet MS" panose="020B0603020202020204" pitchFamily="34" charset="0"/>
              </a:rPr>
              <a:t>mark[v] ← not-visited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0" i="0" u="none" strike="noStrike" kern="1200" cap="none" spc="0" normalizeH="0" baseline="0" noProof="0" dirty="0">
                <a:ln>
                  <a:noFill/>
                </a:ln>
                <a:effectLst/>
                <a:uLnTx/>
                <a:uFillTx/>
                <a:latin typeface="Trebuchet MS" panose="020B0603020202020204" pitchFamily="34" charset="0"/>
              </a:rPr>
              <a:t> each v Є N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do</a:t>
            </a:r>
            <a:r>
              <a:rPr kumimoji="0" lang="en-US" sz="2400" b="1" i="0" u="none" strike="noStrike" kern="1200" cap="none" spc="0" normalizeH="0" baseline="0" noProof="0" dirty="0">
                <a:ln>
                  <a:noFill/>
                </a:ln>
                <a:effectLst/>
                <a:uLnTx/>
                <a:uFillTx/>
                <a:latin typeface="Trebuchet MS" panose="020B0603020202020204" pitchFamily="34" charset="0"/>
              </a:rPr>
              <a:t> </a:t>
            </a:r>
            <a:endParaRPr kumimoji="0" lang="en-US" sz="2400" b="0" i="0" u="none" strike="noStrike" kern="1200" cap="none" spc="0" normalizeH="0" baseline="0" noProof="0" dirty="0">
              <a:ln>
                <a:noFill/>
              </a:ln>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if </a:t>
            </a:r>
            <a:r>
              <a:rPr kumimoji="0" lang="en-US" sz="2400" b="0" i="0" u="none" strike="noStrike" kern="1200" cap="none" spc="0" normalizeH="0" baseline="0" noProof="0" dirty="0">
                <a:ln>
                  <a:noFill/>
                </a:ln>
                <a:effectLst/>
                <a:uLnTx/>
                <a:uFillTx/>
                <a:latin typeface="Trebuchet MS" panose="020B0603020202020204" pitchFamily="34" charset="0"/>
              </a:rPr>
              <a:t>mark[v] ≠ visited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then</a:t>
            </a: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1" u="none" strike="noStrike" kern="1200" cap="none" spc="0" normalizeH="0" baseline="0" noProof="0" dirty="0" err="1">
                <a:ln>
                  <a:noFill/>
                </a:ln>
                <a:solidFill>
                  <a:srgbClr val="FF0000"/>
                </a:solidFill>
                <a:effectLst/>
                <a:uLnTx/>
                <a:uFillTx/>
                <a:latin typeface="Trebuchet MS" panose="020B0603020202020204" pitchFamily="34" charset="0"/>
              </a:rPr>
              <a:t>dfs</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(v)</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lang="en-US" sz="2400" b="1" dirty="0">
                <a:solidFill>
                  <a:srgbClr val="0070C0"/>
                </a:solidFill>
                <a:latin typeface="Trebuchet MS" panose="020B0603020202020204" pitchFamily="34" charset="0"/>
              </a:rPr>
              <a:t>procedure </a:t>
            </a:r>
            <a:r>
              <a:rPr lang="en-US" sz="2400" b="1" dirty="0" err="1">
                <a:solidFill>
                  <a:srgbClr val="0070C0"/>
                </a:solidFill>
                <a:latin typeface="Trebuchet MS" panose="020B0603020202020204" pitchFamily="34" charset="0"/>
              </a:rPr>
              <a:t>dfs</a:t>
            </a:r>
            <a:r>
              <a:rPr lang="en-US" sz="2400" b="1" dirty="0">
                <a:solidFill>
                  <a:srgbClr val="0070C0"/>
                </a:solidFill>
                <a:latin typeface="Trebuchet MS" panose="020B0603020202020204" pitchFamily="34" charset="0"/>
              </a:rPr>
              <a:t>(v)</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{Node v has not previously been 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mark[v] ← 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1" i="0" u="none" strike="noStrike" kern="1200" cap="none" spc="0" normalizeH="0" baseline="0" noProof="0" dirty="0">
                <a:ln>
                  <a:noFill/>
                </a:ln>
                <a:effectLst/>
                <a:uLnTx/>
                <a:uFillTx/>
                <a:latin typeface="Trebuchet MS" panose="020B0603020202020204" pitchFamily="34" charset="0"/>
              </a:rPr>
              <a:t> </a:t>
            </a:r>
            <a:r>
              <a:rPr kumimoji="0" lang="en-US" sz="2400" b="0" i="0" u="none" strike="noStrike" kern="1200" cap="none" spc="0" normalizeH="0" baseline="0" noProof="0" dirty="0">
                <a:ln>
                  <a:noFill/>
                </a:ln>
                <a:effectLst/>
                <a:uLnTx/>
                <a:uFillTx/>
                <a:latin typeface="Trebuchet MS" panose="020B0603020202020204" pitchFamily="34" charset="0"/>
              </a:rPr>
              <a:t>each node w adjacent to v </a:t>
            </a:r>
            <a:r>
              <a:rPr kumimoji="0" lang="en-US" sz="2400" b="1" i="0" u="none" strike="noStrike" kern="1200" cap="none" spc="0" normalizeH="0" baseline="0" noProof="0" dirty="0">
                <a:ln>
                  <a:noFill/>
                </a:ln>
                <a:effectLst/>
                <a:uLnTx/>
                <a:uFillTx/>
                <a:latin typeface="Trebuchet MS" panose="020B0603020202020204" pitchFamily="34" charset="0"/>
              </a:rPr>
              <a:t>do</a:t>
            </a:r>
            <a:endParaRPr kumimoji="0" lang="en-US" sz="2400" b="0" i="0" u="none" strike="noStrike" kern="1200" cap="none" spc="0" normalizeH="0" baseline="0" noProof="0" dirty="0">
              <a:ln>
                <a:noFill/>
              </a:ln>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if </a:t>
            </a:r>
            <a:r>
              <a:rPr kumimoji="0" lang="en-US" sz="2400" b="0" i="0" u="none" strike="noStrike" kern="1200" cap="none" spc="0" normalizeH="0" baseline="0" noProof="0" dirty="0">
                <a:ln>
                  <a:noFill/>
                </a:ln>
                <a:effectLst/>
                <a:uLnTx/>
                <a:uFillTx/>
                <a:latin typeface="Trebuchet MS" panose="020B0603020202020204" pitchFamily="34" charset="0"/>
              </a:rPr>
              <a:t>mark[w] ≠ visited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then</a:t>
            </a: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1" u="none" strike="noStrike" kern="1200" cap="none" spc="0" normalizeH="0" baseline="0" noProof="0" dirty="0" err="1">
                <a:ln>
                  <a:noFill/>
                </a:ln>
                <a:solidFill>
                  <a:srgbClr val="FF0000"/>
                </a:solidFill>
                <a:effectLst/>
                <a:uLnTx/>
                <a:uFillTx/>
                <a:latin typeface="Trebuchet MS" panose="020B0603020202020204" pitchFamily="34" charset="0"/>
              </a:rPr>
              <a:t>dfs</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(w)</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8577522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82043"/>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Depth-First Search Algorithm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Content Placeholder 2">
            <a:extLst>
              <a:ext uri="{FF2B5EF4-FFF2-40B4-BE49-F238E27FC236}">
                <a16:creationId xmlns:a16="http://schemas.microsoft.com/office/drawing/2014/main" id="{A5A2DAAC-375A-52FF-682D-B175FB3B0767}"/>
              </a:ext>
            </a:extLst>
          </p:cNvPr>
          <p:cNvSpPr txBox="1">
            <a:spLocks/>
          </p:cNvSpPr>
          <p:nvPr/>
        </p:nvSpPr>
        <p:spPr>
          <a:xfrm>
            <a:off x="138454" y="998297"/>
            <a:ext cx="6533830"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(1)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Initial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(2)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(3)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(6)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(5)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 progress is blocked</a:t>
            </a:r>
          </a:p>
          <a:p>
            <a:pPr marL="457200" marR="0" lvl="0" indent="-457200" algn="l"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(4)</a:t>
            </a:r>
            <a:r>
              <a:rPr kumimoji="0" lang="en-IN" sz="2400" b="0" i="0" u="none" strike="noStrike" kern="1200" cap="none" spc="0" normalizeH="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 neighbour of node 1 that has not been visited</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(7)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(8)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There are no more nodes to visit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Oval 7">
            <a:extLst>
              <a:ext uri="{FF2B5EF4-FFF2-40B4-BE49-F238E27FC236}">
                <a16:creationId xmlns:a16="http://schemas.microsoft.com/office/drawing/2014/main" id="{E353C80F-49AC-E3F5-21AC-319123E6532F}"/>
              </a:ext>
            </a:extLst>
          </p:cNvPr>
          <p:cNvSpPr/>
          <p:nvPr/>
        </p:nvSpPr>
        <p:spPr>
          <a:xfrm>
            <a:off x="8671742" y="974517"/>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1</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9" name="Oval 8">
            <a:extLst>
              <a:ext uri="{FF2B5EF4-FFF2-40B4-BE49-F238E27FC236}">
                <a16:creationId xmlns:a16="http://schemas.microsoft.com/office/drawing/2014/main" id="{1A98FC57-A71C-7F82-9F37-4F8AE250A0EE}"/>
              </a:ext>
            </a:extLst>
          </p:cNvPr>
          <p:cNvSpPr/>
          <p:nvPr/>
        </p:nvSpPr>
        <p:spPr>
          <a:xfrm>
            <a:off x="8671742" y="2051767"/>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3</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0" name="Oval 9">
            <a:extLst>
              <a:ext uri="{FF2B5EF4-FFF2-40B4-BE49-F238E27FC236}">
                <a16:creationId xmlns:a16="http://schemas.microsoft.com/office/drawing/2014/main" id="{368E2452-73FF-00D8-5995-BFCF4E55D6AB}"/>
              </a:ext>
            </a:extLst>
          </p:cNvPr>
          <p:cNvSpPr/>
          <p:nvPr/>
        </p:nvSpPr>
        <p:spPr>
          <a:xfrm>
            <a:off x="7519614" y="20552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11" name="Oval 10">
            <a:extLst>
              <a:ext uri="{FF2B5EF4-FFF2-40B4-BE49-F238E27FC236}">
                <a16:creationId xmlns:a16="http://schemas.microsoft.com/office/drawing/2014/main" id="{1FEEB0E0-3F8A-AA1A-0025-123BC7D5548A}"/>
              </a:ext>
            </a:extLst>
          </p:cNvPr>
          <p:cNvSpPr/>
          <p:nvPr/>
        </p:nvSpPr>
        <p:spPr>
          <a:xfrm>
            <a:off x="8671742" y="31297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6</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2" name="Oval 11">
            <a:extLst>
              <a:ext uri="{FF2B5EF4-FFF2-40B4-BE49-F238E27FC236}">
                <a16:creationId xmlns:a16="http://schemas.microsoft.com/office/drawing/2014/main" id="{DE8F9852-24E1-CDC5-04B2-711793E12F9D}"/>
              </a:ext>
            </a:extLst>
          </p:cNvPr>
          <p:cNvSpPr/>
          <p:nvPr/>
        </p:nvSpPr>
        <p:spPr>
          <a:xfrm>
            <a:off x="7519614" y="3133253"/>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5</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3" name="Oval 12">
            <a:extLst>
              <a:ext uri="{FF2B5EF4-FFF2-40B4-BE49-F238E27FC236}">
                <a16:creationId xmlns:a16="http://schemas.microsoft.com/office/drawing/2014/main" id="{48B974C6-2362-9222-2B52-0A9B0029C9B1}"/>
              </a:ext>
            </a:extLst>
          </p:cNvPr>
          <p:cNvSpPr/>
          <p:nvPr/>
        </p:nvSpPr>
        <p:spPr>
          <a:xfrm>
            <a:off x="9818084" y="20552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4</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4" name="Oval 13">
            <a:extLst>
              <a:ext uri="{FF2B5EF4-FFF2-40B4-BE49-F238E27FC236}">
                <a16:creationId xmlns:a16="http://schemas.microsoft.com/office/drawing/2014/main" id="{40631415-051B-BD3C-002D-BDF4E43718AC}"/>
              </a:ext>
            </a:extLst>
          </p:cNvPr>
          <p:cNvSpPr/>
          <p:nvPr/>
        </p:nvSpPr>
        <p:spPr>
          <a:xfrm>
            <a:off x="10970212" y="31297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8</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5" name="Oval 14">
            <a:extLst>
              <a:ext uri="{FF2B5EF4-FFF2-40B4-BE49-F238E27FC236}">
                <a16:creationId xmlns:a16="http://schemas.microsoft.com/office/drawing/2014/main" id="{E3C9FAAC-BA33-205B-5E88-B53228B0120A}"/>
              </a:ext>
            </a:extLst>
          </p:cNvPr>
          <p:cNvSpPr/>
          <p:nvPr/>
        </p:nvSpPr>
        <p:spPr>
          <a:xfrm>
            <a:off x="9818084" y="3133253"/>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7</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cxnSp>
        <p:nvCxnSpPr>
          <p:cNvPr id="16" name="Straight Connector 15">
            <a:extLst>
              <a:ext uri="{FF2B5EF4-FFF2-40B4-BE49-F238E27FC236}">
                <a16:creationId xmlns:a16="http://schemas.microsoft.com/office/drawing/2014/main" id="{1D582168-4BE2-9EBE-BDF3-B8A6C2B559DC}"/>
              </a:ext>
            </a:extLst>
          </p:cNvPr>
          <p:cNvCxnSpPr>
            <a:stCxn id="8" idx="4"/>
            <a:endCxn id="9" idx="0"/>
          </p:cNvCxnSpPr>
          <p:nvPr/>
        </p:nvCxnSpPr>
        <p:spPr>
          <a:xfrm>
            <a:off x="8941742" y="1514517"/>
            <a:ext cx="0" cy="537250"/>
          </a:xfrm>
          <a:prstGeom prst="line">
            <a:avLst/>
          </a:prstGeom>
          <a:noFill/>
          <a:ln w="28575" cap="flat" cmpd="sng" algn="ctr">
            <a:solidFill>
              <a:srgbClr val="909090"/>
            </a:solidFill>
            <a:prstDash val="solid"/>
            <a:miter lim="800000"/>
          </a:ln>
          <a:effectLst/>
        </p:spPr>
      </p:cxnSp>
      <p:cxnSp>
        <p:nvCxnSpPr>
          <p:cNvPr id="17" name="Straight Connector 16">
            <a:extLst>
              <a:ext uri="{FF2B5EF4-FFF2-40B4-BE49-F238E27FC236}">
                <a16:creationId xmlns:a16="http://schemas.microsoft.com/office/drawing/2014/main" id="{7BCBCCC3-A817-973F-7C72-CEFA1FB95AFD}"/>
              </a:ext>
            </a:extLst>
          </p:cNvPr>
          <p:cNvCxnSpPr>
            <a:stCxn id="10" idx="0"/>
            <a:endCxn id="8" idx="2"/>
          </p:cNvCxnSpPr>
          <p:nvPr/>
        </p:nvCxnSpPr>
        <p:spPr>
          <a:xfrm flipV="1">
            <a:off x="7789614" y="1244517"/>
            <a:ext cx="882128" cy="810743"/>
          </a:xfrm>
          <a:prstGeom prst="line">
            <a:avLst/>
          </a:prstGeom>
          <a:noFill/>
          <a:ln w="28575" cap="flat" cmpd="sng" algn="ctr">
            <a:solidFill>
              <a:srgbClr val="909090"/>
            </a:solidFill>
            <a:prstDash val="solid"/>
            <a:miter lim="800000"/>
          </a:ln>
          <a:effectLst/>
        </p:spPr>
      </p:cxnSp>
      <p:cxnSp>
        <p:nvCxnSpPr>
          <p:cNvPr id="18" name="Straight Connector 17">
            <a:extLst>
              <a:ext uri="{FF2B5EF4-FFF2-40B4-BE49-F238E27FC236}">
                <a16:creationId xmlns:a16="http://schemas.microsoft.com/office/drawing/2014/main" id="{63355AF7-2415-D45B-6E7B-4C7E6DA848E0}"/>
              </a:ext>
            </a:extLst>
          </p:cNvPr>
          <p:cNvCxnSpPr>
            <a:stCxn id="8" idx="6"/>
            <a:endCxn id="13" idx="0"/>
          </p:cNvCxnSpPr>
          <p:nvPr/>
        </p:nvCxnSpPr>
        <p:spPr>
          <a:xfrm>
            <a:off x="9211742" y="1244517"/>
            <a:ext cx="876342" cy="810743"/>
          </a:xfrm>
          <a:prstGeom prst="line">
            <a:avLst/>
          </a:prstGeom>
          <a:noFill/>
          <a:ln w="28575" cap="flat" cmpd="sng" algn="ctr">
            <a:solidFill>
              <a:srgbClr val="909090"/>
            </a:solidFill>
            <a:prstDash val="solid"/>
            <a:miter lim="800000"/>
          </a:ln>
          <a:effectLst/>
        </p:spPr>
      </p:cxnSp>
      <p:cxnSp>
        <p:nvCxnSpPr>
          <p:cNvPr id="19" name="Straight Connector 18">
            <a:extLst>
              <a:ext uri="{FF2B5EF4-FFF2-40B4-BE49-F238E27FC236}">
                <a16:creationId xmlns:a16="http://schemas.microsoft.com/office/drawing/2014/main" id="{0719B67D-F2DA-5F3C-67BD-D06DF71F209E}"/>
              </a:ext>
            </a:extLst>
          </p:cNvPr>
          <p:cNvCxnSpPr>
            <a:stCxn id="9" idx="4"/>
            <a:endCxn id="11" idx="0"/>
          </p:cNvCxnSpPr>
          <p:nvPr/>
        </p:nvCxnSpPr>
        <p:spPr>
          <a:xfrm>
            <a:off x="8941742" y="2591767"/>
            <a:ext cx="0" cy="537993"/>
          </a:xfrm>
          <a:prstGeom prst="line">
            <a:avLst/>
          </a:prstGeom>
          <a:noFill/>
          <a:ln w="28575" cap="flat" cmpd="sng" algn="ctr">
            <a:solidFill>
              <a:srgbClr val="909090"/>
            </a:solidFill>
            <a:prstDash val="solid"/>
            <a:miter lim="800000"/>
          </a:ln>
          <a:effectLst/>
        </p:spPr>
      </p:cxnSp>
      <p:cxnSp>
        <p:nvCxnSpPr>
          <p:cNvPr id="20" name="Straight Connector 19">
            <a:extLst>
              <a:ext uri="{FF2B5EF4-FFF2-40B4-BE49-F238E27FC236}">
                <a16:creationId xmlns:a16="http://schemas.microsoft.com/office/drawing/2014/main" id="{318A50A5-76EA-2448-3F2B-CCC086CA2A5D}"/>
              </a:ext>
            </a:extLst>
          </p:cNvPr>
          <p:cNvCxnSpPr>
            <a:stCxn id="10" idx="4"/>
            <a:endCxn id="12" idx="0"/>
          </p:cNvCxnSpPr>
          <p:nvPr/>
        </p:nvCxnSpPr>
        <p:spPr>
          <a:xfrm>
            <a:off x="7789614" y="2595260"/>
            <a:ext cx="0" cy="537993"/>
          </a:xfrm>
          <a:prstGeom prst="line">
            <a:avLst/>
          </a:prstGeom>
          <a:noFill/>
          <a:ln w="28575" cap="flat" cmpd="sng" algn="ctr">
            <a:solidFill>
              <a:srgbClr val="909090"/>
            </a:solidFill>
            <a:prstDash val="solid"/>
            <a:miter lim="800000"/>
          </a:ln>
          <a:effectLst/>
        </p:spPr>
      </p:cxnSp>
      <p:cxnSp>
        <p:nvCxnSpPr>
          <p:cNvPr id="21" name="Straight Connector 20">
            <a:extLst>
              <a:ext uri="{FF2B5EF4-FFF2-40B4-BE49-F238E27FC236}">
                <a16:creationId xmlns:a16="http://schemas.microsoft.com/office/drawing/2014/main" id="{339154A8-0ADA-658E-B4DD-8851A1E5D9DC}"/>
              </a:ext>
            </a:extLst>
          </p:cNvPr>
          <p:cNvCxnSpPr>
            <a:stCxn id="10" idx="5"/>
            <a:endCxn id="11" idx="1"/>
          </p:cNvCxnSpPr>
          <p:nvPr/>
        </p:nvCxnSpPr>
        <p:spPr>
          <a:xfrm>
            <a:off x="7980533" y="2516179"/>
            <a:ext cx="770290" cy="692662"/>
          </a:xfrm>
          <a:prstGeom prst="line">
            <a:avLst/>
          </a:prstGeom>
          <a:noFill/>
          <a:ln w="28575"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50B98EBA-8107-1DF8-8270-AA7B603DC555}"/>
              </a:ext>
            </a:extLst>
          </p:cNvPr>
          <p:cNvCxnSpPr>
            <a:stCxn id="10" idx="6"/>
            <a:endCxn id="9" idx="2"/>
          </p:cNvCxnSpPr>
          <p:nvPr/>
        </p:nvCxnSpPr>
        <p:spPr>
          <a:xfrm flipV="1">
            <a:off x="8059614" y="2321767"/>
            <a:ext cx="612128" cy="3493"/>
          </a:xfrm>
          <a:prstGeom prst="line">
            <a:avLst/>
          </a:prstGeom>
          <a:noFill/>
          <a:ln w="28575"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F17573B7-028A-57F4-33C0-FE6EA84F44F4}"/>
              </a:ext>
            </a:extLst>
          </p:cNvPr>
          <p:cNvCxnSpPr>
            <a:stCxn id="12" idx="6"/>
            <a:endCxn id="11" idx="2"/>
          </p:cNvCxnSpPr>
          <p:nvPr/>
        </p:nvCxnSpPr>
        <p:spPr>
          <a:xfrm flipV="1">
            <a:off x="8059614" y="3399760"/>
            <a:ext cx="612128" cy="3493"/>
          </a:xfrm>
          <a:prstGeom prst="line">
            <a:avLst/>
          </a:prstGeom>
          <a:noFill/>
          <a:ln w="28575" cap="flat" cmpd="sng" algn="ctr">
            <a:solidFill>
              <a:srgbClr val="909090"/>
            </a:solidFill>
            <a:prstDash val="solid"/>
            <a:miter lim="800000"/>
          </a:ln>
          <a:effectLst/>
        </p:spPr>
      </p:cxnSp>
      <p:cxnSp>
        <p:nvCxnSpPr>
          <p:cNvPr id="24" name="Straight Connector 23">
            <a:extLst>
              <a:ext uri="{FF2B5EF4-FFF2-40B4-BE49-F238E27FC236}">
                <a16:creationId xmlns:a16="http://schemas.microsoft.com/office/drawing/2014/main" id="{EDD5D0E1-657D-3C65-00B5-1C62965A4BD9}"/>
              </a:ext>
            </a:extLst>
          </p:cNvPr>
          <p:cNvCxnSpPr>
            <a:stCxn id="15" idx="6"/>
            <a:endCxn id="14" idx="2"/>
          </p:cNvCxnSpPr>
          <p:nvPr/>
        </p:nvCxnSpPr>
        <p:spPr>
          <a:xfrm flipV="1">
            <a:off x="10358084" y="3399760"/>
            <a:ext cx="612128" cy="3493"/>
          </a:xfrm>
          <a:prstGeom prst="line">
            <a:avLst/>
          </a:prstGeom>
          <a:noFill/>
          <a:ln w="28575" cap="flat" cmpd="sng" algn="ctr">
            <a:solidFill>
              <a:srgbClr val="909090"/>
            </a:solidFill>
            <a:prstDash val="solid"/>
            <a:miter lim="800000"/>
          </a:ln>
          <a:effectLst/>
        </p:spPr>
      </p:cxnSp>
      <p:cxnSp>
        <p:nvCxnSpPr>
          <p:cNvPr id="25" name="Straight Connector 24">
            <a:extLst>
              <a:ext uri="{FF2B5EF4-FFF2-40B4-BE49-F238E27FC236}">
                <a16:creationId xmlns:a16="http://schemas.microsoft.com/office/drawing/2014/main" id="{771C6A0D-F03F-0143-ABFB-C9EEE0DCEFB1}"/>
              </a:ext>
            </a:extLst>
          </p:cNvPr>
          <p:cNvCxnSpPr>
            <a:stCxn id="13" idx="4"/>
            <a:endCxn id="15" idx="0"/>
          </p:cNvCxnSpPr>
          <p:nvPr/>
        </p:nvCxnSpPr>
        <p:spPr>
          <a:xfrm>
            <a:off x="10088084" y="2595260"/>
            <a:ext cx="0" cy="537993"/>
          </a:xfrm>
          <a:prstGeom prst="line">
            <a:avLst/>
          </a:prstGeom>
          <a:noFill/>
          <a:ln w="28575" cap="flat" cmpd="sng" algn="ctr">
            <a:solidFill>
              <a:srgbClr val="909090"/>
            </a:solidFill>
            <a:prstDash val="solid"/>
            <a:miter lim="800000"/>
          </a:ln>
          <a:effectLst/>
        </p:spPr>
      </p:cxnSp>
      <p:cxnSp>
        <p:nvCxnSpPr>
          <p:cNvPr id="26" name="Straight Connector 25">
            <a:extLst>
              <a:ext uri="{FF2B5EF4-FFF2-40B4-BE49-F238E27FC236}">
                <a16:creationId xmlns:a16="http://schemas.microsoft.com/office/drawing/2014/main" id="{D4C97EBE-B27E-C265-C379-C14B565B49D6}"/>
              </a:ext>
            </a:extLst>
          </p:cNvPr>
          <p:cNvCxnSpPr>
            <a:stCxn id="13" idx="6"/>
            <a:endCxn id="14" idx="0"/>
          </p:cNvCxnSpPr>
          <p:nvPr/>
        </p:nvCxnSpPr>
        <p:spPr>
          <a:xfrm>
            <a:off x="10358084" y="2325260"/>
            <a:ext cx="882128" cy="804500"/>
          </a:xfrm>
          <a:prstGeom prst="line">
            <a:avLst/>
          </a:prstGeom>
          <a:noFill/>
          <a:ln w="28575" cap="flat" cmpd="sng" algn="ctr">
            <a:solidFill>
              <a:srgbClr val="909090"/>
            </a:solidFill>
            <a:prstDash val="solid"/>
            <a:miter lim="800000"/>
          </a:ln>
          <a:effectLst/>
        </p:spPr>
      </p:cxnSp>
      <p:sp>
        <p:nvSpPr>
          <p:cNvPr id="27" name="TextBox 26">
            <a:extLst>
              <a:ext uri="{FF2B5EF4-FFF2-40B4-BE49-F238E27FC236}">
                <a16:creationId xmlns:a16="http://schemas.microsoft.com/office/drawing/2014/main" id="{3E92CD44-867B-C722-A855-A546D8172656}"/>
              </a:ext>
            </a:extLst>
          </p:cNvPr>
          <p:cNvSpPr txBox="1"/>
          <p:nvPr/>
        </p:nvSpPr>
        <p:spPr>
          <a:xfrm>
            <a:off x="6923314" y="4008313"/>
            <a:ext cx="5133703" cy="1938992"/>
          </a:xfrm>
          <a:prstGeom prst="rect">
            <a:avLst/>
          </a:prstGeom>
          <a:solidFill>
            <a:srgbClr val="FFFFFF">
              <a:lumMod val="85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procedure </a:t>
            </a:r>
            <a:r>
              <a:rPr kumimoji="0" lang="en-US" sz="2400" b="1" i="0" u="none" strike="noStrike" kern="0" cap="none" spc="0" normalizeH="0" baseline="0" noProof="0" dirty="0" err="1">
                <a:ln>
                  <a:noFill/>
                </a:ln>
                <a:solidFill>
                  <a:srgbClr val="AD1457"/>
                </a:solidFill>
                <a:effectLst/>
                <a:uLnTx/>
                <a:uFillTx/>
                <a:latin typeface="Trebuchet MS" panose="020B0603020202020204" pitchFamily="34" charset="0"/>
              </a:rPr>
              <a:t>dfs</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(v)</a:t>
            </a:r>
            <a:endParaRPr kumimoji="0" lang="en-US" sz="2400" b="0" i="0" u="none" strike="noStrike" kern="0" cap="none" spc="0" normalizeH="0" baseline="0" noProof="0" dirty="0">
              <a:ln>
                <a:noFill/>
              </a:ln>
              <a:solidFill>
                <a:srgbClr val="AD1457"/>
              </a:solidFill>
              <a:effectLst/>
              <a:uLnTx/>
              <a:uFillTx/>
              <a:latin typeface="Trebuchet MS" panose="020B0603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mark[v] ← visited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for </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each node w adjacent to v </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do</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	if </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mark[w] ≠ visited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       then</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r>
              <a:rPr kumimoji="0" lang="en-US" sz="2400" b="0" i="1" u="none" strike="noStrike" kern="0" cap="none" spc="0" normalizeH="0" baseline="0" noProof="0" dirty="0" err="1">
                <a:ln>
                  <a:noFill/>
                </a:ln>
                <a:solidFill>
                  <a:srgbClr val="AD1457"/>
                </a:solidFill>
                <a:effectLst/>
                <a:uLnTx/>
                <a:uFillTx/>
                <a:latin typeface="Trebuchet MS" panose="020B0603020202020204" pitchFamily="34" charset="0"/>
              </a:rPr>
              <a:t>dfs</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(w)</a:t>
            </a:r>
          </a:p>
        </p:txBody>
      </p:sp>
      <p:pic>
        <p:nvPicPr>
          <p:cNvPr id="28"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60898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 fill="hold"/>
                                        <p:tgtEl>
                                          <p:spTgt spid="8"/>
                                        </p:tgtEl>
                                        <p:attrNameLst>
                                          <p:attrName>fillcolor</p:attrName>
                                        </p:attrNameLst>
                                      </p:cBhvr>
                                      <p:to>
                                        <a:srgbClr val="689331"/>
                                      </p:to>
                                    </p:animClr>
                                    <p:set>
                                      <p:cBhvr>
                                        <p:cTn id="52" dur="10" fill="hold"/>
                                        <p:tgtEl>
                                          <p:spTgt spid="8"/>
                                        </p:tgtEl>
                                        <p:attrNameLst>
                                          <p:attrName>fill.type</p:attrName>
                                        </p:attrNameLst>
                                      </p:cBhvr>
                                      <p:to>
                                        <p:strVal val="solid"/>
                                      </p:to>
                                    </p:set>
                                    <p:set>
                                      <p:cBhvr>
                                        <p:cTn id="53" dur="10" fill="hold"/>
                                        <p:tgtEl>
                                          <p:spTgt spid="8"/>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1" presetClass="emph" presetSubtype="2" fill="hold" nodeType="clickEffect">
                                  <p:stCondLst>
                                    <p:cond delay="0"/>
                                  </p:stCondLst>
                                  <p:childTnLst>
                                    <p:animClr clrSpc="rgb" dir="cw">
                                      <p:cBhvr>
                                        <p:cTn id="57" dur="10" fill="hold"/>
                                        <p:tgtEl>
                                          <p:spTgt spid="10"/>
                                        </p:tgtEl>
                                        <p:attrNameLst>
                                          <p:attrName>fillcolor</p:attrName>
                                        </p:attrNameLst>
                                      </p:cBhvr>
                                      <p:to>
                                        <a:srgbClr val="689331"/>
                                      </p:to>
                                    </p:animClr>
                                    <p:set>
                                      <p:cBhvr>
                                        <p:cTn id="58" dur="10" fill="hold"/>
                                        <p:tgtEl>
                                          <p:spTgt spid="10"/>
                                        </p:tgtEl>
                                        <p:attrNameLst>
                                          <p:attrName>fill.type</p:attrName>
                                        </p:attrNameLst>
                                      </p:cBhvr>
                                      <p:to>
                                        <p:strVal val="solid"/>
                                      </p:to>
                                    </p:set>
                                    <p:set>
                                      <p:cBhvr>
                                        <p:cTn id="59" dur="10" fill="hold"/>
                                        <p:tgtEl>
                                          <p:spTgt spid="10"/>
                                        </p:tgtEl>
                                        <p:attrNameLst>
                                          <p:attrName>fill.on</p:attrName>
                                        </p:attrNameLst>
                                      </p:cBhvr>
                                      <p:to>
                                        <p:strVal val="true"/>
                                      </p:to>
                                    </p:set>
                                  </p:childTnLst>
                                </p:cTn>
                              </p:par>
                              <p:par>
                                <p:cTn id="60" presetID="7" presetClass="emph" presetSubtype="2" fill="hold" nodeType="withEffect">
                                  <p:stCondLst>
                                    <p:cond delay="0"/>
                                  </p:stCondLst>
                                  <p:childTnLst>
                                    <p:animClr clrSpc="rgb" dir="cw">
                                      <p:cBhvr>
                                        <p:cTn id="61" dur="10" fill="hold"/>
                                        <p:tgtEl>
                                          <p:spTgt spid="17"/>
                                        </p:tgtEl>
                                        <p:attrNameLst>
                                          <p:attrName>stroke.color</p:attrName>
                                        </p:attrNameLst>
                                      </p:cBhvr>
                                      <p:to>
                                        <a:schemeClr val="accent2"/>
                                      </p:to>
                                    </p:animClr>
                                    <p:set>
                                      <p:cBhvr>
                                        <p:cTn id="62" dur="10" fill="hold"/>
                                        <p:tgtEl>
                                          <p:spTgt spid="17"/>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10" fill="hold"/>
                                        <p:tgtEl>
                                          <p:spTgt spid="9"/>
                                        </p:tgtEl>
                                        <p:attrNameLst>
                                          <p:attrName>fillcolor</p:attrName>
                                        </p:attrNameLst>
                                      </p:cBhvr>
                                      <p:to>
                                        <a:srgbClr val="689331"/>
                                      </p:to>
                                    </p:animClr>
                                    <p:set>
                                      <p:cBhvr>
                                        <p:cTn id="67" dur="10" fill="hold"/>
                                        <p:tgtEl>
                                          <p:spTgt spid="9"/>
                                        </p:tgtEl>
                                        <p:attrNameLst>
                                          <p:attrName>fill.type</p:attrName>
                                        </p:attrNameLst>
                                      </p:cBhvr>
                                      <p:to>
                                        <p:strVal val="solid"/>
                                      </p:to>
                                    </p:set>
                                    <p:set>
                                      <p:cBhvr>
                                        <p:cTn id="68" dur="10" fill="hold"/>
                                        <p:tgtEl>
                                          <p:spTgt spid="9"/>
                                        </p:tgtEl>
                                        <p:attrNameLst>
                                          <p:attrName>fill.on</p:attrName>
                                        </p:attrNameLst>
                                      </p:cBhvr>
                                      <p:to>
                                        <p:strVal val="true"/>
                                      </p:to>
                                    </p:set>
                                  </p:childTnLst>
                                </p:cTn>
                              </p:par>
                              <p:par>
                                <p:cTn id="69" presetID="7" presetClass="emph" presetSubtype="2" fill="hold" nodeType="withEffect">
                                  <p:stCondLst>
                                    <p:cond delay="0"/>
                                  </p:stCondLst>
                                  <p:childTnLst>
                                    <p:animClr clrSpc="rgb" dir="cw">
                                      <p:cBhvr>
                                        <p:cTn id="70" dur="10" fill="hold"/>
                                        <p:tgtEl>
                                          <p:spTgt spid="22"/>
                                        </p:tgtEl>
                                        <p:attrNameLst>
                                          <p:attrName>stroke.color</p:attrName>
                                        </p:attrNameLst>
                                      </p:cBhvr>
                                      <p:to>
                                        <a:schemeClr val="accent2"/>
                                      </p:to>
                                    </p:animClr>
                                    <p:set>
                                      <p:cBhvr>
                                        <p:cTn id="71" dur="10" fill="hold"/>
                                        <p:tgtEl>
                                          <p:spTgt spid="22"/>
                                        </p:tgtEl>
                                        <p:attrNameLst>
                                          <p:attrName>stroke.on</p:attrName>
                                        </p:attrNameLst>
                                      </p:cBhvr>
                                      <p:to>
                                        <p:strVal val="true"/>
                                      </p:to>
                                    </p:set>
                                  </p:childTnLst>
                                </p:cTn>
                              </p:par>
                            </p:childTnLst>
                          </p:cTn>
                        </p:par>
                      </p:childTnLst>
                    </p:cTn>
                  </p:par>
                  <p:par>
                    <p:cTn id="72" fill="hold">
                      <p:stCondLst>
                        <p:cond delay="indefinite"/>
                      </p:stCondLst>
                      <p:childTnLst>
                        <p:par>
                          <p:cTn id="73" fill="hold">
                            <p:stCondLst>
                              <p:cond delay="0"/>
                            </p:stCondLst>
                            <p:childTnLst>
                              <p:par>
                                <p:cTn id="74" presetID="1" presetClass="emph" presetSubtype="2" fill="hold" nodeType="clickEffect">
                                  <p:stCondLst>
                                    <p:cond delay="0"/>
                                  </p:stCondLst>
                                  <p:childTnLst>
                                    <p:animClr clrSpc="rgb" dir="cw">
                                      <p:cBhvr>
                                        <p:cTn id="75" dur="10" fill="hold"/>
                                        <p:tgtEl>
                                          <p:spTgt spid="11"/>
                                        </p:tgtEl>
                                        <p:attrNameLst>
                                          <p:attrName>fillcolor</p:attrName>
                                        </p:attrNameLst>
                                      </p:cBhvr>
                                      <p:to>
                                        <a:srgbClr val="689331"/>
                                      </p:to>
                                    </p:animClr>
                                    <p:set>
                                      <p:cBhvr>
                                        <p:cTn id="76" dur="10" fill="hold"/>
                                        <p:tgtEl>
                                          <p:spTgt spid="11"/>
                                        </p:tgtEl>
                                        <p:attrNameLst>
                                          <p:attrName>fill.type</p:attrName>
                                        </p:attrNameLst>
                                      </p:cBhvr>
                                      <p:to>
                                        <p:strVal val="solid"/>
                                      </p:to>
                                    </p:set>
                                    <p:set>
                                      <p:cBhvr>
                                        <p:cTn id="77" dur="10" fill="hold"/>
                                        <p:tgtEl>
                                          <p:spTgt spid="11"/>
                                        </p:tgtEl>
                                        <p:attrNameLst>
                                          <p:attrName>fill.on</p:attrName>
                                        </p:attrNameLst>
                                      </p:cBhvr>
                                      <p:to>
                                        <p:strVal val="true"/>
                                      </p:to>
                                    </p:set>
                                  </p:childTnLst>
                                </p:cTn>
                              </p:par>
                              <p:par>
                                <p:cTn id="78" presetID="7" presetClass="emph" presetSubtype="2" fill="hold" nodeType="withEffect">
                                  <p:stCondLst>
                                    <p:cond delay="0"/>
                                  </p:stCondLst>
                                  <p:childTnLst>
                                    <p:animClr clrSpc="rgb" dir="cw">
                                      <p:cBhvr>
                                        <p:cTn id="79" dur="10" fill="hold"/>
                                        <p:tgtEl>
                                          <p:spTgt spid="19"/>
                                        </p:tgtEl>
                                        <p:attrNameLst>
                                          <p:attrName>stroke.color</p:attrName>
                                        </p:attrNameLst>
                                      </p:cBhvr>
                                      <p:to>
                                        <a:schemeClr val="accent2"/>
                                      </p:to>
                                    </p:animClr>
                                    <p:set>
                                      <p:cBhvr>
                                        <p:cTn id="80" dur="10" fill="hold"/>
                                        <p:tgtEl>
                                          <p:spTgt spid="19"/>
                                        </p:tgtEl>
                                        <p:attrNameLst>
                                          <p:attrName>stroke.on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 presetClass="emph" presetSubtype="2" fill="hold" nodeType="clickEffect">
                                  <p:stCondLst>
                                    <p:cond delay="0"/>
                                  </p:stCondLst>
                                  <p:childTnLst>
                                    <p:animClr clrSpc="rgb" dir="cw">
                                      <p:cBhvr>
                                        <p:cTn id="84" dur="10" fill="hold"/>
                                        <p:tgtEl>
                                          <p:spTgt spid="12"/>
                                        </p:tgtEl>
                                        <p:attrNameLst>
                                          <p:attrName>fillcolor</p:attrName>
                                        </p:attrNameLst>
                                      </p:cBhvr>
                                      <p:to>
                                        <a:srgbClr val="689331"/>
                                      </p:to>
                                    </p:animClr>
                                    <p:set>
                                      <p:cBhvr>
                                        <p:cTn id="85" dur="10" fill="hold"/>
                                        <p:tgtEl>
                                          <p:spTgt spid="12"/>
                                        </p:tgtEl>
                                        <p:attrNameLst>
                                          <p:attrName>fill.type</p:attrName>
                                        </p:attrNameLst>
                                      </p:cBhvr>
                                      <p:to>
                                        <p:strVal val="solid"/>
                                      </p:to>
                                    </p:set>
                                    <p:set>
                                      <p:cBhvr>
                                        <p:cTn id="86" dur="10" fill="hold"/>
                                        <p:tgtEl>
                                          <p:spTgt spid="12"/>
                                        </p:tgtEl>
                                        <p:attrNameLst>
                                          <p:attrName>fill.on</p:attrName>
                                        </p:attrNameLst>
                                      </p:cBhvr>
                                      <p:to>
                                        <p:strVal val="true"/>
                                      </p:to>
                                    </p:set>
                                  </p:childTnLst>
                                </p:cTn>
                              </p:par>
                              <p:par>
                                <p:cTn id="87" presetID="7" presetClass="emph" presetSubtype="2" fill="hold" nodeType="withEffect">
                                  <p:stCondLst>
                                    <p:cond delay="0"/>
                                  </p:stCondLst>
                                  <p:childTnLst>
                                    <p:animClr clrSpc="rgb" dir="cw">
                                      <p:cBhvr>
                                        <p:cTn id="88" dur="10" fill="hold"/>
                                        <p:tgtEl>
                                          <p:spTgt spid="23"/>
                                        </p:tgtEl>
                                        <p:attrNameLst>
                                          <p:attrName>stroke.color</p:attrName>
                                        </p:attrNameLst>
                                      </p:cBhvr>
                                      <p:to>
                                        <a:schemeClr val="accent2"/>
                                      </p:to>
                                    </p:animClr>
                                    <p:set>
                                      <p:cBhvr>
                                        <p:cTn id="89" dur="10" fill="hold"/>
                                        <p:tgtEl>
                                          <p:spTgt spid="23"/>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 presetClass="emph" presetSubtype="2" fill="hold" nodeType="clickEffect">
                                  <p:stCondLst>
                                    <p:cond delay="0"/>
                                  </p:stCondLst>
                                  <p:childTnLst>
                                    <p:animClr clrSpc="rgb" dir="cw">
                                      <p:cBhvr>
                                        <p:cTn id="93" dur="10" fill="hold"/>
                                        <p:tgtEl>
                                          <p:spTgt spid="13"/>
                                        </p:tgtEl>
                                        <p:attrNameLst>
                                          <p:attrName>fillcolor</p:attrName>
                                        </p:attrNameLst>
                                      </p:cBhvr>
                                      <p:to>
                                        <a:srgbClr val="689331"/>
                                      </p:to>
                                    </p:animClr>
                                    <p:set>
                                      <p:cBhvr>
                                        <p:cTn id="94" dur="10" fill="hold"/>
                                        <p:tgtEl>
                                          <p:spTgt spid="13"/>
                                        </p:tgtEl>
                                        <p:attrNameLst>
                                          <p:attrName>fill.type</p:attrName>
                                        </p:attrNameLst>
                                      </p:cBhvr>
                                      <p:to>
                                        <p:strVal val="solid"/>
                                      </p:to>
                                    </p:set>
                                    <p:set>
                                      <p:cBhvr>
                                        <p:cTn id="95" dur="10" fill="hold"/>
                                        <p:tgtEl>
                                          <p:spTgt spid="13"/>
                                        </p:tgtEl>
                                        <p:attrNameLst>
                                          <p:attrName>fill.on</p:attrName>
                                        </p:attrNameLst>
                                      </p:cBhvr>
                                      <p:to>
                                        <p:strVal val="true"/>
                                      </p:to>
                                    </p:set>
                                  </p:childTnLst>
                                </p:cTn>
                              </p:par>
                              <p:par>
                                <p:cTn id="96" presetID="7" presetClass="emph" presetSubtype="2" fill="hold" nodeType="withEffect">
                                  <p:stCondLst>
                                    <p:cond delay="0"/>
                                  </p:stCondLst>
                                  <p:childTnLst>
                                    <p:animClr clrSpc="rgb" dir="cw">
                                      <p:cBhvr>
                                        <p:cTn id="97" dur="10" fill="hold"/>
                                        <p:tgtEl>
                                          <p:spTgt spid="18"/>
                                        </p:tgtEl>
                                        <p:attrNameLst>
                                          <p:attrName>stroke.color</p:attrName>
                                        </p:attrNameLst>
                                      </p:cBhvr>
                                      <p:to>
                                        <a:schemeClr val="accent2"/>
                                      </p:to>
                                    </p:animClr>
                                    <p:set>
                                      <p:cBhvr>
                                        <p:cTn id="98" dur="10" fill="hold"/>
                                        <p:tgtEl>
                                          <p:spTgt spid="18"/>
                                        </p:tgtEl>
                                        <p:attrNameLst>
                                          <p:attrName>stroke.on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1" presetClass="emph" presetSubtype="2" fill="hold" nodeType="clickEffect">
                                  <p:stCondLst>
                                    <p:cond delay="0"/>
                                  </p:stCondLst>
                                  <p:childTnLst>
                                    <p:animClr clrSpc="rgb" dir="cw">
                                      <p:cBhvr>
                                        <p:cTn id="102" dur="10" fill="hold"/>
                                        <p:tgtEl>
                                          <p:spTgt spid="15"/>
                                        </p:tgtEl>
                                        <p:attrNameLst>
                                          <p:attrName>fillcolor</p:attrName>
                                        </p:attrNameLst>
                                      </p:cBhvr>
                                      <p:to>
                                        <a:srgbClr val="689331"/>
                                      </p:to>
                                    </p:animClr>
                                    <p:set>
                                      <p:cBhvr>
                                        <p:cTn id="103" dur="10" fill="hold"/>
                                        <p:tgtEl>
                                          <p:spTgt spid="15"/>
                                        </p:tgtEl>
                                        <p:attrNameLst>
                                          <p:attrName>fill.type</p:attrName>
                                        </p:attrNameLst>
                                      </p:cBhvr>
                                      <p:to>
                                        <p:strVal val="solid"/>
                                      </p:to>
                                    </p:set>
                                    <p:set>
                                      <p:cBhvr>
                                        <p:cTn id="104" dur="10" fill="hold"/>
                                        <p:tgtEl>
                                          <p:spTgt spid="15"/>
                                        </p:tgtEl>
                                        <p:attrNameLst>
                                          <p:attrName>fill.on</p:attrName>
                                        </p:attrNameLst>
                                      </p:cBhvr>
                                      <p:to>
                                        <p:strVal val="true"/>
                                      </p:to>
                                    </p:set>
                                  </p:childTnLst>
                                </p:cTn>
                              </p:par>
                              <p:par>
                                <p:cTn id="105" presetID="7" presetClass="emph" presetSubtype="2" fill="hold" nodeType="withEffect">
                                  <p:stCondLst>
                                    <p:cond delay="0"/>
                                  </p:stCondLst>
                                  <p:childTnLst>
                                    <p:animClr clrSpc="rgb" dir="cw">
                                      <p:cBhvr>
                                        <p:cTn id="106" dur="10" fill="hold"/>
                                        <p:tgtEl>
                                          <p:spTgt spid="25"/>
                                        </p:tgtEl>
                                        <p:attrNameLst>
                                          <p:attrName>stroke.color</p:attrName>
                                        </p:attrNameLst>
                                      </p:cBhvr>
                                      <p:to>
                                        <a:schemeClr val="accent2"/>
                                      </p:to>
                                    </p:animClr>
                                    <p:set>
                                      <p:cBhvr>
                                        <p:cTn id="107" dur="10" fill="hold"/>
                                        <p:tgtEl>
                                          <p:spTgt spid="25"/>
                                        </p:tgtEl>
                                        <p:attrNameLst>
                                          <p:attrName>stroke.on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mph" presetSubtype="2" fill="hold" nodeType="clickEffect">
                                  <p:stCondLst>
                                    <p:cond delay="0"/>
                                  </p:stCondLst>
                                  <p:childTnLst>
                                    <p:animClr clrSpc="rgb" dir="cw">
                                      <p:cBhvr>
                                        <p:cTn id="111" dur="10" fill="hold"/>
                                        <p:tgtEl>
                                          <p:spTgt spid="14"/>
                                        </p:tgtEl>
                                        <p:attrNameLst>
                                          <p:attrName>fillcolor</p:attrName>
                                        </p:attrNameLst>
                                      </p:cBhvr>
                                      <p:to>
                                        <a:srgbClr val="689331"/>
                                      </p:to>
                                    </p:animClr>
                                    <p:set>
                                      <p:cBhvr>
                                        <p:cTn id="112" dur="10" fill="hold"/>
                                        <p:tgtEl>
                                          <p:spTgt spid="14"/>
                                        </p:tgtEl>
                                        <p:attrNameLst>
                                          <p:attrName>fill.type</p:attrName>
                                        </p:attrNameLst>
                                      </p:cBhvr>
                                      <p:to>
                                        <p:strVal val="solid"/>
                                      </p:to>
                                    </p:set>
                                    <p:set>
                                      <p:cBhvr>
                                        <p:cTn id="113" dur="10" fill="hold"/>
                                        <p:tgtEl>
                                          <p:spTgt spid="14"/>
                                        </p:tgtEl>
                                        <p:attrNameLst>
                                          <p:attrName>fill.on</p:attrName>
                                        </p:attrNameLst>
                                      </p:cBhvr>
                                      <p:to>
                                        <p:strVal val="true"/>
                                      </p:to>
                                    </p:set>
                                  </p:childTnLst>
                                </p:cTn>
                              </p:par>
                              <p:par>
                                <p:cTn id="114" presetID="7" presetClass="emph" presetSubtype="2" fill="hold" nodeType="withEffect">
                                  <p:stCondLst>
                                    <p:cond delay="0"/>
                                  </p:stCondLst>
                                  <p:childTnLst>
                                    <p:animClr clrSpc="rgb" dir="cw">
                                      <p:cBhvr>
                                        <p:cTn id="115" dur="10" fill="hold"/>
                                        <p:tgtEl>
                                          <p:spTgt spid="24"/>
                                        </p:tgtEl>
                                        <p:attrNameLst>
                                          <p:attrName>stroke.color</p:attrName>
                                        </p:attrNameLst>
                                      </p:cBhvr>
                                      <p:to>
                                        <a:schemeClr val="accent2"/>
                                      </p:to>
                                    </p:animClr>
                                    <p:set>
                                      <p:cBhvr>
                                        <p:cTn id="116" dur="10" fill="hold"/>
                                        <p:tgtEl>
                                          <p:spTgt spid="2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dirty="0">
                <a:solidFill>
                  <a:prstClr val="white"/>
                </a:solidFill>
                <a:latin typeface="Corbel" panose="020B0503020204020204" pitchFamily="34" charset="0"/>
                <a:ea typeface="+mj-ea"/>
                <a:cs typeface="+mj-cs"/>
              </a:rPr>
              <a:t>Breadth First Search / Traversal</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14B8D032-A24C-E449-FC1B-100C2B90EB85}"/>
              </a:ext>
            </a:extLst>
          </p:cNvPr>
          <p:cNvSpPr/>
          <p:nvPr/>
        </p:nvSpPr>
        <p:spPr>
          <a:xfrm>
            <a:off x="1846433" y="1021729"/>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1</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9B64EE8B-35F5-AC8F-0E40-D916A11314F9}"/>
              </a:ext>
            </a:extLst>
          </p:cNvPr>
          <p:cNvSpPr/>
          <p:nvPr/>
        </p:nvSpPr>
        <p:spPr>
          <a:xfrm>
            <a:off x="1846433" y="2098979"/>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3</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6" name="Oval 5">
            <a:extLst>
              <a:ext uri="{FF2B5EF4-FFF2-40B4-BE49-F238E27FC236}">
                <a16:creationId xmlns:a16="http://schemas.microsoft.com/office/drawing/2014/main" id="{B0DA150C-F590-F73F-9439-C653C6D8CD7E}"/>
              </a:ext>
            </a:extLst>
          </p:cNvPr>
          <p:cNvSpPr/>
          <p:nvPr/>
        </p:nvSpPr>
        <p:spPr>
          <a:xfrm>
            <a:off x="694305" y="21024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C91D8FD0-DD3D-014D-EA8E-C36255EBABFD}"/>
              </a:ext>
            </a:extLst>
          </p:cNvPr>
          <p:cNvSpPr/>
          <p:nvPr/>
        </p:nvSpPr>
        <p:spPr>
          <a:xfrm>
            <a:off x="1846433" y="31769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6</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9" name="Oval 8">
            <a:extLst>
              <a:ext uri="{FF2B5EF4-FFF2-40B4-BE49-F238E27FC236}">
                <a16:creationId xmlns:a16="http://schemas.microsoft.com/office/drawing/2014/main" id="{82E06610-DB49-DD45-5B58-4117D55AB862}"/>
              </a:ext>
            </a:extLst>
          </p:cNvPr>
          <p:cNvSpPr/>
          <p:nvPr/>
        </p:nvSpPr>
        <p:spPr>
          <a:xfrm>
            <a:off x="694305" y="3180465"/>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5</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0" name="Oval 9">
            <a:extLst>
              <a:ext uri="{FF2B5EF4-FFF2-40B4-BE49-F238E27FC236}">
                <a16:creationId xmlns:a16="http://schemas.microsoft.com/office/drawing/2014/main" id="{6CF10D2C-CF79-B12B-7D16-86AAF6E411D2}"/>
              </a:ext>
            </a:extLst>
          </p:cNvPr>
          <p:cNvSpPr/>
          <p:nvPr/>
        </p:nvSpPr>
        <p:spPr>
          <a:xfrm>
            <a:off x="2992775" y="21024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4</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1" name="Oval 10">
            <a:extLst>
              <a:ext uri="{FF2B5EF4-FFF2-40B4-BE49-F238E27FC236}">
                <a16:creationId xmlns:a16="http://schemas.microsoft.com/office/drawing/2014/main" id="{01F47F4D-10BE-EC5B-6DA6-E7B8D6DFA0E5}"/>
              </a:ext>
            </a:extLst>
          </p:cNvPr>
          <p:cNvSpPr/>
          <p:nvPr/>
        </p:nvSpPr>
        <p:spPr>
          <a:xfrm>
            <a:off x="4144903" y="31769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8</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2" name="Oval 11">
            <a:extLst>
              <a:ext uri="{FF2B5EF4-FFF2-40B4-BE49-F238E27FC236}">
                <a16:creationId xmlns:a16="http://schemas.microsoft.com/office/drawing/2014/main" id="{7CBFEAFE-9147-0DBE-ED77-8372E86C643B}"/>
              </a:ext>
            </a:extLst>
          </p:cNvPr>
          <p:cNvSpPr/>
          <p:nvPr/>
        </p:nvSpPr>
        <p:spPr>
          <a:xfrm>
            <a:off x="2992775" y="3180465"/>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7</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cxnSp>
        <p:nvCxnSpPr>
          <p:cNvPr id="13" name="Straight Connector 12">
            <a:extLst>
              <a:ext uri="{FF2B5EF4-FFF2-40B4-BE49-F238E27FC236}">
                <a16:creationId xmlns:a16="http://schemas.microsoft.com/office/drawing/2014/main" id="{7680B8C9-6393-1F69-FDA3-2341DF5B5E70}"/>
              </a:ext>
            </a:extLst>
          </p:cNvPr>
          <p:cNvCxnSpPr>
            <a:stCxn id="4" idx="4"/>
            <a:endCxn id="5" idx="0"/>
          </p:cNvCxnSpPr>
          <p:nvPr/>
        </p:nvCxnSpPr>
        <p:spPr>
          <a:xfrm>
            <a:off x="2120753" y="1570369"/>
            <a:ext cx="0" cy="528610"/>
          </a:xfrm>
          <a:prstGeom prst="line">
            <a:avLst/>
          </a:prstGeom>
          <a:noFill/>
          <a:ln w="28575" cap="flat" cmpd="sng" algn="ctr">
            <a:solidFill>
              <a:srgbClr val="909090"/>
            </a:solidFill>
            <a:prstDash val="solid"/>
            <a:miter lim="800000"/>
          </a:ln>
          <a:effectLst/>
        </p:spPr>
      </p:cxnSp>
      <p:cxnSp>
        <p:nvCxnSpPr>
          <p:cNvPr id="14" name="Straight Connector 13">
            <a:extLst>
              <a:ext uri="{FF2B5EF4-FFF2-40B4-BE49-F238E27FC236}">
                <a16:creationId xmlns:a16="http://schemas.microsoft.com/office/drawing/2014/main" id="{08197A9A-2E2C-69ED-1EDF-D1409F82E90C}"/>
              </a:ext>
            </a:extLst>
          </p:cNvPr>
          <p:cNvCxnSpPr>
            <a:stCxn id="6" idx="0"/>
            <a:endCxn id="4" idx="2"/>
          </p:cNvCxnSpPr>
          <p:nvPr/>
        </p:nvCxnSpPr>
        <p:spPr>
          <a:xfrm flipV="1">
            <a:off x="968625" y="1296049"/>
            <a:ext cx="877808" cy="806423"/>
          </a:xfrm>
          <a:prstGeom prst="line">
            <a:avLst/>
          </a:prstGeom>
          <a:noFill/>
          <a:ln w="28575" cap="flat" cmpd="sng" algn="ctr">
            <a:solidFill>
              <a:srgbClr val="909090"/>
            </a:solidFill>
            <a:prstDash val="solid"/>
            <a:miter lim="800000"/>
          </a:ln>
          <a:effectLst/>
        </p:spPr>
      </p:cxnSp>
      <p:cxnSp>
        <p:nvCxnSpPr>
          <p:cNvPr id="15" name="Straight Connector 14">
            <a:extLst>
              <a:ext uri="{FF2B5EF4-FFF2-40B4-BE49-F238E27FC236}">
                <a16:creationId xmlns:a16="http://schemas.microsoft.com/office/drawing/2014/main" id="{6EBFF518-1DBA-64D2-450C-15AE5B6BC09B}"/>
              </a:ext>
            </a:extLst>
          </p:cNvPr>
          <p:cNvCxnSpPr>
            <a:stCxn id="4" idx="6"/>
            <a:endCxn id="10" idx="0"/>
          </p:cNvCxnSpPr>
          <p:nvPr/>
        </p:nvCxnSpPr>
        <p:spPr>
          <a:xfrm>
            <a:off x="2395073" y="1296049"/>
            <a:ext cx="872022" cy="806423"/>
          </a:xfrm>
          <a:prstGeom prst="line">
            <a:avLst/>
          </a:prstGeom>
          <a:noFill/>
          <a:ln w="28575" cap="flat" cmpd="sng" algn="ctr">
            <a:solidFill>
              <a:srgbClr val="909090"/>
            </a:solidFill>
            <a:prstDash val="solid"/>
            <a:miter lim="800000"/>
          </a:ln>
          <a:effectLst/>
        </p:spPr>
      </p:cxnSp>
      <p:cxnSp>
        <p:nvCxnSpPr>
          <p:cNvPr id="16" name="Straight Connector 15">
            <a:extLst>
              <a:ext uri="{FF2B5EF4-FFF2-40B4-BE49-F238E27FC236}">
                <a16:creationId xmlns:a16="http://schemas.microsoft.com/office/drawing/2014/main" id="{5E3777AF-A58D-EDCC-CE44-14312BB1BD40}"/>
              </a:ext>
            </a:extLst>
          </p:cNvPr>
          <p:cNvCxnSpPr>
            <a:stCxn id="5" idx="4"/>
            <a:endCxn id="8" idx="0"/>
          </p:cNvCxnSpPr>
          <p:nvPr/>
        </p:nvCxnSpPr>
        <p:spPr>
          <a:xfrm>
            <a:off x="2120753" y="2647619"/>
            <a:ext cx="0" cy="529353"/>
          </a:xfrm>
          <a:prstGeom prst="line">
            <a:avLst/>
          </a:prstGeom>
          <a:noFill/>
          <a:ln w="28575" cap="flat" cmpd="sng" algn="ctr">
            <a:solidFill>
              <a:srgbClr val="909090"/>
            </a:solidFill>
            <a:prstDash val="solid"/>
            <a:miter lim="800000"/>
          </a:ln>
          <a:effectLst/>
        </p:spPr>
      </p:cxnSp>
      <p:cxnSp>
        <p:nvCxnSpPr>
          <p:cNvPr id="17" name="Straight Connector 16">
            <a:extLst>
              <a:ext uri="{FF2B5EF4-FFF2-40B4-BE49-F238E27FC236}">
                <a16:creationId xmlns:a16="http://schemas.microsoft.com/office/drawing/2014/main" id="{53E13FB8-09D3-86A0-CF08-0D053046B232}"/>
              </a:ext>
            </a:extLst>
          </p:cNvPr>
          <p:cNvCxnSpPr>
            <a:stCxn id="6" idx="4"/>
            <a:endCxn id="9" idx="0"/>
          </p:cNvCxnSpPr>
          <p:nvPr/>
        </p:nvCxnSpPr>
        <p:spPr>
          <a:xfrm>
            <a:off x="968625" y="2651112"/>
            <a:ext cx="0" cy="529353"/>
          </a:xfrm>
          <a:prstGeom prst="line">
            <a:avLst/>
          </a:prstGeom>
          <a:noFill/>
          <a:ln w="28575" cap="flat" cmpd="sng" algn="ctr">
            <a:solidFill>
              <a:srgbClr val="909090"/>
            </a:solidFill>
            <a:prstDash val="solid"/>
            <a:miter lim="800000"/>
          </a:ln>
          <a:effectLst/>
        </p:spPr>
      </p:cxnSp>
      <p:cxnSp>
        <p:nvCxnSpPr>
          <p:cNvPr id="18" name="Straight Connector 17">
            <a:extLst>
              <a:ext uri="{FF2B5EF4-FFF2-40B4-BE49-F238E27FC236}">
                <a16:creationId xmlns:a16="http://schemas.microsoft.com/office/drawing/2014/main" id="{CE03BAC4-1073-0D24-3332-19E6BB1AEE1B}"/>
              </a:ext>
            </a:extLst>
          </p:cNvPr>
          <p:cNvCxnSpPr>
            <a:stCxn id="6" idx="5"/>
            <a:endCxn id="8" idx="1"/>
          </p:cNvCxnSpPr>
          <p:nvPr/>
        </p:nvCxnSpPr>
        <p:spPr>
          <a:xfrm>
            <a:off x="1162599" y="2570766"/>
            <a:ext cx="764180" cy="686552"/>
          </a:xfrm>
          <a:prstGeom prst="line">
            <a:avLst/>
          </a:prstGeom>
          <a:noFill/>
          <a:ln w="28575" cap="flat" cmpd="sng" algn="ctr">
            <a:solidFill>
              <a:srgbClr val="909090"/>
            </a:solidFill>
            <a:prstDash val="solid"/>
            <a:miter lim="800000"/>
          </a:ln>
          <a:effectLst/>
        </p:spPr>
      </p:cxnSp>
      <p:cxnSp>
        <p:nvCxnSpPr>
          <p:cNvPr id="19" name="Straight Connector 18">
            <a:extLst>
              <a:ext uri="{FF2B5EF4-FFF2-40B4-BE49-F238E27FC236}">
                <a16:creationId xmlns:a16="http://schemas.microsoft.com/office/drawing/2014/main" id="{973B0382-CC94-70FC-A31B-472BDDCA2990}"/>
              </a:ext>
            </a:extLst>
          </p:cNvPr>
          <p:cNvCxnSpPr>
            <a:stCxn id="6" idx="6"/>
            <a:endCxn id="5" idx="2"/>
          </p:cNvCxnSpPr>
          <p:nvPr/>
        </p:nvCxnSpPr>
        <p:spPr>
          <a:xfrm flipV="1">
            <a:off x="1242945" y="2373299"/>
            <a:ext cx="603488" cy="3493"/>
          </a:xfrm>
          <a:prstGeom prst="line">
            <a:avLst/>
          </a:prstGeom>
          <a:noFill/>
          <a:ln w="28575" cap="flat" cmpd="sng" algn="ctr">
            <a:solidFill>
              <a:srgbClr val="909090"/>
            </a:solidFill>
            <a:prstDash val="solid"/>
            <a:miter lim="800000"/>
          </a:ln>
          <a:effectLst/>
        </p:spPr>
      </p:cxnSp>
      <p:cxnSp>
        <p:nvCxnSpPr>
          <p:cNvPr id="20" name="Straight Connector 19">
            <a:extLst>
              <a:ext uri="{FF2B5EF4-FFF2-40B4-BE49-F238E27FC236}">
                <a16:creationId xmlns:a16="http://schemas.microsoft.com/office/drawing/2014/main" id="{A18F9943-48E4-6D56-BA4C-8BB44E29BA0A}"/>
              </a:ext>
            </a:extLst>
          </p:cNvPr>
          <p:cNvCxnSpPr>
            <a:stCxn id="9" idx="6"/>
            <a:endCxn id="8" idx="2"/>
          </p:cNvCxnSpPr>
          <p:nvPr/>
        </p:nvCxnSpPr>
        <p:spPr>
          <a:xfrm flipV="1">
            <a:off x="1242945" y="3451292"/>
            <a:ext cx="603488" cy="3493"/>
          </a:xfrm>
          <a:prstGeom prst="line">
            <a:avLst/>
          </a:prstGeom>
          <a:noFill/>
          <a:ln w="28575" cap="flat" cmpd="sng" algn="ctr">
            <a:solidFill>
              <a:srgbClr val="909090"/>
            </a:solidFill>
            <a:prstDash val="solid"/>
            <a:miter lim="800000"/>
          </a:ln>
          <a:effectLst/>
        </p:spPr>
      </p:cxnSp>
      <p:cxnSp>
        <p:nvCxnSpPr>
          <p:cNvPr id="21" name="Straight Connector 20">
            <a:extLst>
              <a:ext uri="{FF2B5EF4-FFF2-40B4-BE49-F238E27FC236}">
                <a16:creationId xmlns:a16="http://schemas.microsoft.com/office/drawing/2014/main" id="{81B418BC-30BC-7633-E56B-85F5946803C9}"/>
              </a:ext>
            </a:extLst>
          </p:cNvPr>
          <p:cNvCxnSpPr>
            <a:stCxn id="12" idx="6"/>
            <a:endCxn id="11" idx="2"/>
          </p:cNvCxnSpPr>
          <p:nvPr/>
        </p:nvCxnSpPr>
        <p:spPr>
          <a:xfrm flipV="1">
            <a:off x="3541415" y="3451292"/>
            <a:ext cx="603488" cy="3493"/>
          </a:xfrm>
          <a:prstGeom prst="line">
            <a:avLst/>
          </a:prstGeom>
          <a:noFill/>
          <a:ln w="28575"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8F828144-3617-FC36-F493-9E559B243D6F}"/>
              </a:ext>
            </a:extLst>
          </p:cNvPr>
          <p:cNvCxnSpPr>
            <a:stCxn id="10" idx="4"/>
            <a:endCxn id="12" idx="0"/>
          </p:cNvCxnSpPr>
          <p:nvPr/>
        </p:nvCxnSpPr>
        <p:spPr>
          <a:xfrm>
            <a:off x="3267095" y="2651112"/>
            <a:ext cx="0" cy="529353"/>
          </a:xfrm>
          <a:prstGeom prst="line">
            <a:avLst/>
          </a:prstGeom>
          <a:noFill/>
          <a:ln w="28575"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F00C3242-540E-22F5-D581-9102E2764F9D}"/>
              </a:ext>
            </a:extLst>
          </p:cNvPr>
          <p:cNvCxnSpPr>
            <a:stCxn id="10" idx="6"/>
            <a:endCxn id="11" idx="0"/>
          </p:cNvCxnSpPr>
          <p:nvPr/>
        </p:nvCxnSpPr>
        <p:spPr>
          <a:xfrm>
            <a:off x="3541415" y="2376792"/>
            <a:ext cx="877808" cy="800180"/>
          </a:xfrm>
          <a:prstGeom prst="line">
            <a:avLst/>
          </a:prstGeom>
          <a:noFill/>
          <a:ln w="28575" cap="flat" cmpd="sng" algn="ctr">
            <a:solidFill>
              <a:srgbClr val="909090"/>
            </a:solidFill>
            <a:prstDash val="solid"/>
            <a:miter lim="800000"/>
          </a:ln>
          <a:effectLst/>
        </p:spPr>
      </p:cxnSp>
      <p:sp>
        <p:nvSpPr>
          <p:cNvPr id="24" name="TextBox 23">
            <a:extLst>
              <a:ext uri="{FF2B5EF4-FFF2-40B4-BE49-F238E27FC236}">
                <a16:creationId xmlns:a16="http://schemas.microsoft.com/office/drawing/2014/main" id="{8C265B9D-9656-E0E6-0755-F70369BD6880}"/>
              </a:ext>
            </a:extLst>
          </p:cNvPr>
          <p:cNvSpPr txBox="1"/>
          <p:nvPr/>
        </p:nvSpPr>
        <p:spPr>
          <a:xfrm>
            <a:off x="4957330" y="957295"/>
            <a:ext cx="6811273" cy="919401"/>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Select any node v ∈ N as starting point mark that node as visited.</a:t>
            </a:r>
          </a:p>
        </p:txBody>
      </p:sp>
      <p:sp>
        <p:nvSpPr>
          <p:cNvPr id="25" name="TextBox 24">
            <a:extLst>
              <a:ext uri="{FF2B5EF4-FFF2-40B4-BE49-F238E27FC236}">
                <a16:creationId xmlns:a16="http://schemas.microsoft.com/office/drawing/2014/main" id="{C9476750-BCBA-66C7-DA95-7D417F4069A7}"/>
              </a:ext>
            </a:extLst>
          </p:cNvPr>
          <p:cNvSpPr txBox="1"/>
          <p:nvPr/>
        </p:nvSpPr>
        <p:spPr>
          <a:xfrm>
            <a:off x="4957330" y="1969405"/>
            <a:ext cx="6811273" cy="510778"/>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Enqueue visited v node into queue Q </a:t>
            </a:r>
          </a:p>
        </p:txBody>
      </p:sp>
      <p:sp>
        <p:nvSpPr>
          <p:cNvPr id="26" name="Rectangle 25">
            <a:extLst>
              <a:ext uri="{FF2B5EF4-FFF2-40B4-BE49-F238E27FC236}">
                <a16:creationId xmlns:a16="http://schemas.microsoft.com/office/drawing/2014/main" id="{69D131F4-5DFB-F632-6CC7-BF6EE2206B8F}"/>
              </a:ext>
            </a:extLst>
          </p:cNvPr>
          <p:cNvSpPr/>
          <p:nvPr/>
        </p:nvSpPr>
        <p:spPr>
          <a:xfrm>
            <a:off x="1887567"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27" name="Rectangle 26">
            <a:extLst>
              <a:ext uri="{FF2B5EF4-FFF2-40B4-BE49-F238E27FC236}">
                <a16:creationId xmlns:a16="http://schemas.microsoft.com/office/drawing/2014/main" id="{5456ABF6-3259-0C1D-2D9D-B78BE8124150}"/>
              </a:ext>
            </a:extLst>
          </p:cNvPr>
          <p:cNvSpPr/>
          <p:nvPr/>
        </p:nvSpPr>
        <p:spPr>
          <a:xfrm>
            <a:off x="1307057"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213DCE5F-8ED7-3440-A56E-49D0918EA720}"/>
              </a:ext>
            </a:extLst>
          </p:cNvPr>
          <p:cNvSpPr/>
          <p:nvPr/>
        </p:nvSpPr>
        <p:spPr>
          <a:xfrm>
            <a:off x="73099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29" name="TextBox 28">
            <a:extLst>
              <a:ext uri="{FF2B5EF4-FFF2-40B4-BE49-F238E27FC236}">
                <a16:creationId xmlns:a16="http://schemas.microsoft.com/office/drawing/2014/main" id="{BF43F94C-A070-E448-908A-859F8AC15361}"/>
              </a:ext>
            </a:extLst>
          </p:cNvPr>
          <p:cNvSpPr txBox="1"/>
          <p:nvPr/>
        </p:nvSpPr>
        <p:spPr>
          <a:xfrm>
            <a:off x="2245191" y="5871408"/>
            <a:ext cx="1224034" cy="430887"/>
          </a:xfrm>
          <a:prstGeom prst="rect">
            <a:avLst/>
          </a:prstGeom>
          <a:noFill/>
        </p:spPr>
        <p:txBody>
          <a:bodyPr wrap="square" rtlCol="0">
            <a:spAutoFit/>
          </a:bodyPr>
          <a:lstStyle/>
          <a:p>
            <a:r>
              <a:rPr lang="en-IN" sz="2200" dirty="0">
                <a:solidFill>
                  <a:srgbClr val="212121"/>
                </a:solidFill>
                <a:latin typeface="Roboto Condensed"/>
              </a:rPr>
              <a:t>Queue Q</a:t>
            </a:r>
          </a:p>
        </p:txBody>
      </p:sp>
      <p:sp>
        <p:nvSpPr>
          <p:cNvPr id="30" name="Rectangle 29">
            <a:extLst>
              <a:ext uri="{FF2B5EF4-FFF2-40B4-BE49-F238E27FC236}">
                <a16:creationId xmlns:a16="http://schemas.microsoft.com/office/drawing/2014/main" id="{7030C14B-3C1C-3006-598C-DB6947C65408}"/>
              </a:ext>
            </a:extLst>
          </p:cNvPr>
          <p:cNvSpPr/>
          <p:nvPr/>
        </p:nvSpPr>
        <p:spPr>
          <a:xfrm>
            <a:off x="3626260"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6</a:t>
            </a:r>
          </a:p>
        </p:txBody>
      </p:sp>
      <p:sp>
        <p:nvSpPr>
          <p:cNvPr id="31" name="Rectangle 30">
            <a:extLst>
              <a:ext uri="{FF2B5EF4-FFF2-40B4-BE49-F238E27FC236}">
                <a16:creationId xmlns:a16="http://schemas.microsoft.com/office/drawing/2014/main" id="{A591B805-5625-5120-3E42-E350C29A278F}"/>
              </a:ext>
            </a:extLst>
          </p:cNvPr>
          <p:cNvSpPr/>
          <p:nvPr/>
        </p:nvSpPr>
        <p:spPr>
          <a:xfrm>
            <a:off x="3045750"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32" name="Rectangle 31">
            <a:extLst>
              <a:ext uri="{FF2B5EF4-FFF2-40B4-BE49-F238E27FC236}">
                <a16:creationId xmlns:a16="http://schemas.microsoft.com/office/drawing/2014/main" id="{8554EA41-EC93-1939-6805-8A259CA97645}"/>
              </a:ext>
            </a:extLst>
          </p:cNvPr>
          <p:cNvSpPr/>
          <p:nvPr/>
        </p:nvSpPr>
        <p:spPr>
          <a:xfrm>
            <a:off x="2469686"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33" name="Rectangle 32">
            <a:extLst>
              <a:ext uri="{FF2B5EF4-FFF2-40B4-BE49-F238E27FC236}">
                <a16:creationId xmlns:a16="http://schemas.microsoft.com/office/drawing/2014/main" id="{7FAF0769-01F9-E932-FEC9-E97BF7B11149}"/>
              </a:ext>
            </a:extLst>
          </p:cNvPr>
          <p:cNvSpPr/>
          <p:nvPr/>
        </p:nvSpPr>
        <p:spPr>
          <a:xfrm>
            <a:off x="478063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8</a:t>
            </a:r>
          </a:p>
        </p:txBody>
      </p:sp>
      <p:sp>
        <p:nvSpPr>
          <p:cNvPr id="34" name="Rectangle 33">
            <a:extLst>
              <a:ext uri="{FF2B5EF4-FFF2-40B4-BE49-F238E27FC236}">
                <a16:creationId xmlns:a16="http://schemas.microsoft.com/office/drawing/2014/main" id="{44B82121-D839-4741-064E-92AC4619F91E}"/>
              </a:ext>
            </a:extLst>
          </p:cNvPr>
          <p:cNvSpPr/>
          <p:nvPr/>
        </p:nvSpPr>
        <p:spPr>
          <a:xfrm>
            <a:off x="420012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7</a:t>
            </a:r>
          </a:p>
        </p:txBody>
      </p:sp>
      <p:cxnSp>
        <p:nvCxnSpPr>
          <p:cNvPr id="35" name="Straight Connector 34">
            <a:extLst>
              <a:ext uri="{FF2B5EF4-FFF2-40B4-BE49-F238E27FC236}">
                <a16:creationId xmlns:a16="http://schemas.microsoft.com/office/drawing/2014/main" id="{32A13D9D-D4C2-5CC4-E301-7A454E56A38A}"/>
              </a:ext>
            </a:extLst>
          </p:cNvPr>
          <p:cNvCxnSpPr/>
          <p:nvPr/>
        </p:nvCxnSpPr>
        <p:spPr>
          <a:xfrm>
            <a:off x="550871" y="5133703"/>
            <a:ext cx="4968552" cy="0"/>
          </a:xfrm>
          <a:prstGeom prst="line">
            <a:avLst/>
          </a:prstGeom>
          <a:noFill/>
          <a:ln w="28575" cap="flat" cmpd="sng" algn="ctr">
            <a:solidFill>
              <a:srgbClr val="1D6FA9"/>
            </a:solidFill>
            <a:prstDash val="solid"/>
            <a:miter lim="800000"/>
          </a:ln>
          <a:effectLst/>
        </p:spPr>
      </p:cxnSp>
      <p:cxnSp>
        <p:nvCxnSpPr>
          <p:cNvPr id="36" name="Straight Connector 35">
            <a:extLst>
              <a:ext uri="{FF2B5EF4-FFF2-40B4-BE49-F238E27FC236}">
                <a16:creationId xmlns:a16="http://schemas.microsoft.com/office/drawing/2014/main" id="{038E00C4-AC23-53DF-FA35-B05125916161}"/>
              </a:ext>
            </a:extLst>
          </p:cNvPr>
          <p:cNvCxnSpPr/>
          <p:nvPr/>
        </p:nvCxnSpPr>
        <p:spPr>
          <a:xfrm>
            <a:off x="561474" y="5819875"/>
            <a:ext cx="4968552" cy="0"/>
          </a:xfrm>
          <a:prstGeom prst="line">
            <a:avLst/>
          </a:prstGeom>
          <a:noFill/>
          <a:ln w="28575" cap="flat" cmpd="sng" algn="ctr">
            <a:solidFill>
              <a:srgbClr val="1D6FA9"/>
            </a:solidFill>
            <a:prstDash val="solid"/>
            <a:miter lim="800000"/>
          </a:ln>
          <a:effectLst/>
        </p:spPr>
      </p:cxnSp>
      <p:sp>
        <p:nvSpPr>
          <p:cNvPr id="37" name="TextBox 36">
            <a:extLst>
              <a:ext uri="{FF2B5EF4-FFF2-40B4-BE49-F238E27FC236}">
                <a16:creationId xmlns:a16="http://schemas.microsoft.com/office/drawing/2014/main" id="{E30E4C03-E684-C8D6-0BC0-9A2661C5C9C0}"/>
              </a:ext>
            </a:extLst>
          </p:cNvPr>
          <p:cNvSpPr txBox="1"/>
          <p:nvPr/>
        </p:nvSpPr>
        <p:spPr>
          <a:xfrm>
            <a:off x="4957330" y="2572893"/>
            <a:ext cx="6811273" cy="1328023"/>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Dequeue a node from the front of queue.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Find it’s all unvisited adjacent nodes, mark as visited, enqueue into queue  </a:t>
            </a:r>
          </a:p>
        </p:txBody>
      </p:sp>
      <p:sp>
        <p:nvSpPr>
          <p:cNvPr id="38" name="TextBox 37">
            <a:extLst>
              <a:ext uri="{FF2B5EF4-FFF2-40B4-BE49-F238E27FC236}">
                <a16:creationId xmlns:a16="http://schemas.microsoft.com/office/drawing/2014/main" id="{A73500F7-74A0-3457-14FD-1425F8295880}"/>
              </a:ext>
            </a:extLst>
          </p:cNvPr>
          <p:cNvSpPr txBox="1"/>
          <p:nvPr/>
        </p:nvSpPr>
        <p:spPr>
          <a:xfrm>
            <a:off x="4769726" y="5886634"/>
            <a:ext cx="4675077" cy="510778"/>
          </a:xfrm>
          <a:prstGeom prst="roundRect">
            <a:avLst/>
          </a:prstGeom>
          <a:solidFill>
            <a:srgbClr val="909090">
              <a:lumMod val="20000"/>
              <a:lumOff val="80000"/>
            </a:srgbClr>
          </a:solid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Visited : </a:t>
            </a:r>
          </a:p>
        </p:txBody>
      </p:sp>
      <p:sp>
        <p:nvSpPr>
          <p:cNvPr id="39" name="Rectangle 38">
            <a:extLst>
              <a:ext uri="{FF2B5EF4-FFF2-40B4-BE49-F238E27FC236}">
                <a16:creationId xmlns:a16="http://schemas.microsoft.com/office/drawing/2014/main" id="{E39B8086-0B7F-57B1-798A-8419685E2C19}"/>
              </a:ext>
            </a:extLst>
          </p:cNvPr>
          <p:cNvSpPr/>
          <p:nvPr/>
        </p:nvSpPr>
        <p:spPr>
          <a:xfrm>
            <a:off x="5888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1</a:t>
            </a:r>
          </a:p>
        </p:txBody>
      </p:sp>
      <p:sp>
        <p:nvSpPr>
          <p:cNvPr id="40" name="Rectangle 39">
            <a:extLst>
              <a:ext uri="{FF2B5EF4-FFF2-40B4-BE49-F238E27FC236}">
                <a16:creationId xmlns:a16="http://schemas.microsoft.com/office/drawing/2014/main" id="{68D70C98-8F59-17C0-57E4-673947324E78}"/>
              </a:ext>
            </a:extLst>
          </p:cNvPr>
          <p:cNvSpPr/>
          <p:nvPr/>
        </p:nvSpPr>
        <p:spPr>
          <a:xfrm>
            <a:off x="6320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2</a:t>
            </a:r>
          </a:p>
        </p:txBody>
      </p:sp>
      <p:sp>
        <p:nvSpPr>
          <p:cNvPr id="41" name="Rectangle 40">
            <a:extLst>
              <a:ext uri="{FF2B5EF4-FFF2-40B4-BE49-F238E27FC236}">
                <a16:creationId xmlns:a16="http://schemas.microsoft.com/office/drawing/2014/main" id="{57391C32-CACD-4996-D7C5-6E3AC561408E}"/>
              </a:ext>
            </a:extLst>
          </p:cNvPr>
          <p:cNvSpPr/>
          <p:nvPr/>
        </p:nvSpPr>
        <p:spPr>
          <a:xfrm>
            <a:off x="6752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3</a:t>
            </a:r>
          </a:p>
        </p:txBody>
      </p:sp>
      <p:sp>
        <p:nvSpPr>
          <p:cNvPr id="42" name="Rectangle 41">
            <a:extLst>
              <a:ext uri="{FF2B5EF4-FFF2-40B4-BE49-F238E27FC236}">
                <a16:creationId xmlns:a16="http://schemas.microsoft.com/office/drawing/2014/main" id="{47152AEA-F20D-CA0D-BF02-BDF2688F80F1}"/>
              </a:ext>
            </a:extLst>
          </p:cNvPr>
          <p:cNvSpPr/>
          <p:nvPr/>
        </p:nvSpPr>
        <p:spPr>
          <a:xfrm>
            <a:off x="8040425" y="592602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6</a:t>
            </a:r>
          </a:p>
        </p:txBody>
      </p:sp>
      <p:sp>
        <p:nvSpPr>
          <p:cNvPr id="43" name="Rectangle 42">
            <a:extLst>
              <a:ext uri="{FF2B5EF4-FFF2-40B4-BE49-F238E27FC236}">
                <a16:creationId xmlns:a16="http://schemas.microsoft.com/office/drawing/2014/main" id="{AFC7BE99-298C-EE92-429A-653849B63D55}"/>
              </a:ext>
            </a:extLst>
          </p:cNvPr>
          <p:cNvSpPr/>
          <p:nvPr/>
        </p:nvSpPr>
        <p:spPr>
          <a:xfrm>
            <a:off x="7616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5</a:t>
            </a:r>
          </a:p>
        </p:txBody>
      </p:sp>
      <p:sp>
        <p:nvSpPr>
          <p:cNvPr id="44" name="Rectangle 43">
            <a:extLst>
              <a:ext uri="{FF2B5EF4-FFF2-40B4-BE49-F238E27FC236}">
                <a16:creationId xmlns:a16="http://schemas.microsoft.com/office/drawing/2014/main" id="{809E75F7-2EA2-4A44-1CC3-D84160558280}"/>
              </a:ext>
            </a:extLst>
          </p:cNvPr>
          <p:cNvSpPr/>
          <p:nvPr/>
        </p:nvSpPr>
        <p:spPr>
          <a:xfrm>
            <a:off x="718054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4</a:t>
            </a:r>
          </a:p>
        </p:txBody>
      </p:sp>
      <p:sp>
        <p:nvSpPr>
          <p:cNvPr id="45" name="Rectangle 44">
            <a:extLst>
              <a:ext uri="{FF2B5EF4-FFF2-40B4-BE49-F238E27FC236}">
                <a16:creationId xmlns:a16="http://schemas.microsoft.com/office/drawing/2014/main" id="{E1EE061E-DF05-6C24-3E96-0D5F302298A2}"/>
              </a:ext>
            </a:extLst>
          </p:cNvPr>
          <p:cNvSpPr/>
          <p:nvPr/>
        </p:nvSpPr>
        <p:spPr>
          <a:xfrm>
            <a:off x="847879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7</a:t>
            </a:r>
          </a:p>
        </p:txBody>
      </p:sp>
      <p:sp>
        <p:nvSpPr>
          <p:cNvPr id="46" name="Rectangle 45">
            <a:extLst>
              <a:ext uri="{FF2B5EF4-FFF2-40B4-BE49-F238E27FC236}">
                <a16:creationId xmlns:a16="http://schemas.microsoft.com/office/drawing/2014/main" id="{30E7CFC8-4836-00EF-8F35-B4A9CA52ED93}"/>
              </a:ext>
            </a:extLst>
          </p:cNvPr>
          <p:cNvSpPr/>
          <p:nvPr/>
        </p:nvSpPr>
        <p:spPr>
          <a:xfrm>
            <a:off x="891079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8</a:t>
            </a:r>
          </a:p>
        </p:txBody>
      </p:sp>
      <p:pic>
        <p:nvPicPr>
          <p:cNvPr id="49" name="Picture 4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86613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10" fill="hold"/>
                                        <p:tgtEl>
                                          <p:spTgt spid="4"/>
                                        </p:tgtEl>
                                        <p:attrNameLst>
                                          <p:attrName>fillcolor</p:attrName>
                                        </p:attrNameLst>
                                      </p:cBhvr>
                                      <p:to>
                                        <a:srgbClr val="00BBD3"/>
                                      </p:to>
                                    </p:animClr>
                                    <p:set>
                                      <p:cBhvr>
                                        <p:cTn id="11" dur="10" fill="hold"/>
                                        <p:tgtEl>
                                          <p:spTgt spid="4"/>
                                        </p:tgtEl>
                                        <p:attrNameLst>
                                          <p:attrName>fill.type</p:attrName>
                                        </p:attrNameLst>
                                      </p:cBhvr>
                                      <p:to>
                                        <p:strVal val="solid"/>
                                      </p:to>
                                    </p:set>
                                    <p:set>
                                      <p:cBhvr>
                                        <p:cTn id="12" dur="10" fill="hold"/>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1" nodeType="click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1+#ppt_w/2"/>
                                          </p:val>
                                        </p:tav>
                                        <p:tav tm="100000">
                                          <p:val>
                                            <p:strVal val="#ppt_x"/>
                                          </p:val>
                                        </p:tav>
                                      </p:tavLst>
                                    </p:anim>
                                    <p:anim calcmode="lin" valueType="num">
                                      <p:cBhvr additive="base">
                                        <p:cTn id="3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28"/>
                                        </p:tgtEl>
                                        <p:attrNameLst>
                                          <p:attrName>ppt_x</p:attrName>
                                        </p:attrNameLst>
                                      </p:cBhvr>
                                      <p:tavLst>
                                        <p:tav tm="0">
                                          <p:val>
                                            <p:strVal val="ppt_x"/>
                                          </p:val>
                                        </p:tav>
                                        <p:tav tm="100000">
                                          <p:val>
                                            <p:strVal val="ppt_x"/>
                                          </p:val>
                                        </p:tav>
                                      </p:tavLst>
                                    </p:anim>
                                    <p:anim calcmode="lin" valueType="num">
                                      <p:cBhvr additive="base">
                                        <p:cTn id="45" dur="500"/>
                                        <p:tgtEl>
                                          <p:spTgt spid="28"/>
                                        </p:tgtEl>
                                        <p:attrNameLst>
                                          <p:attrName>ppt_y</p:attrName>
                                        </p:attrNameLst>
                                      </p:cBhvr>
                                      <p:tavLst>
                                        <p:tav tm="0">
                                          <p:val>
                                            <p:strVal val="ppt_y"/>
                                          </p:val>
                                        </p:tav>
                                        <p:tav tm="100000">
                                          <p:val>
                                            <p:strVal val="1+ppt_h/2"/>
                                          </p:val>
                                        </p:tav>
                                      </p:tavLst>
                                    </p:anim>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7" presetClass="emph" presetSubtype="0" repeatCount="indefinite" fill="remove" nodeType="clickEffect">
                                  <p:stCondLst>
                                    <p:cond delay="0"/>
                                  </p:stCondLst>
                                  <p:endCondLst>
                                    <p:cond evt="onNext" delay="0">
                                      <p:tgtEl>
                                        <p:sldTgt/>
                                      </p:tgtEl>
                                    </p:cond>
                                  </p:endCondLst>
                                  <p:childTnLst>
                                    <p:animClr clrSpc="rgb" dir="cw">
                                      <p:cBhvr override="childStyle">
                                        <p:cTn id="50" dur="250" autoRev="1" fill="remove"/>
                                        <p:tgtEl>
                                          <p:spTgt spid="6"/>
                                        </p:tgtEl>
                                        <p:attrNameLst>
                                          <p:attrName>style.color</p:attrName>
                                        </p:attrNameLst>
                                      </p:cBhvr>
                                      <p:to>
                                        <a:schemeClr val="bg1"/>
                                      </p:to>
                                    </p:animClr>
                                    <p:animClr clrSpc="rgb" dir="cw">
                                      <p:cBhvr>
                                        <p:cTn id="51" dur="250" autoRev="1" fill="remove"/>
                                        <p:tgtEl>
                                          <p:spTgt spid="6"/>
                                        </p:tgtEl>
                                        <p:attrNameLst>
                                          <p:attrName>fillcolor</p:attrName>
                                        </p:attrNameLst>
                                      </p:cBhvr>
                                      <p:to>
                                        <a:schemeClr val="bg1"/>
                                      </p:to>
                                    </p:animClr>
                                    <p:set>
                                      <p:cBhvr>
                                        <p:cTn id="52" dur="250" autoRev="1" fill="remove"/>
                                        <p:tgtEl>
                                          <p:spTgt spid="6"/>
                                        </p:tgtEl>
                                        <p:attrNameLst>
                                          <p:attrName>fill.type</p:attrName>
                                        </p:attrNameLst>
                                      </p:cBhvr>
                                      <p:to>
                                        <p:strVal val="solid"/>
                                      </p:to>
                                    </p:set>
                                    <p:set>
                                      <p:cBhvr>
                                        <p:cTn id="53" dur="250" autoRev="1" fill="remove"/>
                                        <p:tgtEl>
                                          <p:spTgt spid="6"/>
                                        </p:tgtEl>
                                        <p:attrNameLst>
                                          <p:attrName>fill.on</p:attrName>
                                        </p:attrNameLst>
                                      </p:cBhvr>
                                      <p:to>
                                        <p:strVal val="true"/>
                                      </p:to>
                                    </p:set>
                                  </p:childTnLst>
                                </p:cTn>
                              </p:par>
                              <p:par>
                                <p:cTn id="54" presetID="27" presetClass="emph" presetSubtype="0" repeatCount="indefinite" fill="remove" nodeType="withEffect">
                                  <p:stCondLst>
                                    <p:cond delay="0"/>
                                  </p:stCondLst>
                                  <p:endCondLst>
                                    <p:cond evt="onNext" delay="0">
                                      <p:tgtEl>
                                        <p:sldTgt/>
                                      </p:tgtEl>
                                    </p:cond>
                                  </p:endCondLst>
                                  <p:childTnLst>
                                    <p:animClr clrSpc="rgb" dir="cw">
                                      <p:cBhvr override="childStyle">
                                        <p:cTn id="55" dur="250" autoRev="1" fill="remove"/>
                                        <p:tgtEl>
                                          <p:spTgt spid="5"/>
                                        </p:tgtEl>
                                        <p:attrNameLst>
                                          <p:attrName>style.color</p:attrName>
                                        </p:attrNameLst>
                                      </p:cBhvr>
                                      <p:to>
                                        <a:schemeClr val="bg1"/>
                                      </p:to>
                                    </p:animClr>
                                    <p:animClr clrSpc="rgb" dir="cw">
                                      <p:cBhvr>
                                        <p:cTn id="56" dur="250" autoRev="1" fill="remove"/>
                                        <p:tgtEl>
                                          <p:spTgt spid="5"/>
                                        </p:tgtEl>
                                        <p:attrNameLst>
                                          <p:attrName>fillcolor</p:attrName>
                                        </p:attrNameLst>
                                      </p:cBhvr>
                                      <p:to>
                                        <a:schemeClr val="bg1"/>
                                      </p:to>
                                    </p:animClr>
                                    <p:set>
                                      <p:cBhvr>
                                        <p:cTn id="57" dur="250" autoRev="1" fill="remove"/>
                                        <p:tgtEl>
                                          <p:spTgt spid="5"/>
                                        </p:tgtEl>
                                        <p:attrNameLst>
                                          <p:attrName>fill.type</p:attrName>
                                        </p:attrNameLst>
                                      </p:cBhvr>
                                      <p:to>
                                        <p:strVal val="solid"/>
                                      </p:to>
                                    </p:set>
                                    <p:set>
                                      <p:cBhvr>
                                        <p:cTn id="58" dur="250" autoRev="1" fill="remove"/>
                                        <p:tgtEl>
                                          <p:spTgt spid="5"/>
                                        </p:tgtEl>
                                        <p:attrNameLst>
                                          <p:attrName>fill.on</p:attrName>
                                        </p:attrNameLst>
                                      </p:cBhvr>
                                      <p:to>
                                        <p:strVal val="true"/>
                                      </p:to>
                                    </p:set>
                                  </p:childTnLst>
                                </p:cTn>
                              </p:par>
                              <p:par>
                                <p:cTn id="59" presetID="27" presetClass="emph" presetSubtype="0" repeatCount="indefinite" fill="remove" nodeType="withEffect">
                                  <p:stCondLst>
                                    <p:cond delay="0"/>
                                  </p:stCondLst>
                                  <p:endCondLst>
                                    <p:cond evt="onNext" delay="0">
                                      <p:tgtEl>
                                        <p:sldTgt/>
                                      </p:tgtEl>
                                    </p:cond>
                                  </p:endCondLst>
                                  <p:childTnLst>
                                    <p:animClr clrSpc="rgb" dir="cw">
                                      <p:cBhvr override="childStyle">
                                        <p:cTn id="60" dur="250" autoRev="1" fill="remove"/>
                                        <p:tgtEl>
                                          <p:spTgt spid="10"/>
                                        </p:tgtEl>
                                        <p:attrNameLst>
                                          <p:attrName>style.color</p:attrName>
                                        </p:attrNameLst>
                                      </p:cBhvr>
                                      <p:to>
                                        <a:schemeClr val="bg1"/>
                                      </p:to>
                                    </p:animClr>
                                    <p:animClr clrSpc="rgb" dir="cw">
                                      <p:cBhvr>
                                        <p:cTn id="61" dur="250" autoRev="1" fill="remove"/>
                                        <p:tgtEl>
                                          <p:spTgt spid="10"/>
                                        </p:tgtEl>
                                        <p:attrNameLst>
                                          <p:attrName>fillcolor</p:attrName>
                                        </p:attrNameLst>
                                      </p:cBhvr>
                                      <p:to>
                                        <a:schemeClr val="bg1"/>
                                      </p:to>
                                    </p:animClr>
                                    <p:set>
                                      <p:cBhvr>
                                        <p:cTn id="62" dur="250" autoRev="1" fill="remove"/>
                                        <p:tgtEl>
                                          <p:spTgt spid="10"/>
                                        </p:tgtEl>
                                        <p:attrNameLst>
                                          <p:attrName>fill.type</p:attrName>
                                        </p:attrNameLst>
                                      </p:cBhvr>
                                      <p:to>
                                        <p:strVal val="solid"/>
                                      </p:to>
                                    </p:set>
                                    <p:set>
                                      <p:cBhvr>
                                        <p:cTn id="63" dur="250" autoRev="1" fill="remove"/>
                                        <p:tgtEl>
                                          <p:spTgt spid="10"/>
                                        </p:tgtEl>
                                        <p:attrNameLst>
                                          <p:attrName>fill.on</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1" presetClass="emph" presetSubtype="2" fill="hold" nodeType="clickEffect">
                                  <p:stCondLst>
                                    <p:cond delay="0"/>
                                  </p:stCondLst>
                                  <p:childTnLst>
                                    <p:animClr clrSpc="rgb" dir="cw">
                                      <p:cBhvr>
                                        <p:cTn id="67" dur="10" fill="hold"/>
                                        <p:tgtEl>
                                          <p:spTgt spid="6"/>
                                        </p:tgtEl>
                                        <p:attrNameLst>
                                          <p:attrName>fillcolor</p:attrName>
                                        </p:attrNameLst>
                                      </p:cBhvr>
                                      <p:to>
                                        <a:srgbClr val="00B0F0"/>
                                      </p:to>
                                    </p:animClr>
                                    <p:set>
                                      <p:cBhvr>
                                        <p:cTn id="68" dur="10" fill="hold"/>
                                        <p:tgtEl>
                                          <p:spTgt spid="6"/>
                                        </p:tgtEl>
                                        <p:attrNameLst>
                                          <p:attrName>fill.type</p:attrName>
                                        </p:attrNameLst>
                                      </p:cBhvr>
                                      <p:to>
                                        <p:strVal val="solid"/>
                                      </p:to>
                                    </p:set>
                                    <p:set>
                                      <p:cBhvr>
                                        <p:cTn id="69" dur="10" fill="hold"/>
                                        <p:tgtEl>
                                          <p:spTgt spid="6"/>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10" fill="hold"/>
                                        <p:tgtEl>
                                          <p:spTgt spid="5"/>
                                        </p:tgtEl>
                                        <p:attrNameLst>
                                          <p:attrName>fillcolor</p:attrName>
                                        </p:attrNameLst>
                                      </p:cBhvr>
                                      <p:to>
                                        <a:srgbClr val="00B0F0"/>
                                      </p:to>
                                    </p:animClr>
                                    <p:set>
                                      <p:cBhvr>
                                        <p:cTn id="72" dur="10" fill="hold"/>
                                        <p:tgtEl>
                                          <p:spTgt spid="5"/>
                                        </p:tgtEl>
                                        <p:attrNameLst>
                                          <p:attrName>fill.type</p:attrName>
                                        </p:attrNameLst>
                                      </p:cBhvr>
                                      <p:to>
                                        <p:strVal val="solid"/>
                                      </p:to>
                                    </p:set>
                                    <p:set>
                                      <p:cBhvr>
                                        <p:cTn id="73" dur="10" fill="hold"/>
                                        <p:tgtEl>
                                          <p:spTgt spid="5"/>
                                        </p:tgtEl>
                                        <p:attrNameLst>
                                          <p:attrName>fill.on</p:attrName>
                                        </p:attrNameLst>
                                      </p:cBhvr>
                                      <p:to>
                                        <p:strVal val="true"/>
                                      </p:to>
                                    </p:set>
                                  </p:childTnLst>
                                </p:cTn>
                              </p:par>
                              <p:par>
                                <p:cTn id="74" presetID="1" presetClass="emph" presetSubtype="2" fill="hold" nodeType="withEffect">
                                  <p:stCondLst>
                                    <p:cond delay="0"/>
                                  </p:stCondLst>
                                  <p:childTnLst>
                                    <p:animClr clrSpc="rgb" dir="cw">
                                      <p:cBhvr>
                                        <p:cTn id="75" dur="10" fill="hold"/>
                                        <p:tgtEl>
                                          <p:spTgt spid="10"/>
                                        </p:tgtEl>
                                        <p:attrNameLst>
                                          <p:attrName>fillcolor</p:attrName>
                                        </p:attrNameLst>
                                      </p:cBhvr>
                                      <p:to>
                                        <a:srgbClr val="00B0F0"/>
                                      </p:to>
                                    </p:animClr>
                                    <p:set>
                                      <p:cBhvr>
                                        <p:cTn id="76" dur="10" fill="hold"/>
                                        <p:tgtEl>
                                          <p:spTgt spid="10"/>
                                        </p:tgtEl>
                                        <p:attrNameLst>
                                          <p:attrName>fill.type</p:attrName>
                                        </p:attrNameLst>
                                      </p:cBhvr>
                                      <p:to>
                                        <p:strVal val="solid"/>
                                      </p:to>
                                    </p:set>
                                    <p:set>
                                      <p:cBhvr>
                                        <p:cTn id="77" dur="10" fill="hold"/>
                                        <p:tgtEl>
                                          <p:spTgt spid="10"/>
                                        </p:tgtEl>
                                        <p:attrNameLst>
                                          <p:attrName>fill.on</p:attrName>
                                        </p:attrNameLst>
                                      </p:cBhvr>
                                      <p:to>
                                        <p:strVal val="true"/>
                                      </p:to>
                                    </p:set>
                                  </p:childTnLst>
                                </p:cTn>
                              </p:par>
                              <p:par>
                                <p:cTn id="78" presetID="7" presetClass="emph" presetSubtype="2" fill="hold" nodeType="withEffect">
                                  <p:stCondLst>
                                    <p:cond delay="0"/>
                                  </p:stCondLst>
                                  <p:childTnLst>
                                    <p:animClr clrSpc="rgb" dir="cw">
                                      <p:cBhvr>
                                        <p:cTn id="79" dur="10" fill="hold"/>
                                        <p:tgtEl>
                                          <p:spTgt spid="14"/>
                                        </p:tgtEl>
                                        <p:attrNameLst>
                                          <p:attrName>stroke.color</p:attrName>
                                        </p:attrNameLst>
                                      </p:cBhvr>
                                      <p:to>
                                        <a:srgbClr val="B84742"/>
                                      </p:to>
                                    </p:animClr>
                                    <p:set>
                                      <p:cBhvr>
                                        <p:cTn id="80" dur="10" fill="hold"/>
                                        <p:tgtEl>
                                          <p:spTgt spid="14"/>
                                        </p:tgtEl>
                                        <p:attrNameLst>
                                          <p:attrName>stroke.on</p:attrName>
                                        </p:attrNameLst>
                                      </p:cBhvr>
                                      <p:to>
                                        <p:strVal val="true"/>
                                      </p:to>
                                    </p:set>
                                  </p:childTnLst>
                                </p:cTn>
                              </p:par>
                              <p:par>
                                <p:cTn id="81" presetID="7" presetClass="emph" presetSubtype="2" fill="hold" nodeType="withEffect">
                                  <p:stCondLst>
                                    <p:cond delay="0"/>
                                  </p:stCondLst>
                                  <p:childTnLst>
                                    <p:animClr clrSpc="rgb" dir="cw">
                                      <p:cBhvr>
                                        <p:cTn id="82" dur="10" fill="hold"/>
                                        <p:tgtEl>
                                          <p:spTgt spid="13"/>
                                        </p:tgtEl>
                                        <p:attrNameLst>
                                          <p:attrName>stroke.color</p:attrName>
                                        </p:attrNameLst>
                                      </p:cBhvr>
                                      <p:to>
                                        <a:srgbClr val="B84742"/>
                                      </p:to>
                                    </p:animClr>
                                    <p:set>
                                      <p:cBhvr>
                                        <p:cTn id="83" dur="10" fill="hold"/>
                                        <p:tgtEl>
                                          <p:spTgt spid="13"/>
                                        </p:tgtEl>
                                        <p:attrNameLst>
                                          <p:attrName>stroke.on</p:attrName>
                                        </p:attrNameLst>
                                      </p:cBhvr>
                                      <p:to>
                                        <p:strVal val="true"/>
                                      </p:to>
                                    </p:set>
                                  </p:childTnLst>
                                </p:cTn>
                              </p:par>
                              <p:par>
                                <p:cTn id="84" presetID="7" presetClass="emph" presetSubtype="2" fill="hold" nodeType="withEffect">
                                  <p:stCondLst>
                                    <p:cond delay="0"/>
                                  </p:stCondLst>
                                  <p:childTnLst>
                                    <p:animClr clrSpc="rgb" dir="cw">
                                      <p:cBhvr>
                                        <p:cTn id="85" dur="10" fill="hold"/>
                                        <p:tgtEl>
                                          <p:spTgt spid="15"/>
                                        </p:tgtEl>
                                        <p:attrNameLst>
                                          <p:attrName>stroke.color</p:attrName>
                                        </p:attrNameLst>
                                      </p:cBhvr>
                                      <p:to>
                                        <a:srgbClr val="B84742"/>
                                      </p:to>
                                    </p:animClr>
                                    <p:set>
                                      <p:cBhvr>
                                        <p:cTn id="86" dur="10" fill="hold"/>
                                        <p:tgtEl>
                                          <p:spTgt spid="15"/>
                                        </p:tgtEl>
                                        <p:attrNameLst>
                                          <p:attrName>stroke.on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1+#ppt_w/2"/>
                                          </p:val>
                                        </p:tav>
                                        <p:tav tm="100000">
                                          <p:val>
                                            <p:strVal val="#ppt_x"/>
                                          </p:val>
                                        </p:tav>
                                      </p:tavLst>
                                    </p:anim>
                                    <p:anim calcmode="lin" valueType="num">
                                      <p:cBhvr additive="base">
                                        <p:cTn id="10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500" fill="hold"/>
                                        <p:tgtEl>
                                          <p:spTgt spid="26"/>
                                        </p:tgtEl>
                                        <p:attrNameLst>
                                          <p:attrName>ppt_x</p:attrName>
                                        </p:attrNameLst>
                                      </p:cBhvr>
                                      <p:tavLst>
                                        <p:tav tm="0">
                                          <p:val>
                                            <p:strVal val="1+#ppt_w/2"/>
                                          </p:val>
                                        </p:tav>
                                        <p:tav tm="100000">
                                          <p:val>
                                            <p:strVal val="#ppt_x"/>
                                          </p:val>
                                        </p:tav>
                                      </p:tavLst>
                                    </p:anim>
                                    <p:anim calcmode="lin" valueType="num">
                                      <p:cBhvr additive="base">
                                        <p:cTn id="11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1+#ppt_w/2"/>
                                          </p:val>
                                        </p:tav>
                                        <p:tav tm="100000">
                                          <p:val>
                                            <p:strVal val="#ppt_x"/>
                                          </p:val>
                                        </p:tav>
                                      </p:tavLst>
                                    </p:anim>
                                    <p:anim calcmode="lin" valueType="num">
                                      <p:cBhvr additive="base">
                                        <p:cTn id="116"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1" nodeType="clickEffect">
                                  <p:stCondLst>
                                    <p:cond delay="0"/>
                                  </p:stCondLst>
                                  <p:childTnLst>
                                    <p:anim calcmode="lin" valueType="num">
                                      <p:cBhvr additive="base">
                                        <p:cTn id="120" dur="500"/>
                                        <p:tgtEl>
                                          <p:spTgt spid="27"/>
                                        </p:tgtEl>
                                        <p:attrNameLst>
                                          <p:attrName>ppt_x</p:attrName>
                                        </p:attrNameLst>
                                      </p:cBhvr>
                                      <p:tavLst>
                                        <p:tav tm="0">
                                          <p:val>
                                            <p:strVal val="ppt_x"/>
                                          </p:val>
                                        </p:tav>
                                        <p:tav tm="100000">
                                          <p:val>
                                            <p:strVal val="ppt_x"/>
                                          </p:val>
                                        </p:tav>
                                      </p:tavLst>
                                    </p:anim>
                                    <p:anim calcmode="lin" valueType="num">
                                      <p:cBhvr additive="base">
                                        <p:cTn id="121" dur="500"/>
                                        <p:tgtEl>
                                          <p:spTgt spid="27"/>
                                        </p:tgtEl>
                                        <p:attrNameLst>
                                          <p:attrName>ppt_y</p:attrName>
                                        </p:attrNameLst>
                                      </p:cBhvr>
                                      <p:tavLst>
                                        <p:tav tm="0">
                                          <p:val>
                                            <p:strVal val="ppt_y"/>
                                          </p:val>
                                        </p:tav>
                                        <p:tav tm="100000">
                                          <p:val>
                                            <p:strVal val="1+ppt_h/2"/>
                                          </p:val>
                                        </p:tav>
                                      </p:tavLst>
                                    </p:anim>
                                    <p:set>
                                      <p:cBhvr>
                                        <p:cTn id="122" dur="1" fill="hold">
                                          <p:stCondLst>
                                            <p:cond delay="499"/>
                                          </p:stCondLst>
                                        </p:cTn>
                                        <p:tgtEl>
                                          <p:spTgt spid="2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26" dur="250" autoRev="1" fill="remove"/>
                                        <p:tgtEl>
                                          <p:spTgt spid="9"/>
                                        </p:tgtEl>
                                        <p:attrNameLst>
                                          <p:attrName>style.color</p:attrName>
                                        </p:attrNameLst>
                                      </p:cBhvr>
                                      <p:to>
                                        <a:schemeClr val="bg1"/>
                                      </p:to>
                                    </p:animClr>
                                    <p:animClr clrSpc="rgb" dir="cw">
                                      <p:cBhvr>
                                        <p:cTn id="127" dur="250" autoRev="1" fill="remove"/>
                                        <p:tgtEl>
                                          <p:spTgt spid="9"/>
                                        </p:tgtEl>
                                        <p:attrNameLst>
                                          <p:attrName>fillcolor</p:attrName>
                                        </p:attrNameLst>
                                      </p:cBhvr>
                                      <p:to>
                                        <a:schemeClr val="bg1"/>
                                      </p:to>
                                    </p:animClr>
                                    <p:set>
                                      <p:cBhvr>
                                        <p:cTn id="128" dur="250" autoRev="1" fill="remove"/>
                                        <p:tgtEl>
                                          <p:spTgt spid="9"/>
                                        </p:tgtEl>
                                        <p:attrNameLst>
                                          <p:attrName>fill.type</p:attrName>
                                        </p:attrNameLst>
                                      </p:cBhvr>
                                      <p:to>
                                        <p:strVal val="solid"/>
                                      </p:to>
                                    </p:set>
                                    <p:set>
                                      <p:cBhvr>
                                        <p:cTn id="129" dur="250" autoRev="1" fill="remove"/>
                                        <p:tgtEl>
                                          <p:spTgt spid="9"/>
                                        </p:tgtEl>
                                        <p:attrNameLst>
                                          <p:attrName>fill.on</p:attrName>
                                        </p:attrNameLst>
                                      </p:cBhvr>
                                      <p:to>
                                        <p:strVal val="true"/>
                                      </p:to>
                                    </p:set>
                                  </p:childTnLst>
                                </p:cTn>
                              </p:par>
                              <p:par>
                                <p:cTn id="13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31" dur="250" autoRev="1" fill="remove"/>
                                        <p:tgtEl>
                                          <p:spTgt spid="8"/>
                                        </p:tgtEl>
                                        <p:attrNameLst>
                                          <p:attrName>style.color</p:attrName>
                                        </p:attrNameLst>
                                      </p:cBhvr>
                                      <p:to>
                                        <a:schemeClr val="bg1"/>
                                      </p:to>
                                    </p:animClr>
                                    <p:animClr clrSpc="rgb" dir="cw">
                                      <p:cBhvr>
                                        <p:cTn id="132" dur="250" autoRev="1" fill="remove"/>
                                        <p:tgtEl>
                                          <p:spTgt spid="8"/>
                                        </p:tgtEl>
                                        <p:attrNameLst>
                                          <p:attrName>fillcolor</p:attrName>
                                        </p:attrNameLst>
                                      </p:cBhvr>
                                      <p:to>
                                        <a:schemeClr val="bg1"/>
                                      </p:to>
                                    </p:animClr>
                                    <p:set>
                                      <p:cBhvr>
                                        <p:cTn id="133" dur="250" autoRev="1" fill="remove"/>
                                        <p:tgtEl>
                                          <p:spTgt spid="8"/>
                                        </p:tgtEl>
                                        <p:attrNameLst>
                                          <p:attrName>fill.type</p:attrName>
                                        </p:attrNameLst>
                                      </p:cBhvr>
                                      <p:to>
                                        <p:strVal val="solid"/>
                                      </p:to>
                                    </p:set>
                                    <p:set>
                                      <p:cBhvr>
                                        <p:cTn id="134" dur="250" autoRev="1" fill="remove"/>
                                        <p:tgtEl>
                                          <p:spTgt spid="8"/>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dir="cw">
                                      <p:cBhvr>
                                        <p:cTn id="138" dur="10" fill="hold"/>
                                        <p:tgtEl>
                                          <p:spTgt spid="9"/>
                                        </p:tgtEl>
                                        <p:attrNameLst>
                                          <p:attrName>fillcolor</p:attrName>
                                        </p:attrNameLst>
                                      </p:cBhvr>
                                      <p:to>
                                        <a:srgbClr val="00B0F0"/>
                                      </p:to>
                                    </p:animClr>
                                    <p:set>
                                      <p:cBhvr>
                                        <p:cTn id="139" dur="10" fill="hold"/>
                                        <p:tgtEl>
                                          <p:spTgt spid="9"/>
                                        </p:tgtEl>
                                        <p:attrNameLst>
                                          <p:attrName>fill.type</p:attrName>
                                        </p:attrNameLst>
                                      </p:cBhvr>
                                      <p:to>
                                        <p:strVal val="solid"/>
                                      </p:to>
                                    </p:set>
                                    <p:set>
                                      <p:cBhvr>
                                        <p:cTn id="140" dur="10" fill="hold"/>
                                        <p:tgtEl>
                                          <p:spTgt spid="9"/>
                                        </p:tgtEl>
                                        <p:attrNameLst>
                                          <p:attrName>fill.on</p:attrName>
                                        </p:attrNameLst>
                                      </p:cBhvr>
                                      <p:to>
                                        <p:strVal val="true"/>
                                      </p:to>
                                    </p:set>
                                  </p:childTnLst>
                                </p:cTn>
                              </p:par>
                              <p:par>
                                <p:cTn id="141" presetID="1" presetClass="emph" presetSubtype="2" fill="hold" nodeType="withEffect">
                                  <p:stCondLst>
                                    <p:cond delay="0"/>
                                  </p:stCondLst>
                                  <p:childTnLst>
                                    <p:animClr clrSpc="rgb" dir="cw">
                                      <p:cBhvr>
                                        <p:cTn id="142" dur="10" fill="hold"/>
                                        <p:tgtEl>
                                          <p:spTgt spid="8"/>
                                        </p:tgtEl>
                                        <p:attrNameLst>
                                          <p:attrName>fillcolor</p:attrName>
                                        </p:attrNameLst>
                                      </p:cBhvr>
                                      <p:to>
                                        <a:srgbClr val="00B0F0"/>
                                      </p:to>
                                    </p:animClr>
                                    <p:set>
                                      <p:cBhvr>
                                        <p:cTn id="143" dur="10" fill="hold"/>
                                        <p:tgtEl>
                                          <p:spTgt spid="8"/>
                                        </p:tgtEl>
                                        <p:attrNameLst>
                                          <p:attrName>fill.type</p:attrName>
                                        </p:attrNameLst>
                                      </p:cBhvr>
                                      <p:to>
                                        <p:strVal val="solid"/>
                                      </p:to>
                                    </p:set>
                                    <p:set>
                                      <p:cBhvr>
                                        <p:cTn id="144" dur="10" fill="hold"/>
                                        <p:tgtEl>
                                          <p:spTgt spid="8"/>
                                        </p:tgtEl>
                                        <p:attrNameLst>
                                          <p:attrName>fill.on</p:attrName>
                                        </p:attrNameLst>
                                      </p:cBhvr>
                                      <p:to>
                                        <p:strVal val="true"/>
                                      </p:to>
                                    </p:set>
                                  </p:childTnLst>
                                </p:cTn>
                              </p:par>
                              <p:par>
                                <p:cTn id="145" presetID="7" presetClass="emph" presetSubtype="2" fill="hold" nodeType="withEffect">
                                  <p:stCondLst>
                                    <p:cond delay="0"/>
                                  </p:stCondLst>
                                  <p:childTnLst>
                                    <p:animClr clrSpc="rgb" dir="cw">
                                      <p:cBhvr>
                                        <p:cTn id="146" dur="10" fill="hold"/>
                                        <p:tgtEl>
                                          <p:spTgt spid="17"/>
                                        </p:tgtEl>
                                        <p:attrNameLst>
                                          <p:attrName>stroke.color</p:attrName>
                                        </p:attrNameLst>
                                      </p:cBhvr>
                                      <p:to>
                                        <a:srgbClr val="B84742"/>
                                      </p:to>
                                    </p:animClr>
                                    <p:set>
                                      <p:cBhvr>
                                        <p:cTn id="147" dur="10" fill="hold"/>
                                        <p:tgtEl>
                                          <p:spTgt spid="17"/>
                                        </p:tgtEl>
                                        <p:attrNameLst>
                                          <p:attrName>stroke.on</p:attrName>
                                        </p:attrNameLst>
                                      </p:cBhvr>
                                      <p:to>
                                        <p:strVal val="true"/>
                                      </p:to>
                                    </p:set>
                                  </p:childTnLst>
                                </p:cTn>
                              </p:par>
                              <p:par>
                                <p:cTn id="148" presetID="7" presetClass="emph" presetSubtype="2" fill="hold" nodeType="withEffect">
                                  <p:stCondLst>
                                    <p:cond delay="0"/>
                                  </p:stCondLst>
                                  <p:childTnLst>
                                    <p:animClr clrSpc="rgb" dir="cw">
                                      <p:cBhvr>
                                        <p:cTn id="149" dur="10" fill="hold"/>
                                        <p:tgtEl>
                                          <p:spTgt spid="18"/>
                                        </p:tgtEl>
                                        <p:attrNameLst>
                                          <p:attrName>stroke.color</p:attrName>
                                        </p:attrNameLst>
                                      </p:cBhvr>
                                      <p:to>
                                        <a:srgbClr val="B84742"/>
                                      </p:to>
                                    </p:animClr>
                                    <p:set>
                                      <p:cBhvr>
                                        <p:cTn id="150" dur="10" fill="hold"/>
                                        <p:tgtEl>
                                          <p:spTgt spid="18"/>
                                        </p:tgtEl>
                                        <p:attrNameLst>
                                          <p:attrName>stroke.on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2"/>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2" presetClass="entr" presetSubtype="2" fill="hold" grpId="0" nodeType="clickEffect">
                                  <p:stCondLst>
                                    <p:cond delay="0"/>
                                  </p:stCondLst>
                                  <p:childTnLst>
                                    <p:set>
                                      <p:cBhvr>
                                        <p:cTn id="162" dur="1" fill="hold">
                                          <p:stCondLst>
                                            <p:cond delay="0"/>
                                          </p:stCondLst>
                                        </p:cTn>
                                        <p:tgtEl>
                                          <p:spTgt spid="31"/>
                                        </p:tgtEl>
                                        <p:attrNameLst>
                                          <p:attrName>style.visibility</p:attrName>
                                        </p:attrNameLst>
                                      </p:cBhvr>
                                      <p:to>
                                        <p:strVal val="visible"/>
                                      </p:to>
                                    </p:set>
                                    <p:anim calcmode="lin" valueType="num">
                                      <p:cBhvr additive="base">
                                        <p:cTn id="163" dur="500" fill="hold"/>
                                        <p:tgtEl>
                                          <p:spTgt spid="31"/>
                                        </p:tgtEl>
                                        <p:attrNameLst>
                                          <p:attrName>ppt_x</p:attrName>
                                        </p:attrNameLst>
                                      </p:cBhvr>
                                      <p:tavLst>
                                        <p:tav tm="0">
                                          <p:val>
                                            <p:strVal val="1+#ppt_w/2"/>
                                          </p:val>
                                        </p:tav>
                                        <p:tav tm="100000">
                                          <p:val>
                                            <p:strVal val="#ppt_x"/>
                                          </p:val>
                                        </p:tav>
                                      </p:tavLst>
                                    </p:anim>
                                    <p:anim calcmode="lin" valueType="num">
                                      <p:cBhvr additive="base">
                                        <p:cTn id="164"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2" fill="hold" grpId="0" nodeType="clickEffect">
                                  <p:stCondLst>
                                    <p:cond delay="0"/>
                                  </p:stCondLst>
                                  <p:childTnLst>
                                    <p:set>
                                      <p:cBhvr>
                                        <p:cTn id="168" dur="1" fill="hold">
                                          <p:stCondLst>
                                            <p:cond delay="0"/>
                                          </p:stCondLst>
                                        </p:cTn>
                                        <p:tgtEl>
                                          <p:spTgt spid="30"/>
                                        </p:tgtEl>
                                        <p:attrNameLst>
                                          <p:attrName>style.visibility</p:attrName>
                                        </p:attrNameLst>
                                      </p:cBhvr>
                                      <p:to>
                                        <p:strVal val="visible"/>
                                      </p:to>
                                    </p:set>
                                    <p:anim calcmode="lin" valueType="num">
                                      <p:cBhvr additive="base">
                                        <p:cTn id="169" dur="500" fill="hold"/>
                                        <p:tgtEl>
                                          <p:spTgt spid="30"/>
                                        </p:tgtEl>
                                        <p:attrNameLst>
                                          <p:attrName>ppt_x</p:attrName>
                                        </p:attrNameLst>
                                      </p:cBhvr>
                                      <p:tavLst>
                                        <p:tav tm="0">
                                          <p:val>
                                            <p:strVal val="1+#ppt_w/2"/>
                                          </p:val>
                                        </p:tav>
                                        <p:tav tm="100000">
                                          <p:val>
                                            <p:strVal val="#ppt_x"/>
                                          </p:val>
                                        </p:tav>
                                      </p:tavLst>
                                    </p:anim>
                                    <p:anim calcmode="lin" valueType="num">
                                      <p:cBhvr additive="base">
                                        <p:cTn id="170"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xit" presetSubtype="4" fill="hold" grpId="1" nodeType="clickEffect">
                                  <p:stCondLst>
                                    <p:cond delay="0"/>
                                  </p:stCondLst>
                                  <p:childTnLst>
                                    <p:anim calcmode="lin" valueType="num">
                                      <p:cBhvr additive="base">
                                        <p:cTn id="174" dur="500"/>
                                        <p:tgtEl>
                                          <p:spTgt spid="26"/>
                                        </p:tgtEl>
                                        <p:attrNameLst>
                                          <p:attrName>ppt_x</p:attrName>
                                        </p:attrNameLst>
                                      </p:cBhvr>
                                      <p:tavLst>
                                        <p:tav tm="0">
                                          <p:val>
                                            <p:strVal val="ppt_x"/>
                                          </p:val>
                                        </p:tav>
                                        <p:tav tm="100000">
                                          <p:val>
                                            <p:strVal val="ppt_x"/>
                                          </p:val>
                                        </p:tav>
                                      </p:tavLst>
                                    </p:anim>
                                    <p:anim calcmode="lin" valueType="num">
                                      <p:cBhvr additive="base">
                                        <p:cTn id="175" dur="500"/>
                                        <p:tgtEl>
                                          <p:spTgt spid="26"/>
                                        </p:tgtEl>
                                        <p:attrNameLst>
                                          <p:attrName>ppt_y</p:attrName>
                                        </p:attrNameLst>
                                      </p:cBhvr>
                                      <p:tavLst>
                                        <p:tav tm="0">
                                          <p:val>
                                            <p:strVal val="ppt_y"/>
                                          </p:val>
                                        </p:tav>
                                        <p:tav tm="100000">
                                          <p:val>
                                            <p:strVal val="1+ppt_h/2"/>
                                          </p:val>
                                        </p:tav>
                                      </p:tavLst>
                                    </p:anim>
                                    <p:set>
                                      <p:cBhvr>
                                        <p:cTn id="176" dur="1" fill="hold">
                                          <p:stCondLst>
                                            <p:cond delay="499"/>
                                          </p:stCondLst>
                                        </p:cTn>
                                        <p:tgtEl>
                                          <p:spTgt spid="26"/>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2" presetClass="exit" presetSubtype="4" fill="hold" grpId="1" nodeType="clickEffect">
                                  <p:stCondLst>
                                    <p:cond delay="0"/>
                                  </p:stCondLst>
                                  <p:childTnLst>
                                    <p:anim calcmode="lin" valueType="num">
                                      <p:cBhvr additive="base">
                                        <p:cTn id="180" dur="500"/>
                                        <p:tgtEl>
                                          <p:spTgt spid="32"/>
                                        </p:tgtEl>
                                        <p:attrNameLst>
                                          <p:attrName>ppt_x</p:attrName>
                                        </p:attrNameLst>
                                      </p:cBhvr>
                                      <p:tavLst>
                                        <p:tav tm="0">
                                          <p:val>
                                            <p:strVal val="ppt_x"/>
                                          </p:val>
                                        </p:tav>
                                        <p:tav tm="100000">
                                          <p:val>
                                            <p:strVal val="ppt_x"/>
                                          </p:val>
                                        </p:tav>
                                      </p:tavLst>
                                    </p:anim>
                                    <p:anim calcmode="lin" valueType="num">
                                      <p:cBhvr additive="base">
                                        <p:cTn id="181" dur="500"/>
                                        <p:tgtEl>
                                          <p:spTgt spid="32"/>
                                        </p:tgtEl>
                                        <p:attrNameLst>
                                          <p:attrName>ppt_y</p:attrName>
                                        </p:attrNameLst>
                                      </p:cBhvr>
                                      <p:tavLst>
                                        <p:tav tm="0">
                                          <p:val>
                                            <p:strVal val="ppt_y"/>
                                          </p:val>
                                        </p:tav>
                                        <p:tav tm="100000">
                                          <p:val>
                                            <p:strVal val="1+ppt_h/2"/>
                                          </p:val>
                                        </p:tav>
                                      </p:tavLst>
                                    </p:anim>
                                    <p:set>
                                      <p:cBhvr>
                                        <p:cTn id="182" dur="1" fill="hold">
                                          <p:stCondLst>
                                            <p:cond delay="499"/>
                                          </p:stCondLst>
                                        </p:cTn>
                                        <p:tgtEl>
                                          <p:spTgt spid="32"/>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86" dur="250" autoRev="1" fill="remove"/>
                                        <p:tgtEl>
                                          <p:spTgt spid="12"/>
                                        </p:tgtEl>
                                        <p:attrNameLst>
                                          <p:attrName>style.color</p:attrName>
                                        </p:attrNameLst>
                                      </p:cBhvr>
                                      <p:to>
                                        <a:schemeClr val="bg1"/>
                                      </p:to>
                                    </p:animClr>
                                    <p:animClr clrSpc="rgb" dir="cw">
                                      <p:cBhvr>
                                        <p:cTn id="187" dur="250" autoRev="1" fill="remove"/>
                                        <p:tgtEl>
                                          <p:spTgt spid="12"/>
                                        </p:tgtEl>
                                        <p:attrNameLst>
                                          <p:attrName>fillcolor</p:attrName>
                                        </p:attrNameLst>
                                      </p:cBhvr>
                                      <p:to>
                                        <a:schemeClr val="bg1"/>
                                      </p:to>
                                    </p:animClr>
                                    <p:set>
                                      <p:cBhvr>
                                        <p:cTn id="188" dur="250" autoRev="1" fill="remove"/>
                                        <p:tgtEl>
                                          <p:spTgt spid="12"/>
                                        </p:tgtEl>
                                        <p:attrNameLst>
                                          <p:attrName>fill.type</p:attrName>
                                        </p:attrNameLst>
                                      </p:cBhvr>
                                      <p:to>
                                        <p:strVal val="solid"/>
                                      </p:to>
                                    </p:set>
                                    <p:set>
                                      <p:cBhvr>
                                        <p:cTn id="189" dur="250" autoRev="1" fill="remove"/>
                                        <p:tgtEl>
                                          <p:spTgt spid="12"/>
                                        </p:tgtEl>
                                        <p:attrNameLst>
                                          <p:attrName>fill.on</p:attrName>
                                        </p:attrNameLst>
                                      </p:cBhvr>
                                      <p:to>
                                        <p:strVal val="true"/>
                                      </p:to>
                                    </p:set>
                                  </p:childTnLst>
                                </p:cTn>
                              </p:par>
                              <p:par>
                                <p:cTn id="19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91" dur="250" autoRev="1" fill="remove"/>
                                        <p:tgtEl>
                                          <p:spTgt spid="11"/>
                                        </p:tgtEl>
                                        <p:attrNameLst>
                                          <p:attrName>style.color</p:attrName>
                                        </p:attrNameLst>
                                      </p:cBhvr>
                                      <p:to>
                                        <a:schemeClr val="bg1"/>
                                      </p:to>
                                    </p:animClr>
                                    <p:animClr clrSpc="rgb" dir="cw">
                                      <p:cBhvr>
                                        <p:cTn id="192" dur="250" autoRev="1" fill="remove"/>
                                        <p:tgtEl>
                                          <p:spTgt spid="11"/>
                                        </p:tgtEl>
                                        <p:attrNameLst>
                                          <p:attrName>fillcolor</p:attrName>
                                        </p:attrNameLst>
                                      </p:cBhvr>
                                      <p:to>
                                        <a:schemeClr val="bg1"/>
                                      </p:to>
                                    </p:animClr>
                                    <p:set>
                                      <p:cBhvr>
                                        <p:cTn id="193" dur="250" autoRev="1" fill="remove"/>
                                        <p:tgtEl>
                                          <p:spTgt spid="11"/>
                                        </p:tgtEl>
                                        <p:attrNameLst>
                                          <p:attrName>fill.type</p:attrName>
                                        </p:attrNameLst>
                                      </p:cBhvr>
                                      <p:to>
                                        <p:strVal val="solid"/>
                                      </p:to>
                                    </p:set>
                                    <p:set>
                                      <p:cBhvr>
                                        <p:cTn id="194" dur="250" autoRev="1" fill="remove"/>
                                        <p:tgtEl>
                                          <p:spTgt spid="11"/>
                                        </p:tgtEl>
                                        <p:attrNameLst>
                                          <p:attrName>fill.on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mph" presetSubtype="2" fill="hold" nodeType="clickEffect">
                                  <p:stCondLst>
                                    <p:cond delay="0"/>
                                  </p:stCondLst>
                                  <p:childTnLst>
                                    <p:animClr clrSpc="rgb" dir="cw">
                                      <p:cBhvr>
                                        <p:cTn id="198" dur="10" fill="hold"/>
                                        <p:tgtEl>
                                          <p:spTgt spid="12"/>
                                        </p:tgtEl>
                                        <p:attrNameLst>
                                          <p:attrName>fillcolor</p:attrName>
                                        </p:attrNameLst>
                                      </p:cBhvr>
                                      <p:to>
                                        <a:srgbClr val="00B0F0"/>
                                      </p:to>
                                    </p:animClr>
                                    <p:set>
                                      <p:cBhvr>
                                        <p:cTn id="199" dur="10" fill="hold"/>
                                        <p:tgtEl>
                                          <p:spTgt spid="12"/>
                                        </p:tgtEl>
                                        <p:attrNameLst>
                                          <p:attrName>fill.type</p:attrName>
                                        </p:attrNameLst>
                                      </p:cBhvr>
                                      <p:to>
                                        <p:strVal val="solid"/>
                                      </p:to>
                                    </p:set>
                                    <p:set>
                                      <p:cBhvr>
                                        <p:cTn id="200" dur="10" fill="hold"/>
                                        <p:tgtEl>
                                          <p:spTgt spid="12"/>
                                        </p:tgtEl>
                                        <p:attrNameLst>
                                          <p:attrName>fill.on</p:attrName>
                                        </p:attrNameLst>
                                      </p:cBhvr>
                                      <p:to>
                                        <p:strVal val="true"/>
                                      </p:to>
                                    </p:set>
                                  </p:childTnLst>
                                </p:cTn>
                              </p:par>
                              <p:par>
                                <p:cTn id="201" presetID="1" presetClass="emph" presetSubtype="2" fill="hold" nodeType="withEffect">
                                  <p:stCondLst>
                                    <p:cond delay="0"/>
                                  </p:stCondLst>
                                  <p:childTnLst>
                                    <p:animClr clrSpc="rgb" dir="cw">
                                      <p:cBhvr>
                                        <p:cTn id="202" dur="10" fill="hold"/>
                                        <p:tgtEl>
                                          <p:spTgt spid="11"/>
                                        </p:tgtEl>
                                        <p:attrNameLst>
                                          <p:attrName>fillcolor</p:attrName>
                                        </p:attrNameLst>
                                      </p:cBhvr>
                                      <p:to>
                                        <a:srgbClr val="00B0F0"/>
                                      </p:to>
                                    </p:animClr>
                                    <p:set>
                                      <p:cBhvr>
                                        <p:cTn id="203" dur="10" fill="hold"/>
                                        <p:tgtEl>
                                          <p:spTgt spid="11"/>
                                        </p:tgtEl>
                                        <p:attrNameLst>
                                          <p:attrName>fill.type</p:attrName>
                                        </p:attrNameLst>
                                      </p:cBhvr>
                                      <p:to>
                                        <p:strVal val="solid"/>
                                      </p:to>
                                    </p:set>
                                    <p:set>
                                      <p:cBhvr>
                                        <p:cTn id="204" dur="10" fill="hold"/>
                                        <p:tgtEl>
                                          <p:spTgt spid="11"/>
                                        </p:tgtEl>
                                        <p:attrNameLst>
                                          <p:attrName>fill.on</p:attrName>
                                        </p:attrNameLst>
                                      </p:cBhvr>
                                      <p:to>
                                        <p:strVal val="true"/>
                                      </p:to>
                                    </p:set>
                                  </p:childTnLst>
                                </p:cTn>
                              </p:par>
                              <p:par>
                                <p:cTn id="205" presetID="7" presetClass="emph" presetSubtype="2" fill="hold" nodeType="withEffect">
                                  <p:stCondLst>
                                    <p:cond delay="0"/>
                                  </p:stCondLst>
                                  <p:childTnLst>
                                    <p:animClr clrSpc="rgb" dir="cw">
                                      <p:cBhvr>
                                        <p:cTn id="206" dur="10" fill="hold"/>
                                        <p:tgtEl>
                                          <p:spTgt spid="22"/>
                                        </p:tgtEl>
                                        <p:attrNameLst>
                                          <p:attrName>stroke.color</p:attrName>
                                        </p:attrNameLst>
                                      </p:cBhvr>
                                      <p:to>
                                        <a:srgbClr val="B84742"/>
                                      </p:to>
                                    </p:animClr>
                                    <p:set>
                                      <p:cBhvr>
                                        <p:cTn id="207" dur="10" fill="hold"/>
                                        <p:tgtEl>
                                          <p:spTgt spid="22"/>
                                        </p:tgtEl>
                                        <p:attrNameLst>
                                          <p:attrName>stroke.on</p:attrName>
                                        </p:attrNameLst>
                                      </p:cBhvr>
                                      <p:to>
                                        <p:strVal val="true"/>
                                      </p:to>
                                    </p:set>
                                  </p:childTnLst>
                                </p:cTn>
                              </p:par>
                              <p:par>
                                <p:cTn id="208" presetID="7" presetClass="emph" presetSubtype="2" fill="hold" nodeType="withEffect">
                                  <p:stCondLst>
                                    <p:cond delay="0"/>
                                  </p:stCondLst>
                                  <p:childTnLst>
                                    <p:animClr clrSpc="rgb" dir="cw">
                                      <p:cBhvr>
                                        <p:cTn id="209" dur="10" fill="hold"/>
                                        <p:tgtEl>
                                          <p:spTgt spid="23"/>
                                        </p:tgtEl>
                                        <p:attrNameLst>
                                          <p:attrName>stroke.color</p:attrName>
                                        </p:attrNameLst>
                                      </p:cBhvr>
                                      <p:to>
                                        <a:srgbClr val="B84742"/>
                                      </p:to>
                                    </p:animClr>
                                    <p:set>
                                      <p:cBhvr>
                                        <p:cTn id="210" dur="10" fill="hold"/>
                                        <p:tgtEl>
                                          <p:spTgt spid="23"/>
                                        </p:tgtEl>
                                        <p:attrNameLst>
                                          <p:attrName>stroke.on</p:attrName>
                                        </p:attrNameLst>
                                      </p:cBhvr>
                                      <p:to>
                                        <p:strVal val="tru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4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4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 presetClass="entr" presetSubtype="2" fill="hold" grpId="0" nodeType="clickEffect">
                                  <p:stCondLst>
                                    <p:cond delay="0"/>
                                  </p:stCondLst>
                                  <p:childTnLst>
                                    <p:set>
                                      <p:cBhvr>
                                        <p:cTn id="222" dur="1" fill="hold">
                                          <p:stCondLst>
                                            <p:cond delay="0"/>
                                          </p:stCondLst>
                                        </p:cTn>
                                        <p:tgtEl>
                                          <p:spTgt spid="34"/>
                                        </p:tgtEl>
                                        <p:attrNameLst>
                                          <p:attrName>style.visibility</p:attrName>
                                        </p:attrNameLst>
                                      </p:cBhvr>
                                      <p:to>
                                        <p:strVal val="visible"/>
                                      </p:to>
                                    </p:set>
                                    <p:anim calcmode="lin" valueType="num">
                                      <p:cBhvr additive="base">
                                        <p:cTn id="223" dur="500" fill="hold"/>
                                        <p:tgtEl>
                                          <p:spTgt spid="34"/>
                                        </p:tgtEl>
                                        <p:attrNameLst>
                                          <p:attrName>ppt_x</p:attrName>
                                        </p:attrNameLst>
                                      </p:cBhvr>
                                      <p:tavLst>
                                        <p:tav tm="0">
                                          <p:val>
                                            <p:strVal val="1+#ppt_w/2"/>
                                          </p:val>
                                        </p:tav>
                                        <p:tav tm="100000">
                                          <p:val>
                                            <p:strVal val="#ppt_x"/>
                                          </p:val>
                                        </p:tav>
                                      </p:tavLst>
                                    </p:anim>
                                    <p:anim calcmode="lin" valueType="num">
                                      <p:cBhvr additive="base">
                                        <p:cTn id="2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2" fill="hold" grpId="0" nodeType="clickEffect">
                                  <p:stCondLst>
                                    <p:cond delay="0"/>
                                  </p:stCondLst>
                                  <p:childTnLst>
                                    <p:set>
                                      <p:cBhvr>
                                        <p:cTn id="228" dur="1" fill="hold">
                                          <p:stCondLst>
                                            <p:cond delay="0"/>
                                          </p:stCondLst>
                                        </p:cTn>
                                        <p:tgtEl>
                                          <p:spTgt spid="33"/>
                                        </p:tgtEl>
                                        <p:attrNameLst>
                                          <p:attrName>style.visibility</p:attrName>
                                        </p:attrNameLst>
                                      </p:cBhvr>
                                      <p:to>
                                        <p:strVal val="visible"/>
                                      </p:to>
                                    </p:set>
                                    <p:anim calcmode="lin" valueType="num">
                                      <p:cBhvr additive="base">
                                        <p:cTn id="229" dur="500" fill="hold"/>
                                        <p:tgtEl>
                                          <p:spTgt spid="33"/>
                                        </p:tgtEl>
                                        <p:attrNameLst>
                                          <p:attrName>ppt_x</p:attrName>
                                        </p:attrNameLst>
                                      </p:cBhvr>
                                      <p:tavLst>
                                        <p:tav tm="0">
                                          <p:val>
                                            <p:strVal val="1+#ppt_w/2"/>
                                          </p:val>
                                        </p:tav>
                                        <p:tav tm="100000">
                                          <p:val>
                                            <p:strVal val="#ppt_x"/>
                                          </p:val>
                                        </p:tav>
                                      </p:tavLst>
                                    </p:anim>
                                    <p:anim calcmode="lin" valueType="num">
                                      <p:cBhvr additive="base">
                                        <p:cTn id="230"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xit" presetSubtype="4" fill="hold" grpId="1" nodeType="clickEffect">
                                  <p:stCondLst>
                                    <p:cond delay="0"/>
                                  </p:stCondLst>
                                  <p:childTnLst>
                                    <p:anim calcmode="lin" valueType="num">
                                      <p:cBhvr additive="base">
                                        <p:cTn id="234" dur="500"/>
                                        <p:tgtEl>
                                          <p:spTgt spid="31"/>
                                        </p:tgtEl>
                                        <p:attrNameLst>
                                          <p:attrName>ppt_x</p:attrName>
                                        </p:attrNameLst>
                                      </p:cBhvr>
                                      <p:tavLst>
                                        <p:tav tm="0">
                                          <p:val>
                                            <p:strVal val="ppt_x"/>
                                          </p:val>
                                        </p:tav>
                                        <p:tav tm="100000">
                                          <p:val>
                                            <p:strVal val="ppt_x"/>
                                          </p:val>
                                        </p:tav>
                                      </p:tavLst>
                                    </p:anim>
                                    <p:anim calcmode="lin" valueType="num">
                                      <p:cBhvr additive="base">
                                        <p:cTn id="235" dur="500"/>
                                        <p:tgtEl>
                                          <p:spTgt spid="31"/>
                                        </p:tgtEl>
                                        <p:attrNameLst>
                                          <p:attrName>ppt_y</p:attrName>
                                        </p:attrNameLst>
                                      </p:cBhvr>
                                      <p:tavLst>
                                        <p:tav tm="0">
                                          <p:val>
                                            <p:strVal val="ppt_y"/>
                                          </p:val>
                                        </p:tav>
                                        <p:tav tm="100000">
                                          <p:val>
                                            <p:strVal val="1+ppt_h/2"/>
                                          </p:val>
                                        </p:tav>
                                      </p:tavLst>
                                    </p:anim>
                                    <p:set>
                                      <p:cBhvr>
                                        <p:cTn id="236" dur="1" fill="hold">
                                          <p:stCondLst>
                                            <p:cond delay="499"/>
                                          </p:stCondLst>
                                        </p:cTn>
                                        <p:tgtEl>
                                          <p:spTgt spid="31"/>
                                        </p:tgtEl>
                                        <p:attrNameLst>
                                          <p:attrName>style.visibility</p:attrName>
                                        </p:attrNameLst>
                                      </p:cBhvr>
                                      <p:to>
                                        <p:strVal val="hidden"/>
                                      </p:to>
                                    </p:set>
                                  </p:childTnLst>
                                </p:cTn>
                              </p:par>
                            </p:childTnLst>
                          </p:cTn>
                        </p:par>
                      </p:childTnLst>
                    </p:cTn>
                  </p:par>
                  <p:par>
                    <p:cTn id="237" fill="hold">
                      <p:stCondLst>
                        <p:cond delay="indefinite"/>
                      </p:stCondLst>
                      <p:childTnLst>
                        <p:par>
                          <p:cTn id="238" fill="hold">
                            <p:stCondLst>
                              <p:cond delay="0"/>
                            </p:stCondLst>
                            <p:childTnLst>
                              <p:par>
                                <p:cTn id="239" presetID="2" presetClass="exit" presetSubtype="4" fill="hold" grpId="1" nodeType="clickEffect">
                                  <p:stCondLst>
                                    <p:cond delay="0"/>
                                  </p:stCondLst>
                                  <p:childTnLst>
                                    <p:anim calcmode="lin" valueType="num">
                                      <p:cBhvr additive="base">
                                        <p:cTn id="240" dur="500"/>
                                        <p:tgtEl>
                                          <p:spTgt spid="30"/>
                                        </p:tgtEl>
                                        <p:attrNameLst>
                                          <p:attrName>ppt_x</p:attrName>
                                        </p:attrNameLst>
                                      </p:cBhvr>
                                      <p:tavLst>
                                        <p:tav tm="0">
                                          <p:val>
                                            <p:strVal val="ppt_x"/>
                                          </p:val>
                                        </p:tav>
                                        <p:tav tm="100000">
                                          <p:val>
                                            <p:strVal val="ppt_x"/>
                                          </p:val>
                                        </p:tav>
                                      </p:tavLst>
                                    </p:anim>
                                    <p:anim calcmode="lin" valueType="num">
                                      <p:cBhvr additive="base">
                                        <p:cTn id="241" dur="500"/>
                                        <p:tgtEl>
                                          <p:spTgt spid="30"/>
                                        </p:tgtEl>
                                        <p:attrNameLst>
                                          <p:attrName>ppt_y</p:attrName>
                                        </p:attrNameLst>
                                      </p:cBhvr>
                                      <p:tavLst>
                                        <p:tav tm="0">
                                          <p:val>
                                            <p:strVal val="ppt_y"/>
                                          </p:val>
                                        </p:tav>
                                        <p:tav tm="100000">
                                          <p:val>
                                            <p:strVal val="1+ppt_h/2"/>
                                          </p:val>
                                        </p:tav>
                                      </p:tavLst>
                                    </p:anim>
                                    <p:set>
                                      <p:cBhvr>
                                        <p:cTn id="242" dur="1" fill="hold">
                                          <p:stCondLst>
                                            <p:cond delay="499"/>
                                          </p:stCondLst>
                                        </p:cTn>
                                        <p:tgtEl>
                                          <p:spTgt spid="30"/>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2" presetClass="exit" presetSubtype="4" fill="hold" grpId="1" nodeType="clickEffect">
                                  <p:stCondLst>
                                    <p:cond delay="0"/>
                                  </p:stCondLst>
                                  <p:childTnLst>
                                    <p:anim calcmode="lin" valueType="num">
                                      <p:cBhvr additive="base">
                                        <p:cTn id="246" dur="500"/>
                                        <p:tgtEl>
                                          <p:spTgt spid="34"/>
                                        </p:tgtEl>
                                        <p:attrNameLst>
                                          <p:attrName>ppt_x</p:attrName>
                                        </p:attrNameLst>
                                      </p:cBhvr>
                                      <p:tavLst>
                                        <p:tav tm="0">
                                          <p:val>
                                            <p:strVal val="ppt_x"/>
                                          </p:val>
                                        </p:tav>
                                        <p:tav tm="100000">
                                          <p:val>
                                            <p:strVal val="ppt_x"/>
                                          </p:val>
                                        </p:tav>
                                      </p:tavLst>
                                    </p:anim>
                                    <p:anim calcmode="lin" valueType="num">
                                      <p:cBhvr additive="base">
                                        <p:cTn id="247" dur="500"/>
                                        <p:tgtEl>
                                          <p:spTgt spid="34"/>
                                        </p:tgtEl>
                                        <p:attrNameLst>
                                          <p:attrName>ppt_y</p:attrName>
                                        </p:attrNameLst>
                                      </p:cBhvr>
                                      <p:tavLst>
                                        <p:tav tm="0">
                                          <p:val>
                                            <p:strVal val="ppt_y"/>
                                          </p:val>
                                        </p:tav>
                                        <p:tav tm="100000">
                                          <p:val>
                                            <p:strVal val="1+ppt_h/2"/>
                                          </p:val>
                                        </p:tav>
                                      </p:tavLst>
                                    </p:anim>
                                    <p:set>
                                      <p:cBhvr>
                                        <p:cTn id="248" dur="1" fill="hold">
                                          <p:stCondLst>
                                            <p:cond delay="499"/>
                                          </p:stCondLst>
                                        </p:cTn>
                                        <p:tgtEl>
                                          <p:spTgt spid="34"/>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2" presetClass="exit" presetSubtype="4" fill="hold" grpId="1" nodeType="clickEffect">
                                  <p:stCondLst>
                                    <p:cond delay="0"/>
                                  </p:stCondLst>
                                  <p:childTnLst>
                                    <p:anim calcmode="lin" valueType="num">
                                      <p:cBhvr additive="base">
                                        <p:cTn id="252" dur="500"/>
                                        <p:tgtEl>
                                          <p:spTgt spid="33"/>
                                        </p:tgtEl>
                                        <p:attrNameLst>
                                          <p:attrName>ppt_x</p:attrName>
                                        </p:attrNameLst>
                                      </p:cBhvr>
                                      <p:tavLst>
                                        <p:tav tm="0">
                                          <p:val>
                                            <p:strVal val="ppt_x"/>
                                          </p:val>
                                        </p:tav>
                                        <p:tav tm="100000">
                                          <p:val>
                                            <p:strVal val="ppt_x"/>
                                          </p:val>
                                        </p:tav>
                                      </p:tavLst>
                                    </p:anim>
                                    <p:anim calcmode="lin" valueType="num">
                                      <p:cBhvr additive="base">
                                        <p:cTn id="253" dur="500"/>
                                        <p:tgtEl>
                                          <p:spTgt spid="33"/>
                                        </p:tgtEl>
                                        <p:attrNameLst>
                                          <p:attrName>ppt_y</p:attrName>
                                        </p:attrNameLst>
                                      </p:cBhvr>
                                      <p:tavLst>
                                        <p:tav tm="0">
                                          <p:val>
                                            <p:strVal val="ppt_y"/>
                                          </p:val>
                                        </p:tav>
                                        <p:tav tm="100000">
                                          <p:val>
                                            <p:strVal val="1+ppt_h/2"/>
                                          </p:val>
                                        </p:tav>
                                      </p:tavLst>
                                    </p:anim>
                                    <p:set>
                                      <p:cBhvr>
                                        <p:cTn id="254" dur="1" fill="hold">
                                          <p:stCondLst>
                                            <p:cond delay="499"/>
                                          </p:stCondLst>
                                        </p:cTn>
                                        <p:tgtEl>
                                          <p:spTgt spid="33"/>
                                        </p:tgtEl>
                                        <p:attrNameLst>
                                          <p:attrName>style.visibility</p:attrName>
                                        </p:attrNameLst>
                                      </p:cBhvr>
                                      <p:to>
                                        <p:strVal val="hidden"/>
                                      </p:to>
                                    </p:set>
                                  </p:childTnLst>
                                </p:cTn>
                              </p:par>
                            </p:childTnLst>
                          </p:cTn>
                        </p:par>
                        <p:par>
                          <p:cTn id="255" fill="hold">
                            <p:stCondLst>
                              <p:cond delay="500"/>
                            </p:stCondLst>
                            <p:childTnLst>
                              <p:par>
                                <p:cTn id="256" presetID="1" presetClass="exit" presetSubtype="0" fill="hold" nodeType="afterEffect">
                                  <p:stCondLst>
                                    <p:cond delay="0"/>
                                  </p:stCondLst>
                                  <p:childTnLst>
                                    <p:set>
                                      <p:cBhvr>
                                        <p:cTn id="257" dur="1" fill="hold">
                                          <p:stCondLst>
                                            <p:cond delay="0"/>
                                          </p:stCondLst>
                                        </p:cTn>
                                        <p:tgtEl>
                                          <p:spTgt spid="19"/>
                                        </p:tgtEl>
                                        <p:attrNameLst>
                                          <p:attrName>style.visibility</p:attrName>
                                        </p:attrNameLst>
                                      </p:cBhvr>
                                      <p:to>
                                        <p:strVal val="hidden"/>
                                      </p:to>
                                    </p:set>
                                  </p:childTnLst>
                                </p:cTn>
                              </p:par>
                              <p:par>
                                <p:cTn id="258" presetID="1" presetClass="exit" presetSubtype="0" fill="hold" nodeType="withEffect">
                                  <p:stCondLst>
                                    <p:cond delay="0"/>
                                  </p:stCondLst>
                                  <p:childTnLst>
                                    <p:set>
                                      <p:cBhvr>
                                        <p:cTn id="259" dur="1" fill="hold">
                                          <p:stCondLst>
                                            <p:cond delay="0"/>
                                          </p:stCondLst>
                                        </p:cTn>
                                        <p:tgtEl>
                                          <p:spTgt spid="16"/>
                                        </p:tgtEl>
                                        <p:attrNameLst>
                                          <p:attrName>style.visibility</p:attrName>
                                        </p:attrNameLst>
                                      </p:cBhvr>
                                      <p:to>
                                        <p:strVal val="hidden"/>
                                      </p:to>
                                    </p:set>
                                  </p:childTnLst>
                                </p:cTn>
                              </p:par>
                              <p:par>
                                <p:cTn id="260" presetID="1" presetClass="exit" presetSubtype="0" fill="hold" nodeType="withEffect">
                                  <p:stCondLst>
                                    <p:cond delay="0"/>
                                  </p:stCondLst>
                                  <p:childTnLst>
                                    <p:set>
                                      <p:cBhvr>
                                        <p:cTn id="261" dur="1" fill="hold">
                                          <p:stCondLst>
                                            <p:cond delay="0"/>
                                          </p:stCondLst>
                                        </p:cTn>
                                        <p:tgtEl>
                                          <p:spTgt spid="20"/>
                                        </p:tgtEl>
                                        <p:attrNameLst>
                                          <p:attrName>style.visibility</p:attrName>
                                        </p:attrNameLst>
                                      </p:cBhvr>
                                      <p:to>
                                        <p:strVal val="hidden"/>
                                      </p:to>
                                    </p:set>
                                  </p:childTnLst>
                                </p:cTn>
                              </p:par>
                              <p:par>
                                <p:cTn id="262" presetID="1" presetClass="exit" presetSubtype="0" fill="hold" nodeType="withEffect">
                                  <p:stCondLst>
                                    <p:cond delay="0"/>
                                  </p:stCondLst>
                                  <p:childTnLst>
                                    <p:set>
                                      <p:cBhvr>
                                        <p:cTn id="263"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24" grpId="0" animBg="1"/>
      <p:bldP spid="25" grpId="0" animBg="1"/>
      <p:bldP spid="26" grpId="0" animBg="1"/>
      <p:bldP spid="26" grpId="1" animBg="1"/>
      <p:bldP spid="27" grpId="0" animBg="1"/>
      <p:bldP spid="27" grpId="1" animBg="1"/>
      <p:bldP spid="28" grpId="0" animBg="1"/>
      <p:bldP spid="28" grpId="1" animBg="1"/>
      <p:bldP spid="29" grpId="0"/>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Corbel" panose="020B0503020204020204" pitchFamily="34" charset="0"/>
                <a:ea typeface="+mj-ea"/>
                <a:cs typeface="+mj-cs"/>
              </a:rPr>
              <a:t>DFS – Procedure </a:t>
            </a:r>
            <a:endParaRPr lang="en-IN" sz="3600" b="1" dirty="0">
              <a:solidFill>
                <a:prstClr val="white"/>
              </a:solidFill>
              <a:latin typeface="Corbel" panose="020B0503020204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7E52E7C-F1FC-BAA5-F3DB-12800027A587}"/>
              </a:ext>
            </a:extLst>
          </p:cNvPr>
          <p:cNvSpPr txBox="1"/>
          <p:nvPr/>
        </p:nvSpPr>
        <p:spPr>
          <a:xfrm>
            <a:off x="811161" y="1044052"/>
            <a:ext cx="6194322" cy="424732"/>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kumimoji="0" lang="en-US" sz="2400" b="1" i="0" u="none" strike="noStrike" kern="1200" cap="none" spc="0" normalizeH="0" baseline="0" noProof="0" dirty="0">
              <a:ln>
                <a:noFill/>
              </a:ln>
              <a:solidFill>
                <a:srgbClr val="FF0000"/>
              </a:solidFill>
              <a:effectLst/>
              <a:uLnTx/>
              <a:uFillTx/>
              <a:latin typeface="Corbel" panose="020B0503020204020204" pitchFamily="34" charset="0"/>
            </a:endParaRPr>
          </a:p>
        </p:txBody>
      </p:sp>
      <p:sp>
        <p:nvSpPr>
          <p:cNvPr id="6" name="Content Placeholder 2">
            <a:extLst>
              <a:ext uri="{FF2B5EF4-FFF2-40B4-BE49-F238E27FC236}">
                <a16:creationId xmlns:a16="http://schemas.microsoft.com/office/drawing/2014/main" id="{FCF42F45-E97C-BA77-9152-AF6ECD20C38E}"/>
              </a:ext>
            </a:extLst>
          </p:cNvPr>
          <p:cNvSpPr txBox="1">
            <a:spLocks/>
          </p:cNvSpPr>
          <p:nvPr/>
        </p:nvSpPr>
        <p:spPr>
          <a:xfrm>
            <a:off x="300621" y="998297"/>
            <a:ext cx="4381826" cy="5590565"/>
          </a:xfrm>
          <a:prstGeom prst="rect">
            <a:avLst/>
          </a:prstGeom>
          <a:solidFill>
            <a:schemeClr val="bg1"/>
          </a:solid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9pPr>
          </a:lstStyle>
          <a:p>
            <a:pPr marL="0" indent="0" algn="l"/>
            <a:r>
              <a:rPr lang="en-US" sz="2400" b="1" kern="0" dirty="0">
                <a:solidFill>
                  <a:srgbClr val="00B0F0"/>
                </a:solidFill>
                <a:latin typeface="Consolas" panose="020B0609020204030204" pitchFamily="49" charset="0"/>
              </a:rPr>
              <a:t>procedure search(G)</a:t>
            </a:r>
            <a:endParaRPr lang="en-IN" sz="2400" kern="0" dirty="0">
              <a:solidFill>
                <a:srgbClr val="00B0F0"/>
              </a:solidFill>
              <a:latin typeface="Consolas" panose="020B0609020204030204" pitchFamily="49" charset="0"/>
            </a:endParaRPr>
          </a:p>
          <a:p>
            <a:pPr marL="0" indent="0" algn="l"/>
            <a:r>
              <a:rPr lang="en-US" sz="2400" kern="0" dirty="0">
                <a:latin typeface="Consolas" panose="020B0609020204030204" pitchFamily="49" charset="0"/>
              </a:rPr>
              <a:t>   </a:t>
            </a:r>
            <a:r>
              <a:rPr lang="en-US" sz="2400" b="1" kern="0" dirty="0">
                <a:solidFill>
                  <a:schemeClr val="tx1"/>
                </a:solidFill>
                <a:latin typeface="Consolas" panose="020B0609020204030204" pitchFamily="49" charset="0"/>
              </a:rPr>
              <a:t>for</a:t>
            </a:r>
            <a:r>
              <a:rPr lang="en-US" sz="2400" kern="0" dirty="0">
                <a:solidFill>
                  <a:schemeClr val="tx1"/>
                </a:solidFill>
                <a:latin typeface="Consolas" panose="020B0609020204030204" pitchFamily="49" charset="0"/>
              </a:rPr>
              <a:t> each v Є N </a:t>
            </a:r>
            <a:r>
              <a:rPr lang="en-US" sz="2400" b="1" kern="0" dirty="0">
                <a:solidFill>
                  <a:schemeClr val="tx1"/>
                </a:solidFill>
                <a:latin typeface="Consolas" panose="020B0609020204030204" pitchFamily="49" charset="0"/>
              </a:rPr>
              <a:t>do</a:t>
            </a:r>
            <a:r>
              <a:rPr lang="en-US" sz="2400" kern="0" dirty="0">
                <a:solidFill>
                  <a:schemeClr val="tx1"/>
                </a:solidFill>
                <a:latin typeface="Consolas" panose="020B0609020204030204" pitchFamily="49" charset="0"/>
              </a:rPr>
              <a:t> </a:t>
            </a:r>
          </a:p>
          <a:p>
            <a:pPr marL="0" indent="0" algn="l"/>
            <a:r>
              <a:rPr lang="en-US" sz="2400" b="1" kern="0" dirty="0">
                <a:solidFill>
                  <a:schemeClr val="tx1"/>
                </a:solidFill>
                <a:latin typeface="Consolas" panose="020B0609020204030204" pitchFamily="49" charset="0"/>
              </a:rPr>
              <a:t>   	</a:t>
            </a:r>
            <a:r>
              <a:rPr lang="en-US" sz="2400" kern="0" dirty="0">
                <a:solidFill>
                  <a:schemeClr val="tx1"/>
                </a:solidFill>
                <a:latin typeface="Consolas" panose="020B0609020204030204" pitchFamily="49" charset="0"/>
              </a:rPr>
              <a:t>mark[v] ← not visited</a:t>
            </a:r>
            <a:endParaRPr lang="en-IN" sz="2400" kern="0" dirty="0">
              <a:solidFill>
                <a:schemeClr val="tx1"/>
              </a:solidFill>
              <a:latin typeface="Consolas" panose="020B0609020204030204" pitchFamily="49" charset="0"/>
            </a:endParaRPr>
          </a:p>
          <a:p>
            <a:pPr marL="0" indent="0" algn="l"/>
            <a:r>
              <a:rPr lang="en-US" sz="2400" kern="0" dirty="0">
                <a:solidFill>
                  <a:schemeClr val="tx1"/>
                </a:solidFill>
                <a:latin typeface="Consolas" panose="020B0609020204030204" pitchFamily="49" charset="0"/>
              </a:rPr>
              <a:t>   </a:t>
            </a:r>
            <a:r>
              <a:rPr lang="en-US" sz="2400" b="1" kern="0" dirty="0">
                <a:solidFill>
                  <a:schemeClr val="tx1"/>
                </a:solidFill>
                <a:latin typeface="Consolas" panose="020B0609020204030204" pitchFamily="49" charset="0"/>
              </a:rPr>
              <a:t>for</a:t>
            </a:r>
            <a:r>
              <a:rPr lang="en-US" sz="2400" kern="0" dirty="0">
                <a:solidFill>
                  <a:schemeClr val="tx1"/>
                </a:solidFill>
                <a:latin typeface="Consolas" panose="020B0609020204030204" pitchFamily="49" charset="0"/>
              </a:rPr>
              <a:t> each v Є N </a:t>
            </a:r>
            <a:r>
              <a:rPr lang="en-US" sz="2400" b="1" kern="0" dirty="0">
                <a:solidFill>
                  <a:schemeClr val="tx1"/>
                </a:solidFill>
                <a:latin typeface="Consolas" panose="020B0609020204030204" pitchFamily="49" charset="0"/>
              </a:rPr>
              <a:t>do</a:t>
            </a:r>
            <a:endParaRPr lang="en-US" sz="2400" kern="0" dirty="0">
              <a:solidFill>
                <a:schemeClr val="tx1"/>
              </a:solidFill>
              <a:latin typeface="Consolas" panose="020B0609020204030204" pitchFamily="49" charset="0"/>
            </a:endParaRPr>
          </a:p>
          <a:p>
            <a:pPr marL="0" indent="0" algn="l"/>
            <a:r>
              <a:rPr lang="en-US" sz="2400" b="1" kern="0" dirty="0">
                <a:solidFill>
                  <a:schemeClr val="tx1"/>
                </a:solidFill>
                <a:latin typeface="Consolas" panose="020B0609020204030204" pitchFamily="49" charset="0"/>
              </a:rPr>
              <a:t>   	if </a:t>
            </a:r>
            <a:r>
              <a:rPr lang="en-US" sz="2400" kern="0" dirty="0">
                <a:solidFill>
                  <a:schemeClr val="tx1"/>
                </a:solidFill>
                <a:latin typeface="Consolas" panose="020B0609020204030204" pitchFamily="49" charset="0"/>
              </a:rPr>
              <a:t>mark[v] ≠ visited </a:t>
            </a:r>
          </a:p>
          <a:p>
            <a:pPr marL="0" indent="0" algn="l"/>
            <a:r>
              <a:rPr lang="en-US" sz="2400" b="1" kern="0" dirty="0">
                <a:solidFill>
                  <a:schemeClr val="tx1"/>
                </a:solidFill>
                <a:latin typeface="Consolas" panose="020B0609020204030204" pitchFamily="49" charset="0"/>
              </a:rPr>
              <a:t>   	then</a:t>
            </a:r>
            <a:r>
              <a:rPr lang="en-US" sz="2400" kern="0" dirty="0">
                <a:solidFill>
                  <a:schemeClr val="tx1"/>
                </a:solidFill>
                <a:latin typeface="Consolas" panose="020B0609020204030204" pitchFamily="49" charset="0"/>
              </a:rPr>
              <a:t> </a:t>
            </a:r>
            <a:r>
              <a:rPr lang="en-US" sz="2400" b="1" kern="0" dirty="0" err="1">
                <a:solidFill>
                  <a:srgbClr val="00B0F0"/>
                </a:solidFill>
                <a:latin typeface="Consolas" panose="020B0609020204030204" pitchFamily="49" charset="0"/>
              </a:rPr>
              <a:t>bfs</a:t>
            </a:r>
            <a:r>
              <a:rPr lang="en-US" sz="2400" b="1" kern="0" dirty="0">
                <a:solidFill>
                  <a:srgbClr val="00B0F0"/>
                </a:solidFill>
                <a:latin typeface="Consolas" panose="020B0609020204030204" pitchFamily="49" charset="0"/>
              </a:rPr>
              <a:t>(v)</a:t>
            </a:r>
            <a:endParaRPr lang="en-US" b="1" kern="0" dirty="0">
              <a:solidFill>
                <a:srgbClr val="00B0F0"/>
              </a:solidFill>
            </a:endParaRPr>
          </a:p>
        </p:txBody>
      </p:sp>
      <p:sp>
        <p:nvSpPr>
          <p:cNvPr id="8" name="TextBox 7">
            <a:extLst>
              <a:ext uri="{FF2B5EF4-FFF2-40B4-BE49-F238E27FC236}">
                <a16:creationId xmlns:a16="http://schemas.microsoft.com/office/drawing/2014/main" id="{B9410F35-B513-19EE-353D-A0729A6BEE68}"/>
              </a:ext>
            </a:extLst>
          </p:cNvPr>
          <p:cNvSpPr txBox="1"/>
          <p:nvPr/>
        </p:nvSpPr>
        <p:spPr>
          <a:xfrm>
            <a:off x="5081677" y="980130"/>
            <a:ext cx="6535270" cy="5437386"/>
          </a:xfrm>
          <a:prstGeom prst="rect">
            <a:avLst/>
          </a:prstGeom>
          <a:noFill/>
        </p:spPr>
        <p:txBody>
          <a:bodyPr wrap="square" rtlCol="0">
            <a:spAutoFit/>
          </a:bodyPr>
          <a:lstStyle/>
          <a:p>
            <a:pPr>
              <a:spcBef>
                <a:spcPts val="1000"/>
              </a:spcBef>
            </a:pPr>
            <a:r>
              <a:rPr lang="en-US" sz="2400" b="1" dirty="0">
                <a:solidFill>
                  <a:srgbClr val="00B0F0"/>
                </a:solidFill>
                <a:latin typeface="Consolas" panose="020B0609020204030204" pitchFamily="49" charset="0"/>
              </a:rPr>
              <a:t>procedure </a:t>
            </a:r>
            <a:r>
              <a:rPr lang="en-US" sz="2400" b="1" dirty="0" err="1">
                <a:solidFill>
                  <a:srgbClr val="00B0F0"/>
                </a:solidFill>
                <a:latin typeface="Consolas" panose="020B0609020204030204" pitchFamily="49" charset="0"/>
              </a:rPr>
              <a:t>bfs</a:t>
            </a:r>
            <a:r>
              <a:rPr lang="en-US" sz="2400" b="1" dirty="0">
                <a:solidFill>
                  <a:srgbClr val="00B0F0"/>
                </a:solidFill>
                <a:latin typeface="Consolas" panose="020B0609020204030204" pitchFamily="49" charset="0"/>
              </a:rPr>
              <a:t>(v)</a:t>
            </a:r>
            <a:endParaRPr lang="en-IN" sz="2400" dirty="0">
              <a:solidFill>
                <a:srgbClr val="00B0F0"/>
              </a:solidFill>
              <a:latin typeface="Consolas" panose="020B0609020204030204" pitchFamily="49" charset="0"/>
            </a:endParaRPr>
          </a:p>
          <a:p>
            <a:pPr>
              <a:spcBef>
                <a:spcPts val="1000"/>
              </a:spcBef>
            </a:pPr>
            <a:r>
              <a:rPr lang="en-IN" sz="2400" dirty="0">
                <a:solidFill>
                  <a:srgbClr val="F9C5D7"/>
                </a:solidFill>
                <a:latin typeface="Consolas" panose="020B0609020204030204" pitchFamily="49" charset="0"/>
              </a:rPr>
              <a:t>   </a:t>
            </a:r>
            <a:r>
              <a:rPr lang="en-US" sz="2400" dirty="0">
                <a:latin typeface="Consolas" panose="020B0609020204030204" pitchFamily="49" charset="0"/>
              </a:rPr>
              <a:t>Q ← empty-queue</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mark[v] ← visited</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enqueue</a:t>
            </a:r>
            <a:r>
              <a:rPr lang="en-US" sz="2400" dirty="0">
                <a:latin typeface="Consolas" panose="020B0609020204030204" pitchFamily="49" charset="0"/>
              </a:rPr>
              <a:t> v into 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a:latin typeface="Consolas" panose="020B0609020204030204" pitchFamily="49" charset="0"/>
              </a:rPr>
              <a:t>while</a:t>
            </a:r>
            <a:r>
              <a:rPr lang="en-US" sz="2400" dirty="0">
                <a:latin typeface="Consolas" panose="020B0609020204030204" pitchFamily="49" charset="0"/>
              </a:rPr>
              <a:t> Q is not empty </a:t>
            </a:r>
            <a:r>
              <a:rPr lang="en-US" sz="2400" b="1" dirty="0">
                <a:latin typeface="Consolas" panose="020B0609020204030204" pitchFamily="49" charset="0"/>
              </a:rPr>
              <a:t>do</a:t>
            </a:r>
            <a:r>
              <a:rPr lang="en-US" sz="2400" dirty="0">
                <a:latin typeface="Consolas" panose="020B0609020204030204" pitchFamily="49" charset="0"/>
              </a:rPr>
              <a:t> </a:t>
            </a:r>
          </a:p>
          <a:p>
            <a:pPr>
              <a:spcBef>
                <a:spcPts val="1000"/>
              </a:spcBef>
            </a:pPr>
            <a:r>
              <a:rPr lang="en-US" sz="2400" dirty="0">
                <a:latin typeface="Consolas" panose="020B0609020204030204" pitchFamily="49" charset="0"/>
              </a:rPr>
              <a:t>	u ← first(Q)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dequeue</a:t>
            </a:r>
            <a:r>
              <a:rPr lang="en-US" sz="2400" dirty="0">
                <a:latin typeface="Consolas" panose="020B0609020204030204" pitchFamily="49" charset="0"/>
              </a:rPr>
              <a:t> u from 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a:latin typeface="Consolas" panose="020B0609020204030204" pitchFamily="49" charset="0"/>
              </a:rPr>
              <a:t>for each</a:t>
            </a:r>
            <a:r>
              <a:rPr lang="en-US" sz="2400" dirty="0">
                <a:latin typeface="Consolas" panose="020B0609020204030204" pitchFamily="49" charset="0"/>
              </a:rPr>
              <a:t> node w adjacent to u </a:t>
            </a:r>
            <a:r>
              <a:rPr lang="en-US" sz="2400" b="1" dirty="0">
                <a:latin typeface="Consolas" panose="020B0609020204030204" pitchFamily="49" charset="0"/>
              </a:rPr>
              <a:t>do</a:t>
            </a:r>
            <a:endParaRPr lang="en-US" sz="2400" dirty="0">
              <a:latin typeface="Consolas" panose="020B0609020204030204" pitchFamily="49" charset="0"/>
            </a:endParaRPr>
          </a:p>
          <a:p>
            <a:pPr>
              <a:spcBef>
                <a:spcPts val="1000"/>
              </a:spcBef>
            </a:pPr>
            <a:r>
              <a:rPr lang="en-US" sz="2400" b="1" dirty="0">
                <a:latin typeface="Consolas" panose="020B0609020204030204" pitchFamily="49" charset="0"/>
              </a:rPr>
              <a:t>      	if </a:t>
            </a:r>
            <a:r>
              <a:rPr lang="en-US" sz="2400" dirty="0">
                <a:latin typeface="Consolas" panose="020B0609020204030204" pitchFamily="49" charset="0"/>
              </a:rPr>
              <a:t>mark[w] ≠ visited </a:t>
            </a:r>
          </a:p>
          <a:p>
            <a:pPr>
              <a:spcBef>
                <a:spcPts val="1000"/>
              </a:spcBef>
            </a:pPr>
            <a:r>
              <a:rPr lang="en-US" sz="2400" b="1" dirty="0">
                <a:latin typeface="Consolas" panose="020B0609020204030204" pitchFamily="49" charset="0"/>
              </a:rPr>
              <a:t>         	then</a:t>
            </a:r>
            <a:r>
              <a:rPr lang="en-US" sz="2400" dirty="0">
                <a:latin typeface="Consolas" panose="020B0609020204030204" pitchFamily="49" charset="0"/>
              </a:rPr>
              <a:t> mark[w] ← visited</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enqueue</a:t>
            </a:r>
            <a:r>
              <a:rPr lang="en-US" sz="2400" dirty="0">
                <a:latin typeface="Consolas" panose="020B0609020204030204" pitchFamily="49" charset="0"/>
              </a:rPr>
              <a:t> w into Q</a:t>
            </a:r>
            <a:endParaRPr lang="en-IN" sz="2400" dirty="0">
              <a:latin typeface="Consolas" panose="020B0609020204030204" pitchFamily="49" charset="0"/>
            </a:endParaRPr>
          </a:p>
        </p:txBody>
      </p:sp>
      <p:cxnSp>
        <p:nvCxnSpPr>
          <p:cNvPr id="9" name="Straight Connector 8">
            <a:extLst>
              <a:ext uri="{FF2B5EF4-FFF2-40B4-BE49-F238E27FC236}">
                <a16:creationId xmlns:a16="http://schemas.microsoft.com/office/drawing/2014/main" id="{AE1005A2-DC70-DA6F-A0FC-9432B9238C75}"/>
              </a:ext>
            </a:extLst>
          </p:cNvPr>
          <p:cNvCxnSpPr/>
          <p:nvPr/>
        </p:nvCxnSpPr>
        <p:spPr>
          <a:xfrm flipH="1">
            <a:off x="4988862" y="927847"/>
            <a:ext cx="0" cy="548640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9998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500"/>
                                        <p:tgtEl>
                                          <p:spTgt spid="6">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1500"/>
                                        <p:tgtEl>
                                          <p:spTgt spid="9"/>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fade">
                                      <p:cBhvr>
                                        <p:cTn id="36" dur="500"/>
                                        <p:tgtEl>
                                          <p:spTgt spid="8">
                                            <p:txEl>
                                              <p:pRg st="0" end="0"/>
                                            </p:txEl>
                                          </p:spTgt>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Effect transition="in" filter="fade">
                                      <p:cBhvr>
                                        <p:cTn id="40" dur="500"/>
                                        <p:tgtEl>
                                          <p:spTgt spid="8">
                                            <p:txEl>
                                              <p:pRg st="1" end="1"/>
                                            </p:txEl>
                                          </p:spTgt>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animEffect transition="in" filter="fade">
                                      <p:cBhvr>
                                        <p:cTn id="44" dur="500"/>
                                        <p:tgtEl>
                                          <p:spTgt spid="8">
                                            <p:txEl>
                                              <p:pRg st="2" end="2"/>
                                            </p:txEl>
                                          </p:spTgt>
                                        </p:tgtEl>
                                      </p:cBhvr>
                                    </p:animEffect>
                                  </p:childTnLst>
                                </p:cTn>
                              </p:par>
                            </p:childTnLst>
                          </p:cTn>
                        </p:par>
                        <p:par>
                          <p:cTn id="45" fill="hold">
                            <p:stCondLst>
                              <p:cond delay="3000"/>
                            </p:stCondLst>
                            <p:childTnLst>
                              <p:par>
                                <p:cTn id="46" presetID="10" presetClass="entr" presetSubtype="0" fill="hold" nodeType="after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animEffect transition="in" filter="fade">
                                      <p:cBhvr>
                                        <p:cTn id="48" dur="500"/>
                                        <p:tgtEl>
                                          <p:spTgt spid="8">
                                            <p:txEl>
                                              <p:pRg st="3" end="3"/>
                                            </p:txEl>
                                          </p:spTgt>
                                        </p:tgtEl>
                                      </p:cBhvr>
                                    </p:animEffect>
                                  </p:childTnLst>
                                </p:cTn>
                              </p:par>
                            </p:childTnLst>
                          </p:cTn>
                        </p:par>
                        <p:par>
                          <p:cTn id="49" fill="hold">
                            <p:stCondLst>
                              <p:cond delay="3500"/>
                            </p:stCondLst>
                            <p:childTnLst>
                              <p:par>
                                <p:cTn id="50" presetID="10" presetClass="entr" presetSubtype="0" fill="hold" nodeType="after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fade">
                                      <p:cBhvr>
                                        <p:cTn id="52" dur="500"/>
                                        <p:tgtEl>
                                          <p:spTgt spid="8">
                                            <p:txEl>
                                              <p:pRg st="4" end="4"/>
                                            </p:txEl>
                                          </p:spTgt>
                                        </p:tgtEl>
                                      </p:cBhvr>
                                    </p:animEffect>
                                  </p:childTnLst>
                                </p:cTn>
                              </p:par>
                            </p:childTnLst>
                          </p:cTn>
                        </p:par>
                        <p:par>
                          <p:cTn id="53" fill="hold">
                            <p:stCondLst>
                              <p:cond delay="4000"/>
                            </p:stCondLst>
                            <p:childTnLst>
                              <p:par>
                                <p:cTn id="54" presetID="10" presetClass="entr" presetSubtype="0" fill="hold" nodeType="afterEffect">
                                  <p:stCondLst>
                                    <p:cond delay="0"/>
                                  </p:stCondLst>
                                  <p:childTnLst>
                                    <p:set>
                                      <p:cBhvr>
                                        <p:cTn id="55" dur="1" fill="hold">
                                          <p:stCondLst>
                                            <p:cond delay="0"/>
                                          </p:stCondLst>
                                        </p:cTn>
                                        <p:tgtEl>
                                          <p:spTgt spid="8">
                                            <p:txEl>
                                              <p:pRg st="5" end="5"/>
                                            </p:txEl>
                                          </p:spTgt>
                                        </p:tgtEl>
                                        <p:attrNameLst>
                                          <p:attrName>style.visibility</p:attrName>
                                        </p:attrNameLst>
                                      </p:cBhvr>
                                      <p:to>
                                        <p:strVal val="visible"/>
                                      </p:to>
                                    </p:set>
                                    <p:animEffect transition="in" filter="fade">
                                      <p:cBhvr>
                                        <p:cTn id="56" dur="500"/>
                                        <p:tgtEl>
                                          <p:spTgt spid="8">
                                            <p:txEl>
                                              <p:pRg st="5" end="5"/>
                                            </p:txEl>
                                          </p:spTgt>
                                        </p:tgtEl>
                                      </p:cBhvr>
                                    </p:animEffect>
                                  </p:childTnLst>
                                </p:cTn>
                              </p:par>
                            </p:childTnLst>
                          </p:cTn>
                        </p:par>
                        <p:par>
                          <p:cTn id="57" fill="hold">
                            <p:stCondLst>
                              <p:cond delay="4500"/>
                            </p:stCondLst>
                            <p:childTnLst>
                              <p:par>
                                <p:cTn id="58" presetID="10" presetClass="entr" presetSubtype="0" fill="hold" nodeType="afterEffect">
                                  <p:stCondLst>
                                    <p:cond delay="0"/>
                                  </p:stCondLst>
                                  <p:childTnLst>
                                    <p:set>
                                      <p:cBhvr>
                                        <p:cTn id="59" dur="1" fill="hold">
                                          <p:stCondLst>
                                            <p:cond delay="0"/>
                                          </p:stCondLst>
                                        </p:cTn>
                                        <p:tgtEl>
                                          <p:spTgt spid="8">
                                            <p:txEl>
                                              <p:pRg st="6" end="6"/>
                                            </p:txEl>
                                          </p:spTgt>
                                        </p:tgtEl>
                                        <p:attrNameLst>
                                          <p:attrName>style.visibility</p:attrName>
                                        </p:attrNameLst>
                                      </p:cBhvr>
                                      <p:to>
                                        <p:strVal val="visible"/>
                                      </p:to>
                                    </p:set>
                                    <p:animEffect transition="in" filter="fade">
                                      <p:cBhvr>
                                        <p:cTn id="60" dur="500"/>
                                        <p:tgtEl>
                                          <p:spTgt spid="8">
                                            <p:txEl>
                                              <p:pRg st="6" end="6"/>
                                            </p:txEl>
                                          </p:spTgt>
                                        </p:tgtEl>
                                      </p:cBhvr>
                                    </p:animEffect>
                                  </p:childTnLst>
                                </p:cTn>
                              </p:par>
                            </p:childTnLst>
                          </p:cTn>
                        </p:par>
                        <p:par>
                          <p:cTn id="61" fill="hold">
                            <p:stCondLst>
                              <p:cond delay="5000"/>
                            </p:stCondLst>
                            <p:childTnLst>
                              <p:par>
                                <p:cTn id="62" presetID="10" presetClass="entr" presetSubtype="0" fill="hold" nodeType="afterEffect">
                                  <p:stCondLst>
                                    <p:cond delay="0"/>
                                  </p:stCondLst>
                                  <p:childTnLst>
                                    <p:set>
                                      <p:cBhvr>
                                        <p:cTn id="63" dur="1" fill="hold">
                                          <p:stCondLst>
                                            <p:cond delay="0"/>
                                          </p:stCondLst>
                                        </p:cTn>
                                        <p:tgtEl>
                                          <p:spTgt spid="8">
                                            <p:txEl>
                                              <p:pRg st="7" end="7"/>
                                            </p:txEl>
                                          </p:spTgt>
                                        </p:tgtEl>
                                        <p:attrNameLst>
                                          <p:attrName>style.visibility</p:attrName>
                                        </p:attrNameLst>
                                      </p:cBhvr>
                                      <p:to>
                                        <p:strVal val="visible"/>
                                      </p:to>
                                    </p:set>
                                    <p:animEffect transition="in" filter="fade">
                                      <p:cBhvr>
                                        <p:cTn id="64" dur="500"/>
                                        <p:tgtEl>
                                          <p:spTgt spid="8">
                                            <p:txEl>
                                              <p:pRg st="7" end="7"/>
                                            </p:txEl>
                                          </p:spTgt>
                                        </p:tgtEl>
                                      </p:cBhvr>
                                    </p:animEffect>
                                  </p:childTnLst>
                                </p:cTn>
                              </p:par>
                            </p:childTnLst>
                          </p:cTn>
                        </p:par>
                        <p:par>
                          <p:cTn id="65" fill="hold">
                            <p:stCondLst>
                              <p:cond delay="5500"/>
                            </p:stCondLst>
                            <p:childTnLst>
                              <p:par>
                                <p:cTn id="66" presetID="10" presetClass="entr" presetSubtype="0" fill="hold" nodeType="afterEffect">
                                  <p:stCondLst>
                                    <p:cond delay="0"/>
                                  </p:stCondLst>
                                  <p:childTnLst>
                                    <p:set>
                                      <p:cBhvr>
                                        <p:cTn id="67" dur="1" fill="hold">
                                          <p:stCondLst>
                                            <p:cond delay="0"/>
                                          </p:stCondLst>
                                        </p:cTn>
                                        <p:tgtEl>
                                          <p:spTgt spid="8">
                                            <p:txEl>
                                              <p:pRg st="8" end="8"/>
                                            </p:txEl>
                                          </p:spTgt>
                                        </p:tgtEl>
                                        <p:attrNameLst>
                                          <p:attrName>style.visibility</p:attrName>
                                        </p:attrNameLst>
                                      </p:cBhvr>
                                      <p:to>
                                        <p:strVal val="visible"/>
                                      </p:to>
                                    </p:set>
                                    <p:animEffect transition="in" filter="fade">
                                      <p:cBhvr>
                                        <p:cTn id="68" dur="500"/>
                                        <p:tgtEl>
                                          <p:spTgt spid="8">
                                            <p:txEl>
                                              <p:pRg st="8" end="8"/>
                                            </p:txEl>
                                          </p:spTgt>
                                        </p:tgtEl>
                                      </p:cBhvr>
                                    </p:animEffect>
                                  </p:childTnLst>
                                </p:cTn>
                              </p:par>
                            </p:childTnLst>
                          </p:cTn>
                        </p:par>
                        <p:par>
                          <p:cTn id="69" fill="hold">
                            <p:stCondLst>
                              <p:cond delay="6000"/>
                            </p:stCondLst>
                            <p:childTnLst>
                              <p:par>
                                <p:cTn id="70" presetID="10" presetClass="entr" presetSubtype="0" fill="hold" nodeType="afterEffect">
                                  <p:stCondLst>
                                    <p:cond delay="0"/>
                                  </p:stCondLst>
                                  <p:childTnLst>
                                    <p:set>
                                      <p:cBhvr>
                                        <p:cTn id="71" dur="1" fill="hold">
                                          <p:stCondLst>
                                            <p:cond delay="0"/>
                                          </p:stCondLst>
                                        </p:cTn>
                                        <p:tgtEl>
                                          <p:spTgt spid="8">
                                            <p:txEl>
                                              <p:pRg st="9" end="9"/>
                                            </p:txEl>
                                          </p:spTgt>
                                        </p:tgtEl>
                                        <p:attrNameLst>
                                          <p:attrName>style.visibility</p:attrName>
                                        </p:attrNameLst>
                                      </p:cBhvr>
                                      <p:to>
                                        <p:strVal val="visible"/>
                                      </p:to>
                                    </p:set>
                                    <p:animEffect transition="in" filter="fade">
                                      <p:cBhvr>
                                        <p:cTn id="72" dur="500"/>
                                        <p:tgtEl>
                                          <p:spTgt spid="8">
                                            <p:txEl>
                                              <p:pRg st="9" end="9"/>
                                            </p:txEl>
                                          </p:spTgt>
                                        </p:tgtEl>
                                      </p:cBhvr>
                                    </p:animEffect>
                                  </p:childTnLst>
                                </p:cTn>
                              </p:par>
                            </p:childTnLst>
                          </p:cTn>
                        </p:par>
                        <p:par>
                          <p:cTn id="73" fill="hold">
                            <p:stCondLst>
                              <p:cond delay="6500"/>
                            </p:stCondLst>
                            <p:childTnLst>
                              <p:par>
                                <p:cTn id="74" presetID="10" presetClass="entr" presetSubtype="0" fill="hold" nodeType="afterEffect">
                                  <p:stCondLst>
                                    <p:cond delay="0"/>
                                  </p:stCondLst>
                                  <p:childTnLst>
                                    <p:set>
                                      <p:cBhvr>
                                        <p:cTn id="75" dur="1" fill="hold">
                                          <p:stCondLst>
                                            <p:cond delay="0"/>
                                          </p:stCondLst>
                                        </p:cTn>
                                        <p:tgtEl>
                                          <p:spTgt spid="8">
                                            <p:txEl>
                                              <p:pRg st="10" end="10"/>
                                            </p:txEl>
                                          </p:spTgt>
                                        </p:tgtEl>
                                        <p:attrNameLst>
                                          <p:attrName>style.visibility</p:attrName>
                                        </p:attrNameLst>
                                      </p:cBhvr>
                                      <p:to>
                                        <p:strVal val="visible"/>
                                      </p:to>
                                    </p:set>
                                    <p:animEffect transition="in" filter="fade">
                                      <p:cBhvr>
                                        <p:cTn id="76"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Corbel" panose="020B0503020204020204" pitchFamily="34" charset="0"/>
                <a:ea typeface="+mj-ea"/>
                <a:cs typeface="+mj-cs"/>
              </a:rPr>
              <a:t>Comparison of DFS and BFS </a:t>
            </a:r>
            <a:endParaRPr lang="en-IN" sz="3600" b="1" dirty="0">
              <a:solidFill>
                <a:prstClr val="white"/>
              </a:solidFill>
              <a:latin typeface="Corbel" panose="020B0503020204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Rectangle 4">
            <a:extLst>
              <a:ext uri="{FF2B5EF4-FFF2-40B4-BE49-F238E27FC236}">
                <a16:creationId xmlns:a16="http://schemas.microsoft.com/office/drawing/2014/main" id="{3D432A66-EDC0-6592-89B0-779D015791CF}"/>
              </a:ext>
            </a:extLst>
          </p:cNvPr>
          <p:cNvSpPr/>
          <p:nvPr/>
        </p:nvSpPr>
        <p:spPr>
          <a:xfrm>
            <a:off x="138454" y="1466286"/>
            <a:ext cx="11808822" cy="4910101"/>
          </a:xfrm>
          <a:prstGeom prst="rect">
            <a:avLst/>
          </a:prstGeom>
          <a:noFill/>
          <a:ln w="38100" cap="flat" cmpd="sng" algn="ctr">
            <a:solidFill>
              <a:srgbClr val="90909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077FB266-1207-CB7F-1B80-089FB2F632C9}"/>
              </a:ext>
            </a:extLst>
          </p:cNvPr>
          <p:cNvSpPr txBox="1"/>
          <p:nvPr/>
        </p:nvSpPr>
        <p:spPr>
          <a:xfrm>
            <a:off x="244724" y="1466286"/>
            <a:ext cx="11754041" cy="461665"/>
          </a:xfrm>
          <a:prstGeom prst="rect">
            <a:avLst/>
          </a:prstGeom>
          <a:solidFill>
            <a:srgbClr val="00BBD3">
              <a:lumMod val="20000"/>
              <a:lumOff val="80000"/>
            </a:srgbClr>
          </a:solidFill>
        </p:spPr>
        <p:txBody>
          <a:bodyPr wrap="square" rtlCol="0">
            <a:spAutoFit/>
          </a:bodyPr>
          <a:lstStyle/>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Depth First Search (DFS)	</a:t>
            </a: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Breath First Search (BFS)</a:t>
            </a:r>
            <a:endParaRPr kumimoji="0" lang="en-US" sz="2400" b="0" i="0" u="none" strike="noStrike" kern="0" cap="none" spc="0" normalizeH="0" baseline="0" noProof="0" dirty="0">
              <a:ln>
                <a:noFill/>
              </a:ln>
              <a:solidFill>
                <a:srgbClr val="212121"/>
              </a:solidFill>
              <a:effectLst/>
              <a:uLnTx/>
              <a:uFillTx/>
              <a:latin typeface="Roboto Condensed"/>
            </a:endParaRPr>
          </a:p>
        </p:txBody>
      </p:sp>
      <p:sp>
        <p:nvSpPr>
          <p:cNvPr id="8" name="TextBox 7">
            <a:extLst>
              <a:ext uri="{FF2B5EF4-FFF2-40B4-BE49-F238E27FC236}">
                <a16:creationId xmlns:a16="http://schemas.microsoft.com/office/drawing/2014/main" id="{9765047B-F9AE-8C71-6961-0448B111380A}"/>
              </a:ext>
            </a:extLst>
          </p:cNvPr>
          <p:cNvSpPr txBox="1"/>
          <p:nvPr/>
        </p:nvSpPr>
        <p:spPr>
          <a:xfrm>
            <a:off x="461188" y="2016405"/>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DFS traverses according to </a:t>
            </a:r>
            <a:r>
              <a:rPr lang="en-US" sz="2200" dirty="0">
                <a:solidFill>
                  <a:srgbClr val="AD1457"/>
                </a:solidFill>
                <a:latin typeface="Roboto Condensed"/>
              </a:rPr>
              <a:t>tree depth</a:t>
            </a:r>
            <a:r>
              <a:rPr lang="en-US" sz="2200" dirty="0">
                <a:solidFill>
                  <a:srgbClr val="212121"/>
                </a:solidFill>
                <a:latin typeface="Roboto Condensed"/>
              </a:rPr>
              <a:t>. DFS reaches up to the bottom of a subtree, then backtracks.</a:t>
            </a:r>
          </a:p>
        </p:txBody>
      </p:sp>
      <p:sp>
        <p:nvSpPr>
          <p:cNvPr id="9" name="TextBox 8">
            <a:extLst>
              <a:ext uri="{FF2B5EF4-FFF2-40B4-BE49-F238E27FC236}">
                <a16:creationId xmlns:a16="http://schemas.microsoft.com/office/drawing/2014/main" id="{BB610C02-4647-262B-9042-25D225251D6B}"/>
              </a:ext>
            </a:extLst>
          </p:cNvPr>
          <p:cNvSpPr txBox="1"/>
          <p:nvPr/>
        </p:nvSpPr>
        <p:spPr>
          <a:xfrm>
            <a:off x="6330071" y="2016405"/>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BFS traverses according to </a:t>
            </a:r>
            <a:r>
              <a:rPr lang="en-US" sz="2200" dirty="0">
                <a:solidFill>
                  <a:srgbClr val="AD1457"/>
                </a:solidFill>
                <a:latin typeface="Roboto Condensed"/>
              </a:rPr>
              <a:t>tree level</a:t>
            </a:r>
            <a:r>
              <a:rPr lang="en-US" sz="2200" dirty="0">
                <a:solidFill>
                  <a:srgbClr val="212121"/>
                </a:solidFill>
                <a:latin typeface="Roboto Condensed"/>
              </a:rPr>
              <a:t>. BFS finds the shortest path to the destination.</a:t>
            </a:r>
          </a:p>
        </p:txBody>
      </p:sp>
      <p:sp>
        <p:nvSpPr>
          <p:cNvPr id="10" name="TextBox 9">
            <a:extLst>
              <a:ext uri="{FF2B5EF4-FFF2-40B4-BE49-F238E27FC236}">
                <a16:creationId xmlns:a16="http://schemas.microsoft.com/office/drawing/2014/main" id="{5E071045-7C00-871C-E97B-B0B972A5C04D}"/>
              </a:ext>
            </a:extLst>
          </p:cNvPr>
          <p:cNvSpPr txBox="1"/>
          <p:nvPr/>
        </p:nvSpPr>
        <p:spPr>
          <a:xfrm>
            <a:off x="461188" y="3313510"/>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It uses </a:t>
            </a:r>
            <a:r>
              <a:rPr lang="en-US" sz="2200" dirty="0">
                <a:solidFill>
                  <a:srgbClr val="AD1457"/>
                </a:solidFill>
                <a:latin typeface="Roboto Condensed"/>
              </a:rPr>
              <a:t>a</a:t>
            </a:r>
            <a:r>
              <a:rPr lang="en-US" sz="2200" dirty="0">
                <a:solidFill>
                  <a:srgbClr val="212121"/>
                </a:solidFill>
                <a:latin typeface="Roboto Condensed"/>
              </a:rPr>
              <a:t> </a:t>
            </a:r>
            <a:r>
              <a:rPr lang="en-US" sz="2200" dirty="0">
                <a:solidFill>
                  <a:srgbClr val="AD1457"/>
                </a:solidFill>
                <a:latin typeface="Roboto Condensed"/>
              </a:rPr>
              <a:t>stack</a:t>
            </a:r>
            <a:r>
              <a:rPr lang="en-US" sz="2200" dirty="0">
                <a:solidFill>
                  <a:srgbClr val="212121"/>
                </a:solidFill>
                <a:latin typeface="Roboto Condensed"/>
              </a:rPr>
              <a:t> to keep track of the next location to visit.</a:t>
            </a:r>
          </a:p>
        </p:txBody>
      </p:sp>
      <p:sp>
        <p:nvSpPr>
          <p:cNvPr id="11" name="TextBox 10">
            <a:extLst>
              <a:ext uri="{FF2B5EF4-FFF2-40B4-BE49-F238E27FC236}">
                <a16:creationId xmlns:a16="http://schemas.microsoft.com/office/drawing/2014/main" id="{2306B383-5633-41F7-32BD-90144BD62C2F}"/>
              </a:ext>
            </a:extLst>
          </p:cNvPr>
          <p:cNvSpPr txBox="1"/>
          <p:nvPr/>
        </p:nvSpPr>
        <p:spPr>
          <a:xfrm>
            <a:off x="6259561" y="3313510"/>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It uses </a:t>
            </a:r>
            <a:r>
              <a:rPr lang="en-US" sz="2200" dirty="0">
                <a:solidFill>
                  <a:srgbClr val="AD1457"/>
                </a:solidFill>
                <a:latin typeface="Roboto Condensed"/>
              </a:rPr>
              <a:t>a queue </a:t>
            </a:r>
            <a:r>
              <a:rPr lang="en-US" sz="2200" dirty="0">
                <a:solidFill>
                  <a:srgbClr val="212121"/>
                </a:solidFill>
                <a:latin typeface="Roboto Condensed"/>
              </a:rPr>
              <a:t>to keep track of the next location to visit.</a:t>
            </a:r>
          </a:p>
        </p:txBody>
      </p:sp>
      <p:sp>
        <p:nvSpPr>
          <p:cNvPr id="12" name="TextBox 11">
            <a:extLst>
              <a:ext uri="{FF2B5EF4-FFF2-40B4-BE49-F238E27FC236}">
                <a16:creationId xmlns:a16="http://schemas.microsoft.com/office/drawing/2014/main" id="{8A5F477E-0640-99ED-1BB1-55721487D657}"/>
              </a:ext>
            </a:extLst>
          </p:cNvPr>
          <p:cNvSpPr txBox="1"/>
          <p:nvPr/>
        </p:nvSpPr>
        <p:spPr>
          <a:xfrm>
            <a:off x="461188" y="4174744"/>
            <a:ext cx="5669280" cy="871008"/>
          </a:xfrm>
          <a:prstGeom prst="rect">
            <a:avLst/>
          </a:prstGeom>
          <a:noFill/>
        </p:spPr>
        <p:txBody>
          <a:bodyPr wrap="square" rtlCol="0">
            <a:spAutoFit/>
          </a:bodyPr>
          <a:lstStyle/>
          <a:p>
            <a:pPr algn="just">
              <a:lnSpc>
                <a:spcPct val="115000"/>
              </a:lnSpc>
            </a:pPr>
            <a:r>
              <a:rPr lang="en-US" sz="2200" dirty="0">
                <a:solidFill>
                  <a:srgbClr val="212121"/>
                </a:solidFill>
                <a:latin typeface="Roboto Condensed"/>
              </a:rPr>
              <a:t>DFS requires </a:t>
            </a:r>
            <a:r>
              <a:rPr lang="en-US" sz="2200" dirty="0">
                <a:solidFill>
                  <a:srgbClr val="AD1457"/>
                </a:solidFill>
                <a:latin typeface="Roboto Condensed"/>
              </a:rPr>
              <a:t>less memory </a:t>
            </a:r>
            <a:r>
              <a:rPr lang="en-US" sz="2200" dirty="0">
                <a:solidFill>
                  <a:srgbClr val="212121"/>
                </a:solidFill>
                <a:latin typeface="Roboto Condensed"/>
              </a:rPr>
              <a:t>since only nodes on the current path are stored.</a:t>
            </a:r>
          </a:p>
        </p:txBody>
      </p:sp>
      <p:sp>
        <p:nvSpPr>
          <p:cNvPr id="13" name="TextBox 12">
            <a:extLst>
              <a:ext uri="{FF2B5EF4-FFF2-40B4-BE49-F238E27FC236}">
                <a16:creationId xmlns:a16="http://schemas.microsoft.com/office/drawing/2014/main" id="{AC6F4450-CD97-55B3-E9C6-D3D5F1F3751E}"/>
              </a:ext>
            </a:extLst>
          </p:cNvPr>
          <p:cNvSpPr txBox="1"/>
          <p:nvPr/>
        </p:nvSpPr>
        <p:spPr>
          <a:xfrm>
            <a:off x="6330071" y="4174744"/>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BFS guarantees that the space of possible moves is systematically examined; this search requires </a:t>
            </a:r>
            <a:r>
              <a:rPr lang="en-US" sz="2200" dirty="0">
                <a:solidFill>
                  <a:srgbClr val="AD1457"/>
                </a:solidFill>
                <a:latin typeface="Roboto Condensed"/>
              </a:rPr>
              <a:t>considerably more memory </a:t>
            </a:r>
            <a:r>
              <a:rPr lang="en-US" sz="2200" dirty="0">
                <a:solidFill>
                  <a:srgbClr val="212121"/>
                </a:solidFill>
                <a:latin typeface="Roboto Condensed"/>
              </a:rPr>
              <a:t>resources.</a:t>
            </a:r>
          </a:p>
        </p:txBody>
      </p:sp>
      <p:sp>
        <p:nvSpPr>
          <p:cNvPr id="14" name="TextBox 13">
            <a:extLst>
              <a:ext uri="{FF2B5EF4-FFF2-40B4-BE49-F238E27FC236}">
                <a16:creationId xmlns:a16="http://schemas.microsoft.com/office/drawing/2014/main" id="{555AFE31-3623-20C0-8CEB-D294E213DE65}"/>
              </a:ext>
            </a:extLst>
          </p:cNvPr>
          <p:cNvSpPr txBox="1"/>
          <p:nvPr/>
        </p:nvSpPr>
        <p:spPr>
          <a:xfrm>
            <a:off x="461188" y="5403581"/>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Does not guarantee to find solution. </a:t>
            </a:r>
            <a:r>
              <a:rPr lang="en-US" sz="2200" dirty="0">
                <a:solidFill>
                  <a:srgbClr val="AD1457"/>
                </a:solidFill>
                <a:latin typeface="Roboto Condensed"/>
              </a:rPr>
              <a:t>Backtracking is required</a:t>
            </a:r>
            <a:r>
              <a:rPr lang="en-US" sz="2200" dirty="0">
                <a:solidFill>
                  <a:srgbClr val="F92672"/>
                </a:solidFill>
                <a:latin typeface="Roboto Condensed"/>
              </a:rPr>
              <a:t> </a:t>
            </a:r>
            <a:r>
              <a:rPr lang="en-US" sz="2200" dirty="0">
                <a:solidFill>
                  <a:srgbClr val="212121"/>
                </a:solidFill>
                <a:latin typeface="Roboto Condensed"/>
              </a:rPr>
              <a:t>if wrong path is selected.</a:t>
            </a:r>
          </a:p>
        </p:txBody>
      </p:sp>
      <p:sp>
        <p:nvSpPr>
          <p:cNvPr id="15" name="TextBox 14">
            <a:extLst>
              <a:ext uri="{FF2B5EF4-FFF2-40B4-BE49-F238E27FC236}">
                <a16:creationId xmlns:a16="http://schemas.microsoft.com/office/drawing/2014/main" id="{D6D67526-6812-EF9E-8854-7F52857A4B8A}"/>
              </a:ext>
            </a:extLst>
          </p:cNvPr>
          <p:cNvSpPr txBox="1"/>
          <p:nvPr/>
        </p:nvSpPr>
        <p:spPr>
          <a:xfrm>
            <a:off x="6330071" y="5403581"/>
            <a:ext cx="5669280" cy="481670"/>
          </a:xfrm>
          <a:prstGeom prst="rect">
            <a:avLst/>
          </a:prstGeom>
          <a:noFill/>
        </p:spPr>
        <p:txBody>
          <a:bodyPr wrap="square" rtlCol="0">
            <a:spAutoFit/>
          </a:bodyPr>
          <a:lstStyle/>
          <a:p>
            <a:pPr algn="just">
              <a:lnSpc>
                <a:spcPct val="115000"/>
              </a:lnSpc>
            </a:pPr>
            <a:r>
              <a:rPr lang="en-US" sz="2200">
                <a:solidFill>
                  <a:srgbClr val="212121"/>
                </a:solidFill>
                <a:latin typeface="Roboto Condensed"/>
              </a:rPr>
              <a:t>If there is a solution, </a:t>
            </a:r>
            <a:r>
              <a:rPr lang="en-US" sz="2200">
                <a:solidFill>
                  <a:srgbClr val="AD1457"/>
                </a:solidFill>
                <a:latin typeface="Roboto Condensed"/>
              </a:rPr>
              <a:t>BFS is guaranteed </a:t>
            </a:r>
            <a:r>
              <a:rPr lang="en-US" sz="2200">
                <a:solidFill>
                  <a:srgbClr val="212121"/>
                </a:solidFill>
                <a:latin typeface="Roboto Condensed"/>
              </a:rPr>
              <a:t>to find it.</a:t>
            </a:r>
            <a:endParaRPr lang="en-US" sz="2200" dirty="0">
              <a:solidFill>
                <a:srgbClr val="212121"/>
              </a:solidFill>
              <a:latin typeface="Roboto Condensed"/>
            </a:endParaRPr>
          </a:p>
        </p:txBody>
      </p:sp>
      <p:cxnSp>
        <p:nvCxnSpPr>
          <p:cNvPr id="16" name="Straight Connector 15">
            <a:extLst>
              <a:ext uri="{FF2B5EF4-FFF2-40B4-BE49-F238E27FC236}">
                <a16:creationId xmlns:a16="http://schemas.microsoft.com/office/drawing/2014/main" id="{CCFAEB2B-F106-E94F-6275-26E3574AE0B8}"/>
              </a:ext>
            </a:extLst>
          </p:cNvPr>
          <p:cNvCxnSpPr/>
          <p:nvPr/>
        </p:nvCxnSpPr>
        <p:spPr>
          <a:xfrm>
            <a:off x="6189630" y="2013394"/>
            <a:ext cx="0" cy="4206240"/>
          </a:xfrm>
          <a:prstGeom prst="line">
            <a:avLst/>
          </a:prstGeom>
          <a:noFill/>
          <a:ln w="28575" cap="flat" cmpd="sng" algn="ctr">
            <a:solidFill>
              <a:srgbClr val="909090"/>
            </a:solidFill>
            <a:prstDash val="solid"/>
            <a:miter lim="800000"/>
          </a:ln>
          <a:effectLst/>
        </p:spPr>
      </p:cxnSp>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05404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1000"/>
                                        <p:tgtEl>
                                          <p:spTgt spid="16"/>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1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1000"/>
                                        <p:tgtEl>
                                          <p:spTgt spid="10"/>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10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1000"/>
                                        <p:tgtEl>
                                          <p:spTgt spid="12"/>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000"/>
                                        <p:tgtEl>
                                          <p:spTgt spid="14"/>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0" grpId="0"/>
      <p:bldP spid="11" grpId="0"/>
      <p:bldP spid="12" grpId="0"/>
      <p:bldP spid="13" grpId="0"/>
      <p:bldP spid="14" grpId="0"/>
      <p:bldP spid="1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Rectangle 4">
            <a:extLst>
              <a:ext uri="{FF2B5EF4-FFF2-40B4-BE49-F238E27FC236}">
                <a16:creationId xmlns:a16="http://schemas.microsoft.com/office/drawing/2014/main" id="{4A59D2D7-1DB2-811F-F03A-F2081773985B}"/>
              </a:ext>
            </a:extLst>
          </p:cNvPr>
          <p:cNvSpPr/>
          <p:nvPr/>
        </p:nvSpPr>
        <p:spPr>
          <a:xfrm>
            <a:off x="185239" y="1192893"/>
            <a:ext cx="11808822" cy="3172741"/>
          </a:xfrm>
          <a:prstGeom prst="rect">
            <a:avLst/>
          </a:prstGeom>
          <a:noFill/>
          <a:ln w="38100" cap="flat" cmpd="sng" algn="ctr">
            <a:solidFill>
              <a:srgbClr val="90909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3F97F918-0F4E-5470-4E8D-08A5DDDDD637}"/>
              </a:ext>
            </a:extLst>
          </p:cNvPr>
          <p:cNvSpPr txBox="1"/>
          <p:nvPr/>
        </p:nvSpPr>
        <p:spPr>
          <a:xfrm>
            <a:off x="314157" y="1196209"/>
            <a:ext cx="11537577" cy="461665"/>
          </a:xfrm>
          <a:prstGeom prst="rect">
            <a:avLst/>
          </a:prstGeom>
          <a:solidFill>
            <a:srgbClr val="00BBD3">
              <a:lumMod val="20000"/>
              <a:lumOff val="80000"/>
            </a:srgbClr>
          </a:solidFill>
        </p:spPr>
        <p:txBody>
          <a:bodyPr wrap="square" rtlCol="0">
            <a:spAutoFit/>
          </a:bodyPr>
          <a:lstStyle/>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Depth First Search	</a:t>
            </a: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Breath First Search</a:t>
            </a:r>
            <a:endParaRPr kumimoji="0" lang="en-US" sz="2400" b="0" i="0" u="none" strike="noStrike" kern="0" cap="none" spc="0" normalizeH="0" baseline="0" noProof="0" dirty="0">
              <a:ln>
                <a:noFill/>
              </a:ln>
              <a:solidFill>
                <a:srgbClr val="212121"/>
              </a:solidFill>
              <a:effectLst/>
              <a:uLnTx/>
              <a:uFillTx/>
              <a:latin typeface="Roboto Condensed"/>
            </a:endParaRPr>
          </a:p>
        </p:txBody>
      </p:sp>
      <p:sp>
        <p:nvSpPr>
          <p:cNvPr id="7" name="TextBox 6">
            <a:extLst>
              <a:ext uri="{FF2B5EF4-FFF2-40B4-BE49-F238E27FC236}">
                <a16:creationId xmlns:a16="http://schemas.microsoft.com/office/drawing/2014/main" id="{913C0ABB-E610-32B6-3E16-B6978EF4AFF9}"/>
              </a:ext>
            </a:extLst>
          </p:cNvPr>
          <p:cNvSpPr txBox="1"/>
          <p:nvPr/>
        </p:nvSpPr>
        <p:spPr>
          <a:xfrm>
            <a:off x="331038" y="1735124"/>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If the selected path does not reach to the solution node, DFS </a:t>
            </a:r>
            <a:r>
              <a:rPr lang="en-US" sz="2200" dirty="0">
                <a:solidFill>
                  <a:srgbClr val="AD1457"/>
                </a:solidFill>
                <a:latin typeface="Roboto Condensed"/>
              </a:rPr>
              <a:t>gets stuck or trapped </a:t>
            </a:r>
            <a:r>
              <a:rPr lang="en-US" sz="2200" dirty="0">
                <a:solidFill>
                  <a:srgbClr val="212121"/>
                </a:solidFill>
                <a:latin typeface="Roboto Condensed"/>
              </a:rPr>
              <a:t>into an infinite loops.</a:t>
            </a:r>
          </a:p>
        </p:txBody>
      </p:sp>
      <p:sp>
        <p:nvSpPr>
          <p:cNvPr id="8" name="TextBox 7">
            <a:extLst>
              <a:ext uri="{FF2B5EF4-FFF2-40B4-BE49-F238E27FC236}">
                <a16:creationId xmlns:a16="http://schemas.microsoft.com/office/drawing/2014/main" id="{F18522E5-B95F-909F-19D3-2C89EAED8CA1}"/>
              </a:ext>
            </a:extLst>
          </p:cNvPr>
          <p:cNvSpPr txBox="1"/>
          <p:nvPr/>
        </p:nvSpPr>
        <p:spPr>
          <a:xfrm>
            <a:off x="6191617" y="1773774"/>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BFS will </a:t>
            </a:r>
            <a:r>
              <a:rPr lang="en-US" sz="2200" dirty="0">
                <a:solidFill>
                  <a:srgbClr val="AD1457"/>
                </a:solidFill>
                <a:latin typeface="Roboto Condensed"/>
              </a:rPr>
              <a:t>not get trapped </a:t>
            </a:r>
            <a:r>
              <a:rPr lang="en-US" sz="2200" dirty="0">
                <a:solidFill>
                  <a:srgbClr val="212121"/>
                </a:solidFill>
                <a:latin typeface="Roboto Condensed"/>
              </a:rPr>
              <a:t>exploring an infinite loops.</a:t>
            </a:r>
          </a:p>
        </p:txBody>
      </p:sp>
      <p:cxnSp>
        <p:nvCxnSpPr>
          <p:cNvPr id="9" name="Straight Connector 8">
            <a:extLst>
              <a:ext uri="{FF2B5EF4-FFF2-40B4-BE49-F238E27FC236}">
                <a16:creationId xmlns:a16="http://schemas.microsoft.com/office/drawing/2014/main" id="{83A06CB9-8258-8E38-C054-75C9D3B8FB11}"/>
              </a:ext>
            </a:extLst>
          </p:cNvPr>
          <p:cNvCxnSpPr/>
          <p:nvPr/>
        </p:nvCxnSpPr>
        <p:spPr>
          <a:xfrm>
            <a:off x="6082945" y="1225134"/>
            <a:ext cx="0" cy="1809051"/>
          </a:xfrm>
          <a:prstGeom prst="line">
            <a:avLst/>
          </a:prstGeom>
          <a:noFill/>
          <a:ln w="28575" cap="flat" cmpd="sng" algn="ctr">
            <a:solidFill>
              <a:srgbClr val="909090"/>
            </a:solidFill>
            <a:prstDash val="solid"/>
            <a:miter lim="800000"/>
          </a:ln>
          <a:effectLst/>
        </p:spPr>
      </p:cxnSp>
      <p:sp>
        <p:nvSpPr>
          <p:cNvPr id="10" name="Rectangle 9">
            <a:extLst>
              <a:ext uri="{FF2B5EF4-FFF2-40B4-BE49-F238E27FC236}">
                <a16:creationId xmlns:a16="http://schemas.microsoft.com/office/drawing/2014/main" id="{95F3C9C8-051D-0C04-5FA7-03C19C829BFB}"/>
              </a:ext>
            </a:extLst>
          </p:cNvPr>
          <p:cNvSpPr/>
          <p:nvPr/>
        </p:nvSpPr>
        <p:spPr>
          <a:xfrm>
            <a:off x="2501360" y="3040519"/>
            <a:ext cx="7380514" cy="1107996"/>
          </a:xfrm>
          <a:prstGeom prst="rect">
            <a:avLst/>
          </a:prstGeom>
          <a:solidFill>
            <a:srgbClr val="FFFFFF">
              <a:lumMod val="85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AD1457"/>
                </a:solidFill>
                <a:effectLst/>
                <a:uLnTx/>
                <a:uFillTx/>
                <a:latin typeface="Roboto Condensed"/>
              </a:rPr>
              <a:t>The Time complexity of both BFS and DFS will be O(V + E), where V is the number of vertices, and E is the </a:t>
            </a:r>
            <a:endParaRPr kumimoji="0" lang="en-US" sz="2200" b="0" i="0" u="none" strike="noStrike" kern="0" cap="none" spc="0" normalizeH="0" baseline="0" noProof="0" dirty="0" smtClean="0">
              <a:ln>
                <a:noFill/>
              </a:ln>
              <a:solidFill>
                <a:srgbClr val="AD1457"/>
              </a:solidFill>
              <a:effectLst/>
              <a:uLnTx/>
              <a:uFillTx/>
              <a:latin typeface="Roboto Condensed"/>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smtClean="0">
                <a:ln>
                  <a:noFill/>
                </a:ln>
                <a:solidFill>
                  <a:srgbClr val="AD1457"/>
                </a:solidFill>
                <a:effectLst/>
                <a:uLnTx/>
                <a:uFillTx/>
                <a:latin typeface="Roboto Condensed"/>
              </a:rPr>
              <a:t>number </a:t>
            </a:r>
            <a:r>
              <a:rPr kumimoji="0" lang="en-US" sz="2200" b="0" i="0" u="none" strike="noStrike" kern="0" cap="none" spc="0" normalizeH="0" baseline="0" noProof="0" dirty="0">
                <a:ln>
                  <a:noFill/>
                </a:ln>
                <a:solidFill>
                  <a:srgbClr val="AD1457"/>
                </a:solidFill>
                <a:effectLst/>
                <a:uLnTx/>
                <a:uFillTx/>
                <a:latin typeface="Roboto Condensed"/>
              </a:rPr>
              <a:t>of Edges.</a:t>
            </a: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62499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67BADF97-EBC7-3FFF-572F-E0B118E08A88}"/>
              </a:ext>
            </a:extLst>
          </p:cNvPr>
          <p:cNvSpPr txBox="1"/>
          <p:nvPr/>
        </p:nvSpPr>
        <p:spPr>
          <a:xfrm>
            <a:off x="231314" y="198118"/>
            <a:ext cx="9361625" cy="646331"/>
          </a:xfrm>
          <a:prstGeom prst="rect">
            <a:avLst/>
          </a:prstGeom>
          <a:noFill/>
        </p:spPr>
        <p:txBody>
          <a:bodyPr wrap="square">
            <a:spAutoFit/>
          </a:bodyPr>
          <a:lstStyle/>
          <a:p>
            <a:r>
              <a:rPr lang="en-US" sz="3600" b="1" dirty="0">
                <a:solidFill>
                  <a:srgbClr val="FFFFFF"/>
                </a:solidFill>
                <a:latin typeface="Corbel" panose="020B0503020204020204" pitchFamily="34" charset="0"/>
              </a:rPr>
              <a:t>Introduction to Minimum Spanning Tree (MST)</a:t>
            </a:r>
            <a:endParaRPr lang="en-IN" sz="3600" b="1" dirty="0">
              <a:solidFill>
                <a:srgbClr val="FFFFFF"/>
              </a:solidFill>
              <a:latin typeface="Corbel" panose="020B0503020204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A09817-EDCD-B81A-A5FD-C4DB1839D83A}"/>
                  </a:ext>
                </a:extLst>
              </p:cNvPr>
              <p:cNvSpPr txBox="1"/>
              <p:nvPr/>
            </p:nvSpPr>
            <p:spPr>
              <a:xfrm>
                <a:off x="662243" y="1113411"/>
                <a:ext cx="10854748" cy="5386090"/>
              </a:xfrm>
              <a:prstGeom prst="rect">
                <a:avLst/>
              </a:prstGeom>
              <a:noFill/>
            </p:spPr>
            <p:txBody>
              <a:bodyPr wrap="square">
                <a:spAutoFit/>
              </a:bodyPr>
              <a:lstStyle/>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Let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 </m:t>
                    </m:r>
                    <m:d>
                      <m:dPr>
                        <m:begChr m:val="⟨"/>
                        <m:endChr m:val=""/>
                        <m:ctrlP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ctrlPr>
                      </m:dPr>
                      <m:e>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𝑁</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m:t>
                        </m:r>
                        <m:d>
                          <m:dPr>
                            <m:begChr m:val=""/>
                            <m:endChr m:val="⟩"/>
                            <m:ctrlP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ctrlPr>
                          </m:dPr>
                          <m:e>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𝐴</m:t>
                            </m:r>
                          </m:e>
                        </m:d>
                      </m:e>
                    </m:d>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be a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connected, undirected graph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where,</a:t>
                </a:r>
              </a:p>
              <a:p>
                <a:pPr marL="85725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14:m>
                  <m:oMath xmlns:m="http://schemas.openxmlformats.org/officeDocument/2006/math">
                    <m:r>
                      <m:rPr>
                        <m:sty m:val="p"/>
                      </m:rPr>
                      <a:rPr kumimoji="0" lang="en-US" sz="2400" b="0" i="0" u="none" strike="noStrike" kern="1200" cap="none" spc="0" normalizeH="0" baseline="0" noProof="0" dirty="0" smtClean="0">
                        <a:ln>
                          <a:noFill/>
                        </a:ln>
                        <a:solidFill>
                          <a:srgbClr val="0066FF"/>
                        </a:solidFill>
                        <a:effectLst/>
                        <a:uLnTx/>
                        <a:uFillTx/>
                        <a:latin typeface="Cambria Math" panose="02040503050406030204" pitchFamily="18" charset="0"/>
                      </a:rPr>
                      <m:t>N</m:t>
                    </m:r>
                  </m:oMath>
                </a14:m>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is the set of nodes and </a:t>
                </a:r>
              </a:p>
              <a:p>
                <a:pPr marL="85725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14:m>
                  <m:oMath xmlns:m="http://schemas.openxmlformats.org/officeDocument/2006/math">
                    <m:r>
                      <m:rPr>
                        <m:sty m:val="p"/>
                      </m:rPr>
                      <a:rPr kumimoji="0" lang="en-US" sz="2400" b="0" i="0" u="none" strike="noStrike" kern="1200" cap="none" spc="0" normalizeH="0" baseline="0" noProof="0" dirty="0">
                        <a:ln>
                          <a:noFill/>
                        </a:ln>
                        <a:solidFill>
                          <a:srgbClr val="0066FF"/>
                        </a:solidFill>
                        <a:effectLst/>
                        <a:uLnTx/>
                        <a:uFillTx/>
                        <a:latin typeface="Cambria Math" panose="02040503050406030204" pitchFamily="18" charset="0"/>
                      </a:rPr>
                      <m:t>A</m:t>
                    </m:r>
                  </m:oMath>
                </a14:m>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is the set of edges. </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Each edge has a given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positive length or weight</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 spanning tree of a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is a sub-graph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which is basically a tree and</a:t>
                </a:r>
                <a:r>
                  <a:rPr kumimoji="0" lang="en-US" sz="2400" b="0" i="0" u="none" strike="noStrike" kern="1200" cap="none" spc="0" normalizeH="0" baseline="0" noProof="0" dirty="0">
                    <a:ln>
                      <a:noFill/>
                    </a:ln>
                    <a:solidFill>
                      <a:srgbClr val="FF0000"/>
                    </a:solidFill>
                    <a:effectLst/>
                    <a:uLnTx/>
                    <a:uFillTx/>
                    <a:latin typeface="Corbel" panose="020B0503020204020204" pitchFamily="34" charset="0"/>
                  </a:rPr>
                  <a:t>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it contains all the vertices of </a:t>
                </a:r>
                <a14:m>
                  <m:oMath xmlns:m="http://schemas.openxmlformats.org/officeDocument/2006/math">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but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rPr>
                  <a:t>does not contain cycle</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 minimum spanning tree (MST) of a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weighted connected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is a spanning tree with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rPr>
                  <a:t>minimum or smallest weight of edges</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Two Algorithms for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constructing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minimum spanning tree are,</a:t>
                </a:r>
              </a:p>
              <a:p>
                <a:pPr marL="91440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r>
                  <a:rPr kumimoji="0" lang="en-US" sz="2400" b="0" i="0" u="none" strike="noStrike" kern="1200" cap="none" spc="0" normalizeH="0" baseline="0" noProof="0" dirty="0" err="1">
                    <a:ln>
                      <a:noFill/>
                    </a:ln>
                    <a:solidFill>
                      <a:srgbClr val="0066FF"/>
                    </a:solidFill>
                    <a:effectLst/>
                    <a:uLnTx/>
                    <a:uFillTx/>
                    <a:latin typeface="Corbel" panose="020B0503020204020204" pitchFamily="34" charset="0"/>
                  </a:rPr>
                  <a:t>Kruskal’s</a:t>
                </a:r>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Algorithm</a:t>
                </a:r>
              </a:p>
              <a:p>
                <a:pPr marL="91440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Prim’s Algorithm</a:t>
                </a:r>
                <a:endParaRPr kumimoji="0" lang="en-US" sz="2400" b="0" i="0" u="none" strike="noStrike" kern="1200" cap="none" spc="0" normalizeH="0" baseline="0" noProof="0" dirty="0">
                  <a:ln>
                    <a:noFill/>
                  </a:ln>
                  <a:solidFill>
                    <a:srgbClr val="212121"/>
                  </a:solidFill>
                  <a:effectLst/>
                  <a:uLnTx/>
                  <a:uFillTx/>
                  <a:latin typeface="Corbel" panose="020B0503020204020204" pitchFamily="34" charset="0"/>
                </a:endParaRPr>
              </a:p>
            </p:txBody>
          </p:sp>
        </mc:Choice>
        <mc:Fallback xmlns="">
          <p:sp>
            <p:nvSpPr>
              <p:cNvPr id="6" name="TextBox 5">
                <a:extLst>
                  <a:ext uri="{FF2B5EF4-FFF2-40B4-BE49-F238E27FC236}">
                    <a16:creationId xmlns:a16="http://schemas.microsoft.com/office/drawing/2014/main" id="{8BA09817-EDCD-B81A-A5FD-C4DB1839D83A}"/>
                  </a:ext>
                </a:extLst>
              </p:cNvPr>
              <p:cNvSpPr txBox="1">
                <a:spLocks noRot="1" noChangeAspect="1" noMove="1" noResize="1" noEditPoints="1" noAdjustHandles="1" noChangeArrowheads="1" noChangeShapeType="1" noTextEdit="1"/>
              </p:cNvSpPr>
              <p:nvPr/>
            </p:nvSpPr>
            <p:spPr>
              <a:xfrm>
                <a:off x="662243" y="1113411"/>
                <a:ext cx="10854748" cy="5386090"/>
              </a:xfrm>
              <a:prstGeom prst="rect">
                <a:avLst/>
              </a:prstGeom>
              <a:blipFill>
                <a:blip r:embed="rId6"/>
                <a:stretch>
                  <a:fillRect l="-787" t="-11212" r="-899" b="-1699"/>
                </a:stretch>
              </a:blipFill>
            </p:spPr>
            <p:txBody>
              <a:bodyPr/>
              <a:lstStyle/>
              <a:p>
                <a:r>
                  <a:rPr lang="en-IN">
                    <a:noFill/>
                  </a:rPr>
                  <a:t> </a:t>
                </a:r>
              </a:p>
            </p:txBody>
          </p:sp>
        </mc:Fallback>
      </mc:AlternateContent>
    </p:spTree>
    <p:extLst>
      <p:ext uri="{BB962C8B-B14F-4D97-AF65-F5344CB8AC3E}">
        <p14:creationId xmlns:p14="http://schemas.microsoft.com/office/powerpoint/2010/main" val="42785078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D90AEFF3-8844-FB2E-37BA-C1AE71F8C5BE}"/>
              </a:ext>
            </a:extLst>
          </p:cNvPr>
          <p:cNvSpPr/>
          <p:nvPr/>
        </p:nvSpPr>
        <p:spPr>
          <a:xfrm>
            <a:off x="284180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 name="Oval 4">
            <a:extLst>
              <a:ext uri="{FF2B5EF4-FFF2-40B4-BE49-F238E27FC236}">
                <a16:creationId xmlns:a16="http://schemas.microsoft.com/office/drawing/2014/main" id="{0E2C91AD-1FEF-C84D-422E-BA69A26869AF}"/>
              </a:ext>
            </a:extLst>
          </p:cNvPr>
          <p:cNvSpPr/>
          <p:nvPr/>
        </p:nvSpPr>
        <p:spPr>
          <a:xfrm>
            <a:off x="22322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6" name="Oval 5">
            <a:extLst>
              <a:ext uri="{FF2B5EF4-FFF2-40B4-BE49-F238E27FC236}">
                <a16:creationId xmlns:a16="http://schemas.microsoft.com/office/drawing/2014/main" id="{5F3B8D5D-2BBD-9F33-3B98-70A7E31D8D3E}"/>
              </a:ext>
            </a:extLst>
          </p:cNvPr>
          <p:cNvSpPr/>
          <p:nvPr/>
        </p:nvSpPr>
        <p:spPr>
          <a:xfrm>
            <a:off x="35276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7" name="Oval 6">
            <a:extLst>
              <a:ext uri="{FF2B5EF4-FFF2-40B4-BE49-F238E27FC236}">
                <a16:creationId xmlns:a16="http://schemas.microsoft.com/office/drawing/2014/main" id="{9F994BCC-A8B5-639E-9E52-FADBA1E18E60}"/>
              </a:ext>
            </a:extLst>
          </p:cNvPr>
          <p:cNvSpPr/>
          <p:nvPr/>
        </p:nvSpPr>
        <p:spPr>
          <a:xfrm>
            <a:off x="1775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8" name="Oval 7">
            <a:extLst>
              <a:ext uri="{FF2B5EF4-FFF2-40B4-BE49-F238E27FC236}">
                <a16:creationId xmlns:a16="http://schemas.microsoft.com/office/drawing/2014/main" id="{9030BBAD-3658-0621-3247-884C16CF3AB4}"/>
              </a:ext>
            </a:extLst>
          </p:cNvPr>
          <p:cNvSpPr/>
          <p:nvPr/>
        </p:nvSpPr>
        <p:spPr>
          <a:xfrm>
            <a:off x="26132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9" name="Oval 8">
            <a:extLst>
              <a:ext uri="{FF2B5EF4-FFF2-40B4-BE49-F238E27FC236}">
                <a16:creationId xmlns:a16="http://schemas.microsoft.com/office/drawing/2014/main" id="{03AD5006-4796-E5C6-6313-5081C7B680D0}"/>
              </a:ext>
            </a:extLst>
          </p:cNvPr>
          <p:cNvSpPr/>
          <p:nvPr/>
        </p:nvSpPr>
        <p:spPr>
          <a:xfrm>
            <a:off x="32228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10" name="Oval 9">
            <a:extLst>
              <a:ext uri="{FF2B5EF4-FFF2-40B4-BE49-F238E27FC236}">
                <a16:creationId xmlns:a16="http://schemas.microsoft.com/office/drawing/2014/main" id="{785C30C8-0D33-388E-3E9D-D8AE637C09F4}"/>
              </a:ext>
            </a:extLst>
          </p:cNvPr>
          <p:cNvSpPr/>
          <p:nvPr/>
        </p:nvSpPr>
        <p:spPr>
          <a:xfrm>
            <a:off x="39848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11" name="Oval 10">
            <a:extLst>
              <a:ext uri="{FF2B5EF4-FFF2-40B4-BE49-F238E27FC236}">
                <a16:creationId xmlns:a16="http://schemas.microsoft.com/office/drawing/2014/main" id="{5B3AEA39-4055-6165-7A09-2DADA1679337}"/>
              </a:ext>
            </a:extLst>
          </p:cNvPr>
          <p:cNvSpPr/>
          <p:nvPr/>
        </p:nvSpPr>
        <p:spPr>
          <a:xfrm>
            <a:off x="2841807" y="3276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12" name="Straight Connector 11">
            <a:extLst>
              <a:ext uri="{FF2B5EF4-FFF2-40B4-BE49-F238E27FC236}">
                <a16:creationId xmlns:a16="http://schemas.microsoft.com/office/drawing/2014/main" id="{25FAED32-6336-D780-99FA-F670D74AA271}"/>
              </a:ext>
            </a:extLst>
          </p:cNvPr>
          <p:cNvCxnSpPr>
            <a:stCxn id="4" idx="3"/>
            <a:endCxn id="5" idx="7"/>
          </p:cNvCxnSpPr>
          <p:nvPr/>
        </p:nvCxnSpPr>
        <p:spPr>
          <a:xfrm flipH="1">
            <a:off x="2557411" y="1315804"/>
            <a:ext cx="3401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13" name="Straight Connector 12">
            <a:extLst>
              <a:ext uri="{FF2B5EF4-FFF2-40B4-BE49-F238E27FC236}">
                <a16:creationId xmlns:a16="http://schemas.microsoft.com/office/drawing/2014/main" id="{D027108D-A339-17E9-6432-192BF9C0597A}"/>
              </a:ext>
            </a:extLst>
          </p:cNvPr>
          <p:cNvCxnSpPr>
            <a:stCxn id="4" idx="5"/>
            <a:endCxn id="6" idx="1"/>
          </p:cNvCxnSpPr>
          <p:nvPr/>
        </p:nvCxnSpPr>
        <p:spPr>
          <a:xfrm>
            <a:off x="3167011" y="1315804"/>
            <a:ext cx="4163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14" name="Straight Connector 13">
            <a:extLst>
              <a:ext uri="{FF2B5EF4-FFF2-40B4-BE49-F238E27FC236}">
                <a16:creationId xmlns:a16="http://schemas.microsoft.com/office/drawing/2014/main" id="{8A063D46-8084-3E85-28D8-F9B921AACF6C}"/>
              </a:ext>
            </a:extLst>
          </p:cNvPr>
          <p:cNvCxnSpPr>
            <a:stCxn id="5" idx="3"/>
            <a:endCxn id="7" idx="0"/>
          </p:cNvCxnSpPr>
          <p:nvPr/>
        </p:nvCxnSpPr>
        <p:spPr>
          <a:xfrm flipH="1">
            <a:off x="1965507"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5" name="Straight Connector 14">
            <a:extLst>
              <a:ext uri="{FF2B5EF4-FFF2-40B4-BE49-F238E27FC236}">
                <a16:creationId xmlns:a16="http://schemas.microsoft.com/office/drawing/2014/main" id="{3EC0EC71-25FB-A874-EFAF-5126004417D3}"/>
              </a:ext>
            </a:extLst>
          </p:cNvPr>
          <p:cNvCxnSpPr>
            <a:stCxn id="5" idx="5"/>
            <a:endCxn id="8" idx="0"/>
          </p:cNvCxnSpPr>
          <p:nvPr/>
        </p:nvCxnSpPr>
        <p:spPr>
          <a:xfrm>
            <a:off x="2557411" y="1849204"/>
            <a:ext cx="2462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6" name="Straight Connector 15">
            <a:extLst>
              <a:ext uri="{FF2B5EF4-FFF2-40B4-BE49-F238E27FC236}">
                <a16:creationId xmlns:a16="http://schemas.microsoft.com/office/drawing/2014/main" id="{95CEEC63-35A9-3BF9-E824-C885E753BE1E}"/>
              </a:ext>
            </a:extLst>
          </p:cNvPr>
          <p:cNvCxnSpPr>
            <a:stCxn id="6" idx="3"/>
            <a:endCxn id="9" idx="0"/>
          </p:cNvCxnSpPr>
          <p:nvPr/>
        </p:nvCxnSpPr>
        <p:spPr>
          <a:xfrm flipH="1">
            <a:off x="3413307" y="1849204"/>
            <a:ext cx="1700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7" name="Straight Connector 16">
            <a:extLst>
              <a:ext uri="{FF2B5EF4-FFF2-40B4-BE49-F238E27FC236}">
                <a16:creationId xmlns:a16="http://schemas.microsoft.com/office/drawing/2014/main" id="{FD83D840-DF5A-7892-93C3-2A39F92A8EC2}"/>
              </a:ext>
            </a:extLst>
          </p:cNvPr>
          <p:cNvCxnSpPr>
            <a:stCxn id="6" idx="5"/>
            <a:endCxn id="10" idx="0"/>
          </p:cNvCxnSpPr>
          <p:nvPr/>
        </p:nvCxnSpPr>
        <p:spPr>
          <a:xfrm>
            <a:off x="3852811"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8" name="Straight Connector 17">
            <a:extLst>
              <a:ext uri="{FF2B5EF4-FFF2-40B4-BE49-F238E27FC236}">
                <a16:creationId xmlns:a16="http://schemas.microsoft.com/office/drawing/2014/main" id="{78502C4D-7D30-40FB-9CB9-61753058B8C3}"/>
              </a:ext>
            </a:extLst>
          </p:cNvPr>
          <p:cNvCxnSpPr>
            <a:stCxn id="7" idx="4"/>
            <a:endCxn id="11" idx="2"/>
          </p:cNvCxnSpPr>
          <p:nvPr/>
        </p:nvCxnSpPr>
        <p:spPr>
          <a:xfrm>
            <a:off x="1965507" y="2514600"/>
            <a:ext cx="876300" cy="952500"/>
          </a:xfrm>
          <a:prstGeom prst="line">
            <a:avLst/>
          </a:prstGeom>
          <a:noFill/>
          <a:ln w="12700" cap="flat" cmpd="sng" algn="ctr">
            <a:solidFill>
              <a:srgbClr val="00BBD3"/>
            </a:solidFill>
            <a:prstDash val="solid"/>
            <a:miter lim="800000"/>
            <a:headEnd type="none" w="med" len="med"/>
            <a:tailEnd type="none" w="med" len="med"/>
          </a:ln>
          <a:effectLst/>
        </p:spPr>
      </p:cxnSp>
      <p:cxnSp>
        <p:nvCxnSpPr>
          <p:cNvPr id="19" name="Straight Connector 18">
            <a:extLst>
              <a:ext uri="{FF2B5EF4-FFF2-40B4-BE49-F238E27FC236}">
                <a16:creationId xmlns:a16="http://schemas.microsoft.com/office/drawing/2014/main" id="{6FFF4A75-4BB0-62AA-93F4-CAC527A0CF60}"/>
              </a:ext>
            </a:extLst>
          </p:cNvPr>
          <p:cNvCxnSpPr>
            <a:stCxn id="8" idx="4"/>
            <a:endCxn id="11" idx="1"/>
          </p:cNvCxnSpPr>
          <p:nvPr/>
        </p:nvCxnSpPr>
        <p:spPr>
          <a:xfrm>
            <a:off x="2803707" y="2514600"/>
            <a:ext cx="938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20" name="Straight Connector 19">
            <a:extLst>
              <a:ext uri="{FF2B5EF4-FFF2-40B4-BE49-F238E27FC236}">
                <a16:creationId xmlns:a16="http://schemas.microsoft.com/office/drawing/2014/main" id="{04014020-6190-4D33-C00D-7CA94F8AD7C6}"/>
              </a:ext>
            </a:extLst>
          </p:cNvPr>
          <p:cNvCxnSpPr>
            <a:stCxn id="9" idx="4"/>
            <a:endCxn id="11" idx="7"/>
          </p:cNvCxnSpPr>
          <p:nvPr/>
        </p:nvCxnSpPr>
        <p:spPr>
          <a:xfrm flipH="1">
            <a:off x="3167011" y="2514600"/>
            <a:ext cx="2462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21" name="Straight Connector 20">
            <a:extLst>
              <a:ext uri="{FF2B5EF4-FFF2-40B4-BE49-F238E27FC236}">
                <a16:creationId xmlns:a16="http://schemas.microsoft.com/office/drawing/2014/main" id="{61BC020E-C1C3-3072-24E0-EBDE479E6349}"/>
              </a:ext>
            </a:extLst>
          </p:cNvPr>
          <p:cNvCxnSpPr>
            <a:stCxn id="10" idx="4"/>
            <a:endCxn id="11" idx="6"/>
          </p:cNvCxnSpPr>
          <p:nvPr/>
        </p:nvCxnSpPr>
        <p:spPr>
          <a:xfrm flipH="1">
            <a:off x="3222807" y="2514600"/>
            <a:ext cx="952500" cy="952500"/>
          </a:xfrm>
          <a:prstGeom prst="line">
            <a:avLst/>
          </a:prstGeom>
          <a:noFill/>
          <a:ln w="12700" cap="flat" cmpd="sng" algn="ctr">
            <a:solidFill>
              <a:srgbClr val="00BBD3"/>
            </a:solidFill>
            <a:prstDash val="solid"/>
            <a:miter lim="800000"/>
            <a:headEnd type="none" w="med" len="med"/>
            <a:tailEnd type="none" w="med" len="med"/>
          </a:ln>
          <a:effectLst/>
        </p:spPr>
      </p:cxnSp>
      <p:sp>
        <p:nvSpPr>
          <p:cNvPr id="22" name="Oval 21">
            <a:extLst>
              <a:ext uri="{FF2B5EF4-FFF2-40B4-BE49-F238E27FC236}">
                <a16:creationId xmlns:a16="http://schemas.microsoft.com/office/drawing/2014/main" id="{20922A24-2103-7BA3-98FB-79D362ED33D1}"/>
              </a:ext>
            </a:extLst>
          </p:cNvPr>
          <p:cNvSpPr/>
          <p:nvPr/>
        </p:nvSpPr>
        <p:spPr>
          <a:xfrm>
            <a:off x="787100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23" name="Oval 22">
            <a:extLst>
              <a:ext uri="{FF2B5EF4-FFF2-40B4-BE49-F238E27FC236}">
                <a16:creationId xmlns:a16="http://schemas.microsoft.com/office/drawing/2014/main" id="{AE0E288E-87F5-8CA2-6210-3F3FC5408E10}"/>
              </a:ext>
            </a:extLst>
          </p:cNvPr>
          <p:cNvSpPr/>
          <p:nvPr/>
        </p:nvSpPr>
        <p:spPr>
          <a:xfrm>
            <a:off x="72614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24" name="Oval 23">
            <a:extLst>
              <a:ext uri="{FF2B5EF4-FFF2-40B4-BE49-F238E27FC236}">
                <a16:creationId xmlns:a16="http://schemas.microsoft.com/office/drawing/2014/main" id="{7920AB0D-7166-1262-AB3B-16DFB8DBAF76}"/>
              </a:ext>
            </a:extLst>
          </p:cNvPr>
          <p:cNvSpPr/>
          <p:nvPr/>
        </p:nvSpPr>
        <p:spPr>
          <a:xfrm>
            <a:off x="85568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25" name="Oval 24">
            <a:extLst>
              <a:ext uri="{FF2B5EF4-FFF2-40B4-BE49-F238E27FC236}">
                <a16:creationId xmlns:a16="http://schemas.microsoft.com/office/drawing/2014/main" id="{468C97D8-20CB-9C93-DE83-F66058B5B094}"/>
              </a:ext>
            </a:extLst>
          </p:cNvPr>
          <p:cNvSpPr/>
          <p:nvPr/>
        </p:nvSpPr>
        <p:spPr>
          <a:xfrm>
            <a:off x="68042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26" name="Oval 25">
            <a:extLst>
              <a:ext uri="{FF2B5EF4-FFF2-40B4-BE49-F238E27FC236}">
                <a16:creationId xmlns:a16="http://schemas.microsoft.com/office/drawing/2014/main" id="{3A74E606-5EBB-79A1-A54E-3B121F09081D}"/>
              </a:ext>
            </a:extLst>
          </p:cNvPr>
          <p:cNvSpPr/>
          <p:nvPr/>
        </p:nvSpPr>
        <p:spPr>
          <a:xfrm>
            <a:off x="76424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27" name="Oval 26">
            <a:extLst>
              <a:ext uri="{FF2B5EF4-FFF2-40B4-BE49-F238E27FC236}">
                <a16:creationId xmlns:a16="http://schemas.microsoft.com/office/drawing/2014/main" id="{12851651-DAB0-2958-B58F-D8E4FBD24ED9}"/>
              </a:ext>
            </a:extLst>
          </p:cNvPr>
          <p:cNvSpPr/>
          <p:nvPr/>
        </p:nvSpPr>
        <p:spPr>
          <a:xfrm>
            <a:off x="8252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28" name="Oval 27">
            <a:extLst>
              <a:ext uri="{FF2B5EF4-FFF2-40B4-BE49-F238E27FC236}">
                <a16:creationId xmlns:a16="http://schemas.microsoft.com/office/drawing/2014/main" id="{FED78C1C-602D-D96D-7AB4-CBD1C53A7F89}"/>
              </a:ext>
            </a:extLst>
          </p:cNvPr>
          <p:cNvSpPr/>
          <p:nvPr/>
        </p:nvSpPr>
        <p:spPr>
          <a:xfrm>
            <a:off x="9014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29" name="Oval 28">
            <a:extLst>
              <a:ext uri="{FF2B5EF4-FFF2-40B4-BE49-F238E27FC236}">
                <a16:creationId xmlns:a16="http://schemas.microsoft.com/office/drawing/2014/main" id="{C4A01493-FFA4-D10C-2373-F33BA6818D54}"/>
              </a:ext>
            </a:extLst>
          </p:cNvPr>
          <p:cNvSpPr/>
          <p:nvPr/>
        </p:nvSpPr>
        <p:spPr>
          <a:xfrm>
            <a:off x="7871007" y="3276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30" name="Straight Connector 29">
            <a:extLst>
              <a:ext uri="{FF2B5EF4-FFF2-40B4-BE49-F238E27FC236}">
                <a16:creationId xmlns:a16="http://schemas.microsoft.com/office/drawing/2014/main" id="{982BBC44-AA55-00F1-01DE-72DEFA97FAE6}"/>
              </a:ext>
            </a:extLst>
          </p:cNvPr>
          <p:cNvCxnSpPr>
            <a:stCxn id="22" idx="3"/>
            <a:endCxn id="23" idx="7"/>
          </p:cNvCxnSpPr>
          <p:nvPr/>
        </p:nvCxnSpPr>
        <p:spPr>
          <a:xfrm flipH="1">
            <a:off x="7586611" y="1315804"/>
            <a:ext cx="3401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31" name="Straight Connector 30">
            <a:extLst>
              <a:ext uri="{FF2B5EF4-FFF2-40B4-BE49-F238E27FC236}">
                <a16:creationId xmlns:a16="http://schemas.microsoft.com/office/drawing/2014/main" id="{98CF6692-DD1F-4EF2-34C7-EEB6493F3603}"/>
              </a:ext>
            </a:extLst>
          </p:cNvPr>
          <p:cNvCxnSpPr>
            <a:stCxn id="23" idx="3"/>
            <a:endCxn id="25" idx="0"/>
          </p:cNvCxnSpPr>
          <p:nvPr/>
        </p:nvCxnSpPr>
        <p:spPr>
          <a:xfrm flipH="1">
            <a:off x="6994707"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2" name="Straight Connector 31">
            <a:extLst>
              <a:ext uri="{FF2B5EF4-FFF2-40B4-BE49-F238E27FC236}">
                <a16:creationId xmlns:a16="http://schemas.microsoft.com/office/drawing/2014/main" id="{965072A8-61DE-B336-C4C8-62A750C52301}"/>
              </a:ext>
            </a:extLst>
          </p:cNvPr>
          <p:cNvCxnSpPr>
            <a:stCxn id="24" idx="3"/>
            <a:endCxn id="27" idx="0"/>
          </p:cNvCxnSpPr>
          <p:nvPr/>
        </p:nvCxnSpPr>
        <p:spPr>
          <a:xfrm flipH="1">
            <a:off x="8442507" y="1849204"/>
            <a:ext cx="1700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3" name="Straight Connector 32">
            <a:extLst>
              <a:ext uri="{FF2B5EF4-FFF2-40B4-BE49-F238E27FC236}">
                <a16:creationId xmlns:a16="http://schemas.microsoft.com/office/drawing/2014/main" id="{DF2FBD7C-4688-3546-C891-AF2290256037}"/>
              </a:ext>
            </a:extLst>
          </p:cNvPr>
          <p:cNvCxnSpPr>
            <a:stCxn id="24" idx="5"/>
            <a:endCxn id="28" idx="0"/>
          </p:cNvCxnSpPr>
          <p:nvPr/>
        </p:nvCxnSpPr>
        <p:spPr>
          <a:xfrm>
            <a:off x="8882011"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4" name="Straight Connector 33">
            <a:extLst>
              <a:ext uri="{FF2B5EF4-FFF2-40B4-BE49-F238E27FC236}">
                <a16:creationId xmlns:a16="http://schemas.microsoft.com/office/drawing/2014/main" id="{AFE401CA-7A7B-419E-FC6F-933AF8F9E877}"/>
              </a:ext>
            </a:extLst>
          </p:cNvPr>
          <p:cNvCxnSpPr>
            <a:stCxn id="25" idx="4"/>
            <a:endCxn id="29" idx="2"/>
          </p:cNvCxnSpPr>
          <p:nvPr/>
        </p:nvCxnSpPr>
        <p:spPr>
          <a:xfrm>
            <a:off x="6994707" y="2514600"/>
            <a:ext cx="876300" cy="952500"/>
          </a:xfrm>
          <a:prstGeom prst="line">
            <a:avLst/>
          </a:prstGeom>
          <a:noFill/>
          <a:ln w="12700" cap="flat" cmpd="sng" algn="ctr">
            <a:solidFill>
              <a:srgbClr val="00BBD3"/>
            </a:solidFill>
            <a:prstDash val="solid"/>
            <a:miter lim="800000"/>
            <a:headEnd type="none" w="med" len="med"/>
            <a:tailEnd type="none" w="med" len="med"/>
          </a:ln>
          <a:effectLst/>
        </p:spPr>
      </p:cxnSp>
      <p:cxnSp>
        <p:nvCxnSpPr>
          <p:cNvPr id="35" name="Straight Connector 34">
            <a:extLst>
              <a:ext uri="{FF2B5EF4-FFF2-40B4-BE49-F238E27FC236}">
                <a16:creationId xmlns:a16="http://schemas.microsoft.com/office/drawing/2014/main" id="{FA1B143B-C06D-84F8-7685-7E0D267ACC11}"/>
              </a:ext>
            </a:extLst>
          </p:cNvPr>
          <p:cNvCxnSpPr>
            <a:stCxn id="26" idx="4"/>
            <a:endCxn id="29" idx="1"/>
          </p:cNvCxnSpPr>
          <p:nvPr/>
        </p:nvCxnSpPr>
        <p:spPr>
          <a:xfrm>
            <a:off x="7832907" y="2514600"/>
            <a:ext cx="938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6" name="Straight Connector 35">
            <a:extLst>
              <a:ext uri="{FF2B5EF4-FFF2-40B4-BE49-F238E27FC236}">
                <a16:creationId xmlns:a16="http://schemas.microsoft.com/office/drawing/2014/main" id="{BF900128-9287-3225-C7AD-AD27E544751E}"/>
              </a:ext>
            </a:extLst>
          </p:cNvPr>
          <p:cNvCxnSpPr>
            <a:stCxn id="27" idx="4"/>
            <a:endCxn id="29" idx="7"/>
          </p:cNvCxnSpPr>
          <p:nvPr/>
        </p:nvCxnSpPr>
        <p:spPr>
          <a:xfrm flipH="1">
            <a:off x="8196211" y="2514600"/>
            <a:ext cx="2462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7" name="Straight Connector 36">
            <a:extLst>
              <a:ext uri="{FF2B5EF4-FFF2-40B4-BE49-F238E27FC236}">
                <a16:creationId xmlns:a16="http://schemas.microsoft.com/office/drawing/2014/main" id="{F77F21E4-800B-0EDC-B2C1-6E6359C079A8}"/>
              </a:ext>
            </a:extLst>
          </p:cNvPr>
          <p:cNvCxnSpPr/>
          <p:nvPr/>
        </p:nvCxnSpPr>
        <p:spPr>
          <a:xfrm flipV="1">
            <a:off x="1066800" y="3845017"/>
            <a:ext cx="10058400" cy="0"/>
          </a:xfrm>
          <a:prstGeom prst="line">
            <a:avLst/>
          </a:prstGeom>
          <a:noFill/>
          <a:ln w="28575" cap="flat" cmpd="sng" algn="ctr">
            <a:solidFill>
              <a:srgbClr val="F19D19"/>
            </a:solidFill>
            <a:prstDash val="solid"/>
            <a:miter lim="800000"/>
          </a:ln>
          <a:effectLst/>
        </p:spPr>
      </p:cxnSp>
      <p:sp>
        <p:nvSpPr>
          <p:cNvPr id="38" name="Oval 37">
            <a:extLst>
              <a:ext uri="{FF2B5EF4-FFF2-40B4-BE49-F238E27FC236}">
                <a16:creationId xmlns:a16="http://schemas.microsoft.com/office/drawing/2014/main" id="{2618A012-DA97-A1E9-7A84-B4336BF1A59B}"/>
              </a:ext>
            </a:extLst>
          </p:cNvPr>
          <p:cNvSpPr/>
          <p:nvPr/>
        </p:nvSpPr>
        <p:spPr>
          <a:xfrm>
            <a:off x="2308407" y="45642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39" name="Oval 38">
            <a:extLst>
              <a:ext uri="{FF2B5EF4-FFF2-40B4-BE49-F238E27FC236}">
                <a16:creationId xmlns:a16="http://schemas.microsoft.com/office/drawing/2014/main" id="{41700882-54D9-C9A7-129E-827D5BC7221B}"/>
              </a:ext>
            </a:extLst>
          </p:cNvPr>
          <p:cNvSpPr/>
          <p:nvPr/>
        </p:nvSpPr>
        <p:spPr>
          <a:xfrm>
            <a:off x="17750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0" name="Oval 39">
            <a:extLst>
              <a:ext uri="{FF2B5EF4-FFF2-40B4-BE49-F238E27FC236}">
                <a16:creationId xmlns:a16="http://schemas.microsoft.com/office/drawing/2014/main" id="{7A898870-9356-0639-59F2-887080DFC783}"/>
              </a:ext>
            </a:extLst>
          </p:cNvPr>
          <p:cNvSpPr/>
          <p:nvPr/>
        </p:nvSpPr>
        <p:spPr>
          <a:xfrm>
            <a:off x="29180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1" name="Oval 40">
            <a:extLst>
              <a:ext uri="{FF2B5EF4-FFF2-40B4-BE49-F238E27FC236}">
                <a16:creationId xmlns:a16="http://schemas.microsoft.com/office/drawing/2014/main" id="{1C02035F-30CC-090B-2538-8B42D13B2DB4}"/>
              </a:ext>
            </a:extLst>
          </p:cNvPr>
          <p:cNvSpPr/>
          <p:nvPr/>
        </p:nvSpPr>
        <p:spPr>
          <a:xfrm>
            <a:off x="2308407" y="571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2" name="Oval 41">
            <a:extLst>
              <a:ext uri="{FF2B5EF4-FFF2-40B4-BE49-F238E27FC236}">
                <a16:creationId xmlns:a16="http://schemas.microsoft.com/office/drawing/2014/main" id="{EE038A79-A8A5-7208-22DB-23EAEC1AC6B3}"/>
              </a:ext>
            </a:extLst>
          </p:cNvPr>
          <p:cNvSpPr/>
          <p:nvPr/>
        </p:nvSpPr>
        <p:spPr>
          <a:xfrm>
            <a:off x="42134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43" name="Oval 42">
            <a:extLst>
              <a:ext uri="{FF2B5EF4-FFF2-40B4-BE49-F238E27FC236}">
                <a16:creationId xmlns:a16="http://schemas.microsoft.com/office/drawing/2014/main" id="{417C0E0E-55D8-F734-96C6-71442B4CBDFD}"/>
              </a:ext>
            </a:extLst>
          </p:cNvPr>
          <p:cNvSpPr/>
          <p:nvPr/>
        </p:nvSpPr>
        <p:spPr>
          <a:xfrm>
            <a:off x="3527607" y="571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cxnSp>
        <p:nvCxnSpPr>
          <p:cNvPr id="44" name="Straight Connector 43">
            <a:extLst>
              <a:ext uri="{FF2B5EF4-FFF2-40B4-BE49-F238E27FC236}">
                <a16:creationId xmlns:a16="http://schemas.microsoft.com/office/drawing/2014/main" id="{BFD09C95-7786-69EF-D2E8-4C7B20A5FFFA}"/>
              </a:ext>
            </a:extLst>
          </p:cNvPr>
          <p:cNvCxnSpPr>
            <a:stCxn id="38" idx="3"/>
            <a:endCxn id="39" idx="7"/>
          </p:cNvCxnSpPr>
          <p:nvPr/>
        </p:nvCxnSpPr>
        <p:spPr>
          <a:xfrm flipH="1">
            <a:off x="2100211" y="4889500"/>
            <a:ext cx="263992" cy="302092"/>
          </a:xfrm>
          <a:prstGeom prst="line">
            <a:avLst/>
          </a:prstGeom>
          <a:noFill/>
          <a:ln w="12700" cap="flat" cmpd="sng" algn="ctr">
            <a:solidFill>
              <a:srgbClr val="00BBD3"/>
            </a:solidFill>
            <a:prstDash val="solid"/>
            <a:miter lim="800000"/>
          </a:ln>
          <a:effectLst/>
        </p:spPr>
      </p:cxnSp>
      <p:cxnSp>
        <p:nvCxnSpPr>
          <p:cNvPr id="45" name="Straight Connector 44">
            <a:extLst>
              <a:ext uri="{FF2B5EF4-FFF2-40B4-BE49-F238E27FC236}">
                <a16:creationId xmlns:a16="http://schemas.microsoft.com/office/drawing/2014/main" id="{7ED8C8CA-CB64-BE23-6919-26073B4BC851}"/>
              </a:ext>
            </a:extLst>
          </p:cNvPr>
          <p:cNvCxnSpPr>
            <a:stCxn id="38" idx="5"/>
            <a:endCxn id="40" idx="1"/>
          </p:cNvCxnSpPr>
          <p:nvPr/>
        </p:nvCxnSpPr>
        <p:spPr>
          <a:xfrm>
            <a:off x="2633611" y="4889500"/>
            <a:ext cx="340192" cy="302092"/>
          </a:xfrm>
          <a:prstGeom prst="line">
            <a:avLst/>
          </a:prstGeom>
          <a:noFill/>
          <a:ln w="12700" cap="flat" cmpd="sng" algn="ctr">
            <a:solidFill>
              <a:srgbClr val="00BBD3"/>
            </a:solidFill>
            <a:prstDash val="solid"/>
            <a:miter lim="800000"/>
          </a:ln>
          <a:effectLst/>
        </p:spPr>
      </p:cxnSp>
      <p:cxnSp>
        <p:nvCxnSpPr>
          <p:cNvPr id="46" name="Straight Connector 45">
            <a:extLst>
              <a:ext uri="{FF2B5EF4-FFF2-40B4-BE49-F238E27FC236}">
                <a16:creationId xmlns:a16="http://schemas.microsoft.com/office/drawing/2014/main" id="{00790178-E1FB-304F-C583-D02DF518F151}"/>
              </a:ext>
            </a:extLst>
          </p:cNvPr>
          <p:cNvCxnSpPr>
            <a:stCxn id="39" idx="5"/>
            <a:endCxn id="41" idx="2"/>
          </p:cNvCxnSpPr>
          <p:nvPr/>
        </p:nvCxnSpPr>
        <p:spPr>
          <a:xfrm>
            <a:off x="2100211" y="5461000"/>
            <a:ext cx="208196" cy="444500"/>
          </a:xfrm>
          <a:prstGeom prst="line">
            <a:avLst/>
          </a:prstGeom>
          <a:noFill/>
          <a:ln w="12700" cap="flat" cmpd="sng" algn="ctr">
            <a:solidFill>
              <a:srgbClr val="00BBD3"/>
            </a:solidFill>
            <a:prstDash val="solid"/>
            <a:miter lim="800000"/>
          </a:ln>
          <a:effectLst/>
        </p:spPr>
      </p:cxnSp>
      <p:cxnSp>
        <p:nvCxnSpPr>
          <p:cNvPr id="47" name="Straight Connector 46">
            <a:extLst>
              <a:ext uri="{FF2B5EF4-FFF2-40B4-BE49-F238E27FC236}">
                <a16:creationId xmlns:a16="http://schemas.microsoft.com/office/drawing/2014/main" id="{DE5FA1CA-2EDB-F174-E5EC-367C1F6A3A8A}"/>
              </a:ext>
            </a:extLst>
          </p:cNvPr>
          <p:cNvCxnSpPr>
            <a:stCxn id="41" idx="6"/>
            <a:endCxn id="40" idx="3"/>
          </p:cNvCxnSpPr>
          <p:nvPr/>
        </p:nvCxnSpPr>
        <p:spPr>
          <a:xfrm flipV="1">
            <a:off x="2689407" y="5461000"/>
            <a:ext cx="284396" cy="444500"/>
          </a:xfrm>
          <a:prstGeom prst="line">
            <a:avLst/>
          </a:prstGeom>
          <a:noFill/>
          <a:ln w="12700" cap="flat" cmpd="sng" algn="ctr">
            <a:solidFill>
              <a:srgbClr val="00BBD3"/>
            </a:solidFill>
            <a:prstDash val="solid"/>
            <a:miter lim="800000"/>
          </a:ln>
          <a:effectLst/>
        </p:spPr>
      </p:cxnSp>
      <p:cxnSp>
        <p:nvCxnSpPr>
          <p:cNvPr id="48" name="Straight Connector 47">
            <a:extLst>
              <a:ext uri="{FF2B5EF4-FFF2-40B4-BE49-F238E27FC236}">
                <a16:creationId xmlns:a16="http://schemas.microsoft.com/office/drawing/2014/main" id="{7C871BC5-CBC4-ABEF-1529-85F6F4F1B72B}"/>
              </a:ext>
            </a:extLst>
          </p:cNvPr>
          <p:cNvCxnSpPr>
            <a:stCxn id="40" idx="6"/>
            <a:endCxn id="42" idx="2"/>
          </p:cNvCxnSpPr>
          <p:nvPr/>
        </p:nvCxnSpPr>
        <p:spPr>
          <a:xfrm>
            <a:off x="3299007" y="5326296"/>
            <a:ext cx="914400" cy="0"/>
          </a:xfrm>
          <a:prstGeom prst="line">
            <a:avLst/>
          </a:prstGeom>
          <a:noFill/>
          <a:ln w="12700" cap="flat" cmpd="sng" algn="ctr">
            <a:solidFill>
              <a:srgbClr val="00BBD3"/>
            </a:solidFill>
            <a:prstDash val="solid"/>
            <a:miter lim="800000"/>
          </a:ln>
          <a:effectLst/>
        </p:spPr>
      </p:cxnSp>
      <p:cxnSp>
        <p:nvCxnSpPr>
          <p:cNvPr id="49" name="Straight Connector 48">
            <a:extLst>
              <a:ext uri="{FF2B5EF4-FFF2-40B4-BE49-F238E27FC236}">
                <a16:creationId xmlns:a16="http://schemas.microsoft.com/office/drawing/2014/main" id="{9838EDA7-9207-9CCD-9458-FE2F9AC0ED5C}"/>
              </a:ext>
            </a:extLst>
          </p:cNvPr>
          <p:cNvCxnSpPr>
            <a:stCxn id="40" idx="5"/>
            <a:endCxn id="43" idx="1"/>
          </p:cNvCxnSpPr>
          <p:nvPr/>
        </p:nvCxnSpPr>
        <p:spPr>
          <a:xfrm>
            <a:off x="3243211" y="5461000"/>
            <a:ext cx="340192" cy="309796"/>
          </a:xfrm>
          <a:prstGeom prst="line">
            <a:avLst/>
          </a:prstGeom>
          <a:noFill/>
          <a:ln w="12700" cap="flat" cmpd="sng" algn="ctr">
            <a:solidFill>
              <a:srgbClr val="00BBD3"/>
            </a:solidFill>
            <a:prstDash val="solid"/>
            <a:miter lim="800000"/>
          </a:ln>
          <a:effectLst/>
        </p:spPr>
      </p:cxnSp>
      <p:cxnSp>
        <p:nvCxnSpPr>
          <p:cNvPr id="50" name="Straight Connector 49">
            <a:extLst>
              <a:ext uri="{FF2B5EF4-FFF2-40B4-BE49-F238E27FC236}">
                <a16:creationId xmlns:a16="http://schemas.microsoft.com/office/drawing/2014/main" id="{1B11DB40-1DF0-C472-5B3E-4C97B93A50A8}"/>
              </a:ext>
            </a:extLst>
          </p:cNvPr>
          <p:cNvCxnSpPr>
            <a:stCxn id="42" idx="3"/>
            <a:endCxn id="43" idx="6"/>
          </p:cNvCxnSpPr>
          <p:nvPr/>
        </p:nvCxnSpPr>
        <p:spPr>
          <a:xfrm flipH="1">
            <a:off x="3908607" y="5461000"/>
            <a:ext cx="360596" cy="444500"/>
          </a:xfrm>
          <a:prstGeom prst="line">
            <a:avLst/>
          </a:prstGeom>
          <a:noFill/>
          <a:ln w="12700" cap="flat" cmpd="sng" algn="ctr">
            <a:solidFill>
              <a:srgbClr val="00BBD3"/>
            </a:solidFill>
            <a:prstDash val="solid"/>
            <a:miter lim="800000"/>
          </a:ln>
          <a:effectLst/>
        </p:spPr>
      </p:cxnSp>
      <p:sp>
        <p:nvSpPr>
          <p:cNvPr id="51" name="Oval 50">
            <a:extLst>
              <a:ext uri="{FF2B5EF4-FFF2-40B4-BE49-F238E27FC236}">
                <a16:creationId xmlns:a16="http://schemas.microsoft.com/office/drawing/2014/main" id="{044B82E6-6805-72E7-FBE2-EDCAA8E64187}"/>
              </a:ext>
            </a:extLst>
          </p:cNvPr>
          <p:cNvSpPr/>
          <p:nvPr/>
        </p:nvSpPr>
        <p:spPr>
          <a:xfrm>
            <a:off x="7337607" y="44118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2" name="Oval 51">
            <a:extLst>
              <a:ext uri="{FF2B5EF4-FFF2-40B4-BE49-F238E27FC236}">
                <a16:creationId xmlns:a16="http://schemas.microsoft.com/office/drawing/2014/main" id="{32745F3C-0DE8-9E8B-AA59-95787905C9CD}"/>
              </a:ext>
            </a:extLst>
          </p:cNvPr>
          <p:cNvSpPr/>
          <p:nvPr/>
        </p:nvSpPr>
        <p:spPr>
          <a:xfrm>
            <a:off x="68042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53" name="Oval 52">
            <a:extLst>
              <a:ext uri="{FF2B5EF4-FFF2-40B4-BE49-F238E27FC236}">
                <a16:creationId xmlns:a16="http://schemas.microsoft.com/office/drawing/2014/main" id="{59FAA4B1-FC88-D57E-91B5-5832D8C039A6}"/>
              </a:ext>
            </a:extLst>
          </p:cNvPr>
          <p:cNvSpPr/>
          <p:nvPr/>
        </p:nvSpPr>
        <p:spPr>
          <a:xfrm>
            <a:off x="79472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54" name="Oval 53">
            <a:extLst>
              <a:ext uri="{FF2B5EF4-FFF2-40B4-BE49-F238E27FC236}">
                <a16:creationId xmlns:a16="http://schemas.microsoft.com/office/drawing/2014/main" id="{49A8FAE9-DC98-AA4E-AD47-2E306EB1B413}"/>
              </a:ext>
            </a:extLst>
          </p:cNvPr>
          <p:cNvSpPr/>
          <p:nvPr/>
        </p:nvSpPr>
        <p:spPr>
          <a:xfrm>
            <a:off x="7337607" y="5562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55" name="Oval 54">
            <a:extLst>
              <a:ext uri="{FF2B5EF4-FFF2-40B4-BE49-F238E27FC236}">
                <a16:creationId xmlns:a16="http://schemas.microsoft.com/office/drawing/2014/main" id="{EB7DBF9C-6848-B5EF-72D9-BB2FBA70BCDC}"/>
              </a:ext>
            </a:extLst>
          </p:cNvPr>
          <p:cNvSpPr/>
          <p:nvPr/>
        </p:nvSpPr>
        <p:spPr>
          <a:xfrm>
            <a:off x="92426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56" name="Oval 55">
            <a:extLst>
              <a:ext uri="{FF2B5EF4-FFF2-40B4-BE49-F238E27FC236}">
                <a16:creationId xmlns:a16="http://schemas.microsoft.com/office/drawing/2014/main" id="{FE3EE0E1-5743-94A8-DE6A-AF7DFA9FD617}"/>
              </a:ext>
            </a:extLst>
          </p:cNvPr>
          <p:cNvSpPr/>
          <p:nvPr/>
        </p:nvSpPr>
        <p:spPr>
          <a:xfrm>
            <a:off x="8556807" y="5562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cxnSp>
        <p:nvCxnSpPr>
          <p:cNvPr id="57" name="Straight Connector 56">
            <a:extLst>
              <a:ext uri="{FF2B5EF4-FFF2-40B4-BE49-F238E27FC236}">
                <a16:creationId xmlns:a16="http://schemas.microsoft.com/office/drawing/2014/main" id="{7362A086-E654-7EAC-B884-D39E1DBE0677}"/>
              </a:ext>
            </a:extLst>
          </p:cNvPr>
          <p:cNvCxnSpPr>
            <a:stCxn id="51" idx="3"/>
            <a:endCxn id="52" idx="7"/>
          </p:cNvCxnSpPr>
          <p:nvPr/>
        </p:nvCxnSpPr>
        <p:spPr>
          <a:xfrm flipH="1">
            <a:off x="7129411" y="4737100"/>
            <a:ext cx="263992" cy="302092"/>
          </a:xfrm>
          <a:prstGeom prst="line">
            <a:avLst/>
          </a:prstGeom>
          <a:noFill/>
          <a:ln w="12700" cap="flat" cmpd="sng" algn="ctr">
            <a:solidFill>
              <a:srgbClr val="00BBD3"/>
            </a:solidFill>
            <a:prstDash val="solid"/>
            <a:miter lim="800000"/>
          </a:ln>
          <a:effectLst/>
        </p:spPr>
      </p:cxnSp>
      <p:cxnSp>
        <p:nvCxnSpPr>
          <p:cNvPr id="58" name="Straight Connector 57">
            <a:extLst>
              <a:ext uri="{FF2B5EF4-FFF2-40B4-BE49-F238E27FC236}">
                <a16:creationId xmlns:a16="http://schemas.microsoft.com/office/drawing/2014/main" id="{E89C346C-B0D9-8407-7B80-43DCEDAF4276}"/>
              </a:ext>
            </a:extLst>
          </p:cNvPr>
          <p:cNvCxnSpPr>
            <a:stCxn id="52" idx="5"/>
            <a:endCxn id="54" idx="2"/>
          </p:cNvCxnSpPr>
          <p:nvPr/>
        </p:nvCxnSpPr>
        <p:spPr>
          <a:xfrm>
            <a:off x="7129411" y="5308600"/>
            <a:ext cx="208196" cy="444500"/>
          </a:xfrm>
          <a:prstGeom prst="line">
            <a:avLst/>
          </a:prstGeom>
          <a:noFill/>
          <a:ln w="12700" cap="flat" cmpd="sng" algn="ctr">
            <a:solidFill>
              <a:srgbClr val="00BBD3"/>
            </a:solidFill>
            <a:prstDash val="solid"/>
            <a:miter lim="800000"/>
          </a:ln>
          <a:effectLst/>
        </p:spPr>
      </p:cxnSp>
      <p:cxnSp>
        <p:nvCxnSpPr>
          <p:cNvPr id="59" name="Straight Connector 58">
            <a:extLst>
              <a:ext uri="{FF2B5EF4-FFF2-40B4-BE49-F238E27FC236}">
                <a16:creationId xmlns:a16="http://schemas.microsoft.com/office/drawing/2014/main" id="{660B78F8-B676-4D3B-8210-A906F7992375}"/>
              </a:ext>
            </a:extLst>
          </p:cNvPr>
          <p:cNvCxnSpPr>
            <a:stCxn id="54" idx="7"/>
            <a:endCxn id="53" idx="3"/>
          </p:cNvCxnSpPr>
          <p:nvPr/>
        </p:nvCxnSpPr>
        <p:spPr>
          <a:xfrm flipV="1">
            <a:off x="7662811" y="5308600"/>
            <a:ext cx="340192" cy="309796"/>
          </a:xfrm>
          <a:prstGeom prst="line">
            <a:avLst/>
          </a:prstGeom>
          <a:noFill/>
          <a:ln w="12700" cap="flat" cmpd="sng" algn="ctr">
            <a:solidFill>
              <a:srgbClr val="00BBD3"/>
            </a:solidFill>
            <a:prstDash val="solid"/>
            <a:miter lim="800000"/>
          </a:ln>
          <a:effectLst/>
        </p:spPr>
      </p:cxnSp>
      <p:cxnSp>
        <p:nvCxnSpPr>
          <p:cNvPr id="60" name="Straight Connector 59">
            <a:extLst>
              <a:ext uri="{FF2B5EF4-FFF2-40B4-BE49-F238E27FC236}">
                <a16:creationId xmlns:a16="http://schemas.microsoft.com/office/drawing/2014/main" id="{4CA426EF-A28B-D89D-9A99-A1B6110EEEC8}"/>
              </a:ext>
            </a:extLst>
          </p:cNvPr>
          <p:cNvCxnSpPr>
            <a:stCxn id="53" idx="5"/>
            <a:endCxn id="56" idx="1"/>
          </p:cNvCxnSpPr>
          <p:nvPr/>
        </p:nvCxnSpPr>
        <p:spPr>
          <a:xfrm>
            <a:off x="8272411" y="5308600"/>
            <a:ext cx="340192" cy="309796"/>
          </a:xfrm>
          <a:prstGeom prst="line">
            <a:avLst/>
          </a:prstGeom>
          <a:noFill/>
          <a:ln w="12700" cap="flat" cmpd="sng" algn="ctr">
            <a:solidFill>
              <a:srgbClr val="00BBD3"/>
            </a:solidFill>
            <a:prstDash val="solid"/>
            <a:miter lim="800000"/>
          </a:ln>
          <a:effectLst/>
        </p:spPr>
      </p:cxnSp>
      <p:cxnSp>
        <p:nvCxnSpPr>
          <p:cNvPr id="61" name="Straight Connector 60">
            <a:extLst>
              <a:ext uri="{FF2B5EF4-FFF2-40B4-BE49-F238E27FC236}">
                <a16:creationId xmlns:a16="http://schemas.microsoft.com/office/drawing/2014/main" id="{BEF4BBFE-4765-2386-A115-A41DD4158825}"/>
              </a:ext>
            </a:extLst>
          </p:cNvPr>
          <p:cNvCxnSpPr>
            <a:stCxn id="55" idx="3"/>
            <a:endCxn id="56" idx="6"/>
          </p:cNvCxnSpPr>
          <p:nvPr/>
        </p:nvCxnSpPr>
        <p:spPr>
          <a:xfrm flipH="1">
            <a:off x="8937807" y="5308600"/>
            <a:ext cx="360596" cy="444500"/>
          </a:xfrm>
          <a:prstGeom prst="line">
            <a:avLst/>
          </a:prstGeom>
          <a:noFill/>
          <a:ln w="12700" cap="flat" cmpd="sng" algn="ctr">
            <a:solidFill>
              <a:srgbClr val="00BBD3"/>
            </a:solidFill>
            <a:prstDash val="solid"/>
            <a:miter lim="800000"/>
          </a:ln>
          <a:effectLst/>
        </p:spPr>
      </p:cxnSp>
      <p:sp>
        <p:nvSpPr>
          <p:cNvPr id="62" name="TextBox 61">
            <a:extLst>
              <a:ext uri="{FF2B5EF4-FFF2-40B4-BE49-F238E27FC236}">
                <a16:creationId xmlns:a16="http://schemas.microsoft.com/office/drawing/2014/main" id="{1377DC75-DB42-1560-2D50-79EDDE700F09}"/>
              </a:ext>
            </a:extLst>
          </p:cNvPr>
          <p:cNvSpPr txBox="1"/>
          <p:nvPr/>
        </p:nvSpPr>
        <p:spPr>
          <a:xfrm>
            <a:off x="1165407" y="999795"/>
            <a:ext cx="1046396" cy="461665"/>
          </a:xfrm>
          <a:prstGeom prst="rect">
            <a:avLst/>
          </a:prstGeom>
          <a:solidFill>
            <a:sysClr val="window" lastClr="FFFFFF">
              <a:lumMod val="8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rPr>
              <a:t>Graph </a:t>
            </a:r>
          </a:p>
        </p:txBody>
      </p:sp>
      <p:sp>
        <p:nvSpPr>
          <p:cNvPr id="63" name="TextBox 62">
            <a:extLst>
              <a:ext uri="{FF2B5EF4-FFF2-40B4-BE49-F238E27FC236}">
                <a16:creationId xmlns:a16="http://schemas.microsoft.com/office/drawing/2014/main" id="{6C6341FF-E778-463C-558D-281758FC4C58}"/>
              </a:ext>
            </a:extLst>
          </p:cNvPr>
          <p:cNvSpPr txBox="1"/>
          <p:nvPr/>
        </p:nvSpPr>
        <p:spPr>
          <a:xfrm>
            <a:off x="1165407" y="3983896"/>
            <a:ext cx="1122596" cy="461665"/>
          </a:xfrm>
          <a:prstGeom prst="rect">
            <a:avLst/>
          </a:prstGeom>
          <a:solidFill>
            <a:sysClr val="window" lastClr="FFFFFF">
              <a:lumMod val="8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rPr>
              <a:t>Graph </a:t>
            </a:r>
          </a:p>
        </p:txBody>
      </p:sp>
      <p:sp>
        <p:nvSpPr>
          <p:cNvPr id="64" name="Rectangle 63">
            <a:extLst>
              <a:ext uri="{FF2B5EF4-FFF2-40B4-BE49-F238E27FC236}">
                <a16:creationId xmlns:a16="http://schemas.microsoft.com/office/drawing/2014/main" id="{2ACA1D23-02AC-C198-235E-6405940E709E}"/>
              </a:ext>
            </a:extLst>
          </p:cNvPr>
          <p:cNvSpPr/>
          <p:nvPr/>
        </p:nvSpPr>
        <p:spPr>
          <a:xfrm>
            <a:off x="4660153" y="1030572"/>
            <a:ext cx="1971250" cy="400110"/>
          </a:xfrm>
          <a:prstGeom prst="rect">
            <a:avLst/>
          </a:prstGeom>
          <a:solidFill>
            <a:srgbClr val="B84742">
              <a:lumMod val="20000"/>
              <a:lumOff val="80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12121"/>
                </a:solidFill>
                <a:effectLst/>
                <a:uLnTx/>
                <a:uFillTx/>
                <a:latin typeface="Roboto Condensed"/>
              </a:rPr>
              <a:t>Spanning Tree </a:t>
            </a:r>
          </a:p>
        </p:txBody>
      </p:sp>
      <p:sp>
        <p:nvSpPr>
          <p:cNvPr id="65" name="Rectangle 64">
            <a:extLst>
              <a:ext uri="{FF2B5EF4-FFF2-40B4-BE49-F238E27FC236}">
                <a16:creationId xmlns:a16="http://schemas.microsoft.com/office/drawing/2014/main" id="{4974BE24-5693-AB0E-AA90-43DFAC5D7064}"/>
              </a:ext>
            </a:extLst>
          </p:cNvPr>
          <p:cNvSpPr/>
          <p:nvPr/>
        </p:nvSpPr>
        <p:spPr>
          <a:xfrm>
            <a:off x="4583954" y="4014714"/>
            <a:ext cx="1940428" cy="400110"/>
          </a:xfrm>
          <a:prstGeom prst="rect">
            <a:avLst/>
          </a:prstGeom>
          <a:solidFill>
            <a:srgbClr val="B84742">
              <a:lumMod val="20000"/>
              <a:lumOff val="80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12121"/>
                </a:solidFill>
                <a:effectLst/>
                <a:uLnTx/>
                <a:uFillTx/>
                <a:latin typeface="Roboto Condensed"/>
              </a:rPr>
              <a:t>Spanning Tree </a:t>
            </a:r>
          </a:p>
        </p:txBody>
      </p:sp>
      <p:cxnSp>
        <p:nvCxnSpPr>
          <p:cNvPr id="66" name="Elbow Connector 65">
            <a:extLst>
              <a:ext uri="{FF2B5EF4-FFF2-40B4-BE49-F238E27FC236}">
                <a16:creationId xmlns:a16="http://schemas.microsoft.com/office/drawing/2014/main" id="{5BAC6A77-E2CB-03D6-6BB6-7043C99CD984}"/>
              </a:ext>
            </a:extLst>
          </p:cNvPr>
          <p:cNvCxnSpPr>
            <a:stCxn id="64" idx="2"/>
          </p:cNvCxnSpPr>
          <p:nvPr/>
        </p:nvCxnSpPr>
        <p:spPr>
          <a:xfrm rot="16200000" flipH="1">
            <a:off x="5379763" y="1696697"/>
            <a:ext cx="1212850" cy="680820"/>
          </a:xfrm>
          <a:prstGeom prst="bentConnector3">
            <a:avLst>
              <a:gd name="adj1" fmla="val 50000"/>
            </a:avLst>
          </a:prstGeom>
          <a:noFill/>
          <a:ln w="28575" cap="flat" cmpd="sng" algn="ctr">
            <a:solidFill>
              <a:srgbClr val="AD1457"/>
            </a:solidFill>
            <a:prstDash val="solid"/>
            <a:miter lim="800000"/>
            <a:headEnd type="none" w="med" len="med"/>
            <a:tailEnd type="triangle" w="lg" len="lg"/>
          </a:ln>
          <a:effectLst/>
        </p:spPr>
      </p:cxnSp>
      <p:sp>
        <p:nvSpPr>
          <p:cNvPr id="67" name="Left Brace 66">
            <a:extLst>
              <a:ext uri="{FF2B5EF4-FFF2-40B4-BE49-F238E27FC236}">
                <a16:creationId xmlns:a16="http://schemas.microsoft.com/office/drawing/2014/main" id="{60DE9903-C551-D064-18B5-E32992D1BF68}"/>
              </a:ext>
            </a:extLst>
          </p:cNvPr>
          <p:cNvSpPr/>
          <p:nvPr/>
        </p:nvSpPr>
        <p:spPr>
          <a:xfrm>
            <a:off x="6270807" y="1615052"/>
            <a:ext cx="381000" cy="2077804"/>
          </a:xfrm>
          <a:prstGeom prst="leftBrace">
            <a:avLst/>
          </a:prstGeom>
          <a:noFill/>
          <a:ln w="28575" cap="flat" cmpd="sng" algn="ctr">
            <a:solidFill>
              <a:srgbClr val="AD145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AD1457"/>
              </a:solidFill>
              <a:effectLst/>
              <a:uLnTx/>
              <a:uFillTx/>
              <a:latin typeface="Roboto Condensed"/>
              <a:ea typeface="+mn-ea"/>
              <a:cs typeface="+mn-cs"/>
            </a:endParaRPr>
          </a:p>
        </p:txBody>
      </p:sp>
      <p:cxnSp>
        <p:nvCxnSpPr>
          <p:cNvPr id="68" name="Elbow Connector 67">
            <a:extLst>
              <a:ext uri="{FF2B5EF4-FFF2-40B4-BE49-F238E27FC236}">
                <a16:creationId xmlns:a16="http://schemas.microsoft.com/office/drawing/2014/main" id="{9D9456F4-AD92-4543-73C0-5B782178CCE7}"/>
              </a:ext>
            </a:extLst>
          </p:cNvPr>
          <p:cNvCxnSpPr>
            <a:stCxn id="65" idx="2"/>
            <a:endCxn id="69" idx="1"/>
          </p:cNvCxnSpPr>
          <p:nvPr/>
        </p:nvCxnSpPr>
        <p:spPr>
          <a:xfrm rot="16200000" flipH="1">
            <a:off x="5497743" y="4471248"/>
            <a:ext cx="924455" cy="811605"/>
          </a:xfrm>
          <a:prstGeom prst="bentConnector2">
            <a:avLst/>
          </a:prstGeom>
          <a:noFill/>
          <a:ln w="28575" cap="flat" cmpd="sng" algn="ctr">
            <a:solidFill>
              <a:srgbClr val="AD1457"/>
            </a:solidFill>
            <a:prstDash val="solid"/>
            <a:miter lim="800000"/>
            <a:headEnd type="none" w="med" len="med"/>
            <a:tailEnd type="triangle" w="lg" len="lg"/>
          </a:ln>
          <a:effectLst/>
        </p:spPr>
      </p:cxnSp>
      <p:sp>
        <p:nvSpPr>
          <p:cNvPr id="69" name="Left Brace 68">
            <a:extLst>
              <a:ext uri="{FF2B5EF4-FFF2-40B4-BE49-F238E27FC236}">
                <a16:creationId xmlns:a16="http://schemas.microsoft.com/office/drawing/2014/main" id="{F3F94A9B-0670-E98D-BB56-BAE41E57B422}"/>
              </a:ext>
            </a:extLst>
          </p:cNvPr>
          <p:cNvSpPr/>
          <p:nvPr/>
        </p:nvSpPr>
        <p:spPr>
          <a:xfrm>
            <a:off x="6365773" y="4430158"/>
            <a:ext cx="381000" cy="1818242"/>
          </a:xfrm>
          <a:prstGeom prst="leftBrace">
            <a:avLst/>
          </a:prstGeom>
          <a:noFill/>
          <a:ln w="28575" cap="flat" cmpd="sng" algn="ctr">
            <a:solidFill>
              <a:srgbClr val="AD145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a typeface="+mn-ea"/>
              <a:cs typeface="+mn-cs"/>
            </a:endParaRPr>
          </a:p>
        </p:txBody>
      </p:sp>
      <p:sp>
        <p:nvSpPr>
          <p:cNvPr id="73" name="TextBox 72">
            <a:extLst>
              <a:ext uri="{FF2B5EF4-FFF2-40B4-BE49-F238E27FC236}">
                <a16:creationId xmlns:a16="http://schemas.microsoft.com/office/drawing/2014/main" id="{CA629019-4740-2F48-8C48-02FEC464278E}"/>
              </a:ext>
            </a:extLst>
          </p:cNvPr>
          <p:cNvSpPr txBox="1"/>
          <p:nvPr/>
        </p:nvSpPr>
        <p:spPr>
          <a:xfrm>
            <a:off x="330060" y="183800"/>
            <a:ext cx="6194322"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Spanning Tree Examples </a:t>
            </a:r>
          </a:p>
        </p:txBody>
      </p:sp>
    </p:spTree>
    <p:extLst>
      <p:ext uri="{BB962C8B-B14F-4D97-AF65-F5344CB8AC3E}">
        <p14:creationId xmlns:p14="http://schemas.microsoft.com/office/powerpoint/2010/main" val="15461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left)">
                                      <p:cBhvr>
                                        <p:cTn id="57" dur="500"/>
                                        <p:tgtEl>
                                          <p:spTgt spid="6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par>
                          <p:cTn id="62" fill="hold">
                            <p:stCondLst>
                              <p:cond delay="0"/>
                            </p:stCondLst>
                            <p:childTnLst>
                              <p:par>
                                <p:cTn id="63" presetID="22" presetClass="entr" presetSubtype="2" fill="hold"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right)">
                                      <p:cBhvr>
                                        <p:cTn id="65" dur="500"/>
                                        <p:tgtEl>
                                          <p:spTgt spid="30"/>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par>
                          <p:cTn id="69" fill="hold">
                            <p:stCondLst>
                              <p:cond delay="500"/>
                            </p:stCondLst>
                            <p:childTnLst>
                              <p:par>
                                <p:cTn id="70" presetID="22" presetClass="entr" presetSubtype="2" fill="hold"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right)">
                                      <p:cBhvr>
                                        <p:cTn id="72" dur="500"/>
                                        <p:tgtEl>
                                          <p:spTgt spid="31"/>
                                        </p:tgtEl>
                                      </p:cBhvr>
                                    </p:animEffect>
                                  </p:childTnLst>
                                </p:cTn>
                              </p:par>
                            </p:childTnLst>
                          </p:cTn>
                        </p:par>
                        <p:par>
                          <p:cTn id="73" fill="hold">
                            <p:stCondLst>
                              <p:cond delay="1000"/>
                            </p:stCondLst>
                            <p:childTnLst>
                              <p:par>
                                <p:cTn id="74" presetID="1"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p:stCondLst>
                              <p:cond delay="1500"/>
                            </p:stCondLst>
                            <p:childTnLst>
                              <p:par>
                                <p:cTn id="81" presetID="1"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par>
                          <p:cTn id="83" fill="hold">
                            <p:stCondLst>
                              <p:cond delay="1500"/>
                            </p:stCondLst>
                            <p:childTnLst>
                              <p:par>
                                <p:cTn id="84" presetID="22" presetClass="entr" presetSubtype="4" fill="hold"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down)">
                                      <p:cBhvr>
                                        <p:cTn id="86" dur="500"/>
                                        <p:tgtEl>
                                          <p:spTgt spid="35"/>
                                        </p:tgtEl>
                                      </p:cBhvr>
                                    </p:animEffect>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childTnLst>
                                </p:cTn>
                              </p:par>
                            </p:childTnLst>
                          </p:cTn>
                        </p:par>
                        <p:par>
                          <p:cTn id="90" fill="hold">
                            <p:stCondLst>
                              <p:cond delay="2000"/>
                            </p:stCondLst>
                            <p:childTnLst>
                              <p:par>
                                <p:cTn id="91" presetID="22" presetClass="entr" presetSubtype="4" fill="hold"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par>
                          <p:cTn id="94" fill="hold">
                            <p:stCondLst>
                              <p:cond delay="2500"/>
                            </p:stCondLst>
                            <p:childTnLst>
                              <p:par>
                                <p:cTn id="95" presetID="1" presetClass="entr" presetSubtype="0"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par>
                          <p:cTn id="97" fill="hold">
                            <p:stCondLst>
                              <p:cond delay="2500"/>
                            </p:stCondLst>
                            <p:childTnLst>
                              <p:par>
                                <p:cTn id="98" presetID="22" presetClass="entr" presetSubtype="4" fill="hold" nodeType="after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wipe(down)">
                                      <p:cBhvr>
                                        <p:cTn id="100" dur="500"/>
                                        <p:tgtEl>
                                          <p:spTgt spid="32"/>
                                        </p:tgtEl>
                                      </p:cBhvr>
                                    </p:animEffect>
                                  </p:childTnLst>
                                </p:cTn>
                              </p:par>
                            </p:childTnLst>
                          </p:cTn>
                        </p:par>
                        <p:par>
                          <p:cTn id="101" fill="hold">
                            <p:stCondLst>
                              <p:cond delay="3000"/>
                            </p:stCondLst>
                            <p:childTnLst>
                              <p:par>
                                <p:cTn id="102" presetID="1" presetClass="entr" presetSubtype="0" fill="hold" grpId="0" nodeType="afterEffect">
                                  <p:stCondLst>
                                    <p:cond delay="0"/>
                                  </p:stCondLst>
                                  <p:childTnLst>
                                    <p:set>
                                      <p:cBhvr>
                                        <p:cTn id="103" dur="1" fill="hold">
                                          <p:stCondLst>
                                            <p:cond delay="0"/>
                                          </p:stCondLst>
                                        </p:cTn>
                                        <p:tgtEl>
                                          <p:spTgt spid="24"/>
                                        </p:tgtEl>
                                        <p:attrNameLst>
                                          <p:attrName>style.visibility</p:attrName>
                                        </p:attrNameLst>
                                      </p:cBhvr>
                                      <p:to>
                                        <p:strVal val="visible"/>
                                      </p:to>
                                    </p:set>
                                  </p:childTnLst>
                                </p:cTn>
                              </p:par>
                            </p:childTnLst>
                          </p:cTn>
                        </p:par>
                        <p:par>
                          <p:cTn id="104" fill="hold">
                            <p:stCondLst>
                              <p:cond delay="3000"/>
                            </p:stCondLst>
                            <p:childTnLst>
                              <p:par>
                                <p:cTn id="105" presetID="22" presetClass="entr" presetSubtype="1" fill="hold" nodeType="after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up)">
                                      <p:cBhvr>
                                        <p:cTn id="107" dur="500"/>
                                        <p:tgtEl>
                                          <p:spTgt spid="33"/>
                                        </p:tgtEl>
                                      </p:cBhvr>
                                    </p:animEffect>
                                  </p:childTnLst>
                                </p:cTn>
                              </p:par>
                            </p:childTnLst>
                          </p:cTn>
                        </p:par>
                        <p:par>
                          <p:cTn id="108" fill="hold">
                            <p:stCondLst>
                              <p:cond delay="3500"/>
                            </p:stCondLst>
                            <p:childTnLst>
                              <p:par>
                                <p:cTn id="109" presetID="1" presetClass="entr" presetSubtype="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par>
                          <p:cTn id="111" fill="hold">
                            <p:stCondLst>
                              <p:cond delay="3500"/>
                            </p:stCondLst>
                            <p:childTnLst>
                              <p:par>
                                <p:cTn id="112" presetID="22" presetClass="entr" presetSubtype="8" fill="hold" nodeType="after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0"/>
                                        <p:tgtEl>
                                          <p:spTgt spid="63"/>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4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500"/>
                                        <p:tgtEl>
                                          <p:spTgt spid="65"/>
                                        </p:tgtEl>
                                      </p:cBhvr>
                                    </p:animEffec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up)">
                                      <p:cBhvr>
                                        <p:cTn id="155" dur="500"/>
                                        <p:tgtEl>
                                          <p:spTgt spid="68"/>
                                        </p:tgtEl>
                                      </p:cBhvr>
                                    </p:animEffect>
                                  </p:childTnLst>
                                </p:cTn>
                              </p:par>
                            </p:childTnLst>
                          </p:cTn>
                        </p:par>
                        <p:par>
                          <p:cTn id="156" fill="hold">
                            <p:stCondLst>
                              <p:cond delay="1000"/>
                            </p:stCondLst>
                            <p:childTnLst>
                              <p:par>
                                <p:cTn id="157" presetID="22" presetClass="entr" presetSubtype="8" fill="hold" grpId="0" nodeType="afterEffect">
                                  <p:stCondLst>
                                    <p:cond delay="0"/>
                                  </p:stCondLst>
                                  <p:childTnLst>
                                    <p:set>
                                      <p:cBhvr>
                                        <p:cTn id="158" dur="1" fill="hold">
                                          <p:stCondLst>
                                            <p:cond delay="0"/>
                                          </p:stCondLst>
                                        </p:cTn>
                                        <p:tgtEl>
                                          <p:spTgt spid="69"/>
                                        </p:tgtEl>
                                        <p:attrNameLst>
                                          <p:attrName>style.visibility</p:attrName>
                                        </p:attrNameLst>
                                      </p:cBhvr>
                                      <p:to>
                                        <p:strVal val="visible"/>
                                      </p:to>
                                    </p:set>
                                    <p:animEffect transition="in" filter="wipe(left)">
                                      <p:cBhvr>
                                        <p:cTn id="159" dur="500"/>
                                        <p:tgtEl>
                                          <p:spTgt spid="69"/>
                                        </p:tgtEl>
                                      </p:cBhvr>
                                    </p:animEffect>
                                  </p:childTnLst>
                                </p:cTn>
                              </p:par>
                            </p:childTnLst>
                          </p:cTn>
                        </p:par>
                        <p:par>
                          <p:cTn id="160" fill="hold">
                            <p:stCondLst>
                              <p:cond delay="1500"/>
                            </p:stCondLst>
                            <p:childTnLst>
                              <p:par>
                                <p:cTn id="161" presetID="1" presetClass="entr" presetSubtype="0" fill="hold" grpId="0" nodeType="afterEffect">
                                  <p:stCondLst>
                                    <p:cond delay="0"/>
                                  </p:stCondLst>
                                  <p:childTnLst>
                                    <p:set>
                                      <p:cBhvr>
                                        <p:cTn id="162" dur="1" fill="hold">
                                          <p:stCondLst>
                                            <p:cond delay="0"/>
                                          </p:stCondLst>
                                        </p:cTn>
                                        <p:tgtEl>
                                          <p:spTgt spid="51"/>
                                        </p:tgtEl>
                                        <p:attrNameLst>
                                          <p:attrName>style.visibility</p:attrName>
                                        </p:attrNameLst>
                                      </p:cBhvr>
                                      <p:to>
                                        <p:strVal val="visible"/>
                                      </p:to>
                                    </p:set>
                                  </p:childTnLst>
                                </p:cTn>
                              </p:par>
                            </p:childTnLst>
                          </p:cTn>
                        </p:par>
                        <p:par>
                          <p:cTn id="163" fill="hold">
                            <p:stCondLst>
                              <p:cond delay="1500"/>
                            </p:stCondLst>
                            <p:childTnLst>
                              <p:par>
                                <p:cTn id="164" presetID="22" presetClass="entr" presetSubtype="1" fill="hold" nodeType="afterEffect">
                                  <p:stCondLst>
                                    <p:cond delay="0"/>
                                  </p:stCondLst>
                                  <p:childTnLst>
                                    <p:set>
                                      <p:cBhvr>
                                        <p:cTn id="165" dur="1" fill="hold">
                                          <p:stCondLst>
                                            <p:cond delay="0"/>
                                          </p:stCondLst>
                                        </p:cTn>
                                        <p:tgtEl>
                                          <p:spTgt spid="57"/>
                                        </p:tgtEl>
                                        <p:attrNameLst>
                                          <p:attrName>style.visibility</p:attrName>
                                        </p:attrNameLst>
                                      </p:cBhvr>
                                      <p:to>
                                        <p:strVal val="visible"/>
                                      </p:to>
                                    </p:set>
                                    <p:animEffect transition="in" filter="wipe(up)">
                                      <p:cBhvr>
                                        <p:cTn id="166" dur="500"/>
                                        <p:tgtEl>
                                          <p:spTgt spid="57"/>
                                        </p:tgtEl>
                                      </p:cBhvr>
                                    </p:animEffect>
                                  </p:childTnLst>
                                </p:cTn>
                              </p:par>
                            </p:childTnLst>
                          </p:cTn>
                        </p:par>
                        <p:par>
                          <p:cTn id="167" fill="hold">
                            <p:stCondLst>
                              <p:cond delay="2000"/>
                            </p:stCondLst>
                            <p:childTnLst>
                              <p:par>
                                <p:cTn id="168" presetID="1" presetClass="entr" presetSubtype="0" fill="hold" grpId="0" nodeType="afterEffect">
                                  <p:stCondLst>
                                    <p:cond delay="0"/>
                                  </p:stCondLst>
                                  <p:childTnLst>
                                    <p:set>
                                      <p:cBhvr>
                                        <p:cTn id="169" dur="1" fill="hold">
                                          <p:stCondLst>
                                            <p:cond delay="0"/>
                                          </p:stCondLst>
                                        </p:cTn>
                                        <p:tgtEl>
                                          <p:spTgt spid="52"/>
                                        </p:tgtEl>
                                        <p:attrNameLst>
                                          <p:attrName>style.visibility</p:attrName>
                                        </p:attrNameLst>
                                      </p:cBhvr>
                                      <p:to>
                                        <p:strVal val="visible"/>
                                      </p:to>
                                    </p:set>
                                  </p:childTnLst>
                                </p:cTn>
                              </p:par>
                            </p:childTnLst>
                          </p:cTn>
                        </p:par>
                        <p:par>
                          <p:cTn id="170" fill="hold">
                            <p:stCondLst>
                              <p:cond delay="2000"/>
                            </p:stCondLst>
                            <p:childTnLst>
                              <p:par>
                                <p:cTn id="171" presetID="22" presetClass="entr" presetSubtype="1" fill="hold" nodeType="after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wipe(up)">
                                      <p:cBhvr>
                                        <p:cTn id="173" dur="500"/>
                                        <p:tgtEl>
                                          <p:spTgt spid="58"/>
                                        </p:tgtEl>
                                      </p:cBhvr>
                                    </p:animEffect>
                                  </p:childTnLst>
                                </p:cTn>
                              </p:par>
                            </p:childTnLst>
                          </p:cTn>
                        </p:par>
                        <p:par>
                          <p:cTn id="174" fill="hold">
                            <p:stCondLst>
                              <p:cond delay="2500"/>
                            </p:stCondLst>
                            <p:childTnLst>
                              <p:par>
                                <p:cTn id="175" presetID="1" presetClass="entr" presetSubtype="0" fill="hold" grpId="0" nodeType="afterEffect">
                                  <p:stCondLst>
                                    <p:cond delay="0"/>
                                  </p:stCondLst>
                                  <p:childTnLst>
                                    <p:set>
                                      <p:cBhvr>
                                        <p:cTn id="176" dur="1" fill="hold">
                                          <p:stCondLst>
                                            <p:cond delay="0"/>
                                          </p:stCondLst>
                                        </p:cTn>
                                        <p:tgtEl>
                                          <p:spTgt spid="54"/>
                                        </p:tgtEl>
                                        <p:attrNameLst>
                                          <p:attrName>style.visibility</p:attrName>
                                        </p:attrNameLst>
                                      </p:cBhvr>
                                      <p:to>
                                        <p:strVal val="visible"/>
                                      </p:to>
                                    </p:set>
                                  </p:childTnLst>
                                </p:cTn>
                              </p:par>
                            </p:childTnLst>
                          </p:cTn>
                        </p:par>
                        <p:par>
                          <p:cTn id="177" fill="hold">
                            <p:stCondLst>
                              <p:cond delay="2500"/>
                            </p:stCondLst>
                            <p:childTnLst>
                              <p:par>
                                <p:cTn id="178" presetID="22" presetClass="entr" presetSubtype="4" fill="hold" nodeType="after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down)">
                                      <p:cBhvr>
                                        <p:cTn id="180" dur="500"/>
                                        <p:tgtEl>
                                          <p:spTgt spid="59"/>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visible"/>
                                      </p:to>
                                    </p:set>
                                  </p:childTnLst>
                                </p:cTn>
                              </p:par>
                            </p:childTnLst>
                          </p:cTn>
                        </p:par>
                        <p:par>
                          <p:cTn id="184" fill="hold">
                            <p:stCondLst>
                              <p:cond delay="3000"/>
                            </p:stCondLst>
                            <p:childTnLst>
                              <p:par>
                                <p:cTn id="185" presetID="22" presetClass="entr" presetSubtype="1" fill="hold" nodeType="afterEffect">
                                  <p:stCondLst>
                                    <p:cond delay="0"/>
                                  </p:stCondLst>
                                  <p:childTnLst>
                                    <p:set>
                                      <p:cBhvr>
                                        <p:cTn id="186" dur="1" fill="hold">
                                          <p:stCondLst>
                                            <p:cond delay="0"/>
                                          </p:stCondLst>
                                        </p:cTn>
                                        <p:tgtEl>
                                          <p:spTgt spid="60"/>
                                        </p:tgtEl>
                                        <p:attrNameLst>
                                          <p:attrName>style.visibility</p:attrName>
                                        </p:attrNameLst>
                                      </p:cBhvr>
                                      <p:to>
                                        <p:strVal val="visible"/>
                                      </p:to>
                                    </p:set>
                                    <p:animEffect transition="in" filter="wipe(up)">
                                      <p:cBhvr>
                                        <p:cTn id="187" dur="500"/>
                                        <p:tgtEl>
                                          <p:spTgt spid="60"/>
                                        </p:tgtEl>
                                      </p:cBhvr>
                                    </p:animEffect>
                                  </p:childTnLst>
                                </p:cTn>
                              </p:par>
                            </p:childTnLst>
                          </p:cTn>
                        </p:par>
                        <p:par>
                          <p:cTn id="188" fill="hold">
                            <p:stCondLst>
                              <p:cond delay="3500"/>
                            </p:stCondLst>
                            <p:childTnLst>
                              <p:par>
                                <p:cTn id="189" presetID="1" presetClass="entr" presetSubtype="0" fill="hold" grpId="0" nodeType="afterEffect">
                                  <p:stCondLst>
                                    <p:cond delay="0"/>
                                  </p:stCondLst>
                                  <p:childTnLst>
                                    <p:set>
                                      <p:cBhvr>
                                        <p:cTn id="190" dur="1" fill="hold">
                                          <p:stCondLst>
                                            <p:cond delay="0"/>
                                          </p:stCondLst>
                                        </p:cTn>
                                        <p:tgtEl>
                                          <p:spTgt spid="56"/>
                                        </p:tgtEl>
                                        <p:attrNameLst>
                                          <p:attrName>style.visibility</p:attrName>
                                        </p:attrNameLst>
                                      </p:cBhvr>
                                      <p:to>
                                        <p:strVal val="visible"/>
                                      </p:to>
                                    </p:set>
                                  </p:childTnLst>
                                </p:cTn>
                              </p:par>
                            </p:childTnLst>
                          </p:cTn>
                        </p:par>
                        <p:par>
                          <p:cTn id="191" fill="hold">
                            <p:stCondLst>
                              <p:cond delay="3500"/>
                            </p:stCondLst>
                            <p:childTnLst>
                              <p:par>
                                <p:cTn id="192" presetID="22" presetClass="entr" presetSubtype="4" fill="hold" nodeType="afterEffect">
                                  <p:stCondLst>
                                    <p:cond delay="0"/>
                                  </p:stCondLst>
                                  <p:childTnLst>
                                    <p:set>
                                      <p:cBhvr>
                                        <p:cTn id="193" dur="1" fill="hold">
                                          <p:stCondLst>
                                            <p:cond delay="0"/>
                                          </p:stCondLst>
                                        </p:cTn>
                                        <p:tgtEl>
                                          <p:spTgt spid="61"/>
                                        </p:tgtEl>
                                        <p:attrNameLst>
                                          <p:attrName>style.visibility</p:attrName>
                                        </p:attrNameLst>
                                      </p:cBhvr>
                                      <p:to>
                                        <p:strVal val="visible"/>
                                      </p:to>
                                    </p:set>
                                    <p:animEffect transition="in" filter="wipe(down)">
                                      <p:cBhvr>
                                        <p:cTn id="194" dur="500"/>
                                        <p:tgtEl>
                                          <p:spTgt spid="61"/>
                                        </p:tgtEl>
                                      </p:cBhvr>
                                    </p:animEffect>
                                  </p:childTnLst>
                                </p:cTn>
                              </p:par>
                            </p:childTnLst>
                          </p:cTn>
                        </p:par>
                        <p:par>
                          <p:cTn id="195" fill="hold">
                            <p:stCondLst>
                              <p:cond delay="4000"/>
                            </p:stCondLst>
                            <p:childTnLst>
                              <p:par>
                                <p:cTn id="196" presetID="1" presetClass="entr" presetSubtype="0" fill="hold" grpId="0" nodeType="afterEffect">
                                  <p:stCondLst>
                                    <p:cond delay="0"/>
                                  </p:stCondLst>
                                  <p:childTnLst>
                                    <p:set>
                                      <p:cBhvr>
                                        <p:cTn id="197"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28" grpId="0" animBg="1"/>
      <p:bldP spid="29" grpId="0" animBg="1"/>
      <p:bldP spid="38" grpId="0" animBg="1"/>
      <p:bldP spid="39" grpId="0" animBg="1"/>
      <p:bldP spid="40" grpId="0" animBg="1"/>
      <p:bldP spid="41" grpId="0" animBg="1"/>
      <p:bldP spid="42" grpId="0" animBg="1"/>
      <p:bldP spid="43" grpId="0" animBg="1"/>
      <p:bldP spid="51" grpId="0" animBg="1"/>
      <p:bldP spid="52" grpId="0" animBg="1"/>
      <p:bldP spid="53" grpId="0" animBg="1"/>
      <p:bldP spid="54" grpId="0" animBg="1"/>
      <p:bldP spid="55" grpId="0" animBg="1"/>
      <p:bldP spid="56" grpId="0" animBg="1"/>
      <p:bldP spid="62" grpId="0" animBg="1"/>
      <p:bldP spid="63" grpId="0" animBg="1"/>
      <p:bldP spid="64" grpId="0" animBg="1"/>
      <p:bldP spid="65" grpId="0" animBg="1"/>
      <p:bldP spid="67" grpId="0" animBg="1"/>
      <p:bldP spid="6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83A544D2-D49A-5F51-2CF8-B51EFD85849E}"/>
              </a:ext>
            </a:extLst>
          </p:cNvPr>
          <p:cNvSpPr txBox="1"/>
          <p:nvPr/>
        </p:nvSpPr>
        <p:spPr>
          <a:xfrm>
            <a:off x="380166" y="264073"/>
            <a:ext cx="6194322"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Prim’s Algorithm </a:t>
            </a:r>
          </a:p>
        </p:txBody>
      </p:sp>
      <p:sp>
        <p:nvSpPr>
          <p:cNvPr id="8" name="TextBox 7">
            <a:extLst>
              <a:ext uri="{FF2B5EF4-FFF2-40B4-BE49-F238E27FC236}">
                <a16:creationId xmlns:a16="http://schemas.microsoft.com/office/drawing/2014/main" id="{8BE81A22-ED69-0A1D-06A3-F0BB30E7653E}"/>
              </a:ext>
            </a:extLst>
          </p:cNvPr>
          <p:cNvSpPr txBox="1"/>
          <p:nvPr/>
        </p:nvSpPr>
        <p:spPr>
          <a:xfrm>
            <a:off x="529508" y="1208775"/>
            <a:ext cx="10993866" cy="4662815"/>
          </a:xfrm>
          <a:prstGeom prst="rect">
            <a:avLst/>
          </a:prstGeom>
          <a:noFill/>
        </p:spPr>
        <p:txBody>
          <a:bodyPr wrap="square">
            <a:spAutoFit/>
          </a:bodyPr>
          <a:lstStyle/>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is a greedy algorithm that is used </a:t>
            </a:r>
            <a:r>
              <a:rPr lang="en-IN" sz="2800" dirty="0">
                <a:solidFill>
                  <a:srgbClr val="D60093"/>
                </a:solidFill>
                <a:latin typeface="Roboto Condensed"/>
              </a:rPr>
              <a:t>to find the minimum spanning tree</a:t>
            </a:r>
            <a:r>
              <a:rPr lang="en-IN" sz="2800" dirty="0">
                <a:solidFill>
                  <a:srgbClr val="CC3399"/>
                </a:solidFill>
                <a:latin typeface="Roboto Condensed"/>
              </a:rPr>
              <a:t> </a:t>
            </a:r>
            <a:r>
              <a:rPr lang="en-IN" sz="2800" dirty="0">
                <a:solidFill>
                  <a:srgbClr val="212121"/>
                </a:solidFill>
                <a:latin typeface="Roboto Condensed"/>
              </a:rPr>
              <a:t>from a graph. </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finds the subset of edges that </a:t>
            </a:r>
            <a:r>
              <a:rPr lang="en-IN" sz="2800" dirty="0">
                <a:solidFill>
                  <a:srgbClr val="D60093"/>
                </a:solidFill>
                <a:latin typeface="Roboto Condensed"/>
              </a:rPr>
              <a:t>includes every vertex of the graph </a:t>
            </a:r>
            <a:r>
              <a:rPr lang="en-IN" sz="2800" dirty="0">
                <a:solidFill>
                  <a:srgbClr val="212121"/>
                </a:solidFill>
                <a:latin typeface="Roboto Condensed"/>
              </a:rPr>
              <a:t>such that the </a:t>
            </a:r>
            <a:r>
              <a:rPr lang="en-IN" sz="2800" dirty="0">
                <a:solidFill>
                  <a:srgbClr val="CC3399"/>
                </a:solidFill>
                <a:latin typeface="Roboto Condensed"/>
              </a:rPr>
              <a:t>sum of the weights of the edges </a:t>
            </a:r>
            <a:r>
              <a:rPr lang="en-IN" sz="2800" dirty="0">
                <a:solidFill>
                  <a:srgbClr val="212121"/>
                </a:solidFill>
                <a:latin typeface="Roboto Condensed"/>
              </a:rPr>
              <a:t>can be minimized.</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a:t>
            </a:r>
            <a:r>
              <a:rPr lang="en-IN" sz="2800" u="sng" dirty="0">
                <a:solidFill>
                  <a:srgbClr val="CC3399"/>
                </a:solidFill>
                <a:latin typeface="Roboto Condensed"/>
              </a:rPr>
              <a:t>starts with the single node </a:t>
            </a:r>
            <a:r>
              <a:rPr lang="en-IN" sz="2800" dirty="0">
                <a:solidFill>
                  <a:srgbClr val="212121"/>
                </a:solidFill>
                <a:latin typeface="Roboto Condensed"/>
              </a:rPr>
              <a:t>and </a:t>
            </a:r>
            <a:r>
              <a:rPr lang="en-IN" sz="2800" u="sng" dirty="0">
                <a:solidFill>
                  <a:srgbClr val="CC3399"/>
                </a:solidFill>
                <a:latin typeface="Roboto Condensed"/>
              </a:rPr>
              <a:t>explores all the adjacent nodes</a:t>
            </a:r>
            <a:r>
              <a:rPr lang="en-IN" sz="2800" dirty="0">
                <a:solidFill>
                  <a:srgbClr val="212121"/>
                </a:solidFill>
                <a:latin typeface="Roboto Condensed"/>
              </a:rPr>
              <a:t> with all the connecting edges at every step. </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The </a:t>
            </a:r>
            <a:r>
              <a:rPr lang="en-IN" sz="2800" dirty="0">
                <a:solidFill>
                  <a:srgbClr val="CC3399"/>
                </a:solidFill>
                <a:latin typeface="Roboto Condensed"/>
              </a:rPr>
              <a:t>edges with the minimal weights causing no cycles </a:t>
            </a:r>
            <a:r>
              <a:rPr lang="en-IN" sz="2800" dirty="0">
                <a:solidFill>
                  <a:srgbClr val="212121"/>
                </a:solidFill>
                <a:latin typeface="Roboto Condensed"/>
              </a:rPr>
              <a:t>in the graph got selected.</a:t>
            </a:r>
          </a:p>
        </p:txBody>
      </p:sp>
    </p:spTree>
    <p:extLst>
      <p:ext uri="{BB962C8B-B14F-4D97-AF65-F5344CB8AC3E}">
        <p14:creationId xmlns:p14="http://schemas.microsoft.com/office/powerpoint/2010/main" val="362068090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17459" y="128686"/>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D6687088-DC80-11CD-9FA0-E06CB9AC9C17}"/>
              </a:ext>
            </a:extLst>
          </p:cNvPr>
          <p:cNvSpPr/>
          <p:nvPr/>
        </p:nvSpPr>
        <p:spPr>
          <a:xfrm>
            <a:off x="5980446" y="1104270"/>
            <a:ext cx="5956178" cy="5555612"/>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A90985E-9225-4135-5D32-3E526F2D2DCC}"/>
              </a:ext>
            </a:extLst>
          </p:cNvPr>
          <p:cNvSpPr txBox="1"/>
          <p:nvPr/>
        </p:nvSpPr>
        <p:spPr>
          <a:xfrm>
            <a:off x="-1" y="40382"/>
            <a:ext cx="6217920" cy="671851"/>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853BA6C3-1D83-B127-1D15-FE764988BCDD}"/>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BAB714E-7666-1BF1-BF9E-8212EE49FE92}"/>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A369B4F9-F815-D7DE-02AC-A1E9911F989B}"/>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5BB53793-F64A-04E8-829B-4DD14E0F56BB}"/>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5B4883D7-DBCF-9937-EB17-95C4E2D5E909}"/>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9C25BC43-4AEF-16DD-3AC8-EB92A48F962D}"/>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FD95506-90B9-4B83-315B-3742D63BCBBE}"/>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0456096F-4339-7167-D049-6A91954573C9}"/>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7A680B06-4E87-4F33-1430-CAD529F008C8}"/>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5B332402-FCA0-8574-0ECC-15E74014FDAA}"/>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E355B34F-67DC-8C80-09D5-8A894D8B448B}"/>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BD456EDB-2285-EBC4-4DF7-3E78C879FDF3}"/>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04C7905A-1DD0-238B-FDDB-78E83CA38378}"/>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1BF2A25E-6D5D-0C06-5471-5CB8C57D716C}"/>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DF6B03CF-8FEC-D592-F513-1BB0D0107ED6}"/>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A831AEA6-F1D8-0977-53ED-7DFFB9E51AB8}"/>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28BB12F7-B385-04B9-FD4F-BB4C745C988F}"/>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43A1DEC2-372E-09F4-D738-151E61616E63}"/>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D4A42C48-A95C-323B-B5BC-1C7A675C9C34}"/>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1A1C819-CA96-7AA1-63A0-DEA853745E16}"/>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08ADED1E-94F8-AEDF-7C8B-2B702DA65C4D}"/>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0EFB9270-64E0-6CD3-C540-1DBEAFD8AF2B}"/>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58838D5C-417F-01C4-448B-3AD1BC7D2182}"/>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905D1CEF-F022-35F8-ACB7-44A16BA98BE8}"/>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0E79DD76-59CF-C93E-188C-AD5D334A63E5}"/>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B6857B90-1316-B143-2AFD-30F3E20B84F6}"/>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31EE3775-1F7C-6393-AEAA-0CCF0BF07BB8}"/>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E7921C98-1D8C-4582-7F08-A0EC988E8C9E}"/>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8086D205-D122-1DC9-6FA2-87747D237C4F}"/>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881C7716-3D55-F0FE-CD46-79631DFBDF92}"/>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50A9A4F8-4226-D040-9D9D-E90C4BE19DFC}"/>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D5E9575A-10E8-C333-D6F1-E165B33E8A5C}"/>
              </a:ext>
            </a:extLst>
          </p:cNvPr>
          <p:cNvSpPr txBox="1"/>
          <p:nvPr/>
        </p:nvSpPr>
        <p:spPr>
          <a:xfrm>
            <a:off x="6441661" y="1259897"/>
            <a:ext cx="859594"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Step:1</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6A8D4203-F0B4-B53E-4262-F35EE8DA680B}"/>
              </a:ext>
            </a:extLst>
          </p:cNvPr>
          <p:cNvSpPr txBox="1"/>
          <p:nvPr/>
        </p:nvSpPr>
        <p:spPr>
          <a:xfrm>
            <a:off x="7561580" y="1212512"/>
            <a:ext cx="4846320" cy="430887"/>
          </a:xfrm>
          <a:prstGeom prst="rect">
            <a:avLst/>
          </a:prstGeom>
          <a:noFill/>
        </p:spPr>
        <p:txBody>
          <a:bodyPr wrap="square" rtlCol="0">
            <a:spAutoFit/>
          </a:bodyPr>
          <a:lstStyle/>
          <a:p>
            <a:pPr algn="just"/>
            <a:r>
              <a:rPr lang="en-US" sz="2200" b="1" dirty="0">
                <a:solidFill>
                  <a:srgbClr val="F19D19"/>
                </a:solidFill>
                <a:latin typeface="Roboto Condensed"/>
              </a:rPr>
              <a:t>Select an arbitrary node.</a:t>
            </a:r>
          </a:p>
        </p:txBody>
      </p:sp>
      <p:graphicFrame>
        <p:nvGraphicFramePr>
          <p:cNvPr id="39" name="Table 38">
            <a:extLst>
              <a:ext uri="{FF2B5EF4-FFF2-40B4-BE49-F238E27FC236}">
                <a16:creationId xmlns:a16="http://schemas.microsoft.com/office/drawing/2014/main" id="{83A77A39-9F55-48E7-CA3F-A0700C3F6FC1}"/>
              </a:ext>
            </a:extLst>
          </p:cNvPr>
          <p:cNvGraphicFramePr>
            <a:graphicFrameLocks noGrp="1"/>
          </p:cNvGraphicFramePr>
          <p:nvPr>
            <p:extLst/>
          </p:nvPr>
        </p:nvGraphicFramePr>
        <p:xfrm>
          <a:off x="6419817" y="1800666"/>
          <a:ext cx="5185955" cy="4472481"/>
        </p:xfrm>
        <a:graphic>
          <a:graphicData uri="http://schemas.openxmlformats.org/drawingml/2006/table">
            <a:tbl>
              <a:tblPr firstRow="1" bandRow="1"/>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03495">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Node - Set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644831">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chemeClr val="tx1"/>
                          </a:solidFill>
                          <a:effectLst/>
                          <a:latin typeface="+mn-lt"/>
                          <a:ea typeface="+mn-ea"/>
                          <a:cs typeface="+mn-c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chemeClr val="tx1"/>
                        </a:solidFill>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spTree>
    <p:extLst>
      <p:ext uri="{BB962C8B-B14F-4D97-AF65-F5344CB8AC3E}">
        <p14:creationId xmlns:p14="http://schemas.microsoft.com/office/powerpoint/2010/main" val="241072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childTnLst>
                          </p:cTn>
                        </p:par>
                        <p:par>
                          <p:cTn id="110" fill="hold">
                            <p:stCondLst>
                              <p:cond delay="500"/>
                            </p:stCondLst>
                            <p:childTnLst>
                              <p:par>
                                <p:cTn id="111" presetID="10" presetClass="entr" presetSubtype="0" fill="hold" grpId="0" nodeType="after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up)">
                                      <p:cBhvr>
                                        <p:cTn id="118"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B08C0FFA-6D17-6CB0-2D0D-6FC76536E602}"/>
              </a:ext>
            </a:extLst>
          </p:cNvPr>
          <p:cNvSpPr/>
          <p:nvPr/>
        </p:nvSpPr>
        <p:spPr>
          <a:xfrm>
            <a:off x="6054236" y="945896"/>
            <a:ext cx="6096000" cy="561196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B38EC753-0259-AA17-5A33-E14F2B9873A3}"/>
              </a:ext>
            </a:extLst>
          </p:cNvPr>
          <p:cNvSpPr txBox="1"/>
          <p:nvPr/>
        </p:nvSpPr>
        <p:spPr>
          <a:xfrm>
            <a:off x="-1" y="40382"/>
            <a:ext cx="6217920" cy="671851"/>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8AA4D90A-0D66-1A18-C61A-1C33C6EE1CE0}"/>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FE57362-798B-D245-C1A1-1D96EDB42C0A}"/>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8CAD488C-735F-6160-AA11-FA6CD00D4A49}"/>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55360CF1-56A6-E391-623E-85C665483A36}"/>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4E3A1635-5C18-2197-2E69-3A1DB401F9CE}"/>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FD6ECBBF-6EED-32E5-15A8-E7D394CEF72F}"/>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756A534-8E21-1BCF-C480-B50C5BD2C28B}"/>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97063B51-BE9C-6F13-3B7A-3501B02580C3}"/>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C2A13261-0BC8-B8BB-BDDF-3E5DDE55E472}"/>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CE7ED42E-32A3-B330-A3F2-42C14FBB2190}"/>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5867C477-D847-6839-6DEB-FA881E12AC2C}"/>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25559242-CBE8-9940-9015-5738A6B67F64}"/>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424AE55A-1E96-7365-257C-ADE0998CCFBE}"/>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204A651A-2C07-2BE7-EDF2-71A6573C8081}"/>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1C4B55ED-CA81-0F09-C8D5-73D51AF74D5A}"/>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227B7BF8-3C0E-7750-5C7D-FD1C947E7F80}"/>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2C1E217B-372E-091A-50C0-43CC1F2716DF}"/>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2F290C64-D584-0AE8-6C18-F6066BA12BD0}"/>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8123FD50-CCCF-B4F1-FF9A-F0979383DC66}"/>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8EE29FC4-2860-2057-07B6-55840DA392AC}"/>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3AF613ED-D39D-F48D-3720-9A95A83B819C}"/>
              </a:ext>
            </a:extLst>
          </p:cNvPr>
          <p:cNvSpPr txBox="1"/>
          <p:nvPr/>
        </p:nvSpPr>
        <p:spPr>
          <a:xfrm>
            <a:off x="8595358" y="2364378"/>
            <a:ext cx="3135088" cy="430887"/>
          </a:xfrm>
          <a:prstGeom prst="rect">
            <a:avLst/>
          </a:prstGeom>
          <a:noFill/>
        </p:spPr>
        <p:txBody>
          <a:bodyPr wrap="square" rtlCol="0">
            <a:spAutoFit/>
          </a:bodyPr>
          <a:lstStyle/>
          <a:p>
            <a:r>
              <a:rPr lang="en-US" sz="2200" b="1" dirty="0">
                <a:solidFill>
                  <a:srgbClr val="92D050"/>
                </a:solidFill>
                <a:latin typeface="Roboto Condensed"/>
              </a:rPr>
              <a:t>{1, 4}, {2, 3} {2, 4}, {2, 5}</a:t>
            </a:r>
          </a:p>
        </p:txBody>
      </p:sp>
      <p:sp>
        <p:nvSpPr>
          <p:cNvPr id="27" name="TextBox 26">
            <a:extLst>
              <a:ext uri="{FF2B5EF4-FFF2-40B4-BE49-F238E27FC236}">
                <a16:creationId xmlns:a16="http://schemas.microsoft.com/office/drawing/2014/main" id="{1E8043DC-D815-4148-BE42-8FB8CCD20F19}"/>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8" name="TextBox 27">
            <a:extLst>
              <a:ext uri="{FF2B5EF4-FFF2-40B4-BE49-F238E27FC236}">
                <a16:creationId xmlns:a16="http://schemas.microsoft.com/office/drawing/2014/main" id="{18B4BEEC-F28A-4EF0-CED3-A3DD173C288A}"/>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9" name="TextBox 28">
            <a:extLst>
              <a:ext uri="{FF2B5EF4-FFF2-40B4-BE49-F238E27FC236}">
                <a16:creationId xmlns:a16="http://schemas.microsoft.com/office/drawing/2014/main" id="{5336ED5A-8DA8-0C7B-1F01-8586A6224728}"/>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30" name="TextBox 29">
            <a:extLst>
              <a:ext uri="{FF2B5EF4-FFF2-40B4-BE49-F238E27FC236}">
                <a16:creationId xmlns:a16="http://schemas.microsoft.com/office/drawing/2014/main" id="{DF6DEAC6-FF43-C15E-B9EE-E743FF6786B4}"/>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1" name="TextBox 30">
            <a:extLst>
              <a:ext uri="{FF2B5EF4-FFF2-40B4-BE49-F238E27FC236}">
                <a16:creationId xmlns:a16="http://schemas.microsoft.com/office/drawing/2014/main" id="{6D850708-FD6A-3A73-4BFE-97517746ADA3}"/>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2" name="TextBox 31">
            <a:extLst>
              <a:ext uri="{FF2B5EF4-FFF2-40B4-BE49-F238E27FC236}">
                <a16:creationId xmlns:a16="http://schemas.microsoft.com/office/drawing/2014/main" id="{0B21B4F2-D28C-0FAF-34FB-AD46CD2A1BD8}"/>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3" name="TextBox 32">
            <a:extLst>
              <a:ext uri="{FF2B5EF4-FFF2-40B4-BE49-F238E27FC236}">
                <a16:creationId xmlns:a16="http://schemas.microsoft.com/office/drawing/2014/main" id="{B42D1E16-AC1C-69E2-B416-2CF6808E60F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4" name="TextBox 33">
            <a:extLst>
              <a:ext uri="{FF2B5EF4-FFF2-40B4-BE49-F238E27FC236}">
                <a16:creationId xmlns:a16="http://schemas.microsoft.com/office/drawing/2014/main" id="{642C4151-9D8D-80FC-5066-05DCD8564901}"/>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5" name="TextBox 34">
            <a:extLst>
              <a:ext uri="{FF2B5EF4-FFF2-40B4-BE49-F238E27FC236}">
                <a16:creationId xmlns:a16="http://schemas.microsoft.com/office/drawing/2014/main" id="{27056C52-45DE-65BA-A311-7E86C70551F8}"/>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6" name="TextBox 35">
            <a:extLst>
              <a:ext uri="{FF2B5EF4-FFF2-40B4-BE49-F238E27FC236}">
                <a16:creationId xmlns:a16="http://schemas.microsoft.com/office/drawing/2014/main" id="{9E3D932A-17E9-CEDF-B3AC-EA011FC2F88A}"/>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7" name="TextBox 36">
            <a:extLst>
              <a:ext uri="{FF2B5EF4-FFF2-40B4-BE49-F238E27FC236}">
                <a16:creationId xmlns:a16="http://schemas.microsoft.com/office/drawing/2014/main" id="{47B67EA5-1376-6E37-DD44-99C47482174D}"/>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8" name="TextBox 37">
            <a:extLst>
              <a:ext uri="{FF2B5EF4-FFF2-40B4-BE49-F238E27FC236}">
                <a16:creationId xmlns:a16="http://schemas.microsoft.com/office/drawing/2014/main" id="{5510F805-9B36-98C7-54F2-201A03BF0DE7}"/>
              </a:ext>
            </a:extLst>
          </p:cNvPr>
          <p:cNvSpPr txBox="1"/>
          <p:nvPr/>
        </p:nvSpPr>
        <p:spPr>
          <a:xfrm>
            <a:off x="8608422" y="1619794"/>
            <a:ext cx="1927649" cy="430887"/>
          </a:xfrm>
          <a:prstGeom prst="rect">
            <a:avLst/>
          </a:prstGeom>
          <a:noFill/>
        </p:spPr>
        <p:txBody>
          <a:bodyPr wrap="square" rtlCol="0">
            <a:spAutoFit/>
          </a:bodyPr>
          <a:lstStyle/>
          <a:p>
            <a:r>
              <a:rPr lang="en-US" sz="2200" b="1" dirty="0">
                <a:solidFill>
                  <a:srgbClr val="92D050"/>
                </a:solidFill>
                <a:latin typeface="Roboto Condensed"/>
              </a:rPr>
              <a:t>{1, 2}, {1, 4}</a:t>
            </a:r>
            <a:endParaRPr lang="en-US" sz="2200" dirty="0">
              <a:solidFill>
                <a:srgbClr val="212121"/>
              </a:solidFill>
              <a:latin typeface="Roboto Condensed"/>
            </a:endParaRPr>
          </a:p>
        </p:txBody>
      </p:sp>
      <p:sp>
        <p:nvSpPr>
          <p:cNvPr id="39" name="TextBox 38">
            <a:extLst>
              <a:ext uri="{FF2B5EF4-FFF2-40B4-BE49-F238E27FC236}">
                <a16:creationId xmlns:a16="http://schemas.microsoft.com/office/drawing/2014/main" id="{F2076BD3-ABAC-8314-C2EA-96EACE24F977}"/>
              </a:ext>
            </a:extLst>
          </p:cNvPr>
          <p:cNvSpPr txBox="1"/>
          <p:nvPr/>
        </p:nvSpPr>
        <p:spPr>
          <a:xfrm>
            <a:off x="6096000" y="531585"/>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prstClr val="white"/>
                </a:solidFill>
                <a:effectLst/>
                <a:uLnTx/>
                <a:uFillTx/>
                <a:latin typeface="Roboto Condensed"/>
              </a:rPr>
              <a:t>Step:2</a:t>
            </a:r>
            <a:endParaRPr kumimoji="0" lang="en-US" sz="2000" b="1" i="0" u="none" strike="noStrike" kern="0" cap="none" spc="0" normalizeH="0" baseline="0" noProof="0" dirty="0">
              <a:ln>
                <a:noFill/>
              </a:ln>
              <a:solidFill>
                <a:prstClr val="white"/>
              </a:solidFill>
              <a:effectLst/>
              <a:uLnTx/>
              <a:uFillTx/>
              <a:latin typeface="Roboto Condensed"/>
            </a:endParaRPr>
          </a:p>
        </p:txBody>
      </p:sp>
      <p:sp>
        <p:nvSpPr>
          <p:cNvPr id="40" name="TextBox 39">
            <a:extLst>
              <a:ext uri="{FF2B5EF4-FFF2-40B4-BE49-F238E27FC236}">
                <a16:creationId xmlns:a16="http://schemas.microsoft.com/office/drawing/2014/main" id="{4AE841B2-3AB7-8031-6A53-3441DB3BD8D2}"/>
              </a:ext>
            </a:extLst>
          </p:cNvPr>
          <p:cNvSpPr txBox="1"/>
          <p:nvPr/>
        </p:nvSpPr>
        <p:spPr>
          <a:xfrm>
            <a:off x="7068169" y="489134"/>
            <a:ext cx="5120640" cy="430887"/>
          </a:xfrm>
          <a:prstGeom prst="rect">
            <a:avLst/>
          </a:prstGeom>
          <a:noFill/>
        </p:spPr>
        <p:txBody>
          <a:bodyPr wrap="square" rtlCol="0">
            <a:spAutoFit/>
          </a:bodyPr>
          <a:lstStyle/>
          <a:p>
            <a:pPr algn="just"/>
            <a:r>
              <a:rPr lang="en-US" sz="2200" b="1" dirty="0">
                <a:solidFill>
                  <a:srgbClr val="F19D19"/>
                </a:solidFill>
                <a:latin typeface="Roboto Condensed"/>
              </a:rPr>
              <a:t>Find an edge with minimum weight.</a:t>
            </a:r>
          </a:p>
        </p:txBody>
      </p:sp>
      <p:graphicFrame>
        <p:nvGraphicFramePr>
          <p:cNvPr id="41" name="Table 40">
            <a:extLst>
              <a:ext uri="{FF2B5EF4-FFF2-40B4-BE49-F238E27FC236}">
                <a16:creationId xmlns:a16="http://schemas.microsoft.com/office/drawing/2014/main" id="{921C0459-4AE5-6BAB-88E4-8C3D59EDAA02}"/>
              </a:ext>
            </a:extLst>
          </p:cNvPr>
          <p:cNvGraphicFramePr>
            <a:graphicFrameLocks noGrp="1"/>
          </p:cNvGraphicFramePr>
          <p:nvPr>
            <p:extLst>
              <p:ext uri="{D42A27DB-BD31-4B8C-83A1-F6EECF244321}">
                <p14:modId xmlns:p14="http://schemas.microsoft.com/office/powerpoint/2010/main" val="3152486882"/>
              </p:ext>
            </p:extLst>
          </p:nvPr>
        </p:nvGraphicFramePr>
        <p:xfrm>
          <a:off x="6318087" y="920021"/>
          <a:ext cx="5606989" cy="5160444"/>
        </p:xfrm>
        <a:graphic>
          <a:graphicData uri="http://schemas.openxmlformats.org/drawingml/2006/table">
            <a:tbl>
              <a:tblPr firstRow="1" bandRow="1"/>
              <a:tblGrid>
                <a:gridCol w="2192761">
                  <a:extLst>
                    <a:ext uri="{9D8B030D-6E8A-4147-A177-3AD203B41FA5}">
                      <a16:colId xmlns:a16="http://schemas.microsoft.com/office/drawing/2014/main" val="1582560717"/>
                    </a:ext>
                  </a:extLst>
                </a:gridCol>
                <a:gridCol w="3414228">
                  <a:extLst>
                    <a:ext uri="{9D8B030D-6E8A-4147-A177-3AD203B41FA5}">
                      <a16:colId xmlns:a16="http://schemas.microsoft.com/office/drawing/2014/main" val="511824500"/>
                    </a:ext>
                  </a:extLst>
                </a:gridCol>
              </a:tblGrid>
              <a:tr h="695590">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endParaRPr lang="en-US" sz="2000" dirty="0">
                        <a:solidFill>
                          <a:schemeClr val="tx1"/>
                        </a:solidFill>
                      </a:endParaRPr>
                    </a:p>
                    <a:p>
                      <a:pPr algn="ctr"/>
                      <a:r>
                        <a:rPr lang="en-US" sz="2000" dirty="0">
                          <a:solidFill>
                            <a:schemeClr val="tx1"/>
                          </a:solidFill>
                        </a:rPr>
                        <a:t>Node - Set B</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endParaRPr lang="en-US" sz="2000" dirty="0">
                        <a:solidFill>
                          <a:schemeClr val="tx1"/>
                        </a:solidFill>
                      </a:endParaRPr>
                    </a:p>
                    <a:p>
                      <a:pPr algn="ctr"/>
                      <a:r>
                        <a:rPr lang="en-US" sz="2000" dirty="0">
                          <a:solidFill>
                            <a:schemeClr val="tx1"/>
                          </a:solidFill>
                        </a:rPr>
                        <a:t>Edges</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16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1600" b="1" dirty="0">
                        <a:solidFill>
                          <a:srgbClr val="92D050"/>
                        </a:solidFill>
                        <a:latin typeface="+mn-lt"/>
                      </a:endParaRPr>
                    </a:p>
                  </a:txBody>
                  <a:tcPr horzOverflow="overflow">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cxnSp>
        <p:nvCxnSpPr>
          <p:cNvPr id="42" name="Straight Connector 41">
            <a:extLst>
              <a:ext uri="{FF2B5EF4-FFF2-40B4-BE49-F238E27FC236}">
                <a16:creationId xmlns:a16="http://schemas.microsoft.com/office/drawing/2014/main" id="{4046663B-0A22-9075-6F38-3CEE72AC1070}"/>
              </a:ext>
            </a:extLst>
          </p:cNvPr>
          <p:cNvCxnSpPr/>
          <p:nvPr/>
        </p:nvCxnSpPr>
        <p:spPr>
          <a:xfrm>
            <a:off x="9380347" y="1841597"/>
            <a:ext cx="640080" cy="0"/>
          </a:xfrm>
          <a:prstGeom prst="line">
            <a:avLst/>
          </a:prstGeom>
          <a:noFill/>
          <a:ln w="38100" cap="flat" cmpd="sng" algn="ctr">
            <a:solidFill>
              <a:srgbClr val="00BBD3">
                <a:lumMod val="40000"/>
                <a:lumOff val="60000"/>
              </a:srgbClr>
            </a:solidFill>
            <a:prstDash val="solid"/>
            <a:miter lim="800000"/>
          </a:ln>
          <a:effectLst/>
        </p:spPr>
      </p:cxnSp>
      <p:cxnSp>
        <p:nvCxnSpPr>
          <p:cNvPr id="43" name="Straight Connector 42">
            <a:extLst>
              <a:ext uri="{FF2B5EF4-FFF2-40B4-BE49-F238E27FC236}">
                <a16:creationId xmlns:a16="http://schemas.microsoft.com/office/drawing/2014/main" id="{E0921313-938B-CBFB-4240-888D9AF3C826}"/>
              </a:ext>
            </a:extLst>
          </p:cNvPr>
          <p:cNvCxnSpPr/>
          <p:nvPr/>
        </p:nvCxnSpPr>
        <p:spPr>
          <a:xfrm>
            <a:off x="10034237" y="2584003"/>
            <a:ext cx="1371600" cy="0"/>
          </a:xfrm>
          <a:prstGeom prst="line">
            <a:avLst/>
          </a:prstGeom>
          <a:noFill/>
          <a:ln w="38100" cap="flat" cmpd="sng" algn="ctr">
            <a:solidFill>
              <a:srgbClr val="00BBD3">
                <a:lumMod val="40000"/>
                <a:lumOff val="60000"/>
              </a:srgbClr>
            </a:solidFill>
            <a:prstDash val="solid"/>
            <a:miter lim="800000"/>
          </a:ln>
          <a:effectLst/>
        </p:spPr>
      </p:cxnSp>
      <p:sp>
        <p:nvSpPr>
          <p:cNvPr id="44" name="TextBox 43">
            <a:extLst>
              <a:ext uri="{FF2B5EF4-FFF2-40B4-BE49-F238E27FC236}">
                <a16:creationId xmlns:a16="http://schemas.microsoft.com/office/drawing/2014/main" id="{4B6EDCF5-5A34-A777-3B3A-136EDFA89FB6}"/>
              </a:ext>
            </a:extLst>
          </p:cNvPr>
          <p:cNvSpPr txBox="1"/>
          <p:nvPr/>
        </p:nvSpPr>
        <p:spPr>
          <a:xfrm>
            <a:off x="8595360" y="5342708"/>
            <a:ext cx="3108960" cy="731520"/>
          </a:xfrm>
          <a:prstGeom prst="rect">
            <a:avLst/>
          </a:prstGeom>
          <a:noFill/>
        </p:spPr>
        <p:txBody>
          <a:bodyPr wrap="square" rtlCol="0">
            <a:spAutoFit/>
          </a:bodyPr>
          <a:lstStyle/>
          <a:p>
            <a:r>
              <a:rPr lang="en-US" sz="2200" b="1" dirty="0">
                <a:solidFill>
                  <a:srgbClr val="92D050"/>
                </a:solidFill>
                <a:latin typeface="Roboto Condensed"/>
              </a:rPr>
              <a:t>{2,4} {2,5} {3,5} {3,6} {5,6} {5,7}  {6,7}</a:t>
            </a:r>
            <a:endParaRPr lang="en-US" sz="2200" dirty="0">
              <a:solidFill>
                <a:srgbClr val="212121"/>
              </a:solidFill>
              <a:latin typeface="Roboto Condensed"/>
            </a:endParaRPr>
          </a:p>
        </p:txBody>
      </p:sp>
      <p:sp>
        <p:nvSpPr>
          <p:cNvPr id="45" name="TextBox 44">
            <a:extLst>
              <a:ext uri="{FF2B5EF4-FFF2-40B4-BE49-F238E27FC236}">
                <a16:creationId xmlns:a16="http://schemas.microsoft.com/office/drawing/2014/main" id="{4B203330-E57D-9010-9507-D6E316D7BC1E}"/>
              </a:ext>
            </a:extLst>
          </p:cNvPr>
          <p:cNvSpPr txBox="1"/>
          <p:nvPr/>
        </p:nvSpPr>
        <p:spPr>
          <a:xfrm>
            <a:off x="8595360" y="3095897"/>
            <a:ext cx="3108960" cy="769441"/>
          </a:xfrm>
          <a:prstGeom prst="rect">
            <a:avLst/>
          </a:prstGeom>
          <a:noFill/>
        </p:spPr>
        <p:txBody>
          <a:bodyPr wrap="square" rtlCol="0">
            <a:spAutoFit/>
          </a:bodyPr>
          <a:lstStyle/>
          <a:p>
            <a:r>
              <a:rPr lang="en-US" sz="2200" b="1" dirty="0">
                <a:solidFill>
                  <a:srgbClr val="92D050"/>
                </a:solidFill>
                <a:latin typeface="Roboto Condensed"/>
              </a:rPr>
              <a:t>{1,4}, {2,4}, {2,5}, {3,5}, {3,6} </a:t>
            </a:r>
            <a:endParaRPr lang="en-US" sz="2200" dirty="0">
              <a:solidFill>
                <a:srgbClr val="212121"/>
              </a:solidFill>
              <a:latin typeface="Roboto Condensed"/>
            </a:endParaRPr>
          </a:p>
        </p:txBody>
      </p:sp>
      <p:sp>
        <p:nvSpPr>
          <p:cNvPr id="46" name="TextBox 45">
            <a:extLst>
              <a:ext uri="{FF2B5EF4-FFF2-40B4-BE49-F238E27FC236}">
                <a16:creationId xmlns:a16="http://schemas.microsoft.com/office/drawing/2014/main" id="{3DADDF25-97F1-8851-8A56-2A13A72C2E47}"/>
              </a:ext>
            </a:extLst>
          </p:cNvPr>
          <p:cNvSpPr txBox="1"/>
          <p:nvPr/>
        </p:nvSpPr>
        <p:spPr>
          <a:xfrm>
            <a:off x="8595359" y="4598125"/>
            <a:ext cx="3122023" cy="769441"/>
          </a:xfrm>
          <a:prstGeom prst="rect">
            <a:avLst/>
          </a:prstGeom>
          <a:noFill/>
        </p:spPr>
        <p:txBody>
          <a:bodyPr wrap="square" rtlCol="0">
            <a:spAutoFit/>
          </a:bodyPr>
          <a:lstStyle/>
          <a:p>
            <a:r>
              <a:rPr lang="en-US" sz="2200" b="1" dirty="0">
                <a:solidFill>
                  <a:srgbClr val="92D050"/>
                </a:solidFill>
                <a:latin typeface="Roboto Condensed"/>
              </a:rPr>
              <a:t>{2,4} {2,5} {3,5} {3,6}  {4,7} {5,6} {5,7}</a:t>
            </a:r>
          </a:p>
        </p:txBody>
      </p:sp>
      <p:cxnSp>
        <p:nvCxnSpPr>
          <p:cNvPr id="47" name="Straight Connector 46">
            <a:extLst>
              <a:ext uri="{FF2B5EF4-FFF2-40B4-BE49-F238E27FC236}">
                <a16:creationId xmlns:a16="http://schemas.microsoft.com/office/drawing/2014/main" id="{663FCDDF-94BB-D0F4-B8FF-549150AC7C84}"/>
              </a:ext>
            </a:extLst>
          </p:cNvPr>
          <p:cNvCxnSpPr/>
          <p:nvPr/>
        </p:nvCxnSpPr>
        <p:spPr>
          <a:xfrm flipV="1">
            <a:off x="8662052" y="2584737"/>
            <a:ext cx="640080" cy="0"/>
          </a:xfrm>
          <a:prstGeom prst="line">
            <a:avLst/>
          </a:prstGeom>
          <a:noFill/>
          <a:ln w="38100" cap="flat" cmpd="sng" algn="ctr">
            <a:solidFill>
              <a:srgbClr val="00BBD3">
                <a:lumMod val="40000"/>
                <a:lumOff val="60000"/>
              </a:srgbClr>
            </a:solidFill>
            <a:prstDash val="solid"/>
            <a:miter lim="800000"/>
          </a:ln>
          <a:effectLst/>
        </p:spPr>
      </p:cxnSp>
      <p:sp>
        <p:nvSpPr>
          <p:cNvPr id="48" name="TextBox 47">
            <a:extLst>
              <a:ext uri="{FF2B5EF4-FFF2-40B4-BE49-F238E27FC236}">
                <a16:creationId xmlns:a16="http://schemas.microsoft.com/office/drawing/2014/main" id="{6440636A-3683-07B5-4FFA-F4F17014E13B}"/>
              </a:ext>
            </a:extLst>
          </p:cNvPr>
          <p:cNvSpPr txBox="1"/>
          <p:nvPr/>
        </p:nvSpPr>
        <p:spPr>
          <a:xfrm>
            <a:off x="8595359" y="3840479"/>
            <a:ext cx="3148149" cy="769441"/>
          </a:xfrm>
          <a:prstGeom prst="rect">
            <a:avLst/>
          </a:prstGeom>
          <a:noFill/>
        </p:spPr>
        <p:txBody>
          <a:bodyPr wrap="square" rtlCol="0">
            <a:spAutoFit/>
          </a:bodyPr>
          <a:lstStyle/>
          <a:p>
            <a:r>
              <a:rPr lang="en-US" sz="2200" b="1" dirty="0">
                <a:solidFill>
                  <a:srgbClr val="92D050"/>
                </a:solidFill>
                <a:latin typeface="Roboto Condensed"/>
              </a:rPr>
              <a:t>{2,4} {2,5} {3,5} {3,6}  {4,5} {4,7}</a:t>
            </a:r>
          </a:p>
        </p:txBody>
      </p:sp>
      <p:cxnSp>
        <p:nvCxnSpPr>
          <p:cNvPr id="49" name="Straight Connector 48">
            <a:extLst>
              <a:ext uri="{FF2B5EF4-FFF2-40B4-BE49-F238E27FC236}">
                <a16:creationId xmlns:a16="http://schemas.microsoft.com/office/drawing/2014/main" id="{6E6C6216-A3F8-31D9-913C-A615460ED518}"/>
              </a:ext>
            </a:extLst>
          </p:cNvPr>
          <p:cNvCxnSpPr/>
          <p:nvPr/>
        </p:nvCxnSpPr>
        <p:spPr>
          <a:xfrm>
            <a:off x="8622167" y="3676818"/>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0" name="Straight Connector 49">
            <a:extLst>
              <a:ext uri="{FF2B5EF4-FFF2-40B4-BE49-F238E27FC236}">
                <a16:creationId xmlns:a16="http://schemas.microsoft.com/office/drawing/2014/main" id="{65A225EC-8AF7-06F8-1E90-740EA1728F7D}"/>
              </a:ext>
            </a:extLst>
          </p:cNvPr>
          <p:cNvCxnSpPr/>
          <p:nvPr/>
        </p:nvCxnSpPr>
        <p:spPr>
          <a:xfrm>
            <a:off x="9298285" y="3333208"/>
            <a:ext cx="1920240" cy="0"/>
          </a:xfrm>
          <a:prstGeom prst="line">
            <a:avLst/>
          </a:prstGeom>
          <a:noFill/>
          <a:ln w="38100" cap="flat" cmpd="sng" algn="ctr">
            <a:solidFill>
              <a:srgbClr val="00BBD3">
                <a:lumMod val="40000"/>
                <a:lumOff val="60000"/>
              </a:srgbClr>
            </a:solidFill>
            <a:prstDash val="solid"/>
            <a:miter lim="800000"/>
          </a:ln>
          <a:effectLst/>
        </p:spPr>
      </p:cxnSp>
      <p:cxnSp>
        <p:nvCxnSpPr>
          <p:cNvPr id="51" name="Straight Connector 50">
            <a:extLst>
              <a:ext uri="{FF2B5EF4-FFF2-40B4-BE49-F238E27FC236}">
                <a16:creationId xmlns:a16="http://schemas.microsoft.com/office/drawing/2014/main" id="{B274EF25-7800-EEE6-8E6C-04B7E6ACEEDB}"/>
              </a:ext>
            </a:extLst>
          </p:cNvPr>
          <p:cNvCxnSpPr/>
          <p:nvPr/>
        </p:nvCxnSpPr>
        <p:spPr>
          <a:xfrm>
            <a:off x="8619015" y="4398437"/>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2" name="Straight Connector 51">
            <a:extLst>
              <a:ext uri="{FF2B5EF4-FFF2-40B4-BE49-F238E27FC236}">
                <a16:creationId xmlns:a16="http://schemas.microsoft.com/office/drawing/2014/main" id="{061F2E2F-27E9-068C-C683-FA3361E3BFA8}"/>
              </a:ext>
            </a:extLst>
          </p:cNvPr>
          <p:cNvCxnSpPr/>
          <p:nvPr/>
        </p:nvCxnSpPr>
        <p:spPr>
          <a:xfrm>
            <a:off x="8665029" y="4807134"/>
            <a:ext cx="2286000" cy="0"/>
          </a:xfrm>
          <a:prstGeom prst="line">
            <a:avLst/>
          </a:prstGeom>
          <a:noFill/>
          <a:ln w="38100" cap="flat" cmpd="sng" algn="ctr">
            <a:solidFill>
              <a:srgbClr val="00BBD3">
                <a:lumMod val="40000"/>
                <a:lumOff val="60000"/>
              </a:srgbClr>
            </a:solidFill>
            <a:prstDash val="solid"/>
            <a:miter lim="800000"/>
          </a:ln>
          <a:effectLst/>
        </p:spPr>
      </p:cxnSp>
      <p:cxnSp>
        <p:nvCxnSpPr>
          <p:cNvPr id="53" name="Straight Connector 52">
            <a:extLst>
              <a:ext uri="{FF2B5EF4-FFF2-40B4-BE49-F238E27FC236}">
                <a16:creationId xmlns:a16="http://schemas.microsoft.com/office/drawing/2014/main" id="{77A8AF25-3E29-35C1-075D-6B1A0A41E5E0}"/>
              </a:ext>
            </a:extLst>
          </p:cNvPr>
          <p:cNvCxnSpPr/>
          <p:nvPr/>
        </p:nvCxnSpPr>
        <p:spPr>
          <a:xfrm>
            <a:off x="8604566" y="4068431"/>
            <a:ext cx="2377440" cy="0"/>
          </a:xfrm>
          <a:prstGeom prst="line">
            <a:avLst/>
          </a:prstGeom>
          <a:noFill/>
          <a:ln w="38100" cap="flat" cmpd="sng" algn="ctr">
            <a:solidFill>
              <a:srgbClr val="00BBD3">
                <a:lumMod val="40000"/>
                <a:lumOff val="60000"/>
              </a:srgbClr>
            </a:solidFill>
            <a:prstDash val="solid"/>
            <a:miter lim="800000"/>
          </a:ln>
          <a:effectLst/>
        </p:spPr>
      </p:cxnSp>
      <p:cxnSp>
        <p:nvCxnSpPr>
          <p:cNvPr id="54" name="Straight Connector 53">
            <a:extLst>
              <a:ext uri="{FF2B5EF4-FFF2-40B4-BE49-F238E27FC236}">
                <a16:creationId xmlns:a16="http://schemas.microsoft.com/office/drawing/2014/main" id="{E9C064B0-C5CD-4FE0-2216-0CA893651B6F}"/>
              </a:ext>
            </a:extLst>
          </p:cNvPr>
          <p:cNvCxnSpPr/>
          <p:nvPr/>
        </p:nvCxnSpPr>
        <p:spPr>
          <a:xfrm>
            <a:off x="8620412" y="5141731"/>
            <a:ext cx="1188720" cy="0"/>
          </a:xfrm>
          <a:prstGeom prst="line">
            <a:avLst/>
          </a:prstGeom>
          <a:noFill/>
          <a:ln w="38100" cap="flat" cmpd="sng" algn="ctr">
            <a:solidFill>
              <a:srgbClr val="00BBD3">
                <a:lumMod val="40000"/>
                <a:lumOff val="60000"/>
              </a:srgbClr>
            </a:solidFill>
            <a:prstDash val="solid"/>
            <a:miter lim="800000"/>
          </a:ln>
          <a:effectLst/>
        </p:spPr>
      </p:cxnSp>
      <p:cxnSp>
        <p:nvCxnSpPr>
          <p:cNvPr id="55" name="Straight Connector 54">
            <a:extLst>
              <a:ext uri="{FF2B5EF4-FFF2-40B4-BE49-F238E27FC236}">
                <a16:creationId xmlns:a16="http://schemas.microsoft.com/office/drawing/2014/main" id="{387E6D19-52A6-272B-80A6-3F44D2FFA53E}"/>
              </a:ext>
            </a:extLst>
          </p:cNvPr>
          <p:cNvCxnSpPr/>
          <p:nvPr/>
        </p:nvCxnSpPr>
        <p:spPr>
          <a:xfrm>
            <a:off x="8589931" y="5881959"/>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6" name="Straight Connector 55">
            <a:extLst>
              <a:ext uri="{FF2B5EF4-FFF2-40B4-BE49-F238E27FC236}">
                <a16:creationId xmlns:a16="http://schemas.microsoft.com/office/drawing/2014/main" id="{E6CB3E26-7394-50E2-8411-0A986FE58AD6}"/>
              </a:ext>
            </a:extLst>
          </p:cNvPr>
          <p:cNvCxnSpPr/>
          <p:nvPr/>
        </p:nvCxnSpPr>
        <p:spPr>
          <a:xfrm>
            <a:off x="8638945" y="5560425"/>
            <a:ext cx="2926080" cy="0"/>
          </a:xfrm>
          <a:prstGeom prst="line">
            <a:avLst/>
          </a:prstGeom>
          <a:noFill/>
          <a:ln w="38100" cap="flat" cmpd="sng" algn="ctr">
            <a:solidFill>
              <a:srgbClr val="00BBD3">
                <a:lumMod val="40000"/>
                <a:lumOff val="60000"/>
              </a:srgbClr>
            </a:solidFill>
            <a:prstDash val="solid"/>
            <a:miter lim="800000"/>
          </a:ln>
          <a:effectLst/>
        </p:spPr>
      </p:cxnSp>
      <p:sp>
        <p:nvSpPr>
          <p:cNvPr id="57" name="TextBox 56">
            <a:extLst>
              <a:ext uri="{FF2B5EF4-FFF2-40B4-BE49-F238E27FC236}">
                <a16:creationId xmlns:a16="http://schemas.microsoft.com/office/drawing/2014/main" id="{929305DD-F45C-0D9D-78FB-93F20E59940A}"/>
              </a:ext>
            </a:extLst>
          </p:cNvPr>
          <p:cNvSpPr txBox="1"/>
          <p:nvPr/>
        </p:nvSpPr>
        <p:spPr>
          <a:xfrm>
            <a:off x="6975564" y="2377438"/>
            <a:ext cx="1280160" cy="430887"/>
          </a:xfrm>
          <a:prstGeom prst="rect">
            <a:avLst/>
          </a:prstGeom>
          <a:noFill/>
        </p:spPr>
        <p:txBody>
          <a:bodyPr wrap="square" rtlCol="0">
            <a:spAutoFit/>
          </a:bodyPr>
          <a:lstStyle/>
          <a:p>
            <a:pPr algn="ctr"/>
            <a:r>
              <a:rPr lang="en-US" sz="2200" b="1" dirty="0">
                <a:solidFill>
                  <a:srgbClr val="92D050"/>
                </a:solidFill>
                <a:latin typeface="Roboto Condensed"/>
              </a:rPr>
              <a:t>1, 2</a:t>
            </a:r>
          </a:p>
        </p:txBody>
      </p:sp>
      <p:sp>
        <p:nvSpPr>
          <p:cNvPr id="58" name="TextBox 57">
            <a:extLst>
              <a:ext uri="{FF2B5EF4-FFF2-40B4-BE49-F238E27FC236}">
                <a16:creationId xmlns:a16="http://schemas.microsoft.com/office/drawing/2014/main" id="{1C362DC7-7A75-88E9-31B9-B753A12F9935}"/>
              </a:ext>
            </a:extLst>
          </p:cNvPr>
          <p:cNvSpPr txBox="1"/>
          <p:nvPr/>
        </p:nvSpPr>
        <p:spPr>
          <a:xfrm>
            <a:off x="6975564" y="3104604"/>
            <a:ext cx="1280160" cy="430887"/>
          </a:xfrm>
          <a:prstGeom prst="rect">
            <a:avLst/>
          </a:prstGeom>
          <a:noFill/>
        </p:spPr>
        <p:txBody>
          <a:bodyPr wrap="square" rtlCol="0">
            <a:spAutoFit/>
          </a:bodyPr>
          <a:lstStyle/>
          <a:p>
            <a:pPr algn="ctr"/>
            <a:r>
              <a:rPr lang="en-US" sz="2200" b="1" dirty="0">
                <a:solidFill>
                  <a:srgbClr val="92D050"/>
                </a:solidFill>
                <a:latin typeface="Roboto Condensed"/>
              </a:rPr>
              <a:t>1, 2, 3</a:t>
            </a:r>
          </a:p>
        </p:txBody>
      </p:sp>
      <p:sp>
        <p:nvSpPr>
          <p:cNvPr id="59" name="TextBox 58">
            <a:extLst>
              <a:ext uri="{FF2B5EF4-FFF2-40B4-BE49-F238E27FC236}">
                <a16:creationId xmlns:a16="http://schemas.microsoft.com/office/drawing/2014/main" id="{8C4E16EB-29B1-1A20-6089-7D3239465FA8}"/>
              </a:ext>
            </a:extLst>
          </p:cNvPr>
          <p:cNvSpPr txBox="1"/>
          <p:nvPr/>
        </p:nvSpPr>
        <p:spPr>
          <a:xfrm>
            <a:off x="6975564" y="3875313"/>
            <a:ext cx="1280160" cy="430887"/>
          </a:xfrm>
          <a:prstGeom prst="rect">
            <a:avLst/>
          </a:prstGeom>
          <a:noFill/>
        </p:spPr>
        <p:txBody>
          <a:bodyPr wrap="square" rtlCol="0">
            <a:spAutoFit/>
          </a:bodyPr>
          <a:lstStyle/>
          <a:p>
            <a:pPr algn="ctr"/>
            <a:r>
              <a:rPr lang="en-US" sz="2200" b="1" dirty="0">
                <a:solidFill>
                  <a:srgbClr val="92D050"/>
                </a:solidFill>
                <a:latin typeface="Roboto Condensed"/>
              </a:rPr>
              <a:t>1, 2, 3, 4</a:t>
            </a:r>
          </a:p>
        </p:txBody>
      </p:sp>
      <p:sp>
        <p:nvSpPr>
          <p:cNvPr id="60" name="TextBox 59">
            <a:extLst>
              <a:ext uri="{FF2B5EF4-FFF2-40B4-BE49-F238E27FC236}">
                <a16:creationId xmlns:a16="http://schemas.microsoft.com/office/drawing/2014/main" id="{9C1DC919-53E7-F44F-F82A-13C93E781A0A}"/>
              </a:ext>
            </a:extLst>
          </p:cNvPr>
          <p:cNvSpPr txBox="1"/>
          <p:nvPr/>
        </p:nvSpPr>
        <p:spPr>
          <a:xfrm>
            <a:off x="6884124" y="4628604"/>
            <a:ext cx="1463040" cy="457200"/>
          </a:xfrm>
          <a:prstGeom prst="rect">
            <a:avLst/>
          </a:prstGeom>
          <a:noFill/>
        </p:spPr>
        <p:txBody>
          <a:bodyPr wrap="square" rtlCol="0">
            <a:spAutoFit/>
          </a:bodyPr>
          <a:lstStyle/>
          <a:p>
            <a:pPr algn="ctr"/>
            <a:r>
              <a:rPr lang="en-US" sz="2200" b="1" dirty="0">
                <a:solidFill>
                  <a:srgbClr val="92D050"/>
                </a:solidFill>
                <a:latin typeface="Roboto Condensed"/>
              </a:rPr>
              <a:t>1, 2, 3, 4, 5</a:t>
            </a:r>
          </a:p>
        </p:txBody>
      </p:sp>
      <p:sp>
        <p:nvSpPr>
          <p:cNvPr id="61" name="TextBox 60">
            <a:extLst>
              <a:ext uri="{FF2B5EF4-FFF2-40B4-BE49-F238E27FC236}">
                <a16:creationId xmlns:a16="http://schemas.microsoft.com/office/drawing/2014/main" id="{AF4F6CC3-C1B4-A889-5251-87B1BBB3C9D8}"/>
              </a:ext>
            </a:extLst>
          </p:cNvPr>
          <p:cNvSpPr txBox="1"/>
          <p:nvPr/>
        </p:nvSpPr>
        <p:spPr>
          <a:xfrm>
            <a:off x="6746964" y="5347062"/>
            <a:ext cx="1737360" cy="430887"/>
          </a:xfrm>
          <a:prstGeom prst="rect">
            <a:avLst/>
          </a:prstGeom>
          <a:noFill/>
        </p:spPr>
        <p:txBody>
          <a:bodyPr wrap="square" rtlCol="0">
            <a:spAutoFit/>
          </a:bodyPr>
          <a:lstStyle/>
          <a:p>
            <a:pPr algn="ctr"/>
            <a:r>
              <a:rPr lang="en-US" sz="2200" b="1" dirty="0">
                <a:solidFill>
                  <a:srgbClr val="92D050"/>
                </a:solidFill>
                <a:latin typeface="Roboto Condensed"/>
              </a:rPr>
              <a:t>1, 2, 3, 4, 5, 7</a:t>
            </a:r>
          </a:p>
        </p:txBody>
      </p:sp>
      <p:sp>
        <p:nvSpPr>
          <p:cNvPr id="62" name="TextBox 61">
            <a:extLst>
              <a:ext uri="{FF2B5EF4-FFF2-40B4-BE49-F238E27FC236}">
                <a16:creationId xmlns:a16="http://schemas.microsoft.com/office/drawing/2014/main" id="{ACFCD777-A4D0-C484-BD29-9C31073461C0}"/>
              </a:ext>
            </a:extLst>
          </p:cNvPr>
          <p:cNvSpPr txBox="1"/>
          <p:nvPr/>
        </p:nvSpPr>
        <p:spPr>
          <a:xfrm>
            <a:off x="6884124" y="6301477"/>
            <a:ext cx="2011680" cy="365760"/>
          </a:xfrm>
          <a:prstGeom prst="rect">
            <a:avLst/>
          </a:prstGeom>
          <a:solidFill>
            <a:srgbClr val="F9C5D7"/>
          </a:solidFill>
        </p:spPr>
        <p:txBody>
          <a:bodyPr wrap="square" rtlCol="0" anchor="ctr">
            <a:spAutoFit/>
          </a:bodyPr>
          <a:lstStyle/>
          <a:p>
            <a:pPr algn="ctr"/>
            <a:r>
              <a:rPr lang="en-US" sz="2200" b="1" dirty="0">
                <a:solidFill>
                  <a:srgbClr val="AD1457"/>
                </a:solidFill>
                <a:latin typeface="Roboto Condensed"/>
              </a:rPr>
              <a:t>1, 2, 3, 4, 5, 6, 7</a:t>
            </a:r>
          </a:p>
        </p:txBody>
      </p:sp>
    </p:spTree>
    <p:extLst>
      <p:ext uri="{BB962C8B-B14F-4D97-AF65-F5344CB8AC3E}">
        <p14:creationId xmlns:p14="http://schemas.microsoft.com/office/powerpoint/2010/main" val="190072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left)">
                                      <p:cBhvr>
                                        <p:cTn id="16" dur="1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par>
                          <p:cTn id="22" fill="hold">
                            <p:stCondLst>
                              <p:cond delay="500"/>
                            </p:stCondLst>
                            <p:childTnLst>
                              <p:par>
                                <p:cTn id="23" presetID="1" presetClass="emph" presetSubtype="2" fill="hold" nodeType="afterEffect">
                                  <p:stCondLst>
                                    <p:cond delay="0"/>
                                  </p:stCondLst>
                                  <p:childTnLst>
                                    <p:animClr clrSpc="rgb" dir="cw">
                                      <p:cBhvr>
                                        <p:cTn id="24" dur="750" fill="hold"/>
                                        <p:tgtEl>
                                          <p:spTgt spid="6"/>
                                        </p:tgtEl>
                                        <p:attrNameLst>
                                          <p:attrName>fillcolor</p:attrName>
                                        </p:attrNameLst>
                                      </p:cBhvr>
                                      <p:to>
                                        <a:srgbClr val="8BC145"/>
                                      </p:to>
                                    </p:animClr>
                                    <p:set>
                                      <p:cBhvr>
                                        <p:cTn id="25" dur="750" fill="hold"/>
                                        <p:tgtEl>
                                          <p:spTgt spid="6"/>
                                        </p:tgtEl>
                                        <p:attrNameLst>
                                          <p:attrName>fill.type</p:attrName>
                                        </p:attrNameLst>
                                      </p:cBhvr>
                                      <p:to>
                                        <p:strVal val="solid"/>
                                      </p:to>
                                    </p:set>
                                    <p:set>
                                      <p:cBhvr>
                                        <p:cTn id="26" dur="750" fill="hold"/>
                                        <p:tgtEl>
                                          <p:spTgt spid="6"/>
                                        </p:tgtEl>
                                        <p:attrNameLst>
                                          <p:attrName>fill.on</p:attrName>
                                        </p:attrNameLst>
                                      </p:cBhvr>
                                      <p:to>
                                        <p:strVal val="true"/>
                                      </p:to>
                                    </p:set>
                                  </p:childTnLst>
                                </p:cTn>
                              </p:par>
                            </p:childTnLst>
                          </p:cTn>
                        </p:par>
                        <p:par>
                          <p:cTn id="27" fill="hold">
                            <p:stCondLst>
                              <p:cond delay="1250"/>
                            </p:stCondLst>
                            <p:childTnLst>
                              <p:par>
                                <p:cTn id="28" presetID="7" presetClass="emph" presetSubtype="2" fill="hold" nodeType="afterEffect">
                                  <p:stCondLst>
                                    <p:cond delay="0"/>
                                  </p:stCondLst>
                                  <p:childTnLst>
                                    <p:animClr clrSpc="rgb" dir="cw">
                                      <p:cBhvr>
                                        <p:cTn id="29" dur="750" fill="hold"/>
                                        <p:tgtEl>
                                          <p:spTgt spid="13"/>
                                        </p:tgtEl>
                                        <p:attrNameLst>
                                          <p:attrName>stroke.color</p:attrName>
                                        </p:attrNameLst>
                                      </p:cBhvr>
                                      <p:to>
                                        <a:srgbClr val="B84742"/>
                                      </p:to>
                                    </p:animClr>
                                    <p:set>
                                      <p:cBhvr>
                                        <p:cTn id="30" dur="750" fill="hold"/>
                                        <p:tgtEl>
                                          <p:spTgt spid="13"/>
                                        </p:tgtEl>
                                        <p:attrNameLst>
                                          <p:attrName>stroke.on</p:attrName>
                                        </p:attrNameLst>
                                      </p:cBhvr>
                                      <p:to>
                                        <p:strVal val="true"/>
                                      </p:to>
                                    </p:set>
                                  </p:childTnLst>
                                </p:cTn>
                              </p:par>
                            </p:childTnLst>
                          </p:cTn>
                        </p:par>
                        <p:par>
                          <p:cTn id="31" fill="hold">
                            <p:stCondLst>
                              <p:cond delay="2000"/>
                            </p:stCondLst>
                            <p:childTnLst>
                              <p:par>
                                <p:cTn id="32" presetID="1" presetClass="emph" presetSubtype="2" fill="hold" nodeType="afterEffect">
                                  <p:stCondLst>
                                    <p:cond delay="0"/>
                                  </p:stCondLst>
                                  <p:childTnLst>
                                    <p:animClr clrSpc="rgb" dir="cw">
                                      <p:cBhvr>
                                        <p:cTn id="33" dur="750" fill="hold"/>
                                        <p:tgtEl>
                                          <p:spTgt spid="7"/>
                                        </p:tgtEl>
                                        <p:attrNameLst>
                                          <p:attrName>fillcolor</p:attrName>
                                        </p:attrNameLst>
                                      </p:cBhvr>
                                      <p:to>
                                        <a:srgbClr val="8BC145"/>
                                      </p:to>
                                    </p:animClr>
                                    <p:set>
                                      <p:cBhvr>
                                        <p:cTn id="34" dur="750" fill="hold"/>
                                        <p:tgtEl>
                                          <p:spTgt spid="7"/>
                                        </p:tgtEl>
                                        <p:attrNameLst>
                                          <p:attrName>fill.type</p:attrName>
                                        </p:attrNameLst>
                                      </p:cBhvr>
                                      <p:to>
                                        <p:strVal val="solid"/>
                                      </p:to>
                                    </p:set>
                                    <p:set>
                                      <p:cBhvr>
                                        <p:cTn id="35" dur="750" fill="hold"/>
                                        <p:tgtEl>
                                          <p:spTgt spid="7"/>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500"/>
                                        <p:tgtEl>
                                          <p:spTgt spid="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20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500"/>
                                        <p:tgtEl>
                                          <p:spTgt spid="47"/>
                                        </p:tgtEl>
                                      </p:cBhvr>
                                    </p:animEffect>
                                  </p:childTnLst>
                                </p:cTn>
                              </p:par>
                              <p:par>
                                <p:cTn id="51" presetID="22" presetClass="entr" presetSubtype="8" fill="hold"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left)">
                                      <p:cBhvr>
                                        <p:cTn id="53" dur="500"/>
                                        <p:tgtEl>
                                          <p:spTgt spid="43"/>
                                        </p:tgtEl>
                                      </p:cBhvr>
                                    </p:animEffect>
                                  </p:childTnLst>
                                </p:cTn>
                              </p:par>
                            </p:childTnLst>
                          </p:cTn>
                        </p:par>
                        <p:par>
                          <p:cTn id="54" fill="hold">
                            <p:stCondLst>
                              <p:cond delay="500"/>
                            </p:stCondLst>
                            <p:childTnLst>
                              <p:par>
                                <p:cTn id="55" presetID="1" presetClass="emph" presetSubtype="2" fill="hold" nodeType="afterEffect">
                                  <p:stCondLst>
                                    <p:cond delay="0"/>
                                  </p:stCondLst>
                                  <p:childTnLst>
                                    <p:animClr clrSpc="rgb" dir="cw">
                                      <p:cBhvr>
                                        <p:cTn id="56" dur="750" fill="hold"/>
                                        <p:tgtEl>
                                          <p:spTgt spid="8"/>
                                        </p:tgtEl>
                                        <p:attrNameLst>
                                          <p:attrName>fillcolor</p:attrName>
                                        </p:attrNameLst>
                                      </p:cBhvr>
                                      <p:to>
                                        <a:srgbClr val="8BC145"/>
                                      </p:to>
                                    </p:animClr>
                                    <p:set>
                                      <p:cBhvr>
                                        <p:cTn id="57" dur="750" fill="hold"/>
                                        <p:tgtEl>
                                          <p:spTgt spid="8"/>
                                        </p:tgtEl>
                                        <p:attrNameLst>
                                          <p:attrName>fill.type</p:attrName>
                                        </p:attrNameLst>
                                      </p:cBhvr>
                                      <p:to>
                                        <p:strVal val="solid"/>
                                      </p:to>
                                    </p:set>
                                    <p:set>
                                      <p:cBhvr>
                                        <p:cTn id="58" dur="750" fill="hold"/>
                                        <p:tgtEl>
                                          <p:spTgt spid="8"/>
                                        </p:tgtEl>
                                        <p:attrNameLst>
                                          <p:attrName>fill.on</p:attrName>
                                        </p:attrNameLst>
                                      </p:cBhvr>
                                      <p:to>
                                        <p:strVal val="true"/>
                                      </p:to>
                                    </p:set>
                                  </p:childTnLst>
                                </p:cTn>
                              </p:par>
                            </p:childTnLst>
                          </p:cTn>
                        </p:par>
                        <p:par>
                          <p:cTn id="59" fill="hold">
                            <p:stCondLst>
                              <p:cond delay="1250"/>
                            </p:stCondLst>
                            <p:childTnLst>
                              <p:par>
                                <p:cTn id="60" presetID="7" presetClass="emph" presetSubtype="2" fill="hold" nodeType="afterEffect">
                                  <p:stCondLst>
                                    <p:cond delay="0"/>
                                  </p:stCondLst>
                                  <p:childTnLst>
                                    <p:animClr clrSpc="rgb" dir="cw">
                                      <p:cBhvr>
                                        <p:cTn id="61" dur="750" fill="hold"/>
                                        <p:tgtEl>
                                          <p:spTgt spid="14"/>
                                        </p:tgtEl>
                                        <p:attrNameLst>
                                          <p:attrName>stroke.color</p:attrName>
                                        </p:attrNameLst>
                                      </p:cBhvr>
                                      <p:to>
                                        <a:srgbClr val="B84742"/>
                                      </p:to>
                                    </p:animClr>
                                    <p:set>
                                      <p:cBhvr>
                                        <p:cTn id="62" dur="750" fill="hold"/>
                                        <p:tgtEl>
                                          <p:spTgt spid="14"/>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2000"/>
                                        <p:tgtEl>
                                          <p:spTgt spid="4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wipe(left)">
                                      <p:cBhvr>
                                        <p:cTn id="77" dur="1000"/>
                                        <p:tgtEl>
                                          <p:spTgt spid="49"/>
                                        </p:tgtEl>
                                      </p:cBhvr>
                                    </p:animEffect>
                                  </p:childTnLst>
                                </p:cTn>
                              </p:par>
                              <p:par>
                                <p:cTn id="78" presetID="22" presetClass="entr" presetSubtype="8" fill="hold"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wipe(left)">
                                      <p:cBhvr>
                                        <p:cTn id="80" dur="1000"/>
                                        <p:tgtEl>
                                          <p:spTgt spid="50"/>
                                        </p:tgtEl>
                                      </p:cBhvr>
                                    </p:animEffect>
                                  </p:childTnLst>
                                </p:cTn>
                              </p:par>
                            </p:childTnLst>
                          </p:cTn>
                        </p:par>
                        <p:par>
                          <p:cTn id="81" fill="hold">
                            <p:stCondLst>
                              <p:cond delay="1000"/>
                            </p:stCondLst>
                            <p:childTnLst>
                              <p:par>
                                <p:cTn id="82" presetID="1" presetClass="emph" presetSubtype="2" fill="hold" nodeType="afterEffect">
                                  <p:stCondLst>
                                    <p:cond delay="0"/>
                                  </p:stCondLst>
                                  <p:childTnLst>
                                    <p:animClr clrSpc="rgb" dir="cw">
                                      <p:cBhvr>
                                        <p:cTn id="83" dur="750" fill="hold"/>
                                        <p:tgtEl>
                                          <p:spTgt spid="9"/>
                                        </p:tgtEl>
                                        <p:attrNameLst>
                                          <p:attrName>fillcolor</p:attrName>
                                        </p:attrNameLst>
                                      </p:cBhvr>
                                      <p:to>
                                        <a:srgbClr val="8BC145"/>
                                      </p:to>
                                    </p:animClr>
                                    <p:set>
                                      <p:cBhvr>
                                        <p:cTn id="84" dur="750" fill="hold"/>
                                        <p:tgtEl>
                                          <p:spTgt spid="9"/>
                                        </p:tgtEl>
                                        <p:attrNameLst>
                                          <p:attrName>fill.type</p:attrName>
                                        </p:attrNameLst>
                                      </p:cBhvr>
                                      <p:to>
                                        <p:strVal val="solid"/>
                                      </p:to>
                                    </p:set>
                                    <p:set>
                                      <p:cBhvr>
                                        <p:cTn id="85" dur="750" fill="hold"/>
                                        <p:tgtEl>
                                          <p:spTgt spid="9"/>
                                        </p:tgtEl>
                                        <p:attrNameLst>
                                          <p:attrName>fill.on</p:attrName>
                                        </p:attrNameLst>
                                      </p:cBhvr>
                                      <p:to>
                                        <p:strVal val="true"/>
                                      </p:to>
                                    </p:set>
                                  </p:childTnLst>
                                </p:cTn>
                              </p:par>
                            </p:childTnLst>
                          </p:cTn>
                        </p:par>
                        <p:par>
                          <p:cTn id="86" fill="hold">
                            <p:stCondLst>
                              <p:cond delay="1750"/>
                            </p:stCondLst>
                            <p:childTnLst>
                              <p:par>
                                <p:cTn id="87" presetID="7" presetClass="emph" presetSubtype="2" fill="hold" nodeType="afterEffect">
                                  <p:stCondLst>
                                    <p:cond delay="0"/>
                                  </p:stCondLst>
                                  <p:childTnLst>
                                    <p:animClr clrSpc="rgb" dir="cw">
                                      <p:cBhvr>
                                        <p:cTn id="88" dur="750" fill="hold"/>
                                        <p:tgtEl>
                                          <p:spTgt spid="17"/>
                                        </p:tgtEl>
                                        <p:attrNameLst>
                                          <p:attrName>stroke.color</p:attrName>
                                        </p:attrNameLst>
                                      </p:cBhvr>
                                      <p:to>
                                        <a:srgbClr val="B84742"/>
                                      </p:to>
                                    </p:animClr>
                                    <p:set>
                                      <p:cBhvr>
                                        <p:cTn id="89" dur="750" fill="hold"/>
                                        <p:tgtEl>
                                          <p:spTgt spid="17"/>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wipe(left)">
                                      <p:cBhvr>
                                        <p:cTn id="99" dur="2000"/>
                                        <p:tgtEl>
                                          <p:spTgt spid="4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wipe(left)">
                                      <p:cBhvr>
                                        <p:cTn id="104" dur="1000"/>
                                        <p:tgtEl>
                                          <p:spTgt spid="51"/>
                                        </p:tgtEl>
                                      </p:cBhvr>
                                    </p:animEffect>
                                  </p:childTnLst>
                                </p:cTn>
                              </p:par>
                              <p:par>
                                <p:cTn id="105" presetID="22" presetClass="entr" presetSubtype="8"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wipe(left)">
                                      <p:cBhvr>
                                        <p:cTn id="107" dur="1000"/>
                                        <p:tgtEl>
                                          <p:spTgt spid="53"/>
                                        </p:tgtEl>
                                      </p:cBhvr>
                                    </p:animEffect>
                                  </p:childTnLst>
                                </p:cTn>
                              </p:par>
                            </p:childTnLst>
                          </p:cTn>
                        </p:par>
                        <p:par>
                          <p:cTn id="108" fill="hold">
                            <p:stCondLst>
                              <p:cond delay="1000"/>
                            </p:stCondLst>
                            <p:childTnLst>
                              <p:par>
                                <p:cTn id="109" presetID="1" presetClass="emph" presetSubtype="2" fill="hold" nodeType="afterEffect">
                                  <p:stCondLst>
                                    <p:cond delay="0"/>
                                  </p:stCondLst>
                                  <p:childTnLst>
                                    <p:animClr clrSpc="rgb" dir="cw">
                                      <p:cBhvr>
                                        <p:cTn id="110" dur="750" fill="hold"/>
                                        <p:tgtEl>
                                          <p:spTgt spid="10"/>
                                        </p:tgtEl>
                                        <p:attrNameLst>
                                          <p:attrName>fillcolor</p:attrName>
                                        </p:attrNameLst>
                                      </p:cBhvr>
                                      <p:to>
                                        <a:srgbClr val="8BC145"/>
                                      </p:to>
                                    </p:animClr>
                                    <p:set>
                                      <p:cBhvr>
                                        <p:cTn id="111" dur="750" fill="hold"/>
                                        <p:tgtEl>
                                          <p:spTgt spid="10"/>
                                        </p:tgtEl>
                                        <p:attrNameLst>
                                          <p:attrName>fill.type</p:attrName>
                                        </p:attrNameLst>
                                      </p:cBhvr>
                                      <p:to>
                                        <p:strVal val="solid"/>
                                      </p:to>
                                    </p:set>
                                    <p:set>
                                      <p:cBhvr>
                                        <p:cTn id="112" dur="750" fill="hold"/>
                                        <p:tgtEl>
                                          <p:spTgt spid="10"/>
                                        </p:tgtEl>
                                        <p:attrNameLst>
                                          <p:attrName>fill.on</p:attrName>
                                        </p:attrNameLst>
                                      </p:cBhvr>
                                      <p:to>
                                        <p:strVal val="true"/>
                                      </p:to>
                                    </p:set>
                                  </p:childTnLst>
                                </p:cTn>
                              </p:par>
                            </p:childTnLst>
                          </p:cTn>
                        </p:par>
                        <p:par>
                          <p:cTn id="113" fill="hold">
                            <p:stCondLst>
                              <p:cond delay="1750"/>
                            </p:stCondLst>
                            <p:childTnLst>
                              <p:par>
                                <p:cTn id="114" presetID="7" presetClass="emph" presetSubtype="2" fill="hold" nodeType="afterEffect">
                                  <p:stCondLst>
                                    <p:cond delay="0"/>
                                  </p:stCondLst>
                                  <p:childTnLst>
                                    <p:animClr clrSpc="rgb" dir="cw">
                                      <p:cBhvr>
                                        <p:cTn id="115" dur="750" fill="hold"/>
                                        <p:tgtEl>
                                          <p:spTgt spid="15"/>
                                        </p:tgtEl>
                                        <p:attrNameLst>
                                          <p:attrName>stroke.color</p:attrName>
                                        </p:attrNameLst>
                                      </p:cBhvr>
                                      <p:to>
                                        <a:srgbClr val="B84742"/>
                                      </p:to>
                                    </p:animClr>
                                    <p:set>
                                      <p:cBhvr>
                                        <p:cTn id="116" dur="750" fill="hold"/>
                                        <p:tgtEl>
                                          <p:spTgt spid="15"/>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0"/>
                                        </p:tgtEl>
                                        <p:attrNameLst>
                                          <p:attrName>style.visibility</p:attrName>
                                        </p:attrNameLst>
                                      </p:cBhvr>
                                      <p:to>
                                        <p:strVal val="visible"/>
                                      </p:to>
                                    </p:set>
                                    <p:animEffect transition="in" filter="fade">
                                      <p:cBhvr>
                                        <p:cTn id="121" dur="500"/>
                                        <p:tgtEl>
                                          <p:spTgt spid="6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wipe(left)">
                                      <p:cBhvr>
                                        <p:cTn id="126" dur="2000"/>
                                        <p:tgtEl>
                                          <p:spTgt spid="46"/>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wipe(left)">
                                      <p:cBhvr>
                                        <p:cTn id="131" dur="1000"/>
                                        <p:tgtEl>
                                          <p:spTgt spid="52"/>
                                        </p:tgtEl>
                                      </p:cBhvr>
                                    </p:animEffect>
                                  </p:childTnLst>
                                </p:cTn>
                              </p:par>
                              <p:par>
                                <p:cTn id="132" presetID="22" presetClass="entr" presetSubtype="8" fill="hold" nodeType="withEffect">
                                  <p:stCondLst>
                                    <p:cond delay="0"/>
                                  </p:stCondLst>
                                  <p:childTnLst>
                                    <p:set>
                                      <p:cBhvr>
                                        <p:cTn id="133" dur="1" fill="hold">
                                          <p:stCondLst>
                                            <p:cond delay="0"/>
                                          </p:stCondLst>
                                        </p:cTn>
                                        <p:tgtEl>
                                          <p:spTgt spid="54"/>
                                        </p:tgtEl>
                                        <p:attrNameLst>
                                          <p:attrName>style.visibility</p:attrName>
                                        </p:attrNameLst>
                                      </p:cBhvr>
                                      <p:to>
                                        <p:strVal val="visible"/>
                                      </p:to>
                                    </p:set>
                                    <p:animEffect transition="in" filter="wipe(left)">
                                      <p:cBhvr>
                                        <p:cTn id="134" dur="1000"/>
                                        <p:tgtEl>
                                          <p:spTgt spid="54"/>
                                        </p:tgtEl>
                                      </p:cBhvr>
                                    </p:animEffect>
                                  </p:childTnLst>
                                </p:cTn>
                              </p:par>
                            </p:childTnLst>
                          </p:cTn>
                        </p:par>
                        <p:par>
                          <p:cTn id="135" fill="hold">
                            <p:stCondLst>
                              <p:cond delay="1000"/>
                            </p:stCondLst>
                            <p:childTnLst>
                              <p:par>
                                <p:cTn id="136" presetID="1" presetClass="emph" presetSubtype="2" fill="hold" nodeType="afterEffect">
                                  <p:stCondLst>
                                    <p:cond delay="0"/>
                                  </p:stCondLst>
                                  <p:childTnLst>
                                    <p:animClr clrSpc="rgb" dir="cw">
                                      <p:cBhvr>
                                        <p:cTn id="137" dur="750" fill="hold"/>
                                        <p:tgtEl>
                                          <p:spTgt spid="12"/>
                                        </p:tgtEl>
                                        <p:attrNameLst>
                                          <p:attrName>fillcolor</p:attrName>
                                        </p:attrNameLst>
                                      </p:cBhvr>
                                      <p:to>
                                        <a:srgbClr val="8BC145"/>
                                      </p:to>
                                    </p:animClr>
                                    <p:set>
                                      <p:cBhvr>
                                        <p:cTn id="138" dur="750" fill="hold"/>
                                        <p:tgtEl>
                                          <p:spTgt spid="12"/>
                                        </p:tgtEl>
                                        <p:attrNameLst>
                                          <p:attrName>fill.type</p:attrName>
                                        </p:attrNameLst>
                                      </p:cBhvr>
                                      <p:to>
                                        <p:strVal val="solid"/>
                                      </p:to>
                                    </p:set>
                                    <p:set>
                                      <p:cBhvr>
                                        <p:cTn id="139" dur="750" fill="hold"/>
                                        <p:tgtEl>
                                          <p:spTgt spid="12"/>
                                        </p:tgtEl>
                                        <p:attrNameLst>
                                          <p:attrName>fill.on</p:attrName>
                                        </p:attrNameLst>
                                      </p:cBhvr>
                                      <p:to>
                                        <p:strVal val="true"/>
                                      </p:to>
                                    </p:set>
                                  </p:childTnLst>
                                </p:cTn>
                              </p:par>
                            </p:childTnLst>
                          </p:cTn>
                        </p:par>
                        <p:par>
                          <p:cTn id="140" fill="hold">
                            <p:stCondLst>
                              <p:cond delay="1750"/>
                            </p:stCondLst>
                            <p:childTnLst>
                              <p:par>
                                <p:cTn id="141" presetID="7" presetClass="emph" presetSubtype="2" fill="hold" nodeType="afterEffect">
                                  <p:stCondLst>
                                    <p:cond delay="0"/>
                                  </p:stCondLst>
                                  <p:childTnLst>
                                    <p:animClr clrSpc="rgb" dir="cw">
                                      <p:cBhvr>
                                        <p:cTn id="142" dur="750" fill="hold"/>
                                        <p:tgtEl>
                                          <p:spTgt spid="23"/>
                                        </p:tgtEl>
                                        <p:attrNameLst>
                                          <p:attrName>stroke.color</p:attrName>
                                        </p:attrNameLst>
                                      </p:cBhvr>
                                      <p:to>
                                        <a:srgbClr val="B84742"/>
                                      </p:to>
                                    </p:animClr>
                                    <p:set>
                                      <p:cBhvr>
                                        <p:cTn id="143" dur="750" fill="hold"/>
                                        <p:tgtEl>
                                          <p:spTgt spid="23"/>
                                        </p:tgtEl>
                                        <p:attrNameLst>
                                          <p:attrName>stroke.on</p:attrName>
                                        </p:attrNameLst>
                                      </p:cBhvr>
                                      <p:to>
                                        <p:strVal val="true"/>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500"/>
                                        <p:tgtEl>
                                          <p:spTgt spid="61"/>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44"/>
                                        </p:tgtEl>
                                        <p:attrNameLst>
                                          <p:attrName>style.visibility</p:attrName>
                                        </p:attrNameLst>
                                      </p:cBhvr>
                                      <p:to>
                                        <p:strVal val="visible"/>
                                      </p:to>
                                    </p:set>
                                    <p:animEffect transition="in" filter="wipe(left)">
                                      <p:cBhvr>
                                        <p:cTn id="153" dur="2000"/>
                                        <p:tgtEl>
                                          <p:spTgt spid="44"/>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56"/>
                                        </p:tgtEl>
                                        <p:attrNameLst>
                                          <p:attrName>style.visibility</p:attrName>
                                        </p:attrNameLst>
                                      </p:cBhvr>
                                      <p:to>
                                        <p:strVal val="visible"/>
                                      </p:to>
                                    </p:set>
                                    <p:animEffect transition="in" filter="wipe(left)">
                                      <p:cBhvr>
                                        <p:cTn id="158" dur="1000"/>
                                        <p:tgtEl>
                                          <p:spTgt spid="56"/>
                                        </p:tgtEl>
                                      </p:cBhvr>
                                    </p:animEffect>
                                  </p:childTnLst>
                                </p:cTn>
                              </p:par>
                              <p:par>
                                <p:cTn id="159" presetID="22" presetClass="entr" presetSubtype="8" fill="hold" nodeType="withEffect">
                                  <p:stCondLst>
                                    <p:cond delay="0"/>
                                  </p:stCondLst>
                                  <p:childTnLst>
                                    <p:set>
                                      <p:cBhvr>
                                        <p:cTn id="160" dur="1" fill="hold">
                                          <p:stCondLst>
                                            <p:cond delay="0"/>
                                          </p:stCondLst>
                                        </p:cTn>
                                        <p:tgtEl>
                                          <p:spTgt spid="55"/>
                                        </p:tgtEl>
                                        <p:attrNameLst>
                                          <p:attrName>style.visibility</p:attrName>
                                        </p:attrNameLst>
                                      </p:cBhvr>
                                      <p:to>
                                        <p:strVal val="visible"/>
                                      </p:to>
                                    </p:set>
                                    <p:animEffect transition="in" filter="wipe(left)">
                                      <p:cBhvr>
                                        <p:cTn id="161" dur="1000"/>
                                        <p:tgtEl>
                                          <p:spTgt spid="55"/>
                                        </p:tgtEl>
                                      </p:cBhvr>
                                    </p:animEffect>
                                  </p:childTnLst>
                                </p:cTn>
                              </p:par>
                            </p:childTnLst>
                          </p:cTn>
                        </p:par>
                        <p:par>
                          <p:cTn id="162" fill="hold">
                            <p:stCondLst>
                              <p:cond delay="1000"/>
                            </p:stCondLst>
                            <p:childTnLst>
                              <p:par>
                                <p:cTn id="163" presetID="1" presetClass="emph" presetSubtype="2" fill="hold" nodeType="afterEffect">
                                  <p:stCondLst>
                                    <p:cond delay="0"/>
                                  </p:stCondLst>
                                  <p:childTnLst>
                                    <p:animClr clrSpc="rgb" dir="cw">
                                      <p:cBhvr>
                                        <p:cTn id="164" dur="750" fill="hold"/>
                                        <p:tgtEl>
                                          <p:spTgt spid="11"/>
                                        </p:tgtEl>
                                        <p:attrNameLst>
                                          <p:attrName>fillcolor</p:attrName>
                                        </p:attrNameLst>
                                      </p:cBhvr>
                                      <p:to>
                                        <a:srgbClr val="8BC145"/>
                                      </p:to>
                                    </p:animClr>
                                    <p:set>
                                      <p:cBhvr>
                                        <p:cTn id="165" dur="750" fill="hold"/>
                                        <p:tgtEl>
                                          <p:spTgt spid="11"/>
                                        </p:tgtEl>
                                        <p:attrNameLst>
                                          <p:attrName>fill.type</p:attrName>
                                        </p:attrNameLst>
                                      </p:cBhvr>
                                      <p:to>
                                        <p:strVal val="solid"/>
                                      </p:to>
                                    </p:set>
                                    <p:set>
                                      <p:cBhvr>
                                        <p:cTn id="166" dur="750" fill="hold"/>
                                        <p:tgtEl>
                                          <p:spTgt spid="11"/>
                                        </p:tgtEl>
                                        <p:attrNameLst>
                                          <p:attrName>fill.on</p:attrName>
                                        </p:attrNameLst>
                                      </p:cBhvr>
                                      <p:to>
                                        <p:strVal val="true"/>
                                      </p:to>
                                    </p:set>
                                  </p:childTnLst>
                                </p:cTn>
                              </p:par>
                            </p:childTnLst>
                          </p:cTn>
                        </p:par>
                        <p:par>
                          <p:cTn id="167" fill="hold">
                            <p:stCondLst>
                              <p:cond delay="1750"/>
                            </p:stCondLst>
                            <p:childTnLst>
                              <p:par>
                                <p:cTn id="168" presetID="7" presetClass="emph" presetSubtype="2" fill="hold" nodeType="afterEffect">
                                  <p:stCondLst>
                                    <p:cond delay="0"/>
                                  </p:stCondLst>
                                  <p:childTnLst>
                                    <p:animClr clrSpc="rgb" dir="cw">
                                      <p:cBhvr>
                                        <p:cTn id="169" dur="750" fill="hold"/>
                                        <p:tgtEl>
                                          <p:spTgt spid="22"/>
                                        </p:tgtEl>
                                        <p:attrNameLst>
                                          <p:attrName>stroke.color</p:attrName>
                                        </p:attrNameLst>
                                      </p:cBhvr>
                                      <p:to>
                                        <a:srgbClr val="B84742"/>
                                      </p:to>
                                    </p:animClr>
                                    <p:set>
                                      <p:cBhvr>
                                        <p:cTn id="170" dur="750" fill="hold"/>
                                        <p:tgtEl>
                                          <p:spTgt spid="22"/>
                                        </p:tgtEl>
                                        <p:attrNameLst>
                                          <p:attrName>stroke.on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wipe(left)">
                                      <p:cBhvr>
                                        <p:cTn id="175"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8" grpId="0"/>
      <p:bldP spid="39" grpId="0" animBg="1"/>
      <p:bldP spid="40" grpId="0"/>
      <p:bldP spid="44" grpId="0"/>
      <p:bldP spid="45" grpId="0"/>
      <p:bldP spid="46" grpId="0"/>
      <p:bldP spid="48" grpId="0"/>
      <p:bldP spid="57" grpId="0"/>
      <p:bldP spid="58" grpId="0"/>
      <p:bldP spid="59" grpId="0"/>
      <p:bldP spid="60" grpId="0"/>
      <p:bldP spid="61" grpId="0"/>
      <p:bldP spid="6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3EFE28F3-3F68-68BA-5D86-B516E4B9639C}"/>
              </a:ext>
            </a:extLst>
          </p:cNvPr>
          <p:cNvSpPr/>
          <p:nvPr/>
        </p:nvSpPr>
        <p:spPr>
          <a:xfrm>
            <a:off x="6096000" y="1063186"/>
            <a:ext cx="5808374" cy="552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5B106AC9-8DDC-DF3B-B727-11FB8EA872F4}"/>
              </a:ext>
            </a:extLst>
          </p:cNvPr>
          <p:cNvSpPr txBox="1"/>
          <p:nvPr/>
        </p:nvSpPr>
        <p:spPr>
          <a:xfrm>
            <a:off x="-1" y="42883"/>
            <a:ext cx="6217920" cy="666849"/>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01D9AA78-3599-6D21-5F2B-EAB49EAFA259}"/>
              </a:ext>
            </a:extLst>
          </p:cNvPr>
          <p:cNvSpPr/>
          <p:nvPr/>
        </p:nvSpPr>
        <p:spPr>
          <a:xfrm>
            <a:off x="6858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8BD681D7-97D5-A76C-9DB9-66D31B8D790F}"/>
              </a:ext>
            </a:extLst>
          </p:cNvPr>
          <p:cNvSpPr/>
          <p:nvPr/>
        </p:nvSpPr>
        <p:spPr>
          <a:xfrm>
            <a:off x="26670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FCDE83C1-D122-189B-3E34-96774D189848}"/>
              </a:ext>
            </a:extLst>
          </p:cNvPr>
          <p:cNvSpPr/>
          <p:nvPr/>
        </p:nvSpPr>
        <p:spPr>
          <a:xfrm>
            <a:off x="47244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03F0CC5A-9504-A3A3-138E-7D4A926F437F}"/>
              </a:ext>
            </a:extLst>
          </p:cNvPr>
          <p:cNvSpPr/>
          <p:nvPr/>
        </p:nvSpPr>
        <p:spPr>
          <a:xfrm>
            <a:off x="6858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2EE4A099-F967-E80B-1C7D-2AB462F220E1}"/>
              </a:ext>
            </a:extLst>
          </p:cNvPr>
          <p:cNvSpPr/>
          <p:nvPr/>
        </p:nvSpPr>
        <p:spPr>
          <a:xfrm>
            <a:off x="27432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C71672B9-B73D-2D47-466D-596903C0E9BE}"/>
              </a:ext>
            </a:extLst>
          </p:cNvPr>
          <p:cNvSpPr/>
          <p:nvPr/>
        </p:nvSpPr>
        <p:spPr>
          <a:xfrm>
            <a:off x="4807527"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29ECC4AC-4346-2899-CFC3-9ACC41069ABE}"/>
              </a:ext>
            </a:extLst>
          </p:cNvPr>
          <p:cNvSpPr/>
          <p:nvPr/>
        </p:nvSpPr>
        <p:spPr>
          <a:xfrm>
            <a:off x="2819400" y="51685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EAABDCDC-1E5F-9EA9-7123-788E96038817}"/>
              </a:ext>
            </a:extLst>
          </p:cNvPr>
          <p:cNvCxnSpPr>
            <a:stCxn id="6" idx="6"/>
            <a:endCxn id="7" idx="2"/>
          </p:cNvCxnSpPr>
          <p:nvPr/>
        </p:nvCxnSpPr>
        <p:spPr>
          <a:xfrm>
            <a:off x="1325880" y="1830980"/>
            <a:ext cx="1341120" cy="0"/>
          </a:xfrm>
          <a:prstGeom prst="line">
            <a:avLst/>
          </a:prstGeom>
          <a:noFill/>
          <a:ln w="28575" cap="flat" cmpd="sng" algn="ctr">
            <a:solidFill>
              <a:srgbClr val="B84742"/>
            </a:solidFill>
            <a:prstDash val="solid"/>
            <a:miter lim="800000"/>
          </a:ln>
          <a:effectLst/>
        </p:spPr>
      </p:cxnSp>
      <p:cxnSp>
        <p:nvCxnSpPr>
          <p:cNvPr id="14" name="Straight Connector 13">
            <a:extLst>
              <a:ext uri="{FF2B5EF4-FFF2-40B4-BE49-F238E27FC236}">
                <a16:creationId xmlns:a16="http://schemas.microsoft.com/office/drawing/2014/main" id="{FF3B5554-7E8C-2BF3-18DE-DBE741A4CCC4}"/>
              </a:ext>
            </a:extLst>
          </p:cNvPr>
          <p:cNvCxnSpPr>
            <a:stCxn id="7" idx="6"/>
            <a:endCxn id="8" idx="2"/>
          </p:cNvCxnSpPr>
          <p:nvPr/>
        </p:nvCxnSpPr>
        <p:spPr>
          <a:xfrm>
            <a:off x="3307080" y="1830980"/>
            <a:ext cx="1417320" cy="0"/>
          </a:xfrm>
          <a:prstGeom prst="line">
            <a:avLst/>
          </a:prstGeom>
          <a:noFill/>
          <a:ln w="28575" cap="flat" cmpd="sng" algn="ctr">
            <a:solidFill>
              <a:srgbClr val="B84742"/>
            </a:solidFill>
            <a:prstDash val="solid"/>
            <a:miter lim="800000"/>
          </a:ln>
          <a:effectLst/>
        </p:spPr>
      </p:cxnSp>
      <p:cxnSp>
        <p:nvCxnSpPr>
          <p:cNvPr id="15" name="Straight Connector 14">
            <a:extLst>
              <a:ext uri="{FF2B5EF4-FFF2-40B4-BE49-F238E27FC236}">
                <a16:creationId xmlns:a16="http://schemas.microsoft.com/office/drawing/2014/main" id="{13F8E14B-B48D-05A2-76DE-E2FDAA41AFFD}"/>
              </a:ext>
            </a:extLst>
          </p:cNvPr>
          <p:cNvCxnSpPr>
            <a:stCxn id="9" idx="6"/>
            <a:endCxn id="10" idx="2"/>
          </p:cNvCxnSpPr>
          <p:nvPr/>
        </p:nvCxnSpPr>
        <p:spPr>
          <a:xfrm>
            <a:off x="1325880" y="3659780"/>
            <a:ext cx="1417320" cy="0"/>
          </a:xfrm>
          <a:prstGeom prst="line">
            <a:avLst/>
          </a:prstGeom>
          <a:noFill/>
          <a:ln w="28575" cap="flat" cmpd="sng" algn="ctr">
            <a:solidFill>
              <a:srgbClr val="B84742"/>
            </a:solidFill>
            <a:prstDash val="solid"/>
            <a:miter lim="800000"/>
          </a:ln>
          <a:effectLst/>
        </p:spPr>
      </p:cxnSp>
      <p:cxnSp>
        <p:nvCxnSpPr>
          <p:cNvPr id="16" name="Straight Connector 15">
            <a:extLst>
              <a:ext uri="{FF2B5EF4-FFF2-40B4-BE49-F238E27FC236}">
                <a16:creationId xmlns:a16="http://schemas.microsoft.com/office/drawing/2014/main" id="{0C439A16-B2CF-78EB-65E7-1714C59CDBEA}"/>
              </a:ext>
            </a:extLst>
          </p:cNvPr>
          <p:cNvCxnSpPr>
            <a:stCxn id="6" idx="4"/>
            <a:endCxn id="9" idx="0"/>
          </p:cNvCxnSpPr>
          <p:nvPr/>
        </p:nvCxnSpPr>
        <p:spPr>
          <a:xfrm>
            <a:off x="1005840" y="2151020"/>
            <a:ext cx="0" cy="1188720"/>
          </a:xfrm>
          <a:prstGeom prst="line">
            <a:avLst/>
          </a:prstGeom>
          <a:noFill/>
          <a:ln w="28575" cap="flat" cmpd="sng" algn="ctr">
            <a:solidFill>
              <a:srgbClr val="B84742"/>
            </a:solidFill>
            <a:prstDash val="solid"/>
            <a:miter lim="800000"/>
          </a:ln>
          <a:effectLst/>
        </p:spPr>
      </p:cxnSp>
      <p:cxnSp>
        <p:nvCxnSpPr>
          <p:cNvPr id="17" name="Straight Connector 16">
            <a:extLst>
              <a:ext uri="{FF2B5EF4-FFF2-40B4-BE49-F238E27FC236}">
                <a16:creationId xmlns:a16="http://schemas.microsoft.com/office/drawing/2014/main" id="{B5E7D5E0-7280-51C6-8CE1-70FBCFA04DAF}"/>
              </a:ext>
            </a:extLst>
          </p:cNvPr>
          <p:cNvCxnSpPr>
            <a:stCxn id="11" idx="3"/>
            <a:endCxn id="12" idx="6"/>
          </p:cNvCxnSpPr>
          <p:nvPr/>
        </p:nvCxnSpPr>
        <p:spPr>
          <a:xfrm flipH="1">
            <a:off x="3459480" y="3886082"/>
            <a:ext cx="1441785" cy="1602498"/>
          </a:xfrm>
          <a:prstGeom prst="line">
            <a:avLst/>
          </a:prstGeom>
          <a:noFill/>
          <a:ln w="28575" cap="flat" cmpd="sng" algn="ctr">
            <a:solidFill>
              <a:srgbClr val="B84742"/>
            </a:solidFill>
            <a:prstDash val="solid"/>
            <a:miter lim="800000"/>
          </a:ln>
          <a:effectLst/>
        </p:spPr>
      </p:cxnSp>
      <p:cxnSp>
        <p:nvCxnSpPr>
          <p:cNvPr id="18" name="Straight Connector 17">
            <a:extLst>
              <a:ext uri="{FF2B5EF4-FFF2-40B4-BE49-F238E27FC236}">
                <a16:creationId xmlns:a16="http://schemas.microsoft.com/office/drawing/2014/main" id="{358C126C-22D5-902A-435F-5F627B0AC345}"/>
              </a:ext>
            </a:extLst>
          </p:cNvPr>
          <p:cNvCxnSpPr>
            <a:stCxn id="9" idx="4"/>
            <a:endCxn id="12" idx="2"/>
          </p:cNvCxnSpPr>
          <p:nvPr/>
        </p:nvCxnSpPr>
        <p:spPr>
          <a:xfrm>
            <a:off x="1005840" y="3979820"/>
            <a:ext cx="1813560" cy="1508760"/>
          </a:xfrm>
          <a:prstGeom prst="line">
            <a:avLst/>
          </a:prstGeom>
          <a:noFill/>
          <a:ln w="28575" cap="flat" cmpd="sng" algn="ctr">
            <a:solidFill>
              <a:srgbClr val="B84742"/>
            </a:solidFill>
            <a:prstDash val="solid"/>
            <a:miter lim="800000"/>
          </a:ln>
          <a:effectLst/>
        </p:spPr>
      </p:cxnSp>
      <p:sp>
        <p:nvSpPr>
          <p:cNvPr id="19" name="TextBox 18">
            <a:extLst>
              <a:ext uri="{FF2B5EF4-FFF2-40B4-BE49-F238E27FC236}">
                <a16:creationId xmlns:a16="http://schemas.microsoft.com/office/drawing/2014/main" id="{E6555C90-CF66-42BE-3376-E962AC78D56C}"/>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0" name="TextBox 19">
            <a:extLst>
              <a:ext uri="{FF2B5EF4-FFF2-40B4-BE49-F238E27FC236}">
                <a16:creationId xmlns:a16="http://schemas.microsoft.com/office/drawing/2014/main" id="{780B49FB-7691-F55A-B196-64C8DD5378A0}"/>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1" name="TextBox 20">
            <a:extLst>
              <a:ext uri="{FF2B5EF4-FFF2-40B4-BE49-F238E27FC236}">
                <a16:creationId xmlns:a16="http://schemas.microsoft.com/office/drawing/2014/main" id="{518F92C7-12A5-8CA5-96BF-08826E3D9A2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2" name="TextBox 21">
            <a:extLst>
              <a:ext uri="{FF2B5EF4-FFF2-40B4-BE49-F238E27FC236}">
                <a16:creationId xmlns:a16="http://schemas.microsoft.com/office/drawing/2014/main" id="{02295605-DBDB-5D1C-F593-2D2576F5BF1E}"/>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3" name="TextBox 22">
            <a:extLst>
              <a:ext uri="{FF2B5EF4-FFF2-40B4-BE49-F238E27FC236}">
                <a16:creationId xmlns:a16="http://schemas.microsoft.com/office/drawing/2014/main" id="{CD7BD739-ADC2-C859-D2E3-99A7C39BDB08}"/>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24" name="TextBox 23">
            <a:extLst>
              <a:ext uri="{FF2B5EF4-FFF2-40B4-BE49-F238E27FC236}">
                <a16:creationId xmlns:a16="http://schemas.microsoft.com/office/drawing/2014/main" id="{8B3BA039-ACCA-4818-E01E-A9013EF42412}"/>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25" name="TextBox 24">
            <a:extLst>
              <a:ext uri="{FF2B5EF4-FFF2-40B4-BE49-F238E27FC236}">
                <a16:creationId xmlns:a16="http://schemas.microsoft.com/office/drawing/2014/main" id="{D4CB8203-A147-117D-7E70-ADEF06EA6150}"/>
              </a:ext>
            </a:extLst>
          </p:cNvPr>
          <p:cNvSpPr txBox="1"/>
          <p:nvPr/>
        </p:nvSpPr>
        <p:spPr>
          <a:xfrm>
            <a:off x="6214039" y="1046084"/>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Step:3</a:t>
            </a:r>
            <a:endParaRPr kumimoji="0" lang="en-US" sz="2000" b="1" i="0" u="none" strike="noStrike" kern="0" cap="none" spc="0" normalizeH="0" baseline="0" noProof="0" dirty="0">
              <a:ln>
                <a:noFill/>
              </a:ln>
              <a:effectLst/>
              <a:uLnTx/>
              <a:uFillTx/>
              <a:latin typeface="Roboto Condensed"/>
            </a:endParaRPr>
          </a:p>
        </p:txBody>
      </p:sp>
      <p:sp>
        <p:nvSpPr>
          <p:cNvPr id="26" name="TextBox 25">
            <a:extLst>
              <a:ext uri="{FF2B5EF4-FFF2-40B4-BE49-F238E27FC236}">
                <a16:creationId xmlns:a16="http://schemas.microsoft.com/office/drawing/2014/main" id="{550BC477-F4D8-12B0-059E-01435AF3AECD}"/>
              </a:ext>
            </a:extLst>
          </p:cNvPr>
          <p:cNvSpPr txBox="1"/>
          <p:nvPr/>
        </p:nvSpPr>
        <p:spPr>
          <a:xfrm>
            <a:off x="6238419" y="1489114"/>
            <a:ext cx="5669280" cy="430887"/>
          </a:xfrm>
          <a:prstGeom prst="rect">
            <a:avLst/>
          </a:prstGeom>
          <a:noFill/>
        </p:spPr>
        <p:txBody>
          <a:bodyPr wrap="square" rtlCol="0">
            <a:spAutoFit/>
          </a:bodyPr>
          <a:lstStyle/>
          <a:p>
            <a:pPr algn="ctr"/>
            <a:r>
              <a:rPr lang="en-US" sz="2200" b="1" dirty="0">
                <a:solidFill>
                  <a:srgbClr val="F19D19"/>
                </a:solidFill>
                <a:latin typeface="Roboto Condensed"/>
              </a:rPr>
              <a:t>The minimum spanning tree for the given graph.</a:t>
            </a:r>
          </a:p>
        </p:txBody>
      </p:sp>
      <p:graphicFrame>
        <p:nvGraphicFramePr>
          <p:cNvPr id="27" name="Table 26">
            <a:extLst>
              <a:ext uri="{FF2B5EF4-FFF2-40B4-BE49-F238E27FC236}">
                <a16:creationId xmlns:a16="http://schemas.microsoft.com/office/drawing/2014/main" id="{F9E21E4A-EC17-8858-BFEF-B55641DCFE55}"/>
              </a:ext>
            </a:extLst>
          </p:cNvPr>
          <p:cNvGraphicFramePr>
            <a:graphicFrameLocks noGrp="1"/>
          </p:cNvGraphicFramePr>
          <p:nvPr>
            <p:extLst/>
          </p:nvPr>
        </p:nvGraphicFramePr>
        <p:xfrm>
          <a:off x="6470662" y="2066695"/>
          <a:ext cx="5120640" cy="3657600"/>
        </p:xfrm>
        <a:graphic>
          <a:graphicData uri="http://schemas.openxmlformats.org/drawingml/2006/table">
            <a:tbl>
              <a:tblPr firstRow="1" bandRow="1"/>
              <a:tblGrid>
                <a:gridCol w="2390247">
                  <a:extLst>
                    <a:ext uri="{9D8B030D-6E8A-4147-A177-3AD203B41FA5}">
                      <a16:colId xmlns:a16="http://schemas.microsoft.com/office/drawing/2014/main" val="1582560717"/>
                    </a:ext>
                  </a:extLst>
                </a:gridCol>
                <a:gridCol w="2730393">
                  <a:extLst>
                    <a:ext uri="{9D8B030D-6E8A-4147-A177-3AD203B41FA5}">
                      <a16:colId xmlns:a16="http://schemas.microsoft.com/office/drawing/2014/main" val="51182450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chemeClr val="tx1"/>
                          </a:solidFill>
                        </a:rPr>
                        <a:t>Node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{4,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1, 2, 3, 4, 5, 7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effectLst/>
                          <a:latin typeface="+mn-lt"/>
                          <a:ea typeface="Times New Roman" panose="02020603050405020304" pitchFamily="18" charset="0"/>
                          <a:cs typeface="Shruti" panose="020B0502040204020203" pitchFamily="34" charset="0"/>
                        </a:rPr>
                        <a:t>{4,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latin typeface="+mn-lt"/>
                        </a:rPr>
                        <a:t>1, 2, 3, 4, 5, 6,</a:t>
                      </a:r>
                      <a:r>
                        <a:rPr lang="en-US" sz="2400" b="1" baseline="0" dirty="0">
                          <a:solidFill>
                            <a:schemeClr val="tx1"/>
                          </a:solidFill>
                          <a:latin typeface="+mn-lt"/>
                        </a:rPr>
                        <a:t>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{6,</a:t>
                      </a:r>
                      <a:r>
                        <a:rPr lang="en-US" sz="2400" b="1" baseline="0" dirty="0">
                          <a:solidFill>
                            <a:schemeClr val="tx1"/>
                          </a:solidFill>
                          <a:latin typeface="+mn-lt"/>
                        </a:rPr>
                        <a:t>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2978437"/>
                  </a:ext>
                </a:extLst>
              </a:tr>
            </a:tbl>
          </a:graphicData>
        </a:graphic>
      </p:graphicFrame>
      <p:sp>
        <p:nvSpPr>
          <p:cNvPr id="28" name="Rectangle 27">
            <a:extLst>
              <a:ext uri="{FF2B5EF4-FFF2-40B4-BE49-F238E27FC236}">
                <a16:creationId xmlns:a16="http://schemas.microsoft.com/office/drawing/2014/main" id="{11F37146-FD6C-6F45-8222-3523B04758D0}"/>
              </a:ext>
            </a:extLst>
          </p:cNvPr>
          <p:cNvSpPr/>
          <p:nvPr/>
        </p:nvSpPr>
        <p:spPr>
          <a:xfrm>
            <a:off x="8349647" y="5979872"/>
            <a:ext cx="2780211" cy="461665"/>
          </a:xfrm>
          <a:prstGeom prst="rect">
            <a:avLst/>
          </a:prstGeom>
          <a:solidFill>
            <a:srgbClr val="F9C5D7"/>
          </a:solidFill>
        </p:spPr>
        <p:txBody>
          <a:bodyPr wrap="square">
            <a:spAutoFit/>
          </a:bodyPr>
          <a:lstStyle/>
          <a:p>
            <a:pPr algn="ctr"/>
            <a:r>
              <a:rPr lang="en-US" sz="2400" b="1" dirty="0">
                <a:solidFill>
                  <a:srgbClr val="AD1457"/>
                </a:solidFill>
                <a:latin typeface="Roboto Condensed"/>
              </a:rPr>
              <a:t>Total Cost  = 17</a:t>
            </a:r>
          </a:p>
        </p:txBody>
      </p:sp>
    </p:spTree>
    <p:extLst>
      <p:ext uri="{BB962C8B-B14F-4D97-AF65-F5344CB8AC3E}">
        <p14:creationId xmlns:p14="http://schemas.microsoft.com/office/powerpoint/2010/main" val="247685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up)">
                                      <p:cBhvr>
                                        <p:cTn id="14" dur="2000"/>
                                        <p:tgtEl>
                                          <p:spTgt spid="27"/>
                                        </p:tgtEl>
                                      </p:cBhvr>
                                    </p:animEffect>
                                  </p:childTnLst>
                                </p:cTn>
                              </p:par>
                            </p:childTnLst>
                          </p:cTn>
                        </p:par>
                        <p:par>
                          <p:cTn id="15" fill="hold">
                            <p:stCondLst>
                              <p:cond delay="2500"/>
                            </p:stCondLst>
                            <p:childTnLst>
                              <p:par>
                                <p:cTn id="16" presetID="10"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graphicFrame>
        <p:nvGraphicFramePr>
          <p:cNvPr id="5" name="Table 4">
            <a:extLst>
              <a:ext uri="{FF2B5EF4-FFF2-40B4-BE49-F238E27FC236}">
                <a16:creationId xmlns:a16="http://schemas.microsoft.com/office/drawing/2014/main" id="{28D1B6CE-8D9B-AAD1-B0EB-D4BE891CC10A}"/>
              </a:ext>
            </a:extLst>
          </p:cNvPr>
          <p:cNvGraphicFramePr>
            <a:graphicFrameLocks noGrp="1"/>
          </p:cNvGraphicFramePr>
          <p:nvPr>
            <p:extLst/>
          </p:nvPr>
        </p:nvGraphicFramePr>
        <p:xfrm>
          <a:off x="1255188" y="937368"/>
          <a:ext cx="7876978" cy="3154680"/>
        </p:xfrm>
        <a:graphic>
          <a:graphicData uri="http://schemas.openxmlformats.org/drawingml/2006/table">
            <a:tbl>
              <a:tblPr firstRow="1" firstCol="1" bandRow="1"/>
              <a:tblGrid>
                <a:gridCol w="778345">
                  <a:extLst>
                    <a:ext uri="{9D8B030D-6E8A-4147-A177-3AD203B41FA5}">
                      <a16:colId xmlns:a16="http://schemas.microsoft.com/office/drawing/2014/main" val="3576670481"/>
                    </a:ext>
                  </a:extLst>
                </a:gridCol>
                <a:gridCol w="1256853">
                  <a:extLst>
                    <a:ext uri="{9D8B030D-6E8A-4147-A177-3AD203B41FA5}">
                      <a16:colId xmlns:a16="http://schemas.microsoft.com/office/drawing/2014/main" val="363215103"/>
                    </a:ext>
                  </a:extLst>
                </a:gridCol>
                <a:gridCol w="1919059">
                  <a:extLst>
                    <a:ext uri="{9D8B030D-6E8A-4147-A177-3AD203B41FA5}">
                      <a16:colId xmlns:a16="http://schemas.microsoft.com/office/drawing/2014/main" val="1607079190"/>
                    </a:ext>
                  </a:extLst>
                </a:gridCol>
                <a:gridCol w="3922721">
                  <a:extLst>
                    <a:ext uri="{9D8B030D-6E8A-4147-A177-3AD203B41FA5}">
                      <a16:colId xmlns:a16="http://schemas.microsoft.com/office/drawing/2014/main" val="3217155832"/>
                    </a:ext>
                  </a:extLst>
                </a:gridCol>
              </a:tblGrid>
              <a:tr h="91881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Step</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Edge Selected {u, v}</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Set B</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Edges Considered</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927897"/>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err="1">
                          <a:solidFill>
                            <a:schemeClr val="tx1"/>
                          </a:solidFill>
                          <a:effectLst/>
                        </a:rPr>
                        <a:t>Init.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0658536"/>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1</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 2}</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b="1" dirty="0">
                          <a:solidFill>
                            <a:srgbClr val="AD1457"/>
                          </a:solidFill>
                          <a:effectLst/>
                        </a:rPr>
                        <a:t>{1,2} </a:t>
                      </a:r>
                      <a:r>
                        <a:rPr lang="en-US" sz="1800" dirty="0">
                          <a:solidFill>
                            <a:schemeClr val="tx1"/>
                          </a:solidFill>
                          <a:effectLst/>
                        </a:rPr>
                        <a:t>{1,4}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9234964"/>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2</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{2, 3}</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{1,4} </a:t>
                      </a:r>
                      <a:r>
                        <a:rPr lang="en-US" sz="1800" b="1" dirty="0">
                          <a:solidFill>
                            <a:srgbClr val="AD1457"/>
                          </a:solidFill>
                          <a:effectLst/>
                        </a:rPr>
                        <a:t>{2,3} </a:t>
                      </a:r>
                      <a:r>
                        <a:rPr lang="en-US" sz="1800" dirty="0">
                          <a:solidFill>
                            <a:schemeClr val="tx1"/>
                          </a:solidFill>
                          <a:effectLst/>
                        </a:rPr>
                        <a:t>{2,4} {2,5}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7923097"/>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3</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 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b="1" dirty="0">
                          <a:solidFill>
                            <a:srgbClr val="AD1457"/>
                          </a:solidFill>
                          <a:effectLst/>
                        </a:rPr>
                        <a:t>{1,4} </a:t>
                      </a:r>
                      <a:r>
                        <a:rPr lang="en-US" sz="1800" b="0" dirty="0">
                          <a:solidFill>
                            <a:schemeClr val="tx1"/>
                          </a:solidFill>
                          <a:effectLst/>
                        </a:rPr>
                        <a:t>{</a:t>
                      </a:r>
                      <a:r>
                        <a:rPr lang="en-US" sz="1800" dirty="0">
                          <a:solidFill>
                            <a:schemeClr val="tx1"/>
                          </a:solidFill>
                          <a:effectLst/>
                        </a:rPr>
                        <a:t>2,4} {2,5} {3,5} {3,6}</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160645"/>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4</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{4, 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a:t>
                      </a:r>
                      <a:r>
                        <a:rPr lang="en-US" sz="1800" b="1" dirty="0">
                          <a:solidFill>
                            <a:srgbClr val="AD1457"/>
                          </a:solidFill>
                          <a:effectLst/>
                        </a:rPr>
                        <a:t>{4,5} </a:t>
                      </a:r>
                      <a:r>
                        <a:rPr lang="en-US" sz="1800" dirty="0">
                          <a:solidFill>
                            <a:schemeClr val="tx1"/>
                          </a:solidFill>
                          <a:effectLst/>
                        </a:rPr>
                        <a:t>{4,7}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2235520"/>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5</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{4, 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a:t>
                      </a:r>
                      <a:r>
                        <a:rPr lang="en-US" sz="1800" b="1" dirty="0">
                          <a:solidFill>
                            <a:srgbClr val="AD1457"/>
                          </a:solidFill>
                          <a:effectLst/>
                        </a:rPr>
                        <a:t>{4,7} </a:t>
                      </a:r>
                      <a:r>
                        <a:rPr lang="en-US" sz="1800" dirty="0">
                          <a:solidFill>
                            <a:schemeClr val="tx1"/>
                          </a:solidFill>
                          <a:effectLst/>
                        </a:rPr>
                        <a:t>{5,6} {5,7}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5800324"/>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6</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{6,7}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{1,2,3,4,5,6,7}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{5,6} {5,7} </a:t>
                      </a:r>
                      <a:r>
                        <a:rPr lang="en-US" sz="1800" b="1" dirty="0">
                          <a:solidFill>
                            <a:srgbClr val="AD1457"/>
                          </a:solidFill>
                          <a:effectLst/>
                        </a:rPr>
                        <a:t>{6,7}</a:t>
                      </a:r>
                      <a:endParaRPr lang="en-US" sz="1800" b="1"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2755033"/>
                  </a:ext>
                </a:extLst>
              </a:tr>
            </a:tbl>
          </a:graphicData>
        </a:graphic>
      </p:graphicFrame>
      <p:cxnSp>
        <p:nvCxnSpPr>
          <p:cNvPr id="6" name="Straight Arrow Connector 5">
            <a:extLst>
              <a:ext uri="{FF2B5EF4-FFF2-40B4-BE49-F238E27FC236}">
                <a16:creationId xmlns:a16="http://schemas.microsoft.com/office/drawing/2014/main" id="{915B1987-ED3C-7C0E-ACEA-357D776B843F}"/>
              </a:ext>
            </a:extLst>
          </p:cNvPr>
          <p:cNvCxnSpPr/>
          <p:nvPr/>
        </p:nvCxnSpPr>
        <p:spPr>
          <a:xfrm>
            <a:off x="3743637" y="5117690"/>
            <a:ext cx="1676400" cy="0"/>
          </a:xfrm>
          <a:prstGeom prst="straightConnector1">
            <a:avLst/>
          </a:prstGeom>
          <a:noFill/>
          <a:ln w="57150" cap="flat" cmpd="sng" algn="ctr">
            <a:solidFill>
              <a:srgbClr val="C00000"/>
            </a:solidFill>
            <a:prstDash val="solid"/>
            <a:miter lim="800000"/>
            <a:tailEnd type="arrow"/>
          </a:ln>
          <a:effectLst/>
        </p:spPr>
      </p:cxnSp>
      <p:sp>
        <p:nvSpPr>
          <p:cNvPr id="7" name="TextBox 6">
            <a:extLst>
              <a:ext uri="{FF2B5EF4-FFF2-40B4-BE49-F238E27FC236}">
                <a16:creationId xmlns:a16="http://schemas.microsoft.com/office/drawing/2014/main" id="{FAE74BC5-1F7C-A712-B35A-CC89E68A7C7A}"/>
              </a:ext>
            </a:extLst>
          </p:cNvPr>
          <p:cNvSpPr txBox="1"/>
          <p:nvPr/>
        </p:nvSpPr>
        <p:spPr>
          <a:xfrm>
            <a:off x="9358580" y="4656025"/>
            <a:ext cx="1394915" cy="461665"/>
          </a:xfrm>
          <a:prstGeom prst="rect">
            <a:avLst/>
          </a:prstGeom>
          <a:solidFill>
            <a:srgbClr val="00BBD3">
              <a:lumMod val="20000"/>
              <a:lumOff val="8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Roboto Condensed"/>
              </a:rPr>
              <a:t>Cost = 17</a:t>
            </a:r>
          </a:p>
        </p:txBody>
      </p:sp>
      <p:pic>
        <p:nvPicPr>
          <p:cNvPr id="8" name="Picture 7">
            <a:extLst>
              <a:ext uri="{FF2B5EF4-FFF2-40B4-BE49-F238E27FC236}">
                <a16:creationId xmlns:a16="http://schemas.microsoft.com/office/drawing/2014/main" id="{7BAEFDDB-B79A-8BB0-1AD5-5C9DAB023F6E}"/>
              </a:ext>
            </a:extLst>
          </p:cNvPr>
          <p:cNvPicPr>
            <a:picLocks noChangeAspect="1"/>
          </p:cNvPicPr>
          <p:nvPr/>
        </p:nvPicPr>
        <p:blipFill>
          <a:blip r:embed="rId6"/>
          <a:stretch>
            <a:fillRect/>
          </a:stretch>
        </p:blipFill>
        <p:spPr>
          <a:xfrm>
            <a:off x="854711" y="4020114"/>
            <a:ext cx="2888926" cy="2743200"/>
          </a:xfrm>
          <a:prstGeom prst="rect">
            <a:avLst/>
          </a:prstGeom>
        </p:spPr>
      </p:pic>
      <p:pic>
        <p:nvPicPr>
          <p:cNvPr id="9" name="Picture 8">
            <a:extLst>
              <a:ext uri="{FF2B5EF4-FFF2-40B4-BE49-F238E27FC236}">
                <a16:creationId xmlns:a16="http://schemas.microsoft.com/office/drawing/2014/main" id="{814A44E1-CB61-373A-4BD0-A935198E3800}"/>
              </a:ext>
            </a:extLst>
          </p:cNvPr>
          <p:cNvPicPr>
            <a:picLocks noChangeAspect="1"/>
          </p:cNvPicPr>
          <p:nvPr/>
        </p:nvPicPr>
        <p:blipFill>
          <a:blip r:embed="rId7"/>
          <a:stretch>
            <a:fillRect/>
          </a:stretch>
        </p:blipFill>
        <p:spPr>
          <a:xfrm>
            <a:off x="5707759" y="4026480"/>
            <a:ext cx="2888926" cy="2743200"/>
          </a:xfrm>
          <a:prstGeom prst="rect">
            <a:avLst/>
          </a:prstGeom>
        </p:spPr>
      </p:pic>
      <p:sp>
        <p:nvSpPr>
          <p:cNvPr id="10" name="TextBox 9">
            <a:extLst>
              <a:ext uri="{FF2B5EF4-FFF2-40B4-BE49-F238E27FC236}">
                <a16:creationId xmlns:a16="http://schemas.microsoft.com/office/drawing/2014/main" id="{357D6496-C60C-73B8-4AA1-304405481E98}"/>
              </a:ext>
            </a:extLst>
          </p:cNvPr>
          <p:cNvSpPr txBox="1"/>
          <p:nvPr/>
        </p:nvSpPr>
        <p:spPr>
          <a:xfrm>
            <a:off x="162232" y="72076"/>
            <a:ext cx="6194322" cy="6718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Prim’s Algorithm for MST – Example 1</a:t>
            </a:r>
          </a:p>
        </p:txBody>
      </p:sp>
    </p:spTree>
    <p:extLst>
      <p:ext uri="{BB962C8B-B14F-4D97-AF65-F5344CB8AC3E}">
        <p14:creationId xmlns:p14="http://schemas.microsoft.com/office/powerpoint/2010/main" val="207451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3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amond(out)">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3C2F080-EEA2-2A9B-0AE9-DBDC77E377E9}"/>
                  </a:ext>
                </a:extLst>
              </p:cNvPr>
              <p:cNvSpPr txBox="1">
                <a:spLocks/>
              </p:cNvSpPr>
              <p:nvPr/>
            </p:nvSpPr>
            <p:spPr>
              <a:xfrm>
                <a:off x="131180" y="863444"/>
                <a:ext cx="11929641"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Function Prim(G = (N, A): graph; length: A — R+): set of edges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T ← Ø</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B ← {an arbitrary member of N}</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while B ≠ N do</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find e = {u, v} of minimum length such that</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u </a:t>
                </a:r>
                <a14:m>
                  <m:oMath xmlns:m="http://schemas.openxmlformats.org/officeDocument/2006/math">
                    <m:r>
                      <a:rPr kumimoji="0" lang="en-IN" sz="2400" b="1"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B and v </a:t>
                </a:r>
                <a:r>
                  <a:rPr kumimoji="0" lang="el-GR"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a:t>
                </a: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N \ B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T ← T U {e}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B ← B U {v}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return 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53C2F080-EEA2-2A9B-0AE9-DBDC77E377E9}"/>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6"/>
                <a:stretch>
                  <a:fillRect l="-818" t="-1527"/>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F1638D8D-D737-D2FA-3AA0-2F144C5B15EC}"/>
              </a:ext>
            </a:extLst>
          </p:cNvPr>
          <p:cNvSpPr txBox="1"/>
          <p:nvPr/>
        </p:nvSpPr>
        <p:spPr>
          <a:xfrm>
            <a:off x="131180" y="186465"/>
            <a:ext cx="6194322" cy="4801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2800" b="1" dirty="0">
                <a:solidFill>
                  <a:srgbClr val="FFFFFF"/>
                </a:solidFill>
                <a:latin typeface="Corbel" panose="020B0503020204020204" pitchFamily="34" charset="0"/>
              </a:rPr>
              <a:t>Prim’s Algorithm</a:t>
            </a:r>
          </a:p>
        </p:txBody>
      </p:sp>
    </p:spTree>
    <p:extLst>
      <p:ext uri="{BB962C8B-B14F-4D97-AF65-F5344CB8AC3E}">
        <p14:creationId xmlns:p14="http://schemas.microsoft.com/office/powerpoint/2010/main" val="29401484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F19A2116-C49C-3211-54C1-F53073273C71}"/>
              </a:ext>
            </a:extLst>
          </p:cNvPr>
          <p:cNvSpPr txBox="1"/>
          <p:nvPr/>
        </p:nvSpPr>
        <p:spPr>
          <a:xfrm>
            <a:off x="1032386" y="2491503"/>
            <a:ext cx="8785548" cy="2000548"/>
          </a:xfrm>
          <a:prstGeom prst="rect">
            <a:avLst/>
          </a:prstGeom>
          <a:noFill/>
        </p:spPr>
        <p:txBody>
          <a:bodyPr wrap="square">
            <a:spAutoFit/>
          </a:bodyPr>
          <a:lstStyle/>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Prim's algorithm can be used in network designing.</a:t>
            </a:r>
          </a:p>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It can be used to make network cycles.</a:t>
            </a:r>
          </a:p>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It can also be used to lay down electrical wiring cables.</a:t>
            </a:r>
          </a:p>
        </p:txBody>
      </p:sp>
      <p:sp>
        <p:nvSpPr>
          <p:cNvPr id="8" name="TextBox 7">
            <a:extLst>
              <a:ext uri="{FF2B5EF4-FFF2-40B4-BE49-F238E27FC236}">
                <a16:creationId xmlns:a16="http://schemas.microsoft.com/office/drawing/2014/main" id="{7D6D5AF5-A67A-425A-06E8-74CE5681F841}"/>
              </a:ext>
            </a:extLst>
          </p:cNvPr>
          <p:cNvSpPr txBox="1"/>
          <p:nvPr/>
        </p:nvSpPr>
        <p:spPr>
          <a:xfrm>
            <a:off x="662179" y="1417083"/>
            <a:ext cx="6194322" cy="523220"/>
          </a:xfrm>
          <a:prstGeom prst="rect">
            <a:avLst/>
          </a:prstGeom>
          <a:noFill/>
        </p:spPr>
        <p:txBody>
          <a:bodyPr wrap="square">
            <a:spAutoFit/>
          </a:bodyPr>
          <a:lstStyle/>
          <a:p>
            <a:pPr algn="just"/>
            <a:r>
              <a:rPr lang="en-IN" sz="2800" b="1" dirty="0">
                <a:solidFill>
                  <a:srgbClr val="0070C0"/>
                </a:solidFill>
                <a:latin typeface="Corbel" panose="020B0503020204020204" pitchFamily="34" charset="0"/>
              </a:rPr>
              <a:t>A</a:t>
            </a:r>
            <a:r>
              <a:rPr lang="en-IN" sz="2800" b="1" i="0" dirty="0">
                <a:solidFill>
                  <a:srgbClr val="0070C0"/>
                </a:solidFill>
                <a:effectLst/>
                <a:latin typeface="Corbel" panose="020B0503020204020204" pitchFamily="34" charset="0"/>
              </a:rPr>
              <a:t>pplications of prim's algorithm</a:t>
            </a:r>
          </a:p>
        </p:txBody>
      </p:sp>
      <p:sp>
        <p:nvSpPr>
          <p:cNvPr id="10" name="TextBox 9">
            <a:extLst>
              <a:ext uri="{FF2B5EF4-FFF2-40B4-BE49-F238E27FC236}">
                <a16:creationId xmlns:a16="http://schemas.microsoft.com/office/drawing/2014/main" id="{CCC1F9C5-EDCA-EE41-4589-CF40DBC9501C}"/>
              </a:ext>
            </a:extLst>
          </p:cNvPr>
          <p:cNvSpPr txBox="1"/>
          <p:nvPr/>
        </p:nvSpPr>
        <p:spPr>
          <a:xfrm>
            <a:off x="250722" y="274952"/>
            <a:ext cx="6194322"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600" b="1" dirty="0">
                <a:solidFill>
                  <a:srgbClr val="FFFFFF"/>
                </a:solidFill>
                <a:latin typeface="Corbel" panose="020B0503020204020204" pitchFamily="34" charset="0"/>
                <a:ea typeface="+mn-ea"/>
                <a:cs typeface="+mn-cs"/>
              </a:rPr>
              <a:t>Prim’s Algorithm</a:t>
            </a:r>
          </a:p>
        </p:txBody>
      </p:sp>
    </p:spTree>
    <p:extLst>
      <p:ext uri="{BB962C8B-B14F-4D97-AF65-F5344CB8AC3E}">
        <p14:creationId xmlns:p14="http://schemas.microsoft.com/office/powerpoint/2010/main" val="19470888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Content Placeholder 2">
            <a:extLst>
              <a:ext uri="{FF2B5EF4-FFF2-40B4-BE49-F238E27FC236}">
                <a16:creationId xmlns:a16="http://schemas.microsoft.com/office/drawing/2014/main" id="{D2131544-0F7A-0E78-87D5-57E387E7FE7B}"/>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Write the Prim’s Algorithm to find out Minimum Spanning Tree. Apply the same and find MST for the graph given below.</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 Box 56">
            <a:extLst>
              <a:ext uri="{FF2B5EF4-FFF2-40B4-BE49-F238E27FC236}">
                <a16:creationId xmlns:a16="http://schemas.microsoft.com/office/drawing/2014/main" id="{6D83D0DB-CBA1-1FB2-34D0-3DDB5E03F031}"/>
              </a:ext>
            </a:extLst>
          </p:cNvPr>
          <p:cNvSpPr txBox="1">
            <a:spLocks noChangeArrowheads="1"/>
          </p:cNvSpPr>
          <p:nvPr/>
        </p:nvSpPr>
        <p:spPr bwMode="auto">
          <a:xfrm>
            <a:off x="1556665" y="3896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7" name="Line 57">
            <a:extLst>
              <a:ext uri="{FF2B5EF4-FFF2-40B4-BE49-F238E27FC236}">
                <a16:creationId xmlns:a16="http://schemas.microsoft.com/office/drawing/2014/main" id="{CB3C4FA1-7CCB-ECAF-3178-A9467B098D1C}"/>
              </a:ext>
            </a:extLst>
          </p:cNvPr>
          <p:cNvSpPr>
            <a:spLocks noChangeShapeType="1"/>
          </p:cNvSpPr>
          <p:nvPr/>
        </p:nvSpPr>
        <p:spPr bwMode="auto">
          <a:xfrm flipH="1">
            <a:off x="4257003" y="4201491"/>
            <a:ext cx="3810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8" name="Text Box 58">
            <a:extLst>
              <a:ext uri="{FF2B5EF4-FFF2-40B4-BE49-F238E27FC236}">
                <a16:creationId xmlns:a16="http://schemas.microsoft.com/office/drawing/2014/main" id="{C7D02A95-85E2-A42A-863D-6B5BBECBC986}"/>
              </a:ext>
            </a:extLst>
          </p:cNvPr>
          <p:cNvSpPr txBox="1">
            <a:spLocks noChangeArrowheads="1"/>
          </p:cNvSpPr>
          <p:nvPr/>
        </p:nvSpPr>
        <p:spPr bwMode="auto">
          <a:xfrm>
            <a:off x="4147465" y="4594159"/>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   1</a:t>
            </a:r>
          </a:p>
        </p:txBody>
      </p:sp>
      <p:sp>
        <p:nvSpPr>
          <p:cNvPr id="9" name="Line 59">
            <a:extLst>
              <a:ext uri="{FF2B5EF4-FFF2-40B4-BE49-F238E27FC236}">
                <a16:creationId xmlns:a16="http://schemas.microsoft.com/office/drawing/2014/main" id="{33EE5DF4-F810-332C-A7CF-0F12CA552680}"/>
              </a:ext>
            </a:extLst>
          </p:cNvPr>
          <p:cNvSpPr>
            <a:spLocks noChangeShapeType="1"/>
          </p:cNvSpPr>
          <p:nvPr/>
        </p:nvSpPr>
        <p:spPr bwMode="auto">
          <a:xfrm>
            <a:off x="3004465" y="3248991"/>
            <a:ext cx="152400" cy="6858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0" name="Line 60">
            <a:extLst>
              <a:ext uri="{FF2B5EF4-FFF2-40B4-BE49-F238E27FC236}">
                <a16:creationId xmlns:a16="http://schemas.microsoft.com/office/drawing/2014/main" id="{D78D73D9-8C6E-7C8B-D482-59FFA1209AD4}"/>
              </a:ext>
            </a:extLst>
          </p:cNvPr>
          <p:cNvSpPr>
            <a:spLocks noChangeShapeType="1"/>
          </p:cNvSpPr>
          <p:nvPr/>
        </p:nvSpPr>
        <p:spPr bwMode="auto">
          <a:xfrm flipV="1">
            <a:off x="3309265" y="3363291"/>
            <a:ext cx="5334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1" name="Line 61">
            <a:extLst>
              <a:ext uri="{FF2B5EF4-FFF2-40B4-BE49-F238E27FC236}">
                <a16:creationId xmlns:a16="http://schemas.microsoft.com/office/drawing/2014/main" id="{5BD9323C-14C5-1407-C1C1-A9AFC29D41EB}"/>
              </a:ext>
            </a:extLst>
          </p:cNvPr>
          <p:cNvSpPr>
            <a:spLocks noChangeShapeType="1"/>
          </p:cNvSpPr>
          <p:nvPr/>
        </p:nvSpPr>
        <p:spPr bwMode="auto">
          <a:xfrm flipH="1" flipV="1">
            <a:off x="3156865" y="3287091"/>
            <a:ext cx="1219200" cy="8382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2" name="Line 62">
            <a:extLst>
              <a:ext uri="{FF2B5EF4-FFF2-40B4-BE49-F238E27FC236}">
                <a16:creationId xmlns:a16="http://schemas.microsoft.com/office/drawing/2014/main" id="{AA3F96E9-EC72-8671-E383-EF8CBB231B01}"/>
              </a:ext>
            </a:extLst>
          </p:cNvPr>
          <p:cNvSpPr>
            <a:spLocks noChangeShapeType="1"/>
          </p:cNvSpPr>
          <p:nvPr/>
        </p:nvSpPr>
        <p:spPr bwMode="auto">
          <a:xfrm flipV="1">
            <a:off x="1937665" y="4201490"/>
            <a:ext cx="1021894" cy="314429"/>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3" name="Line 63">
            <a:extLst>
              <a:ext uri="{FF2B5EF4-FFF2-40B4-BE49-F238E27FC236}">
                <a16:creationId xmlns:a16="http://schemas.microsoft.com/office/drawing/2014/main" id="{8A544DCA-1A20-1F68-90F5-09DF4E5F2552}"/>
              </a:ext>
            </a:extLst>
          </p:cNvPr>
          <p:cNvSpPr>
            <a:spLocks noChangeShapeType="1"/>
          </p:cNvSpPr>
          <p:nvPr/>
        </p:nvSpPr>
        <p:spPr bwMode="auto">
          <a:xfrm flipV="1">
            <a:off x="2852065" y="4276580"/>
            <a:ext cx="1447800" cy="83931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4" name="Line 64">
            <a:extLst>
              <a:ext uri="{FF2B5EF4-FFF2-40B4-BE49-F238E27FC236}">
                <a16:creationId xmlns:a16="http://schemas.microsoft.com/office/drawing/2014/main" id="{F674CEFD-E0FF-AC60-B330-3226F312FF92}"/>
              </a:ext>
            </a:extLst>
          </p:cNvPr>
          <p:cNvSpPr>
            <a:spLocks noChangeShapeType="1"/>
          </p:cNvSpPr>
          <p:nvPr/>
        </p:nvSpPr>
        <p:spPr bwMode="auto">
          <a:xfrm flipV="1">
            <a:off x="1785264" y="3820490"/>
            <a:ext cx="78607" cy="550251"/>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5" name="Line 65">
            <a:extLst>
              <a:ext uri="{FF2B5EF4-FFF2-40B4-BE49-F238E27FC236}">
                <a16:creationId xmlns:a16="http://schemas.microsoft.com/office/drawing/2014/main" id="{A83F2171-435D-4CD0-DAA2-28392E286380}"/>
              </a:ext>
            </a:extLst>
          </p:cNvPr>
          <p:cNvSpPr>
            <a:spLocks noChangeShapeType="1"/>
          </p:cNvSpPr>
          <p:nvPr/>
        </p:nvSpPr>
        <p:spPr bwMode="auto">
          <a:xfrm>
            <a:off x="2013864" y="3668090"/>
            <a:ext cx="94328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6" name="Line 66">
            <a:extLst>
              <a:ext uri="{FF2B5EF4-FFF2-40B4-BE49-F238E27FC236}">
                <a16:creationId xmlns:a16="http://schemas.microsoft.com/office/drawing/2014/main" id="{03436C04-9B33-1192-1F9F-1B66A85D685C}"/>
              </a:ext>
            </a:extLst>
          </p:cNvPr>
          <p:cNvSpPr>
            <a:spLocks noChangeShapeType="1"/>
          </p:cNvSpPr>
          <p:nvPr/>
        </p:nvSpPr>
        <p:spPr bwMode="auto">
          <a:xfrm>
            <a:off x="3201315" y="3091829"/>
            <a:ext cx="6096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7" name="Line 67">
            <a:extLst>
              <a:ext uri="{FF2B5EF4-FFF2-40B4-BE49-F238E27FC236}">
                <a16:creationId xmlns:a16="http://schemas.microsoft.com/office/drawing/2014/main" id="{5A5EC6B8-CE08-B8B9-FD85-447310EACCC7}"/>
              </a:ext>
            </a:extLst>
          </p:cNvPr>
          <p:cNvSpPr>
            <a:spLocks noChangeShapeType="1"/>
          </p:cNvSpPr>
          <p:nvPr/>
        </p:nvSpPr>
        <p:spPr bwMode="auto">
          <a:xfrm>
            <a:off x="4071265" y="3363291"/>
            <a:ext cx="381000" cy="6096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8" name="Oval 68">
            <a:extLst>
              <a:ext uri="{FF2B5EF4-FFF2-40B4-BE49-F238E27FC236}">
                <a16:creationId xmlns:a16="http://schemas.microsoft.com/office/drawing/2014/main" id="{ABEE44B1-3E70-2ACE-96E9-A0188D035FB4}"/>
              </a:ext>
            </a:extLst>
          </p:cNvPr>
          <p:cNvSpPr>
            <a:spLocks noChangeArrowheads="1"/>
          </p:cNvSpPr>
          <p:nvPr/>
        </p:nvSpPr>
        <p:spPr bwMode="auto">
          <a:xfrm>
            <a:off x="1556665" y="3515691"/>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212121"/>
              </a:solidFill>
              <a:latin typeface="Roboto Condensed"/>
            </a:endParaRPr>
          </a:p>
        </p:txBody>
      </p:sp>
      <p:sp>
        <p:nvSpPr>
          <p:cNvPr id="19" name="Oval 69">
            <a:extLst>
              <a:ext uri="{FF2B5EF4-FFF2-40B4-BE49-F238E27FC236}">
                <a16:creationId xmlns:a16="http://schemas.microsoft.com/office/drawing/2014/main" id="{F13F04B3-C641-4EAF-F94C-11AE6B9A1064}"/>
              </a:ext>
            </a:extLst>
          </p:cNvPr>
          <p:cNvSpPr>
            <a:spLocks noChangeArrowheads="1"/>
          </p:cNvSpPr>
          <p:nvPr/>
        </p:nvSpPr>
        <p:spPr bwMode="auto">
          <a:xfrm>
            <a:off x="1709065" y="3363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A</a:t>
            </a:r>
          </a:p>
        </p:txBody>
      </p:sp>
      <p:sp>
        <p:nvSpPr>
          <p:cNvPr id="20" name="Oval 70">
            <a:extLst>
              <a:ext uri="{FF2B5EF4-FFF2-40B4-BE49-F238E27FC236}">
                <a16:creationId xmlns:a16="http://schemas.microsoft.com/office/drawing/2014/main" id="{48FCD9DB-98E3-AB36-33CB-C7BA3DF6EFE5}"/>
              </a:ext>
            </a:extLst>
          </p:cNvPr>
          <p:cNvSpPr>
            <a:spLocks noChangeArrowheads="1"/>
          </p:cNvSpPr>
          <p:nvPr/>
        </p:nvSpPr>
        <p:spPr bwMode="auto">
          <a:xfrm>
            <a:off x="1556665" y="42776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H</a:t>
            </a:r>
          </a:p>
        </p:txBody>
      </p:sp>
      <p:sp>
        <p:nvSpPr>
          <p:cNvPr id="21" name="Oval 71">
            <a:extLst>
              <a:ext uri="{FF2B5EF4-FFF2-40B4-BE49-F238E27FC236}">
                <a16:creationId xmlns:a16="http://schemas.microsoft.com/office/drawing/2014/main" id="{8A4F9FFD-C33B-6B7A-A364-28BBB159A040}"/>
              </a:ext>
            </a:extLst>
          </p:cNvPr>
          <p:cNvSpPr>
            <a:spLocks noChangeArrowheads="1"/>
          </p:cNvSpPr>
          <p:nvPr/>
        </p:nvSpPr>
        <p:spPr bwMode="auto">
          <a:xfrm>
            <a:off x="2928265" y="38966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B</a:t>
            </a:r>
          </a:p>
        </p:txBody>
      </p:sp>
      <p:sp>
        <p:nvSpPr>
          <p:cNvPr id="22" name="Oval 72">
            <a:extLst>
              <a:ext uri="{FF2B5EF4-FFF2-40B4-BE49-F238E27FC236}">
                <a16:creationId xmlns:a16="http://schemas.microsoft.com/office/drawing/2014/main" id="{8AA14450-2D9E-D4A9-AFC2-C6375E00C70B}"/>
              </a:ext>
            </a:extLst>
          </p:cNvPr>
          <p:cNvSpPr>
            <a:spLocks noChangeArrowheads="1"/>
          </p:cNvSpPr>
          <p:nvPr/>
        </p:nvSpPr>
        <p:spPr bwMode="auto">
          <a:xfrm>
            <a:off x="2775865" y="29060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F</a:t>
            </a:r>
          </a:p>
        </p:txBody>
      </p:sp>
      <p:sp>
        <p:nvSpPr>
          <p:cNvPr id="23" name="Oval 73">
            <a:extLst>
              <a:ext uri="{FF2B5EF4-FFF2-40B4-BE49-F238E27FC236}">
                <a16:creationId xmlns:a16="http://schemas.microsoft.com/office/drawing/2014/main" id="{618E7DC5-C2ED-4163-961B-D6F70A7EFD04}"/>
              </a:ext>
            </a:extLst>
          </p:cNvPr>
          <p:cNvSpPr>
            <a:spLocks noChangeArrowheads="1"/>
          </p:cNvSpPr>
          <p:nvPr/>
        </p:nvSpPr>
        <p:spPr bwMode="auto">
          <a:xfrm>
            <a:off x="3842665" y="4887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E</a:t>
            </a:r>
          </a:p>
        </p:txBody>
      </p:sp>
      <p:sp>
        <p:nvSpPr>
          <p:cNvPr id="24" name="Oval 74">
            <a:extLst>
              <a:ext uri="{FF2B5EF4-FFF2-40B4-BE49-F238E27FC236}">
                <a16:creationId xmlns:a16="http://schemas.microsoft.com/office/drawing/2014/main" id="{4D016F36-55C5-DBF3-5C65-AD73B3908FBF}"/>
              </a:ext>
            </a:extLst>
          </p:cNvPr>
          <p:cNvSpPr>
            <a:spLocks noChangeArrowheads="1"/>
          </p:cNvSpPr>
          <p:nvPr/>
        </p:nvSpPr>
        <p:spPr bwMode="auto">
          <a:xfrm>
            <a:off x="4299865" y="39728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D</a:t>
            </a:r>
          </a:p>
        </p:txBody>
      </p:sp>
      <p:sp>
        <p:nvSpPr>
          <p:cNvPr id="25" name="Oval 75">
            <a:extLst>
              <a:ext uri="{FF2B5EF4-FFF2-40B4-BE49-F238E27FC236}">
                <a16:creationId xmlns:a16="http://schemas.microsoft.com/office/drawing/2014/main" id="{1801F1FA-301F-5B0C-0EC9-ACB3BDDF5225}"/>
              </a:ext>
            </a:extLst>
          </p:cNvPr>
          <p:cNvSpPr>
            <a:spLocks noChangeArrowheads="1"/>
          </p:cNvSpPr>
          <p:nvPr/>
        </p:nvSpPr>
        <p:spPr bwMode="auto">
          <a:xfrm>
            <a:off x="3766465" y="2982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C</a:t>
            </a:r>
          </a:p>
        </p:txBody>
      </p:sp>
      <p:sp>
        <p:nvSpPr>
          <p:cNvPr id="26" name="Oval 76">
            <a:extLst>
              <a:ext uri="{FF2B5EF4-FFF2-40B4-BE49-F238E27FC236}">
                <a16:creationId xmlns:a16="http://schemas.microsoft.com/office/drawing/2014/main" id="{F922CE1F-FDE8-D75E-2B7C-F551FBA24001}"/>
              </a:ext>
            </a:extLst>
          </p:cNvPr>
          <p:cNvSpPr>
            <a:spLocks noChangeArrowheads="1"/>
          </p:cNvSpPr>
          <p:nvPr/>
        </p:nvSpPr>
        <p:spPr bwMode="auto">
          <a:xfrm>
            <a:off x="2547265" y="4887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G</a:t>
            </a:r>
          </a:p>
        </p:txBody>
      </p:sp>
      <p:sp>
        <p:nvSpPr>
          <p:cNvPr id="27" name="Line 77">
            <a:extLst>
              <a:ext uri="{FF2B5EF4-FFF2-40B4-BE49-F238E27FC236}">
                <a16:creationId xmlns:a16="http://schemas.microsoft.com/office/drawing/2014/main" id="{EAC3401B-0D3D-1F2A-F314-1E89A68C36AB}"/>
              </a:ext>
            </a:extLst>
          </p:cNvPr>
          <p:cNvSpPr>
            <a:spLocks noChangeShapeType="1"/>
          </p:cNvSpPr>
          <p:nvPr/>
        </p:nvSpPr>
        <p:spPr bwMode="auto">
          <a:xfrm>
            <a:off x="3309265" y="4277690"/>
            <a:ext cx="609600" cy="674133"/>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8" name="Line 78">
            <a:extLst>
              <a:ext uri="{FF2B5EF4-FFF2-40B4-BE49-F238E27FC236}">
                <a16:creationId xmlns:a16="http://schemas.microsoft.com/office/drawing/2014/main" id="{CC42DC3F-F52A-7099-BFDE-75244481198A}"/>
              </a:ext>
            </a:extLst>
          </p:cNvPr>
          <p:cNvSpPr>
            <a:spLocks noChangeShapeType="1"/>
          </p:cNvSpPr>
          <p:nvPr/>
        </p:nvSpPr>
        <p:spPr bwMode="auto">
          <a:xfrm flipH="1">
            <a:off x="3004465" y="5192091"/>
            <a:ext cx="8382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9" name="Line 79">
            <a:extLst>
              <a:ext uri="{FF2B5EF4-FFF2-40B4-BE49-F238E27FC236}">
                <a16:creationId xmlns:a16="http://schemas.microsoft.com/office/drawing/2014/main" id="{F08EC016-BAEE-AD6C-FFD9-CD71CC23D497}"/>
              </a:ext>
            </a:extLst>
          </p:cNvPr>
          <p:cNvSpPr>
            <a:spLocks noChangeShapeType="1"/>
          </p:cNvSpPr>
          <p:nvPr/>
        </p:nvSpPr>
        <p:spPr bwMode="auto">
          <a:xfrm flipH="1" flipV="1">
            <a:off x="1937664" y="4658690"/>
            <a:ext cx="62885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30" name="Text Box 80">
            <a:extLst>
              <a:ext uri="{FF2B5EF4-FFF2-40B4-BE49-F238E27FC236}">
                <a16:creationId xmlns:a16="http://schemas.microsoft.com/office/drawing/2014/main" id="{53936F40-7683-8EF3-E721-92C10C4BD76A}"/>
              </a:ext>
            </a:extLst>
          </p:cNvPr>
          <p:cNvSpPr txBox="1">
            <a:spLocks noChangeArrowheads="1"/>
          </p:cNvSpPr>
          <p:nvPr/>
        </p:nvSpPr>
        <p:spPr bwMode="auto">
          <a:xfrm>
            <a:off x="3309265" y="5115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1" name="Text Box 81">
            <a:extLst>
              <a:ext uri="{FF2B5EF4-FFF2-40B4-BE49-F238E27FC236}">
                <a16:creationId xmlns:a16="http://schemas.microsoft.com/office/drawing/2014/main" id="{AA7278D9-05CF-FE96-5689-1A5929A9766D}"/>
              </a:ext>
            </a:extLst>
          </p:cNvPr>
          <p:cNvSpPr txBox="1">
            <a:spLocks noChangeArrowheads="1"/>
          </p:cNvSpPr>
          <p:nvPr/>
        </p:nvSpPr>
        <p:spPr bwMode="auto">
          <a:xfrm>
            <a:off x="3134640" y="45062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32" name="Text Box 82">
            <a:extLst>
              <a:ext uri="{FF2B5EF4-FFF2-40B4-BE49-F238E27FC236}">
                <a16:creationId xmlns:a16="http://schemas.microsoft.com/office/drawing/2014/main" id="{11B86ADE-0512-7B3C-E175-62361F3284B5}"/>
              </a:ext>
            </a:extLst>
          </p:cNvPr>
          <p:cNvSpPr txBox="1">
            <a:spLocks noChangeArrowheads="1"/>
          </p:cNvSpPr>
          <p:nvPr/>
        </p:nvSpPr>
        <p:spPr bwMode="auto">
          <a:xfrm>
            <a:off x="3439440" y="42014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3" name="Text Box 83">
            <a:extLst>
              <a:ext uri="{FF2B5EF4-FFF2-40B4-BE49-F238E27FC236}">
                <a16:creationId xmlns:a16="http://schemas.microsoft.com/office/drawing/2014/main" id="{7618326A-9040-88EE-5D71-5F82884D3A8F}"/>
              </a:ext>
            </a:extLst>
          </p:cNvPr>
          <p:cNvSpPr txBox="1">
            <a:spLocks noChangeArrowheads="1"/>
          </p:cNvSpPr>
          <p:nvPr/>
        </p:nvSpPr>
        <p:spPr bwMode="auto">
          <a:xfrm>
            <a:off x="3766465" y="3787154"/>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6</a:t>
            </a:r>
          </a:p>
        </p:txBody>
      </p:sp>
      <p:sp>
        <p:nvSpPr>
          <p:cNvPr id="34" name="Text Box 84">
            <a:extLst>
              <a:ext uri="{FF2B5EF4-FFF2-40B4-BE49-F238E27FC236}">
                <a16:creationId xmlns:a16="http://schemas.microsoft.com/office/drawing/2014/main" id="{A3F633F0-C84C-595B-E1AE-35F10C6E79A3}"/>
              </a:ext>
            </a:extLst>
          </p:cNvPr>
          <p:cNvSpPr txBox="1">
            <a:spLocks noChangeArrowheads="1"/>
          </p:cNvSpPr>
          <p:nvPr/>
        </p:nvSpPr>
        <p:spPr bwMode="auto">
          <a:xfrm>
            <a:off x="4223665" y="34394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35" name="Text Box 85">
            <a:extLst>
              <a:ext uri="{FF2B5EF4-FFF2-40B4-BE49-F238E27FC236}">
                <a16:creationId xmlns:a16="http://schemas.microsoft.com/office/drawing/2014/main" id="{BDF9DD32-2C4E-4DFC-48A3-7D30B92DB9EA}"/>
              </a:ext>
            </a:extLst>
          </p:cNvPr>
          <p:cNvSpPr txBox="1">
            <a:spLocks noChangeArrowheads="1"/>
          </p:cNvSpPr>
          <p:nvPr/>
        </p:nvSpPr>
        <p:spPr bwMode="auto">
          <a:xfrm>
            <a:off x="3298153" y="3515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6" name="Text Box 88">
            <a:extLst>
              <a:ext uri="{FF2B5EF4-FFF2-40B4-BE49-F238E27FC236}">
                <a16:creationId xmlns:a16="http://schemas.microsoft.com/office/drawing/2014/main" id="{A874AC0A-FA10-390B-7F39-17BB8937E94C}"/>
              </a:ext>
            </a:extLst>
          </p:cNvPr>
          <p:cNvSpPr txBox="1">
            <a:spLocks noChangeArrowheads="1"/>
          </p:cNvSpPr>
          <p:nvPr/>
        </p:nvSpPr>
        <p:spPr bwMode="auto">
          <a:xfrm>
            <a:off x="2463626" y="3591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8</a:t>
            </a:r>
          </a:p>
        </p:txBody>
      </p:sp>
      <p:sp>
        <p:nvSpPr>
          <p:cNvPr id="37" name="Text Box 89">
            <a:extLst>
              <a:ext uri="{FF2B5EF4-FFF2-40B4-BE49-F238E27FC236}">
                <a16:creationId xmlns:a16="http://schemas.microsoft.com/office/drawing/2014/main" id="{99C3826A-BF7A-CB59-4A5E-AD74DAB65758}"/>
              </a:ext>
            </a:extLst>
          </p:cNvPr>
          <p:cNvSpPr txBox="1">
            <a:spLocks noChangeArrowheads="1"/>
          </p:cNvSpPr>
          <p:nvPr/>
        </p:nvSpPr>
        <p:spPr bwMode="auto">
          <a:xfrm>
            <a:off x="2242465" y="4049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4</a:t>
            </a:r>
          </a:p>
        </p:txBody>
      </p:sp>
      <p:sp>
        <p:nvSpPr>
          <p:cNvPr id="38" name="Text Box 90">
            <a:extLst>
              <a:ext uri="{FF2B5EF4-FFF2-40B4-BE49-F238E27FC236}">
                <a16:creationId xmlns:a16="http://schemas.microsoft.com/office/drawing/2014/main" id="{D5679D79-E618-71C5-6F0F-AC7A9B419134}"/>
              </a:ext>
            </a:extLst>
          </p:cNvPr>
          <p:cNvSpPr txBox="1">
            <a:spLocks noChangeArrowheads="1"/>
          </p:cNvSpPr>
          <p:nvPr/>
        </p:nvSpPr>
        <p:spPr bwMode="auto">
          <a:xfrm>
            <a:off x="2078953" y="480156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9" name="Line 91">
            <a:extLst>
              <a:ext uri="{FF2B5EF4-FFF2-40B4-BE49-F238E27FC236}">
                <a16:creationId xmlns:a16="http://schemas.microsoft.com/office/drawing/2014/main" id="{BF59B053-88FD-4A90-FFAF-C4A8455314AB}"/>
              </a:ext>
            </a:extLst>
          </p:cNvPr>
          <p:cNvSpPr>
            <a:spLocks noChangeShapeType="1"/>
          </p:cNvSpPr>
          <p:nvPr/>
        </p:nvSpPr>
        <p:spPr bwMode="auto">
          <a:xfrm flipV="1">
            <a:off x="2052244" y="3093747"/>
            <a:ext cx="725896" cy="280025"/>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40" name="Text Box 92">
            <a:extLst>
              <a:ext uri="{FF2B5EF4-FFF2-40B4-BE49-F238E27FC236}">
                <a16:creationId xmlns:a16="http://schemas.microsoft.com/office/drawing/2014/main" id="{6173FF33-5868-FAD1-F310-91581F7D7B95}"/>
              </a:ext>
            </a:extLst>
          </p:cNvPr>
          <p:cNvSpPr txBox="1">
            <a:spLocks noChangeArrowheads="1"/>
          </p:cNvSpPr>
          <p:nvPr/>
        </p:nvSpPr>
        <p:spPr bwMode="auto">
          <a:xfrm>
            <a:off x="2166265" y="29060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10</a:t>
            </a:r>
          </a:p>
        </p:txBody>
      </p:sp>
      <p:sp>
        <p:nvSpPr>
          <p:cNvPr id="41" name="Text Box 84">
            <a:extLst>
              <a:ext uri="{FF2B5EF4-FFF2-40B4-BE49-F238E27FC236}">
                <a16:creationId xmlns:a16="http://schemas.microsoft.com/office/drawing/2014/main" id="{5F1C05E3-00C1-1174-8185-35D640BE5040}"/>
              </a:ext>
            </a:extLst>
          </p:cNvPr>
          <p:cNvSpPr txBox="1">
            <a:spLocks noChangeArrowheads="1"/>
          </p:cNvSpPr>
          <p:nvPr/>
        </p:nvSpPr>
        <p:spPr bwMode="auto">
          <a:xfrm>
            <a:off x="3309265" y="27875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42" name="Text Box 87">
            <a:extLst>
              <a:ext uri="{FF2B5EF4-FFF2-40B4-BE49-F238E27FC236}">
                <a16:creationId xmlns:a16="http://schemas.microsoft.com/office/drawing/2014/main" id="{AC3AA2B0-D4E8-CE87-B50C-7C0C2B10B519}"/>
              </a:ext>
            </a:extLst>
          </p:cNvPr>
          <p:cNvSpPr txBox="1">
            <a:spLocks noChangeArrowheads="1"/>
          </p:cNvSpPr>
          <p:nvPr/>
        </p:nvSpPr>
        <p:spPr bwMode="auto">
          <a:xfrm>
            <a:off x="2852065" y="3439490"/>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b="1">
                <a:solidFill>
                  <a:srgbClr val="212121"/>
                </a:solidFill>
                <a:latin typeface="Roboto Condensed"/>
              </a:rPr>
              <a:t>4</a:t>
            </a:r>
          </a:p>
        </p:txBody>
      </p:sp>
      <p:cxnSp>
        <p:nvCxnSpPr>
          <p:cNvPr id="43" name="Straight Connector 42">
            <a:extLst>
              <a:ext uri="{FF2B5EF4-FFF2-40B4-BE49-F238E27FC236}">
                <a16:creationId xmlns:a16="http://schemas.microsoft.com/office/drawing/2014/main" id="{066A3EA3-BB89-3C82-2B14-5AE0F482446E}"/>
              </a:ext>
            </a:extLst>
          </p:cNvPr>
          <p:cNvCxnSpPr/>
          <p:nvPr/>
        </p:nvCxnSpPr>
        <p:spPr>
          <a:xfrm flipH="1">
            <a:off x="5184750" y="2512028"/>
            <a:ext cx="908" cy="3140940"/>
          </a:xfrm>
          <a:prstGeom prst="line">
            <a:avLst/>
          </a:prstGeom>
          <a:noFill/>
          <a:ln w="28575" cap="flat" cmpd="sng" algn="ctr">
            <a:solidFill>
              <a:srgbClr val="F19D19"/>
            </a:solidFill>
            <a:prstDash val="solid"/>
            <a:miter lim="800000"/>
          </a:ln>
          <a:effectLst/>
        </p:spPr>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703A93E-217A-DC63-41E3-2B777BF06F2D}"/>
                  </a:ext>
                </a:extLst>
              </p:cNvPr>
              <p:cNvSpPr txBox="1"/>
              <p:nvPr/>
            </p:nvSpPr>
            <p:spPr>
              <a:xfrm>
                <a:off x="1556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44" name="TextBox 43">
                <a:extLst>
                  <a:ext uri="{FF2B5EF4-FFF2-40B4-BE49-F238E27FC236}">
                    <a16:creationId xmlns:a16="http://schemas.microsoft.com/office/drawing/2014/main" id="{A703A93E-217A-DC63-41E3-2B777BF06F2D}"/>
                  </a:ext>
                </a:extLst>
              </p:cNvPr>
              <p:cNvSpPr txBox="1">
                <a:spLocks noRot="1" noChangeAspect="1" noMove="1" noResize="1" noEditPoints="1" noAdjustHandles="1" noChangeArrowheads="1" noChangeShapeType="1" noTextEdit="1"/>
              </p:cNvSpPr>
              <p:nvPr/>
            </p:nvSpPr>
            <p:spPr>
              <a:xfrm>
                <a:off x="1556664" y="2292009"/>
                <a:ext cx="457200" cy="461665"/>
              </a:xfrm>
              <a:prstGeom prst="rect">
                <a:avLst/>
              </a:prstGeom>
              <a:blipFill>
                <a:blip r:embed="rId6"/>
                <a:stretch>
                  <a:fillRect/>
                </a:stretch>
              </a:blipFill>
            </p:spPr>
            <p:txBody>
              <a:bodyPr/>
              <a:lstStyle/>
              <a:p>
                <a:r>
                  <a:rPr lang="en-IN">
                    <a:noFill/>
                  </a:rPr>
                  <a:t> </a:t>
                </a:r>
              </a:p>
            </p:txBody>
          </p:sp>
        </mc:Fallback>
      </mc:AlternateContent>
      <p:sp>
        <p:nvSpPr>
          <p:cNvPr id="45" name="Oval 44">
            <a:extLst>
              <a:ext uri="{FF2B5EF4-FFF2-40B4-BE49-F238E27FC236}">
                <a16:creationId xmlns:a16="http://schemas.microsoft.com/office/drawing/2014/main" id="{A5B9518C-91C3-139B-6174-C72B425EDBB1}"/>
              </a:ext>
            </a:extLst>
          </p:cNvPr>
          <p:cNvSpPr/>
          <p:nvPr/>
        </p:nvSpPr>
        <p:spPr>
          <a:xfrm>
            <a:off x="7424065" y="2753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46" name="Oval 45">
            <a:extLst>
              <a:ext uri="{FF2B5EF4-FFF2-40B4-BE49-F238E27FC236}">
                <a16:creationId xmlns:a16="http://schemas.microsoft.com/office/drawing/2014/main" id="{BA43ABBF-E44B-E2E0-242C-580178C521CF}"/>
              </a:ext>
            </a:extLst>
          </p:cNvPr>
          <p:cNvSpPr/>
          <p:nvPr/>
        </p:nvSpPr>
        <p:spPr>
          <a:xfrm>
            <a:off x="6814465" y="32870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7" name="Oval 46">
            <a:extLst>
              <a:ext uri="{FF2B5EF4-FFF2-40B4-BE49-F238E27FC236}">
                <a16:creationId xmlns:a16="http://schemas.microsoft.com/office/drawing/2014/main" id="{3B191E10-53DC-2E82-1FA9-8DDD4E60B063}"/>
              </a:ext>
            </a:extLst>
          </p:cNvPr>
          <p:cNvSpPr/>
          <p:nvPr/>
        </p:nvSpPr>
        <p:spPr>
          <a:xfrm>
            <a:off x="8109865" y="32870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8" name="Oval 47">
            <a:extLst>
              <a:ext uri="{FF2B5EF4-FFF2-40B4-BE49-F238E27FC236}">
                <a16:creationId xmlns:a16="http://schemas.microsoft.com/office/drawing/2014/main" id="{2983A77F-0758-04F5-EF27-562032AE84A8}"/>
              </a:ext>
            </a:extLst>
          </p:cNvPr>
          <p:cNvSpPr/>
          <p:nvPr/>
        </p:nvSpPr>
        <p:spPr>
          <a:xfrm>
            <a:off x="63572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9" name="Oval 48">
            <a:extLst>
              <a:ext uri="{FF2B5EF4-FFF2-40B4-BE49-F238E27FC236}">
                <a16:creationId xmlns:a16="http://schemas.microsoft.com/office/drawing/2014/main" id="{E61EF160-C65B-E1C1-70C5-CC59744A6657}"/>
              </a:ext>
            </a:extLst>
          </p:cNvPr>
          <p:cNvSpPr/>
          <p:nvPr/>
        </p:nvSpPr>
        <p:spPr>
          <a:xfrm>
            <a:off x="71954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50" name="Oval 49">
            <a:extLst>
              <a:ext uri="{FF2B5EF4-FFF2-40B4-BE49-F238E27FC236}">
                <a16:creationId xmlns:a16="http://schemas.microsoft.com/office/drawing/2014/main" id="{F6288741-99EE-3D2D-CC64-72B200316F74}"/>
              </a:ext>
            </a:extLst>
          </p:cNvPr>
          <p:cNvSpPr/>
          <p:nvPr/>
        </p:nvSpPr>
        <p:spPr>
          <a:xfrm>
            <a:off x="78050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51" name="Oval 50">
            <a:extLst>
              <a:ext uri="{FF2B5EF4-FFF2-40B4-BE49-F238E27FC236}">
                <a16:creationId xmlns:a16="http://schemas.microsoft.com/office/drawing/2014/main" id="{806A21D4-5045-EFBD-B46F-FCAD5281AAA2}"/>
              </a:ext>
            </a:extLst>
          </p:cNvPr>
          <p:cNvSpPr/>
          <p:nvPr/>
        </p:nvSpPr>
        <p:spPr>
          <a:xfrm>
            <a:off x="85670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52" name="Oval 51">
            <a:extLst>
              <a:ext uri="{FF2B5EF4-FFF2-40B4-BE49-F238E27FC236}">
                <a16:creationId xmlns:a16="http://schemas.microsoft.com/office/drawing/2014/main" id="{E344436C-0AF5-638C-EB82-A30AA1C2188E}"/>
              </a:ext>
            </a:extLst>
          </p:cNvPr>
          <p:cNvSpPr/>
          <p:nvPr/>
        </p:nvSpPr>
        <p:spPr>
          <a:xfrm>
            <a:off x="7424065" y="5039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53" name="Straight Connector 52">
            <a:extLst>
              <a:ext uri="{FF2B5EF4-FFF2-40B4-BE49-F238E27FC236}">
                <a16:creationId xmlns:a16="http://schemas.microsoft.com/office/drawing/2014/main" id="{527B9350-612C-AF9F-F626-6D32BC3D5B37}"/>
              </a:ext>
            </a:extLst>
          </p:cNvPr>
          <p:cNvCxnSpPr>
            <a:stCxn id="45" idx="3"/>
            <a:endCxn id="46" idx="7"/>
          </p:cNvCxnSpPr>
          <p:nvPr/>
        </p:nvCxnSpPr>
        <p:spPr>
          <a:xfrm flipH="1">
            <a:off x="7204710" y="3143936"/>
            <a:ext cx="2863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4" name="Straight Connector 53">
            <a:extLst>
              <a:ext uri="{FF2B5EF4-FFF2-40B4-BE49-F238E27FC236}">
                <a16:creationId xmlns:a16="http://schemas.microsoft.com/office/drawing/2014/main" id="{B796B656-3315-455E-3F4C-758FE87DD3BD}"/>
              </a:ext>
            </a:extLst>
          </p:cNvPr>
          <p:cNvCxnSpPr>
            <a:stCxn id="45" idx="5"/>
            <a:endCxn id="47" idx="1"/>
          </p:cNvCxnSpPr>
          <p:nvPr/>
        </p:nvCxnSpPr>
        <p:spPr>
          <a:xfrm>
            <a:off x="7814310" y="3143936"/>
            <a:ext cx="3625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5" name="Straight Connector 54">
            <a:extLst>
              <a:ext uri="{FF2B5EF4-FFF2-40B4-BE49-F238E27FC236}">
                <a16:creationId xmlns:a16="http://schemas.microsoft.com/office/drawing/2014/main" id="{B3530018-B4FB-9E01-7A6E-E2318EF0882F}"/>
              </a:ext>
            </a:extLst>
          </p:cNvPr>
          <p:cNvCxnSpPr>
            <a:stCxn id="46" idx="3"/>
            <a:endCxn id="48" idx="0"/>
          </p:cNvCxnSpPr>
          <p:nvPr/>
        </p:nvCxnSpPr>
        <p:spPr>
          <a:xfrm flipH="1">
            <a:off x="6585865" y="3677336"/>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6" name="Straight Connector 55">
            <a:extLst>
              <a:ext uri="{FF2B5EF4-FFF2-40B4-BE49-F238E27FC236}">
                <a16:creationId xmlns:a16="http://schemas.microsoft.com/office/drawing/2014/main" id="{3F4288B0-28EC-136E-C44A-637CBA12FF37}"/>
              </a:ext>
            </a:extLst>
          </p:cNvPr>
          <p:cNvCxnSpPr>
            <a:stCxn id="46" idx="5"/>
            <a:endCxn id="49" idx="0"/>
          </p:cNvCxnSpPr>
          <p:nvPr/>
        </p:nvCxnSpPr>
        <p:spPr>
          <a:xfrm>
            <a:off x="7204710" y="3677336"/>
            <a:ext cx="2193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7" name="Straight Connector 56">
            <a:extLst>
              <a:ext uri="{FF2B5EF4-FFF2-40B4-BE49-F238E27FC236}">
                <a16:creationId xmlns:a16="http://schemas.microsoft.com/office/drawing/2014/main" id="{21F9D618-F867-95B1-B071-2AB7922DF12B}"/>
              </a:ext>
            </a:extLst>
          </p:cNvPr>
          <p:cNvCxnSpPr>
            <a:stCxn id="47" idx="3"/>
            <a:endCxn id="50" idx="0"/>
          </p:cNvCxnSpPr>
          <p:nvPr/>
        </p:nvCxnSpPr>
        <p:spPr>
          <a:xfrm flipH="1">
            <a:off x="8033665" y="3677336"/>
            <a:ext cx="1431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8" name="Straight Connector 57">
            <a:extLst>
              <a:ext uri="{FF2B5EF4-FFF2-40B4-BE49-F238E27FC236}">
                <a16:creationId xmlns:a16="http://schemas.microsoft.com/office/drawing/2014/main" id="{B9564412-92D8-6E25-A3E9-06068560DA8C}"/>
              </a:ext>
            </a:extLst>
          </p:cNvPr>
          <p:cNvCxnSpPr>
            <a:stCxn id="47" idx="5"/>
            <a:endCxn id="51" idx="0"/>
          </p:cNvCxnSpPr>
          <p:nvPr/>
        </p:nvCxnSpPr>
        <p:spPr>
          <a:xfrm>
            <a:off x="8500110" y="3677336"/>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9" name="Straight Connector 58">
            <a:extLst>
              <a:ext uri="{FF2B5EF4-FFF2-40B4-BE49-F238E27FC236}">
                <a16:creationId xmlns:a16="http://schemas.microsoft.com/office/drawing/2014/main" id="{561F0D6B-B59F-18C8-3979-7E00B41D362D}"/>
              </a:ext>
            </a:extLst>
          </p:cNvPr>
          <p:cNvCxnSpPr>
            <a:stCxn id="48" idx="4"/>
            <a:endCxn id="52" idx="2"/>
          </p:cNvCxnSpPr>
          <p:nvPr/>
        </p:nvCxnSpPr>
        <p:spPr>
          <a:xfrm>
            <a:off x="6585865" y="4353891"/>
            <a:ext cx="838200" cy="914400"/>
          </a:xfrm>
          <a:prstGeom prst="line">
            <a:avLst/>
          </a:prstGeom>
          <a:noFill/>
          <a:ln w="28575" cap="flat" cmpd="sng" algn="ctr">
            <a:solidFill>
              <a:srgbClr val="909090"/>
            </a:solidFill>
            <a:prstDash val="solid"/>
            <a:miter lim="800000"/>
            <a:headEnd type="none" w="med" len="med"/>
            <a:tailEnd type="none" w="med" len="med"/>
          </a:ln>
          <a:effectLst/>
        </p:spPr>
      </p:cxnSp>
      <p:cxnSp>
        <p:nvCxnSpPr>
          <p:cNvPr id="60" name="Straight Connector 59">
            <a:extLst>
              <a:ext uri="{FF2B5EF4-FFF2-40B4-BE49-F238E27FC236}">
                <a16:creationId xmlns:a16="http://schemas.microsoft.com/office/drawing/2014/main" id="{4FEDFF0B-F5F1-D899-BFF1-2FA3290E6AEC}"/>
              </a:ext>
            </a:extLst>
          </p:cNvPr>
          <p:cNvCxnSpPr>
            <a:stCxn id="49" idx="4"/>
            <a:endCxn id="52" idx="1"/>
          </p:cNvCxnSpPr>
          <p:nvPr/>
        </p:nvCxnSpPr>
        <p:spPr>
          <a:xfrm>
            <a:off x="7424065" y="4353891"/>
            <a:ext cx="669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1" name="Straight Connector 60">
            <a:extLst>
              <a:ext uri="{FF2B5EF4-FFF2-40B4-BE49-F238E27FC236}">
                <a16:creationId xmlns:a16="http://schemas.microsoft.com/office/drawing/2014/main" id="{40F81356-A8E1-5BE1-F0FC-6B587CB4BEEB}"/>
              </a:ext>
            </a:extLst>
          </p:cNvPr>
          <p:cNvCxnSpPr>
            <a:stCxn id="50" idx="4"/>
            <a:endCxn id="52" idx="7"/>
          </p:cNvCxnSpPr>
          <p:nvPr/>
        </p:nvCxnSpPr>
        <p:spPr>
          <a:xfrm flipH="1">
            <a:off x="7814310" y="4353891"/>
            <a:ext cx="2193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2" name="Straight Connector 61">
            <a:extLst>
              <a:ext uri="{FF2B5EF4-FFF2-40B4-BE49-F238E27FC236}">
                <a16:creationId xmlns:a16="http://schemas.microsoft.com/office/drawing/2014/main" id="{66BBEBFD-7628-C822-B9B4-694A59AC8C06}"/>
              </a:ext>
            </a:extLst>
          </p:cNvPr>
          <p:cNvCxnSpPr>
            <a:stCxn id="51" idx="4"/>
            <a:endCxn id="52" idx="6"/>
          </p:cNvCxnSpPr>
          <p:nvPr/>
        </p:nvCxnSpPr>
        <p:spPr>
          <a:xfrm flipH="1">
            <a:off x="7881265" y="4353891"/>
            <a:ext cx="914400" cy="914400"/>
          </a:xfrm>
          <a:prstGeom prst="line">
            <a:avLst/>
          </a:prstGeom>
          <a:noFill/>
          <a:ln w="28575" cap="flat" cmpd="sng" algn="ctr">
            <a:solidFill>
              <a:srgbClr val="90909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A926F57-C692-8D36-8F2F-8504BAB7F53C}"/>
                  </a:ext>
                </a:extLst>
              </p:cNvPr>
              <p:cNvSpPr txBox="1"/>
              <p:nvPr/>
            </p:nvSpPr>
            <p:spPr>
              <a:xfrm flipH="1">
                <a:off x="5690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63" name="TextBox 62">
                <a:extLst>
                  <a:ext uri="{FF2B5EF4-FFF2-40B4-BE49-F238E27FC236}">
                    <a16:creationId xmlns:a16="http://schemas.microsoft.com/office/drawing/2014/main" id="{FA926F57-C692-8D36-8F2F-8504BAB7F53C}"/>
                  </a:ext>
                </a:extLst>
              </p:cNvPr>
              <p:cNvSpPr txBox="1">
                <a:spLocks noRot="1" noChangeAspect="1" noMove="1" noResize="1" noEditPoints="1" noAdjustHandles="1" noChangeArrowheads="1" noChangeShapeType="1" noTextEdit="1"/>
              </p:cNvSpPr>
              <p:nvPr/>
            </p:nvSpPr>
            <p:spPr>
              <a:xfrm flipH="1">
                <a:off x="5690664" y="2292009"/>
                <a:ext cx="457200" cy="461665"/>
              </a:xfrm>
              <a:prstGeom prst="rect">
                <a:avLst/>
              </a:prstGeom>
              <a:blipFill>
                <a:blip r:embed="rId7"/>
                <a:stretch>
                  <a:fillRect l="-1333"/>
                </a:stretch>
              </a:blipFill>
            </p:spPr>
            <p:txBody>
              <a:bodyPr/>
              <a:lstStyle/>
              <a:p>
                <a:r>
                  <a:rPr lang="en-IN">
                    <a:noFill/>
                  </a:rPr>
                  <a:t> </a:t>
                </a:r>
              </a:p>
            </p:txBody>
          </p:sp>
        </mc:Fallback>
      </mc:AlternateContent>
      <p:sp>
        <p:nvSpPr>
          <p:cNvPr id="64" name="Text Box 84">
            <a:extLst>
              <a:ext uri="{FF2B5EF4-FFF2-40B4-BE49-F238E27FC236}">
                <a16:creationId xmlns:a16="http://schemas.microsoft.com/office/drawing/2014/main" id="{0E2F385E-5B36-D5DB-6326-B074FD6C77BE}"/>
              </a:ext>
            </a:extLst>
          </p:cNvPr>
          <p:cNvSpPr txBox="1">
            <a:spLocks noChangeArrowheads="1"/>
          </p:cNvSpPr>
          <p:nvPr/>
        </p:nvSpPr>
        <p:spPr bwMode="auto">
          <a:xfrm>
            <a:off x="7043065" y="2906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65" name="Text Box 84">
            <a:extLst>
              <a:ext uri="{FF2B5EF4-FFF2-40B4-BE49-F238E27FC236}">
                <a16:creationId xmlns:a16="http://schemas.microsoft.com/office/drawing/2014/main" id="{0CA043C4-4446-3A50-E6A6-FEAF9CF18444}"/>
              </a:ext>
            </a:extLst>
          </p:cNvPr>
          <p:cNvSpPr txBox="1">
            <a:spLocks noChangeArrowheads="1"/>
          </p:cNvSpPr>
          <p:nvPr/>
        </p:nvSpPr>
        <p:spPr bwMode="auto">
          <a:xfrm>
            <a:off x="7881265" y="2884139"/>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a:t>
            </a:r>
          </a:p>
        </p:txBody>
      </p:sp>
      <p:sp>
        <p:nvSpPr>
          <p:cNvPr id="66" name="Text Box 84">
            <a:extLst>
              <a:ext uri="{FF2B5EF4-FFF2-40B4-BE49-F238E27FC236}">
                <a16:creationId xmlns:a16="http://schemas.microsoft.com/office/drawing/2014/main" id="{A53D2C06-6475-689D-8571-06E3447B6424}"/>
              </a:ext>
            </a:extLst>
          </p:cNvPr>
          <p:cNvSpPr txBox="1">
            <a:spLocks noChangeArrowheads="1"/>
          </p:cNvSpPr>
          <p:nvPr/>
        </p:nvSpPr>
        <p:spPr bwMode="auto">
          <a:xfrm>
            <a:off x="8584761" y="345115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7" name="Text Box 84">
            <a:extLst>
              <a:ext uri="{FF2B5EF4-FFF2-40B4-BE49-F238E27FC236}">
                <a16:creationId xmlns:a16="http://schemas.microsoft.com/office/drawing/2014/main" id="{D94A6E2D-B802-47DB-61A9-73D4522C7A8A}"/>
              </a:ext>
            </a:extLst>
          </p:cNvPr>
          <p:cNvSpPr txBox="1">
            <a:spLocks noChangeArrowheads="1"/>
          </p:cNvSpPr>
          <p:nvPr/>
        </p:nvSpPr>
        <p:spPr bwMode="auto">
          <a:xfrm>
            <a:off x="6438316"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7</a:t>
            </a:r>
          </a:p>
        </p:txBody>
      </p:sp>
      <p:sp>
        <p:nvSpPr>
          <p:cNvPr id="68" name="Text Box 84">
            <a:extLst>
              <a:ext uri="{FF2B5EF4-FFF2-40B4-BE49-F238E27FC236}">
                <a16:creationId xmlns:a16="http://schemas.microsoft.com/office/drawing/2014/main" id="{5520412C-ACB8-686E-D934-679CCF2164FA}"/>
              </a:ext>
            </a:extLst>
          </p:cNvPr>
          <p:cNvSpPr txBox="1">
            <a:spLocks noChangeArrowheads="1"/>
          </p:cNvSpPr>
          <p:nvPr/>
        </p:nvSpPr>
        <p:spPr bwMode="auto">
          <a:xfrm>
            <a:off x="7242897"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69" name="Text Box 84">
            <a:extLst>
              <a:ext uri="{FF2B5EF4-FFF2-40B4-BE49-F238E27FC236}">
                <a16:creationId xmlns:a16="http://schemas.microsoft.com/office/drawing/2014/main" id="{8CBE88E8-B370-5389-132C-220258D939D7}"/>
              </a:ext>
            </a:extLst>
          </p:cNvPr>
          <p:cNvSpPr txBox="1">
            <a:spLocks noChangeArrowheads="1"/>
          </p:cNvSpPr>
          <p:nvPr/>
        </p:nvSpPr>
        <p:spPr bwMode="auto">
          <a:xfrm>
            <a:off x="7814397" y="348498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70" name="Text Box 84">
            <a:extLst>
              <a:ext uri="{FF2B5EF4-FFF2-40B4-BE49-F238E27FC236}">
                <a16:creationId xmlns:a16="http://schemas.microsoft.com/office/drawing/2014/main" id="{032DB57A-2359-47C5-3207-1D43F96148EC}"/>
              </a:ext>
            </a:extLst>
          </p:cNvPr>
          <p:cNvSpPr txBox="1">
            <a:spLocks noChangeArrowheads="1"/>
          </p:cNvSpPr>
          <p:nvPr/>
        </p:nvSpPr>
        <p:spPr bwMode="auto">
          <a:xfrm>
            <a:off x="6695331" y="465982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9</a:t>
            </a:r>
          </a:p>
        </p:txBody>
      </p:sp>
      <p:sp>
        <p:nvSpPr>
          <p:cNvPr id="71" name="Text Box 84">
            <a:extLst>
              <a:ext uri="{FF2B5EF4-FFF2-40B4-BE49-F238E27FC236}">
                <a16:creationId xmlns:a16="http://schemas.microsoft.com/office/drawing/2014/main" id="{4BD0E99B-D792-BCA1-8C4C-62EBB15F6F8B}"/>
              </a:ext>
            </a:extLst>
          </p:cNvPr>
          <p:cNvSpPr txBox="1">
            <a:spLocks noChangeArrowheads="1"/>
          </p:cNvSpPr>
          <p:nvPr/>
        </p:nvSpPr>
        <p:spPr bwMode="auto">
          <a:xfrm>
            <a:off x="7147163" y="445497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72" name="Text Box 84">
            <a:extLst>
              <a:ext uri="{FF2B5EF4-FFF2-40B4-BE49-F238E27FC236}">
                <a16:creationId xmlns:a16="http://schemas.microsoft.com/office/drawing/2014/main" id="{27CCB27B-D4FD-201B-460B-15629E85DB5A}"/>
              </a:ext>
            </a:extLst>
          </p:cNvPr>
          <p:cNvSpPr txBox="1">
            <a:spLocks noChangeArrowheads="1"/>
          </p:cNvSpPr>
          <p:nvPr/>
        </p:nvSpPr>
        <p:spPr bwMode="auto">
          <a:xfrm>
            <a:off x="7596869" y="444169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73" name="Text Box 84">
            <a:extLst>
              <a:ext uri="{FF2B5EF4-FFF2-40B4-BE49-F238E27FC236}">
                <a16:creationId xmlns:a16="http://schemas.microsoft.com/office/drawing/2014/main" id="{8CB7D8DC-D163-3729-0CE0-EB8447BED671}"/>
              </a:ext>
            </a:extLst>
          </p:cNvPr>
          <p:cNvSpPr txBox="1">
            <a:spLocks noChangeArrowheads="1"/>
          </p:cNvSpPr>
          <p:nvPr/>
        </p:nvSpPr>
        <p:spPr bwMode="auto">
          <a:xfrm>
            <a:off x="8109865" y="443009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8</a:t>
            </a:r>
          </a:p>
        </p:txBody>
      </p:sp>
      <p:sp>
        <p:nvSpPr>
          <p:cNvPr id="74" name="TextBox 73">
            <a:extLst>
              <a:ext uri="{FF2B5EF4-FFF2-40B4-BE49-F238E27FC236}">
                <a16:creationId xmlns:a16="http://schemas.microsoft.com/office/drawing/2014/main" id="{9F7A227E-3DE2-0EE8-CD35-9638CC1897C6}"/>
              </a:ext>
            </a:extLst>
          </p:cNvPr>
          <p:cNvSpPr txBox="1"/>
          <p:nvPr/>
        </p:nvSpPr>
        <p:spPr>
          <a:xfrm>
            <a:off x="353392" y="168991"/>
            <a:ext cx="619432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Exercises – Home Work</a:t>
            </a:r>
          </a:p>
        </p:txBody>
      </p:sp>
    </p:spTree>
    <p:extLst>
      <p:ext uri="{BB962C8B-B14F-4D97-AF65-F5344CB8AC3E}">
        <p14:creationId xmlns:p14="http://schemas.microsoft.com/office/powerpoint/2010/main" val="38950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arn(inVertical)">
                                      <p:cBhvr>
                                        <p:cTn id="34" dur="500"/>
                                        <p:tgtEl>
                                          <p:spTgt spid="15"/>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arn(inVertical)">
                                      <p:cBhvr>
                                        <p:cTn id="37" dur="500"/>
                                        <p:tgtEl>
                                          <p:spTgt spid="1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arn(inVertical)">
                                      <p:cBhvr>
                                        <p:cTn id="40" dur="500"/>
                                        <p:tgtEl>
                                          <p:spTgt spid="17"/>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8"/>
                                        </p:tgtEl>
                                        <p:attrNameLst>
                                          <p:attrName>style.visibility</p:attrName>
                                        </p:attrNameLst>
                                      </p:cBhvr>
                                      <p:to>
                                        <p:strVal val="visible"/>
                                      </p:to>
                                    </p:set>
                                    <p:animEffect transition="in" filter="barn(inVertical)">
                                      <p:cBhvr>
                                        <p:cTn id="43" dur="500"/>
                                        <p:tgtEl>
                                          <p:spTgt spid="18"/>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arn(inVertical)">
                                      <p:cBhvr>
                                        <p:cTn id="49" dur="500"/>
                                        <p:tgtEl>
                                          <p:spTgt spid="20"/>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arn(inVertical)">
                                      <p:cBhvr>
                                        <p:cTn id="52" dur="500"/>
                                        <p:tgtEl>
                                          <p:spTgt spid="21"/>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arn(inVertical)">
                                      <p:cBhvr>
                                        <p:cTn id="55" dur="500"/>
                                        <p:tgtEl>
                                          <p:spTgt spid="22"/>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arn(inVertical)">
                                      <p:cBhvr>
                                        <p:cTn id="58" dur="500"/>
                                        <p:tgtEl>
                                          <p:spTgt spid="23"/>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barn(inVertical)">
                                      <p:cBhvr>
                                        <p:cTn id="61" dur="500"/>
                                        <p:tgtEl>
                                          <p:spTgt spid="24"/>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arn(inVertical)">
                                      <p:cBhvr>
                                        <p:cTn id="64" dur="500"/>
                                        <p:tgtEl>
                                          <p:spTgt spid="25"/>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arn(inVertical)">
                                      <p:cBhvr>
                                        <p:cTn id="67" dur="500"/>
                                        <p:tgtEl>
                                          <p:spTgt spid="26"/>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barn(inVertical)">
                                      <p:cBhvr>
                                        <p:cTn id="70" dur="500"/>
                                        <p:tgtEl>
                                          <p:spTgt spid="27"/>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barn(inVertical)">
                                      <p:cBhvr>
                                        <p:cTn id="73" dur="500"/>
                                        <p:tgtEl>
                                          <p:spTgt spid="28"/>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barn(inVertical)">
                                      <p:cBhvr>
                                        <p:cTn id="76" dur="500"/>
                                        <p:tgtEl>
                                          <p:spTgt spid="29"/>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barn(inVertical)">
                                      <p:cBhvr>
                                        <p:cTn id="82" dur="500"/>
                                        <p:tgtEl>
                                          <p:spTgt spid="31"/>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barn(inVertical)">
                                      <p:cBhvr>
                                        <p:cTn id="85" dur="500"/>
                                        <p:tgtEl>
                                          <p:spTgt spid="32"/>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barn(inVertical)">
                                      <p:cBhvr>
                                        <p:cTn id="88" dur="500"/>
                                        <p:tgtEl>
                                          <p:spTgt spid="33"/>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barn(inVertical)">
                                      <p:cBhvr>
                                        <p:cTn id="91" dur="500"/>
                                        <p:tgtEl>
                                          <p:spTgt spid="34"/>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barn(inVertical)">
                                      <p:cBhvr>
                                        <p:cTn id="94" dur="500"/>
                                        <p:tgtEl>
                                          <p:spTgt spid="35"/>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barn(inVertical)">
                                      <p:cBhvr>
                                        <p:cTn id="97" dur="500"/>
                                        <p:tgtEl>
                                          <p:spTgt spid="36"/>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barn(inVertical)">
                                      <p:cBhvr>
                                        <p:cTn id="100" dur="500"/>
                                        <p:tgtEl>
                                          <p:spTgt spid="37"/>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arn(inVertical)">
                                      <p:cBhvr>
                                        <p:cTn id="103" dur="500"/>
                                        <p:tgtEl>
                                          <p:spTgt spid="38"/>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arn(inVertical)">
                                      <p:cBhvr>
                                        <p:cTn id="106" dur="500"/>
                                        <p:tgtEl>
                                          <p:spTgt spid="39"/>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barn(inVertical)">
                                      <p:cBhvr>
                                        <p:cTn id="109" dur="500"/>
                                        <p:tgtEl>
                                          <p:spTgt spid="40"/>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barn(inVertical)">
                                      <p:cBhvr>
                                        <p:cTn id="112" dur="500"/>
                                        <p:tgtEl>
                                          <p:spTgt spid="41"/>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barn(inVertical)">
                                      <p:cBhvr>
                                        <p:cTn id="115" dur="500"/>
                                        <p:tgtEl>
                                          <p:spTgt spid="42"/>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wipe(down)">
                                      <p:cBhvr>
                                        <p:cTn id="120" dur="500"/>
                                        <p:tgtEl>
                                          <p:spTgt spid="43"/>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5"/>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6"/>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9"/>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6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2"/>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4"/>
                                        </p:tgtEl>
                                        <p:attrNameLst>
                                          <p:attrName>style.visibility</p:attrName>
                                        </p:attrNameLst>
                                      </p:cBhvr>
                                      <p:to>
                                        <p:strVal val="visible"/>
                                      </p:to>
                                    </p:set>
                                    <p:animEffect transition="in" filter="barn(inVertical)">
                                      <p:cBhvr>
                                        <p:cTn id="161" dur="500"/>
                                        <p:tgtEl>
                                          <p:spTgt spid="64"/>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5"/>
                                        </p:tgtEl>
                                        <p:attrNameLst>
                                          <p:attrName>style.visibility</p:attrName>
                                        </p:attrNameLst>
                                      </p:cBhvr>
                                      <p:to>
                                        <p:strVal val="visible"/>
                                      </p:to>
                                    </p:set>
                                    <p:animEffect transition="in" filter="barn(inVertical)">
                                      <p:cBhvr>
                                        <p:cTn id="164" dur="500"/>
                                        <p:tgtEl>
                                          <p:spTgt spid="65"/>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6"/>
                                        </p:tgtEl>
                                        <p:attrNameLst>
                                          <p:attrName>style.visibility</p:attrName>
                                        </p:attrNameLst>
                                      </p:cBhvr>
                                      <p:to>
                                        <p:strVal val="visible"/>
                                      </p:to>
                                    </p:set>
                                    <p:animEffect transition="in" filter="barn(inVertical)">
                                      <p:cBhvr>
                                        <p:cTn id="167" dur="500"/>
                                        <p:tgtEl>
                                          <p:spTgt spid="66"/>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7"/>
                                        </p:tgtEl>
                                        <p:attrNameLst>
                                          <p:attrName>style.visibility</p:attrName>
                                        </p:attrNameLst>
                                      </p:cBhvr>
                                      <p:to>
                                        <p:strVal val="visible"/>
                                      </p:to>
                                    </p:set>
                                    <p:animEffect transition="in" filter="barn(inVertical)">
                                      <p:cBhvr>
                                        <p:cTn id="170" dur="500"/>
                                        <p:tgtEl>
                                          <p:spTgt spid="67"/>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8"/>
                                        </p:tgtEl>
                                        <p:attrNameLst>
                                          <p:attrName>style.visibility</p:attrName>
                                        </p:attrNameLst>
                                      </p:cBhvr>
                                      <p:to>
                                        <p:strVal val="visible"/>
                                      </p:to>
                                    </p:set>
                                    <p:animEffect transition="in" filter="barn(inVertical)">
                                      <p:cBhvr>
                                        <p:cTn id="173" dur="500"/>
                                        <p:tgtEl>
                                          <p:spTgt spid="68"/>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9"/>
                                        </p:tgtEl>
                                        <p:attrNameLst>
                                          <p:attrName>style.visibility</p:attrName>
                                        </p:attrNameLst>
                                      </p:cBhvr>
                                      <p:to>
                                        <p:strVal val="visible"/>
                                      </p:to>
                                    </p:set>
                                    <p:animEffect transition="in" filter="barn(inVertical)">
                                      <p:cBhvr>
                                        <p:cTn id="176" dur="500"/>
                                        <p:tgtEl>
                                          <p:spTgt spid="69"/>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70"/>
                                        </p:tgtEl>
                                        <p:attrNameLst>
                                          <p:attrName>style.visibility</p:attrName>
                                        </p:attrNameLst>
                                      </p:cBhvr>
                                      <p:to>
                                        <p:strVal val="visible"/>
                                      </p:to>
                                    </p:set>
                                    <p:animEffect transition="in" filter="barn(inVertical)">
                                      <p:cBhvr>
                                        <p:cTn id="179" dur="500"/>
                                        <p:tgtEl>
                                          <p:spTgt spid="70"/>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71"/>
                                        </p:tgtEl>
                                        <p:attrNameLst>
                                          <p:attrName>style.visibility</p:attrName>
                                        </p:attrNameLst>
                                      </p:cBhvr>
                                      <p:to>
                                        <p:strVal val="visible"/>
                                      </p:to>
                                    </p:set>
                                    <p:animEffect transition="in" filter="barn(inVertical)">
                                      <p:cBhvr>
                                        <p:cTn id="182" dur="500"/>
                                        <p:tgtEl>
                                          <p:spTgt spid="71"/>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2"/>
                                        </p:tgtEl>
                                        <p:attrNameLst>
                                          <p:attrName>style.visibility</p:attrName>
                                        </p:attrNameLst>
                                      </p:cBhvr>
                                      <p:to>
                                        <p:strVal val="visible"/>
                                      </p:to>
                                    </p:set>
                                    <p:animEffect transition="in" filter="barn(inVertical)">
                                      <p:cBhvr>
                                        <p:cTn id="185" dur="500"/>
                                        <p:tgtEl>
                                          <p:spTgt spid="72"/>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3"/>
                                        </p:tgtEl>
                                        <p:attrNameLst>
                                          <p:attrName>style.visibility</p:attrName>
                                        </p:attrNameLst>
                                      </p:cBhvr>
                                      <p:to>
                                        <p:strVal val="visible"/>
                                      </p:to>
                                    </p:set>
                                    <p:animEffect transition="in" filter="barn(inVertical)">
                                      <p:cBhvr>
                                        <p:cTn id="188"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p:bldP spid="37" grpId="0"/>
      <p:bldP spid="38" grpId="0"/>
      <p:bldP spid="39" grpId="0" animBg="1"/>
      <p:bldP spid="40" grpId="0"/>
      <p:bldP spid="41" grpId="0"/>
      <p:bldP spid="42" grpId="0"/>
      <p:bldP spid="45" grpId="0" animBg="1"/>
      <p:bldP spid="46" grpId="0" animBg="1"/>
      <p:bldP spid="47" grpId="0" animBg="1"/>
      <p:bldP spid="48" grpId="0" animBg="1"/>
      <p:bldP spid="49" grpId="0" animBg="1"/>
      <p:bldP spid="50" grpId="0" animBg="1"/>
      <p:bldP spid="51" grpId="0" animBg="1"/>
      <p:bldP spid="52" grpId="0" animBg="1"/>
      <p:bldP spid="64" grpId="0"/>
      <p:bldP spid="65" grpId="0"/>
      <p:bldP spid="66" grpId="0"/>
      <p:bldP spid="67" grpId="0"/>
      <p:bldP spid="68" grpId="0"/>
      <p:bldP spid="69" grpId="0"/>
      <p:bldP spid="70" grpId="0"/>
      <p:bldP spid="71" grpId="0"/>
      <p:bldP spid="72" grpId="0"/>
      <p:bldP spid="7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67BADF97-EBC7-3FFF-572F-E0B118E08A88}"/>
              </a:ext>
            </a:extLst>
          </p:cNvPr>
          <p:cNvSpPr txBox="1"/>
          <p:nvPr/>
        </p:nvSpPr>
        <p:spPr>
          <a:xfrm>
            <a:off x="231314" y="198118"/>
            <a:ext cx="936162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Kruskal’s Algorithm for MST</a:t>
            </a:r>
          </a:p>
        </p:txBody>
      </p:sp>
      <p:sp>
        <p:nvSpPr>
          <p:cNvPr id="6" name="TextBox 5">
            <a:extLst>
              <a:ext uri="{FF2B5EF4-FFF2-40B4-BE49-F238E27FC236}">
                <a16:creationId xmlns:a16="http://schemas.microsoft.com/office/drawing/2014/main" id="{8BA09817-EDCD-B81A-A5FD-C4DB1839D83A}"/>
              </a:ext>
            </a:extLst>
          </p:cNvPr>
          <p:cNvSpPr txBox="1"/>
          <p:nvPr/>
        </p:nvSpPr>
        <p:spPr>
          <a:xfrm>
            <a:off x="417904" y="1201410"/>
            <a:ext cx="10854748" cy="529375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lang="en-IN" sz="2400" dirty="0">
                <a:solidFill>
                  <a:srgbClr val="212121"/>
                </a:solidFill>
                <a:latin typeface="Corbel" panose="020B0503020204020204" pitchFamily="34" charset="0"/>
              </a:rPr>
              <a:t>Given a connected and undirected graph, a spanning tree of that graph is a subgraph that is a tree and connects all the vertices together. A single graph can have many different spanning trees.</a:t>
            </a:r>
          </a:p>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lang="en-IN" sz="2400" dirty="0">
                <a:solidFill>
                  <a:srgbClr val="212121"/>
                </a:solidFill>
                <a:latin typeface="Corbel" panose="020B0503020204020204" pitchFamily="34" charset="0"/>
              </a:rPr>
              <a:t>A minimum spanning tree (MST) or minimum weight spanning tree for a weighted, connected and undirected graph is a spanning tree with weight less than or equal to the weight of every other spanning tree. The weight of a spanning tree is the sum of weights given to each edge of the spanning tree. </a:t>
            </a:r>
          </a:p>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Below are the steps for finding MST using Kruskal’s algorithm </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Sort all the edges in non-decreasing order of their weight.</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Pick the smallest edge. Check if it forms a cycle with the spanning-tree formed so far. If the cycle is not formed, include this edge. Else, discard it.</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Repeat step#2 until there are (V-1) edges in the spanning tree.</a:t>
            </a:r>
            <a:endPar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endParaRPr>
          </a:p>
        </p:txBody>
      </p:sp>
    </p:spTree>
    <p:extLst>
      <p:ext uri="{BB962C8B-B14F-4D97-AF65-F5344CB8AC3E}">
        <p14:creationId xmlns:p14="http://schemas.microsoft.com/office/powerpoint/2010/main" val="14767810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8FD30E9A-D87B-990F-1208-4BC066AC978A}"/>
              </a:ext>
            </a:extLst>
          </p:cNvPr>
          <p:cNvSpPr/>
          <p:nvPr/>
        </p:nvSpPr>
        <p:spPr>
          <a:xfrm>
            <a:off x="155985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 name="Oval 4">
            <a:extLst>
              <a:ext uri="{FF2B5EF4-FFF2-40B4-BE49-F238E27FC236}">
                <a16:creationId xmlns:a16="http://schemas.microsoft.com/office/drawing/2014/main" id="{7E39AA8B-65BF-8EDF-CA44-A992E2F1225A}"/>
              </a:ext>
            </a:extLst>
          </p:cNvPr>
          <p:cNvSpPr/>
          <p:nvPr/>
        </p:nvSpPr>
        <p:spPr>
          <a:xfrm>
            <a:off x="569257" y="190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6" name="Oval 5">
            <a:extLst>
              <a:ext uri="{FF2B5EF4-FFF2-40B4-BE49-F238E27FC236}">
                <a16:creationId xmlns:a16="http://schemas.microsoft.com/office/drawing/2014/main" id="{220412A2-5A59-2710-9D09-19C415334B99}"/>
              </a:ext>
            </a:extLst>
          </p:cNvPr>
          <p:cNvSpPr/>
          <p:nvPr/>
        </p:nvSpPr>
        <p:spPr>
          <a:xfrm>
            <a:off x="1102657" y="3124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7" name="Oval 6">
            <a:extLst>
              <a:ext uri="{FF2B5EF4-FFF2-40B4-BE49-F238E27FC236}">
                <a16:creationId xmlns:a16="http://schemas.microsoft.com/office/drawing/2014/main" id="{C7D03880-C848-E6E1-9C34-2F7D4CF8B169}"/>
              </a:ext>
            </a:extLst>
          </p:cNvPr>
          <p:cNvSpPr/>
          <p:nvPr/>
        </p:nvSpPr>
        <p:spPr>
          <a:xfrm>
            <a:off x="2245657" y="3124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8" name="Oval 7">
            <a:extLst>
              <a:ext uri="{FF2B5EF4-FFF2-40B4-BE49-F238E27FC236}">
                <a16:creationId xmlns:a16="http://schemas.microsoft.com/office/drawing/2014/main" id="{9FF3D1B8-3D9E-659D-7EFE-0E94F92BF1AD}"/>
              </a:ext>
            </a:extLst>
          </p:cNvPr>
          <p:cNvSpPr/>
          <p:nvPr/>
        </p:nvSpPr>
        <p:spPr>
          <a:xfrm>
            <a:off x="2626657" y="18288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9" name="Straight Connector 8">
            <a:extLst>
              <a:ext uri="{FF2B5EF4-FFF2-40B4-BE49-F238E27FC236}">
                <a16:creationId xmlns:a16="http://schemas.microsoft.com/office/drawing/2014/main" id="{A6BBB97D-A285-99A8-33D6-0C2AC23E2F6B}"/>
              </a:ext>
            </a:extLst>
          </p:cNvPr>
          <p:cNvCxnSpPr>
            <a:stCxn id="4" idx="2"/>
            <a:endCxn id="5" idx="0"/>
          </p:cNvCxnSpPr>
          <p:nvPr/>
        </p:nvCxnSpPr>
        <p:spPr>
          <a:xfrm flipH="1">
            <a:off x="759757" y="1181100"/>
            <a:ext cx="800100" cy="723900"/>
          </a:xfrm>
          <a:prstGeom prst="line">
            <a:avLst/>
          </a:prstGeom>
          <a:noFill/>
          <a:ln w="12700" cap="flat" cmpd="sng" algn="ctr">
            <a:solidFill>
              <a:srgbClr val="00BBD3"/>
            </a:solidFill>
            <a:prstDash val="solid"/>
            <a:miter lim="800000"/>
          </a:ln>
          <a:effectLst/>
        </p:spPr>
      </p:cxnSp>
      <p:cxnSp>
        <p:nvCxnSpPr>
          <p:cNvPr id="10" name="Straight Connector 9">
            <a:extLst>
              <a:ext uri="{FF2B5EF4-FFF2-40B4-BE49-F238E27FC236}">
                <a16:creationId xmlns:a16="http://schemas.microsoft.com/office/drawing/2014/main" id="{1DC5A822-7BD2-C316-3A90-8C613A1ED333}"/>
              </a:ext>
            </a:extLst>
          </p:cNvPr>
          <p:cNvCxnSpPr>
            <a:stCxn id="5" idx="3"/>
            <a:endCxn id="6" idx="2"/>
          </p:cNvCxnSpPr>
          <p:nvPr/>
        </p:nvCxnSpPr>
        <p:spPr>
          <a:xfrm>
            <a:off x="625053" y="2230204"/>
            <a:ext cx="477604" cy="1084496"/>
          </a:xfrm>
          <a:prstGeom prst="line">
            <a:avLst/>
          </a:prstGeom>
          <a:noFill/>
          <a:ln w="12700" cap="flat" cmpd="sng" algn="ctr">
            <a:solidFill>
              <a:srgbClr val="00BBD3"/>
            </a:solidFill>
            <a:prstDash val="solid"/>
            <a:miter lim="800000"/>
          </a:ln>
          <a:effectLst/>
        </p:spPr>
      </p:cxnSp>
      <p:cxnSp>
        <p:nvCxnSpPr>
          <p:cNvPr id="11" name="Straight Connector 10">
            <a:extLst>
              <a:ext uri="{FF2B5EF4-FFF2-40B4-BE49-F238E27FC236}">
                <a16:creationId xmlns:a16="http://schemas.microsoft.com/office/drawing/2014/main" id="{8DB736A3-E003-D51F-E207-8F211F669248}"/>
              </a:ext>
            </a:extLst>
          </p:cNvPr>
          <p:cNvCxnSpPr>
            <a:stCxn id="6" idx="5"/>
            <a:endCxn id="7" idx="3"/>
          </p:cNvCxnSpPr>
          <p:nvPr/>
        </p:nvCxnSpPr>
        <p:spPr>
          <a:xfrm>
            <a:off x="1427861" y="3449404"/>
            <a:ext cx="873592" cy="0"/>
          </a:xfrm>
          <a:prstGeom prst="line">
            <a:avLst/>
          </a:prstGeom>
          <a:noFill/>
          <a:ln w="12700" cap="flat" cmpd="sng" algn="ctr">
            <a:solidFill>
              <a:srgbClr val="00BBD3"/>
            </a:solidFill>
            <a:prstDash val="solid"/>
            <a:miter lim="800000"/>
          </a:ln>
          <a:effectLst/>
        </p:spPr>
      </p:cxnSp>
      <p:cxnSp>
        <p:nvCxnSpPr>
          <p:cNvPr id="12" name="Straight Connector 11">
            <a:extLst>
              <a:ext uri="{FF2B5EF4-FFF2-40B4-BE49-F238E27FC236}">
                <a16:creationId xmlns:a16="http://schemas.microsoft.com/office/drawing/2014/main" id="{F79859EA-539B-ACE9-42B7-43E186868A40}"/>
              </a:ext>
            </a:extLst>
          </p:cNvPr>
          <p:cNvCxnSpPr>
            <a:stCxn id="4" idx="6"/>
            <a:endCxn id="8" idx="0"/>
          </p:cNvCxnSpPr>
          <p:nvPr/>
        </p:nvCxnSpPr>
        <p:spPr>
          <a:xfrm>
            <a:off x="1940857" y="1181100"/>
            <a:ext cx="876300" cy="647700"/>
          </a:xfrm>
          <a:prstGeom prst="line">
            <a:avLst/>
          </a:prstGeom>
          <a:noFill/>
          <a:ln w="12700" cap="flat" cmpd="sng" algn="ctr">
            <a:solidFill>
              <a:srgbClr val="00BBD3"/>
            </a:solidFill>
            <a:prstDash val="solid"/>
            <a:miter lim="800000"/>
          </a:ln>
          <a:effectLst/>
        </p:spPr>
      </p:cxnSp>
      <p:cxnSp>
        <p:nvCxnSpPr>
          <p:cNvPr id="13" name="Straight Connector 12">
            <a:extLst>
              <a:ext uri="{FF2B5EF4-FFF2-40B4-BE49-F238E27FC236}">
                <a16:creationId xmlns:a16="http://schemas.microsoft.com/office/drawing/2014/main" id="{D7A25C11-8E5B-C735-2167-223D3997B436}"/>
              </a:ext>
            </a:extLst>
          </p:cNvPr>
          <p:cNvCxnSpPr>
            <a:stCxn id="8" idx="5"/>
            <a:endCxn id="7" idx="6"/>
          </p:cNvCxnSpPr>
          <p:nvPr/>
        </p:nvCxnSpPr>
        <p:spPr>
          <a:xfrm flipH="1">
            <a:off x="2626657" y="2154004"/>
            <a:ext cx="325204" cy="1160696"/>
          </a:xfrm>
          <a:prstGeom prst="line">
            <a:avLst/>
          </a:prstGeom>
          <a:noFill/>
          <a:ln w="12700" cap="flat" cmpd="sng" algn="ctr">
            <a:solidFill>
              <a:srgbClr val="00BBD3"/>
            </a:solidFill>
            <a:prstDash val="solid"/>
            <a:miter lim="800000"/>
          </a:ln>
          <a:effectLst/>
        </p:spPr>
      </p:cxnSp>
      <p:cxnSp>
        <p:nvCxnSpPr>
          <p:cNvPr id="14" name="Straight Connector 13">
            <a:extLst>
              <a:ext uri="{FF2B5EF4-FFF2-40B4-BE49-F238E27FC236}">
                <a16:creationId xmlns:a16="http://schemas.microsoft.com/office/drawing/2014/main" id="{A561298E-2063-AF45-ECF1-E5F502E022CC}"/>
              </a:ext>
            </a:extLst>
          </p:cNvPr>
          <p:cNvCxnSpPr>
            <a:stCxn id="4" idx="3"/>
            <a:endCxn id="6" idx="0"/>
          </p:cNvCxnSpPr>
          <p:nvPr/>
        </p:nvCxnSpPr>
        <p:spPr>
          <a:xfrm flipH="1">
            <a:off x="1293157" y="1315804"/>
            <a:ext cx="322496" cy="1808396"/>
          </a:xfrm>
          <a:prstGeom prst="line">
            <a:avLst/>
          </a:prstGeom>
          <a:noFill/>
          <a:ln w="12700" cap="flat" cmpd="sng" algn="ctr">
            <a:solidFill>
              <a:srgbClr val="00BBD3"/>
            </a:solidFill>
            <a:prstDash val="solid"/>
            <a:miter lim="800000"/>
          </a:ln>
          <a:effectLst/>
        </p:spPr>
      </p:cxnSp>
      <p:cxnSp>
        <p:nvCxnSpPr>
          <p:cNvPr id="15" name="Straight Connector 14">
            <a:extLst>
              <a:ext uri="{FF2B5EF4-FFF2-40B4-BE49-F238E27FC236}">
                <a16:creationId xmlns:a16="http://schemas.microsoft.com/office/drawing/2014/main" id="{00BDD6A4-782E-CA96-F0D5-646DA4803DE5}"/>
              </a:ext>
            </a:extLst>
          </p:cNvPr>
          <p:cNvCxnSpPr>
            <a:stCxn id="4" idx="5"/>
            <a:endCxn id="7" idx="0"/>
          </p:cNvCxnSpPr>
          <p:nvPr/>
        </p:nvCxnSpPr>
        <p:spPr>
          <a:xfrm>
            <a:off x="1885061" y="1315804"/>
            <a:ext cx="551096" cy="1808396"/>
          </a:xfrm>
          <a:prstGeom prst="line">
            <a:avLst/>
          </a:prstGeom>
          <a:noFill/>
          <a:ln w="12700" cap="flat" cmpd="sng" algn="ctr">
            <a:solidFill>
              <a:srgbClr val="00BBD3"/>
            </a:solidFill>
            <a:prstDash val="solid"/>
            <a:miter lim="800000"/>
          </a:ln>
          <a:effectLst/>
        </p:spPr>
      </p:cxnSp>
      <p:cxnSp>
        <p:nvCxnSpPr>
          <p:cNvPr id="16" name="Straight Connector 15">
            <a:extLst>
              <a:ext uri="{FF2B5EF4-FFF2-40B4-BE49-F238E27FC236}">
                <a16:creationId xmlns:a16="http://schemas.microsoft.com/office/drawing/2014/main" id="{C3C0784A-245C-F10A-9182-92DA867F62A7}"/>
              </a:ext>
            </a:extLst>
          </p:cNvPr>
          <p:cNvCxnSpPr>
            <a:stCxn id="6" idx="6"/>
            <a:endCxn id="8" idx="3"/>
          </p:cNvCxnSpPr>
          <p:nvPr/>
        </p:nvCxnSpPr>
        <p:spPr>
          <a:xfrm flipV="1">
            <a:off x="1483657" y="2154004"/>
            <a:ext cx="1198796" cy="1160696"/>
          </a:xfrm>
          <a:prstGeom prst="line">
            <a:avLst/>
          </a:prstGeom>
          <a:noFill/>
          <a:ln w="12700" cap="flat" cmpd="sng" algn="ctr">
            <a:solidFill>
              <a:srgbClr val="00BBD3"/>
            </a:solidFill>
            <a:prstDash val="solid"/>
            <a:miter lim="800000"/>
          </a:ln>
          <a:effectLst/>
        </p:spPr>
      </p:cxnSp>
      <p:cxnSp>
        <p:nvCxnSpPr>
          <p:cNvPr id="17" name="Straight Connector 16">
            <a:extLst>
              <a:ext uri="{FF2B5EF4-FFF2-40B4-BE49-F238E27FC236}">
                <a16:creationId xmlns:a16="http://schemas.microsoft.com/office/drawing/2014/main" id="{C268E80C-9C20-6BBF-826A-C7EE2CCA9236}"/>
              </a:ext>
            </a:extLst>
          </p:cNvPr>
          <p:cNvCxnSpPr>
            <a:stCxn id="5" idx="6"/>
            <a:endCxn id="8" idx="2"/>
          </p:cNvCxnSpPr>
          <p:nvPr/>
        </p:nvCxnSpPr>
        <p:spPr>
          <a:xfrm flipV="1">
            <a:off x="950257" y="2019300"/>
            <a:ext cx="1676400" cy="76200"/>
          </a:xfrm>
          <a:prstGeom prst="line">
            <a:avLst/>
          </a:prstGeom>
          <a:noFill/>
          <a:ln w="12700" cap="flat" cmpd="sng" algn="ctr">
            <a:solidFill>
              <a:srgbClr val="00BBD3"/>
            </a:solidFill>
            <a:prstDash val="solid"/>
            <a:miter lim="800000"/>
          </a:ln>
          <a:effectLst/>
        </p:spPr>
      </p:cxnSp>
      <p:sp>
        <p:nvSpPr>
          <p:cNvPr id="18" name="TextBox 17">
            <a:extLst>
              <a:ext uri="{FF2B5EF4-FFF2-40B4-BE49-F238E27FC236}">
                <a16:creationId xmlns:a16="http://schemas.microsoft.com/office/drawing/2014/main" id="{F0B71D2E-3CF8-2540-BA31-5021DBD2D86B}"/>
              </a:ext>
            </a:extLst>
          </p:cNvPr>
          <p:cNvSpPr txBox="1"/>
          <p:nvPr/>
        </p:nvSpPr>
        <p:spPr>
          <a:xfrm>
            <a:off x="908291" y="1246573"/>
            <a:ext cx="301686" cy="369332"/>
          </a:xfrm>
          <a:prstGeom prst="rect">
            <a:avLst/>
          </a:prstGeom>
          <a:noFill/>
        </p:spPr>
        <p:txBody>
          <a:bodyPr wrap="none" rtlCol="0">
            <a:spAutoFit/>
          </a:bodyPr>
          <a:lstStyle/>
          <a:p>
            <a:pPr algn="ctr"/>
            <a:r>
              <a:rPr lang="en-IN" b="1" dirty="0">
                <a:solidFill>
                  <a:srgbClr val="212121"/>
                </a:solidFill>
                <a:latin typeface="Roboto Condensed"/>
              </a:rPr>
              <a:t>4</a:t>
            </a:r>
            <a:endParaRPr lang="en-US" b="1" dirty="0">
              <a:solidFill>
                <a:srgbClr val="212121"/>
              </a:solidFill>
              <a:latin typeface="Roboto Condensed"/>
            </a:endParaRPr>
          </a:p>
        </p:txBody>
      </p:sp>
      <p:sp>
        <p:nvSpPr>
          <p:cNvPr id="19" name="TextBox 18">
            <a:extLst>
              <a:ext uri="{FF2B5EF4-FFF2-40B4-BE49-F238E27FC236}">
                <a16:creationId xmlns:a16="http://schemas.microsoft.com/office/drawing/2014/main" id="{BD50812E-5ADE-B638-1C60-08C3530494A6}"/>
              </a:ext>
            </a:extLst>
          </p:cNvPr>
          <p:cNvSpPr txBox="1"/>
          <p:nvPr/>
        </p:nvSpPr>
        <p:spPr>
          <a:xfrm>
            <a:off x="625053" y="2667000"/>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20" name="TextBox 19">
            <a:extLst>
              <a:ext uri="{FF2B5EF4-FFF2-40B4-BE49-F238E27FC236}">
                <a16:creationId xmlns:a16="http://schemas.microsoft.com/office/drawing/2014/main" id="{DB495EE7-650E-8647-B982-4104BB094A43}"/>
              </a:ext>
            </a:extLst>
          </p:cNvPr>
          <p:cNvSpPr txBox="1"/>
          <p:nvPr/>
        </p:nvSpPr>
        <p:spPr>
          <a:xfrm>
            <a:off x="2801018" y="2574324"/>
            <a:ext cx="301686" cy="369332"/>
          </a:xfrm>
          <a:prstGeom prst="rect">
            <a:avLst/>
          </a:prstGeom>
          <a:noFill/>
        </p:spPr>
        <p:txBody>
          <a:bodyPr wrap="none" rtlCol="0">
            <a:spAutoFit/>
          </a:bodyPr>
          <a:lstStyle/>
          <a:p>
            <a:pPr algn="ctr"/>
            <a:r>
              <a:rPr lang="en-IN" b="1" dirty="0">
                <a:solidFill>
                  <a:srgbClr val="212121"/>
                </a:solidFill>
                <a:latin typeface="Roboto Condensed"/>
              </a:rPr>
              <a:t>7</a:t>
            </a:r>
            <a:endParaRPr lang="en-US" b="1" dirty="0">
              <a:solidFill>
                <a:srgbClr val="212121"/>
              </a:solidFill>
              <a:latin typeface="Roboto Condensed"/>
            </a:endParaRPr>
          </a:p>
        </p:txBody>
      </p:sp>
      <p:sp>
        <p:nvSpPr>
          <p:cNvPr id="21" name="TextBox 20">
            <a:extLst>
              <a:ext uri="{FF2B5EF4-FFF2-40B4-BE49-F238E27FC236}">
                <a16:creationId xmlns:a16="http://schemas.microsoft.com/office/drawing/2014/main" id="{F71BA2F1-710E-7DF3-6429-CBD505C60A3B}"/>
              </a:ext>
            </a:extLst>
          </p:cNvPr>
          <p:cNvSpPr txBox="1"/>
          <p:nvPr/>
        </p:nvSpPr>
        <p:spPr>
          <a:xfrm>
            <a:off x="2344584" y="1204780"/>
            <a:ext cx="301686" cy="369332"/>
          </a:xfrm>
          <a:prstGeom prst="rect">
            <a:avLst/>
          </a:prstGeom>
          <a:noFill/>
        </p:spPr>
        <p:txBody>
          <a:bodyPr wrap="none" rtlCol="0">
            <a:spAutoFit/>
          </a:bodyPr>
          <a:lstStyle/>
          <a:p>
            <a:pPr algn="ctr"/>
            <a:r>
              <a:rPr lang="en-IN" b="1" dirty="0">
                <a:solidFill>
                  <a:srgbClr val="212121"/>
                </a:solidFill>
                <a:latin typeface="Roboto Condensed"/>
              </a:rPr>
              <a:t>5</a:t>
            </a:r>
            <a:endParaRPr lang="en-US" b="1" dirty="0">
              <a:solidFill>
                <a:srgbClr val="212121"/>
              </a:solidFill>
              <a:latin typeface="Roboto Condensed"/>
            </a:endParaRPr>
          </a:p>
        </p:txBody>
      </p:sp>
      <p:sp>
        <p:nvSpPr>
          <p:cNvPr id="22" name="TextBox 21">
            <a:extLst>
              <a:ext uri="{FF2B5EF4-FFF2-40B4-BE49-F238E27FC236}">
                <a16:creationId xmlns:a16="http://schemas.microsoft.com/office/drawing/2014/main" id="{0DC4AB42-3341-C62D-BE7E-F3531CF6F498}"/>
              </a:ext>
            </a:extLst>
          </p:cNvPr>
          <p:cNvSpPr txBox="1"/>
          <p:nvPr/>
        </p:nvSpPr>
        <p:spPr>
          <a:xfrm>
            <a:off x="1713814" y="1992868"/>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23" name="TextBox 22">
            <a:extLst>
              <a:ext uri="{FF2B5EF4-FFF2-40B4-BE49-F238E27FC236}">
                <a16:creationId xmlns:a16="http://schemas.microsoft.com/office/drawing/2014/main" id="{906D3FA5-496F-05D8-7E33-F0223E577152}"/>
              </a:ext>
            </a:extLst>
          </p:cNvPr>
          <p:cNvSpPr txBox="1"/>
          <p:nvPr/>
        </p:nvSpPr>
        <p:spPr>
          <a:xfrm>
            <a:off x="1286501" y="1504950"/>
            <a:ext cx="301686" cy="369332"/>
          </a:xfrm>
          <a:prstGeom prst="rect">
            <a:avLst/>
          </a:prstGeom>
          <a:noFill/>
        </p:spPr>
        <p:txBody>
          <a:bodyPr wrap="none" rtlCol="0">
            <a:spAutoFit/>
          </a:bodyPr>
          <a:lstStyle/>
          <a:p>
            <a:pPr algn="ctr"/>
            <a:r>
              <a:rPr lang="en-IN" b="1" dirty="0">
                <a:solidFill>
                  <a:srgbClr val="212121"/>
                </a:solidFill>
                <a:latin typeface="Roboto Condensed"/>
              </a:rPr>
              <a:t>6</a:t>
            </a:r>
            <a:endParaRPr lang="en-US" b="1" dirty="0">
              <a:solidFill>
                <a:srgbClr val="212121"/>
              </a:solidFill>
              <a:latin typeface="Roboto Condensed"/>
            </a:endParaRPr>
          </a:p>
        </p:txBody>
      </p:sp>
      <p:sp>
        <p:nvSpPr>
          <p:cNvPr id="24" name="TextBox 23">
            <a:extLst>
              <a:ext uri="{FF2B5EF4-FFF2-40B4-BE49-F238E27FC236}">
                <a16:creationId xmlns:a16="http://schemas.microsoft.com/office/drawing/2014/main" id="{5B6E1D89-2A2F-B0F1-464D-4DD9B73D11E9}"/>
              </a:ext>
            </a:extLst>
          </p:cNvPr>
          <p:cNvSpPr txBox="1"/>
          <p:nvPr/>
        </p:nvSpPr>
        <p:spPr>
          <a:xfrm>
            <a:off x="1945528" y="1476461"/>
            <a:ext cx="301686" cy="369332"/>
          </a:xfrm>
          <a:prstGeom prst="rect">
            <a:avLst/>
          </a:prstGeom>
          <a:noFill/>
        </p:spPr>
        <p:txBody>
          <a:bodyPr wrap="none" rtlCol="0">
            <a:spAutoFit/>
          </a:bodyPr>
          <a:lstStyle/>
          <a:p>
            <a:pPr algn="ctr"/>
            <a:r>
              <a:rPr lang="en-IN" b="1" dirty="0">
                <a:solidFill>
                  <a:srgbClr val="212121"/>
                </a:solidFill>
                <a:latin typeface="Roboto Condensed"/>
              </a:rPr>
              <a:t>6</a:t>
            </a:r>
            <a:endParaRPr lang="en-US" b="1" dirty="0">
              <a:solidFill>
                <a:srgbClr val="212121"/>
              </a:solidFill>
              <a:latin typeface="Roboto Condensed"/>
            </a:endParaRPr>
          </a:p>
        </p:txBody>
      </p:sp>
      <p:sp>
        <p:nvSpPr>
          <p:cNvPr id="25" name="TextBox 24">
            <a:extLst>
              <a:ext uri="{FF2B5EF4-FFF2-40B4-BE49-F238E27FC236}">
                <a16:creationId xmlns:a16="http://schemas.microsoft.com/office/drawing/2014/main" id="{FE5A9322-82A0-010D-FC45-935F44140C89}"/>
              </a:ext>
            </a:extLst>
          </p:cNvPr>
          <p:cNvSpPr txBox="1"/>
          <p:nvPr/>
        </p:nvSpPr>
        <p:spPr>
          <a:xfrm>
            <a:off x="1750357" y="2549686"/>
            <a:ext cx="301686" cy="369332"/>
          </a:xfrm>
          <a:prstGeom prst="rect">
            <a:avLst/>
          </a:prstGeom>
          <a:noFill/>
        </p:spPr>
        <p:txBody>
          <a:bodyPr wrap="none" rtlCol="0">
            <a:spAutoFit/>
          </a:bodyPr>
          <a:lstStyle/>
          <a:p>
            <a:pPr algn="ctr"/>
            <a:r>
              <a:rPr lang="en-IN" b="1" dirty="0">
                <a:solidFill>
                  <a:srgbClr val="212121"/>
                </a:solidFill>
                <a:latin typeface="Roboto Condensed"/>
              </a:rPr>
              <a:t>5</a:t>
            </a:r>
            <a:endParaRPr lang="en-US" b="1" dirty="0">
              <a:solidFill>
                <a:srgbClr val="212121"/>
              </a:solidFill>
              <a:latin typeface="Roboto Condensed"/>
            </a:endParaRPr>
          </a:p>
        </p:txBody>
      </p:sp>
      <p:sp>
        <p:nvSpPr>
          <p:cNvPr id="26" name="Rectangle 25">
            <a:extLst>
              <a:ext uri="{FF2B5EF4-FFF2-40B4-BE49-F238E27FC236}">
                <a16:creationId xmlns:a16="http://schemas.microsoft.com/office/drawing/2014/main" id="{70889ED1-B3A8-AD11-1D61-58398A8B6729}"/>
              </a:ext>
            </a:extLst>
          </p:cNvPr>
          <p:cNvSpPr/>
          <p:nvPr/>
        </p:nvSpPr>
        <p:spPr>
          <a:xfrm>
            <a:off x="833973" y="4230469"/>
            <a:ext cx="1945084" cy="646331"/>
          </a:xfrm>
          <a:prstGeom prst="rect">
            <a:avLst/>
          </a:prstGeom>
        </p:spPr>
        <p:txBody>
          <a:bodyPr wrap="none">
            <a:spAutoFit/>
          </a:bodyPr>
          <a:lstStyle/>
          <a:p>
            <a:pPr algn="ctr"/>
            <a:r>
              <a:rPr lang="en-IN" b="1" dirty="0">
                <a:solidFill>
                  <a:srgbClr val="212121"/>
                </a:solidFill>
                <a:latin typeface="Roboto Condensed"/>
              </a:rPr>
              <a:t>Step 1: </a:t>
            </a:r>
            <a:r>
              <a:rPr lang="en-IN" dirty="0">
                <a:solidFill>
                  <a:srgbClr val="212121"/>
                </a:solidFill>
                <a:latin typeface="Roboto Condensed"/>
              </a:rPr>
              <a:t>Taking min </a:t>
            </a:r>
          </a:p>
          <a:p>
            <a:pPr algn="ctr"/>
            <a:r>
              <a:rPr lang="en-IN" dirty="0">
                <a:solidFill>
                  <a:srgbClr val="212121"/>
                </a:solidFill>
                <a:latin typeface="Roboto Condensed"/>
              </a:rPr>
              <a:t>edge (C,D)</a:t>
            </a:r>
            <a:endParaRPr lang="en-US" dirty="0">
              <a:solidFill>
                <a:srgbClr val="212121"/>
              </a:solidFill>
              <a:latin typeface="Roboto Condensed"/>
            </a:endParaRPr>
          </a:p>
        </p:txBody>
      </p:sp>
      <p:sp>
        <p:nvSpPr>
          <p:cNvPr id="27" name="TextBox 26">
            <a:extLst>
              <a:ext uri="{FF2B5EF4-FFF2-40B4-BE49-F238E27FC236}">
                <a16:creationId xmlns:a16="http://schemas.microsoft.com/office/drawing/2014/main" id="{3FC38EC1-5E8B-44A4-DCCC-43F34C2633B1}"/>
              </a:ext>
            </a:extLst>
          </p:cNvPr>
          <p:cNvSpPr txBox="1"/>
          <p:nvPr/>
        </p:nvSpPr>
        <p:spPr>
          <a:xfrm>
            <a:off x="1615653" y="34163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28" name="Oval 27">
            <a:extLst>
              <a:ext uri="{FF2B5EF4-FFF2-40B4-BE49-F238E27FC236}">
                <a16:creationId xmlns:a16="http://schemas.microsoft.com/office/drawing/2014/main" id="{304FAD0A-C111-1419-1B74-2E0C693FF92D}"/>
              </a:ext>
            </a:extLst>
          </p:cNvPr>
          <p:cNvSpPr/>
          <p:nvPr/>
        </p:nvSpPr>
        <p:spPr>
          <a:xfrm>
            <a:off x="950257" y="5105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29" name="Oval 28">
            <a:extLst>
              <a:ext uri="{FF2B5EF4-FFF2-40B4-BE49-F238E27FC236}">
                <a16:creationId xmlns:a16="http://schemas.microsoft.com/office/drawing/2014/main" id="{D9EAE6AE-A2BD-A8DE-AC6C-8363DD56E12D}"/>
              </a:ext>
            </a:extLst>
          </p:cNvPr>
          <p:cNvSpPr/>
          <p:nvPr/>
        </p:nvSpPr>
        <p:spPr>
          <a:xfrm>
            <a:off x="2093257" y="5105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cxnSp>
        <p:nvCxnSpPr>
          <p:cNvPr id="30" name="Straight Connector 29">
            <a:extLst>
              <a:ext uri="{FF2B5EF4-FFF2-40B4-BE49-F238E27FC236}">
                <a16:creationId xmlns:a16="http://schemas.microsoft.com/office/drawing/2014/main" id="{84CB601C-84AB-89C5-8A19-E397F57198D5}"/>
              </a:ext>
            </a:extLst>
          </p:cNvPr>
          <p:cNvCxnSpPr>
            <a:stCxn id="28" idx="5"/>
            <a:endCxn id="29" idx="3"/>
          </p:cNvCxnSpPr>
          <p:nvPr/>
        </p:nvCxnSpPr>
        <p:spPr>
          <a:xfrm>
            <a:off x="1275461" y="5430604"/>
            <a:ext cx="873592" cy="0"/>
          </a:xfrm>
          <a:prstGeom prst="line">
            <a:avLst/>
          </a:prstGeom>
          <a:noFill/>
          <a:ln w="12700" cap="flat" cmpd="sng" algn="ctr">
            <a:solidFill>
              <a:srgbClr val="00BBD3"/>
            </a:solidFill>
            <a:prstDash val="solid"/>
            <a:miter lim="800000"/>
          </a:ln>
          <a:effectLst/>
        </p:spPr>
      </p:cxnSp>
      <p:sp>
        <p:nvSpPr>
          <p:cNvPr id="31" name="TextBox 30">
            <a:extLst>
              <a:ext uri="{FF2B5EF4-FFF2-40B4-BE49-F238E27FC236}">
                <a16:creationId xmlns:a16="http://schemas.microsoft.com/office/drawing/2014/main" id="{E4892D41-C2B1-2640-8BFE-E2ECC2B1F028}"/>
              </a:ext>
            </a:extLst>
          </p:cNvPr>
          <p:cNvSpPr txBox="1"/>
          <p:nvPr/>
        </p:nvSpPr>
        <p:spPr>
          <a:xfrm>
            <a:off x="1463253" y="53975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32" name="Rectangle 31">
            <a:extLst>
              <a:ext uri="{FF2B5EF4-FFF2-40B4-BE49-F238E27FC236}">
                <a16:creationId xmlns:a16="http://schemas.microsoft.com/office/drawing/2014/main" id="{A0EE8691-FB44-FC28-BFE4-E630DDAEF958}"/>
              </a:ext>
            </a:extLst>
          </p:cNvPr>
          <p:cNvSpPr/>
          <p:nvPr/>
        </p:nvSpPr>
        <p:spPr>
          <a:xfrm>
            <a:off x="3973331" y="1106269"/>
            <a:ext cx="2006126" cy="646331"/>
          </a:xfrm>
          <a:prstGeom prst="rect">
            <a:avLst/>
          </a:prstGeom>
        </p:spPr>
        <p:txBody>
          <a:bodyPr wrap="none">
            <a:spAutoFit/>
          </a:bodyPr>
          <a:lstStyle/>
          <a:p>
            <a:pPr algn="ctr"/>
            <a:r>
              <a:rPr lang="en-US" b="1" dirty="0">
                <a:solidFill>
                  <a:srgbClr val="212121"/>
                </a:solidFill>
                <a:latin typeface="Roboto Condensed"/>
              </a:rPr>
              <a:t>Step 2:</a:t>
            </a:r>
            <a:r>
              <a:rPr lang="en-US" dirty="0">
                <a:solidFill>
                  <a:srgbClr val="212121"/>
                </a:solidFill>
                <a:latin typeface="Roboto Condensed"/>
              </a:rPr>
              <a:t> Taking next </a:t>
            </a:r>
          </a:p>
          <a:p>
            <a:pPr algn="ctr"/>
            <a:r>
              <a:rPr lang="en-US" dirty="0">
                <a:solidFill>
                  <a:srgbClr val="212121"/>
                </a:solidFill>
                <a:latin typeface="Roboto Condensed"/>
              </a:rPr>
              <a:t>min edge (B,C)</a:t>
            </a:r>
          </a:p>
        </p:txBody>
      </p:sp>
      <p:sp>
        <p:nvSpPr>
          <p:cNvPr id="33" name="Oval 32">
            <a:extLst>
              <a:ext uri="{FF2B5EF4-FFF2-40B4-BE49-F238E27FC236}">
                <a16:creationId xmlns:a16="http://schemas.microsoft.com/office/drawing/2014/main" id="{A74C9E4E-E13B-0E67-5FD8-D8FA774AEE1A}"/>
              </a:ext>
            </a:extLst>
          </p:cNvPr>
          <p:cNvSpPr/>
          <p:nvPr/>
        </p:nvSpPr>
        <p:spPr>
          <a:xfrm>
            <a:off x="3866261" y="190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34" name="Oval 33">
            <a:extLst>
              <a:ext uri="{FF2B5EF4-FFF2-40B4-BE49-F238E27FC236}">
                <a16:creationId xmlns:a16="http://schemas.microsoft.com/office/drawing/2014/main" id="{D50CF226-E379-31D9-9111-210D00B5089F}"/>
              </a:ext>
            </a:extLst>
          </p:cNvPr>
          <p:cNvSpPr/>
          <p:nvPr/>
        </p:nvSpPr>
        <p:spPr>
          <a:xfrm>
            <a:off x="4247261" y="2819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35" name="Oval 34">
            <a:extLst>
              <a:ext uri="{FF2B5EF4-FFF2-40B4-BE49-F238E27FC236}">
                <a16:creationId xmlns:a16="http://schemas.microsoft.com/office/drawing/2014/main" id="{96D596F0-64A2-66D5-5FC4-B563626FAE11}"/>
              </a:ext>
            </a:extLst>
          </p:cNvPr>
          <p:cNvSpPr/>
          <p:nvPr/>
        </p:nvSpPr>
        <p:spPr>
          <a:xfrm>
            <a:off x="5390261" y="2819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cxnSp>
        <p:nvCxnSpPr>
          <p:cNvPr id="36" name="Straight Connector 35">
            <a:extLst>
              <a:ext uri="{FF2B5EF4-FFF2-40B4-BE49-F238E27FC236}">
                <a16:creationId xmlns:a16="http://schemas.microsoft.com/office/drawing/2014/main" id="{8DA97B9D-BB6F-1617-FEC2-9784E439CC3E}"/>
              </a:ext>
            </a:extLst>
          </p:cNvPr>
          <p:cNvCxnSpPr>
            <a:stCxn id="33" idx="3"/>
            <a:endCxn id="34" idx="2"/>
          </p:cNvCxnSpPr>
          <p:nvPr/>
        </p:nvCxnSpPr>
        <p:spPr>
          <a:xfrm>
            <a:off x="3922057" y="2230204"/>
            <a:ext cx="325204" cy="779696"/>
          </a:xfrm>
          <a:prstGeom prst="line">
            <a:avLst/>
          </a:prstGeom>
          <a:noFill/>
          <a:ln w="12700" cap="flat" cmpd="sng" algn="ctr">
            <a:solidFill>
              <a:srgbClr val="00BBD3"/>
            </a:solidFill>
            <a:prstDash val="solid"/>
            <a:miter lim="800000"/>
          </a:ln>
          <a:effectLst/>
        </p:spPr>
      </p:cxnSp>
      <p:cxnSp>
        <p:nvCxnSpPr>
          <p:cNvPr id="37" name="Straight Connector 36">
            <a:extLst>
              <a:ext uri="{FF2B5EF4-FFF2-40B4-BE49-F238E27FC236}">
                <a16:creationId xmlns:a16="http://schemas.microsoft.com/office/drawing/2014/main" id="{367FCA3B-B9FE-E21D-A965-9ABDFD5D791A}"/>
              </a:ext>
            </a:extLst>
          </p:cNvPr>
          <p:cNvCxnSpPr>
            <a:stCxn id="34" idx="5"/>
            <a:endCxn id="35" idx="3"/>
          </p:cNvCxnSpPr>
          <p:nvPr/>
        </p:nvCxnSpPr>
        <p:spPr>
          <a:xfrm>
            <a:off x="4572465" y="3144604"/>
            <a:ext cx="873592" cy="0"/>
          </a:xfrm>
          <a:prstGeom prst="line">
            <a:avLst/>
          </a:prstGeom>
          <a:noFill/>
          <a:ln w="12700" cap="flat" cmpd="sng" algn="ctr">
            <a:solidFill>
              <a:srgbClr val="00BBD3"/>
            </a:solidFill>
            <a:prstDash val="solid"/>
            <a:miter lim="800000"/>
          </a:ln>
          <a:effectLst/>
        </p:spPr>
      </p:cxnSp>
      <p:sp>
        <p:nvSpPr>
          <p:cNvPr id="38" name="TextBox 37">
            <a:extLst>
              <a:ext uri="{FF2B5EF4-FFF2-40B4-BE49-F238E27FC236}">
                <a16:creationId xmlns:a16="http://schemas.microsoft.com/office/drawing/2014/main" id="{F6EC25CD-302E-A9C1-44E5-62F4990A567F}"/>
              </a:ext>
            </a:extLst>
          </p:cNvPr>
          <p:cNvSpPr txBox="1"/>
          <p:nvPr/>
        </p:nvSpPr>
        <p:spPr>
          <a:xfrm>
            <a:off x="3769657" y="2526268"/>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39" name="TextBox 38">
            <a:extLst>
              <a:ext uri="{FF2B5EF4-FFF2-40B4-BE49-F238E27FC236}">
                <a16:creationId xmlns:a16="http://schemas.microsoft.com/office/drawing/2014/main" id="{A492B9CE-9C77-FCDC-F356-470D4C81861F}"/>
              </a:ext>
            </a:extLst>
          </p:cNvPr>
          <p:cNvSpPr txBox="1"/>
          <p:nvPr/>
        </p:nvSpPr>
        <p:spPr>
          <a:xfrm>
            <a:off x="4760257" y="31115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40" name="Rectangle 39">
            <a:extLst>
              <a:ext uri="{FF2B5EF4-FFF2-40B4-BE49-F238E27FC236}">
                <a16:creationId xmlns:a16="http://schemas.microsoft.com/office/drawing/2014/main" id="{CB234FEA-0CC7-27B2-6488-0AD203F9DA0C}"/>
              </a:ext>
            </a:extLst>
          </p:cNvPr>
          <p:cNvSpPr/>
          <p:nvPr/>
        </p:nvSpPr>
        <p:spPr>
          <a:xfrm>
            <a:off x="3769657" y="3773269"/>
            <a:ext cx="2191520" cy="646331"/>
          </a:xfrm>
          <a:prstGeom prst="rect">
            <a:avLst/>
          </a:prstGeom>
        </p:spPr>
        <p:txBody>
          <a:bodyPr wrap="square">
            <a:spAutoFit/>
          </a:bodyPr>
          <a:lstStyle/>
          <a:p>
            <a:pPr algn="ctr"/>
            <a:r>
              <a:rPr lang="en-US" b="1" dirty="0">
                <a:solidFill>
                  <a:srgbClr val="212121"/>
                </a:solidFill>
                <a:latin typeface="Roboto Condensed"/>
              </a:rPr>
              <a:t>Step 3:</a:t>
            </a:r>
            <a:r>
              <a:rPr lang="en-US" dirty="0">
                <a:solidFill>
                  <a:srgbClr val="212121"/>
                </a:solidFill>
                <a:latin typeface="Roboto Condensed"/>
              </a:rPr>
              <a:t> Taking next</a:t>
            </a:r>
          </a:p>
          <a:p>
            <a:pPr algn="ctr"/>
            <a:r>
              <a:rPr lang="en-US" dirty="0">
                <a:solidFill>
                  <a:srgbClr val="212121"/>
                </a:solidFill>
                <a:latin typeface="Roboto Condensed"/>
              </a:rPr>
              <a:t> min edge (B,E)</a:t>
            </a:r>
          </a:p>
        </p:txBody>
      </p:sp>
      <p:sp>
        <p:nvSpPr>
          <p:cNvPr id="41" name="Oval 40">
            <a:extLst>
              <a:ext uri="{FF2B5EF4-FFF2-40B4-BE49-F238E27FC236}">
                <a16:creationId xmlns:a16="http://schemas.microsoft.com/office/drawing/2014/main" id="{B3CBDD31-DA0D-EC3F-89CA-5E050F1AF894}"/>
              </a:ext>
            </a:extLst>
          </p:cNvPr>
          <p:cNvSpPr/>
          <p:nvPr/>
        </p:nvSpPr>
        <p:spPr>
          <a:xfrm>
            <a:off x="3617257" y="44958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2" name="Oval 41">
            <a:extLst>
              <a:ext uri="{FF2B5EF4-FFF2-40B4-BE49-F238E27FC236}">
                <a16:creationId xmlns:a16="http://schemas.microsoft.com/office/drawing/2014/main" id="{70003AD1-1046-112C-AAB9-616D0A8ED797}"/>
              </a:ext>
            </a:extLst>
          </p:cNvPr>
          <p:cNvSpPr/>
          <p:nvPr/>
        </p:nvSpPr>
        <p:spPr>
          <a:xfrm>
            <a:off x="4150657" y="533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43" name="Oval 42">
            <a:extLst>
              <a:ext uri="{FF2B5EF4-FFF2-40B4-BE49-F238E27FC236}">
                <a16:creationId xmlns:a16="http://schemas.microsoft.com/office/drawing/2014/main" id="{C2BFA371-9FE3-144C-6B59-37E01D9CB282}"/>
              </a:ext>
            </a:extLst>
          </p:cNvPr>
          <p:cNvSpPr/>
          <p:nvPr/>
        </p:nvSpPr>
        <p:spPr>
          <a:xfrm>
            <a:off x="5293657" y="533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4" name="Oval 43">
            <a:extLst>
              <a:ext uri="{FF2B5EF4-FFF2-40B4-BE49-F238E27FC236}">
                <a16:creationId xmlns:a16="http://schemas.microsoft.com/office/drawing/2014/main" id="{F48C1DEA-F85C-5B70-8C6E-139EEE9D2999}"/>
              </a:ext>
            </a:extLst>
          </p:cNvPr>
          <p:cNvSpPr/>
          <p:nvPr/>
        </p:nvSpPr>
        <p:spPr>
          <a:xfrm>
            <a:off x="5674657" y="4494259"/>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45" name="Straight Connector 44">
            <a:extLst>
              <a:ext uri="{FF2B5EF4-FFF2-40B4-BE49-F238E27FC236}">
                <a16:creationId xmlns:a16="http://schemas.microsoft.com/office/drawing/2014/main" id="{3FACA4A2-1F1F-4E9F-471C-2AEBC10F8987}"/>
              </a:ext>
            </a:extLst>
          </p:cNvPr>
          <p:cNvCxnSpPr>
            <a:stCxn id="41" idx="3"/>
            <a:endCxn id="42" idx="2"/>
          </p:cNvCxnSpPr>
          <p:nvPr/>
        </p:nvCxnSpPr>
        <p:spPr>
          <a:xfrm>
            <a:off x="3673053" y="4821004"/>
            <a:ext cx="477604" cy="703496"/>
          </a:xfrm>
          <a:prstGeom prst="line">
            <a:avLst/>
          </a:prstGeom>
          <a:noFill/>
          <a:ln w="12700" cap="flat" cmpd="sng" algn="ctr">
            <a:solidFill>
              <a:srgbClr val="00BBD3"/>
            </a:solidFill>
            <a:prstDash val="solid"/>
            <a:miter lim="800000"/>
          </a:ln>
          <a:effectLst/>
        </p:spPr>
      </p:cxnSp>
      <p:cxnSp>
        <p:nvCxnSpPr>
          <p:cNvPr id="46" name="Straight Connector 45">
            <a:extLst>
              <a:ext uri="{FF2B5EF4-FFF2-40B4-BE49-F238E27FC236}">
                <a16:creationId xmlns:a16="http://schemas.microsoft.com/office/drawing/2014/main" id="{988C96B9-DD55-F2E8-28A2-F8C0C3CF0C9D}"/>
              </a:ext>
            </a:extLst>
          </p:cNvPr>
          <p:cNvCxnSpPr>
            <a:stCxn id="42" idx="5"/>
            <a:endCxn id="43" idx="3"/>
          </p:cNvCxnSpPr>
          <p:nvPr/>
        </p:nvCxnSpPr>
        <p:spPr>
          <a:xfrm>
            <a:off x="4475861" y="5659204"/>
            <a:ext cx="873592" cy="0"/>
          </a:xfrm>
          <a:prstGeom prst="line">
            <a:avLst/>
          </a:prstGeom>
          <a:noFill/>
          <a:ln w="12700" cap="flat" cmpd="sng" algn="ctr">
            <a:solidFill>
              <a:srgbClr val="00BBD3"/>
            </a:solidFill>
            <a:prstDash val="solid"/>
            <a:miter lim="800000"/>
          </a:ln>
          <a:effectLst/>
        </p:spPr>
      </p:cxnSp>
      <p:cxnSp>
        <p:nvCxnSpPr>
          <p:cNvPr id="47" name="Straight Connector 46">
            <a:extLst>
              <a:ext uri="{FF2B5EF4-FFF2-40B4-BE49-F238E27FC236}">
                <a16:creationId xmlns:a16="http://schemas.microsoft.com/office/drawing/2014/main" id="{62EF525F-DF88-A9FB-81ED-A9FBFEB5BE99}"/>
              </a:ext>
            </a:extLst>
          </p:cNvPr>
          <p:cNvCxnSpPr>
            <a:stCxn id="41" idx="6"/>
            <a:endCxn id="44" idx="2"/>
          </p:cNvCxnSpPr>
          <p:nvPr/>
        </p:nvCxnSpPr>
        <p:spPr>
          <a:xfrm flipV="1">
            <a:off x="3998257" y="4684759"/>
            <a:ext cx="1676400" cy="1541"/>
          </a:xfrm>
          <a:prstGeom prst="line">
            <a:avLst/>
          </a:prstGeom>
          <a:noFill/>
          <a:ln w="12700" cap="flat" cmpd="sng" algn="ctr">
            <a:solidFill>
              <a:srgbClr val="00BBD3"/>
            </a:solidFill>
            <a:prstDash val="solid"/>
            <a:miter lim="800000"/>
          </a:ln>
          <a:effectLst/>
        </p:spPr>
      </p:cxnSp>
      <p:sp>
        <p:nvSpPr>
          <p:cNvPr id="48" name="TextBox 47">
            <a:extLst>
              <a:ext uri="{FF2B5EF4-FFF2-40B4-BE49-F238E27FC236}">
                <a16:creationId xmlns:a16="http://schemas.microsoft.com/office/drawing/2014/main" id="{D22E1320-2927-4FFC-320B-9E776AB98C35}"/>
              </a:ext>
            </a:extLst>
          </p:cNvPr>
          <p:cNvSpPr txBox="1"/>
          <p:nvPr/>
        </p:nvSpPr>
        <p:spPr>
          <a:xfrm>
            <a:off x="3673053" y="5105400"/>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49" name="TextBox 48">
            <a:extLst>
              <a:ext uri="{FF2B5EF4-FFF2-40B4-BE49-F238E27FC236}">
                <a16:creationId xmlns:a16="http://schemas.microsoft.com/office/drawing/2014/main" id="{8F3A6AEA-8246-8DC9-26CE-9DB04E4B516D}"/>
              </a:ext>
            </a:extLst>
          </p:cNvPr>
          <p:cNvSpPr txBox="1"/>
          <p:nvPr/>
        </p:nvSpPr>
        <p:spPr>
          <a:xfrm>
            <a:off x="4684057" y="4736068"/>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50" name="TextBox 49">
            <a:extLst>
              <a:ext uri="{FF2B5EF4-FFF2-40B4-BE49-F238E27FC236}">
                <a16:creationId xmlns:a16="http://schemas.microsoft.com/office/drawing/2014/main" id="{07C1703B-AA18-9DEB-29B1-3E622C14A32A}"/>
              </a:ext>
            </a:extLst>
          </p:cNvPr>
          <p:cNvSpPr txBox="1"/>
          <p:nvPr/>
        </p:nvSpPr>
        <p:spPr>
          <a:xfrm>
            <a:off x="4663653" y="56261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51" name="Rectangle 50">
            <a:extLst>
              <a:ext uri="{FF2B5EF4-FFF2-40B4-BE49-F238E27FC236}">
                <a16:creationId xmlns:a16="http://schemas.microsoft.com/office/drawing/2014/main" id="{EA2E65DF-9F9D-66E6-FC12-4855509D5E5E}"/>
              </a:ext>
            </a:extLst>
          </p:cNvPr>
          <p:cNvSpPr/>
          <p:nvPr/>
        </p:nvSpPr>
        <p:spPr>
          <a:xfrm>
            <a:off x="6893857" y="1135297"/>
            <a:ext cx="2143496" cy="646331"/>
          </a:xfrm>
          <a:prstGeom prst="rect">
            <a:avLst/>
          </a:prstGeom>
        </p:spPr>
        <p:txBody>
          <a:bodyPr wrap="square">
            <a:spAutoFit/>
          </a:bodyPr>
          <a:lstStyle/>
          <a:p>
            <a:pPr algn="ctr"/>
            <a:r>
              <a:rPr lang="en-US" b="1" dirty="0">
                <a:solidFill>
                  <a:srgbClr val="212121"/>
                </a:solidFill>
                <a:latin typeface="Roboto Condensed"/>
              </a:rPr>
              <a:t>Step 4:</a:t>
            </a:r>
            <a:r>
              <a:rPr lang="en-US" dirty="0">
                <a:solidFill>
                  <a:srgbClr val="212121"/>
                </a:solidFill>
                <a:latin typeface="Roboto Condensed"/>
              </a:rPr>
              <a:t> Taking next </a:t>
            </a:r>
          </a:p>
          <a:p>
            <a:pPr algn="ctr"/>
            <a:r>
              <a:rPr lang="en-US" dirty="0">
                <a:solidFill>
                  <a:srgbClr val="212121"/>
                </a:solidFill>
                <a:latin typeface="Roboto Condensed"/>
              </a:rPr>
              <a:t>min edge (A,B)</a:t>
            </a:r>
          </a:p>
        </p:txBody>
      </p:sp>
      <p:sp>
        <p:nvSpPr>
          <p:cNvPr id="52" name="Oval 51">
            <a:extLst>
              <a:ext uri="{FF2B5EF4-FFF2-40B4-BE49-F238E27FC236}">
                <a16:creationId xmlns:a16="http://schemas.microsoft.com/office/drawing/2014/main" id="{18A3C10F-BF83-8883-0287-B1E0B3BBCD64}"/>
              </a:ext>
            </a:extLst>
          </p:cNvPr>
          <p:cNvSpPr/>
          <p:nvPr/>
        </p:nvSpPr>
        <p:spPr>
          <a:xfrm>
            <a:off x="6911670" y="2954104"/>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53" name="Oval 52">
            <a:extLst>
              <a:ext uri="{FF2B5EF4-FFF2-40B4-BE49-F238E27FC236}">
                <a16:creationId xmlns:a16="http://schemas.microsoft.com/office/drawing/2014/main" id="{DE4B2188-2289-8871-0D6C-4BA4C7E984AF}"/>
              </a:ext>
            </a:extLst>
          </p:cNvPr>
          <p:cNvSpPr/>
          <p:nvPr/>
        </p:nvSpPr>
        <p:spPr>
          <a:xfrm>
            <a:off x="7427257" y="4064838"/>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54" name="Oval 53">
            <a:extLst>
              <a:ext uri="{FF2B5EF4-FFF2-40B4-BE49-F238E27FC236}">
                <a16:creationId xmlns:a16="http://schemas.microsoft.com/office/drawing/2014/main" id="{50672321-2F35-09CC-E400-1B1E0DA614AB}"/>
              </a:ext>
            </a:extLst>
          </p:cNvPr>
          <p:cNvSpPr/>
          <p:nvPr/>
        </p:nvSpPr>
        <p:spPr>
          <a:xfrm>
            <a:off x="8570257" y="4064838"/>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55" name="Oval 54">
            <a:extLst>
              <a:ext uri="{FF2B5EF4-FFF2-40B4-BE49-F238E27FC236}">
                <a16:creationId xmlns:a16="http://schemas.microsoft.com/office/drawing/2014/main" id="{01B7B681-B7FE-F897-E4CB-4A40D468174E}"/>
              </a:ext>
            </a:extLst>
          </p:cNvPr>
          <p:cNvSpPr/>
          <p:nvPr/>
        </p:nvSpPr>
        <p:spPr>
          <a:xfrm>
            <a:off x="8969070" y="2952563"/>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56" name="Straight Connector 55">
            <a:extLst>
              <a:ext uri="{FF2B5EF4-FFF2-40B4-BE49-F238E27FC236}">
                <a16:creationId xmlns:a16="http://schemas.microsoft.com/office/drawing/2014/main" id="{4C02FC1D-1D15-9933-9587-C9CD272AF452}"/>
              </a:ext>
            </a:extLst>
          </p:cNvPr>
          <p:cNvCxnSpPr>
            <a:stCxn id="52" idx="3"/>
            <a:endCxn id="53" idx="2"/>
          </p:cNvCxnSpPr>
          <p:nvPr/>
        </p:nvCxnSpPr>
        <p:spPr>
          <a:xfrm>
            <a:off x="6967466" y="3279308"/>
            <a:ext cx="459791" cy="976030"/>
          </a:xfrm>
          <a:prstGeom prst="line">
            <a:avLst/>
          </a:prstGeom>
          <a:noFill/>
          <a:ln w="12700" cap="flat" cmpd="sng" algn="ctr">
            <a:solidFill>
              <a:srgbClr val="00BBD3"/>
            </a:solidFill>
            <a:prstDash val="solid"/>
            <a:miter lim="800000"/>
          </a:ln>
          <a:effectLst/>
        </p:spPr>
      </p:cxnSp>
      <p:cxnSp>
        <p:nvCxnSpPr>
          <p:cNvPr id="57" name="Straight Connector 56">
            <a:extLst>
              <a:ext uri="{FF2B5EF4-FFF2-40B4-BE49-F238E27FC236}">
                <a16:creationId xmlns:a16="http://schemas.microsoft.com/office/drawing/2014/main" id="{DA25E58F-7967-AFD1-B26B-CB2AC60C9AE7}"/>
              </a:ext>
            </a:extLst>
          </p:cNvPr>
          <p:cNvCxnSpPr>
            <a:stCxn id="53" idx="5"/>
            <a:endCxn id="54" idx="3"/>
          </p:cNvCxnSpPr>
          <p:nvPr/>
        </p:nvCxnSpPr>
        <p:spPr>
          <a:xfrm>
            <a:off x="7752461" y="4390042"/>
            <a:ext cx="873592" cy="0"/>
          </a:xfrm>
          <a:prstGeom prst="line">
            <a:avLst/>
          </a:prstGeom>
          <a:noFill/>
          <a:ln w="12700" cap="flat" cmpd="sng" algn="ctr">
            <a:solidFill>
              <a:srgbClr val="00BBD3"/>
            </a:solidFill>
            <a:prstDash val="solid"/>
            <a:miter lim="800000"/>
          </a:ln>
          <a:effectLst/>
        </p:spPr>
      </p:cxnSp>
      <p:cxnSp>
        <p:nvCxnSpPr>
          <p:cNvPr id="58" name="Straight Connector 57">
            <a:extLst>
              <a:ext uri="{FF2B5EF4-FFF2-40B4-BE49-F238E27FC236}">
                <a16:creationId xmlns:a16="http://schemas.microsoft.com/office/drawing/2014/main" id="{FBA8B6FA-09B6-856D-7604-FE5932ADB536}"/>
              </a:ext>
            </a:extLst>
          </p:cNvPr>
          <p:cNvCxnSpPr>
            <a:stCxn id="52" idx="6"/>
            <a:endCxn id="55" idx="2"/>
          </p:cNvCxnSpPr>
          <p:nvPr/>
        </p:nvCxnSpPr>
        <p:spPr>
          <a:xfrm flipV="1">
            <a:off x="7292670" y="3143063"/>
            <a:ext cx="1676400" cy="1541"/>
          </a:xfrm>
          <a:prstGeom prst="line">
            <a:avLst/>
          </a:prstGeom>
          <a:noFill/>
          <a:ln w="12700" cap="flat" cmpd="sng" algn="ctr">
            <a:solidFill>
              <a:srgbClr val="00BBD3"/>
            </a:solidFill>
            <a:prstDash val="solid"/>
            <a:miter lim="800000"/>
          </a:ln>
          <a:effectLst/>
        </p:spPr>
      </p:cxnSp>
      <p:sp>
        <p:nvSpPr>
          <p:cNvPr id="59" name="TextBox 58">
            <a:extLst>
              <a:ext uri="{FF2B5EF4-FFF2-40B4-BE49-F238E27FC236}">
                <a16:creationId xmlns:a16="http://schemas.microsoft.com/office/drawing/2014/main" id="{D49E2A35-3805-DF77-16F8-1D29061F6BC6}"/>
              </a:ext>
            </a:extLst>
          </p:cNvPr>
          <p:cNvSpPr txBox="1"/>
          <p:nvPr/>
        </p:nvSpPr>
        <p:spPr>
          <a:xfrm>
            <a:off x="6893857" y="3563704"/>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60" name="TextBox 59">
            <a:extLst>
              <a:ext uri="{FF2B5EF4-FFF2-40B4-BE49-F238E27FC236}">
                <a16:creationId xmlns:a16="http://schemas.microsoft.com/office/drawing/2014/main" id="{D8D2721D-2152-CD0B-E1D9-46952F28DC34}"/>
              </a:ext>
            </a:extLst>
          </p:cNvPr>
          <p:cNvSpPr txBox="1"/>
          <p:nvPr/>
        </p:nvSpPr>
        <p:spPr>
          <a:xfrm>
            <a:off x="7978470" y="3194372"/>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61" name="TextBox 60">
            <a:extLst>
              <a:ext uri="{FF2B5EF4-FFF2-40B4-BE49-F238E27FC236}">
                <a16:creationId xmlns:a16="http://schemas.microsoft.com/office/drawing/2014/main" id="{7C3836D8-5C8F-D937-19CC-1BD5DFAAAAC8}"/>
              </a:ext>
            </a:extLst>
          </p:cNvPr>
          <p:cNvSpPr txBox="1"/>
          <p:nvPr/>
        </p:nvSpPr>
        <p:spPr>
          <a:xfrm>
            <a:off x="8038414" y="4507468"/>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62" name="Oval 61">
            <a:extLst>
              <a:ext uri="{FF2B5EF4-FFF2-40B4-BE49-F238E27FC236}">
                <a16:creationId xmlns:a16="http://schemas.microsoft.com/office/drawing/2014/main" id="{F0C6C0FE-6E93-2304-F603-482F5932CF00}"/>
              </a:ext>
            </a:extLst>
          </p:cNvPr>
          <p:cNvSpPr/>
          <p:nvPr/>
        </p:nvSpPr>
        <p:spPr>
          <a:xfrm>
            <a:off x="7884457" y="1981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cxnSp>
        <p:nvCxnSpPr>
          <p:cNvPr id="63" name="Straight Connector 62">
            <a:extLst>
              <a:ext uri="{FF2B5EF4-FFF2-40B4-BE49-F238E27FC236}">
                <a16:creationId xmlns:a16="http://schemas.microsoft.com/office/drawing/2014/main" id="{292735AF-6F2A-A7A3-6D6F-2F1EE746D764}"/>
              </a:ext>
            </a:extLst>
          </p:cNvPr>
          <p:cNvCxnSpPr>
            <a:stCxn id="62" idx="2"/>
            <a:endCxn id="52" idx="0"/>
          </p:cNvCxnSpPr>
          <p:nvPr/>
        </p:nvCxnSpPr>
        <p:spPr>
          <a:xfrm flipH="1">
            <a:off x="7102170" y="2171700"/>
            <a:ext cx="782287" cy="782404"/>
          </a:xfrm>
          <a:prstGeom prst="line">
            <a:avLst/>
          </a:prstGeom>
          <a:noFill/>
          <a:ln w="12700" cap="flat" cmpd="sng" algn="ctr">
            <a:solidFill>
              <a:srgbClr val="00BBD3"/>
            </a:solidFill>
            <a:prstDash val="solid"/>
            <a:miter lim="800000"/>
          </a:ln>
          <a:effectLst/>
        </p:spPr>
      </p:cxnSp>
      <p:sp>
        <p:nvSpPr>
          <p:cNvPr id="64" name="TextBox 63">
            <a:extLst>
              <a:ext uri="{FF2B5EF4-FFF2-40B4-BE49-F238E27FC236}">
                <a16:creationId xmlns:a16="http://schemas.microsoft.com/office/drawing/2014/main" id="{123A4084-64E6-72C3-14A9-6C37F0E1A435}"/>
              </a:ext>
            </a:extLst>
          </p:cNvPr>
          <p:cNvSpPr txBox="1"/>
          <p:nvPr/>
        </p:nvSpPr>
        <p:spPr>
          <a:xfrm>
            <a:off x="7232891" y="2237173"/>
            <a:ext cx="301686" cy="369332"/>
          </a:xfrm>
          <a:prstGeom prst="rect">
            <a:avLst/>
          </a:prstGeom>
          <a:noFill/>
        </p:spPr>
        <p:txBody>
          <a:bodyPr wrap="none" rtlCol="0">
            <a:spAutoFit/>
          </a:bodyPr>
          <a:lstStyle/>
          <a:p>
            <a:pPr algn="ctr"/>
            <a:r>
              <a:rPr lang="en-IN" b="1" dirty="0">
                <a:solidFill>
                  <a:srgbClr val="212121"/>
                </a:solidFill>
                <a:latin typeface="Roboto Condensed"/>
              </a:rPr>
              <a:t>4</a:t>
            </a:r>
            <a:endParaRPr lang="en-US" b="1" dirty="0">
              <a:solidFill>
                <a:srgbClr val="212121"/>
              </a:solidFill>
              <a:latin typeface="Roboto Condensed"/>
            </a:endParaRPr>
          </a:p>
        </p:txBody>
      </p:sp>
      <p:cxnSp>
        <p:nvCxnSpPr>
          <p:cNvPr id="65" name="Straight Connector 64">
            <a:extLst>
              <a:ext uri="{FF2B5EF4-FFF2-40B4-BE49-F238E27FC236}">
                <a16:creationId xmlns:a16="http://schemas.microsoft.com/office/drawing/2014/main" id="{41EAA787-0A53-1114-FE76-25C56199D101}"/>
              </a:ext>
            </a:extLst>
          </p:cNvPr>
          <p:cNvCxnSpPr/>
          <p:nvPr/>
        </p:nvCxnSpPr>
        <p:spPr>
          <a:xfrm>
            <a:off x="3312457" y="990600"/>
            <a:ext cx="0" cy="5257800"/>
          </a:xfrm>
          <a:prstGeom prst="line">
            <a:avLst/>
          </a:prstGeom>
          <a:noFill/>
          <a:ln w="28575" cap="flat" cmpd="sng" algn="ctr">
            <a:solidFill>
              <a:srgbClr val="F19D19"/>
            </a:solidFill>
            <a:prstDash val="solid"/>
            <a:miter lim="800000"/>
          </a:ln>
          <a:effectLst/>
        </p:spPr>
      </p:cxnSp>
      <p:cxnSp>
        <p:nvCxnSpPr>
          <p:cNvPr id="66" name="Straight Connector 65">
            <a:extLst>
              <a:ext uri="{FF2B5EF4-FFF2-40B4-BE49-F238E27FC236}">
                <a16:creationId xmlns:a16="http://schemas.microsoft.com/office/drawing/2014/main" id="{CD785FD0-CADA-5139-A0B5-E3F21A953684}"/>
              </a:ext>
            </a:extLst>
          </p:cNvPr>
          <p:cNvCxnSpPr/>
          <p:nvPr/>
        </p:nvCxnSpPr>
        <p:spPr>
          <a:xfrm>
            <a:off x="6360457" y="1002475"/>
            <a:ext cx="0" cy="5257800"/>
          </a:xfrm>
          <a:prstGeom prst="line">
            <a:avLst/>
          </a:prstGeom>
          <a:noFill/>
          <a:ln w="28575" cap="flat" cmpd="sng" algn="ctr">
            <a:solidFill>
              <a:srgbClr val="F19D19"/>
            </a:solidFill>
            <a:prstDash val="solid"/>
            <a:miter lim="800000"/>
          </a:ln>
          <a:effectLst/>
        </p:spPr>
      </p:cxnSp>
      <p:cxnSp>
        <p:nvCxnSpPr>
          <p:cNvPr id="67" name="Straight Connector 66">
            <a:extLst>
              <a:ext uri="{FF2B5EF4-FFF2-40B4-BE49-F238E27FC236}">
                <a16:creationId xmlns:a16="http://schemas.microsoft.com/office/drawing/2014/main" id="{2E3CF589-E392-6598-934C-3312748AFAAD}"/>
              </a:ext>
            </a:extLst>
          </p:cNvPr>
          <p:cNvCxnSpPr/>
          <p:nvPr/>
        </p:nvCxnSpPr>
        <p:spPr>
          <a:xfrm>
            <a:off x="557382" y="3963776"/>
            <a:ext cx="2743200" cy="0"/>
          </a:xfrm>
          <a:prstGeom prst="line">
            <a:avLst/>
          </a:prstGeom>
          <a:noFill/>
          <a:ln w="28575" cap="flat" cmpd="sng" algn="ctr">
            <a:solidFill>
              <a:srgbClr val="F19D19"/>
            </a:solidFill>
            <a:prstDash val="solid"/>
            <a:miter lim="800000"/>
          </a:ln>
          <a:effectLst/>
        </p:spPr>
      </p:cxnSp>
      <p:cxnSp>
        <p:nvCxnSpPr>
          <p:cNvPr id="68" name="Straight Connector 67">
            <a:extLst>
              <a:ext uri="{FF2B5EF4-FFF2-40B4-BE49-F238E27FC236}">
                <a16:creationId xmlns:a16="http://schemas.microsoft.com/office/drawing/2014/main" id="{B60D98EB-56F9-3888-AD7A-4EB303335FE0}"/>
              </a:ext>
            </a:extLst>
          </p:cNvPr>
          <p:cNvCxnSpPr/>
          <p:nvPr/>
        </p:nvCxnSpPr>
        <p:spPr>
          <a:xfrm>
            <a:off x="3300582" y="3619500"/>
            <a:ext cx="3059875" cy="0"/>
          </a:xfrm>
          <a:prstGeom prst="line">
            <a:avLst/>
          </a:prstGeom>
          <a:noFill/>
          <a:ln w="28575" cap="flat" cmpd="sng" algn="ctr">
            <a:solidFill>
              <a:srgbClr val="F19D19"/>
            </a:solidFill>
            <a:prstDash val="solid"/>
            <a:miter lim="800000"/>
          </a:ln>
          <a:effectLst/>
        </p:spPr>
      </p:cxnSp>
      <p:cxnSp>
        <p:nvCxnSpPr>
          <p:cNvPr id="69" name="Straight Connector 68">
            <a:extLst>
              <a:ext uri="{FF2B5EF4-FFF2-40B4-BE49-F238E27FC236}">
                <a16:creationId xmlns:a16="http://schemas.microsoft.com/office/drawing/2014/main" id="{F8A74006-3184-8F4E-19B1-35028779A704}"/>
              </a:ext>
            </a:extLst>
          </p:cNvPr>
          <p:cNvCxnSpPr/>
          <p:nvPr/>
        </p:nvCxnSpPr>
        <p:spPr>
          <a:xfrm>
            <a:off x="6380861" y="4920734"/>
            <a:ext cx="3103796" cy="0"/>
          </a:xfrm>
          <a:prstGeom prst="line">
            <a:avLst/>
          </a:prstGeom>
          <a:noFill/>
          <a:ln w="28575" cap="flat" cmpd="sng" algn="ctr">
            <a:solidFill>
              <a:srgbClr val="F19D19"/>
            </a:solidFill>
            <a:prstDash val="solid"/>
            <a:miter lim="800000"/>
          </a:ln>
          <a:effectLst/>
        </p:spPr>
      </p:cxnSp>
      <p:sp>
        <p:nvSpPr>
          <p:cNvPr id="70" name="TextBox 69">
            <a:extLst>
              <a:ext uri="{FF2B5EF4-FFF2-40B4-BE49-F238E27FC236}">
                <a16:creationId xmlns:a16="http://schemas.microsoft.com/office/drawing/2014/main" id="{BDF1C5BA-0564-9E49-A9BF-357343900ABC}"/>
              </a:ext>
            </a:extLst>
          </p:cNvPr>
          <p:cNvSpPr txBox="1"/>
          <p:nvPr/>
        </p:nvSpPr>
        <p:spPr>
          <a:xfrm>
            <a:off x="6393958" y="4951926"/>
            <a:ext cx="2839687" cy="1446550"/>
          </a:xfrm>
          <a:prstGeom prst="rect">
            <a:avLst/>
          </a:prstGeom>
          <a:solidFill>
            <a:sysClr val="window" lastClr="FFFFFF">
              <a:lumMod val="85000"/>
            </a:sys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rPr>
              <a:t>So, we obtained a minimum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rPr>
              <a:t>spanning tree of cost</a:t>
            </a:r>
            <a:r>
              <a:rPr kumimoji="0" lang="en-US" sz="2200" b="1" i="0" u="none" strike="noStrike" kern="0" cap="none" spc="0" normalizeH="0" baseline="0" noProof="0" dirty="0">
                <a:ln>
                  <a:noFill/>
                </a:ln>
                <a:solidFill>
                  <a:srgbClr val="0070C0"/>
                </a:solidFill>
                <a:effectLst/>
                <a:uLnTx/>
                <a:uFillTx/>
                <a:latin typeface="Roboto Condensed"/>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0070C0"/>
                </a:solidFill>
                <a:effectLst/>
                <a:uLnTx/>
                <a:uFillTx/>
                <a:latin typeface="Roboto Condensed"/>
              </a:rPr>
              <a:t>4 + 2 + 1 + 3 = 10</a:t>
            </a:r>
            <a:endParaRPr kumimoji="0" lang="en-US" sz="2200" b="0" i="0" u="none" strike="noStrike" kern="0" cap="none" spc="0" normalizeH="0" baseline="0" noProof="0" dirty="0">
              <a:ln>
                <a:noFill/>
              </a:ln>
              <a:solidFill>
                <a:srgbClr val="0070C0"/>
              </a:solidFill>
              <a:effectLst/>
              <a:uLnTx/>
              <a:uFillTx/>
              <a:latin typeface="Roboto Condensed"/>
            </a:endParaRPr>
          </a:p>
        </p:txBody>
      </p:sp>
      <p:sp>
        <p:nvSpPr>
          <p:cNvPr id="72" name="TextBox 71">
            <a:extLst>
              <a:ext uri="{FF2B5EF4-FFF2-40B4-BE49-F238E27FC236}">
                <a16:creationId xmlns:a16="http://schemas.microsoft.com/office/drawing/2014/main" id="{DAB52375-8EBC-C209-D57F-DE43304DF957}"/>
              </a:ext>
            </a:extLst>
          </p:cNvPr>
          <p:cNvSpPr txBox="1"/>
          <p:nvPr/>
        </p:nvSpPr>
        <p:spPr>
          <a:xfrm>
            <a:off x="380165" y="82068"/>
            <a:ext cx="8245888"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Kruskal’s Algorithm for MST – Example 1</a:t>
            </a:r>
          </a:p>
        </p:txBody>
      </p:sp>
    </p:spTree>
    <p:extLst>
      <p:ext uri="{BB962C8B-B14F-4D97-AF65-F5344CB8AC3E}">
        <p14:creationId xmlns:p14="http://schemas.microsoft.com/office/powerpoint/2010/main" val="424155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500"/>
                                        <p:tgtEl>
                                          <p:spTgt spid="6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wipe(left)">
                                      <p:cBhvr>
                                        <p:cTn id="106" dur="500"/>
                                        <p:tgtEl>
                                          <p:spTgt spid="6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left)">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nodeType="click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wipe(down)">
                                      <p:cBhvr>
                                        <p:cTn id="144" dur="500"/>
                                        <p:tgtEl>
                                          <p:spTgt spid="66"/>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5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5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5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nodeType="clickEffect">
                                  <p:stCondLst>
                                    <p:cond delay="0"/>
                                  </p:stCondLst>
                                  <p:childTnLst>
                                    <p:set>
                                      <p:cBhvr>
                                        <p:cTn id="174" dur="1" fill="hold">
                                          <p:stCondLst>
                                            <p:cond delay="0"/>
                                          </p:stCondLst>
                                        </p:cTn>
                                        <p:tgtEl>
                                          <p:spTgt spid="63"/>
                                        </p:tgtEl>
                                        <p:attrNameLst>
                                          <p:attrName>style.visibility</p:attrName>
                                        </p:attrNameLst>
                                      </p:cBhvr>
                                      <p:to>
                                        <p:strVal val="visible"/>
                                      </p:to>
                                    </p:set>
                                    <p:animEffect transition="in" filter="wipe(down)">
                                      <p:cBhvr>
                                        <p:cTn id="175" dur="500"/>
                                        <p:tgtEl>
                                          <p:spTgt spid="63"/>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6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6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wipe(left)">
                                      <p:cBhvr>
                                        <p:cTn id="188" dur="500"/>
                                        <p:tgtEl>
                                          <p:spTgt spid="69"/>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8" grpId="0"/>
      <p:bldP spid="19" grpId="0"/>
      <p:bldP spid="20" grpId="0"/>
      <p:bldP spid="21" grpId="0"/>
      <p:bldP spid="22" grpId="0"/>
      <p:bldP spid="23" grpId="0"/>
      <p:bldP spid="24" grpId="0"/>
      <p:bldP spid="25" grpId="0"/>
      <p:bldP spid="26" grpId="0"/>
      <p:bldP spid="27" grpId="0"/>
      <p:bldP spid="28" grpId="0" animBg="1"/>
      <p:bldP spid="29" grpId="0" animBg="1"/>
      <p:bldP spid="31" grpId="0"/>
      <p:bldP spid="32" grpId="0"/>
      <p:bldP spid="33" grpId="0" animBg="1"/>
      <p:bldP spid="34" grpId="0" animBg="1"/>
      <p:bldP spid="35" grpId="0" animBg="1"/>
      <p:bldP spid="38" grpId="0"/>
      <p:bldP spid="39" grpId="0"/>
      <p:bldP spid="40" grpId="0"/>
      <p:bldP spid="41" grpId="0" animBg="1"/>
      <p:bldP spid="42" grpId="0" animBg="1"/>
      <p:bldP spid="43" grpId="0" animBg="1"/>
      <p:bldP spid="44" grpId="0" animBg="1"/>
      <p:bldP spid="48" grpId="0"/>
      <p:bldP spid="49" grpId="0"/>
      <p:bldP spid="50" grpId="0"/>
      <p:bldP spid="51" grpId="0"/>
      <p:bldP spid="52" grpId="0" animBg="1"/>
      <p:bldP spid="53" grpId="0" animBg="1"/>
      <p:bldP spid="54" grpId="0" animBg="1"/>
      <p:bldP spid="55" grpId="0" animBg="1"/>
      <p:bldP spid="59" grpId="0"/>
      <p:bldP spid="60" grpId="0"/>
      <p:bldP spid="61" grpId="0"/>
      <p:bldP spid="62" grpId="0" animBg="1"/>
      <p:bldP spid="64" grpId="0"/>
      <p:bldP spid="7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23A49BA6-67AA-7A1F-F9F9-956F325B6B13}"/>
              </a:ext>
            </a:extLst>
          </p:cNvPr>
          <p:cNvSpPr/>
          <p:nvPr/>
        </p:nvSpPr>
        <p:spPr>
          <a:xfrm>
            <a:off x="5828607" y="971611"/>
            <a:ext cx="6463844" cy="5547176"/>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F90047C-CD4F-71F7-682C-E21CB8B3365B}"/>
              </a:ext>
            </a:extLst>
          </p:cNvPr>
          <p:cNvSpPr txBox="1"/>
          <p:nvPr/>
        </p:nvSpPr>
        <p:spPr>
          <a:xfrm>
            <a:off x="-1" y="-1039"/>
            <a:ext cx="8804788" cy="754694"/>
          </a:xfrm>
          <a:prstGeom prst="rect">
            <a:avLst/>
          </a:prstGeom>
          <a:noFill/>
        </p:spPr>
        <p:txBody>
          <a:bodyPr wrap="square" lIns="274320" rtlCol="0" anchor="ctr">
            <a:spAutoFit/>
          </a:bodyPr>
          <a:lstStyle/>
          <a:p>
            <a:pPr>
              <a:lnSpc>
                <a:spcPct val="150000"/>
              </a:lnSpc>
            </a:pPr>
            <a:r>
              <a:rPr lang="en-US" sz="3200" b="1" dirty="0">
                <a:solidFill>
                  <a:srgbClr val="FFFFFF"/>
                </a:solidFill>
                <a:latin typeface="Corbel" panose="020B0503020204020204" pitchFamily="34" charset="0"/>
              </a:rPr>
              <a:t>Kruskal’s Algorithm for MST – Example 2</a:t>
            </a:r>
          </a:p>
        </p:txBody>
      </p:sp>
      <p:sp>
        <p:nvSpPr>
          <p:cNvPr id="6" name="Oval 5">
            <a:extLst>
              <a:ext uri="{FF2B5EF4-FFF2-40B4-BE49-F238E27FC236}">
                <a16:creationId xmlns:a16="http://schemas.microsoft.com/office/drawing/2014/main" id="{3F14D6F8-DC1B-6D57-EA41-4B10CF4B06B3}"/>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3D58A33-07A3-25D5-D6B6-08BD07B23707}"/>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2A4FA1AE-20CA-3BE6-318B-0BBD6FA6D82C}"/>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47FB980E-743C-383C-C184-7873E620E5CB}"/>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C28175E8-4F0A-3DDF-59CD-2BA7B3B06C4D}"/>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A76CC541-0050-28D2-8798-B10ECAC06FD5}"/>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798CC8CE-D652-6A50-0844-D5B913171A25}"/>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EF95D683-69CF-2B15-90E4-7BA3FAD9ACAF}"/>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CFED6ED9-B85C-F327-0937-794E68482E4F}"/>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44F1CF62-FA61-8EDC-1F9F-6F3B18D9DC0E}"/>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53CB090A-50D8-1D0E-1946-8914D47A145C}"/>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A03E3809-F4D8-B51C-3E11-33B008FDBFA8}"/>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B4439825-05B4-C062-81ED-43D56064AF43}"/>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F12F2F7C-760B-C2C1-D923-E0FDF0A95744}"/>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1630FEDF-0ADC-83C6-0FFF-263472395324}"/>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F5F2A9A4-F42C-3E33-14FF-F9DD619CAC92}"/>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D848555E-5AD5-2BDA-2097-A48FA8E5810C}"/>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8EF7E69E-4183-28AA-8723-E27AEF38B892}"/>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1BD27708-A624-380A-AF8E-294A561436AA}"/>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670474A-9D7A-D77F-712C-E75AE15E396D}"/>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33EA44F4-0C71-9747-FB4B-02057ADECB73}"/>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EFA2DD01-606F-46EA-F39B-41ACC3C98F40}"/>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5D9BC083-4B83-3D71-C701-0E9237A91800}"/>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5C8E303A-EF9E-D49D-6B11-496BC87750F3}"/>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36A135F1-7922-A172-9375-F637A002CE39}"/>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C08D5725-9D29-A79A-204D-85B12E2BFD33}"/>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A9E85DF4-512D-CBF2-3981-71821810B40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6963BFAA-0B2B-21B1-91F4-44416A95D559}"/>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18796944-3B5D-CBC5-3141-236B0933734C}"/>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DF71484A-C1C8-D270-69B3-97AE3860C38C}"/>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0F05895A-0A22-5BB3-DA01-6D98936AB127}"/>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EA3565A9-4C17-4D1E-48C0-EBA23829B786}"/>
              </a:ext>
            </a:extLst>
          </p:cNvPr>
          <p:cNvSpPr txBox="1"/>
          <p:nvPr/>
        </p:nvSpPr>
        <p:spPr>
          <a:xfrm>
            <a:off x="5561029" y="1110830"/>
            <a:ext cx="859594"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Step:1</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845DF12F-9F78-464E-6651-9020A878E729}"/>
              </a:ext>
            </a:extLst>
          </p:cNvPr>
          <p:cNvSpPr txBox="1"/>
          <p:nvPr/>
        </p:nvSpPr>
        <p:spPr>
          <a:xfrm>
            <a:off x="6512596" y="1080053"/>
            <a:ext cx="5829300" cy="430887"/>
          </a:xfrm>
          <a:prstGeom prst="rect">
            <a:avLst/>
          </a:prstGeom>
          <a:noFill/>
        </p:spPr>
        <p:txBody>
          <a:bodyPr wrap="square" rtlCol="0">
            <a:spAutoFit/>
          </a:bodyPr>
          <a:lstStyle/>
          <a:p>
            <a:pPr algn="ctr"/>
            <a:r>
              <a:rPr lang="en-US" sz="2200" b="1" dirty="0">
                <a:solidFill>
                  <a:srgbClr val="0070C0"/>
                </a:solidFill>
                <a:latin typeface="Roboto Condensed"/>
              </a:rPr>
              <a:t>Sort the edges in increasing order of their weight</a:t>
            </a:r>
            <a:r>
              <a:rPr lang="en-US" sz="2200" b="1" dirty="0">
                <a:solidFill>
                  <a:srgbClr val="F19D19"/>
                </a:solidFill>
                <a:latin typeface="Roboto Condensed"/>
              </a:rPr>
              <a:t>.</a:t>
            </a:r>
          </a:p>
        </p:txBody>
      </p:sp>
      <p:graphicFrame>
        <p:nvGraphicFramePr>
          <p:cNvPr id="39" name="Table 38">
            <a:extLst>
              <a:ext uri="{FF2B5EF4-FFF2-40B4-BE49-F238E27FC236}">
                <a16:creationId xmlns:a16="http://schemas.microsoft.com/office/drawing/2014/main" id="{54CFA9FF-CC22-ADE4-032A-F91AD03F121D}"/>
              </a:ext>
            </a:extLst>
          </p:cNvPr>
          <p:cNvGraphicFramePr>
            <a:graphicFrameLocks noGrp="1"/>
          </p:cNvGraphicFramePr>
          <p:nvPr>
            <p:extLst/>
          </p:nvPr>
        </p:nvGraphicFramePr>
        <p:xfrm>
          <a:off x="7818766" y="1542486"/>
          <a:ext cx="2638567" cy="5149655"/>
        </p:xfrm>
        <a:graphic>
          <a:graphicData uri="http://schemas.openxmlformats.org/drawingml/2006/table">
            <a:tbl>
              <a:tblPr firstRow="1" bandRow="1">
                <a:tableStyleId>{7DF18680-E054-41AD-8BC1-D1AEF772440D}</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5761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574443"/>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744"/>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217928"/>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933460"/>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772278"/>
                  </a:ext>
                </a:extLst>
              </a:tr>
              <a:tr h="415031">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955693"/>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a:t>
                      </a:r>
                      <a:r>
                        <a:rPr lang="en-US" sz="2000" b="1" baseline="0" dirty="0">
                          <a:solidFill>
                            <a:schemeClr val="tx1"/>
                          </a:solidFill>
                        </a:rPr>
                        <a:t> </a:t>
                      </a:r>
                      <a:r>
                        <a:rPr lang="en-US" sz="2000" b="1" dirty="0">
                          <a:solidFill>
                            <a:schemeClr val="tx1"/>
                          </a:solidFill>
                        </a:rPr>
                        <a:t>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8600405"/>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576407"/>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5</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516510"/>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4}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537154"/>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6}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540063"/>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7}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7</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767037"/>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6}</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8</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1878199"/>
                  </a:ext>
                </a:extLst>
              </a:tr>
            </a:tbl>
          </a:graphicData>
        </a:graphic>
      </p:graphicFrame>
    </p:spTree>
    <p:extLst>
      <p:ext uri="{BB962C8B-B14F-4D97-AF65-F5344CB8AC3E}">
        <p14:creationId xmlns:p14="http://schemas.microsoft.com/office/powerpoint/2010/main" val="37135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wipe(up)">
                                      <p:cBhvr>
                                        <p:cTn id="117"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5D48217B-0280-2200-561A-AB64307A5FED}"/>
              </a:ext>
            </a:extLst>
          </p:cNvPr>
          <p:cNvSpPr/>
          <p:nvPr/>
        </p:nvSpPr>
        <p:spPr>
          <a:xfrm>
            <a:off x="6096000" y="0"/>
            <a:ext cx="6096000" cy="658800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D5FEF36-3A10-EEC5-94D8-3409D891D641}"/>
              </a:ext>
            </a:extLst>
          </p:cNvPr>
          <p:cNvSpPr txBox="1"/>
          <p:nvPr/>
        </p:nvSpPr>
        <p:spPr>
          <a:xfrm>
            <a:off x="-1" y="81771"/>
            <a:ext cx="6217920" cy="589072"/>
          </a:xfrm>
          <a:prstGeom prst="rect">
            <a:avLst/>
          </a:prstGeom>
          <a:noFill/>
        </p:spPr>
        <p:txBody>
          <a:bodyPr wrap="square" lIns="274320" rtlCol="0" anchor="ctr">
            <a:spAutoFit/>
          </a:bodyPr>
          <a:lstStyle/>
          <a:p>
            <a:pPr>
              <a:lnSpc>
                <a:spcPct val="150000"/>
              </a:lnSpc>
            </a:pPr>
            <a:r>
              <a:rPr lang="en-US" sz="2400" b="1" dirty="0">
                <a:solidFill>
                  <a:srgbClr val="FFFFFF"/>
                </a:solidFill>
                <a:latin typeface="Corbel" panose="020B0503020204020204" pitchFamily="34" charset="0"/>
              </a:rPr>
              <a:t>Kruskal’s Algorithm for MST – Example 2</a:t>
            </a:r>
          </a:p>
        </p:txBody>
      </p:sp>
      <p:sp>
        <p:nvSpPr>
          <p:cNvPr id="6" name="Oval 5">
            <a:extLst>
              <a:ext uri="{FF2B5EF4-FFF2-40B4-BE49-F238E27FC236}">
                <a16:creationId xmlns:a16="http://schemas.microsoft.com/office/drawing/2014/main" id="{D8980AD7-4945-AA23-AA7B-1C7BA5E8CF9A}"/>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ED95DDFB-3F53-17FF-7BB5-F0080EE1C976}"/>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17F4081E-4582-A559-75F5-7A588683A682}"/>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800F46ED-EBF4-C93D-3FB3-57E64C311942}"/>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5610CBA7-7D78-1D7B-558E-5CE8D10BC885}"/>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76C0C38C-16F8-018C-956C-A9C16F891EEB}"/>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27332E5-FD5A-FFF4-6D90-94DD3EF69DAB}"/>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C8EBA8F6-8BD0-4155-1B03-AC9A461B0408}"/>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4A945933-6CFE-BB9E-9F5A-33015C1FC432}"/>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88950E2E-AC25-6997-B111-482A68833FA0}"/>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8B18E38E-CEE7-8823-0490-0770713B5BEF}"/>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849D00EC-A867-AED0-4B0B-53CE31E4DAB7}"/>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C4601066-05A4-E0A3-A9D2-1923964F2329}"/>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0D11208D-5BF1-DF2A-E3D0-ED39E277195E}"/>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33DB16BF-8900-2459-851C-CE3F6BC2FD96}"/>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576867B2-04C6-BDED-B181-77A38C8D48D6}"/>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BBE58EC9-3652-391F-476B-F1C2D08A451B}"/>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9206EB27-87DB-656E-0F20-04445FD4BD80}"/>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59395A77-7BF0-1B65-6EC6-CCCB344AE14D}"/>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B9E49D4-0630-3BF1-8A32-9F1EB6D1AE9D}"/>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109B4AA1-875A-0527-AEF1-C1106B63F067}"/>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37FC8EDF-1B37-46AF-7074-EB8DD4C6276C}"/>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89CDBA58-B2DB-7982-2172-D79ED54476CB}"/>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AA77E78E-8DE5-6929-0E2C-7F930E6955DF}"/>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741145A1-C182-51EE-7CD6-079D40560BDB}"/>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B8254F70-4899-0BD9-E09C-E8AED01CF84B}"/>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E2D0B22F-3CDC-2E5C-22D7-E75DBAA5DD8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CD0A23E2-0353-CACF-1F22-28346F97E4D9}"/>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37078B9C-3197-42D2-FA60-D2ABABF0FED8}"/>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049C6CF0-4B20-46C0-79C0-895AE285CAE3}"/>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BBBC7766-B13B-3E68-BC86-E01C412D2707}"/>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3558890A-D5CC-C90B-47FE-916ECD5DEFA2}"/>
              </a:ext>
            </a:extLst>
          </p:cNvPr>
          <p:cNvSpPr txBox="1"/>
          <p:nvPr/>
        </p:nvSpPr>
        <p:spPr>
          <a:xfrm>
            <a:off x="6107974" y="0"/>
            <a:ext cx="1002510" cy="400110"/>
          </a:xfrm>
          <a:prstGeom prst="rect">
            <a:avLst/>
          </a:prstGeom>
          <a:noFill/>
          <a:ln w="28575">
            <a:solidFill>
              <a:srgbClr val="F19D19"/>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Step:2</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86118D00-23D2-4E9B-0791-37B152D002B5}"/>
              </a:ext>
            </a:extLst>
          </p:cNvPr>
          <p:cNvSpPr txBox="1"/>
          <p:nvPr/>
        </p:nvSpPr>
        <p:spPr>
          <a:xfrm>
            <a:off x="6675564" y="9130"/>
            <a:ext cx="6084389" cy="769441"/>
          </a:xfrm>
          <a:prstGeom prst="rect">
            <a:avLst/>
          </a:prstGeom>
          <a:noFill/>
        </p:spPr>
        <p:txBody>
          <a:bodyPr wrap="square" rtlCol="0">
            <a:spAutoFit/>
          </a:bodyPr>
          <a:lstStyle/>
          <a:p>
            <a:pPr algn="ctr"/>
            <a:r>
              <a:rPr lang="en-US" sz="2200" b="1" dirty="0">
                <a:solidFill>
                  <a:srgbClr val="F19D19"/>
                </a:solidFill>
                <a:latin typeface="Roboto Condensed"/>
              </a:rPr>
              <a:t>Select the minimum weight edge but </a:t>
            </a:r>
            <a:endParaRPr lang="en-US" sz="2200" b="1" dirty="0" smtClean="0">
              <a:solidFill>
                <a:srgbClr val="F19D19"/>
              </a:solidFill>
              <a:latin typeface="Roboto Condensed"/>
            </a:endParaRPr>
          </a:p>
          <a:p>
            <a:pPr algn="ctr"/>
            <a:r>
              <a:rPr lang="en-US" sz="2200" b="1" dirty="0" smtClean="0">
                <a:solidFill>
                  <a:srgbClr val="F19D19"/>
                </a:solidFill>
                <a:latin typeface="Roboto Condensed"/>
              </a:rPr>
              <a:t>no </a:t>
            </a:r>
            <a:r>
              <a:rPr lang="en-US" sz="2200" b="1" dirty="0">
                <a:solidFill>
                  <a:srgbClr val="F19D19"/>
                </a:solidFill>
                <a:latin typeface="Roboto Condensed"/>
              </a:rPr>
              <a:t>cycle.</a:t>
            </a:r>
          </a:p>
        </p:txBody>
      </p:sp>
      <p:graphicFrame>
        <p:nvGraphicFramePr>
          <p:cNvPr id="39" name="Table 38">
            <a:extLst>
              <a:ext uri="{FF2B5EF4-FFF2-40B4-BE49-F238E27FC236}">
                <a16:creationId xmlns:a16="http://schemas.microsoft.com/office/drawing/2014/main" id="{9009B7BA-9582-C9A5-A220-C0038B97BF8C}"/>
              </a:ext>
            </a:extLst>
          </p:cNvPr>
          <p:cNvGraphicFramePr>
            <a:graphicFrameLocks noGrp="1"/>
          </p:cNvGraphicFramePr>
          <p:nvPr>
            <p:extLst/>
          </p:nvPr>
        </p:nvGraphicFramePr>
        <p:xfrm>
          <a:off x="7747363" y="1199760"/>
          <a:ext cx="2638567" cy="5429312"/>
        </p:xfrm>
        <a:graphic>
          <a:graphicData uri="http://schemas.openxmlformats.org/drawingml/2006/table">
            <a:tbl>
              <a:tblPr firstRow="1" bandRow="1">
                <a:tableStyleId>{7DF18680-E054-41AD-8BC1-D1AEF772440D}</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a:t>
                      </a:r>
                      <a:r>
                        <a:rPr lang="en-US" sz="2000" b="1" baseline="0" dirty="0">
                          <a:solidFill>
                            <a:schemeClr val="tx1"/>
                          </a:solidFill>
                        </a:rPr>
                        <a:t> </a:t>
                      </a:r>
                      <a:r>
                        <a:rPr lang="en-US" sz="2000" b="1" dirty="0">
                          <a:solidFill>
                            <a:schemeClr val="tx1"/>
                          </a:solidFill>
                        </a:rPr>
                        <a:t>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1238600405"/>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66457640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5</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3377516510"/>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4}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643537154"/>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6}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77554006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7}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7</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397276703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6}</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8</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471878199"/>
                  </a:ext>
                </a:extLst>
              </a:tr>
            </a:tbl>
          </a:graphicData>
        </a:graphic>
      </p:graphicFrame>
      <p:sp>
        <p:nvSpPr>
          <p:cNvPr id="40" name="Rounded Rectangle 39">
            <a:extLst>
              <a:ext uri="{FF2B5EF4-FFF2-40B4-BE49-F238E27FC236}">
                <a16:creationId xmlns:a16="http://schemas.microsoft.com/office/drawing/2014/main" id="{3BA7E620-EC39-8B93-514E-5130B041F3A4}"/>
              </a:ext>
            </a:extLst>
          </p:cNvPr>
          <p:cNvSpPr/>
          <p:nvPr/>
        </p:nvSpPr>
        <p:spPr>
          <a:xfrm>
            <a:off x="9818917" y="15868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1" name="Rounded Rectangle 40">
            <a:extLst>
              <a:ext uri="{FF2B5EF4-FFF2-40B4-BE49-F238E27FC236}">
                <a16:creationId xmlns:a16="http://schemas.microsoft.com/office/drawing/2014/main" id="{C0BA6BBE-5187-445F-A487-BC8124D07472}"/>
              </a:ext>
            </a:extLst>
          </p:cNvPr>
          <p:cNvSpPr/>
          <p:nvPr/>
        </p:nvSpPr>
        <p:spPr>
          <a:xfrm>
            <a:off x="9818917" y="2006913"/>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2" name="Rounded Rectangle 41">
            <a:extLst>
              <a:ext uri="{FF2B5EF4-FFF2-40B4-BE49-F238E27FC236}">
                <a16:creationId xmlns:a16="http://schemas.microsoft.com/office/drawing/2014/main" id="{4C947963-F859-AD8A-AD3C-978C22B9FF6F}"/>
              </a:ext>
            </a:extLst>
          </p:cNvPr>
          <p:cNvSpPr/>
          <p:nvPr/>
        </p:nvSpPr>
        <p:spPr>
          <a:xfrm>
            <a:off x="9818917" y="24250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3" name="Rounded Rectangle 42">
            <a:extLst>
              <a:ext uri="{FF2B5EF4-FFF2-40B4-BE49-F238E27FC236}">
                <a16:creationId xmlns:a16="http://schemas.microsoft.com/office/drawing/2014/main" id="{FD1B51B7-4212-14F3-28A8-D33BC8DCB7D7}"/>
              </a:ext>
            </a:extLst>
          </p:cNvPr>
          <p:cNvSpPr/>
          <p:nvPr/>
        </p:nvSpPr>
        <p:spPr>
          <a:xfrm>
            <a:off x="9818917" y="28060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4" name="Rounded Rectangle 43">
            <a:extLst>
              <a:ext uri="{FF2B5EF4-FFF2-40B4-BE49-F238E27FC236}">
                <a16:creationId xmlns:a16="http://schemas.microsoft.com/office/drawing/2014/main" id="{9221BEBE-EB0D-E47C-2ED3-F7498B83B475}"/>
              </a:ext>
            </a:extLst>
          </p:cNvPr>
          <p:cNvSpPr/>
          <p:nvPr/>
        </p:nvSpPr>
        <p:spPr>
          <a:xfrm>
            <a:off x="9818917" y="3270139"/>
            <a:ext cx="457200" cy="450273"/>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5" name="Rounded Rectangle 44">
            <a:extLst>
              <a:ext uri="{FF2B5EF4-FFF2-40B4-BE49-F238E27FC236}">
                <a16:creationId xmlns:a16="http://schemas.microsoft.com/office/drawing/2014/main" id="{D79DC0DD-60F6-E396-9B7A-D859E278CE69}"/>
              </a:ext>
            </a:extLst>
          </p:cNvPr>
          <p:cNvSpPr/>
          <p:nvPr/>
        </p:nvSpPr>
        <p:spPr>
          <a:xfrm>
            <a:off x="9818917" y="3914416"/>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cxnSp>
        <p:nvCxnSpPr>
          <p:cNvPr id="46" name="Straight Connector 45">
            <a:extLst>
              <a:ext uri="{FF2B5EF4-FFF2-40B4-BE49-F238E27FC236}">
                <a16:creationId xmlns:a16="http://schemas.microsoft.com/office/drawing/2014/main" id="{43418527-6C80-F4C9-D012-D058DF1A8C45}"/>
              </a:ext>
            </a:extLst>
          </p:cNvPr>
          <p:cNvCxnSpPr/>
          <p:nvPr/>
        </p:nvCxnSpPr>
        <p:spPr>
          <a:xfrm>
            <a:off x="7747363" y="3751455"/>
            <a:ext cx="2638567" cy="0"/>
          </a:xfrm>
          <a:prstGeom prst="line">
            <a:avLst/>
          </a:prstGeom>
          <a:noFill/>
          <a:ln w="28575" cap="flat" cmpd="sng" algn="ctr">
            <a:solidFill>
              <a:srgbClr val="F19D19"/>
            </a:solidFill>
            <a:prstDash val="solid"/>
            <a:miter lim="800000"/>
          </a:ln>
          <a:effectLst/>
        </p:spPr>
      </p:cxnSp>
      <p:sp>
        <p:nvSpPr>
          <p:cNvPr id="47" name="Rounded Rectangle 46">
            <a:extLst>
              <a:ext uri="{FF2B5EF4-FFF2-40B4-BE49-F238E27FC236}">
                <a16:creationId xmlns:a16="http://schemas.microsoft.com/office/drawing/2014/main" id="{7CB8AD3B-7839-1A67-D146-1E88BA61A439}"/>
              </a:ext>
            </a:extLst>
          </p:cNvPr>
          <p:cNvSpPr/>
          <p:nvPr/>
        </p:nvSpPr>
        <p:spPr>
          <a:xfrm>
            <a:off x="7812759" y="3746537"/>
            <a:ext cx="1905000" cy="304800"/>
          </a:xfrm>
          <a:prstGeom prst="roundRect">
            <a:avLst/>
          </a:prstGeom>
          <a:noFill/>
          <a:ln w="28575" cap="flat" cmpd="sng" algn="ctr">
            <a:solidFill>
              <a:srgbClr val="00BBD3">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grpSp>
        <p:nvGrpSpPr>
          <p:cNvPr id="48" name="Group 47">
            <a:extLst>
              <a:ext uri="{FF2B5EF4-FFF2-40B4-BE49-F238E27FC236}">
                <a16:creationId xmlns:a16="http://schemas.microsoft.com/office/drawing/2014/main" id="{83FE2A05-467B-C86B-5F94-85E677FEEDFE}"/>
              </a:ext>
            </a:extLst>
          </p:cNvPr>
          <p:cNvGrpSpPr/>
          <p:nvPr/>
        </p:nvGrpSpPr>
        <p:grpSpPr>
          <a:xfrm>
            <a:off x="2815046" y="2447109"/>
            <a:ext cx="381000" cy="609600"/>
            <a:chOff x="5257800" y="4876800"/>
            <a:chExt cx="381000" cy="609600"/>
          </a:xfrm>
        </p:grpSpPr>
        <p:cxnSp>
          <p:nvCxnSpPr>
            <p:cNvPr id="49" name="Straight Connector 48">
              <a:extLst>
                <a:ext uri="{FF2B5EF4-FFF2-40B4-BE49-F238E27FC236}">
                  <a16:creationId xmlns:a16="http://schemas.microsoft.com/office/drawing/2014/main" id="{156BF825-F861-56C4-E8CC-6E2D82E0C392}"/>
                </a:ext>
              </a:extLst>
            </p:cNvPr>
            <p:cNvCxnSpPr/>
            <p:nvPr/>
          </p:nvCxnSpPr>
          <p:spPr>
            <a:xfrm flipH="1">
              <a:off x="5334000" y="4876800"/>
              <a:ext cx="228600" cy="609600"/>
            </a:xfrm>
            <a:prstGeom prst="line">
              <a:avLst/>
            </a:prstGeom>
            <a:noFill/>
            <a:ln w="28575" cap="flat" cmpd="sng" algn="ctr">
              <a:solidFill>
                <a:srgbClr val="212121"/>
              </a:solidFill>
              <a:prstDash val="solid"/>
              <a:miter lim="800000"/>
            </a:ln>
            <a:effectLst/>
          </p:spPr>
        </p:cxnSp>
        <p:cxnSp>
          <p:nvCxnSpPr>
            <p:cNvPr id="50" name="Straight Connector 49">
              <a:extLst>
                <a:ext uri="{FF2B5EF4-FFF2-40B4-BE49-F238E27FC236}">
                  <a16:creationId xmlns:a16="http://schemas.microsoft.com/office/drawing/2014/main" id="{92831371-BF21-6C3B-52E8-BA424D8C1EB9}"/>
                </a:ext>
              </a:extLst>
            </p:cNvPr>
            <p:cNvCxnSpPr/>
            <p:nvPr/>
          </p:nvCxnSpPr>
          <p:spPr>
            <a:xfrm>
              <a:off x="5257800" y="4953000"/>
              <a:ext cx="381000" cy="457200"/>
            </a:xfrm>
            <a:prstGeom prst="line">
              <a:avLst/>
            </a:prstGeom>
            <a:noFill/>
            <a:ln w="28575" cap="flat" cmpd="sng" algn="ctr">
              <a:solidFill>
                <a:srgbClr val="212121"/>
              </a:solidFill>
              <a:prstDash val="solid"/>
              <a:miter lim="800000"/>
            </a:ln>
            <a:effectLst/>
          </p:spPr>
        </p:cxnSp>
      </p:grpSp>
    </p:spTree>
    <p:extLst>
      <p:ext uri="{BB962C8B-B14F-4D97-AF65-F5344CB8AC3E}">
        <p14:creationId xmlns:p14="http://schemas.microsoft.com/office/powerpoint/2010/main" val="420361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1000" fill="hold"/>
                                        <p:tgtEl>
                                          <p:spTgt spid="6"/>
                                        </p:tgtEl>
                                        <p:attrNameLst>
                                          <p:attrName>fillcolor</p:attrName>
                                        </p:attrNameLst>
                                      </p:cBhvr>
                                      <p:to>
                                        <a:srgbClr val="8BC145"/>
                                      </p:to>
                                    </p:animClr>
                                    <p:set>
                                      <p:cBhvr>
                                        <p:cTn id="20" dur="1000" fill="hold"/>
                                        <p:tgtEl>
                                          <p:spTgt spid="6"/>
                                        </p:tgtEl>
                                        <p:attrNameLst>
                                          <p:attrName>fill.type</p:attrName>
                                        </p:attrNameLst>
                                      </p:cBhvr>
                                      <p:to>
                                        <p:strVal val="solid"/>
                                      </p:to>
                                    </p:set>
                                    <p:set>
                                      <p:cBhvr>
                                        <p:cTn id="21" dur="1000" fill="hold"/>
                                        <p:tgtEl>
                                          <p:spTgt spid="6"/>
                                        </p:tgtEl>
                                        <p:attrNameLst>
                                          <p:attrName>fill.on</p:attrName>
                                        </p:attrNameLst>
                                      </p:cBhvr>
                                      <p:to>
                                        <p:strVal val="true"/>
                                      </p:to>
                                    </p:set>
                                  </p:childTnLst>
                                </p:cTn>
                              </p:par>
                              <p:par>
                                <p:cTn id="22" presetID="1" presetClass="emph" presetSubtype="2" fill="hold" nodeType="withEffect">
                                  <p:stCondLst>
                                    <p:cond delay="0"/>
                                  </p:stCondLst>
                                  <p:childTnLst>
                                    <p:animClr clrSpc="rgb" dir="cw">
                                      <p:cBhvr>
                                        <p:cTn id="23" dur="1000" fill="hold"/>
                                        <p:tgtEl>
                                          <p:spTgt spid="7"/>
                                        </p:tgtEl>
                                        <p:attrNameLst>
                                          <p:attrName>fillcolor</p:attrName>
                                        </p:attrNameLst>
                                      </p:cBhvr>
                                      <p:to>
                                        <a:srgbClr val="8BC145"/>
                                      </p:to>
                                    </p:animClr>
                                    <p:set>
                                      <p:cBhvr>
                                        <p:cTn id="24" dur="1000" fill="hold"/>
                                        <p:tgtEl>
                                          <p:spTgt spid="7"/>
                                        </p:tgtEl>
                                        <p:attrNameLst>
                                          <p:attrName>fill.type</p:attrName>
                                        </p:attrNameLst>
                                      </p:cBhvr>
                                      <p:to>
                                        <p:strVal val="solid"/>
                                      </p:to>
                                    </p:set>
                                    <p:set>
                                      <p:cBhvr>
                                        <p:cTn id="25" dur="1000" fill="hold"/>
                                        <p:tgtEl>
                                          <p:spTgt spid="7"/>
                                        </p:tgtEl>
                                        <p:attrNameLst>
                                          <p:attrName>fill.on</p:attrName>
                                        </p:attrNameLst>
                                      </p:cBhvr>
                                      <p:to>
                                        <p:strVal val="true"/>
                                      </p:to>
                                    </p:set>
                                  </p:childTnLst>
                                </p:cTn>
                              </p:par>
                              <p:par>
                                <p:cTn id="26" presetID="7" presetClass="emph" presetSubtype="2" fill="hold" nodeType="withEffect">
                                  <p:stCondLst>
                                    <p:cond delay="0"/>
                                  </p:stCondLst>
                                  <p:childTnLst>
                                    <p:animClr clrSpc="rgb" dir="cw">
                                      <p:cBhvr>
                                        <p:cTn id="27" dur="1000" fill="hold"/>
                                        <p:tgtEl>
                                          <p:spTgt spid="13"/>
                                        </p:tgtEl>
                                        <p:attrNameLst>
                                          <p:attrName>stroke.color</p:attrName>
                                        </p:attrNameLst>
                                      </p:cBhvr>
                                      <p:to>
                                        <a:srgbClr val="B84742"/>
                                      </p:to>
                                    </p:animClr>
                                    <p:set>
                                      <p:cBhvr>
                                        <p:cTn id="28" dur="1000" fill="hold"/>
                                        <p:tgtEl>
                                          <p:spTgt spid="13"/>
                                        </p:tgtEl>
                                        <p:attrNameLst>
                                          <p:attrName>stroke.on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1000" fill="hold"/>
                                        <p:tgtEl>
                                          <p:spTgt spid="8"/>
                                        </p:tgtEl>
                                        <p:attrNameLst>
                                          <p:attrName>fillcolor</p:attrName>
                                        </p:attrNameLst>
                                      </p:cBhvr>
                                      <p:to>
                                        <a:srgbClr val="8BC145"/>
                                      </p:to>
                                    </p:animClr>
                                    <p:set>
                                      <p:cBhvr>
                                        <p:cTn id="38" dur="1000" fill="hold"/>
                                        <p:tgtEl>
                                          <p:spTgt spid="8"/>
                                        </p:tgtEl>
                                        <p:attrNameLst>
                                          <p:attrName>fill.type</p:attrName>
                                        </p:attrNameLst>
                                      </p:cBhvr>
                                      <p:to>
                                        <p:strVal val="solid"/>
                                      </p:to>
                                    </p:set>
                                    <p:set>
                                      <p:cBhvr>
                                        <p:cTn id="39" dur="1000" fill="hold"/>
                                        <p:tgtEl>
                                          <p:spTgt spid="8"/>
                                        </p:tgtEl>
                                        <p:attrNameLst>
                                          <p:attrName>fill.on</p:attrName>
                                        </p:attrNameLst>
                                      </p:cBhvr>
                                      <p:to>
                                        <p:strVal val="true"/>
                                      </p:to>
                                    </p:set>
                                  </p:childTnLst>
                                </p:cTn>
                              </p:par>
                              <p:par>
                                <p:cTn id="40" presetID="7" presetClass="emph" presetSubtype="2" fill="hold" nodeType="withEffect">
                                  <p:stCondLst>
                                    <p:cond delay="0"/>
                                  </p:stCondLst>
                                  <p:childTnLst>
                                    <p:animClr clrSpc="rgb" dir="cw">
                                      <p:cBhvr>
                                        <p:cTn id="41" dur="1000" fill="hold"/>
                                        <p:tgtEl>
                                          <p:spTgt spid="14"/>
                                        </p:tgtEl>
                                        <p:attrNameLst>
                                          <p:attrName>stroke.color</p:attrName>
                                        </p:attrNameLst>
                                      </p:cBhvr>
                                      <p:to>
                                        <a:srgbClr val="B84742"/>
                                      </p:to>
                                    </p:animClr>
                                    <p:set>
                                      <p:cBhvr>
                                        <p:cTn id="42" dur="1000" fill="hold"/>
                                        <p:tgtEl>
                                          <p:spTgt spid="14"/>
                                        </p:tgtEl>
                                        <p:attrNameLst>
                                          <p:attrName>stroke.on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00" fill="hold"/>
                                        <p:tgtEl>
                                          <p:spTgt spid="9"/>
                                        </p:tgtEl>
                                        <p:attrNameLst>
                                          <p:attrName>fillcolor</p:attrName>
                                        </p:attrNameLst>
                                      </p:cBhvr>
                                      <p:to>
                                        <a:srgbClr val="8BC145"/>
                                      </p:to>
                                    </p:animClr>
                                    <p:set>
                                      <p:cBhvr>
                                        <p:cTn id="52" dur="1000" fill="hold"/>
                                        <p:tgtEl>
                                          <p:spTgt spid="9"/>
                                        </p:tgtEl>
                                        <p:attrNameLst>
                                          <p:attrName>fill.type</p:attrName>
                                        </p:attrNameLst>
                                      </p:cBhvr>
                                      <p:to>
                                        <p:strVal val="solid"/>
                                      </p:to>
                                    </p:set>
                                    <p:set>
                                      <p:cBhvr>
                                        <p:cTn id="53" dur="1000" fill="hold"/>
                                        <p:tgtEl>
                                          <p:spTgt spid="9"/>
                                        </p:tgtEl>
                                        <p:attrNameLst>
                                          <p:attrName>fill.on</p:attrName>
                                        </p:attrNameLst>
                                      </p:cBhvr>
                                      <p:to>
                                        <p:strVal val="true"/>
                                      </p:to>
                                    </p:set>
                                  </p:childTnLst>
                                </p:cTn>
                              </p:par>
                              <p:par>
                                <p:cTn id="54" presetID="1" presetClass="emph" presetSubtype="2" fill="hold" nodeType="withEffect">
                                  <p:stCondLst>
                                    <p:cond delay="0"/>
                                  </p:stCondLst>
                                  <p:childTnLst>
                                    <p:animClr clrSpc="rgb" dir="cw">
                                      <p:cBhvr>
                                        <p:cTn id="55" dur="1000" fill="hold"/>
                                        <p:tgtEl>
                                          <p:spTgt spid="10"/>
                                        </p:tgtEl>
                                        <p:attrNameLst>
                                          <p:attrName>fillcolor</p:attrName>
                                        </p:attrNameLst>
                                      </p:cBhvr>
                                      <p:to>
                                        <a:srgbClr val="8BC145"/>
                                      </p:to>
                                    </p:animClr>
                                    <p:set>
                                      <p:cBhvr>
                                        <p:cTn id="56" dur="1000" fill="hold"/>
                                        <p:tgtEl>
                                          <p:spTgt spid="10"/>
                                        </p:tgtEl>
                                        <p:attrNameLst>
                                          <p:attrName>fill.type</p:attrName>
                                        </p:attrNameLst>
                                      </p:cBhvr>
                                      <p:to>
                                        <p:strVal val="solid"/>
                                      </p:to>
                                    </p:set>
                                    <p:set>
                                      <p:cBhvr>
                                        <p:cTn id="57" dur="1000" fill="hold"/>
                                        <p:tgtEl>
                                          <p:spTgt spid="10"/>
                                        </p:tgtEl>
                                        <p:attrNameLst>
                                          <p:attrName>fill.on</p:attrName>
                                        </p:attrNameLst>
                                      </p:cBhvr>
                                      <p:to>
                                        <p:strVal val="true"/>
                                      </p:to>
                                    </p:set>
                                  </p:childTnLst>
                                </p:cTn>
                              </p:par>
                              <p:par>
                                <p:cTn id="58" presetID="7" presetClass="emph" presetSubtype="2" fill="hold" nodeType="withEffect">
                                  <p:stCondLst>
                                    <p:cond delay="0"/>
                                  </p:stCondLst>
                                  <p:childTnLst>
                                    <p:animClr clrSpc="rgb" dir="cw">
                                      <p:cBhvr>
                                        <p:cTn id="59" dur="1000" fill="hold"/>
                                        <p:tgtEl>
                                          <p:spTgt spid="15"/>
                                        </p:tgtEl>
                                        <p:attrNameLst>
                                          <p:attrName>stroke.color</p:attrName>
                                        </p:attrNameLst>
                                      </p:cBhvr>
                                      <p:to>
                                        <a:srgbClr val="B84742"/>
                                      </p:to>
                                    </p:animClr>
                                    <p:set>
                                      <p:cBhvr>
                                        <p:cTn id="60" dur="1000" fill="hold"/>
                                        <p:tgtEl>
                                          <p:spTgt spid="15"/>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mph" presetSubtype="2" fill="hold" nodeType="clickEffect">
                                  <p:stCondLst>
                                    <p:cond delay="0"/>
                                  </p:stCondLst>
                                  <p:childTnLst>
                                    <p:animClr clrSpc="rgb" dir="cw">
                                      <p:cBhvr>
                                        <p:cTn id="69" dur="1000" fill="hold"/>
                                        <p:tgtEl>
                                          <p:spTgt spid="11"/>
                                        </p:tgtEl>
                                        <p:attrNameLst>
                                          <p:attrName>fillcolor</p:attrName>
                                        </p:attrNameLst>
                                      </p:cBhvr>
                                      <p:to>
                                        <a:srgbClr val="8BC145"/>
                                      </p:to>
                                    </p:animClr>
                                    <p:set>
                                      <p:cBhvr>
                                        <p:cTn id="70" dur="1000" fill="hold"/>
                                        <p:tgtEl>
                                          <p:spTgt spid="11"/>
                                        </p:tgtEl>
                                        <p:attrNameLst>
                                          <p:attrName>fill.type</p:attrName>
                                        </p:attrNameLst>
                                      </p:cBhvr>
                                      <p:to>
                                        <p:strVal val="solid"/>
                                      </p:to>
                                    </p:set>
                                    <p:set>
                                      <p:cBhvr>
                                        <p:cTn id="71" dur="1000" fill="hold"/>
                                        <p:tgtEl>
                                          <p:spTgt spid="11"/>
                                        </p:tgtEl>
                                        <p:attrNameLst>
                                          <p:attrName>fill.on</p:attrName>
                                        </p:attrNameLst>
                                      </p:cBhvr>
                                      <p:to>
                                        <p:strVal val="true"/>
                                      </p:to>
                                    </p:set>
                                  </p:childTnLst>
                                </p:cTn>
                              </p:par>
                              <p:par>
                                <p:cTn id="72" presetID="1" presetClass="emph" presetSubtype="2" fill="hold" nodeType="withEffect">
                                  <p:stCondLst>
                                    <p:cond delay="0"/>
                                  </p:stCondLst>
                                  <p:childTnLst>
                                    <p:animClr clrSpc="rgb" dir="cw">
                                      <p:cBhvr>
                                        <p:cTn id="73" dur="1000" fill="hold"/>
                                        <p:tgtEl>
                                          <p:spTgt spid="12"/>
                                        </p:tgtEl>
                                        <p:attrNameLst>
                                          <p:attrName>fillcolor</p:attrName>
                                        </p:attrNameLst>
                                      </p:cBhvr>
                                      <p:to>
                                        <a:srgbClr val="8BC145"/>
                                      </p:to>
                                    </p:animClr>
                                    <p:set>
                                      <p:cBhvr>
                                        <p:cTn id="74" dur="1000" fill="hold"/>
                                        <p:tgtEl>
                                          <p:spTgt spid="12"/>
                                        </p:tgtEl>
                                        <p:attrNameLst>
                                          <p:attrName>fill.type</p:attrName>
                                        </p:attrNameLst>
                                      </p:cBhvr>
                                      <p:to>
                                        <p:strVal val="solid"/>
                                      </p:to>
                                    </p:set>
                                    <p:set>
                                      <p:cBhvr>
                                        <p:cTn id="75" dur="1000" fill="hold"/>
                                        <p:tgtEl>
                                          <p:spTgt spid="12"/>
                                        </p:tgtEl>
                                        <p:attrNameLst>
                                          <p:attrName>fill.on</p:attrName>
                                        </p:attrNameLst>
                                      </p:cBhvr>
                                      <p:to>
                                        <p:strVal val="true"/>
                                      </p:to>
                                    </p:set>
                                  </p:childTnLst>
                                </p:cTn>
                              </p:par>
                              <p:par>
                                <p:cTn id="76" presetID="7" presetClass="emph" presetSubtype="2" fill="hold" nodeType="withEffect">
                                  <p:stCondLst>
                                    <p:cond delay="0"/>
                                  </p:stCondLst>
                                  <p:childTnLst>
                                    <p:animClr clrSpc="rgb" dir="cw">
                                      <p:cBhvr>
                                        <p:cTn id="77" dur="1000" fill="hold"/>
                                        <p:tgtEl>
                                          <p:spTgt spid="22"/>
                                        </p:tgtEl>
                                        <p:attrNameLst>
                                          <p:attrName>stroke.color</p:attrName>
                                        </p:attrNameLst>
                                      </p:cBhvr>
                                      <p:to>
                                        <a:srgbClr val="B84742"/>
                                      </p:to>
                                    </p:animClr>
                                    <p:set>
                                      <p:cBhvr>
                                        <p:cTn id="78" dur="1000" fill="hold"/>
                                        <p:tgtEl>
                                          <p:spTgt spid="22"/>
                                        </p:tgtEl>
                                        <p:attrNameLst>
                                          <p:attrName>stroke.on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7" presetClass="emph" presetSubtype="2" fill="hold" nodeType="clickEffect">
                                  <p:stCondLst>
                                    <p:cond delay="0"/>
                                  </p:stCondLst>
                                  <p:childTnLst>
                                    <p:animClr clrSpc="rgb" dir="cw">
                                      <p:cBhvr>
                                        <p:cTn id="87" dur="1000" fill="hold"/>
                                        <p:tgtEl>
                                          <p:spTgt spid="17"/>
                                        </p:tgtEl>
                                        <p:attrNameLst>
                                          <p:attrName>stroke.color</p:attrName>
                                        </p:attrNameLst>
                                      </p:cBhvr>
                                      <p:to>
                                        <a:srgbClr val="B84742"/>
                                      </p:to>
                                    </p:animClr>
                                    <p:set>
                                      <p:cBhvr>
                                        <p:cTn id="88" dur="1000" fill="hold"/>
                                        <p:tgtEl>
                                          <p:spTgt spid="17"/>
                                        </p:tgtEl>
                                        <p:attrNameLst>
                                          <p:attrName>stroke.on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heel(1)">
                                      <p:cBhvr>
                                        <p:cTn id="93" dur="2000"/>
                                        <p:tgtEl>
                                          <p:spTgt spid="4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wipe(left)">
                                      <p:cBhvr>
                                        <p:cTn id="98" dur="500"/>
                                        <p:tgtEl>
                                          <p:spTgt spid="46"/>
                                        </p:tgtEl>
                                      </p:cBhvr>
                                    </p:animEffect>
                                  </p:childTnLst>
                                </p:cTn>
                              </p:par>
                              <p:par>
                                <p:cTn id="99" presetID="22" presetClass="entr" presetSubtype="1" fill="hold"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wipe(up)">
                                      <p:cBhvr>
                                        <p:cTn id="101" dur="1000"/>
                                        <p:tgtEl>
                                          <p:spTgt spid="4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7" presetClass="emph" presetSubtype="2" fill="hold" nodeType="clickEffect">
                                  <p:stCondLst>
                                    <p:cond delay="0"/>
                                  </p:stCondLst>
                                  <p:childTnLst>
                                    <p:animClr clrSpc="rgb" dir="cw">
                                      <p:cBhvr>
                                        <p:cTn id="110" dur="1000" fill="hold"/>
                                        <p:tgtEl>
                                          <p:spTgt spid="23"/>
                                        </p:tgtEl>
                                        <p:attrNameLst>
                                          <p:attrName>stroke.color</p:attrName>
                                        </p:attrNameLst>
                                      </p:cBhvr>
                                      <p:to>
                                        <a:srgbClr val="B84742"/>
                                      </p:to>
                                    </p:animClr>
                                    <p:set>
                                      <p:cBhvr>
                                        <p:cTn id="111" dur="1000" fill="hold"/>
                                        <p:tgtEl>
                                          <p:spTgt spid="2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0" grpId="0"/>
      <p:bldP spid="41" grpId="0"/>
      <p:bldP spid="42" grpId="0"/>
      <p:bldP spid="43" grpId="0"/>
      <p:bldP spid="44" grpId="0"/>
      <p:bldP spid="45" grpId="0"/>
      <p:bldP spid="4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A88B7973-182C-B4BE-1D23-2EB47F0F6DCC}"/>
              </a:ext>
            </a:extLst>
          </p:cNvPr>
          <p:cNvSpPr/>
          <p:nvPr/>
        </p:nvSpPr>
        <p:spPr>
          <a:xfrm>
            <a:off x="6096000" y="0"/>
            <a:ext cx="6096000" cy="658800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602A77FB-C19F-D666-8146-FFECF73C6B8D}"/>
              </a:ext>
            </a:extLst>
          </p:cNvPr>
          <p:cNvSpPr txBox="1"/>
          <p:nvPr/>
        </p:nvSpPr>
        <p:spPr>
          <a:xfrm>
            <a:off x="-12700" y="144537"/>
            <a:ext cx="6217920" cy="738664"/>
          </a:xfrm>
          <a:prstGeom prst="rect">
            <a:avLst/>
          </a:prstGeom>
          <a:noFill/>
        </p:spPr>
        <p:txBody>
          <a:bodyPr wrap="square" lIns="274320" rtlCol="0" anchor="ctr">
            <a:spAutoFit/>
          </a:bodyPr>
          <a:lstStyle/>
          <a:p>
            <a:pPr>
              <a:lnSpc>
                <a:spcPct val="150000"/>
              </a:lnSpc>
            </a:pPr>
            <a:r>
              <a:rPr lang="en-US" sz="2800" dirty="0" err="1">
                <a:solidFill>
                  <a:srgbClr val="212121"/>
                </a:solidFill>
                <a:latin typeface="Roboto Condensed"/>
              </a:rPr>
              <a:t>Kruskal’s</a:t>
            </a:r>
            <a:r>
              <a:rPr lang="en-US" sz="2800" dirty="0">
                <a:solidFill>
                  <a:srgbClr val="212121"/>
                </a:solidFill>
                <a:latin typeface="Roboto Condensed"/>
              </a:rPr>
              <a:t> Algorithm for MST – Example 2</a:t>
            </a:r>
            <a:endParaRPr lang="en-US" sz="2800" b="1" dirty="0">
              <a:solidFill>
                <a:srgbClr val="424242"/>
              </a:solidFill>
              <a:latin typeface="Roboto Condensed"/>
            </a:endParaRPr>
          </a:p>
        </p:txBody>
      </p:sp>
      <p:sp>
        <p:nvSpPr>
          <p:cNvPr id="6" name="Oval 5">
            <a:extLst>
              <a:ext uri="{FF2B5EF4-FFF2-40B4-BE49-F238E27FC236}">
                <a16:creationId xmlns:a16="http://schemas.microsoft.com/office/drawing/2014/main" id="{2D48635C-4D68-80DB-27F8-45EE36C47822}"/>
              </a:ext>
            </a:extLst>
          </p:cNvPr>
          <p:cNvSpPr/>
          <p:nvPr/>
        </p:nvSpPr>
        <p:spPr>
          <a:xfrm>
            <a:off x="6858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85EFE321-E26C-CD0B-F9D5-85B31000EB1D}"/>
              </a:ext>
            </a:extLst>
          </p:cNvPr>
          <p:cNvSpPr/>
          <p:nvPr/>
        </p:nvSpPr>
        <p:spPr>
          <a:xfrm>
            <a:off x="26670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65C1ADFC-814F-5822-1FC4-0D52ABDE78EE}"/>
              </a:ext>
            </a:extLst>
          </p:cNvPr>
          <p:cNvSpPr/>
          <p:nvPr/>
        </p:nvSpPr>
        <p:spPr>
          <a:xfrm>
            <a:off x="47244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CE7E1BF6-2ECC-73A8-024F-AA021EBFFC5E}"/>
              </a:ext>
            </a:extLst>
          </p:cNvPr>
          <p:cNvSpPr/>
          <p:nvPr/>
        </p:nvSpPr>
        <p:spPr>
          <a:xfrm>
            <a:off x="6858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F07BFE68-E393-4011-6A31-B59306BAEECC}"/>
              </a:ext>
            </a:extLst>
          </p:cNvPr>
          <p:cNvSpPr/>
          <p:nvPr/>
        </p:nvSpPr>
        <p:spPr>
          <a:xfrm>
            <a:off x="27432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AE062D1C-A306-F328-9611-DF16AB7F00F4}"/>
              </a:ext>
            </a:extLst>
          </p:cNvPr>
          <p:cNvSpPr/>
          <p:nvPr/>
        </p:nvSpPr>
        <p:spPr>
          <a:xfrm>
            <a:off x="4807527"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9A7C2095-41B9-0C78-1870-B32E5DA1DA0C}"/>
              </a:ext>
            </a:extLst>
          </p:cNvPr>
          <p:cNvSpPr/>
          <p:nvPr/>
        </p:nvSpPr>
        <p:spPr>
          <a:xfrm>
            <a:off x="2819400" y="51685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AD16505C-CBE1-4024-9E38-6C45A041A9F8}"/>
              </a:ext>
            </a:extLst>
          </p:cNvPr>
          <p:cNvCxnSpPr>
            <a:stCxn id="6" idx="6"/>
            <a:endCxn id="7" idx="2"/>
          </p:cNvCxnSpPr>
          <p:nvPr/>
        </p:nvCxnSpPr>
        <p:spPr>
          <a:xfrm>
            <a:off x="1325880" y="1830980"/>
            <a:ext cx="1341120" cy="0"/>
          </a:xfrm>
          <a:prstGeom prst="line">
            <a:avLst/>
          </a:prstGeom>
          <a:noFill/>
          <a:ln w="28575" cap="flat" cmpd="sng" algn="ctr">
            <a:solidFill>
              <a:srgbClr val="B84742"/>
            </a:solidFill>
            <a:prstDash val="solid"/>
            <a:miter lim="800000"/>
          </a:ln>
          <a:effectLst/>
        </p:spPr>
      </p:cxnSp>
      <p:cxnSp>
        <p:nvCxnSpPr>
          <p:cNvPr id="14" name="Straight Connector 13">
            <a:extLst>
              <a:ext uri="{FF2B5EF4-FFF2-40B4-BE49-F238E27FC236}">
                <a16:creationId xmlns:a16="http://schemas.microsoft.com/office/drawing/2014/main" id="{58C3CCCA-8E83-45B9-A12B-EC7B29159D8A}"/>
              </a:ext>
            </a:extLst>
          </p:cNvPr>
          <p:cNvCxnSpPr>
            <a:stCxn id="7" idx="6"/>
            <a:endCxn id="8" idx="2"/>
          </p:cNvCxnSpPr>
          <p:nvPr/>
        </p:nvCxnSpPr>
        <p:spPr>
          <a:xfrm>
            <a:off x="3307080" y="1830980"/>
            <a:ext cx="1417320" cy="0"/>
          </a:xfrm>
          <a:prstGeom prst="line">
            <a:avLst/>
          </a:prstGeom>
          <a:noFill/>
          <a:ln w="28575" cap="flat" cmpd="sng" algn="ctr">
            <a:solidFill>
              <a:srgbClr val="B84742"/>
            </a:solidFill>
            <a:prstDash val="solid"/>
            <a:miter lim="800000"/>
          </a:ln>
          <a:effectLst/>
        </p:spPr>
      </p:cxnSp>
      <p:cxnSp>
        <p:nvCxnSpPr>
          <p:cNvPr id="15" name="Straight Connector 14">
            <a:extLst>
              <a:ext uri="{FF2B5EF4-FFF2-40B4-BE49-F238E27FC236}">
                <a16:creationId xmlns:a16="http://schemas.microsoft.com/office/drawing/2014/main" id="{82C4619C-5C2C-1187-68FD-CA7600ED3FC2}"/>
              </a:ext>
            </a:extLst>
          </p:cNvPr>
          <p:cNvCxnSpPr>
            <a:stCxn id="9" idx="6"/>
            <a:endCxn id="10" idx="2"/>
          </p:cNvCxnSpPr>
          <p:nvPr/>
        </p:nvCxnSpPr>
        <p:spPr>
          <a:xfrm>
            <a:off x="1325880" y="3659780"/>
            <a:ext cx="1417320" cy="0"/>
          </a:xfrm>
          <a:prstGeom prst="line">
            <a:avLst/>
          </a:prstGeom>
          <a:noFill/>
          <a:ln w="28575" cap="flat" cmpd="sng" algn="ctr">
            <a:solidFill>
              <a:srgbClr val="B84742"/>
            </a:solidFill>
            <a:prstDash val="solid"/>
            <a:miter lim="800000"/>
          </a:ln>
          <a:effectLst/>
        </p:spPr>
      </p:cxnSp>
      <p:cxnSp>
        <p:nvCxnSpPr>
          <p:cNvPr id="16" name="Straight Connector 15">
            <a:extLst>
              <a:ext uri="{FF2B5EF4-FFF2-40B4-BE49-F238E27FC236}">
                <a16:creationId xmlns:a16="http://schemas.microsoft.com/office/drawing/2014/main" id="{3C9CE80F-0897-ABB2-245F-276A5531632D}"/>
              </a:ext>
            </a:extLst>
          </p:cNvPr>
          <p:cNvCxnSpPr>
            <a:stCxn id="6" idx="4"/>
            <a:endCxn id="9" idx="0"/>
          </p:cNvCxnSpPr>
          <p:nvPr/>
        </p:nvCxnSpPr>
        <p:spPr>
          <a:xfrm>
            <a:off x="1005840" y="2151020"/>
            <a:ext cx="0" cy="1188720"/>
          </a:xfrm>
          <a:prstGeom prst="line">
            <a:avLst/>
          </a:prstGeom>
          <a:noFill/>
          <a:ln w="28575" cap="flat" cmpd="sng" algn="ctr">
            <a:solidFill>
              <a:srgbClr val="B84742"/>
            </a:solidFill>
            <a:prstDash val="solid"/>
            <a:miter lim="800000"/>
          </a:ln>
          <a:effectLst/>
        </p:spPr>
      </p:cxnSp>
      <p:cxnSp>
        <p:nvCxnSpPr>
          <p:cNvPr id="17" name="Straight Connector 16">
            <a:extLst>
              <a:ext uri="{FF2B5EF4-FFF2-40B4-BE49-F238E27FC236}">
                <a16:creationId xmlns:a16="http://schemas.microsoft.com/office/drawing/2014/main" id="{76DC6959-81D8-50F4-D83A-D31951315337}"/>
              </a:ext>
            </a:extLst>
          </p:cNvPr>
          <p:cNvCxnSpPr>
            <a:stCxn id="11" idx="3"/>
            <a:endCxn id="12" idx="6"/>
          </p:cNvCxnSpPr>
          <p:nvPr/>
        </p:nvCxnSpPr>
        <p:spPr>
          <a:xfrm flipH="1">
            <a:off x="3459480" y="3886082"/>
            <a:ext cx="1441785" cy="1602498"/>
          </a:xfrm>
          <a:prstGeom prst="line">
            <a:avLst/>
          </a:prstGeom>
          <a:noFill/>
          <a:ln w="28575" cap="flat" cmpd="sng" algn="ctr">
            <a:solidFill>
              <a:srgbClr val="B84742"/>
            </a:solidFill>
            <a:prstDash val="solid"/>
            <a:miter lim="800000"/>
          </a:ln>
          <a:effectLst/>
        </p:spPr>
      </p:cxnSp>
      <p:cxnSp>
        <p:nvCxnSpPr>
          <p:cNvPr id="18" name="Straight Connector 17">
            <a:extLst>
              <a:ext uri="{FF2B5EF4-FFF2-40B4-BE49-F238E27FC236}">
                <a16:creationId xmlns:a16="http://schemas.microsoft.com/office/drawing/2014/main" id="{8765AF69-F5E9-77DF-81B9-1929E5F4D4E1}"/>
              </a:ext>
            </a:extLst>
          </p:cNvPr>
          <p:cNvCxnSpPr>
            <a:stCxn id="9" idx="4"/>
            <a:endCxn id="12" idx="2"/>
          </p:cNvCxnSpPr>
          <p:nvPr/>
        </p:nvCxnSpPr>
        <p:spPr>
          <a:xfrm>
            <a:off x="1005840" y="3979820"/>
            <a:ext cx="1813560" cy="1508760"/>
          </a:xfrm>
          <a:prstGeom prst="line">
            <a:avLst/>
          </a:prstGeom>
          <a:noFill/>
          <a:ln w="28575" cap="flat" cmpd="sng" algn="ctr">
            <a:solidFill>
              <a:srgbClr val="B84742"/>
            </a:solidFill>
            <a:prstDash val="solid"/>
            <a:miter lim="800000"/>
          </a:ln>
          <a:effectLst/>
        </p:spPr>
      </p:cxnSp>
      <p:sp>
        <p:nvSpPr>
          <p:cNvPr id="19" name="TextBox 18">
            <a:extLst>
              <a:ext uri="{FF2B5EF4-FFF2-40B4-BE49-F238E27FC236}">
                <a16:creationId xmlns:a16="http://schemas.microsoft.com/office/drawing/2014/main" id="{AB4D0E77-672C-B174-29B6-988E8D91CBC3}"/>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0" name="TextBox 19">
            <a:extLst>
              <a:ext uri="{FF2B5EF4-FFF2-40B4-BE49-F238E27FC236}">
                <a16:creationId xmlns:a16="http://schemas.microsoft.com/office/drawing/2014/main" id="{30441808-C23B-B59D-53A9-7D98A58E617F}"/>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1" name="TextBox 20">
            <a:extLst>
              <a:ext uri="{FF2B5EF4-FFF2-40B4-BE49-F238E27FC236}">
                <a16:creationId xmlns:a16="http://schemas.microsoft.com/office/drawing/2014/main" id="{5443735F-25B2-CE52-C288-895357C79477}"/>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2" name="TextBox 21">
            <a:extLst>
              <a:ext uri="{FF2B5EF4-FFF2-40B4-BE49-F238E27FC236}">
                <a16:creationId xmlns:a16="http://schemas.microsoft.com/office/drawing/2014/main" id="{B762E777-1454-7B01-8817-C793B9330A26}"/>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3" name="TextBox 22">
            <a:extLst>
              <a:ext uri="{FF2B5EF4-FFF2-40B4-BE49-F238E27FC236}">
                <a16:creationId xmlns:a16="http://schemas.microsoft.com/office/drawing/2014/main" id="{FD1CB742-65F9-644C-23E2-973DFA15AFF7}"/>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24" name="TextBox 23">
            <a:extLst>
              <a:ext uri="{FF2B5EF4-FFF2-40B4-BE49-F238E27FC236}">
                <a16:creationId xmlns:a16="http://schemas.microsoft.com/office/drawing/2014/main" id="{71E94860-8EF0-79B5-4EA3-31C7E7465AD9}"/>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25" name="TextBox 24">
            <a:extLst>
              <a:ext uri="{FF2B5EF4-FFF2-40B4-BE49-F238E27FC236}">
                <a16:creationId xmlns:a16="http://schemas.microsoft.com/office/drawing/2014/main" id="{41A7FB67-A094-DA4C-7838-AE30BC258100}"/>
              </a:ext>
            </a:extLst>
          </p:cNvPr>
          <p:cNvSpPr txBox="1"/>
          <p:nvPr/>
        </p:nvSpPr>
        <p:spPr>
          <a:xfrm>
            <a:off x="6107974" y="0"/>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Step:3</a:t>
            </a:r>
            <a:endParaRPr kumimoji="0" lang="en-US" sz="2000" b="1" i="0" u="none" strike="noStrike" kern="0" cap="none" spc="0" normalizeH="0" baseline="0" noProof="0" dirty="0">
              <a:ln>
                <a:noFill/>
              </a:ln>
              <a:effectLst/>
              <a:uLnTx/>
              <a:uFillTx/>
              <a:latin typeface="Roboto Condensed"/>
            </a:endParaRPr>
          </a:p>
        </p:txBody>
      </p:sp>
      <p:sp>
        <p:nvSpPr>
          <p:cNvPr id="26" name="TextBox 25">
            <a:extLst>
              <a:ext uri="{FF2B5EF4-FFF2-40B4-BE49-F238E27FC236}">
                <a16:creationId xmlns:a16="http://schemas.microsoft.com/office/drawing/2014/main" id="{D12BDF9B-5E62-33D4-CB32-AD8AE430ED24}"/>
              </a:ext>
            </a:extLst>
          </p:cNvPr>
          <p:cNvSpPr txBox="1"/>
          <p:nvPr/>
        </p:nvSpPr>
        <p:spPr>
          <a:xfrm>
            <a:off x="6094911" y="418597"/>
            <a:ext cx="5829300" cy="430887"/>
          </a:xfrm>
          <a:prstGeom prst="rect">
            <a:avLst/>
          </a:prstGeom>
          <a:noFill/>
        </p:spPr>
        <p:txBody>
          <a:bodyPr wrap="square" rtlCol="0">
            <a:spAutoFit/>
          </a:bodyPr>
          <a:lstStyle/>
          <a:p>
            <a:pPr algn="ctr"/>
            <a:r>
              <a:rPr lang="en-US" sz="2200" b="1" dirty="0">
                <a:solidFill>
                  <a:srgbClr val="F19D19"/>
                </a:solidFill>
                <a:latin typeface="Roboto Condensed"/>
              </a:rPr>
              <a:t>The minimum spanning tree for the given graph.</a:t>
            </a:r>
          </a:p>
        </p:txBody>
      </p:sp>
      <p:graphicFrame>
        <p:nvGraphicFramePr>
          <p:cNvPr id="27" name="Table 26">
            <a:extLst>
              <a:ext uri="{FF2B5EF4-FFF2-40B4-BE49-F238E27FC236}">
                <a16:creationId xmlns:a16="http://schemas.microsoft.com/office/drawing/2014/main" id="{B4C0D462-AAD5-D690-9E2F-124A1E59B8E7}"/>
              </a:ext>
            </a:extLst>
          </p:cNvPr>
          <p:cNvGraphicFramePr>
            <a:graphicFrameLocks noGrp="1"/>
          </p:cNvGraphicFramePr>
          <p:nvPr>
            <p:extLst/>
          </p:nvPr>
        </p:nvGraphicFramePr>
        <p:xfrm>
          <a:off x="7747363" y="1023737"/>
          <a:ext cx="2638567" cy="2911058"/>
        </p:xfrm>
        <a:graphic>
          <a:graphicData uri="http://schemas.openxmlformats.org/drawingml/2006/table">
            <a:tbl>
              <a:tblPr firstRow="1" bandRow="1">
                <a:tableStyleId>{FABFCF23-3B69-468F-B69F-88F6DE6A72F2}</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576407"/>
                  </a:ext>
                </a:extLst>
              </a:tr>
            </a:tbl>
          </a:graphicData>
        </a:graphic>
      </p:graphicFrame>
      <p:sp>
        <p:nvSpPr>
          <p:cNvPr id="28" name="Rounded Rectangle 39">
            <a:extLst>
              <a:ext uri="{FF2B5EF4-FFF2-40B4-BE49-F238E27FC236}">
                <a16:creationId xmlns:a16="http://schemas.microsoft.com/office/drawing/2014/main" id="{70ADFB3D-14F4-6089-AACB-374305458249}"/>
              </a:ext>
            </a:extLst>
          </p:cNvPr>
          <p:cNvSpPr/>
          <p:nvPr/>
        </p:nvSpPr>
        <p:spPr>
          <a:xfrm>
            <a:off x="9818917" y="14107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29" name="Rounded Rectangle 40">
            <a:extLst>
              <a:ext uri="{FF2B5EF4-FFF2-40B4-BE49-F238E27FC236}">
                <a16:creationId xmlns:a16="http://schemas.microsoft.com/office/drawing/2014/main" id="{045925F1-2AF7-736D-234E-1FEDC87CF27A}"/>
              </a:ext>
            </a:extLst>
          </p:cNvPr>
          <p:cNvSpPr/>
          <p:nvPr/>
        </p:nvSpPr>
        <p:spPr>
          <a:xfrm>
            <a:off x="9818917" y="1830890"/>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0" name="Rounded Rectangle 41">
            <a:extLst>
              <a:ext uri="{FF2B5EF4-FFF2-40B4-BE49-F238E27FC236}">
                <a16:creationId xmlns:a16="http://schemas.microsoft.com/office/drawing/2014/main" id="{9037505F-6765-E6E7-304C-2FFF2B041F7F}"/>
              </a:ext>
            </a:extLst>
          </p:cNvPr>
          <p:cNvSpPr/>
          <p:nvPr/>
        </p:nvSpPr>
        <p:spPr>
          <a:xfrm>
            <a:off x="9818917" y="22489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1" name="Rounded Rectangle 42">
            <a:extLst>
              <a:ext uri="{FF2B5EF4-FFF2-40B4-BE49-F238E27FC236}">
                <a16:creationId xmlns:a16="http://schemas.microsoft.com/office/drawing/2014/main" id="{3F16F42F-AEC9-0CFA-8CD3-A31B2ECE5006}"/>
              </a:ext>
            </a:extLst>
          </p:cNvPr>
          <p:cNvSpPr/>
          <p:nvPr/>
        </p:nvSpPr>
        <p:spPr>
          <a:xfrm>
            <a:off x="9818917" y="26299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2" name="Rounded Rectangle 43">
            <a:extLst>
              <a:ext uri="{FF2B5EF4-FFF2-40B4-BE49-F238E27FC236}">
                <a16:creationId xmlns:a16="http://schemas.microsoft.com/office/drawing/2014/main" id="{B8F26656-B6BA-2338-38B9-072ED944FC8F}"/>
              </a:ext>
            </a:extLst>
          </p:cNvPr>
          <p:cNvSpPr/>
          <p:nvPr/>
        </p:nvSpPr>
        <p:spPr>
          <a:xfrm>
            <a:off x="9818917" y="3094116"/>
            <a:ext cx="457200" cy="450273"/>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3" name="Rounded Rectangle 44">
            <a:extLst>
              <a:ext uri="{FF2B5EF4-FFF2-40B4-BE49-F238E27FC236}">
                <a16:creationId xmlns:a16="http://schemas.microsoft.com/office/drawing/2014/main" id="{07A79188-F03B-F2F6-6104-5B73E9A3F271}"/>
              </a:ext>
            </a:extLst>
          </p:cNvPr>
          <p:cNvSpPr/>
          <p:nvPr/>
        </p:nvSpPr>
        <p:spPr>
          <a:xfrm>
            <a:off x="9805854" y="3522528"/>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4" name="Rectangle 33">
            <a:extLst>
              <a:ext uri="{FF2B5EF4-FFF2-40B4-BE49-F238E27FC236}">
                <a16:creationId xmlns:a16="http://schemas.microsoft.com/office/drawing/2014/main" id="{BBBDE00D-7D7F-0667-657A-36CB48B5DE91}"/>
              </a:ext>
            </a:extLst>
          </p:cNvPr>
          <p:cNvSpPr/>
          <p:nvPr/>
        </p:nvSpPr>
        <p:spPr>
          <a:xfrm>
            <a:off x="8075023" y="4428894"/>
            <a:ext cx="2133918" cy="461665"/>
          </a:xfrm>
          <a:prstGeom prst="rect">
            <a:avLst/>
          </a:prstGeom>
          <a:solidFill>
            <a:srgbClr val="F9C5D7"/>
          </a:solidFill>
        </p:spPr>
        <p:txBody>
          <a:bodyPr wrap="none">
            <a:spAutoFit/>
          </a:bodyPr>
          <a:lstStyle/>
          <a:p>
            <a:r>
              <a:rPr lang="en-US" sz="2400" b="1" dirty="0">
                <a:solidFill>
                  <a:srgbClr val="AD1457"/>
                </a:solidFill>
                <a:latin typeface="Roboto Condensed"/>
              </a:rPr>
              <a:t>Total Cost  = 17</a:t>
            </a:r>
          </a:p>
        </p:txBody>
      </p:sp>
    </p:spTree>
    <p:extLst>
      <p:ext uri="{BB962C8B-B14F-4D97-AF65-F5344CB8AC3E}">
        <p14:creationId xmlns:p14="http://schemas.microsoft.com/office/powerpoint/2010/main" val="161886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3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itle 1">
            <a:extLst>
              <a:ext uri="{FF2B5EF4-FFF2-40B4-BE49-F238E27FC236}">
                <a16:creationId xmlns:a16="http://schemas.microsoft.com/office/drawing/2014/main" id="{A701A52A-EEA8-0A50-D85E-AC6B25E35623}"/>
              </a:ext>
            </a:extLst>
          </p:cNvPr>
          <p:cNvSpPr txBox="1">
            <a:spLocks/>
          </p:cNvSpPr>
          <p:nvPr/>
        </p:nvSpPr>
        <p:spPr>
          <a:xfrm>
            <a:off x="0" y="0"/>
            <a:ext cx="12192000" cy="711200"/>
          </a:xfrm>
          <a:prstGeom prst="rect">
            <a:avLst/>
          </a:prstGeom>
          <a:solidFill>
            <a:srgbClr val="DFDFDF">
              <a:alpha val="49804"/>
            </a:srgbClr>
          </a:solidFill>
          <a:ln>
            <a:noFill/>
          </a:ln>
        </p:spPr>
        <p:txBody>
          <a:bodyPr vert="horz" lIns="216000" tIns="108000" rIns="216000" bIns="108000" rtlCol="0" anchor="ctr">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400" b="1" i="0" u="none" strike="noStrike" kern="1200" cap="none" spc="0" normalizeH="0" baseline="0" noProof="0" dirty="0">
                <a:ln>
                  <a:noFill/>
                </a:ln>
                <a:solidFill>
                  <a:schemeClr val="bg1"/>
                </a:solidFill>
                <a:effectLst/>
                <a:uLnTx/>
                <a:uFillTx/>
                <a:latin typeface="Corbel" panose="020B0503020204020204" pitchFamily="34" charset="0"/>
              </a:rPr>
              <a:t>Kruskal’s Algorithm – Example 2</a:t>
            </a:r>
          </a:p>
        </p:txBody>
      </p:sp>
      <p:graphicFrame>
        <p:nvGraphicFramePr>
          <p:cNvPr id="4" name="Content Placeholder 5">
            <a:extLst>
              <a:ext uri="{FF2B5EF4-FFF2-40B4-BE49-F238E27FC236}">
                <a16:creationId xmlns:a16="http://schemas.microsoft.com/office/drawing/2014/main" id="{6A4BB61C-627E-1DDE-6D33-FC8C1B05FE29}"/>
              </a:ext>
            </a:extLst>
          </p:cNvPr>
          <p:cNvGraphicFramePr>
            <a:graphicFrameLocks/>
          </p:cNvGraphicFramePr>
          <p:nvPr>
            <p:extLst/>
          </p:nvPr>
        </p:nvGraphicFramePr>
        <p:xfrm>
          <a:off x="831797" y="1031965"/>
          <a:ext cx="6445622" cy="4822661"/>
        </p:xfrm>
        <a:graphic>
          <a:graphicData uri="http://schemas.openxmlformats.org/drawingml/2006/table">
            <a:tbl>
              <a:tblPr firstRow="1" firstCol="1" bandRow="1"/>
              <a:tblGrid>
                <a:gridCol w="805703">
                  <a:extLst>
                    <a:ext uri="{9D8B030D-6E8A-4147-A177-3AD203B41FA5}">
                      <a16:colId xmlns:a16="http://schemas.microsoft.com/office/drawing/2014/main" val="3927548896"/>
                    </a:ext>
                  </a:extLst>
                </a:gridCol>
                <a:gridCol w="2175397">
                  <a:extLst>
                    <a:ext uri="{9D8B030D-6E8A-4147-A177-3AD203B41FA5}">
                      <a16:colId xmlns:a16="http://schemas.microsoft.com/office/drawing/2014/main" val="4102646267"/>
                    </a:ext>
                  </a:extLst>
                </a:gridCol>
                <a:gridCol w="3464522">
                  <a:extLst>
                    <a:ext uri="{9D8B030D-6E8A-4147-A177-3AD203B41FA5}">
                      <a16:colId xmlns:a16="http://schemas.microsoft.com/office/drawing/2014/main" val="4119773957"/>
                    </a:ext>
                  </a:extLst>
                </a:gridCol>
              </a:tblGrid>
              <a:tr h="731521">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Step</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Edges considered - {u, v}</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Connected Components</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462586495"/>
                  </a:ext>
                </a:extLst>
              </a:tr>
              <a:tr h="511978">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err="1">
                          <a:solidFill>
                            <a:schemeClr val="tx1"/>
                          </a:solidFill>
                          <a:effectLst/>
                          <a:latin typeface="Calibri" panose="020F0502020204030204" pitchFamily="34" charset="0"/>
                          <a:ea typeface="Times New Roman" panose="02020603050405020304" pitchFamily="18" charset="0"/>
                          <a:cs typeface="Shruti" panose="020B0502040204020203" pitchFamily="34" charset="0"/>
                        </a:rPr>
                        <a:t>Init.</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 {2}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465674"/>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1</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{1,2}</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15384"/>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2</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{2,3}</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4312553"/>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3</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{4,5}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0105355"/>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4</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{6,7}</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1938409"/>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5</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{1,4}</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9004122"/>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6</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b="1" dirty="0">
                          <a:solidFill>
                            <a:srgbClr val="C00000"/>
                          </a:solidFill>
                          <a:effectLst/>
                          <a:latin typeface="Calibri" panose="020F0502020204030204" pitchFamily="34" charset="0"/>
                        </a:rPr>
                        <a:t>Rejected </a:t>
                      </a:r>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9108372"/>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7</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{4,7}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{1,2,3,4,5,6,7}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0144893"/>
                  </a:ext>
                </a:extLst>
              </a:tr>
            </a:tbl>
          </a:graphicData>
        </a:graphic>
      </p:graphicFrame>
      <p:graphicFrame>
        <p:nvGraphicFramePr>
          <p:cNvPr id="5" name="Table 4">
            <a:extLst>
              <a:ext uri="{FF2B5EF4-FFF2-40B4-BE49-F238E27FC236}">
                <a16:creationId xmlns:a16="http://schemas.microsoft.com/office/drawing/2014/main" id="{FCA6E960-F36A-D224-1458-53ADE5CC49B5}"/>
              </a:ext>
            </a:extLst>
          </p:cNvPr>
          <p:cNvGraphicFramePr>
            <a:graphicFrameLocks noGrp="1"/>
          </p:cNvGraphicFramePr>
          <p:nvPr>
            <p:extLst/>
          </p:nvPr>
        </p:nvGraphicFramePr>
        <p:xfrm>
          <a:off x="8062856" y="1031965"/>
          <a:ext cx="2468880" cy="3711024"/>
        </p:xfrm>
        <a:graphic>
          <a:graphicData uri="http://schemas.openxmlformats.org/drawingml/2006/table">
            <a:tbl>
              <a:tblPr firstRow="1" bandRow="1"/>
              <a:tblGrid>
                <a:gridCol w="1070936">
                  <a:extLst>
                    <a:ext uri="{9D8B030D-6E8A-4147-A177-3AD203B41FA5}">
                      <a16:colId xmlns:a16="http://schemas.microsoft.com/office/drawing/2014/main" val="1582560717"/>
                    </a:ext>
                  </a:extLst>
                </a:gridCol>
                <a:gridCol w="1397944">
                  <a:extLst>
                    <a:ext uri="{9D8B030D-6E8A-4147-A177-3AD203B41FA5}">
                      <a16:colId xmlns:a16="http://schemas.microsoft.com/office/drawing/2014/main" val="511824500"/>
                    </a:ext>
                  </a:extLst>
                </a:gridCol>
              </a:tblGrid>
              <a:tr h="598585">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rgbClr val="AD1457"/>
                          </a:solidFill>
                        </a:rPr>
                        <a:t>Edges</a:t>
                      </a:r>
                    </a:p>
                  </a:txBody>
                  <a:tcP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B84742">
                        <a:lumMod val="20000"/>
                        <a:lumOff val="80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rgbClr val="AD1457"/>
                          </a:solidFill>
                        </a:rPr>
                        <a:t>Weight</a:t>
                      </a:r>
                    </a:p>
                  </a:txBody>
                  <a:tcP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B84742">
                        <a:lumMod val="20000"/>
                        <a:lumOff val="80000"/>
                      </a:srgbClr>
                    </a:solidFill>
                  </a:tcPr>
                </a:tc>
                <a:extLst>
                  <a:ext uri="{0D108BD9-81ED-4DB2-BD59-A6C34878D82A}">
                    <a16:rowId xmlns:a16="http://schemas.microsoft.com/office/drawing/2014/main" val="1106574443"/>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2}</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1</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{2, 3}</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2</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5}</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{6, 7}</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4}</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7}</a:t>
                      </a:r>
                      <a:r>
                        <a:rPr lang="en-US" sz="2400" baseline="0" dirty="0">
                          <a:latin typeface="+mn-lt"/>
                          <a:ea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6" name="Rectangle 5">
            <a:extLst>
              <a:ext uri="{FF2B5EF4-FFF2-40B4-BE49-F238E27FC236}">
                <a16:creationId xmlns:a16="http://schemas.microsoft.com/office/drawing/2014/main" id="{E4E9EF24-D583-140A-25BC-5AD4DDDD83F8}"/>
              </a:ext>
            </a:extLst>
          </p:cNvPr>
          <p:cNvSpPr/>
          <p:nvPr/>
        </p:nvSpPr>
        <p:spPr>
          <a:xfrm>
            <a:off x="8062856" y="4652441"/>
            <a:ext cx="2468880" cy="461665"/>
          </a:xfrm>
          <a:prstGeom prst="rect">
            <a:avLst/>
          </a:prstGeom>
          <a:solidFill>
            <a:sysClr val="window" lastClr="FFFFFF">
              <a:lumMod val="85000"/>
            </a:sysClr>
          </a:solidFill>
          <a:ln w="19050">
            <a:solidFill>
              <a:srgbClr val="002060"/>
            </a:solid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rPr>
              <a:t>Total Cost  = 17</a:t>
            </a:r>
          </a:p>
        </p:txBody>
      </p:sp>
      <p:sp>
        <p:nvSpPr>
          <p:cNvPr id="7" name="Rectangle 6">
            <a:extLst>
              <a:ext uri="{FF2B5EF4-FFF2-40B4-BE49-F238E27FC236}">
                <a16:creationId xmlns:a16="http://schemas.microsoft.com/office/drawing/2014/main" id="{4806554F-CB62-489C-8FC4-7B53C4E6699A}"/>
              </a:ext>
            </a:extLst>
          </p:cNvPr>
          <p:cNvSpPr/>
          <p:nvPr/>
        </p:nvSpPr>
        <p:spPr>
          <a:xfrm>
            <a:off x="962298" y="1815737"/>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8" name="Rectangle 7">
            <a:extLst>
              <a:ext uri="{FF2B5EF4-FFF2-40B4-BE49-F238E27FC236}">
                <a16:creationId xmlns:a16="http://schemas.microsoft.com/office/drawing/2014/main" id="{8B2470E2-BE84-C543-2A4E-82F28080C5BB}"/>
              </a:ext>
            </a:extLst>
          </p:cNvPr>
          <p:cNvSpPr/>
          <p:nvPr/>
        </p:nvSpPr>
        <p:spPr>
          <a:xfrm>
            <a:off x="962298" y="232083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9" name="Rectangle 8">
            <a:extLst>
              <a:ext uri="{FF2B5EF4-FFF2-40B4-BE49-F238E27FC236}">
                <a16:creationId xmlns:a16="http://schemas.microsoft.com/office/drawing/2014/main" id="{BCD6BC74-79B9-B476-997D-2CDF98B85FA0}"/>
              </a:ext>
            </a:extLst>
          </p:cNvPr>
          <p:cNvSpPr/>
          <p:nvPr/>
        </p:nvSpPr>
        <p:spPr>
          <a:xfrm>
            <a:off x="962298" y="277803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0" name="Rectangle 9">
            <a:extLst>
              <a:ext uri="{FF2B5EF4-FFF2-40B4-BE49-F238E27FC236}">
                <a16:creationId xmlns:a16="http://schemas.microsoft.com/office/drawing/2014/main" id="{D1C3A612-6987-1F13-61CC-766D0AAE2774}"/>
              </a:ext>
            </a:extLst>
          </p:cNvPr>
          <p:cNvSpPr/>
          <p:nvPr/>
        </p:nvSpPr>
        <p:spPr>
          <a:xfrm>
            <a:off x="962298" y="3248297"/>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1" name="Rectangle 10">
            <a:extLst>
              <a:ext uri="{FF2B5EF4-FFF2-40B4-BE49-F238E27FC236}">
                <a16:creationId xmlns:a16="http://schemas.microsoft.com/office/drawing/2014/main" id="{FC6B1A6D-9DB7-09C5-3216-DB5D62C9BB4A}"/>
              </a:ext>
            </a:extLst>
          </p:cNvPr>
          <p:cNvSpPr/>
          <p:nvPr/>
        </p:nvSpPr>
        <p:spPr>
          <a:xfrm>
            <a:off x="962298" y="375339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2" name="Rectangle 11">
            <a:extLst>
              <a:ext uri="{FF2B5EF4-FFF2-40B4-BE49-F238E27FC236}">
                <a16:creationId xmlns:a16="http://schemas.microsoft.com/office/drawing/2014/main" id="{56C27D06-DA4C-8896-6C46-65BF29E99782}"/>
              </a:ext>
            </a:extLst>
          </p:cNvPr>
          <p:cNvSpPr/>
          <p:nvPr/>
        </p:nvSpPr>
        <p:spPr>
          <a:xfrm>
            <a:off x="962298" y="421059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3" name="Rectangle 12">
            <a:extLst>
              <a:ext uri="{FF2B5EF4-FFF2-40B4-BE49-F238E27FC236}">
                <a16:creationId xmlns:a16="http://schemas.microsoft.com/office/drawing/2014/main" id="{09B953B0-CF73-E3DA-0463-1149562E50F1}"/>
              </a:ext>
            </a:extLst>
          </p:cNvPr>
          <p:cNvSpPr/>
          <p:nvPr/>
        </p:nvSpPr>
        <p:spPr>
          <a:xfrm>
            <a:off x="962298" y="4672148"/>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4" name="Rectangle 13">
            <a:extLst>
              <a:ext uri="{FF2B5EF4-FFF2-40B4-BE49-F238E27FC236}">
                <a16:creationId xmlns:a16="http://schemas.microsoft.com/office/drawing/2014/main" id="{6E942D6D-D61C-A967-7C5C-F634C09F0812}"/>
              </a:ext>
            </a:extLst>
          </p:cNvPr>
          <p:cNvSpPr/>
          <p:nvPr/>
        </p:nvSpPr>
        <p:spPr>
          <a:xfrm>
            <a:off x="962298" y="515111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5" name="Rectangle 14">
            <a:extLst>
              <a:ext uri="{FF2B5EF4-FFF2-40B4-BE49-F238E27FC236}">
                <a16:creationId xmlns:a16="http://schemas.microsoft.com/office/drawing/2014/main" id="{25CCB13F-76AC-9552-E617-03D97B803AE4}"/>
              </a:ext>
            </a:extLst>
          </p:cNvPr>
          <p:cNvSpPr/>
          <p:nvPr/>
        </p:nvSpPr>
        <p:spPr>
          <a:xfrm>
            <a:off x="2381794" y="185057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6" name="Rectangle 15">
            <a:extLst>
              <a:ext uri="{FF2B5EF4-FFF2-40B4-BE49-F238E27FC236}">
                <a16:creationId xmlns:a16="http://schemas.microsoft.com/office/drawing/2014/main" id="{2DF67755-5859-0715-CBEE-8512D3DA27ED}"/>
              </a:ext>
            </a:extLst>
          </p:cNvPr>
          <p:cNvSpPr/>
          <p:nvPr/>
        </p:nvSpPr>
        <p:spPr>
          <a:xfrm>
            <a:off x="2381794" y="235566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7" name="Rectangle 16">
            <a:extLst>
              <a:ext uri="{FF2B5EF4-FFF2-40B4-BE49-F238E27FC236}">
                <a16:creationId xmlns:a16="http://schemas.microsoft.com/office/drawing/2014/main" id="{B4F2F36F-9E2E-CA1F-D21D-8C85B7C2D098}"/>
              </a:ext>
            </a:extLst>
          </p:cNvPr>
          <p:cNvSpPr/>
          <p:nvPr/>
        </p:nvSpPr>
        <p:spPr>
          <a:xfrm>
            <a:off x="2381794" y="281286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8" name="Rectangle 17">
            <a:extLst>
              <a:ext uri="{FF2B5EF4-FFF2-40B4-BE49-F238E27FC236}">
                <a16:creationId xmlns:a16="http://schemas.microsoft.com/office/drawing/2014/main" id="{059DD85F-3487-CFBA-09DF-1355A115101B}"/>
              </a:ext>
            </a:extLst>
          </p:cNvPr>
          <p:cNvSpPr/>
          <p:nvPr/>
        </p:nvSpPr>
        <p:spPr>
          <a:xfrm>
            <a:off x="2381794" y="328313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9" name="Rectangle 18">
            <a:extLst>
              <a:ext uri="{FF2B5EF4-FFF2-40B4-BE49-F238E27FC236}">
                <a16:creationId xmlns:a16="http://schemas.microsoft.com/office/drawing/2014/main" id="{DA35ABDB-55B9-7C70-CBC5-52610E7BAE15}"/>
              </a:ext>
            </a:extLst>
          </p:cNvPr>
          <p:cNvSpPr/>
          <p:nvPr/>
        </p:nvSpPr>
        <p:spPr>
          <a:xfrm>
            <a:off x="2381794" y="3735976"/>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0" name="Rectangle 19">
            <a:extLst>
              <a:ext uri="{FF2B5EF4-FFF2-40B4-BE49-F238E27FC236}">
                <a16:creationId xmlns:a16="http://schemas.microsoft.com/office/drawing/2014/main" id="{8BC8619A-E35F-18DE-A379-93077EB52F0D}"/>
              </a:ext>
            </a:extLst>
          </p:cNvPr>
          <p:cNvSpPr/>
          <p:nvPr/>
        </p:nvSpPr>
        <p:spPr>
          <a:xfrm>
            <a:off x="2381794" y="4219302"/>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1" name="Rectangle 20">
            <a:extLst>
              <a:ext uri="{FF2B5EF4-FFF2-40B4-BE49-F238E27FC236}">
                <a16:creationId xmlns:a16="http://schemas.microsoft.com/office/drawing/2014/main" id="{CFDA96FC-FAB4-3FA5-A88D-3CB01806FDDE}"/>
              </a:ext>
            </a:extLst>
          </p:cNvPr>
          <p:cNvSpPr/>
          <p:nvPr/>
        </p:nvSpPr>
        <p:spPr>
          <a:xfrm>
            <a:off x="2381794" y="4667793"/>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2" name="Rectangle 21">
            <a:extLst>
              <a:ext uri="{FF2B5EF4-FFF2-40B4-BE49-F238E27FC236}">
                <a16:creationId xmlns:a16="http://schemas.microsoft.com/office/drawing/2014/main" id="{4FE73FA3-519B-30EF-9007-6C9FFFC79C91}"/>
              </a:ext>
            </a:extLst>
          </p:cNvPr>
          <p:cNvSpPr/>
          <p:nvPr/>
        </p:nvSpPr>
        <p:spPr>
          <a:xfrm>
            <a:off x="2381794" y="513370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3" name="Rectangle 22">
            <a:extLst>
              <a:ext uri="{FF2B5EF4-FFF2-40B4-BE49-F238E27FC236}">
                <a16:creationId xmlns:a16="http://schemas.microsoft.com/office/drawing/2014/main" id="{AD8647D4-48F1-CFE1-EA08-E172BD247313}"/>
              </a:ext>
            </a:extLst>
          </p:cNvPr>
          <p:cNvSpPr/>
          <p:nvPr/>
        </p:nvSpPr>
        <p:spPr>
          <a:xfrm>
            <a:off x="4036423" y="1859280"/>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4" name="Rectangle 23">
            <a:extLst>
              <a:ext uri="{FF2B5EF4-FFF2-40B4-BE49-F238E27FC236}">
                <a16:creationId xmlns:a16="http://schemas.microsoft.com/office/drawing/2014/main" id="{D0AA363D-A89F-37B8-CFB6-EF311EE8A943}"/>
              </a:ext>
            </a:extLst>
          </p:cNvPr>
          <p:cNvSpPr/>
          <p:nvPr/>
        </p:nvSpPr>
        <p:spPr>
          <a:xfrm>
            <a:off x="4023360" y="2312126"/>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5" name="Rectangle 24">
            <a:extLst>
              <a:ext uri="{FF2B5EF4-FFF2-40B4-BE49-F238E27FC236}">
                <a16:creationId xmlns:a16="http://schemas.microsoft.com/office/drawing/2014/main" id="{A63097AC-DD37-0008-7C26-D3F91DBA13B0}"/>
              </a:ext>
            </a:extLst>
          </p:cNvPr>
          <p:cNvSpPr/>
          <p:nvPr/>
        </p:nvSpPr>
        <p:spPr>
          <a:xfrm>
            <a:off x="3853544" y="2821577"/>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6" name="Rectangle 25">
            <a:extLst>
              <a:ext uri="{FF2B5EF4-FFF2-40B4-BE49-F238E27FC236}">
                <a16:creationId xmlns:a16="http://schemas.microsoft.com/office/drawing/2014/main" id="{EB90A820-9192-138E-76FB-69481CDAD971}"/>
              </a:ext>
            </a:extLst>
          </p:cNvPr>
          <p:cNvSpPr/>
          <p:nvPr/>
        </p:nvSpPr>
        <p:spPr>
          <a:xfrm>
            <a:off x="4167051" y="3278777"/>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7" name="Rectangle 26">
            <a:extLst>
              <a:ext uri="{FF2B5EF4-FFF2-40B4-BE49-F238E27FC236}">
                <a16:creationId xmlns:a16="http://schemas.microsoft.com/office/drawing/2014/main" id="{26EAA659-3E8C-AE7E-4F25-DD77B1D77939}"/>
              </a:ext>
            </a:extLst>
          </p:cNvPr>
          <p:cNvSpPr/>
          <p:nvPr/>
        </p:nvSpPr>
        <p:spPr>
          <a:xfrm>
            <a:off x="3892732" y="3731622"/>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8" name="Rectangle 27">
            <a:extLst>
              <a:ext uri="{FF2B5EF4-FFF2-40B4-BE49-F238E27FC236}">
                <a16:creationId xmlns:a16="http://schemas.microsoft.com/office/drawing/2014/main" id="{1E1897E9-CE74-F2DE-6932-728D1935E4DD}"/>
              </a:ext>
            </a:extLst>
          </p:cNvPr>
          <p:cNvSpPr/>
          <p:nvPr/>
        </p:nvSpPr>
        <p:spPr>
          <a:xfrm>
            <a:off x="4075611" y="4201885"/>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9" name="Rectangle 28">
            <a:extLst>
              <a:ext uri="{FF2B5EF4-FFF2-40B4-BE49-F238E27FC236}">
                <a16:creationId xmlns:a16="http://schemas.microsoft.com/office/drawing/2014/main" id="{02D3E5E3-6064-50A5-A25D-B1134E4F64D1}"/>
              </a:ext>
            </a:extLst>
          </p:cNvPr>
          <p:cNvSpPr/>
          <p:nvPr/>
        </p:nvSpPr>
        <p:spPr>
          <a:xfrm>
            <a:off x="3944983" y="4663438"/>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0" name="Rectangle 29">
            <a:extLst>
              <a:ext uri="{FF2B5EF4-FFF2-40B4-BE49-F238E27FC236}">
                <a16:creationId xmlns:a16="http://schemas.microsoft.com/office/drawing/2014/main" id="{C932289F-D447-9006-45D7-03AF5277C416}"/>
              </a:ext>
            </a:extLst>
          </p:cNvPr>
          <p:cNvSpPr/>
          <p:nvPr/>
        </p:nvSpPr>
        <p:spPr>
          <a:xfrm>
            <a:off x="4114799" y="5129346"/>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1" name="Rectangle 30">
            <a:extLst>
              <a:ext uri="{FF2B5EF4-FFF2-40B4-BE49-F238E27FC236}">
                <a16:creationId xmlns:a16="http://schemas.microsoft.com/office/drawing/2014/main" id="{6FF4E4C9-4FC5-690A-18EC-62C688874907}"/>
              </a:ext>
            </a:extLst>
          </p:cNvPr>
          <p:cNvSpPr/>
          <p:nvPr/>
        </p:nvSpPr>
        <p:spPr>
          <a:xfrm>
            <a:off x="9566367" y="1667691"/>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2" name="Rectangle 31">
            <a:extLst>
              <a:ext uri="{FF2B5EF4-FFF2-40B4-BE49-F238E27FC236}">
                <a16:creationId xmlns:a16="http://schemas.microsoft.com/office/drawing/2014/main" id="{4220FCCB-CB63-0639-E3E4-15E93CD9DAB7}"/>
              </a:ext>
            </a:extLst>
          </p:cNvPr>
          <p:cNvSpPr/>
          <p:nvPr/>
        </p:nvSpPr>
        <p:spPr>
          <a:xfrm>
            <a:off x="8216537" y="1676400"/>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3" name="Rectangle 32">
            <a:extLst>
              <a:ext uri="{FF2B5EF4-FFF2-40B4-BE49-F238E27FC236}">
                <a16:creationId xmlns:a16="http://schemas.microsoft.com/office/drawing/2014/main" id="{DE88120D-F109-AFEE-A952-228B56E023A3}"/>
              </a:ext>
            </a:extLst>
          </p:cNvPr>
          <p:cNvSpPr/>
          <p:nvPr/>
        </p:nvSpPr>
        <p:spPr>
          <a:xfrm>
            <a:off x="9588138" y="2172788"/>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4" name="Rectangle 33">
            <a:extLst>
              <a:ext uri="{FF2B5EF4-FFF2-40B4-BE49-F238E27FC236}">
                <a16:creationId xmlns:a16="http://schemas.microsoft.com/office/drawing/2014/main" id="{C315F572-8167-CACA-CCF7-E947209B2E4C}"/>
              </a:ext>
            </a:extLst>
          </p:cNvPr>
          <p:cNvSpPr/>
          <p:nvPr/>
        </p:nvSpPr>
        <p:spPr>
          <a:xfrm>
            <a:off x="8238308" y="2181497"/>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5" name="Rectangle 34">
            <a:extLst>
              <a:ext uri="{FF2B5EF4-FFF2-40B4-BE49-F238E27FC236}">
                <a16:creationId xmlns:a16="http://schemas.microsoft.com/office/drawing/2014/main" id="{7AD33C08-9BF5-FCB0-BD91-41283BDCEE5E}"/>
              </a:ext>
            </a:extLst>
          </p:cNvPr>
          <p:cNvSpPr/>
          <p:nvPr/>
        </p:nvSpPr>
        <p:spPr>
          <a:xfrm>
            <a:off x="9588139" y="268223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6" name="Rectangle 35">
            <a:extLst>
              <a:ext uri="{FF2B5EF4-FFF2-40B4-BE49-F238E27FC236}">
                <a16:creationId xmlns:a16="http://schemas.microsoft.com/office/drawing/2014/main" id="{8182464E-EAC0-C2A0-DA3D-668AA56513E0}"/>
              </a:ext>
            </a:extLst>
          </p:cNvPr>
          <p:cNvSpPr/>
          <p:nvPr/>
        </p:nvSpPr>
        <p:spPr>
          <a:xfrm>
            <a:off x="8238309" y="269094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7" name="Rectangle 36">
            <a:extLst>
              <a:ext uri="{FF2B5EF4-FFF2-40B4-BE49-F238E27FC236}">
                <a16:creationId xmlns:a16="http://schemas.microsoft.com/office/drawing/2014/main" id="{89AA23AB-0F34-5AD7-5D2C-E327584A6A25}"/>
              </a:ext>
            </a:extLst>
          </p:cNvPr>
          <p:cNvSpPr/>
          <p:nvPr/>
        </p:nvSpPr>
        <p:spPr>
          <a:xfrm>
            <a:off x="9522824" y="313943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8" name="Rectangle 37">
            <a:extLst>
              <a:ext uri="{FF2B5EF4-FFF2-40B4-BE49-F238E27FC236}">
                <a16:creationId xmlns:a16="http://schemas.microsoft.com/office/drawing/2014/main" id="{5509D0DB-2A6A-7C15-3CE2-2173D4319B5D}"/>
              </a:ext>
            </a:extLst>
          </p:cNvPr>
          <p:cNvSpPr/>
          <p:nvPr/>
        </p:nvSpPr>
        <p:spPr>
          <a:xfrm>
            <a:off x="8172994" y="314814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9" name="Rectangle 38">
            <a:extLst>
              <a:ext uri="{FF2B5EF4-FFF2-40B4-BE49-F238E27FC236}">
                <a16:creationId xmlns:a16="http://schemas.microsoft.com/office/drawing/2014/main" id="{3359727C-7704-BCCF-C117-61FC5C4A046F}"/>
              </a:ext>
            </a:extLst>
          </p:cNvPr>
          <p:cNvSpPr/>
          <p:nvPr/>
        </p:nvSpPr>
        <p:spPr>
          <a:xfrm>
            <a:off x="9575075" y="3622765"/>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0" name="Rectangle 39">
            <a:extLst>
              <a:ext uri="{FF2B5EF4-FFF2-40B4-BE49-F238E27FC236}">
                <a16:creationId xmlns:a16="http://schemas.microsoft.com/office/drawing/2014/main" id="{C29CA088-D1D1-D2E2-2991-5C58617D51F1}"/>
              </a:ext>
            </a:extLst>
          </p:cNvPr>
          <p:cNvSpPr/>
          <p:nvPr/>
        </p:nvSpPr>
        <p:spPr>
          <a:xfrm>
            <a:off x="8225245" y="3631474"/>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1" name="Rectangle 40">
            <a:extLst>
              <a:ext uri="{FF2B5EF4-FFF2-40B4-BE49-F238E27FC236}">
                <a16:creationId xmlns:a16="http://schemas.microsoft.com/office/drawing/2014/main" id="{EBE8FB6F-9C25-9A5E-6806-CC24C99F7124}"/>
              </a:ext>
            </a:extLst>
          </p:cNvPr>
          <p:cNvSpPr/>
          <p:nvPr/>
        </p:nvSpPr>
        <p:spPr>
          <a:xfrm>
            <a:off x="9614264" y="4093023"/>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Rectangle 41">
            <a:extLst>
              <a:ext uri="{FF2B5EF4-FFF2-40B4-BE49-F238E27FC236}">
                <a16:creationId xmlns:a16="http://schemas.microsoft.com/office/drawing/2014/main" id="{7D73EC30-4703-4BFB-103D-3A288B7596B0}"/>
              </a:ext>
            </a:extLst>
          </p:cNvPr>
          <p:cNvSpPr/>
          <p:nvPr/>
        </p:nvSpPr>
        <p:spPr>
          <a:xfrm>
            <a:off x="8264434" y="4101732"/>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43" name="Straight Connector 42">
            <a:extLst>
              <a:ext uri="{FF2B5EF4-FFF2-40B4-BE49-F238E27FC236}">
                <a16:creationId xmlns:a16="http://schemas.microsoft.com/office/drawing/2014/main" id="{8644571B-9755-8EC3-D497-313D69B80029}"/>
              </a:ext>
            </a:extLst>
          </p:cNvPr>
          <p:cNvCxnSpPr/>
          <p:nvPr/>
        </p:nvCxnSpPr>
        <p:spPr>
          <a:xfrm flipV="1">
            <a:off x="4206240" y="2677885"/>
            <a:ext cx="574766" cy="0"/>
          </a:xfrm>
          <a:prstGeom prst="line">
            <a:avLst/>
          </a:prstGeom>
          <a:noFill/>
          <a:ln w="38100" cap="flat" cmpd="sng" algn="ctr">
            <a:solidFill>
              <a:srgbClr val="F19D19"/>
            </a:solidFill>
            <a:prstDash val="solid"/>
            <a:miter lim="800000"/>
          </a:ln>
          <a:effectLst/>
        </p:spPr>
      </p:cxnSp>
      <p:cxnSp>
        <p:nvCxnSpPr>
          <p:cNvPr id="44" name="Straight Connector 43">
            <a:extLst>
              <a:ext uri="{FF2B5EF4-FFF2-40B4-BE49-F238E27FC236}">
                <a16:creationId xmlns:a16="http://schemas.microsoft.com/office/drawing/2014/main" id="{E4D70348-610D-E128-2A7E-D7922B8CA821}"/>
              </a:ext>
            </a:extLst>
          </p:cNvPr>
          <p:cNvCxnSpPr/>
          <p:nvPr/>
        </p:nvCxnSpPr>
        <p:spPr>
          <a:xfrm flipV="1">
            <a:off x="4254138" y="3143794"/>
            <a:ext cx="914400" cy="0"/>
          </a:xfrm>
          <a:prstGeom prst="line">
            <a:avLst/>
          </a:prstGeom>
          <a:noFill/>
          <a:ln w="38100" cap="flat" cmpd="sng" algn="ctr">
            <a:solidFill>
              <a:srgbClr val="F19D19"/>
            </a:solidFill>
            <a:prstDash val="solid"/>
            <a:miter lim="800000"/>
          </a:ln>
          <a:effectLst/>
        </p:spPr>
      </p:cxnSp>
      <p:cxnSp>
        <p:nvCxnSpPr>
          <p:cNvPr id="45" name="Straight Connector 44">
            <a:extLst>
              <a:ext uri="{FF2B5EF4-FFF2-40B4-BE49-F238E27FC236}">
                <a16:creationId xmlns:a16="http://schemas.microsoft.com/office/drawing/2014/main" id="{04E4A8B6-3307-7826-73CD-39B66231406D}"/>
              </a:ext>
            </a:extLst>
          </p:cNvPr>
          <p:cNvCxnSpPr/>
          <p:nvPr/>
        </p:nvCxnSpPr>
        <p:spPr>
          <a:xfrm flipV="1">
            <a:off x="5286103" y="3587931"/>
            <a:ext cx="574766" cy="0"/>
          </a:xfrm>
          <a:prstGeom prst="line">
            <a:avLst/>
          </a:prstGeom>
          <a:noFill/>
          <a:ln w="38100" cap="flat" cmpd="sng" algn="ctr">
            <a:solidFill>
              <a:srgbClr val="F19D19"/>
            </a:solidFill>
            <a:prstDash val="solid"/>
            <a:miter lim="800000"/>
          </a:ln>
          <a:effectLst/>
        </p:spPr>
      </p:cxnSp>
      <p:cxnSp>
        <p:nvCxnSpPr>
          <p:cNvPr id="46" name="Straight Connector 45">
            <a:extLst>
              <a:ext uri="{FF2B5EF4-FFF2-40B4-BE49-F238E27FC236}">
                <a16:creationId xmlns:a16="http://schemas.microsoft.com/office/drawing/2014/main" id="{8B7372F7-C497-74A5-52E7-FF6A2C2D960F}"/>
              </a:ext>
            </a:extLst>
          </p:cNvPr>
          <p:cNvCxnSpPr/>
          <p:nvPr/>
        </p:nvCxnSpPr>
        <p:spPr>
          <a:xfrm flipV="1">
            <a:off x="5991498" y="4058194"/>
            <a:ext cx="574766" cy="0"/>
          </a:xfrm>
          <a:prstGeom prst="line">
            <a:avLst/>
          </a:prstGeom>
          <a:noFill/>
          <a:ln w="38100" cap="flat" cmpd="sng" algn="ctr">
            <a:solidFill>
              <a:srgbClr val="F19D19"/>
            </a:solidFill>
            <a:prstDash val="solid"/>
            <a:miter lim="800000"/>
          </a:ln>
          <a:effectLst/>
        </p:spPr>
      </p:cxnSp>
      <p:cxnSp>
        <p:nvCxnSpPr>
          <p:cNvPr id="47" name="Straight Connector 46">
            <a:extLst>
              <a:ext uri="{FF2B5EF4-FFF2-40B4-BE49-F238E27FC236}">
                <a16:creationId xmlns:a16="http://schemas.microsoft.com/office/drawing/2014/main" id="{9E1BEE86-86C0-A96C-2F12-7C5959788925}"/>
              </a:ext>
            </a:extLst>
          </p:cNvPr>
          <p:cNvCxnSpPr/>
          <p:nvPr/>
        </p:nvCxnSpPr>
        <p:spPr>
          <a:xfrm flipV="1">
            <a:off x="4580708" y="4541519"/>
            <a:ext cx="1280160" cy="0"/>
          </a:xfrm>
          <a:prstGeom prst="line">
            <a:avLst/>
          </a:prstGeom>
          <a:noFill/>
          <a:ln w="38100" cap="flat" cmpd="sng" algn="ctr">
            <a:solidFill>
              <a:srgbClr val="F19D19"/>
            </a:solidFill>
            <a:prstDash val="solid"/>
            <a:miter lim="800000"/>
          </a:ln>
          <a:effectLst/>
        </p:spPr>
      </p:cxnSp>
      <p:cxnSp>
        <p:nvCxnSpPr>
          <p:cNvPr id="48" name="Straight Connector 47">
            <a:extLst>
              <a:ext uri="{FF2B5EF4-FFF2-40B4-BE49-F238E27FC236}">
                <a16:creationId xmlns:a16="http://schemas.microsoft.com/office/drawing/2014/main" id="{DD0A374D-FFA2-17BF-A864-DBB3CE8ECD52}"/>
              </a:ext>
            </a:extLst>
          </p:cNvPr>
          <p:cNvCxnSpPr/>
          <p:nvPr/>
        </p:nvCxnSpPr>
        <p:spPr>
          <a:xfrm flipV="1">
            <a:off x="4685211" y="5468982"/>
            <a:ext cx="1737360" cy="0"/>
          </a:xfrm>
          <a:prstGeom prst="line">
            <a:avLst/>
          </a:prstGeom>
          <a:noFill/>
          <a:ln w="38100" cap="flat" cmpd="sng" algn="ctr">
            <a:solidFill>
              <a:srgbClr val="F19D19"/>
            </a:solidFill>
            <a:prstDash val="solid"/>
            <a:miter lim="800000"/>
          </a:ln>
          <a:effectLst/>
        </p:spPr>
      </p:cxnSp>
    </p:spTree>
    <p:extLst>
      <p:ext uri="{BB962C8B-B14F-4D97-AF65-F5344CB8AC3E}">
        <p14:creationId xmlns:p14="http://schemas.microsoft.com/office/powerpoint/2010/main" val="150378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16"/>
                                        </p:tgtEl>
                                      </p:cBhvr>
                                    </p:animEffect>
                                    <p:set>
                                      <p:cBhvr>
                                        <p:cTn id="21" dur="1" fill="hold">
                                          <p:stCondLst>
                                            <p:cond delay="499"/>
                                          </p:stCondLst>
                                        </p:cTn>
                                        <p:tgtEl>
                                          <p:spTgt spid="16"/>
                                        </p:tgtEl>
                                        <p:attrNameLst>
                                          <p:attrName>style.visibility</p:attrName>
                                        </p:attrNameLst>
                                      </p:cBhvr>
                                      <p:to>
                                        <p:strVal val="hidden"/>
                                      </p:to>
                                    </p:set>
                                  </p:childTnLst>
                                </p:cTn>
                              </p:par>
                              <p:par>
                                <p:cTn id="22" presetID="14" presetClass="exit" presetSubtype="10" fill="hold" grpId="0" nodeType="withEffect">
                                  <p:stCondLst>
                                    <p:cond delay="0"/>
                                  </p:stCondLst>
                                  <p:childTnLst>
                                    <p:animEffect transition="out" filter="randombar(horizontal)">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par>
                                <p:cTn id="34" presetID="14" presetClass="exit" presetSubtype="10" fill="hold" grpId="0" nodeType="withEffect">
                                  <p:stCondLst>
                                    <p:cond delay="0"/>
                                  </p:stCondLst>
                                  <p:childTnLst>
                                    <p:animEffect transition="out" filter="randombar(horizontal)">
                                      <p:cBhvr>
                                        <p:cTn id="35" dur="500"/>
                                        <p:tgtEl>
                                          <p:spTgt spid="32"/>
                                        </p:tgtEl>
                                      </p:cBhvr>
                                    </p:animEffect>
                                    <p:set>
                                      <p:cBhvr>
                                        <p:cTn id="36" dur="1" fill="hold">
                                          <p:stCondLst>
                                            <p:cond delay="499"/>
                                          </p:stCondLst>
                                        </p:cTn>
                                        <p:tgtEl>
                                          <p:spTgt spid="3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xit" presetSubtype="10" fill="hold" grpId="0" nodeType="clickEffect">
                                  <p:stCondLst>
                                    <p:cond delay="0"/>
                                  </p:stCondLst>
                                  <p:childTnLst>
                                    <p:animEffect transition="out" filter="randombar(horizontal)">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par>
                                <p:cTn id="42" presetID="14" presetClass="exit" presetSubtype="10" fill="hold" grpId="0" nodeType="withEffect">
                                  <p:stCondLst>
                                    <p:cond delay="0"/>
                                  </p:stCondLst>
                                  <p:childTnLst>
                                    <p:animEffect transition="out" filter="randombar(horizontal)">
                                      <p:cBhvr>
                                        <p:cTn id="43" dur="500"/>
                                        <p:tgtEl>
                                          <p:spTgt spid="17"/>
                                        </p:tgtEl>
                                      </p:cBhvr>
                                    </p:animEffect>
                                    <p:set>
                                      <p:cBhvr>
                                        <p:cTn id="44" dur="1" fill="hold">
                                          <p:stCondLst>
                                            <p:cond delay="499"/>
                                          </p:stCondLst>
                                        </p:cTn>
                                        <p:tgtEl>
                                          <p:spTgt spid="17"/>
                                        </p:tgtEl>
                                        <p:attrNameLst>
                                          <p:attrName>style.visibility</p:attrName>
                                        </p:attrNameLst>
                                      </p:cBhvr>
                                      <p:to>
                                        <p:strVal val="hidden"/>
                                      </p:to>
                                    </p:set>
                                  </p:childTnLst>
                                </p:cTn>
                              </p:par>
                              <p:par>
                                <p:cTn id="45" presetID="14" presetClass="exit" presetSubtype="10" fill="hold" grpId="0" nodeType="withEffect">
                                  <p:stCondLst>
                                    <p:cond delay="0"/>
                                  </p:stCondLst>
                                  <p:childTnLst>
                                    <p:animEffect transition="out" filter="randombar(horizontal)">
                                      <p:cBhvr>
                                        <p:cTn id="46" dur="500"/>
                                        <p:tgtEl>
                                          <p:spTgt spid="25"/>
                                        </p:tgtEl>
                                      </p:cBhvr>
                                    </p:animEffect>
                                    <p:set>
                                      <p:cBhvr>
                                        <p:cTn id="47" dur="1" fill="hold">
                                          <p:stCondLst>
                                            <p:cond delay="499"/>
                                          </p:stCondLst>
                                        </p:cTn>
                                        <p:tgtEl>
                                          <p:spTgt spid="25"/>
                                        </p:tgtEl>
                                        <p:attrNameLst>
                                          <p:attrName>style.visibility</p:attrName>
                                        </p:attrNameLst>
                                      </p:cBhvr>
                                      <p:to>
                                        <p:strVal val="hidden"/>
                                      </p:to>
                                    </p:se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xit" presetSubtype="10" fill="hold" grpId="0" nodeType="clickEffect">
                                  <p:stCondLst>
                                    <p:cond delay="0"/>
                                  </p:stCondLst>
                                  <p:childTnLst>
                                    <p:animEffect transition="out" filter="randombar(horizontal)">
                                      <p:cBhvr>
                                        <p:cTn id="55" dur="500"/>
                                        <p:tgtEl>
                                          <p:spTgt spid="33"/>
                                        </p:tgtEl>
                                      </p:cBhvr>
                                    </p:animEffect>
                                    <p:set>
                                      <p:cBhvr>
                                        <p:cTn id="56" dur="1" fill="hold">
                                          <p:stCondLst>
                                            <p:cond delay="499"/>
                                          </p:stCondLst>
                                        </p:cTn>
                                        <p:tgtEl>
                                          <p:spTgt spid="33"/>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34"/>
                                        </p:tgtEl>
                                      </p:cBhvr>
                                    </p:animEffect>
                                    <p:set>
                                      <p:cBhvr>
                                        <p:cTn id="59" dur="1" fill="hold">
                                          <p:stCondLst>
                                            <p:cond delay="499"/>
                                          </p:stCondLst>
                                        </p:cTn>
                                        <p:tgtEl>
                                          <p:spTgt spid="3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4" presetClass="exit" presetSubtype="10" fill="hold" grpId="0" nodeType="clickEffect">
                                  <p:stCondLst>
                                    <p:cond delay="0"/>
                                  </p:stCondLst>
                                  <p:childTnLst>
                                    <p:animEffect transition="out" filter="randombar(horizontal)">
                                      <p:cBhvr>
                                        <p:cTn id="63" dur="500"/>
                                        <p:tgtEl>
                                          <p:spTgt spid="10"/>
                                        </p:tgtEl>
                                      </p:cBhvr>
                                    </p:animEffect>
                                    <p:set>
                                      <p:cBhvr>
                                        <p:cTn id="64" dur="1" fill="hold">
                                          <p:stCondLst>
                                            <p:cond delay="499"/>
                                          </p:stCondLst>
                                        </p:cTn>
                                        <p:tgtEl>
                                          <p:spTgt spid="10"/>
                                        </p:tgtEl>
                                        <p:attrNameLst>
                                          <p:attrName>style.visibility</p:attrName>
                                        </p:attrNameLst>
                                      </p:cBhvr>
                                      <p:to>
                                        <p:strVal val="hidden"/>
                                      </p:to>
                                    </p:set>
                                  </p:childTnLst>
                                </p:cTn>
                              </p:par>
                              <p:par>
                                <p:cTn id="65" presetID="14" presetClass="exit" presetSubtype="10" fill="hold" grpId="0" nodeType="withEffect">
                                  <p:stCondLst>
                                    <p:cond delay="0"/>
                                  </p:stCondLst>
                                  <p:childTnLst>
                                    <p:animEffect transition="out" filter="randombar(horizontal)">
                                      <p:cBhvr>
                                        <p:cTn id="66" dur="500"/>
                                        <p:tgtEl>
                                          <p:spTgt spid="18"/>
                                        </p:tgtEl>
                                      </p:cBhvr>
                                    </p:animEffect>
                                    <p:set>
                                      <p:cBhvr>
                                        <p:cTn id="67" dur="1" fill="hold">
                                          <p:stCondLst>
                                            <p:cond delay="499"/>
                                          </p:stCondLst>
                                        </p:cTn>
                                        <p:tgtEl>
                                          <p:spTgt spid="18"/>
                                        </p:tgtEl>
                                        <p:attrNameLst>
                                          <p:attrName>style.visibility</p:attrName>
                                        </p:attrNameLst>
                                      </p:cBhvr>
                                      <p:to>
                                        <p:strVal val="hidden"/>
                                      </p:to>
                                    </p:set>
                                  </p:childTnLst>
                                </p:cTn>
                              </p:par>
                              <p:par>
                                <p:cTn id="68" presetID="14" presetClass="exit" presetSubtype="10" fill="hold" grpId="0" nodeType="withEffect">
                                  <p:stCondLst>
                                    <p:cond delay="0"/>
                                  </p:stCondLst>
                                  <p:childTnLst>
                                    <p:animEffect transition="out" filter="randombar(horizontal)">
                                      <p:cBhvr>
                                        <p:cTn id="69" dur="500"/>
                                        <p:tgtEl>
                                          <p:spTgt spid="26"/>
                                        </p:tgtEl>
                                      </p:cBhvr>
                                    </p:animEffect>
                                    <p:set>
                                      <p:cBhvr>
                                        <p:cTn id="70" dur="1" fill="hold">
                                          <p:stCondLst>
                                            <p:cond delay="499"/>
                                          </p:stCondLst>
                                        </p:cTn>
                                        <p:tgtEl>
                                          <p:spTgt spid="26"/>
                                        </p:tgtEl>
                                        <p:attrNameLst>
                                          <p:attrName>style.visibility</p:attrName>
                                        </p:attrNameLst>
                                      </p:cBhvr>
                                      <p:to>
                                        <p:strVal val="hidden"/>
                                      </p:to>
                                    </p:se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wipe(left)">
                                      <p:cBhvr>
                                        <p:cTn id="74" dur="500"/>
                                        <p:tgtEl>
                                          <p:spTgt spid="45"/>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xit" presetSubtype="10" fill="hold" grpId="0" nodeType="clickEffect">
                                  <p:stCondLst>
                                    <p:cond delay="0"/>
                                  </p:stCondLst>
                                  <p:childTnLst>
                                    <p:animEffect transition="out" filter="randombar(horizontal)">
                                      <p:cBhvr>
                                        <p:cTn id="78" dur="500"/>
                                        <p:tgtEl>
                                          <p:spTgt spid="35"/>
                                        </p:tgtEl>
                                      </p:cBhvr>
                                    </p:animEffect>
                                    <p:set>
                                      <p:cBhvr>
                                        <p:cTn id="79" dur="1" fill="hold">
                                          <p:stCondLst>
                                            <p:cond delay="499"/>
                                          </p:stCondLst>
                                        </p:cTn>
                                        <p:tgtEl>
                                          <p:spTgt spid="35"/>
                                        </p:tgtEl>
                                        <p:attrNameLst>
                                          <p:attrName>style.visibility</p:attrName>
                                        </p:attrNameLst>
                                      </p:cBhvr>
                                      <p:to>
                                        <p:strVal val="hidden"/>
                                      </p:to>
                                    </p:set>
                                  </p:childTnLst>
                                </p:cTn>
                              </p:par>
                              <p:par>
                                <p:cTn id="80" presetID="14" presetClass="exit" presetSubtype="10" fill="hold" grpId="0" nodeType="withEffect">
                                  <p:stCondLst>
                                    <p:cond delay="0"/>
                                  </p:stCondLst>
                                  <p:childTnLst>
                                    <p:animEffect transition="out" filter="randombar(horizontal)">
                                      <p:cBhvr>
                                        <p:cTn id="81" dur="500"/>
                                        <p:tgtEl>
                                          <p:spTgt spid="36"/>
                                        </p:tgtEl>
                                      </p:cBhvr>
                                    </p:animEffect>
                                    <p:set>
                                      <p:cBhvr>
                                        <p:cTn id="82" dur="1" fill="hold">
                                          <p:stCondLst>
                                            <p:cond delay="499"/>
                                          </p:stCondLst>
                                        </p:cTn>
                                        <p:tgtEl>
                                          <p:spTgt spid="3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4" presetClass="exit" presetSubtype="10" fill="hold" grpId="0" nodeType="clickEffect">
                                  <p:stCondLst>
                                    <p:cond delay="0"/>
                                  </p:stCondLst>
                                  <p:childTnLst>
                                    <p:animEffect transition="out" filter="randombar(horizontal)">
                                      <p:cBhvr>
                                        <p:cTn id="86" dur="500"/>
                                        <p:tgtEl>
                                          <p:spTgt spid="11"/>
                                        </p:tgtEl>
                                      </p:cBhvr>
                                    </p:animEffect>
                                    <p:set>
                                      <p:cBhvr>
                                        <p:cTn id="87" dur="1" fill="hold">
                                          <p:stCondLst>
                                            <p:cond delay="499"/>
                                          </p:stCondLst>
                                        </p:cTn>
                                        <p:tgtEl>
                                          <p:spTgt spid="11"/>
                                        </p:tgtEl>
                                        <p:attrNameLst>
                                          <p:attrName>style.visibility</p:attrName>
                                        </p:attrNameLst>
                                      </p:cBhvr>
                                      <p:to>
                                        <p:strVal val="hidden"/>
                                      </p:to>
                                    </p:set>
                                  </p:childTnLst>
                                </p:cTn>
                              </p:par>
                              <p:par>
                                <p:cTn id="88" presetID="14" presetClass="exit" presetSubtype="10" fill="hold" grpId="0" nodeType="withEffect">
                                  <p:stCondLst>
                                    <p:cond delay="0"/>
                                  </p:stCondLst>
                                  <p:childTnLst>
                                    <p:animEffect transition="out" filter="randombar(horizontal)">
                                      <p:cBhvr>
                                        <p:cTn id="89" dur="500"/>
                                        <p:tgtEl>
                                          <p:spTgt spid="19"/>
                                        </p:tgtEl>
                                      </p:cBhvr>
                                    </p:animEffect>
                                    <p:set>
                                      <p:cBhvr>
                                        <p:cTn id="90" dur="1" fill="hold">
                                          <p:stCondLst>
                                            <p:cond delay="499"/>
                                          </p:stCondLst>
                                        </p:cTn>
                                        <p:tgtEl>
                                          <p:spTgt spid="19"/>
                                        </p:tgtEl>
                                        <p:attrNameLst>
                                          <p:attrName>style.visibility</p:attrName>
                                        </p:attrNameLst>
                                      </p:cBhvr>
                                      <p:to>
                                        <p:strVal val="hidden"/>
                                      </p:to>
                                    </p:set>
                                  </p:childTnLst>
                                </p:cTn>
                              </p:par>
                              <p:par>
                                <p:cTn id="91" presetID="14" presetClass="exit" presetSubtype="10" fill="hold" grpId="0" nodeType="withEffect">
                                  <p:stCondLst>
                                    <p:cond delay="0"/>
                                  </p:stCondLst>
                                  <p:childTnLst>
                                    <p:animEffect transition="out" filter="randombar(horizontal)">
                                      <p:cBhvr>
                                        <p:cTn id="92" dur="500"/>
                                        <p:tgtEl>
                                          <p:spTgt spid="27"/>
                                        </p:tgtEl>
                                      </p:cBhvr>
                                    </p:animEffect>
                                    <p:set>
                                      <p:cBhvr>
                                        <p:cTn id="93" dur="1" fill="hold">
                                          <p:stCondLst>
                                            <p:cond delay="499"/>
                                          </p:stCondLst>
                                        </p:cTn>
                                        <p:tgtEl>
                                          <p:spTgt spid="27"/>
                                        </p:tgtEl>
                                        <p:attrNameLst>
                                          <p:attrName>style.visibility</p:attrName>
                                        </p:attrNameLst>
                                      </p:cBhvr>
                                      <p:to>
                                        <p:strVal val="hidden"/>
                                      </p:to>
                                    </p:se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left)">
                                      <p:cBhvr>
                                        <p:cTn id="97" dur="500"/>
                                        <p:tgtEl>
                                          <p:spTgt spid="46"/>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xit" presetSubtype="10" fill="hold" grpId="0" nodeType="clickEffect">
                                  <p:stCondLst>
                                    <p:cond delay="0"/>
                                  </p:stCondLst>
                                  <p:childTnLst>
                                    <p:animEffect transition="out" filter="randombar(horizontal)">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4" presetClass="exit" presetSubtype="10" fill="hold" grpId="0" nodeType="withEffect">
                                  <p:stCondLst>
                                    <p:cond delay="0"/>
                                  </p:stCondLst>
                                  <p:childTnLst>
                                    <p:animEffect transition="out" filter="randombar(horizontal)">
                                      <p:cBhvr>
                                        <p:cTn id="104" dur="500"/>
                                        <p:tgtEl>
                                          <p:spTgt spid="38"/>
                                        </p:tgtEl>
                                      </p:cBhvr>
                                    </p:animEffect>
                                    <p:set>
                                      <p:cBhvr>
                                        <p:cTn id="105" dur="1" fill="hold">
                                          <p:stCondLst>
                                            <p:cond delay="499"/>
                                          </p:stCondLst>
                                        </p:cTn>
                                        <p:tgtEl>
                                          <p:spTgt spid="38"/>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4" presetClass="exit" presetSubtype="10" fill="hold" grpId="0" nodeType="clickEffect">
                                  <p:stCondLst>
                                    <p:cond delay="0"/>
                                  </p:stCondLst>
                                  <p:childTnLst>
                                    <p:animEffect transition="out" filter="randombar(horizontal)">
                                      <p:cBhvr>
                                        <p:cTn id="109" dur="500"/>
                                        <p:tgtEl>
                                          <p:spTgt spid="12"/>
                                        </p:tgtEl>
                                      </p:cBhvr>
                                    </p:animEffect>
                                    <p:set>
                                      <p:cBhvr>
                                        <p:cTn id="110" dur="1" fill="hold">
                                          <p:stCondLst>
                                            <p:cond delay="499"/>
                                          </p:stCondLst>
                                        </p:cTn>
                                        <p:tgtEl>
                                          <p:spTgt spid="12"/>
                                        </p:tgtEl>
                                        <p:attrNameLst>
                                          <p:attrName>style.visibility</p:attrName>
                                        </p:attrNameLst>
                                      </p:cBhvr>
                                      <p:to>
                                        <p:strVal val="hidden"/>
                                      </p:to>
                                    </p:set>
                                  </p:childTnLst>
                                </p:cTn>
                              </p:par>
                              <p:par>
                                <p:cTn id="111" presetID="14" presetClass="exit" presetSubtype="10" fill="hold" grpId="0" nodeType="withEffect">
                                  <p:stCondLst>
                                    <p:cond delay="0"/>
                                  </p:stCondLst>
                                  <p:childTnLst>
                                    <p:animEffect transition="out" filter="randombar(horizontal)">
                                      <p:cBhvr>
                                        <p:cTn id="112" dur="500"/>
                                        <p:tgtEl>
                                          <p:spTgt spid="20"/>
                                        </p:tgtEl>
                                      </p:cBhvr>
                                    </p:animEffect>
                                    <p:set>
                                      <p:cBhvr>
                                        <p:cTn id="113" dur="1" fill="hold">
                                          <p:stCondLst>
                                            <p:cond delay="499"/>
                                          </p:stCondLst>
                                        </p:cTn>
                                        <p:tgtEl>
                                          <p:spTgt spid="20"/>
                                        </p:tgtEl>
                                        <p:attrNameLst>
                                          <p:attrName>style.visibility</p:attrName>
                                        </p:attrNameLst>
                                      </p:cBhvr>
                                      <p:to>
                                        <p:strVal val="hidden"/>
                                      </p:to>
                                    </p:set>
                                  </p:childTnLst>
                                </p:cTn>
                              </p:par>
                              <p:par>
                                <p:cTn id="114" presetID="14" presetClass="exit" presetSubtype="10" fill="hold" grpId="0" nodeType="withEffect">
                                  <p:stCondLst>
                                    <p:cond delay="0"/>
                                  </p:stCondLst>
                                  <p:childTnLst>
                                    <p:animEffect transition="out" filter="randombar(horizontal)">
                                      <p:cBhvr>
                                        <p:cTn id="115" dur="500"/>
                                        <p:tgtEl>
                                          <p:spTgt spid="28"/>
                                        </p:tgtEl>
                                      </p:cBhvr>
                                    </p:animEffect>
                                    <p:set>
                                      <p:cBhvr>
                                        <p:cTn id="116" dur="1" fill="hold">
                                          <p:stCondLst>
                                            <p:cond delay="499"/>
                                          </p:stCondLst>
                                        </p:cTn>
                                        <p:tgtEl>
                                          <p:spTgt spid="28"/>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47"/>
                                        </p:tgtEl>
                                        <p:attrNameLst>
                                          <p:attrName>style.visibility</p:attrName>
                                        </p:attrNameLst>
                                      </p:cBhvr>
                                      <p:to>
                                        <p:strVal val="visible"/>
                                      </p:to>
                                    </p:set>
                                    <p:animEffect transition="in" filter="wipe(left)">
                                      <p:cBhvr>
                                        <p:cTn id="120" dur="500"/>
                                        <p:tgtEl>
                                          <p:spTgt spid="47"/>
                                        </p:tgtEl>
                                      </p:cBhvr>
                                    </p:animEffec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39"/>
                                        </p:tgtEl>
                                      </p:cBhvr>
                                    </p:animEffect>
                                    <p:set>
                                      <p:cBhvr>
                                        <p:cTn id="125" dur="1" fill="hold">
                                          <p:stCondLst>
                                            <p:cond delay="499"/>
                                          </p:stCondLst>
                                        </p:cTn>
                                        <p:tgtEl>
                                          <p:spTgt spid="39"/>
                                        </p:tgtEl>
                                        <p:attrNameLst>
                                          <p:attrName>style.visibility</p:attrName>
                                        </p:attrNameLst>
                                      </p:cBhvr>
                                      <p:to>
                                        <p:strVal val="hidden"/>
                                      </p:to>
                                    </p:set>
                                  </p:childTnLst>
                                </p:cTn>
                              </p:par>
                              <p:par>
                                <p:cTn id="126" presetID="14" presetClass="exit" presetSubtype="10" fill="hold" grpId="0" nodeType="withEffect">
                                  <p:stCondLst>
                                    <p:cond delay="0"/>
                                  </p:stCondLst>
                                  <p:childTnLst>
                                    <p:animEffect transition="out" filter="randombar(horizontal)">
                                      <p:cBhvr>
                                        <p:cTn id="127" dur="500"/>
                                        <p:tgtEl>
                                          <p:spTgt spid="40"/>
                                        </p:tgtEl>
                                      </p:cBhvr>
                                    </p:animEffect>
                                    <p:set>
                                      <p:cBhvr>
                                        <p:cTn id="128" dur="1" fill="hold">
                                          <p:stCondLst>
                                            <p:cond delay="499"/>
                                          </p:stCondLst>
                                        </p:cTn>
                                        <p:tgtEl>
                                          <p:spTgt spid="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4" presetClass="exit" presetSubtype="10" fill="hold" grpId="0" nodeType="clickEffect">
                                  <p:stCondLst>
                                    <p:cond delay="0"/>
                                  </p:stCondLst>
                                  <p:childTnLst>
                                    <p:animEffect transition="out" filter="randombar(horizontal)">
                                      <p:cBhvr>
                                        <p:cTn id="132" dur="500"/>
                                        <p:tgtEl>
                                          <p:spTgt spid="13"/>
                                        </p:tgtEl>
                                      </p:cBhvr>
                                    </p:animEffect>
                                    <p:set>
                                      <p:cBhvr>
                                        <p:cTn id="133" dur="1" fill="hold">
                                          <p:stCondLst>
                                            <p:cond delay="499"/>
                                          </p:stCondLst>
                                        </p:cTn>
                                        <p:tgtEl>
                                          <p:spTgt spid="13"/>
                                        </p:tgtEl>
                                        <p:attrNameLst>
                                          <p:attrName>style.visibility</p:attrName>
                                        </p:attrNameLst>
                                      </p:cBhvr>
                                      <p:to>
                                        <p:strVal val="hidden"/>
                                      </p:to>
                                    </p:set>
                                  </p:childTnLst>
                                </p:cTn>
                              </p:par>
                              <p:par>
                                <p:cTn id="134" presetID="14" presetClass="exit" presetSubtype="10" fill="hold" grpId="0" nodeType="withEffect">
                                  <p:stCondLst>
                                    <p:cond delay="0"/>
                                  </p:stCondLst>
                                  <p:childTnLst>
                                    <p:animEffect transition="out" filter="randombar(horizontal)">
                                      <p:cBhvr>
                                        <p:cTn id="135" dur="500"/>
                                        <p:tgtEl>
                                          <p:spTgt spid="21"/>
                                        </p:tgtEl>
                                      </p:cBhvr>
                                    </p:animEffect>
                                    <p:set>
                                      <p:cBhvr>
                                        <p:cTn id="136" dur="1" fill="hold">
                                          <p:stCondLst>
                                            <p:cond delay="499"/>
                                          </p:stCondLst>
                                        </p:cTn>
                                        <p:tgtEl>
                                          <p:spTgt spid="21"/>
                                        </p:tgtEl>
                                        <p:attrNameLst>
                                          <p:attrName>style.visibility</p:attrName>
                                        </p:attrNameLst>
                                      </p:cBhvr>
                                      <p:to>
                                        <p:strVal val="hidden"/>
                                      </p:to>
                                    </p:set>
                                  </p:childTnLst>
                                </p:cTn>
                              </p:par>
                              <p:par>
                                <p:cTn id="137" presetID="14" presetClass="exit" presetSubtype="10" fill="hold" grpId="0" nodeType="withEffect">
                                  <p:stCondLst>
                                    <p:cond delay="0"/>
                                  </p:stCondLst>
                                  <p:childTnLst>
                                    <p:animEffect transition="out" filter="randombar(horizontal)">
                                      <p:cBhvr>
                                        <p:cTn id="138" dur="500"/>
                                        <p:tgtEl>
                                          <p:spTgt spid="29"/>
                                        </p:tgtEl>
                                      </p:cBhvr>
                                    </p:animEffect>
                                    <p:set>
                                      <p:cBhvr>
                                        <p:cTn id="139" dur="1" fill="hold">
                                          <p:stCondLst>
                                            <p:cond delay="499"/>
                                          </p:stCondLst>
                                        </p:cTn>
                                        <p:tgtEl>
                                          <p:spTgt spid="2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4" presetClass="exit" presetSubtype="10" fill="hold" grpId="0" nodeType="clickEffect">
                                  <p:stCondLst>
                                    <p:cond delay="0"/>
                                  </p:stCondLst>
                                  <p:childTnLst>
                                    <p:animEffect transition="out" filter="randombar(horizontal)">
                                      <p:cBhvr>
                                        <p:cTn id="143" dur="500"/>
                                        <p:tgtEl>
                                          <p:spTgt spid="14"/>
                                        </p:tgtEl>
                                      </p:cBhvr>
                                    </p:animEffect>
                                    <p:set>
                                      <p:cBhvr>
                                        <p:cTn id="144" dur="1" fill="hold">
                                          <p:stCondLst>
                                            <p:cond delay="499"/>
                                          </p:stCondLst>
                                        </p:cTn>
                                        <p:tgtEl>
                                          <p:spTgt spid="14"/>
                                        </p:tgtEl>
                                        <p:attrNameLst>
                                          <p:attrName>style.visibility</p:attrName>
                                        </p:attrNameLst>
                                      </p:cBhvr>
                                      <p:to>
                                        <p:strVal val="hidden"/>
                                      </p:to>
                                    </p:set>
                                  </p:childTnLst>
                                </p:cTn>
                              </p:par>
                              <p:par>
                                <p:cTn id="145" presetID="14" presetClass="exit" presetSubtype="10" fill="hold" grpId="0" nodeType="withEffect">
                                  <p:stCondLst>
                                    <p:cond delay="0"/>
                                  </p:stCondLst>
                                  <p:childTnLst>
                                    <p:animEffect transition="out" filter="randombar(horizontal)">
                                      <p:cBhvr>
                                        <p:cTn id="146" dur="500"/>
                                        <p:tgtEl>
                                          <p:spTgt spid="22"/>
                                        </p:tgtEl>
                                      </p:cBhvr>
                                    </p:animEffect>
                                    <p:set>
                                      <p:cBhvr>
                                        <p:cTn id="147" dur="1" fill="hold">
                                          <p:stCondLst>
                                            <p:cond delay="499"/>
                                          </p:stCondLst>
                                        </p:cTn>
                                        <p:tgtEl>
                                          <p:spTgt spid="22"/>
                                        </p:tgtEl>
                                        <p:attrNameLst>
                                          <p:attrName>style.visibility</p:attrName>
                                        </p:attrNameLst>
                                      </p:cBhvr>
                                      <p:to>
                                        <p:strVal val="hidden"/>
                                      </p:to>
                                    </p:set>
                                  </p:childTnLst>
                                </p:cTn>
                              </p:par>
                              <p:par>
                                <p:cTn id="148" presetID="14" presetClass="exit" presetSubtype="10" fill="hold" grpId="0" nodeType="withEffect">
                                  <p:stCondLst>
                                    <p:cond delay="0"/>
                                  </p:stCondLst>
                                  <p:childTnLst>
                                    <p:animEffect transition="out" filter="randombar(horizontal)">
                                      <p:cBhvr>
                                        <p:cTn id="149" dur="500"/>
                                        <p:tgtEl>
                                          <p:spTgt spid="30"/>
                                        </p:tgtEl>
                                      </p:cBhvr>
                                    </p:animEffect>
                                    <p:set>
                                      <p:cBhvr>
                                        <p:cTn id="150" dur="1" fill="hold">
                                          <p:stCondLst>
                                            <p:cond delay="499"/>
                                          </p:stCondLst>
                                        </p:cTn>
                                        <p:tgtEl>
                                          <p:spTgt spid="30"/>
                                        </p:tgtEl>
                                        <p:attrNameLst>
                                          <p:attrName>style.visibility</p:attrName>
                                        </p:attrNameLst>
                                      </p:cBhvr>
                                      <p:to>
                                        <p:strVal val="hidden"/>
                                      </p:to>
                                    </p:se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48"/>
                                        </p:tgtEl>
                                        <p:attrNameLst>
                                          <p:attrName>style.visibility</p:attrName>
                                        </p:attrNameLst>
                                      </p:cBhvr>
                                      <p:to>
                                        <p:strVal val="visible"/>
                                      </p:to>
                                    </p:set>
                                    <p:animEffect transition="in" filter="wipe(left)">
                                      <p:cBhvr>
                                        <p:cTn id="154" dur="500"/>
                                        <p:tgtEl>
                                          <p:spTgt spid="48"/>
                                        </p:tgtEl>
                                      </p:cBhvr>
                                    </p:animEffect>
                                  </p:childTnLst>
                                </p:cTn>
                              </p:par>
                            </p:childTnLst>
                          </p:cTn>
                        </p:par>
                      </p:childTnLst>
                    </p:cTn>
                  </p:par>
                  <p:par>
                    <p:cTn id="155" fill="hold">
                      <p:stCondLst>
                        <p:cond delay="indefinite"/>
                      </p:stCondLst>
                      <p:childTnLst>
                        <p:par>
                          <p:cTn id="156" fill="hold">
                            <p:stCondLst>
                              <p:cond delay="0"/>
                            </p:stCondLst>
                            <p:childTnLst>
                              <p:par>
                                <p:cTn id="157" presetID="14" presetClass="exit" presetSubtype="10" fill="hold" grpId="0" nodeType="clickEffect">
                                  <p:stCondLst>
                                    <p:cond delay="0"/>
                                  </p:stCondLst>
                                  <p:childTnLst>
                                    <p:animEffect transition="out" filter="randombar(horizontal)">
                                      <p:cBhvr>
                                        <p:cTn id="158" dur="500"/>
                                        <p:tgtEl>
                                          <p:spTgt spid="41"/>
                                        </p:tgtEl>
                                      </p:cBhvr>
                                    </p:animEffect>
                                    <p:set>
                                      <p:cBhvr>
                                        <p:cTn id="159" dur="1" fill="hold">
                                          <p:stCondLst>
                                            <p:cond delay="499"/>
                                          </p:stCondLst>
                                        </p:cTn>
                                        <p:tgtEl>
                                          <p:spTgt spid="41"/>
                                        </p:tgtEl>
                                        <p:attrNameLst>
                                          <p:attrName>style.visibility</p:attrName>
                                        </p:attrNameLst>
                                      </p:cBhvr>
                                      <p:to>
                                        <p:strVal val="hidden"/>
                                      </p:to>
                                    </p:set>
                                  </p:childTnLst>
                                </p:cTn>
                              </p:par>
                              <p:par>
                                <p:cTn id="160" presetID="14" presetClass="exit" presetSubtype="10" fill="hold" grpId="0" nodeType="withEffect">
                                  <p:stCondLst>
                                    <p:cond delay="0"/>
                                  </p:stCondLst>
                                  <p:childTnLst>
                                    <p:animEffect transition="out" filter="randombar(horizontal)">
                                      <p:cBhvr>
                                        <p:cTn id="161" dur="500"/>
                                        <p:tgtEl>
                                          <p:spTgt spid="42"/>
                                        </p:tgtEl>
                                      </p:cBhvr>
                                    </p:animEffect>
                                    <p:set>
                                      <p:cBhvr>
                                        <p:cTn id="162" dur="1" fill="hold">
                                          <p:stCondLst>
                                            <p:cond delay="499"/>
                                          </p:stCondLst>
                                        </p:cTn>
                                        <p:tgtEl>
                                          <p:spTgt spid="42"/>
                                        </p:tgtEl>
                                        <p:attrNameLst>
                                          <p:attrName>style.visibility</p:attrName>
                                        </p:attrNameLst>
                                      </p:cBhvr>
                                      <p:to>
                                        <p:strVal val="hidden"/>
                                      </p:to>
                                    </p:se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6"/>
                                        </p:tgtEl>
                                        <p:attrNameLst>
                                          <p:attrName>style.visibility</p:attrName>
                                        </p:attrNameLst>
                                      </p:cBhvr>
                                      <p:to>
                                        <p:strVal val="visible"/>
                                      </p:to>
                                    </p:set>
                                    <p:animEffect transition="in" filter="fade">
                                      <p:cBhvr>
                                        <p:cTn id="16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Content Placeholder 2">
            <a:extLst>
              <a:ext uri="{FF2B5EF4-FFF2-40B4-BE49-F238E27FC236}">
                <a16:creationId xmlns:a16="http://schemas.microsoft.com/office/drawing/2014/main" id="{88E0944F-C178-04F0-28D9-F65E77EB7F9B}"/>
              </a:ext>
            </a:extLst>
          </p:cNvPr>
          <p:cNvSpPr txBox="1">
            <a:spLocks/>
          </p:cNvSpPr>
          <p:nvPr/>
        </p:nvSpPr>
        <p:spPr>
          <a:xfrm>
            <a:off x="131180" y="863444"/>
            <a:ext cx="11929641" cy="5590565"/>
          </a:xfrm>
          <a:prstGeom prst="rect">
            <a:avLst/>
          </a:prstGeom>
          <a:solidFill>
            <a:srgbClr val="424242"/>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1D6FA9">
                    <a:lumMod val="60000"/>
                    <a:lumOff val="40000"/>
                  </a:srgbClr>
                </a:solidFill>
                <a:effectLst/>
                <a:uLnTx/>
                <a:uFillTx/>
                <a:latin typeface="Consolas" pitchFamily="49" charset="0"/>
                <a:ea typeface="+mn-ea"/>
                <a:cs typeface="Consolas" pitchFamily="49" charset="0"/>
              </a:rPr>
              <a:t>Function Kruskal(G = (N, A))</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Sort A by increasing length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n ← the number of nodes in N</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T ← Ø {edges of the minimum spanning tree}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Define n sets, containing a different element of set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repeat</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e ← {u, v} </a:t>
            </a:r>
            <a:r>
              <a:rPr kumimoji="0" lang="en-IN" sz="18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//e is the shortest edge not yet considered</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find(u)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find(v)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if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then merge(</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T ← T U {e}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until T contains n - 1 edges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return 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66BCD246-1630-585A-7DCC-782F2DAAD639}"/>
              </a:ext>
            </a:extLst>
          </p:cNvPr>
          <p:cNvSpPr txBox="1"/>
          <p:nvPr/>
        </p:nvSpPr>
        <p:spPr>
          <a:xfrm>
            <a:off x="131180" y="215200"/>
            <a:ext cx="6194322"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Kruskal’s Algorithm for MST </a:t>
            </a:r>
          </a:p>
        </p:txBody>
      </p:sp>
    </p:spTree>
    <p:extLst>
      <p:ext uri="{BB962C8B-B14F-4D97-AF65-F5344CB8AC3E}">
        <p14:creationId xmlns:p14="http://schemas.microsoft.com/office/powerpoint/2010/main" val="279680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72F230F-EB91-CB8E-4BFF-C2E8740C9C45}"/>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The complexity for the </a:t>
                </a:r>
                <a:r>
                  <a:rPr kumimoji="0" lang="en-US" sz="2400" b="0" i="0" u="none" strike="noStrike" kern="1200" cap="none" spc="0" normalizeH="0" baseline="0" noProof="0" dirty="0" err="1">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Kruskal’s</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algorithm is in </a:t>
                </a:r>
                <a14:m>
                  <m:oMath xmlns:m="http://schemas.openxmlformats.org/officeDocument/2006/math">
                    <m:r>
                      <a:rPr kumimoji="0" lang="el-GR" sz="2400" b="1" i="1" u="none" strike="noStrike" kern="1200" cap="none" spc="0" normalizeH="0" baseline="0" noProof="0" dirty="0" smtClean="0">
                        <a:ln>
                          <a:noFill/>
                        </a:ln>
                        <a:solidFill>
                          <a:srgbClr val="AD1457"/>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𝜽</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𝒂</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𝒍𝒐𝒈</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𝒏</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where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𝒂</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is total number of </a:t>
                </a:r>
                <a:r>
                  <a:rPr kumimoji="0" lang="en-US" sz="2400" b="0" i="0" u="none" strike="noStrike" kern="1200" cap="none" spc="0" normalizeH="0" baseline="0" noProof="0" dirty="0">
                    <a:ln>
                      <a:noFill/>
                    </a:ln>
                    <a:solidFill>
                      <a:srgbClr val="AD1457"/>
                    </a:solidFill>
                    <a:effectLst/>
                    <a:uLnTx/>
                    <a:uFillTx/>
                    <a:latin typeface="Roboto Condensed"/>
                    <a:ea typeface="Times New Roman" panose="02020603050405020304" pitchFamily="18" charset="0"/>
                    <a:cs typeface="Times New Roman" panose="02020603050405020304" pitchFamily="18" charset="0"/>
                  </a:rPr>
                  <a:t>edges </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and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𝒏</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is the total number of </a:t>
                </a:r>
                <a:r>
                  <a:rPr kumimoji="0" lang="en-US" sz="2400" b="0" i="0" u="none" strike="noStrike" kern="1200" cap="none" spc="0" normalizeH="0" baseline="0" noProof="0" dirty="0">
                    <a:ln>
                      <a:noFill/>
                    </a:ln>
                    <a:solidFill>
                      <a:srgbClr val="AD1457"/>
                    </a:solidFill>
                    <a:effectLst/>
                    <a:uLnTx/>
                    <a:uFillTx/>
                    <a:latin typeface="Roboto Condensed"/>
                    <a:ea typeface="Times New Roman" panose="02020603050405020304" pitchFamily="18" charset="0"/>
                    <a:cs typeface="Times New Roman" panose="02020603050405020304" pitchFamily="18" charset="0"/>
                  </a:rPr>
                  <a:t>nodes</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in the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𝐺</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a:t>
                </a:r>
                <a:endPar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Shruti" panose="020B0502040204020203" pitchFamily="34" charset="0"/>
                </a:endParaRPr>
              </a:p>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Write the </a:t>
                </a:r>
                <a:r>
                  <a:rPr kumimoji="0" lang="en-US" sz="2400" b="0" i="0" u="none" strike="noStrike" kern="1200" cap="none" spc="0" normalizeH="0" baseline="0" noProof="0" dirty="0" err="1">
                    <a:ln>
                      <a:noFill/>
                    </a:ln>
                    <a:solidFill>
                      <a:srgbClr val="212121"/>
                    </a:solidFill>
                    <a:effectLst/>
                    <a:uLnTx/>
                    <a:uFillTx/>
                    <a:latin typeface="Roboto Condensed"/>
                    <a:ea typeface="+mn-ea"/>
                    <a:cs typeface="+mn-cs"/>
                  </a:rPr>
                  <a:t>kruskal’s</a:t>
                </a: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 Algorithm to find out Minimum Spanning Tree. Apply the same and find MST for the graph given below.</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4" name="Content Placeholder 2">
                <a:extLst>
                  <a:ext uri="{FF2B5EF4-FFF2-40B4-BE49-F238E27FC236}">
                    <a16:creationId xmlns:a16="http://schemas.microsoft.com/office/drawing/2014/main" id="{272F230F-EB91-CB8E-4BFF-C2E8740C9C45}"/>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6"/>
                <a:stretch>
                  <a:fillRect l="-716" t="-1418" r="-818"/>
                </a:stretch>
              </a:blipFill>
            </p:spPr>
            <p:txBody>
              <a:bodyPr/>
              <a:lstStyle/>
              <a:p>
                <a:r>
                  <a:rPr lang="en-IN">
                    <a:noFill/>
                  </a:rPr>
                  <a:t> </a:t>
                </a:r>
              </a:p>
            </p:txBody>
          </p:sp>
        </mc:Fallback>
      </mc:AlternateContent>
      <p:sp>
        <p:nvSpPr>
          <p:cNvPr id="5" name="Text Box 56">
            <a:extLst>
              <a:ext uri="{FF2B5EF4-FFF2-40B4-BE49-F238E27FC236}">
                <a16:creationId xmlns:a16="http://schemas.microsoft.com/office/drawing/2014/main" id="{1A80AA27-B8AF-FB3E-23EA-3E0AC5AEC753}"/>
              </a:ext>
            </a:extLst>
          </p:cNvPr>
          <p:cNvSpPr txBox="1">
            <a:spLocks noChangeArrowheads="1"/>
          </p:cNvSpPr>
          <p:nvPr/>
        </p:nvSpPr>
        <p:spPr bwMode="auto">
          <a:xfrm>
            <a:off x="1556665" y="4406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 name="Line 57">
            <a:extLst>
              <a:ext uri="{FF2B5EF4-FFF2-40B4-BE49-F238E27FC236}">
                <a16:creationId xmlns:a16="http://schemas.microsoft.com/office/drawing/2014/main" id="{CC905307-6445-6EA4-1D99-9580BD7A6834}"/>
              </a:ext>
            </a:extLst>
          </p:cNvPr>
          <p:cNvSpPr>
            <a:spLocks noChangeShapeType="1"/>
          </p:cNvSpPr>
          <p:nvPr/>
        </p:nvSpPr>
        <p:spPr bwMode="auto">
          <a:xfrm flipH="1">
            <a:off x="4257003" y="4710948"/>
            <a:ext cx="3810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7" name="Text Box 58">
            <a:extLst>
              <a:ext uri="{FF2B5EF4-FFF2-40B4-BE49-F238E27FC236}">
                <a16:creationId xmlns:a16="http://schemas.microsoft.com/office/drawing/2014/main" id="{E5FDABEF-3B20-CA8E-EBB2-CDBF4622E3B1}"/>
              </a:ext>
            </a:extLst>
          </p:cNvPr>
          <p:cNvSpPr txBox="1">
            <a:spLocks noChangeArrowheads="1"/>
          </p:cNvSpPr>
          <p:nvPr/>
        </p:nvSpPr>
        <p:spPr bwMode="auto">
          <a:xfrm>
            <a:off x="4147465" y="5103616"/>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   1</a:t>
            </a:r>
          </a:p>
        </p:txBody>
      </p:sp>
      <p:sp>
        <p:nvSpPr>
          <p:cNvPr id="8" name="Line 59">
            <a:extLst>
              <a:ext uri="{FF2B5EF4-FFF2-40B4-BE49-F238E27FC236}">
                <a16:creationId xmlns:a16="http://schemas.microsoft.com/office/drawing/2014/main" id="{4BB58EAB-EFA1-CAED-8504-2228C67FE4CF}"/>
              </a:ext>
            </a:extLst>
          </p:cNvPr>
          <p:cNvSpPr>
            <a:spLocks noChangeShapeType="1"/>
          </p:cNvSpPr>
          <p:nvPr/>
        </p:nvSpPr>
        <p:spPr bwMode="auto">
          <a:xfrm>
            <a:off x="3004465" y="3758448"/>
            <a:ext cx="152400" cy="6858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9" name="Line 60">
            <a:extLst>
              <a:ext uri="{FF2B5EF4-FFF2-40B4-BE49-F238E27FC236}">
                <a16:creationId xmlns:a16="http://schemas.microsoft.com/office/drawing/2014/main" id="{5C4F5BCD-8A8E-39C5-E2D6-6F56FBE8C31E}"/>
              </a:ext>
            </a:extLst>
          </p:cNvPr>
          <p:cNvSpPr>
            <a:spLocks noChangeShapeType="1"/>
          </p:cNvSpPr>
          <p:nvPr/>
        </p:nvSpPr>
        <p:spPr bwMode="auto">
          <a:xfrm flipV="1">
            <a:off x="3309265" y="3872748"/>
            <a:ext cx="5334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0" name="Line 61">
            <a:extLst>
              <a:ext uri="{FF2B5EF4-FFF2-40B4-BE49-F238E27FC236}">
                <a16:creationId xmlns:a16="http://schemas.microsoft.com/office/drawing/2014/main" id="{C3E8AE49-29D4-B8F0-3C5E-8A93E2D6CC6B}"/>
              </a:ext>
            </a:extLst>
          </p:cNvPr>
          <p:cNvSpPr>
            <a:spLocks noChangeShapeType="1"/>
          </p:cNvSpPr>
          <p:nvPr/>
        </p:nvSpPr>
        <p:spPr bwMode="auto">
          <a:xfrm flipH="1" flipV="1">
            <a:off x="3156865" y="3796548"/>
            <a:ext cx="1219200" cy="8382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1" name="Line 62">
            <a:extLst>
              <a:ext uri="{FF2B5EF4-FFF2-40B4-BE49-F238E27FC236}">
                <a16:creationId xmlns:a16="http://schemas.microsoft.com/office/drawing/2014/main" id="{77C17ABE-3C63-2015-16E7-4062E38FEB61}"/>
              </a:ext>
            </a:extLst>
          </p:cNvPr>
          <p:cNvSpPr>
            <a:spLocks noChangeShapeType="1"/>
          </p:cNvSpPr>
          <p:nvPr/>
        </p:nvSpPr>
        <p:spPr bwMode="auto">
          <a:xfrm flipV="1">
            <a:off x="1937665" y="4710947"/>
            <a:ext cx="1021894" cy="314429"/>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2" name="Line 63">
            <a:extLst>
              <a:ext uri="{FF2B5EF4-FFF2-40B4-BE49-F238E27FC236}">
                <a16:creationId xmlns:a16="http://schemas.microsoft.com/office/drawing/2014/main" id="{33BAC6A6-8BFF-E1D7-689E-F60F1912DDAB}"/>
              </a:ext>
            </a:extLst>
          </p:cNvPr>
          <p:cNvSpPr>
            <a:spLocks noChangeShapeType="1"/>
          </p:cNvSpPr>
          <p:nvPr/>
        </p:nvSpPr>
        <p:spPr bwMode="auto">
          <a:xfrm flipV="1">
            <a:off x="2852065" y="4786037"/>
            <a:ext cx="1447800" cy="83931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3" name="Line 64">
            <a:extLst>
              <a:ext uri="{FF2B5EF4-FFF2-40B4-BE49-F238E27FC236}">
                <a16:creationId xmlns:a16="http://schemas.microsoft.com/office/drawing/2014/main" id="{5346C8C6-BAAD-E066-ADDF-BA5C2D7DE84A}"/>
              </a:ext>
            </a:extLst>
          </p:cNvPr>
          <p:cNvSpPr>
            <a:spLocks noChangeShapeType="1"/>
          </p:cNvSpPr>
          <p:nvPr/>
        </p:nvSpPr>
        <p:spPr bwMode="auto">
          <a:xfrm flipV="1">
            <a:off x="1785264" y="4329947"/>
            <a:ext cx="78607" cy="550251"/>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4" name="Line 65">
            <a:extLst>
              <a:ext uri="{FF2B5EF4-FFF2-40B4-BE49-F238E27FC236}">
                <a16:creationId xmlns:a16="http://schemas.microsoft.com/office/drawing/2014/main" id="{A06233A0-8EDD-CC6E-DA2E-9FB1EFB4FDE5}"/>
              </a:ext>
            </a:extLst>
          </p:cNvPr>
          <p:cNvSpPr>
            <a:spLocks noChangeShapeType="1"/>
          </p:cNvSpPr>
          <p:nvPr/>
        </p:nvSpPr>
        <p:spPr bwMode="auto">
          <a:xfrm>
            <a:off x="2013864" y="4177547"/>
            <a:ext cx="94328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5" name="Line 66">
            <a:extLst>
              <a:ext uri="{FF2B5EF4-FFF2-40B4-BE49-F238E27FC236}">
                <a16:creationId xmlns:a16="http://schemas.microsoft.com/office/drawing/2014/main" id="{F0966782-5AF1-62A1-1724-520643684A0E}"/>
              </a:ext>
            </a:extLst>
          </p:cNvPr>
          <p:cNvSpPr>
            <a:spLocks noChangeShapeType="1"/>
          </p:cNvSpPr>
          <p:nvPr/>
        </p:nvSpPr>
        <p:spPr bwMode="auto">
          <a:xfrm>
            <a:off x="3201315" y="3601286"/>
            <a:ext cx="6096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6" name="Line 67">
            <a:extLst>
              <a:ext uri="{FF2B5EF4-FFF2-40B4-BE49-F238E27FC236}">
                <a16:creationId xmlns:a16="http://schemas.microsoft.com/office/drawing/2014/main" id="{A19806BB-AA51-7F24-D45E-2D8685BE1446}"/>
              </a:ext>
            </a:extLst>
          </p:cNvPr>
          <p:cNvSpPr>
            <a:spLocks noChangeShapeType="1"/>
          </p:cNvSpPr>
          <p:nvPr/>
        </p:nvSpPr>
        <p:spPr bwMode="auto">
          <a:xfrm>
            <a:off x="4071265" y="3872748"/>
            <a:ext cx="381000" cy="6096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7" name="Oval 68">
            <a:extLst>
              <a:ext uri="{FF2B5EF4-FFF2-40B4-BE49-F238E27FC236}">
                <a16:creationId xmlns:a16="http://schemas.microsoft.com/office/drawing/2014/main" id="{66C8F61E-2AE1-EE3F-D442-205874A72FB2}"/>
              </a:ext>
            </a:extLst>
          </p:cNvPr>
          <p:cNvSpPr>
            <a:spLocks noChangeArrowheads="1"/>
          </p:cNvSpPr>
          <p:nvPr/>
        </p:nvSpPr>
        <p:spPr bwMode="auto">
          <a:xfrm>
            <a:off x="1556665" y="4025148"/>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212121"/>
              </a:solidFill>
              <a:latin typeface="Roboto Condensed"/>
            </a:endParaRPr>
          </a:p>
        </p:txBody>
      </p:sp>
      <p:sp>
        <p:nvSpPr>
          <p:cNvPr id="18" name="Oval 69">
            <a:extLst>
              <a:ext uri="{FF2B5EF4-FFF2-40B4-BE49-F238E27FC236}">
                <a16:creationId xmlns:a16="http://schemas.microsoft.com/office/drawing/2014/main" id="{416A1888-2A9A-92F4-F480-09BB42F96FCE}"/>
              </a:ext>
            </a:extLst>
          </p:cNvPr>
          <p:cNvSpPr>
            <a:spLocks noChangeArrowheads="1"/>
          </p:cNvSpPr>
          <p:nvPr/>
        </p:nvSpPr>
        <p:spPr bwMode="auto">
          <a:xfrm>
            <a:off x="1709065" y="3872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A</a:t>
            </a:r>
          </a:p>
        </p:txBody>
      </p:sp>
      <p:sp>
        <p:nvSpPr>
          <p:cNvPr id="19" name="Oval 70">
            <a:extLst>
              <a:ext uri="{FF2B5EF4-FFF2-40B4-BE49-F238E27FC236}">
                <a16:creationId xmlns:a16="http://schemas.microsoft.com/office/drawing/2014/main" id="{77E389E5-08D7-3AE7-D226-3D48F4A36018}"/>
              </a:ext>
            </a:extLst>
          </p:cNvPr>
          <p:cNvSpPr>
            <a:spLocks noChangeArrowheads="1"/>
          </p:cNvSpPr>
          <p:nvPr/>
        </p:nvSpPr>
        <p:spPr bwMode="auto">
          <a:xfrm>
            <a:off x="1556665" y="47871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H</a:t>
            </a:r>
          </a:p>
        </p:txBody>
      </p:sp>
      <p:sp>
        <p:nvSpPr>
          <p:cNvPr id="20" name="Oval 71">
            <a:extLst>
              <a:ext uri="{FF2B5EF4-FFF2-40B4-BE49-F238E27FC236}">
                <a16:creationId xmlns:a16="http://schemas.microsoft.com/office/drawing/2014/main" id="{8F0B5B9E-827E-54CA-ACF5-683208D195ED}"/>
              </a:ext>
            </a:extLst>
          </p:cNvPr>
          <p:cNvSpPr>
            <a:spLocks noChangeArrowheads="1"/>
          </p:cNvSpPr>
          <p:nvPr/>
        </p:nvSpPr>
        <p:spPr bwMode="auto">
          <a:xfrm>
            <a:off x="2928265" y="44061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B</a:t>
            </a:r>
          </a:p>
        </p:txBody>
      </p:sp>
      <p:sp>
        <p:nvSpPr>
          <p:cNvPr id="21" name="Oval 72">
            <a:extLst>
              <a:ext uri="{FF2B5EF4-FFF2-40B4-BE49-F238E27FC236}">
                <a16:creationId xmlns:a16="http://schemas.microsoft.com/office/drawing/2014/main" id="{F6266B5D-F2AA-8A54-01DB-CB791FDECFF9}"/>
              </a:ext>
            </a:extLst>
          </p:cNvPr>
          <p:cNvSpPr>
            <a:spLocks noChangeArrowheads="1"/>
          </p:cNvSpPr>
          <p:nvPr/>
        </p:nvSpPr>
        <p:spPr bwMode="auto">
          <a:xfrm>
            <a:off x="2775865" y="34155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F</a:t>
            </a:r>
          </a:p>
        </p:txBody>
      </p:sp>
      <p:sp>
        <p:nvSpPr>
          <p:cNvPr id="22" name="Oval 73">
            <a:extLst>
              <a:ext uri="{FF2B5EF4-FFF2-40B4-BE49-F238E27FC236}">
                <a16:creationId xmlns:a16="http://schemas.microsoft.com/office/drawing/2014/main" id="{5AB03D8E-9F13-94E4-C4EB-52FA58A5FB67}"/>
              </a:ext>
            </a:extLst>
          </p:cNvPr>
          <p:cNvSpPr>
            <a:spLocks noChangeArrowheads="1"/>
          </p:cNvSpPr>
          <p:nvPr/>
        </p:nvSpPr>
        <p:spPr bwMode="auto">
          <a:xfrm>
            <a:off x="3842665" y="5396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E</a:t>
            </a:r>
          </a:p>
        </p:txBody>
      </p:sp>
      <p:sp>
        <p:nvSpPr>
          <p:cNvPr id="23" name="Oval 74">
            <a:extLst>
              <a:ext uri="{FF2B5EF4-FFF2-40B4-BE49-F238E27FC236}">
                <a16:creationId xmlns:a16="http://schemas.microsoft.com/office/drawing/2014/main" id="{A583163C-4C6B-9655-6959-B0822C1DC0DE}"/>
              </a:ext>
            </a:extLst>
          </p:cNvPr>
          <p:cNvSpPr>
            <a:spLocks noChangeArrowheads="1"/>
          </p:cNvSpPr>
          <p:nvPr/>
        </p:nvSpPr>
        <p:spPr bwMode="auto">
          <a:xfrm>
            <a:off x="4299865" y="44823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D</a:t>
            </a:r>
          </a:p>
        </p:txBody>
      </p:sp>
      <p:sp>
        <p:nvSpPr>
          <p:cNvPr id="24" name="Oval 75">
            <a:extLst>
              <a:ext uri="{FF2B5EF4-FFF2-40B4-BE49-F238E27FC236}">
                <a16:creationId xmlns:a16="http://schemas.microsoft.com/office/drawing/2014/main" id="{B62EB5CA-15DC-4356-A8F5-739F11A12BD6}"/>
              </a:ext>
            </a:extLst>
          </p:cNvPr>
          <p:cNvSpPr>
            <a:spLocks noChangeArrowheads="1"/>
          </p:cNvSpPr>
          <p:nvPr/>
        </p:nvSpPr>
        <p:spPr bwMode="auto">
          <a:xfrm>
            <a:off x="3766465" y="3491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C</a:t>
            </a:r>
          </a:p>
        </p:txBody>
      </p:sp>
      <p:sp>
        <p:nvSpPr>
          <p:cNvPr id="25" name="Oval 76">
            <a:extLst>
              <a:ext uri="{FF2B5EF4-FFF2-40B4-BE49-F238E27FC236}">
                <a16:creationId xmlns:a16="http://schemas.microsoft.com/office/drawing/2014/main" id="{5E346C81-982E-017B-C41A-BFE3FA4315EC}"/>
              </a:ext>
            </a:extLst>
          </p:cNvPr>
          <p:cNvSpPr>
            <a:spLocks noChangeArrowheads="1"/>
          </p:cNvSpPr>
          <p:nvPr/>
        </p:nvSpPr>
        <p:spPr bwMode="auto">
          <a:xfrm>
            <a:off x="2547265" y="5396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G</a:t>
            </a:r>
          </a:p>
        </p:txBody>
      </p:sp>
      <p:sp>
        <p:nvSpPr>
          <p:cNvPr id="26" name="Line 77">
            <a:extLst>
              <a:ext uri="{FF2B5EF4-FFF2-40B4-BE49-F238E27FC236}">
                <a16:creationId xmlns:a16="http://schemas.microsoft.com/office/drawing/2014/main" id="{0632F53B-A20F-B888-5C67-B29E826DCB2B}"/>
              </a:ext>
            </a:extLst>
          </p:cNvPr>
          <p:cNvSpPr>
            <a:spLocks noChangeShapeType="1"/>
          </p:cNvSpPr>
          <p:nvPr/>
        </p:nvSpPr>
        <p:spPr bwMode="auto">
          <a:xfrm>
            <a:off x="3309265" y="4787147"/>
            <a:ext cx="609600" cy="674133"/>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7" name="Line 78">
            <a:extLst>
              <a:ext uri="{FF2B5EF4-FFF2-40B4-BE49-F238E27FC236}">
                <a16:creationId xmlns:a16="http://schemas.microsoft.com/office/drawing/2014/main" id="{9B9458DF-00A8-C0FA-BC98-EE0FFBDE9D3C}"/>
              </a:ext>
            </a:extLst>
          </p:cNvPr>
          <p:cNvSpPr>
            <a:spLocks noChangeShapeType="1"/>
          </p:cNvSpPr>
          <p:nvPr/>
        </p:nvSpPr>
        <p:spPr bwMode="auto">
          <a:xfrm flipH="1">
            <a:off x="3004465" y="5701548"/>
            <a:ext cx="8382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8" name="Line 79">
            <a:extLst>
              <a:ext uri="{FF2B5EF4-FFF2-40B4-BE49-F238E27FC236}">
                <a16:creationId xmlns:a16="http://schemas.microsoft.com/office/drawing/2014/main" id="{B1121846-93B4-FF7D-13E9-7FC179EBA223}"/>
              </a:ext>
            </a:extLst>
          </p:cNvPr>
          <p:cNvSpPr>
            <a:spLocks noChangeShapeType="1"/>
          </p:cNvSpPr>
          <p:nvPr/>
        </p:nvSpPr>
        <p:spPr bwMode="auto">
          <a:xfrm flipH="1" flipV="1">
            <a:off x="1937664" y="5168147"/>
            <a:ext cx="62885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9" name="Text Box 80">
            <a:extLst>
              <a:ext uri="{FF2B5EF4-FFF2-40B4-BE49-F238E27FC236}">
                <a16:creationId xmlns:a16="http://schemas.microsoft.com/office/drawing/2014/main" id="{49D731B0-3D6E-006C-CE81-3941EB6649FA}"/>
              </a:ext>
            </a:extLst>
          </p:cNvPr>
          <p:cNvSpPr txBox="1">
            <a:spLocks noChangeArrowheads="1"/>
          </p:cNvSpPr>
          <p:nvPr/>
        </p:nvSpPr>
        <p:spPr bwMode="auto">
          <a:xfrm>
            <a:off x="3309265" y="5625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0" name="Text Box 81">
            <a:extLst>
              <a:ext uri="{FF2B5EF4-FFF2-40B4-BE49-F238E27FC236}">
                <a16:creationId xmlns:a16="http://schemas.microsoft.com/office/drawing/2014/main" id="{ED815769-FBC3-2A4C-6991-680AA71CF18F}"/>
              </a:ext>
            </a:extLst>
          </p:cNvPr>
          <p:cNvSpPr txBox="1">
            <a:spLocks noChangeArrowheads="1"/>
          </p:cNvSpPr>
          <p:nvPr/>
        </p:nvSpPr>
        <p:spPr bwMode="auto">
          <a:xfrm>
            <a:off x="3134640" y="50157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31" name="Text Box 82">
            <a:extLst>
              <a:ext uri="{FF2B5EF4-FFF2-40B4-BE49-F238E27FC236}">
                <a16:creationId xmlns:a16="http://schemas.microsoft.com/office/drawing/2014/main" id="{1EF80DBC-C67E-89F5-C3AA-24BCE269170A}"/>
              </a:ext>
            </a:extLst>
          </p:cNvPr>
          <p:cNvSpPr txBox="1">
            <a:spLocks noChangeArrowheads="1"/>
          </p:cNvSpPr>
          <p:nvPr/>
        </p:nvSpPr>
        <p:spPr bwMode="auto">
          <a:xfrm>
            <a:off x="3439440" y="47109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2" name="Text Box 83">
            <a:extLst>
              <a:ext uri="{FF2B5EF4-FFF2-40B4-BE49-F238E27FC236}">
                <a16:creationId xmlns:a16="http://schemas.microsoft.com/office/drawing/2014/main" id="{F0DFB8EC-57AC-66D0-9F7A-2E1C2C35672F}"/>
              </a:ext>
            </a:extLst>
          </p:cNvPr>
          <p:cNvSpPr txBox="1">
            <a:spLocks noChangeArrowheads="1"/>
          </p:cNvSpPr>
          <p:nvPr/>
        </p:nvSpPr>
        <p:spPr bwMode="auto">
          <a:xfrm>
            <a:off x="3766465" y="4296611"/>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6</a:t>
            </a:r>
          </a:p>
        </p:txBody>
      </p:sp>
      <p:sp>
        <p:nvSpPr>
          <p:cNvPr id="33" name="Text Box 84">
            <a:extLst>
              <a:ext uri="{FF2B5EF4-FFF2-40B4-BE49-F238E27FC236}">
                <a16:creationId xmlns:a16="http://schemas.microsoft.com/office/drawing/2014/main" id="{BEA238E4-511E-FF9E-3980-3F40D823CE06}"/>
              </a:ext>
            </a:extLst>
          </p:cNvPr>
          <p:cNvSpPr txBox="1">
            <a:spLocks noChangeArrowheads="1"/>
          </p:cNvSpPr>
          <p:nvPr/>
        </p:nvSpPr>
        <p:spPr bwMode="auto">
          <a:xfrm>
            <a:off x="4223665" y="39489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34" name="Text Box 85">
            <a:extLst>
              <a:ext uri="{FF2B5EF4-FFF2-40B4-BE49-F238E27FC236}">
                <a16:creationId xmlns:a16="http://schemas.microsoft.com/office/drawing/2014/main" id="{AE5B5B59-D686-E109-2D07-AE2B4A6A8B86}"/>
              </a:ext>
            </a:extLst>
          </p:cNvPr>
          <p:cNvSpPr txBox="1">
            <a:spLocks noChangeArrowheads="1"/>
          </p:cNvSpPr>
          <p:nvPr/>
        </p:nvSpPr>
        <p:spPr bwMode="auto">
          <a:xfrm>
            <a:off x="3298153" y="4025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5" name="Text Box 88">
            <a:extLst>
              <a:ext uri="{FF2B5EF4-FFF2-40B4-BE49-F238E27FC236}">
                <a16:creationId xmlns:a16="http://schemas.microsoft.com/office/drawing/2014/main" id="{BD092AED-E1FE-1C19-4E1D-18C836419728}"/>
              </a:ext>
            </a:extLst>
          </p:cNvPr>
          <p:cNvSpPr txBox="1">
            <a:spLocks noChangeArrowheads="1"/>
          </p:cNvSpPr>
          <p:nvPr/>
        </p:nvSpPr>
        <p:spPr bwMode="auto">
          <a:xfrm>
            <a:off x="2463626" y="4101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8</a:t>
            </a:r>
          </a:p>
        </p:txBody>
      </p:sp>
      <p:sp>
        <p:nvSpPr>
          <p:cNvPr id="36" name="Text Box 89">
            <a:extLst>
              <a:ext uri="{FF2B5EF4-FFF2-40B4-BE49-F238E27FC236}">
                <a16:creationId xmlns:a16="http://schemas.microsoft.com/office/drawing/2014/main" id="{35B45971-F034-A925-86E5-CCF44FA436BC}"/>
              </a:ext>
            </a:extLst>
          </p:cNvPr>
          <p:cNvSpPr txBox="1">
            <a:spLocks noChangeArrowheads="1"/>
          </p:cNvSpPr>
          <p:nvPr/>
        </p:nvSpPr>
        <p:spPr bwMode="auto">
          <a:xfrm>
            <a:off x="2242465" y="4558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4</a:t>
            </a:r>
          </a:p>
        </p:txBody>
      </p:sp>
      <p:sp>
        <p:nvSpPr>
          <p:cNvPr id="37" name="Text Box 90">
            <a:extLst>
              <a:ext uri="{FF2B5EF4-FFF2-40B4-BE49-F238E27FC236}">
                <a16:creationId xmlns:a16="http://schemas.microsoft.com/office/drawing/2014/main" id="{2A8002DB-483C-AE89-F0F2-713EC201531A}"/>
              </a:ext>
            </a:extLst>
          </p:cNvPr>
          <p:cNvSpPr txBox="1">
            <a:spLocks noChangeArrowheads="1"/>
          </p:cNvSpPr>
          <p:nvPr/>
        </p:nvSpPr>
        <p:spPr bwMode="auto">
          <a:xfrm>
            <a:off x="2078953" y="5311023"/>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8" name="Line 91">
            <a:extLst>
              <a:ext uri="{FF2B5EF4-FFF2-40B4-BE49-F238E27FC236}">
                <a16:creationId xmlns:a16="http://schemas.microsoft.com/office/drawing/2014/main" id="{DF463118-EDC3-341C-36C0-1935428103DB}"/>
              </a:ext>
            </a:extLst>
          </p:cNvPr>
          <p:cNvSpPr>
            <a:spLocks noChangeShapeType="1"/>
          </p:cNvSpPr>
          <p:nvPr/>
        </p:nvSpPr>
        <p:spPr bwMode="auto">
          <a:xfrm flipV="1">
            <a:off x="2052244" y="3603204"/>
            <a:ext cx="725896" cy="280025"/>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39" name="Text Box 92">
            <a:extLst>
              <a:ext uri="{FF2B5EF4-FFF2-40B4-BE49-F238E27FC236}">
                <a16:creationId xmlns:a16="http://schemas.microsoft.com/office/drawing/2014/main" id="{2F1CAE19-7871-E52D-CCE1-E3B02CDEA97B}"/>
              </a:ext>
            </a:extLst>
          </p:cNvPr>
          <p:cNvSpPr txBox="1">
            <a:spLocks noChangeArrowheads="1"/>
          </p:cNvSpPr>
          <p:nvPr/>
        </p:nvSpPr>
        <p:spPr bwMode="auto">
          <a:xfrm>
            <a:off x="2166265" y="34155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10</a:t>
            </a:r>
          </a:p>
        </p:txBody>
      </p:sp>
      <p:sp>
        <p:nvSpPr>
          <p:cNvPr id="40" name="Text Box 84">
            <a:extLst>
              <a:ext uri="{FF2B5EF4-FFF2-40B4-BE49-F238E27FC236}">
                <a16:creationId xmlns:a16="http://schemas.microsoft.com/office/drawing/2014/main" id="{E40147C8-564B-6E1A-DCF7-1A8D6040EF6C}"/>
              </a:ext>
            </a:extLst>
          </p:cNvPr>
          <p:cNvSpPr txBox="1">
            <a:spLocks noChangeArrowheads="1"/>
          </p:cNvSpPr>
          <p:nvPr/>
        </p:nvSpPr>
        <p:spPr bwMode="auto">
          <a:xfrm>
            <a:off x="3309265" y="329704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41" name="Text Box 87">
            <a:extLst>
              <a:ext uri="{FF2B5EF4-FFF2-40B4-BE49-F238E27FC236}">
                <a16:creationId xmlns:a16="http://schemas.microsoft.com/office/drawing/2014/main" id="{DE442D30-0404-C9DB-DD17-2E8262D56669}"/>
              </a:ext>
            </a:extLst>
          </p:cNvPr>
          <p:cNvSpPr txBox="1">
            <a:spLocks noChangeArrowheads="1"/>
          </p:cNvSpPr>
          <p:nvPr/>
        </p:nvSpPr>
        <p:spPr bwMode="auto">
          <a:xfrm>
            <a:off x="2852065" y="3948947"/>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b="1">
                <a:solidFill>
                  <a:srgbClr val="212121"/>
                </a:solidFill>
                <a:latin typeface="Roboto Condensed"/>
              </a:rPr>
              <a:t>4</a:t>
            </a:r>
          </a:p>
        </p:txBody>
      </p:sp>
      <p:cxnSp>
        <p:nvCxnSpPr>
          <p:cNvPr id="42" name="Straight Connector 41">
            <a:extLst>
              <a:ext uri="{FF2B5EF4-FFF2-40B4-BE49-F238E27FC236}">
                <a16:creationId xmlns:a16="http://schemas.microsoft.com/office/drawing/2014/main" id="{3EA31BF4-B41C-6983-EC8B-5F3CD7B9DC82}"/>
              </a:ext>
            </a:extLst>
          </p:cNvPr>
          <p:cNvCxnSpPr/>
          <p:nvPr/>
        </p:nvCxnSpPr>
        <p:spPr>
          <a:xfrm flipH="1">
            <a:off x="5184750" y="3021485"/>
            <a:ext cx="908" cy="3140940"/>
          </a:xfrm>
          <a:prstGeom prst="line">
            <a:avLst/>
          </a:prstGeom>
          <a:noFill/>
          <a:ln w="28575" cap="flat" cmpd="sng" algn="ctr">
            <a:solidFill>
              <a:srgbClr val="F19D19"/>
            </a:solidFill>
            <a:prstDash val="solid"/>
            <a:miter lim="800000"/>
          </a:ln>
          <a:effectLst/>
        </p:spPr>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10BA414-FA89-87AD-71CD-9B620E524C8D}"/>
                  </a:ext>
                </a:extLst>
              </p:cNvPr>
              <p:cNvSpPr txBox="1"/>
              <p:nvPr/>
            </p:nvSpPr>
            <p:spPr>
              <a:xfrm>
                <a:off x="1556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43" name="TextBox 42">
                <a:extLst>
                  <a:ext uri="{FF2B5EF4-FFF2-40B4-BE49-F238E27FC236}">
                    <a16:creationId xmlns:a16="http://schemas.microsoft.com/office/drawing/2014/main" id="{610BA414-FA89-87AD-71CD-9B620E524C8D}"/>
                  </a:ext>
                </a:extLst>
              </p:cNvPr>
              <p:cNvSpPr txBox="1">
                <a:spLocks noRot="1" noChangeAspect="1" noMove="1" noResize="1" noEditPoints="1" noAdjustHandles="1" noChangeArrowheads="1" noChangeShapeType="1" noTextEdit="1"/>
              </p:cNvSpPr>
              <p:nvPr/>
            </p:nvSpPr>
            <p:spPr>
              <a:xfrm>
                <a:off x="1556664" y="2801466"/>
                <a:ext cx="457200" cy="461665"/>
              </a:xfrm>
              <a:prstGeom prst="rect">
                <a:avLst/>
              </a:prstGeom>
              <a:blipFill>
                <a:blip r:embed="rId7"/>
                <a:stretch>
                  <a:fillRect/>
                </a:stretch>
              </a:blipFill>
            </p:spPr>
            <p:txBody>
              <a:bodyPr/>
              <a:lstStyle/>
              <a:p>
                <a:r>
                  <a:rPr lang="en-IN">
                    <a:noFill/>
                  </a:rPr>
                  <a:t> </a:t>
                </a:r>
              </a:p>
            </p:txBody>
          </p:sp>
        </mc:Fallback>
      </mc:AlternateContent>
      <p:sp>
        <p:nvSpPr>
          <p:cNvPr id="44" name="Oval 43">
            <a:extLst>
              <a:ext uri="{FF2B5EF4-FFF2-40B4-BE49-F238E27FC236}">
                <a16:creationId xmlns:a16="http://schemas.microsoft.com/office/drawing/2014/main" id="{9BE24A43-9BEB-E9E2-AEB0-2B615B8700D1}"/>
              </a:ext>
            </a:extLst>
          </p:cNvPr>
          <p:cNvSpPr/>
          <p:nvPr/>
        </p:nvSpPr>
        <p:spPr>
          <a:xfrm>
            <a:off x="7424065" y="3263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45" name="Oval 44">
            <a:extLst>
              <a:ext uri="{FF2B5EF4-FFF2-40B4-BE49-F238E27FC236}">
                <a16:creationId xmlns:a16="http://schemas.microsoft.com/office/drawing/2014/main" id="{984381EF-B4C6-A29B-6B3A-8828AEDE3CB5}"/>
              </a:ext>
            </a:extLst>
          </p:cNvPr>
          <p:cNvSpPr/>
          <p:nvPr/>
        </p:nvSpPr>
        <p:spPr>
          <a:xfrm>
            <a:off x="6814465" y="37965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6" name="Oval 45">
            <a:extLst>
              <a:ext uri="{FF2B5EF4-FFF2-40B4-BE49-F238E27FC236}">
                <a16:creationId xmlns:a16="http://schemas.microsoft.com/office/drawing/2014/main" id="{7F5BF9F0-B707-2B2C-A80B-690010C11AD4}"/>
              </a:ext>
            </a:extLst>
          </p:cNvPr>
          <p:cNvSpPr/>
          <p:nvPr/>
        </p:nvSpPr>
        <p:spPr>
          <a:xfrm>
            <a:off x="8109865" y="37965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7" name="Oval 46">
            <a:extLst>
              <a:ext uri="{FF2B5EF4-FFF2-40B4-BE49-F238E27FC236}">
                <a16:creationId xmlns:a16="http://schemas.microsoft.com/office/drawing/2014/main" id="{2346E34B-5733-4C27-583B-51A405D51EC8}"/>
              </a:ext>
            </a:extLst>
          </p:cNvPr>
          <p:cNvSpPr/>
          <p:nvPr/>
        </p:nvSpPr>
        <p:spPr>
          <a:xfrm>
            <a:off x="63572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8" name="Oval 47">
            <a:extLst>
              <a:ext uri="{FF2B5EF4-FFF2-40B4-BE49-F238E27FC236}">
                <a16:creationId xmlns:a16="http://schemas.microsoft.com/office/drawing/2014/main" id="{D6BA558C-1A04-4CB1-3CF0-8560434C906D}"/>
              </a:ext>
            </a:extLst>
          </p:cNvPr>
          <p:cNvSpPr/>
          <p:nvPr/>
        </p:nvSpPr>
        <p:spPr>
          <a:xfrm>
            <a:off x="71954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49" name="Oval 48">
            <a:extLst>
              <a:ext uri="{FF2B5EF4-FFF2-40B4-BE49-F238E27FC236}">
                <a16:creationId xmlns:a16="http://schemas.microsoft.com/office/drawing/2014/main" id="{7F6D69F3-1562-2ED5-5824-77BF9BA641CE}"/>
              </a:ext>
            </a:extLst>
          </p:cNvPr>
          <p:cNvSpPr/>
          <p:nvPr/>
        </p:nvSpPr>
        <p:spPr>
          <a:xfrm>
            <a:off x="78050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50" name="Oval 49">
            <a:extLst>
              <a:ext uri="{FF2B5EF4-FFF2-40B4-BE49-F238E27FC236}">
                <a16:creationId xmlns:a16="http://schemas.microsoft.com/office/drawing/2014/main" id="{2837EB77-C4DD-C37B-4970-442F11602526}"/>
              </a:ext>
            </a:extLst>
          </p:cNvPr>
          <p:cNvSpPr/>
          <p:nvPr/>
        </p:nvSpPr>
        <p:spPr>
          <a:xfrm>
            <a:off x="85670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51" name="Oval 50">
            <a:extLst>
              <a:ext uri="{FF2B5EF4-FFF2-40B4-BE49-F238E27FC236}">
                <a16:creationId xmlns:a16="http://schemas.microsoft.com/office/drawing/2014/main" id="{67A6BC08-9BB7-B47A-62A5-95B0B402BDF1}"/>
              </a:ext>
            </a:extLst>
          </p:cNvPr>
          <p:cNvSpPr/>
          <p:nvPr/>
        </p:nvSpPr>
        <p:spPr>
          <a:xfrm>
            <a:off x="7424065" y="5549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52" name="Straight Connector 51">
            <a:extLst>
              <a:ext uri="{FF2B5EF4-FFF2-40B4-BE49-F238E27FC236}">
                <a16:creationId xmlns:a16="http://schemas.microsoft.com/office/drawing/2014/main" id="{BFD6D6B1-12AF-B04C-34F1-48C1DBE00BAB}"/>
              </a:ext>
            </a:extLst>
          </p:cNvPr>
          <p:cNvCxnSpPr>
            <a:stCxn id="44" idx="3"/>
            <a:endCxn id="45" idx="7"/>
          </p:cNvCxnSpPr>
          <p:nvPr/>
        </p:nvCxnSpPr>
        <p:spPr>
          <a:xfrm flipH="1">
            <a:off x="7204710" y="3653393"/>
            <a:ext cx="2863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3" name="Straight Connector 52">
            <a:extLst>
              <a:ext uri="{FF2B5EF4-FFF2-40B4-BE49-F238E27FC236}">
                <a16:creationId xmlns:a16="http://schemas.microsoft.com/office/drawing/2014/main" id="{400F0454-2AA4-62AF-6F93-82F0C6A3957E}"/>
              </a:ext>
            </a:extLst>
          </p:cNvPr>
          <p:cNvCxnSpPr>
            <a:stCxn id="44" idx="5"/>
            <a:endCxn id="46" idx="1"/>
          </p:cNvCxnSpPr>
          <p:nvPr/>
        </p:nvCxnSpPr>
        <p:spPr>
          <a:xfrm>
            <a:off x="7814310" y="3653393"/>
            <a:ext cx="3625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4" name="Straight Connector 53">
            <a:extLst>
              <a:ext uri="{FF2B5EF4-FFF2-40B4-BE49-F238E27FC236}">
                <a16:creationId xmlns:a16="http://schemas.microsoft.com/office/drawing/2014/main" id="{0B9F2A89-83D2-0849-76B8-400198797FF8}"/>
              </a:ext>
            </a:extLst>
          </p:cNvPr>
          <p:cNvCxnSpPr>
            <a:stCxn id="45" idx="3"/>
            <a:endCxn id="47" idx="0"/>
          </p:cNvCxnSpPr>
          <p:nvPr/>
        </p:nvCxnSpPr>
        <p:spPr>
          <a:xfrm flipH="1">
            <a:off x="6585865" y="4186793"/>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5" name="Straight Connector 54">
            <a:extLst>
              <a:ext uri="{FF2B5EF4-FFF2-40B4-BE49-F238E27FC236}">
                <a16:creationId xmlns:a16="http://schemas.microsoft.com/office/drawing/2014/main" id="{6E4F4364-DC4F-97D7-B472-9EDDE6731C5A}"/>
              </a:ext>
            </a:extLst>
          </p:cNvPr>
          <p:cNvCxnSpPr>
            <a:stCxn id="45" idx="5"/>
            <a:endCxn id="48" idx="0"/>
          </p:cNvCxnSpPr>
          <p:nvPr/>
        </p:nvCxnSpPr>
        <p:spPr>
          <a:xfrm>
            <a:off x="7204710" y="4186793"/>
            <a:ext cx="2193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6" name="Straight Connector 55">
            <a:extLst>
              <a:ext uri="{FF2B5EF4-FFF2-40B4-BE49-F238E27FC236}">
                <a16:creationId xmlns:a16="http://schemas.microsoft.com/office/drawing/2014/main" id="{67C3102D-1AB0-79C7-B46F-D0557D1DAD1B}"/>
              </a:ext>
            </a:extLst>
          </p:cNvPr>
          <p:cNvCxnSpPr>
            <a:stCxn id="46" idx="3"/>
            <a:endCxn id="49" idx="0"/>
          </p:cNvCxnSpPr>
          <p:nvPr/>
        </p:nvCxnSpPr>
        <p:spPr>
          <a:xfrm flipH="1">
            <a:off x="8033665" y="4186793"/>
            <a:ext cx="1431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7" name="Straight Connector 56">
            <a:extLst>
              <a:ext uri="{FF2B5EF4-FFF2-40B4-BE49-F238E27FC236}">
                <a16:creationId xmlns:a16="http://schemas.microsoft.com/office/drawing/2014/main" id="{F03907CD-2137-A7C0-3613-1A3CD0A28E73}"/>
              </a:ext>
            </a:extLst>
          </p:cNvPr>
          <p:cNvCxnSpPr>
            <a:stCxn id="46" idx="5"/>
            <a:endCxn id="50" idx="0"/>
          </p:cNvCxnSpPr>
          <p:nvPr/>
        </p:nvCxnSpPr>
        <p:spPr>
          <a:xfrm>
            <a:off x="8500110" y="4186793"/>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8" name="Straight Connector 57">
            <a:extLst>
              <a:ext uri="{FF2B5EF4-FFF2-40B4-BE49-F238E27FC236}">
                <a16:creationId xmlns:a16="http://schemas.microsoft.com/office/drawing/2014/main" id="{0DD9031D-80A8-2009-A5D7-D9BFDED48004}"/>
              </a:ext>
            </a:extLst>
          </p:cNvPr>
          <p:cNvCxnSpPr>
            <a:stCxn id="47" idx="4"/>
            <a:endCxn id="51" idx="2"/>
          </p:cNvCxnSpPr>
          <p:nvPr/>
        </p:nvCxnSpPr>
        <p:spPr>
          <a:xfrm>
            <a:off x="6585865" y="4863348"/>
            <a:ext cx="838200" cy="91440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9" name="Straight Connector 58">
            <a:extLst>
              <a:ext uri="{FF2B5EF4-FFF2-40B4-BE49-F238E27FC236}">
                <a16:creationId xmlns:a16="http://schemas.microsoft.com/office/drawing/2014/main" id="{F97973BA-6439-118E-2ACD-5638DC13CF99}"/>
              </a:ext>
            </a:extLst>
          </p:cNvPr>
          <p:cNvCxnSpPr>
            <a:stCxn id="48" idx="4"/>
            <a:endCxn id="51" idx="1"/>
          </p:cNvCxnSpPr>
          <p:nvPr/>
        </p:nvCxnSpPr>
        <p:spPr>
          <a:xfrm>
            <a:off x="7424065" y="4863348"/>
            <a:ext cx="669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0" name="Straight Connector 59">
            <a:extLst>
              <a:ext uri="{FF2B5EF4-FFF2-40B4-BE49-F238E27FC236}">
                <a16:creationId xmlns:a16="http://schemas.microsoft.com/office/drawing/2014/main" id="{69DC2016-52BE-7E12-CB67-C700536C44B1}"/>
              </a:ext>
            </a:extLst>
          </p:cNvPr>
          <p:cNvCxnSpPr>
            <a:stCxn id="49" idx="4"/>
            <a:endCxn id="51" idx="7"/>
          </p:cNvCxnSpPr>
          <p:nvPr/>
        </p:nvCxnSpPr>
        <p:spPr>
          <a:xfrm flipH="1">
            <a:off x="7814310" y="4863348"/>
            <a:ext cx="2193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1" name="Straight Connector 60">
            <a:extLst>
              <a:ext uri="{FF2B5EF4-FFF2-40B4-BE49-F238E27FC236}">
                <a16:creationId xmlns:a16="http://schemas.microsoft.com/office/drawing/2014/main" id="{2E0BE3F6-4D3E-20C9-759D-ED69105F4001}"/>
              </a:ext>
            </a:extLst>
          </p:cNvPr>
          <p:cNvCxnSpPr>
            <a:stCxn id="50" idx="4"/>
            <a:endCxn id="51" idx="6"/>
          </p:cNvCxnSpPr>
          <p:nvPr/>
        </p:nvCxnSpPr>
        <p:spPr>
          <a:xfrm flipH="1">
            <a:off x="7881265" y="4863348"/>
            <a:ext cx="914400" cy="914400"/>
          </a:xfrm>
          <a:prstGeom prst="line">
            <a:avLst/>
          </a:prstGeom>
          <a:noFill/>
          <a:ln w="28575" cap="flat" cmpd="sng" algn="ctr">
            <a:solidFill>
              <a:srgbClr val="90909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79ADD31-DF2F-F00D-38DF-056C6A983BCB}"/>
                  </a:ext>
                </a:extLst>
              </p:cNvPr>
              <p:cNvSpPr txBox="1"/>
              <p:nvPr/>
            </p:nvSpPr>
            <p:spPr>
              <a:xfrm flipH="1">
                <a:off x="5690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62" name="TextBox 61">
                <a:extLst>
                  <a:ext uri="{FF2B5EF4-FFF2-40B4-BE49-F238E27FC236}">
                    <a16:creationId xmlns:a16="http://schemas.microsoft.com/office/drawing/2014/main" id="{B79ADD31-DF2F-F00D-38DF-056C6A983BCB}"/>
                  </a:ext>
                </a:extLst>
              </p:cNvPr>
              <p:cNvSpPr txBox="1">
                <a:spLocks noRot="1" noChangeAspect="1" noMove="1" noResize="1" noEditPoints="1" noAdjustHandles="1" noChangeArrowheads="1" noChangeShapeType="1" noTextEdit="1"/>
              </p:cNvSpPr>
              <p:nvPr/>
            </p:nvSpPr>
            <p:spPr>
              <a:xfrm flipH="1">
                <a:off x="5690664" y="2801466"/>
                <a:ext cx="457200" cy="461665"/>
              </a:xfrm>
              <a:prstGeom prst="rect">
                <a:avLst/>
              </a:prstGeom>
              <a:blipFill>
                <a:blip r:embed="rId8"/>
                <a:stretch>
                  <a:fillRect l="-1333"/>
                </a:stretch>
              </a:blipFill>
            </p:spPr>
            <p:txBody>
              <a:bodyPr/>
              <a:lstStyle/>
              <a:p>
                <a:r>
                  <a:rPr lang="en-IN">
                    <a:noFill/>
                  </a:rPr>
                  <a:t> </a:t>
                </a:r>
              </a:p>
            </p:txBody>
          </p:sp>
        </mc:Fallback>
      </mc:AlternateContent>
      <p:sp>
        <p:nvSpPr>
          <p:cNvPr id="63" name="Text Box 84">
            <a:extLst>
              <a:ext uri="{FF2B5EF4-FFF2-40B4-BE49-F238E27FC236}">
                <a16:creationId xmlns:a16="http://schemas.microsoft.com/office/drawing/2014/main" id="{3837D364-8A4D-3FAE-C46F-B4CC214EC216}"/>
              </a:ext>
            </a:extLst>
          </p:cNvPr>
          <p:cNvSpPr txBox="1">
            <a:spLocks noChangeArrowheads="1"/>
          </p:cNvSpPr>
          <p:nvPr/>
        </p:nvSpPr>
        <p:spPr bwMode="auto">
          <a:xfrm>
            <a:off x="7043065" y="3415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64" name="Text Box 84">
            <a:extLst>
              <a:ext uri="{FF2B5EF4-FFF2-40B4-BE49-F238E27FC236}">
                <a16:creationId xmlns:a16="http://schemas.microsoft.com/office/drawing/2014/main" id="{600F04A0-B048-72A9-B054-C05C2BBC12B5}"/>
              </a:ext>
            </a:extLst>
          </p:cNvPr>
          <p:cNvSpPr txBox="1">
            <a:spLocks noChangeArrowheads="1"/>
          </p:cNvSpPr>
          <p:nvPr/>
        </p:nvSpPr>
        <p:spPr bwMode="auto">
          <a:xfrm>
            <a:off x="7881265" y="339359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a:t>
            </a:r>
          </a:p>
        </p:txBody>
      </p:sp>
      <p:sp>
        <p:nvSpPr>
          <p:cNvPr id="65" name="Text Box 84">
            <a:extLst>
              <a:ext uri="{FF2B5EF4-FFF2-40B4-BE49-F238E27FC236}">
                <a16:creationId xmlns:a16="http://schemas.microsoft.com/office/drawing/2014/main" id="{47A99399-DAAA-F700-5E20-035DBB06E9A6}"/>
              </a:ext>
            </a:extLst>
          </p:cNvPr>
          <p:cNvSpPr txBox="1">
            <a:spLocks noChangeArrowheads="1"/>
          </p:cNvSpPr>
          <p:nvPr/>
        </p:nvSpPr>
        <p:spPr bwMode="auto">
          <a:xfrm>
            <a:off x="8584761" y="396061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6" name="Text Box 84">
            <a:extLst>
              <a:ext uri="{FF2B5EF4-FFF2-40B4-BE49-F238E27FC236}">
                <a16:creationId xmlns:a16="http://schemas.microsoft.com/office/drawing/2014/main" id="{7E0347EA-EE19-529A-EE2E-E8082853F472}"/>
              </a:ext>
            </a:extLst>
          </p:cNvPr>
          <p:cNvSpPr txBox="1">
            <a:spLocks noChangeArrowheads="1"/>
          </p:cNvSpPr>
          <p:nvPr/>
        </p:nvSpPr>
        <p:spPr bwMode="auto">
          <a:xfrm>
            <a:off x="6438316"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7</a:t>
            </a:r>
          </a:p>
        </p:txBody>
      </p:sp>
      <p:sp>
        <p:nvSpPr>
          <p:cNvPr id="67" name="Text Box 84">
            <a:extLst>
              <a:ext uri="{FF2B5EF4-FFF2-40B4-BE49-F238E27FC236}">
                <a16:creationId xmlns:a16="http://schemas.microsoft.com/office/drawing/2014/main" id="{F84697D5-1DDE-282C-045E-0F3D5E6F09D9}"/>
              </a:ext>
            </a:extLst>
          </p:cNvPr>
          <p:cNvSpPr txBox="1">
            <a:spLocks noChangeArrowheads="1"/>
          </p:cNvSpPr>
          <p:nvPr/>
        </p:nvSpPr>
        <p:spPr bwMode="auto">
          <a:xfrm>
            <a:off x="7242897"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68" name="Text Box 84">
            <a:extLst>
              <a:ext uri="{FF2B5EF4-FFF2-40B4-BE49-F238E27FC236}">
                <a16:creationId xmlns:a16="http://schemas.microsoft.com/office/drawing/2014/main" id="{AE8A3DB8-E295-7B57-7C79-11ED30861162}"/>
              </a:ext>
            </a:extLst>
          </p:cNvPr>
          <p:cNvSpPr txBox="1">
            <a:spLocks noChangeArrowheads="1"/>
          </p:cNvSpPr>
          <p:nvPr/>
        </p:nvSpPr>
        <p:spPr bwMode="auto">
          <a:xfrm>
            <a:off x="7814397" y="399443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69" name="Text Box 84">
            <a:extLst>
              <a:ext uri="{FF2B5EF4-FFF2-40B4-BE49-F238E27FC236}">
                <a16:creationId xmlns:a16="http://schemas.microsoft.com/office/drawing/2014/main" id="{73226B47-81AB-B6C5-613D-6DAC3C778CC0}"/>
              </a:ext>
            </a:extLst>
          </p:cNvPr>
          <p:cNvSpPr txBox="1">
            <a:spLocks noChangeArrowheads="1"/>
          </p:cNvSpPr>
          <p:nvPr/>
        </p:nvSpPr>
        <p:spPr bwMode="auto">
          <a:xfrm>
            <a:off x="6695331" y="51692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9</a:t>
            </a:r>
          </a:p>
        </p:txBody>
      </p:sp>
      <p:sp>
        <p:nvSpPr>
          <p:cNvPr id="70" name="Text Box 84">
            <a:extLst>
              <a:ext uri="{FF2B5EF4-FFF2-40B4-BE49-F238E27FC236}">
                <a16:creationId xmlns:a16="http://schemas.microsoft.com/office/drawing/2014/main" id="{84DD5150-13D0-8D43-E011-4CDAE72C51E0}"/>
              </a:ext>
            </a:extLst>
          </p:cNvPr>
          <p:cNvSpPr txBox="1">
            <a:spLocks noChangeArrowheads="1"/>
          </p:cNvSpPr>
          <p:nvPr/>
        </p:nvSpPr>
        <p:spPr bwMode="auto">
          <a:xfrm>
            <a:off x="7147163" y="4964432"/>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71" name="Text Box 84">
            <a:extLst>
              <a:ext uri="{FF2B5EF4-FFF2-40B4-BE49-F238E27FC236}">
                <a16:creationId xmlns:a16="http://schemas.microsoft.com/office/drawing/2014/main" id="{0734F59F-6837-1FE3-A5F6-FEBB55D82957}"/>
              </a:ext>
            </a:extLst>
          </p:cNvPr>
          <p:cNvSpPr txBox="1">
            <a:spLocks noChangeArrowheads="1"/>
          </p:cNvSpPr>
          <p:nvPr/>
        </p:nvSpPr>
        <p:spPr bwMode="auto">
          <a:xfrm>
            <a:off x="7596869" y="495115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72" name="Text Box 84">
            <a:extLst>
              <a:ext uri="{FF2B5EF4-FFF2-40B4-BE49-F238E27FC236}">
                <a16:creationId xmlns:a16="http://schemas.microsoft.com/office/drawing/2014/main" id="{865D674A-CD20-84E8-453C-CA1115421F72}"/>
              </a:ext>
            </a:extLst>
          </p:cNvPr>
          <p:cNvSpPr txBox="1">
            <a:spLocks noChangeArrowheads="1"/>
          </p:cNvSpPr>
          <p:nvPr/>
        </p:nvSpPr>
        <p:spPr bwMode="auto">
          <a:xfrm>
            <a:off x="8109865" y="493954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8</a:t>
            </a:r>
          </a:p>
        </p:txBody>
      </p:sp>
      <p:sp>
        <p:nvSpPr>
          <p:cNvPr id="74" name="TextBox 73">
            <a:extLst>
              <a:ext uri="{FF2B5EF4-FFF2-40B4-BE49-F238E27FC236}">
                <a16:creationId xmlns:a16="http://schemas.microsoft.com/office/drawing/2014/main" id="{4236E21D-82D0-ACFF-1267-0BA609D26274}"/>
              </a:ext>
            </a:extLst>
          </p:cNvPr>
          <p:cNvSpPr txBox="1"/>
          <p:nvPr/>
        </p:nvSpPr>
        <p:spPr>
          <a:xfrm>
            <a:off x="152086" y="249680"/>
            <a:ext cx="6098458"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Exercises – Home Work</a:t>
            </a:r>
          </a:p>
        </p:txBody>
      </p:sp>
    </p:spTree>
    <p:extLst>
      <p:ext uri="{BB962C8B-B14F-4D97-AF65-F5344CB8AC3E}">
        <p14:creationId xmlns:p14="http://schemas.microsoft.com/office/powerpoint/2010/main" val="122538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arn(inVertical)">
                                      <p:cBhvr>
                                        <p:cTn id="31" dur="500"/>
                                        <p:tgtEl>
                                          <p:spTgt spid="1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arn(inVertical)">
                                      <p:cBhvr>
                                        <p:cTn id="34" dur="500"/>
                                        <p:tgtEl>
                                          <p:spTgt spid="1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7"/>
                                        </p:tgtEl>
                                        <p:attrNameLst>
                                          <p:attrName>style.visibility</p:attrName>
                                        </p:attrNameLst>
                                      </p:cBhvr>
                                      <p:to>
                                        <p:strVal val="visible"/>
                                      </p:to>
                                    </p:set>
                                    <p:animEffect transition="in" filter="barn(inVertical)">
                                      <p:cBhvr>
                                        <p:cTn id="43" dur="500"/>
                                        <p:tgtEl>
                                          <p:spTgt spid="17"/>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arn(inVertical)">
                                      <p:cBhvr>
                                        <p:cTn id="46" dur="500"/>
                                        <p:tgtEl>
                                          <p:spTgt spid="18"/>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arn(inVertical)">
                                      <p:cBhvr>
                                        <p:cTn id="49" dur="500"/>
                                        <p:tgtEl>
                                          <p:spTgt spid="19"/>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arn(inVertical)">
                                      <p:cBhvr>
                                        <p:cTn id="52" dur="500"/>
                                        <p:tgtEl>
                                          <p:spTgt spid="20"/>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arn(inVertical)">
                                      <p:cBhvr>
                                        <p:cTn id="55" dur="500"/>
                                        <p:tgtEl>
                                          <p:spTgt spid="21"/>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inVertical)">
                                      <p:cBhvr>
                                        <p:cTn id="58" dur="500"/>
                                        <p:tgtEl>
                                          <p:spTgt spid="22"/>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barn(inVertical)">
                                      <p:cBhvr>
                                        <p:cTn id="61" dur="500"/>
                                        <p:tgtEl>
                                          <p:spTgt spid="23"/>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barn(inVertical)">
                                      <p:cBhvr>
                                        <p:cTn id="64" dur="500"/>
                                        <p:tgtEl>
                                          <p:spTgt spid="24"/>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barn(inVertical)">
                                      <p:cBhvr>
                                        <p:cTn id="67" dur="500"/>
                                        <p:tgtEl>
                                          <p:spTgt spid="25"/>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barn(inVertical)">
                                      <p:cBhvr>
                                        <p:cTn id="70" dur="500"/>
                                        <p:tgtEl>
                                          <p:spTgt spid="26"/>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barn(inVertical)">
                                      <p:cBhvr>
                                        <p:cTn id="73" dur="500"/>
                                        <p:tgtEl>
                                          <p:spTgt spid="27"/>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barn(inVertical)">
                                      <p:cBhvr>
                                        <p:cTn id="76" dur="500"/>
                                        <p:tgtEl>
                                          <p:spTgt spid="28"/>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arn(inVertical)">
                                      <p:cBhvr>
                                        <p:cTn id="79" dur="500"/>
                                        <p:tgtEl>
                                          <p:spTgt spid="29"/>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barn(inVertical)">
                                      <p:cBhvr>
                                        <p:cTn id="82" dur="500"/>
                                        <p:tgtEl>
                                          <p:spTgt spid="30"/>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barn(inVertical)">
                                      <p:cBhvr>
                                        <p:cTn id="85" dur="500"/>
                                        <p:tgtEl>
                                          <p:spTgt spid="31"/>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barn(inVertical)">
                                      <p:cBhvr>
                                        <p:cTn id="88" dur="500"/>
                                        <p:tgtEl>
                                          <p:spTgt spid="32"/>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barn(inVertical)">
                                      <p:cBhvr>
                                        <p:cTn id="91" dur="500"/>
                                        <p:tgtEl>
                                          <p:spTgt spid="33"/>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barn(inVertical)">
                                      <p:cBhvr>
                                        <p:cTn id="94" dur="500"/>
                                        <p:tgtEl>
                                          <p:spTgt spid="34"/>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barn(inVertical)">
                                      <p:cBhvr>
                                        <p:cTn id="97" dur="500"/>
                                        <p:tgtEl>
                                          <p:spTgt spid="35"/>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barn(inVertical)">
                                      <p:cBhvr>
                                        <p:cTn id="100" dur="500"/>
                                        <p:tgtEl>
                                          <p:spTgt spid="36"/>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barn(inVertical)">
                                      <p:cBhvr>
                                        <p:cTn id="103" dur="500"/>
                                        <p:tgtEl>
                                          <p:spTgt spid="37"/>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barn(inVertical)">
                                      <p:cBhvr>
                                        <p:cTn id="106" dur="500"/>
                                        <p:tgtEl>
                                          <p:spTgt spid="38"/>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barn(inVertical)">
                                      <p:cBhvr>
                                        <p:cTn id="109" dur="500"/>
                                        <p:tgtEl>
                                          <p:spTgt spid="39"/>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barn(inVertical)">
                                      <p:cBhvr>
                                        <p:cTn id="112" dur="500"/>
                                        <p:tgtEl>
                                          <p:spTgt spid="40"/>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barn(inVertical)">
                                      <p:cBhvr>
                                        <p:cTn id="115" dur="5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wipe(down)">
                                      <p:cBhvr>
                                        <p:cTn id="120" dur="500"/>
                                        <p:tgtEl>
                                          <p:spTgt spid="42"/>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2"/>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4"/>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6"/>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7"/>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9"/>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60"/>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1"/>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barn(inVertical)">
                                      <p:cBhvr>
                                        <p:cTn id="161" dur="500"/>
                                        <p:tgtEl>
                                          <p:spTgt spid="63"/>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barn(inVertical)">
                                      <p:cBhvr>
                                        <p:cTn id="164" dur="500"/>
                                        <p:tgtEl>
                                          <p:spTgt spid="64"/>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barn(inVertical)">
                                      <p:cBhvr>
                                        <p:cTn id="167" dur="500"/>
                                        <p:tgtEl>
                                          <p:spTgt spid="65"/>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barn(inVertical)">
                                      <p:cBhvr>
                                        <p:cTn id="170" dur="500"/>
                                        <p:tgtEl>
                                          <p:spTgt spid="66"/>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barn(inVertical)">
                                      <p:cBhvr>
                                        <p:cTn id="173" dur="500"/>
                                        <p:tgtEl>
                                          <p:spTgt spid="67"/>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barn(inVertical)">
                                      <p:cBhvr>
                                        <p:cTn id="176" dur="500"/>
                                        <p:tgtEl>
                                          <p:spTgt spid="68"/>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barn(inVertical)">
                                      <p:cBhvr>
                                        <p:cTn id="179" dur="500"/>
                                        <p:tgtEl>
                                          <p:spTgt spid="69"/>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barn(inVertical)">
                                      <p:cBhvr>
                                        <p:cTn id="182" dur="500"/>
                                        <p:tgtEl>
                                          <p:spTgt spid="70"/>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barn(inVertical)">
                                      <p:cBhvr>
                                        <p:cTn id="185" dur="500"/>
                                        <p:tgtEl>
                                          <p:spTgt spid="71"/>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barn(inVertical)">
                                      <p:cBhvr>
                                        <p:cTn id="18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p:bldP spid="31" grpId="0"/>
      <p:bldP spid="32" grpId="0"/>
      <p:bldP spid="33" grpId="0"/>
      <p:bldP spid="34" grpId="0"/>
      <p:bldP spid="35" grpId="0"/>
      <p:bldP spid="36" grpId="0"/>
      <p:bldP spid="37" grpId="0"/>
      <p:bldP spid="38" grpId="0" animBg="1"/>
      <p:bldP spid="39" grpId="0"/>
      <p:bldP spid="40" grpId="0"/>
      <p:bldP spid="41" grpId="0"/>
      <p:bldP spid="44" grpId="0" animBg="1"/>
      <p:bldP spid="45" grpId="0" animBg="1"/>
      <p:bldP spid="46" grpId="0" animBg="1"/>
      <p:bldP spid="47" grpId="0" animBg="1"/>
      <p:bldP spid="48" grpId="0" animBg="1"/>
      <p:bldP spid="49" grpId="0" animBg="1"/>
      <p:bldP spid="50" grpId="0" animBg="1"/>
      <p:bldP spid="51" grpId="0" animBg="1"/>
      <p:bldP spid="63" grpId="0"/>
      <p:bldP spid="64" grpId="0"/>
      <p:bldP spid="65" grpId="0"/>
      <p:bldP spid="66" grpId="0"/>
      <p:bldP spid="67" grpId="0"/>
      <p:bldP spid="68" grpId="0"/>
      <p:bldP spid="69" grpId="0"/>
      <p:bldP spid="70" grpId="0"/>
      <p:bldP spid="71" grpId="0"/>
      <p:bldP spid="7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9202EC48-1E7F-6F26-DC14-C6A6CD5EA453}"/>
              </a:ext>
            </a:extLst>
          </p:cNvPr>
          <p:cNvSpPr txBox="1"/>
          <p:nvPr/>
        </p:nvSpPr>
        <p:spPr>
          <a:xfrm>
            <a:off x="380166" y="198118"/>
            <a:ext cx="94314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BB40063-6122-EF4A-0B1E-3FE0AE5E57BF}"/>
                  </a:ext>
                </a:extLst>
              </p:cNvPr>
              <p:cNvSpPr txBox="1"/>
              <p:nvPr/>
            </p:nvSpPr>
            <p:spPr>
              <a:xfrm>
                <a:off x="662243" y="1558387"/>
                <a:ext cx="10304174" cy="4270913"/>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Consider now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directed graph </a:t>
                </a:r>
                <a14:m>
                  <m:oMath xmlns:m="http://schemas.openxmlformats.org/officeDocument/2006/math">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𝐺</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𝑁</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𝐴</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where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𝑁</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is the set of nodes and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𝐴</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is the set of directed edges of graph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𝐺</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Each edge has a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positive length</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One of the nodes is designated as the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source node</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The problem is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to determine the length of the shortest path</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from the source to each of the other nodes of the graph. </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p:txBody>
          </p:sp>
        </mc:Choice>
        <mc:Fallback xmlns="">
          <p:sp>
            <p:nvSpPr>
              <p:cNvPr id="13" name="TextBox 12">
                <a:extLst>
                  <a:ext uri="{FF2B5EF4-FFF2-40B4-BE49-F238E27FC236}">
                    <a16:creationId xmlns:a16="http://schemas.microsoft.com/office/drawing/2014/main" id="{6BB40063-6122-EF4A-0B1E-3FE0AE5E57BF}"/>
                  </a:ext>
                </a:extLst>
              </p:cNvPr>
              <p:cNvSpPr txBox="1">
                <a:spLocks noRot="1" noChangeAspect="1" noMove="1" noResize="1" noEditPoints="1" noAdjustHandles="1" noChangeArrowheads="1" noChangeShapeType="1" noTextEdit="1"/>
              </p:cNvSpPr>
              <p:nvPr/>
            </p:nvSpPr>
            <p:spPr>
              <a:xfrm>
                <a:off x="662243" y="1558387"/>
                <a:ext cx="10304174" cy="4270913"/>
              </a:xfrm>
              <a:prstGeom prst="rect">
                <a:avLst/>
              </a:prstGeom>
              <a:blipFill>
                <a:blip r:embed="rId6"/>
                <a:stretch>
                  <a:fillRect l="-1065" t="-1429" r="-1183"/>
                </a:stretch>
              </a:blipFill>
            </p:spPr>
            <p:txBody>
              <a:bodyPr/>
              <a:lstStyle/>
              <a:p>
                <a:r>
                  <a:rPr lang="en-IN">
                    <a:noFill/>
                  </a:rPr>
                  <a:t> </a:t>
                </a:r>
              </a:p>
            </p:txBody>
          </p:sp>
        </mc:Fallback>
      </mc:AlternateContent>
    </p:spTree>
    <p:extLst>
      <p:ext uri="{BB962C8B-B14F-4D97-AF65-F5344CB8AC3E}">
        <p14:creationId xmlns:p14="http://schemas.microsoft.com/office/powerpoint/2010/main" val="119300660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E55644C-B444-E980-0AC1-09F720AAA7DB}"/>
                  </a:ext>
                </a:extLst>
              </p:cNvPr>
              <p:cNvSpPr txBox="1"/>
              <p:nvPr/>
            </p:nvSpPr>
            <p:spPr>
              <a:xfrm>
                <a:off x="1106129" y="1567982"/>
                <a:ext cx="8981768" cy="292387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ea typeface="+mn-ea"/>
                    <a:cs typeface="+mn-cs"/>
                  </a:rPr>
                  <a:t>Dijkstra’s Algorithm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is for finding the shortest paths between the nodes in a graph.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For a given source node, the algorithm finds the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ea typeface="+mn-ea"/>
                    <a:cs typeface="+mn-cs"/>
                  </a:rPr>
                  <a:t>shortest path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between the source node and every other node.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The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algorithm maintains a matrix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𝑳</m:t>
                    </m:r>
                  </m:oMath>
                </a14:m>
                <a:r>
                  <a:rPr kumimoji="0" lang="en-US" sz="2400" b="1"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which gives the length of each directed edge: </a:t>
                </a:r>
              </a:p>
            </p:txBody>
          </p:sp>
        </mc:Choice>
        <mc:Fallback xmlns="">
          <p:sp>
            <p:nvSpPr>
              <p:cNvPr id="5" name="TextBox 4">
                <a:extLst>
                  <a:ext uri="{FF2B5EF4-FFF2-40B4-BE49-F238E27FC236}">
                    <a16:creationId xmlns:a16="http://schemas.microsoft.com/office/drawing/2014/main" id="{6E55644C-B444-E980-0AC1-09F720AAA7DB}"/>
                  </a:ext>
                </a:extLst>
              </p:cNvPr>
              <p:cNvSpPr txBox="1">
                <a:spLocks noRot="1" noChangeAspect="1" noMove="1" noResize="1" noEditPoints="1" noAdjustHandles="1" noChangeArrowheads="1" noChangeShapeType="1" noTextEdit="1"/>
              </p:cNvSpPr>
              <p:nvPr/>
            </p:nvSpPr>
            <p:spPr>
              <a:xfrm>
                <a:off x="1106129" y="1567982"/>
                <a:ext cx="8981768" cy="2923877"/>
              </a:xfrm>
              <a:prstGeom prst="rect">
                <a:avLst/>
              </a:prstGeom>
              <a:blipFill>
                <a:blip r:embed="rId6"/>
                <a:stretch>
                  <a:fillRect l="-882" t="-1667" r="-1018" b="-375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243EDA-4251-6994-9FA3-54154A79E161}"/>
                  </a:ext>
                </a:extLst>
              </p:cNvPr>
              <p:cNvSpPr txBox="1"/>
              <p:nvPr/>
            </p:nvSpPr>
            <p:spPr>
              <a:xfrm>
                <a:off x="2978727" y="5264727"/>
                <a:ext cx="5708073" cy="830997"/>
              </a:xfrm>
              <a:prstGeom prst="rect">
                <a:avLst/>
              </a:prstGeom>
              <a:solidFill>
                <a:srgbClr val="F6E7E6"/>
              </a:solidFill>
            </p:spPr>
            <p:txBody>
              <a:bodyPr wrap="square" rtlCol="0">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ea typeface="+mn-ea"/>
                        <a:cs typeface="+mn-cs"/>
                      </a:rPr>
                      <m:t>𝐿</m:t>
                    </m:r>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0</m:t>
                    </m:r>
                  </m:oMath>
                </a14:m>
                <a:r>
                  <a:rPr kumimoji="0" lang="en-US" sz="2400" b="0" i="0" u="none" strike="noStrike" kern="1200" cap="none" spc="0" normalizeH="0" baseline="0" noProof="0" dirty="0">
                    <a:ln>
                      <a:noFill/>
                    </a:ln>
                    <a:solidFill>
                      <a:srgbClr val="AD1457"/>
                    </a:solidFill>
                    <a:effectLst/>
                    <a:uLnTx/>
                    <a:uFillTx/>
                    <a:latin typeface="Roboto Condensed"/>
                    <a:ea typeface="+mn-ea"/>
                    <a:cs typeface="+mn-cs"/>
                  </a:rPr>
                  <a:t> </a:t>
                </a:r>
                <a:r>
                  <a:rPr kumimoji="0" lang="en-US" sz="2400" b="0" i="1" u="none" strike="noStrike" kern="1200" cap="none" spc="0" normalizeH="0" baseline="0" noProof="0" dirty="0">
                    <a:ln>
                      <a:noFill/>
                    </a:ln>
                    <a:solidFill>
                      <a:srgbClr val="AD1457"/>
                    </a:solidFill>
                    <a:effectLst/>
                    <a:uLnTx/>
                    <a:uFillTx/>
                    <a:latin typeface="Roboto Condensed"/>
                    <a:ea typeface="+mn-ea"/>
                    <a:cs typeface="+mn-cs"/>
                  </a:rPr>
                  <a:t>if the edge </a:t>
                </a:r>
                <a14:m>
                  <m:oMath xmlns:m="http://schemas.openxmlformats.org/officeDocument/2006/math">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oMath>
                </a14:m>
                <a:r>
                  <a:rPr kumimoji="0" lang="en-US" sz="2400" b="0" i="1" u="none" strike="noStrike" kern="1200" cap="none" spc="0" normalizeH="0" baseline="0" noProof="0" dirty="0">
                    <a:ln>
                      <a:noFill/>
                    </a:ln>
                    <a:solidFill>
                      <a:srgbClr val="AD1457"/>
                    </a:solidFill>
                    <a:effectLst/>
                    <a:uLnTx/>
                    <a:uFillTx/>
                    <a:latin typeface="Roboto Condensed"/>
                    <a:ea typeface="+mn-ea"/>
                    <a:cs typeface="+mn-cs"/>
                  </a:rPr>
                  <a:t>and </a:t>
                </a:r>
                <a:endPar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endParaRPr>
              </a:p>
              <a:p>
                <a:pPr marL="1257300" marR="0" lvl="3"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𝐿</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 </m:t>
                    </m:r>
                  </m:oMath>
                </a14:m>
                <a:r>
                  <a:rPr kumimoji="0" lang="en-US" sz="2400" b="0" i="1" u="none" strike="noStrike" kern="1200" cap="none" spc="0" normalizeH="0" baseline="0" noProof="0" dirty="0">
                    <a:ln>
                      <a:noFill/>
                    </a:ln>
                    <a:solidFill>
                      <a:srgbClr val="AD1457"/>
                    </a:solidFill>
                    <a:effectLst/>
                    <a:uLnTx/>
                    <a:uFillTx/>
                    <a:latin typeface="Roboto Condensed"/>
                    <a:ea typeface="+mn-ea"/>
                    <a:cs typeface="+mn-cs"/>
                  </a:rPr>
                  <a:t>otherwise.</a:t>
                </a: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 </a:t>
                </a:r>
              </a:p>
            </p:txBody>
          </p:sp>
        </mc:Choice>
        <mc:Fallback xmlns="">
          <p:sp>
            <p:nvSpPr>
              <p:cNvPr id="6" name="TextBox 5">
                <a:extLst>
                  <a:ext uri="{FF2B5EF4-FFF2-40B4-BE49-F238E27FC236}">
                    <a16:creationId xmlns:a16="http://schemas.microsoft.com/office/drawing/2014/main" id="{80243EDA-4251-6994-9FA3-54154A79E161}"/>
                  </a:ext>
                </a:extLst>
              </p:cNvPr>
              <p:cNvSpPr txBox="1">
                <a:spLocks noRot="1" noChangeAspect="1" noMove="1" noResize="1" noEditPoints="1" noAdjustHandles="1" noChangeArrowheads="1" noChangeShapeType="1" noTextEdit="1"/>
              </p:cNvSpPr>
              <p:nvPr/>
            </p:nvSpPr>
            <p:spPr>
              <a:xfrm>
                <a:off x="2978727" y="5264727"/>
                <a:ext cx="5708073" cy="830997"/>
              </a:xfrm>
              <a:prstGeom prst="rect">
                <a:avLst/>
              </a:prstGeom>
              <a:blipFill>
                <a:blip r:embed="rId7"/>
                <a:stretch>
                  <a:fillRect l="-321" t="-5147" b="-16912"/>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 </a:t>
            </a: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135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 </a:t>
            </a: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4844-A1FF-3E2E-C8AF-FF27AE21BE87}"/>
                  </a:ext>
                </a:extLst>
              </p:cNvPr>
              <p:cNvSpPr txBox="1"/>
              <p:nvPr/>
            </p:nvSpPr>
            <p:spPr>
              <a:xfrm>
                <a:off x="200016" y="958845"/>
                <a:ext cx="6194322" cy="5594352"/>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rbel" panose="020B0503020204020204" pitchFamily="34" charset="0"/>
                    <a:ea typeface="+mn-ea"/>
                    <a:cs typeface="Consolas" pitchFamily="49" charset="0"/>
                  </a:rPr>
                  <a:t>Function </a:t>
                </a:r>
                <a:r>
                  <a:rPr kumimoji="0" lang="en-US" sz="2400" b="1" i="0" u="none" strike="noStrike" kern="1200" cap="none" spc="0" normalizeH="0" baseline="0" noProof="0" dirty="0" err="1">
                    <a:ln>
                      <a:noFill/>
                    </a:ln>
                    <a:solidFill>
                      <a:srgbClr val="0070C0"/>
                    </a:solidFill>
                    <a:effectLst/>
                    <a:uLnTx/>
                    <a:uFillTx/>
                    <a:latin typeface="Corbel" panose="020B0503020204020204" pitchFamily="34" charset="0"/>
                    <a:ea typeface="+mn-ea"/>
                    <a:cs typeface="Consolas" pitchFamily="49" charset="0"/>
                  </a:rPr>
                  <a:t>Dijkstra</a:t>
                </a:r>
                <a:r>
                  <a:rPr kumimoji="0" lang="en-US" sz="2400" b="1" i="0" u="none" strike="noStrike" kern="1200" cap="none" spc="0" normalizeH="0" baseline="0" noProof="0" dirty="0">
                    <a:ln>
                      <a:noFill/>
                    </a:ln>
                    <a:solidFill>
                      <a:srgbClr val="0070C0"/>
                    </a:solidFill>
                    <a:effectLst/>
                    <a:uLnTx/>
                    <a:uFillTx/>
                    <a:latin typeface="Corbel" panose="020B0503020204020204" pitchFamily="34" charset="0"/>
                    <a:ea typeface="+mn-ea"/>
                    <a:cs typeface="Consolas" pitchFamily="49" charset="0"/>
                  </a:rPr>
                  <a:t>(L[1 .. n, 1 .. n]): array [2..n]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array D[2..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{2,3,…,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{S = N \ C exists only implicitly}</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for i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2 to n do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D[</a:t>
                </a:r>
                <a:r>
                  <a:rPr kumimoji="0" lang="en-US" sz="2400" b="1" i="0" u="none" strike="noStrike" kern="1200" cap="none" spc="0" normalizeH="0" baseline="0" noProof="0" dirty="0" err="1">
                    <a:ln>
                      <a:noFill/>
                    </a:ln>
                    <a:solidFill>
                      <a:srgbClr val="000000"/>
                    </a:solidFill>
                    <a:effectLst/>
                    <a:uLnTx/>
                    <a:uFillTx/>
                    <a:latin typeface="Corbel" panose="020B0503020204020204" pitchFamily="34"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L[1, </a:t>
                </a:r>
                <a:r>
                  <a:rPr kumimoji="0" lang="en-US" sz="2400" b="1" i="0" u="none" strike="noStrike" kern="1200" cap="none" spc="0" normalizeH="0" baseline="0" noProof="0" dirty="0" err="1">
                    <a:ln>
                      <a:noFill/>
                    </a:ln>
                    <a:solidFill>
                      <a:srgbClr val="000000"/>
                    </a:solidFill>
                    <a:effectLst/>
                    <a:uLnTx/>
                    <a:uFillTx/>
                    <a:latin typeface="Corbel" panose="020B0503020204020204" pitchFamily="34"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repeat n - 2 times</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v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some element of C minimizing D[v]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C \ {v} {and implicitly S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S U {v}}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for each w </a:t>
                </a:r>
                <a14:m>
                  <m:oMath xmlns:m="http://schemas.openxmlformats.org/officeDocument/2006/math">
                    <m:r>
                      <a:rPr kumimoji="0" lang="el-GR"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l-GR"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do</a:t>
                </a:r>
              </a:p>
              <a:p>
                <a:pPr marL="857250" marR="0" lvl="2" indent="0" algn="l" defTabSz="914400" rtl="0" eaLnBrk="1" fontAlgn="auto" latinLnBrk="0" hangingPunct="1">
                  <a:lnSpc>
                    <a:spcPct val="90000"/>
                  </a:lnSpc>
                  <a:spcBef>
                    <a:spcPts val="500"/>
                  </a:spcBef>
                  <a:spcAft>
                    <a:spcPts val="300"/>
                  </a:spcAft>
                  <a:buClr>
                    <a:srgbClr val="B84742"/>
                  </a:buClr>
                  <a:buSzTx/>
                  <a:buFont typeface="Wingdings" panose="05000000000000000000" pitchFamily="2"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D[w]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min(D[w], D[v] + L[v, w])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return D</a:t>
                </a:r>
                <a:endParaRPr kumimoji="0" lang="en-US" sz="2400" b="1" i="0" u="none" strike="noStrike" kern="1200" cap="none" spc="0" normalizeH="0" baseline="0" noProof="0" dirty="0">
                  <a:ln>
                    <a:noFill/>
                  </a:ln>
                  <a:solidFill>
                    <a:srgbClr val="F9C5D7"/>
                  </a:solidFill>
                  <a:effectLst/>
                  <a:uLnTx/>
                  <a:uFillTx/>
                  <a:latin typeface="Corbel" panose="020B0503020204020204" pitchFamily="34" charset="0"/>
                  <a:ea typeface="+mn-ea"/>
                  <a:cs typeface="Consolas" pitchFamily="49" charset="0"/>
                </a:endParaRPr>
              </a:p>
            </p:txBody>
          </p:sp>
        </mc:Choice>
        <mc:Fallback xmlns="">
          <p:sp>
            <p:nvSpPr>
              <p:cNvPr id="4" name="TextBox 3">
                <a:extLst>
                  <a:ext uri="{FF2B5EF4-FFF2-40B4-BE49-F238E27FC236}">
                    <a16:creationId xmlns:a16="http://schemas.microsoft.com/office/drawing/2014/main" id="{140E4844-A1FF-3E2E-C8AF-FF27AE21BE87}"/>
                  </a:ext>
                </a:extLst>
              </p:cNvPr>
              <p:cNvSpPr txBox="1">
                <a:spLocks noRot="1" noChangeAspect="1" noMove="1" noResize="1" noEditPoints="1" noAdjustHandles="1" noChangeArrowheads="1" noChangeShapeType="1" noTextEdit="1"/>
              </p:cNvSpPr>
              <p:nvPr/>
            </p:nvSpPr>
            <p:spPr>
              <a:xfrm>
                <a:off x="200016" y="958845"/>
                <a:ext cx="6194322" cy="5594352"/>
              </a:xfrm>
              <a:prstGeom prst="rect">
                <a:avLst/>
              </a:prstGeom>
              <a:blipFill>
                <a:blip r:embed="rId6"/>
                <a:stretch>
                  <a:fillRect l="-1575" t="-1525" b="-1525"/>
                </a:stretch>
              </a:blipFill>
            </p:spPr>
            <p:txBody>
              <a:bodyPr/>
              <a:lstStyle/>
              <a:p>
                <a:r>
                  <a:rPr lang="en-IN">
                    <a:noFill/>
                  </a:rPr>
                  <a:t> </a:t>
                </a:r>
              </a:p>
            </p:txBody>
          </p:sp>
        </mc:Fallback>
      </mc:AlternateContent>
    </p:spTree>
    <p:extLst>
      <p:ext uri="{BB962C8B-B14F-4D97-AF65-F5344CB8AC3E}">
        <p14:creationId xmlns:p14="http://schemas.microsoft.com/office/powerpoint/2010/main" val="12226015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How Dijkstra’s algorithm Work</a:t>
            </a: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a:t>
            </a:r>
            <a:endPar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5" name="Rectangle 4"/>
          <p:cNvSpPr/>
          <p:nvPr/>
        </p:nvSpPr>
        <p:spPr>
          <a:xfrm>
            <a:off x="449942" y="1353949"/>
            <a:ext cx="11073431" cy="4524315"/>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algorithm works by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maintaining a set of vertices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that have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already been visited</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and a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set of vertices that have not yet been visi</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ted. </a:t>
            </a:r>
            <a:endPar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The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algorithm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starts at the source vertex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and adds it to the set of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visited vertices. </a:t>
            </a:r>
            <a:endPar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Then</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it repeatedly </a:t>
            </a: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finds the vertex in the set of unvisited verti</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ces that has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shortest known path to the source vertex</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and adds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that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vertex to the set of visited vertices. </a:t>
            </a:r>
            <a:endPar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This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process continues until all vertices have been visited.</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2020886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3" name="Picture 2"/>
          <p:cNvPicPr>
            <a:picLocks noChangeAspect="1"/>
          </p:cNvPicPr>
          <p:nvPr/>
        </p:nvPicPr>
        <p:blipFill>
          <a:blip r:embed="rId6">
            <a:duotone>
              <a:prstClr val="black"/>
              <a:schemeClr val="accent1">
                <a:tint val="45000"/>
                <a:satMod val="400000"/>
              </a:schemeClr>
            </a:duotone>
          </a:blip>
          <a:stretch>
            <a:fillRect/>
          </a:stretch>
        </p:blipFill>
        <p:spPr>
          <a:xfrm>
            <a:off x="2220686" y="2650288"/>
            <a:ext cx="5123543" cy="3605369"/>
          </a:xfrm>
          <a:prstGeom prst="rect">
            <a:avLst/>
          </a:prstGeom>
        </p:spPr>
      </p:pic>
      <p:sp>
        <p:nvSpPr>
          <p:cNvPr id="4" name="Rectangle 3"/>
          <p:cNvSpPr/>
          <p:nvPr/>
        </p:nvSpPr>
        <p:spPr>
          <a:xfrm>
            <a:off x="362856" y="1127857"/>
            <a:ext cx="11448978"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Problem: </a:t>
            </a:r>
            <a:endPar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Using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Dijkstra’s Algorithm, find the shortest distance from source vertex ‘S’ to remaining vertices in the following graph</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65813524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Rectangle 2"/>
          <p:cNvSpPr/>
          <p:nvPr/>
        </p:nvSpPr>
        <p:spPr>
          <a:xfrm>
            <a:off x="377371" y="1169989"/>
            <a:ext cx="10508343"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Solution: </a:t>
            </a:r>
            <a:endPar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Step 1:</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The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following two sets are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created, </a:t>
            </a:r>
            <a:endPar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1371600" marR="0" lvl="3"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Unvisited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set : {S , a , b , c , d , e}</a:t>
            </a:r>
          </a:p>
          <a:p>
            <a:pPr marL="1371600" marR="0" lvl="3"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Visited set     : { }</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24436014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5870155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8841551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45611484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889417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293F94A1-5B51-8F36-4B22-1A62402E8A11}"/>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4F962A8C-FC65-BE77-0342-0BF6082DEE60}"/>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09ABA63F-B1BF-A5E1-6FAF-1C3B38600537}"/>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C3E24D53-638B-C1A0-F5AF-06FC24E71432}"/>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463444DF-76BE-F8E6-98AE-51383246F627}"/>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5E360DE9-88BB-F762-B95D-4450519D023B}"/>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BE96310F-7D2F-85BB-152F-5EE0DFB2FCE2}"/>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A781AD92-A86F-1198-BE50-62756297DB9A}"/>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FC835D21-DEDB-77F1-8A93-B44C8F6EAF0C}"/>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4AEC5949-91F3-6A40-3002-4B8007BD3A21}"/>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3B1734D5-8A56-60DD-94E6-3975E3F033B6}"/>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6097586C-5D7E-DBB8-09C0-E8B94373895C}"/>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5F16C631-996D-97B4-582B-BA22E3D96D40}"/>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B3F989E9-19A6-59F3-7E39-C04804767EF0}"/>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35F7C67F-40FD-8D69-68D5-346B59695EF5}"/>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3736519F-D7C0-0D13-0B51-D4EA558B9188}"/>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69B9376D-5E6D-3044-E42F-EEDC45ABB902}"/>
              </a:ext>
            </a:extLst>
          </p:cNvPr>
          <p:cNvSpPr txBox="1"/>
          <p:nvPr/>
        </p:nvSpPr>
        <p:spPr>
          <a:xfrm>
            <a:off x="3624940" y="3209382"/>
            <a:ext cx="5486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305AA805-1017-9CEC-DE3D-9E110AE590CA}"/>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DE570FF9-C234-2C2D-863B-881917270039}"/>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B3ABEBFE-1F70-E74D-F736-7720511DBFB7}"/>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ABF57590-E2B0-4686-36C9-77783717B3BE}"/>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217891E7-2EAF-9BA4-D707-9A05C12795E0}"/>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27" name="TextBox 26">
            <a:extLst>
              <a:ext uri="{FF2B5EF4-FFF2-40B4-BE49-F238E27FC236}">
                <a16:creationId xmlns:a16="http://schemas.microsoft.com/office/drawing/2014/main" id="{3B55C650-77EF-3EFA-F698-F6860A788250}"/>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8" name="Pentagon 27">
            <a:extLst>
              <a:ext uri="{FF2B5EF4-FFF2-40B4-BE49-F238E27FC236}">
                <a16:creationId xmlns:a16="http://schemas.microsoft.com/office/drawing/2014/main" id="{CDDED7FD-DAB1-7846-03F3-D373333C37B9}"/>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29" name="Rounded Rectangle 30">
            <a:extLst>
              <a:ext uri="{FF2B5EF4-FFF2-40B4-BE49-F238E27FC236}">
                <a16:creationId xmlns:a16="http://schemas.microsoft.com/office/drawing/2014/main" id="{9724A63A-059D-D495-035F-4FA389070AFB}"/>
              </a:ext>
            </a:extLst>
          </p:cNvPr>
          <p:cNvSpPr/>
          <p:nvPr/>
        </p:nvSpPr>
        <p:spPr>
          <a:xfrm>
            <a:off x="3885722" y="5876366"/>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 </a:t>
            </a:r>
          </a:p>
        </p:txBody>
      </p:sp>
      <p:sp>
        <p:nvSpPr>
          <p:cNvPr id="30" name="Rectangle 29">
            <a:extLst>
              <a:ext uri="{FF2B5EF4-FFF2-40B4-BE49-F238E27FC236}">
                <a16:creationId xmlns:a16="http://schemas.microsoft.com/office/drawing/2014/main" id="{6293589B-0F97-ACD3-A4D7-34C3E9445F93}"/>
              </a:ext>
            </a:extLst>
          </p:cNvPr>
          <p:cNvSpPr/>
          <p:nvPr/>
        </p:nvSpPr>
        <p:spPr>
          <a:xfrm>
            <a:off x="4810203" y="5643154"/>
            <a:ext cx="5953252"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1–5–4 (20) and 1–4 (100)</a:t>
            </a:r>
          </a:p>
        </p:txBody>
      </p:sp>
      <p:sp>
        <p:nvSpPr>
          <p:cNvPr id="31" name="Rectangle 30">
            <a:extLst>
              <a:ext uri="{FF2B5EF4-FFF2-40B4-BE49-F238E27FC236}">
                <a16:creationId xmlns:a16="http://schemas.microsoft.com/office/drawing/2014/main" id="{6B62BD2C-2466-CCE4-5109-E2E10F5D59C5}"/>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32" name="Rectangle 31">
            <a:extLst>
              <a:ext uri="{FF2B5EF4-FFF2-40B4-BE49-F238E27FC236}">
                <a16:creationId xmlns:a16="http://schemas.microsoft.com/office/drawing/2014/main" id="{4D3007E1-A115-8496-F67C-ABD427D043F8}"/>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33" name="Rectangle 32">
            <a:extLst>
              <a:ext uri="{FF2B5EF4-FFF2-40B4-BE49-F238E27FC236}">
                <a16:creationId xmlns:a16="http://schemas.microsoft.com/office/drawing/2014/main" id="{3A7BB360-0811-DDE0-772E-19D82749C0D2}"/>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34" name="Rectangle 33">
            <a:extLst>
              <a:ext uri="{FF2B5EF4-FFF2-40B4-BE49-F238E27FC236}">
                <a16:creationId xmlns:a16="http://schemas.microsoft.com/office/drawing/2014/main" id="{7E4C254A-BE87-E050-B122-CE85E62B7040}"/>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35" name="Rectangle 34">
            <a:extLst>
              <a:ext uri="{FF2B5EF4-FFF2-40B4-BE49-F238E27FC236}">
                <a16:creationId xmlns:a16="http://schemas.microsoft.com/office/drawing/2014/main" id="{4B87CB48-CD48-2956-15C0-342AA48EFC31}"/>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36" name="Rectangle 35">
            <a:extLst>
              <a:ext uri="{FF2B5EF4-FFF2-40B4-BE49-F238E27FC236}">
                <a16:creationId xmlns:a16="http://schemas.microsoft.com/office/drawing/2014/main" id="{E407F0CF-A475-9A23-E8C3-BF7BCD8E8639}"/>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37" name="Rectangle 36">
            <a:extLst>
              <a:ext uri="{FF2B5EF4-FFF2-40B4-BE49-F238E27FC236}">
                <a16:creationId xmlns:a16="http://schemas.microsoft.com/office/drawing/2014/main" id="{5F30E3BA-0E7B-4846-3CF3-3F805429E040}"/>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38" name="Rectangle 37">
            <a:extLst>
              <a:ext uri="{FF2B5EF4-FFF2-40B4-BE49-F238E27FC236}">
                <a16:creationId xmlns:a16="http://schemas.microsoft.com/office/drawing/2014/main" id="{61985F04-CAD7-F546-BC91-C445D54E0551}"/>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39" name="Rectangle 38">
            <a:extLst>
              <a:ext uri="{FF2B5EF4-FFF2-40B4-BE49-F238E27FC236}">
                <a16:creationId xmlns:a16="http://schemas.microsoft.com/office/drawing/2014/main" id="{BAF2E148-1081-D542-AC34-AC1BC05BD371}"/>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40" name="Rectangle 39">
            <a:extLst>
              <a:ext uri="{FF2B5EF4-FFF2-40B4-BE49-F238E27FC236}">
                <a16:creationId xmlns:a16="http://schemas.microsoft.com/office/drawing/2014/main" id="{A82AB83B-D562-05F1-EE19-9AE1F4F339B8}"/>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41" name="Rectangle 40">
            <a:extLst>
              <a:ext uri="{FF2B5EF4-FFF2-40B4-BE49-F238E27FC236}">
                <a16:creationId xmlns:a16="http://schemas.microsoft.com/office/drawing/2014/main" id="{7B0C3F6F-4FD2-03BA-9C06-ABFABE2E64C3}"/>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2" name="Rectangle 41">
            <a:extLst>
              <a:ext uri="{FF2B5EF4-FFF2-40B4-BE49-F238E27FC236}">
                <a16:creationId xmlns:a16="http://schemas.microsoft.com/office/drawing/2014/main" id="{0DB6B298-2766-8E3C-7A60-DDD5CD397696}"/>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43" name="Rectangle 42">
            <a:extLst>
              <a:ext uri="{FF2B5EF4-FFF2-40B4-BE49-F238E27FC236}">
                <a16:creationId xmlns:a16="http://schemas.microsoft.com/office/drawing/2014/main" id="{E1255C80-487F-B33B-6E99-C2F33E734197}"/>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44" name="Rectangle 43">
            <a:extLst>
              <a:ext uri="{FF2B5EF4-FFF2-40B4-BE49-F238E27FC236}">
                <a16:creationId xmlns:a16="http://schemas.microsoft.com/office/drawing/2014/main" id="{96A13288-FB21-05AA-5031-85B66C6E6CB9}"/>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5" name="Rectangle 44">
            <a:extLst>
              <a:ext uri="{FF2B5EF4-FFF2-40B4-BE49-F238E27FC236}">
                <a16:creationId xmlns:a16="http://schemas.microsoft.com/office/drawing/2014/main" id="{0662CB86-3A9C-0BF8-CA2A-6F0322D5AD9C}"/>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46" name="Rectangle 45">
            <a:extLst>
              <a:ext uri="{FF2B5EF4-FFF2-40B4-BE49-F238E27FC236}">
                <a16:creationId xmlns:a16="http://schemas.microsoft.com/office/drawing/2014/main" id="{1BAFA1AB-2265-C6FB-1501-BA0E076D9D6A}"/>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47" name="Rectangle 46">
            <a:extLst>
              <a:ext uri="{FF2B5EF4-FFF2-40B4-BE49-F238E27FC236}">
                <a16:creationId xmlns:a16="http://schemas.microsoft.com/office/drawing/2014/main" id="{7CAB85E8-FE59-FCD1-688B-FA96D9A9423F}"/>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48" name="Rectangle 47">
            <a:extLst>
              <a:ext uri="{FF2B5EF4-FFF2-40B4-BE49-F238E27FC236}">
                <a16:creationId xmlns:a16="http://schemas.microsoft.com/office/drawing/2014/main" id="{5A803316-0A12-83B8-E846-5700608814A9}"/>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9" name="Rectangle 48">
            <a:extLst>
              <a:ext uri="{FF2B5EF4-FFF2-40B4-BE49-F238E27FC236}">
                <a16:creationId xmlns:a16="http://schemas.microsoft.com/office/drawing/2014/main" id="{97CA2091-C670-2758-158D-8688A2B7CA05}"/>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0" name="Rectangle 49">
            <a:extLst>
              <a:ext uri="{FF2B5EF4-FFF2-40B4-BE49-F238E27FC236}">
                <a16:creationId xmlns:a16="http://schemas.microsoft.com/office/drawing/2014/main" id="{C7E0E12C-04B9-A271-A6D4-278297CE1984}"/>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51" name="Rectangle 50">
            <a:extLst>
              <a:ext uri="{FF2B5EF4-FFF2-40B4-BE49-F238E27FC236}">
                <a16:creationId xmlns:a16="http://schemas.microsoft.com/office/drawing/2014/main" id="{9AE5CDC6-2A8E-37EE-794C-718CA4599C44}"/>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2" name="Rounded Rectangle 53">
            <a:extLst>
              <a:ext uri="{FF2B5EF4-FFF2-40B4-BE49-F238E27FC236}">
                <a16:creationId xmlns:a16="http://schemas.microsoft.com/office/drawing/2014/main" id="{FB2DA73D-A1D1-8D92-6EE9-457374E4EE0F}"/>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3" name="Rounded Rectangle 54">
            <a:extLst>
              <a:ext uri="{FF2B5EF4-FFF2-40B4-BE49-F238E27FC236}">
                <a16:creationId xmlns:a16="http://schemas.microsoft.com/office/drawing/2014/main" id="{1FBCE6A9-71A0-9CB1-16EC-7BB3E9CDAF11}"/>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4" name="Rectangle 53">
            <a:extLst>
              <a:ext uri="{FF2B5EF4-FFF2-40B4-BE49-F238E27FC236}">
                <a16:creationId xmlns:a16="http://schemas.microsoft.com/office/drawing/2014/main" id="{38AEAACD-6CE3-6360-2F99-0498C5064F1B}"/>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1 - 5 - 2</a:t>
            </a:r>
          </a:p>
        </p:txBody>
      </p:sp>
      <p:sp>
        <p:nvSpPr>
          <p:cNvPr id="55" name="TextBox 54">
            <a:extLst>
              <a:ext uri="{FF2B5EF4-FFF2-40B4-BE49-F238E27FC236}">
                <a16:creationId xmlns:a16="http://schemas.microsoft.com/office/drawing/2014/main" id="{44686BC2-40E9-A3F5-312D-9E4735105D84}"/>
              </a:ext>
            </a:extLst>
          </p:cNvPr>
          <p:cNvSpPr txBox="1"/>
          <p:nvPr/>
        </p:nvSpPr>
        <p:spPr>
          <a:xfrm>
            <a:off x="705395" y="5864455"/>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1 - 5 - 3</a:t>
            </a:r>
          </a:p>
        </p:txBody>
      </p:sp>
      <p:sp>
        <p:nvSpPr>
          <p:cNvPr id="56" name="TextBox 55">
            <a:extLst>
              <a:ext uri="{FF2B5EF4-FFF2-40B4-BE49-F238E27FC236}">
                <a16:creationId xmlns:a16="http://schemas.microsoft.com/office/drawing/2014/main" id="{B0B8EB3B-0EB9-758F-2E76-35C028EA3B21}"/>
              </a:ext>
            </a:extLst>
          </p:cNvPr>
          <p:cNvSpPr txBox="1"/>
          <p:nvPr/>
        </p:nvSpPr>
        <p:spPr>
          <a:xfrm>
            <a:off x="712694" y="5862917"/>
            <a:ext cx="3065929" cy="457200"/>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1 - 5 - 4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57" name="Oval 56">
            <a:extLst>
              <a:ext uri="{FF2B5EF4-FFF2-40B4-BE49-F238E27FC236}">
                <a16:creationId xmlns:a16="http://schemas.microsoft.com/office/drawing/2014/main" id="{B6AE955B-B29A-DA1C-1140-6276287C0469}"/>
              </a:ext>
            </a:extLst>
          </p:cNvPr>
          <p:cNvSpPr/>
          <p:nvPr/>
        </p:nvSpPr>
        <p:spPr>
          <a:xfrm>
            <a:off x="2220686" y="1737361"/>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8" name="Oval 57">
            <a:extLst>
              <a:ext uri="{FF2B5EF4-FFF2-40B4-BE49-F238E27FC236}">
                <a16:creationId xmlns:a16="http://schemas.microsoft.com/office/drawing/2014/main" id="{A2C30456-BD82-2F07-5D29-525BBA7DF2A2}"/>
              </a:ext>
            </a:extLst>
          </p:cNvPr>
          <p:cNvSpPr/>
          <p:nvPr/>
        </p:nvSpPr>
        <p:spPr>
          <a:xfrm>
            <a:off x="1746067" y="3091549"/>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59" name="Straight Connector 58">
            <a:extLst>
              <a:ext uri="{FF2B5EF4-FFF2-40B4-BE49-F238E27FC236}">
                <a16:creationId xmlns:a16="http://schemas.microsoft.com/office/drawing/2014/main" id="{056CE333-25C7-B473-7152-DBE3D09ED44D}"/>
              </a:ext>
            </a:extLst>
          </p:cNvPr>
          <p:cNvCxnSpPr/>
          <p:nvPr/>
        </p:nvCxnSpPr>
        <p:spPr>
          <a:xfrm>
            <a:off x="10110652" y="3997235"/>
            <a:ext cx="457200" cy="0"/>
          </a:xfrm>
          <a:prstGeom prst="line">
            <a:avLst/>
          </a:prstGeom>
          <a:noFill/>
          <a:ln w="38100" cap="flat" cmpd="sng" algn="ctr">
            <a:solidFill>
              <a:srgbClr val="AD1457"/>
            </a:solidFill>
            <a:prstDash val="solid"/>
            <a:miter lim="800000"/>
          </a:ln>
          <a:effectLst/>
        </p:spPr>
      </p:cxnSp>
      <p:sp>
        <p:nvSpPr>
          <p:cNvPr id="60" name="TextBox 59">
            <a:extLst>
              <a:ext uri="{FF2B5EF4-FFF2-40B4-BE49-F238E27FC236}">
                <a16:creationId xmlns:a16="http://schemas.microsoft.com/office/drawing/2014/main" id="{E53416DE-E9A4-3FEF-3E18-57425261E57C}"/>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0890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par>
                                <p:cTn id="32" presetID="53" presetClass="entr" presetSubtype="16"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par>
                                <p:cTn id="42" presetID="53" presetClass="entr" presetSubtype="16"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par>
                                <p:cTn id="47" presetID="53" presetClass="entr" presetSubtype="16"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par>
                                <p:cTn id="52" presetID="53" presetClass="entr" presetSubtype="16"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500" fill="hold"/>
                                        <p:tgtEl>
                                          <p:spTgt spid="12"/>
                                        </p:tgtEl>
                                        <p:attrNameLst>
                                          <p:attrName>ppt_w</p:attrName>
                                        </p:attrNameLst>
                                      </p:cBhvr>
                                      <p:tavLst>
                                        <p:tav tm="0">
                                          <p:val>
                                            <p:fltVal val="0"/>
                                          </p:val>
                                        </p:tav>
                                        <p:tav tm="100000">
                                          <p:val>
                                            <p:strVal val="#ppt_w"/>
                                          </p:val>
                                        </p:tav>
                                      </p:tavLst>
                                    </p:anim>
                                    <p:anim calcmode="lin" valueType="num">
                                      <p:cBhvr>
                                        <p:cTn id="55" dur="500" fill="hold"/>
                                        <p:tgtEl>
                                          <p:spTgt spid="12"/>
                                        </p:tgtEl>
                                        <p:attrNameLst>
                                          <p:attrName>ppt_h</p:attrName>
                                        </p:attrNameLst>
                                      </p:cBhvr>
                                      <p:tavLst>
                                        <p:tav tm="0">
                                          <p:val>
                                            <p:fltVal val="0"/>
                                          </p:val>
                                        </p:tav>
                                        <p:tav tm="100000">
                                          <p:val>
                                            <p:strVal val="#ppt_h"/>
                                          </p:val>
                                        </p:tav>
                                      </p:tavLst>
                                    </p:anim>
                                    <p:animEffect transition="in" filter="fade">
                                      <p:cBhvr>
                                        <p:cTn id="56" dur="500"/>
                                        <p:tgtEl>
                                          <p:spTgt spid="12"/>
                                        </p:tgtEl>
                                      </p:cBhvr>
                                    </p:animEffect>
                                  </p:childTnLst>
                                </p:cTn>
                              </p:par>
                              <p:par>
                                <p:cTn id="57" presetID="53" presetClass="entr" presetSubtype="16" fill="hold"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500" fill="hold"/>
                                        <p:tgtEl>
                                          <p:spTgt spid="13"/>
                                        </p:tgtEl>
                                        <p:attrNameLst>
                                          <p:attrName>ppt_w</p:attrName>
                                        </p:attrNameLst>
                                      </p:cBhvr>
                                      <p:tavLst>
                                        <p:tav tm="0">
                                          <p:val>
                                            <p:fltVal val="0"/>
                                          </p:val>
                                        </p:tav>
                                        <p:tav tm="100000">
                                          <p:val>
                                            <p:strVal val="#ppt_w"/>
                                          </p:val>
                                        </p:tav>
                                      </p:tavLst>
                                    </p:anim>
                                    <p:anim calcmode="lin" valueType="num">
                                      <p:cBhvr>
                                        <p:cTn id="60" dur="500" fill="hold"/>
                                        <p:tgtEl>
                                          <p:spTgt spid="13"/>
                                        </p:tgtEl>
                                        <p:attrNameLst>
                                          <p:attrName>ppt_h</p:attrName>
                                        </p:attrNameLst>
                                      </p:cBhvr>
                                      <p:tavLst>
                                        <p:tav tm="0">
                                          <p:val>
                                            <p:fltVal val="0"/>
                                          </p:val>
                                        </p:tav>
                                        <p:tav tm="100000">
                                          <p:val>
                                            <p:strVal val="#ppt_h"/>
                                          </p:val>
                                        </p:tav>
                                      </p:tavLst>
                                    </p:anim>
                                    <p:animEffect transition="in" filter="fade">
                                      <p:cBhvr>
                                        <p:cTn id="61" dur="500"/>
                                        <p:tgtEl>
                                          <p:spTgt spid="13"/>
                                        </p:tgtEl>
                                      </p:cBhvr>
                                    </p:animEffect>
                                  </p:childTnLst>
                                </p:cTn>
                              </p:par>
                              <p:par>
                                <p:cTn id="62" presetID="53" presetClass="entr" presetSubtype="16"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500"/>
                                        <p:tgtEl>
                                          <p:spTgt spid="3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500"/>
                                        <p:tgtEl>
                                          <p:spTgt spid="3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500"/>
                                        <p:tgtEl>
                                          <p:spTgt spid="3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fade">
                                      <p:cBhvr>
                                        <p:cTn id="117" dur="500"/>
                                        <p:tgtEl>
                                          <p:spTgt spid="3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5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8"/>
                                        </p:tgtEl>
                                        <p:attrNameLst>
                                          <p:attrName>style.visibility</p:attrName>
                                        </p:attrNameLst>
                                      </p:cBhvr>
                                      <p:to>
                                        <p:strVal val="visible"/>
                                      </p:to>
                                    </p:set>
                                    <p:animEffect transition="in" filter="fade">
                                      <p:cBhvr>
                                        <p:cTn id="125" dur="500"/>
                                        <p:tgtEl>
                                          <p:spTgt spid="38"/>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39"/>
                                        </p:tgtEl>
                                        <p:attrNameLst>
                                          <p:attrName>style.visibility</p:attrName>
                                        </p:attrNameLst>
                                      </p:cBhvr>
                                      <p:to>
                                        <p:strVal val="visible"/>
                                      </p:to>
                                    </p:set>
                                    <p:animEffect transition="in" filter="fade">
                                      <p:cBhvr>
                                        <p:cTn id="130" dur="500"/>
                                        <p:tgtEl>
                                          <p:spTgt spid="3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500"/>
                                        <p:tgtEl>
                                          <p:spTgt spid="40"/>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1"/>
                                        </p:tgtEl>
                                        <p:attrNameLst>
                                          <p:attrName>style.visibility</p:attrName>
                                        </p:attrNameLst>
                                      </p:cBhvr>
                                      <p:to>
                                        <p:strVal val="visible"/>
                                      </p:to>
                                    </p:set>
                                    <p:animEffect transition="in" filter="fade">
                                      <p:cBhvr>
                                        <p:cTn id="140" dur="500"/>
                                        <p:tgtEl>
                                          <p:spTgt spid="41"/>
                                        </p:tgtEl>
                                      </p:cBhvr>
                                    </p:animEffect>
                                  </p:childTnLst>
                                </p:cTn>
                              </p:par>
                            </p:childTnLst>
                          </p:cTn>
                        </p:par>
                        <p:par>
                          <p:cTn id="141" fill="hold">
                            <p:stCondLst>
                              <p:cond delay="500"/>
                            </p:stCondLst>
                            <p:childTnLst>
                              <p:par>
                                <p:cTn id="142" presetID="10" presetClass="entr" presetSubtype="0" fill="hold" grpId="0" nodeType="afterEffect">
                                  <p:stCondLst>
                                    <p:cond delay="0"/>
                                  </p:stCondLst>
                                  <p:childTnLst>
                                    <p:set>
                                      <p:cBhvr>
                                        <p:cTn id="143" dur="1" fill="hold">
                                          <p:stCondLst>
                                            <p:cond delay="0"/>
                                          </p:stCondLst>
                                        </p:cTn>
                                        <p:tgtEl>
                                          <p:spTgt spid="42"/>
                                        </p:tgtEl>
                                        <p:attrNameLst>
                                          <p:attrName>style.visibility</p:attrName>
                                        </p:attrNameLst>
                                      </p:cBhvr>
                                      <p:to>
                                        <p:strVal val="visible"/>
                                      </p:to>
                                    </p:set>
                                    <p:animEffect transition="in" filter="fade">
                                      <p:cBhvr>
                                        <p:cTn id="144" dur="500"/>
                                        <p:tgtEl>
                                          <p:spTgt spid="42"/>
                                        </p:tgtEl>
                                      </p:cBhvr>
                                    </p:animEffect>
                                  </p:childTnLst>
                                </p:cTn>
                              </p:par>
                            </p:childTnLst>
                          </p:cTn>
                        </p:par>
                        <p:par>
                          <p:cTn id="145" fill="hold">
                            <p:stCondLst>
                              <p:cond delay="1000"/>
                            </p:stCondLst>
                            <p:childTnLst>
                              <p:par>
                                <p:cTn id="146" presetID="10" presetClass="entr" presetSubtype="0" fill="hold" grpId="0" nodeType="afterEffect">
                                  <p:stCondLst>
                                    <p:cond delay="0"/>
                                  </p:stCondLst>
                                  <p:childTnLst>
                                    <p:set>
                                      <p:cBhvr>
                                        <p:cTn id="147" dur="1" fill="hold">
                                          <p:stCondLst>
                                            <p:cond delay="0"/>
                                          </p:stCondLst>
                                        </p:cTn>
                                        <p:tgtEl>
                                          <p:spTgt spid="43"/>
                                        </p:tgtEl>
                                        <p:attrNameLst>
                                          <p:attrName>style.visibility</p:attrName>
                                        </p:attrNameLst>
                                      </p:cBhvr>
                                      <p:to>
                                        <p:strVal val="visible"/>
                                      </p:to>
                                    </p:set>
                                    <p:animEffect transition="in" filter="fade">
                                      <p:cBhvr>
                                        <p:cTn id="148" dur="500"/>
                                        <p:tgtEl>
                                          <p:spTgt spid="43"/>
                                        </p:tgtEl>
                                      </p:cBhvr>
                                    </p:animEffect>
                                  </p:childTnLst>
                                </p:cTn>
                              </p:par>
                            </p:childTnLst>
                          </p:cTn>
                        </p:par>
                        <p:par>
                          <p:cTn id="149" fill="hold">
                            <p:stCondLst>
                              <p:cond delay="1500"/>
                            </p:stCondLst>
                            <p:childTnLst>
                              <p:par>
                                <p:cTn id="150" presetID="10" presetClass="entr" presetSubtype="0" fill="hold" grpId="0" nodeType="after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52"/>
                                        </p:tgtEl>
                                        <p:attrNameLst>
                                          <p:attrName>style.visibility</p:attrName>
                                        </p:attrNameLst>
                                      </p:cBhvr>
                                      <p:to>
                                        <p:strVal val="visible"/>
                                      </p:to>
                                    </p:set>
                                    <p:animEffect transition="in" filter="wheel(1)">
                                      <p:cBhvr>
                                        <p:cTn id="157" dur="2000"/>
                                        <p:tgtEl>
                                          <p:spTgt spid="52"/>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mph" presetSubtype="2" fill="hold" nodeType="clickEffect">
                                  <p:stCondLst>
                                    <p:cond delay="0"/>
                                  </p:stCondLst>
                                  <p:childTnLst>
                                    <p:animClr clrSpc="rgb" dir="cw">
                                      <p:cBhvr>
                                        <p:cTn id="161" dur="2000" fill="hold"/>
                                        <p:tgtEl>
                                          <p:spTgt spid="6"/>
                                        </p:tgtEl>
                                        <p:attrNameLst>
                                          <p:attrName>fillcolor</p:attrName>
                                        </p:attrNameLst>
                                      </p:cBhvr>
                                      <p:to>
                                        <a:srgbClr val="76923C"/>
                                      </p:to>
                                    </p:animClr>
                                    <p:set>
                                      <p:cBhvr>
                                        <p:cTn id="162" dur="2000" fill="hold"/>
                                        <p:tgtEl>
                                          <p:spTgt spid="6"/>
                                        </p:tgtEl>
                                        <p:attrNameLst>
                                          <p:attrName>fill.type</p:attrName>
                                        </p:attrNameLst>
                                      </p:cBhvr>
                                      <p:to>
                                        <p:strVal val="solid"/>
                                      </p:to>
                                    </p:set>
                                    <p:set>
                                      <p:cBhvr>
                                        <p:cTn id="163" dur="2000" fill="hold"/>
                                        <p:tgtEl>
                                          <p:spTgt spid="6"/>
                                        </p:tgtEl>
                                        <p:attrNameLst>
                                          <p:attrName>fill.on</p:attrName>
                                        </p:attrNameLst>
                                      </p:cBhvr>
                                      <p:to>
                                        <p:strVal val="true"/>
                                      </p:to>
                                    </p:se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45"/>
                                        </p:tgtEl>
                                        <p:attrNameLst>
                                          <p:attrName>style.visibility</p:attrName>
                                        </p:attrNameLst>
                                      </p:cBhvr>
                                      <p:to>
                                        <p:strVal val="visible"/>
                                      </p:to>
                                    </p:set>
                                    <p:animEffect transition="in" filter="fade">
                                      <p:cBhvr>
                                        <p:cTn id="168" dur="500"/>
                                        <p:tgtEl>
                                          <p:spTgt spid="45"/>
                                        </p:tgtEl>
                                      </p:cBhvr>
                                    </p:animEffect>
                                  </p:childTnLst>
                                </p:cTn>
                              </p:par>
                            </p:childTnLst>
                          </p:cTn>
                        </p:par>
                        <p:par>
                          <p:cTn id="169" fill="hold">
                            <p:stCondLst>
                              <p:cond delay="500"/>
                            </p:stCondLst>
                            <p:childTnLst>
                              <p:par>
                                <p:cTn id="170" presetID="10" presetClass="entr" presetSubtype="0" fill="hold" grpId="0" nodeType="after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500"/>
                                        <p:tgtEl>
                                          <p:spTgt spid="46"/>
                                        </p:tgtEl>
                                      </p:cBhvr>
                                    </p:animEffect>
                                  </p:childTnLst>
                                </p:cTn>
                              </p:par>
                            </p:childTnLst>
                          </p:cTn>
                        </p:par>
                        <p:par>
                          <p:cTn id="173" fill="hold">
                            <p:stCondLst>
                              <p:cond delay="1000"/>
                            </p:stCondLst>
                            <p:childTnLst>
                              <p:par>
                                <p:cTn id="174" presetID="10" presetClass="entr" presetSubtype="0" fill="hold" grpId="0" nodeType="afterEffect">
                                  <p:stCondLst>
                                    <p:cond delay="0"/>
                                  </p:stCondLst>
                                  <p:childTnLst>
                                    <p:set>
                                      <p:cBhvr>
                                        <p:cTn id="175" dur="1" fill="hold">
                                          <p:stCondLst>
                                            <p:cond delay="0"/>
                                          </p:stCondLst>
                                        </p:cTn>
                                        <p:tgtEl>
                                          <p:spTgt spid="47"/>
                                        </p:tgtEl>
                                        <p:attrNameLst>
                                          <p:attrName>style.visibility</p:attrName>
                                        </p:attrNameLst>
                                      </p:cBhvr>
                                      <p:to>
                                        <p:strVal val="visible"/>
                                      </p:to>
                                    </p:set>
                                    <p:animEffect transition="in" filter="fade">
                                      <p:cBhvr>
                                        <p:cTn id="176" dur="500"/>
                                        <p:tgtEl>
                                          <p:spTgt spid="47"/>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54"/>
                                        </p:tgtEl>
                                        <p:attrNameLst>
                                          <p:attrName>style.visibility</p:attrName>
                                        </p:attrNameLst>
                                      </p:cBhvr>
                                      <p:to>
                                        <p:strVal val="visible"/>
                                      </p:to>
                                    </p:set>
                                    <p:animEffect transition="in" filter="wipe(up)">
                                      <p:cBhvr>
                                        <p:cTn id="181" dur="1000"/>
                                        <p:tgtEl>
                                          <p:spTgt spid="54"/>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28"/>
                                        </p:tgtEl>
                                        <p:attrNameLst>
                                          <p:attrName>style.visibility</p:attrName>
                                        </p:attrNameLst>
                                      </p:cBhvr>
                                      <p:to>
                                        <p:strVal val="visible"/>
                                      </p:to>
                                    </p:set>
                                    <p:animEffect transition="in" filter="fade">
                                      <p:cBhvr>
                                        <p:cTn id="186" dur="500"/>
                                        <p:tgtEl>
                                          <p:spTgt spid="28"/>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48"/>
                                        </p:tgtEl>
                                        <p:attrNameLst>
                                          <p:attrName>style.visibility</p:attrName>
                                        </p:attrNameLst>
                                      </p:cBhvr>
                                      <p:to>
                                        <p:strVal val="visible"/>
                                      </p:to>
                                    </p:set>
                                    <p:animEffect transition="in" filter="fade">
                                      <p:cBhvr>
                                        <p:cTn id="191" dur="500"/>
                                        <p:tgtEl>
                                          <p:spTgt spid="48"/>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grpId="0" nodeType="clickEffect">
                                  <p:stCondLst>
                                    <p:cond delay="0"/>
                                  </p:stCondLst>
                                  <p:childTnLst>
                                    <p:set>
                                      <p:cBhvr>
                                        <p:cTn id="195" dur="1" fill="hold">
                                          <p:stCondLst>
                                            <p:cond delay="0"/>
                                          </p:stCondLst>
                                        </p:cTn>
                                        <p:tgtEl>
                                          <p:spTgt spid="55"/>
                                        </p:tgtEl>
                                        <p:attrNameLst>
                                          <p:attrName>style.visibility</p:attrName>
                                        </p:attrNameLst>
                                      </p:cBhvr>
                                      <p:to>
                                        <p:strVal val="visible"/>
                                      </p:to>
                                    </p:set>
                                    <p:animEffect transition="in" filter="wipe(up)">
                                      <p:cBhvr>
                                        <p:cTn id="196" dur="1000"/>
                                        <p:tgtEl>
                                          <p:spTgt spid="55"/>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49"/>
                                        </p:tgtEl>
                                        <p:attrNameLst>
                                          <p:attrName>style.visibility</p:attrName>
                                        </p:attrNameLst>
                                      </p:cBhvr>
                                      <p:to>
                                        <p:strVal val="visible"/>
                                      </p:to>
                                    </p:set>
                                    <p:animEffect transition="in" filter="fade">
                                      <p:cBhvr>
                                        <p:cTn id="201" dur="500"/>
                                        <p:tgtEl>
                                          <p:spTgt spid="49"/>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1" fill="hold" grpId="0" nodeType="click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up)">
                                      <p:cBhvr>
                                        <p:cTn id="206" dur="1500"/>
                                        <p:tgtEl>
                                          <p:spTgt spid="56"/>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grpId="0" nodeType="clickEffect">
                                  <p:stCondLst>
                                    <p:cond delay="0"/>
                                  </p:stCondLst>
                                  <p:childTnLst>
                                    <p:set>
                                      <p:cBhvr>
                                        <p:cTn id="210" dur="1" fill="hold">
                                          <p:stCondLst>
                                            <p:cond delay="0"/>
                                          </p:stCondLst>
                                        </p:cTn>
                                        <p:tgtEl>
                                          <p:spTgt spid="29"/>
                                        </p:tgtEl>
                                        <p:attrNameLst>
                                          <p:attrName>style.visibility</p:attrName>
                                        </p:attrNameLst>
                                      </p:cBhvr>
                                      <p:to>
                                        <p:strVal val="visible"/>
                                      </p:to>
                                    </p:set>
                                    <p:animEffect transition="in" filter="fade">
                                      <p:cBhvr>
                                        <p:cTn id="211" dur="500"/>
                                        <p:tgtEl>
                                          <p:spTgt spid="29"/>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grpId="0" nodeType="clickEffect">
                                  <p:stCondLst>
                                    <p:cond delay="0"/>
                                  </p:stCondLst>
                                  <p:childTnLst>
                                    <p:set>
                                      <p:cBhvr>
                                        <p:cTn id="215" dur="1" fill="hold">
                                          <p:stCondLst>
                                            <p:cond delay="0"/>
                                          </p:stCondLst>
                                        </p:cTn>
                                        <p:tgtEl>
                                          <p:spTgt spid="30"/>
                                        </p:tgtEl>
                                        <p:attrNameLst>
                                          <p:attrName>style.visibility</p:attrName>
                                        </p:attrNameLst>
                                      </p:cBhvr>
                                      <p:to>
                                        <p:strVal val="visible"/>
                                      </p:to>
                                    </p:set>
                                    <p:animEffect transition="in" filter="wipe(left)">
                                      <p:cBhvr>
                                        <p:cTn id="216" dur="1500"/>
                                        <p:tgtEl>
                                          <p:spTgt spid="30"/>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ntr" presetSubtype="8" fill="hold" nodeType="clickEffect">
                                  <p:stCondLst>
                                    <p:cond delay="0"/>
                                  </p:stCondLst>
                                  <p:childTnLst>
                                    <p:set>
                                      <p:cBhvr>
                                        <p:cTn id="220" dur="1" fill="hold">
                                          <p:stCondLst>
                                            <p:cond delay="0"/>
                                          </p:stCondLst>
                                        </p:cTn>
                                        <p:tgtEl>
                                          <p:spTgt spid="59"/>
                                        </p:tgtEl>
                                        <p:attrNameLst>
                                          <p:attrName>style.visibility</p:attrName>
                                        </p:attrNameLst>
                                      </p:cBhvr>
                                      <p:to>
                                        <p:strVal val="visible"/>
                                      </p:to>
                                    </p:set>
                                    <p:animEffect transition="in" filter="wipe(left)">
                                      <p:cBhvr>
                                        <p:cTn id="221" dur="1000"/>
                                        <p:tgtEl>
                                          <p:spTgt spid="59"/>
                                        </p:tgtEl>
                                      </p:cBhvr>
                                    </p:animEffect>
                                  </p:childTnLst>
                                </p:cTn>
                              </p:par>
                            </p:childTnLst>
                          </p:cTn>
                        </p:par>
                      </p:childTnLst>
                    </p:cTn>
                  </p:par>
                  <p:par>
                    <p:cTn id="222" fill="hold">
                      <p:stCondLst>
                        <p:cond delay="indefinite"/>
                      </p:stCondLst>
                      <p:childTnLst>
                        <p:par>
                          <p:cTn id="223" fill="hold">
                            <p:stCondLst>
                              <p:cond delay="0"/>
                            </p:stCondLst>
                            <p:childTnLst>
                              <p:par>
                                <p:cTn id="224" presetID="21" presetClass="entr" presetSubtype="1" fill="hold" grpId="0" nodeType="click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wheel(1)">
                                      <p:cBhvr>
                                        <p:cTn id="226" dur="1500"/>
                                        <p:tgtEl>
                                          <p:spTgt spid="58"/>
                                        </p:tgtEl>
                                      </p:cBhvr>
                                    </p:animEffect>
                                  </p:childTnLst>
                                </p:cTn>
                              </p:par>
                              <p:par>
                                <p:cTn id="227" presetID="21" presetClass="entr" presetSubtype="1" fill="hold" grpId="0" nodeType="withEffect">
                                  <p:stCondLst>
                                    <p:cond delay="0"/>
                                  </p:stCondLst>
                                  <p:childTnLst>
                                    <p:set>
                                      <p:cBhvr>
                                        <p:cTn id="228" dur="1" fill="hold">
                                          <p:stCondLst>
                                            <p:cond delay="0"/>
                                          </p:stCondLst>
                                        </p:cTn>
                                        <p:tgtEl>
                                          <p:spTgt spid="57"/>
                                        </p:tgtEl>
                                        <p:attrNameLst>
                                          <p:attrName>style.visibility</p:attrName>
                                        </p:attrNameLst>
                                      </p:cBhvr>
                                      <p:to>
                                        <p:strVal val="visible"/>
                                      </p:to>
                                    </p:set>
                                    <p:animEffect transition="in" filter="wheel(1)">
                                      <p:cBhvr>
                                        <p:cTn id="229" dur="1500"/>
                                        <p:tgtEl>
                                          <p:spTgt spid="57"/>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0"/>
                                  </p:stCondLst>
                                  <p:childTnLst>
                                    <p:set>
                                      <p:cBhvr>
                                        <p:cTn id="233" dur="1" fill="hold">
                                          <p:stCondLst>
                                            <p:cond delay="0"/>
                                          </p:stCondLst>
                                        </p:cTn>
                                        <p:tgtEl>
                                          <p:spTgt spid="50"/>
                                        </p:tgtEl>
                                        <p:attrNameLst>
                                          <p:attrName>style.visibility</p:attrName>
                                        </p:attrNameLst>
                                      </p:cBhvr>
                                      <p:to>
                                        <p:strVal val="visible"/>
                                      </p:to>
                                    </p:set>
                                    <p:animEffect transition="in" filter="fade">
                                      <p:cBhvr>
                                        <p:cTn id="234" dur="500"/>
                                        <p:tgtEl>
                                          <p:spTgt spid="50"/>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ntr" presetSubtype="0" fill="hold" grpId="0" nodeType="clickEffect">
                                  <p:stCondLst>
                                    <p:cond delay="0"/>
                                  </p:stCondLst>
                                  <p:childTnLst>
                                    <p:set>
                                      <p:cBhvr>
                                        <p:cTn id="238" dur="1" fill="hold">
                                          <p:stCondLst>
                                            <p:cond delay="0"/>
                                          </p:stCondLst>
                                        </p:cTn>
                                        <p:tgtEl>
                                          <p:spTgt spid="51"/>
                                        </p:tgtEl>
                                        <p:attrNameLst>
                                          <p:attrName>style.visibility</p:attrName>
                                        </p:attrNameLst>
                                      </p:cBhvr>
                                      <p:to>
                                        <p:strVal val="visible"/>
                                      </p:to>
                                    </p:set>
                                    <p:animEffect transition="in" filter="fade">
                                      <p:cBhvr>
                                        <p:cTn id="239" dur="500"/>
                                        <p:tgtEl>
                                          <p:spTgt spid="51"/>
                                        </p:tgtEl>
                                      </p:cBhvr>
                                    </p:animEffect>
                                  </p:childTnLst>
                                </p:cTn>
                              </p:par>
                            </p:childTnLst>
                          </p:cTn>
                        </p:par>
                      </p:childTnLst>
                    </p:cTn>
                  </p:par>
                  <p:par>
                    <p:cTn id="240" fill="hold">
                      <p:stCondLst>
                        <p:cond delay="indefinite"/>
                      </p:stCondLst>
                      <p:childTnLst>
                        <p:par>
                          <p:cTn id="241" fill="hold">
                            <p:stCondLst>
                              <p:cond delay="0"/>
                            </p:stCondLst>
                            <p:childTnLst>
                              <p:par>
                                <p:cTn id="242" presetID="21" presetClass="entr" presetSubtype="1" fill="hold" grpId="0" nodeType="clickEffect">
                                  <p:stCondLst>
                                    <p:cond delay="0"/>
                                  </p:stCondLst>
                                  <p:childTnLst>
                                    <p:set>
                                      <p:cBhvr>
                                        <p:cTn id="243" dur="1" fill="hold">
                                          <p:stCondLst>
                                            <p:cond delay="0"/>
                                          </p:stCondLst>
                                        </p:cTn>
                                        <p:tgtEl>
                                          <p:spTgt spid="53"/>
                                        </p:tgtEl>
                                        <p:attrNameLst>
                                          <p:attrName>style.visibility</p:attrName>
                                        </p:attrNameLst>
                                      </p:cBhvr>
                                      <p:to>
                                        <p:strVal val="visible"/>
                                      </p:to>
                                    </p:set>
                                    <p:animEffect transition="in" filter="wheel(1)">
                                      <p:cBhvr>
                                        <p:cTn id="244" dur="2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8" grpId="0"/>
      <p:bldP spid="19" grpId="0"/>
      <p:bldP spid="20" grpId="0"/>
      <p:bldP spid="21" grpId="0"/>
      <p:bldP spid="22" grpId="0"/>
      <p:bldP spid="23" grpId="0"/>
      <p:bldP spid="24" grpId="0"/>
      <p:bldP spid="25" grpId="0"/>
      <p:bldP spid="26" grpId="0" animBg="1"/>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B1B6E196-AD48-AEA4-5879-BEEAD0F17FA0}"/>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516E4844-1BCD-C824-38F9-EB85690768CD}"/>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F3DABCA4-86A9-7621-D8C4-698416E70DC7}"/>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58B727EE-1F57-440E-774E-F957A72B017B}"/>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E1893805-5200-E56A-FF84-4EFE6D5D4451}"/>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87F36BAF-EF78-2796-1EC5-9E2AC996F452}"/>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42ED000E-AC94-CD0D-8375-517F1D59C403}"/>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D712DE19-2BDC-C4A7-41B5-C8F79613324F}"/>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2009EA15-0989-CB7D-C363-21CCC0BC813F}"/>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F4169B39-63C8-52BF-76F4-C1FCC1590BD4}"/>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8F1B6F7F-3B8F-9390-9F84-365FBED5165D}"/>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51766894-6762-C3CA-3B6B-9E456E1BEC04}"/>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46A93809-0982-F586-31F1-B11A67F167DB}"/>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AEE252F7-2BFC-F303-4A29-763361AE101F}"/>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28FA50C0-CF05-9BC4-8E1D-FCF786BD86B3}"/>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57AAD0F7-74A2-C595-45BB-CAA8DF74AA66}"/>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E114E76F-0100-B817-A1AD-337E9287C31B}"/>
              </a:ext>
            </a:extLst>
          </p:cNvPr>
          <p:cNvSpPr txBox="1"/>
          <p:nvPr/>
        </p:nvSpPr>
        <p:spPr>
          <a:xfrm>
            <a:off x="3624940" y="3209382"/>
            <a:ext cx="5486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B7087FDF-97A8-B5E9-FCCB-FDC3802DC814}"/>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025D6D50-61FA-CA11-DB59-6756DFA7F913}"/>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70C82D39-DF71-B995-9313-BC0CAFA38EE2}"/>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EC37B4CA-4625-8CE8-1650-706D2BC063CF}"/>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E7D97571-88C0-8BD3-861A-B4F3CB02D64F}"/>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7" name="Rectangle 26">
            <a:extLst>
              <a:ext uri="{FF2B5EF4-FFF2-40B4-BE49-F238E27FC236}">
                <a16:creationId xmlns:a16="http://schemas.microsoft.com/office/drawing/2014/main" id="{FBE8EF79-6A31-384F-374C-6C8C15B7DCC2}"/>
              </a:ext>
            </a:extLst>
          </p:cNvPr>
          <p:cNvSpPr/>
          <p:nvPr/>
        </p:nvSpPr>
        <p:spPr>
          <a:xfrm>
            <a:off x="6235537" y="4568209"/>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4EB753EC-EDE5-1A23-BD84-61A83ACEA7A3}"/>
              </a:ext>
            </a:extLst>
          </p:cNvPr>
          <p:cNvSpPr/>
          <p:nvPr/>
        </p:nvSpPr>
        <p:spPr>
          <a:xfrm>
            <a:off x="7052934" y="4568212"/>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29" name="Rectangle 28">
            <a:extLst>
              <a:ext uri="{FF2B5EF4-FFF2-40B4-BE49-F238E27FC236}">
                <a16:creationId xmlns:a16="http://schemas.microsoft.com/office/drawing/2014/main" id="{C71E43CB-0E26-AB26-2D98-D34DF57A7B3B}"/>
              </a:ext>
            </a:extLst>
          </p:cNvPr>
          <p:cNvSpPr/>
          <p:nvPr/>
        </p:nvSpPr>
        <p:spPr>
          <a:xfrm>
            <a:off x="7580646" y="4568212"/>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a:t>
            </a:r>
          </a:p>
        </p:txBody>
      </p:sp>
      <p:sp>
        <p:nvSpPr>
          <p:cNvPr id="30" name="Rectangle 29">
            <a:extLst>
              <a:ext uri="{FF2B5EF4-FFF2-40B4-BE49-F238E27FC236}">
                <a16:creationId xmlns:a16="http://schemas.microsoft.com/office/drawing/2014/main" id="{77D256EB-3E00-EF61-436C-A785FF4B8676}"/>
              </a:ext>
            </a:extLst>
          </p:cNvPr>
          <p:cNvSpPr/>
          <p:nvPr/>
        </p:nvSpPr>
        <p:spPr>
          <a:xfrm>
            <a:off x="8944286"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Roboto Condensed"/>
                <a:ea typeface="+mn-ea"/>
                <a:cs typeface="+mn-cs"/>
              </a:rPr>
              <a:t>40</a:t>
            </a:r>
          </a:p>
        </p:txBody>
      </p:sp>
      <p:sp>
        <p:nvSpPr>
          <p:cNvPr id="31" name="Rectangle 30">
            <a:extLst>
              <a:ext uri="{FF2B5EF4-FFF2-40B4-BE49-F238E27FC236}">
                <a16:creationId xmlns:a16="http://schemas.microsoft.com/office/drawing/2014/main" id="{AE2A13D1-6F9E-4763-0A30-32A09B1AD0DB}"/>
              </a:ext>
            </a:extLst>
          </p:cNvPr>
          <p:cNvSpPr/>
          <p:nvPr/>
        </p:nvSpPr>
        <p:spPr>
          <a:xfrm>
            <a:off x="9486231" y="4568211"/>
            <a:ext cx="548640" cy="493070"/>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2" name="Rectangle 31">
            <a:extLst>
              <a:ext uri="{FF2B5EF4-FFF2-40B4-BE49-F238E27FC236}">
                <a16:creationId xmlns:a16="http://schemas.microsoft.com/office/drawing/2014/main" id="{F90FFD1A-227B-36C2-F9D2-7C657AEED0ED}"/>
              </a:ext>
            </a:extLst>
          </p:cNvPr>
          <p:cNvSpPr/>
          <p:nvPr/>
        </p:nvSpPr>
        <p:spPr>
          <a:xfrm>
            <a:off x="10032140" y="4568212"/>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33" name="Rectangle 32">
            <a:extLst>
              <a:ext uri="{FF2B5EF4-FFF2-40B4-BE49-F238E27FC236}">
                <a16:creationId xmlns:a16="http://schemas.microsoft.com/office/drawing/2014/main" id="{ADF8C87B-B742-8FDA-75FE-8BEA21033FD1}"/>
              </a:ext>
            </a:extLst>
          </p:cNvPr>
          <p:cNvSpPr/>
          <p:nvPr/>
        </p:nvSpPr>
        <p:spPr>
          <a:xfrm>
            <a:off x="10669591"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34" name="TextBox 33">
            <a:extLst>
              <a:ext uri="{FF2B5EF4-FFF2-40B4-BE49-F238E27FC236}">
                <a16:creationId xmlns:a16="http://schemas.microsoft.com/office/drawing/2014/main" id="{8E467004-3EEF-AA84-B849-A682B1A9276A}"/>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35" name="Rectangle 34">
            <a:extLst>
              <a:ext uri="{FF2B5EF4-FFF2-40B4-BE49-F238E27FC236}">
                <a16:creationId xmlns:a16="http://schemas.microsoft.com/office/drawing/2014/main" id="{FE35785C-65A0-405B-9FAC-6290B2B8F759}"/>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36" name="Rectangle 35">
            <a:extLst>
              <a:ext uri="{FF2B5EF4-FFF2-40B4-BE49-F238E27FC236}">
                <a16:creationId xmlns:a16="http://schemas.microsoft.com/office/drawing/2014/main" id="{E9A856B7-86CD-B84E-B62E-7E6D17F3307F}"/>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37" name="Rectangle 36">
            <a:extLst>
              <a:ext uri="{FF2B5EF4-FFF2-40B4-BE49-F238E27FC236}">
                <a16:creationId xmlns:a16="http://schemas.microsoft.com/office/drawing/2014/main" id="{C6A37699-F727-802F-C5C0-9C9C06B5A32A}"/>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38" name="Rectangle 37">
            <a:extLst>
              <a:ext uri="{FF2B5EF4-FFF2-40B4-BE49-F238E27FC236}">
                <a16:creationId xmlns:a16="http://schemas.microsoft.com/office/drawing/2014/main" id="{9F6ECFFC-A23A-01AE-B845-2483DF6FE501}"/>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39" name="Rectangle 38">
            <a:extLst>
              <a:ext uri="{FF2B5EF4-FFF2-40B4-BE49-F238E27FC236}">
                <a16:creationId xmlns:a16="http://schemas.microsoft.com/office/drawing/2014/main" id="{83366E69-6F0B-505F-FA63-CF790B1BC00D}"/>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40" name="Rectangle 39">
            <a:extLst>
              <a:ext uri="{FF2B5EF4-FFF2-40B4-BE49-F238E27FC236}">
                <a16:creationId xmlns:a16="http://schemas.microsoft.com/office/drawing/2014/main" id="{437973B0-C5CA-C847-9E38-9F9032E12B59}"/>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41" name="Rectangle 40">
            <a:extLst>
              <a:ext uri="{FF2B5EF4-FFF2-40B4-BE49-F238E27FC236}">
                <a16:creationId xmlns:a16="http://schemas.microsoft.com/office/drawing/2014/main" id="{03EC303A-4250-66AE-995D-AA8A9BC57E38}"/>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42" name="Rectangle 41">
            <a:extLst>
              <a:ext uri="{FF2B5EF4-FFF2-40B4-BE49-F238E27FC236}">
                <a16:creationId xmlns:a16="http://schemas.microsoft.com/office/drawing/2014/main" id="{572F1909-AF02-4FCF-EEB8-B1C7816E6975}"/>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43" name="Rectangle 42">
            <a:extLst>
              <a:ext uri="{FF2B5EF4-FFF2-40B4-BE49-F238E27FC236}">
                <a16:creationId xmlns:a16="http://schemas.microsoft.com/office/drawing/2014/main" id="{AB199834-D2E9-D4D6-56AA-0F3109B8067E}"/>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44" name="Rectangle 43">
            <a:extLst>
              <a:ext uri="{FF2B5EF4-FFF2-40B4-BE49-F238E27FC236}">
                <a16:creationId xmlns:a16="http://schemas.microsoft.com/office/drawing/2014/main" id="{0EF5C89F-CF5C-7896-0F22-12A559644C2F}"/>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45" name="Rectangle 44">
            <a:extLst>
              <a:ext uri="{FF2B5EF4-FFF2-40B4-BE49-F238E27FC236}">
                <a16:creationId xmlns:a16="http://schemas.microsoft.com/office/drawing/2014/main" id="{6C0FA7EC-4EF5-BD40-8CCC-02C5D315713A}"/>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6" name="Rectangle 45">
            <a:extLst>
              <a:ext uri="{FF2B5EF4-FFF2-40B4-BE49-F238E27FC236}">
                <a16:creationId xmlns:a16="http://schemas.microsoft.com/office/drawing/2014/main" id="{E6417B29-E6AD-6C60-6A06-01CB083DB0D1}"/>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47" name="Rectangle 46">
            <a:extLst>
              <a:ext uri="{FF2B5EF4-FFF2-40B4-BE49-F238E27FC236}">
                <a16:creationId xmlns:a16="http://schemas.microsoft.com/office/drawing/2014/main" id="{DFB4B766-E611-DF83-E7C5-8988CEFF2387}"/>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48" name="Rectangle 47">
            <a:extLst>
              <a:ext uri="{FF2B5EF4-FFF2-40B4-BE49-F238E27FC236}">
                <a16:creationId xmlns:a16="http://schemas.microsoft.com/office/drawing/2014/main" id="{7DB47001-D6C4-FFD9-D561-6CE532A0B1D1}"/>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9" name="Rectangle 48">
            <a:extLst>
              <a:ext uri="{FF2B5EF4-FFF2-40B4-BE49-F238E27FC236}">
                <a16:creationId xmlns:a16="http://schemas.microsoft.com/office/drawing/2014/main" id="{A5FA75D2-D151-AD52-18C0-1A5DE9CF5A40}"/>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50" name="Rectangle 49">
            <a:extLst>
              <a:ext uri="{FF2B5EF4-FFF2-40B4-BE49-F238E27FC236}">
                <a16:creationId xmlns:a16="http://schemas.microsoft.com/office/drawing/2014/main" id="{54AABBF1-FE95-BFEE-5B1C-B602D8CCDBEE}"/>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51" name="Rectangle 50">
            <a:extLst>
              <a:ext uri="{FF2B5EF4-FFF2-40B4-BE49-F238E27FC236}">
                <a16:creationId xmlns:a16="http://schemas.microsoft.com/office/drawing/2014/main" id="{6E28FB30-7099-D924-EDD4-C36FD0575962}"/>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52" name="Rectangle 51">
            <a:extLst>
              <a:ext uri="{FF2B5EF4-FFF2-40B4-BE49-F238E27FC236}">
                <a16:creationId xmlns:a16="http://schemas.microsoft.com/office/drawing/2014/main" id="{B2ABA238-F74B-358C-DB69-10C6CCE4B5D4}"/>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53" name="Rectangle 52">
            <a:extLst>
              <a:ext uri="{FF2B5EF4-FFF2-40B4-BE49-F238E27FC236}">
                <a16:creationId xmlns:a16="http://schemas.microsoft.com/office/drawing/2014/main" id="{765DDDDC-3B7D-4FD2-A72E-6B1F5E8F8DCE}"/>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4" name="Rectangle 53">
            <a:extLst>
              <a:ext uri="{FF2B5EF4-FFF2-40B4-BE49-F238E27FC236}">
                <a16:creationId xmlns:a16="http://schemas.microsoft.com/office/drawing/2014/main" id="{7E274A72-D064-4381-04C2-7A69E2B4F2F4}"/>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55" name="Rectangle 54">
            <a:extLst>
              <a:ext uri="{FF2B5EF4-FFF2-40B4-BE49-F238E27FC236}">
                <a16:creationId xmlns:a16="http://schemas.microsoft.com/office/drawing/2014/main" id="{CAEA69E0-D1D6-E3E5-DD5C-8486DEC269C2}"/>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6" name="Rounded Rectangle 100">
            <a:extLst>
              <a:ext uri="{FF2B5EF4-FFF2-40B4-BE49-F238E27FC236}">
                <a16:creationId xmlns:a16="http://schemas.microsoft.com/office/drawing/2014/main" id="{874C1026-7F2B-E7FA-F465-813F52F856BD}"/>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7" name="Rounded Rectangle 101">
            <a:extLst>
              <a:ext uri="{FF2B5EF4-FFF2-40B4-BE49-F238E27FC236}">
                <a16:creationId xmlns:a16="http://schemas.microsoft.com/office/drawing/2014/main" id="{3A244B6E-473D-98BB-0B29-335ECA2BF9E2}"/>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8" name="Rounded Rectangle 102">
            <a:extLst>
              <a:ext uri="{FF2B5EF4-FFF2-40B4-BE49-F238E27FC236}">
                <a16:creationId xmlns:a16="http://schemas.microsoft.com/office/drawing/2014/main" id="{B204A98C-5D5B-AA8B-1DB7-2D1BE0510D26}"/>
              </a:ext>
            </a:extLst>
          </p:cNvPr>
          <p:cNvSpPr/>
          <p:nvPr/>
        </p:nvSpPr>
        <p:spPr>
          <a:xfrm>
            <a:off x="9038151" y="4645078"/>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9" name="Pentagon 63">
            <a:extLst>
              <a:ext uri="{FF2B5EF4-FFF2-40B4-BE49-F238E27FC236}">
                <a16:creationId xmlns:a16="http://schemas.microsoft.com/office/drawing/2014/main" id="{0C9E81C3-3C6E-408B-9F31-F2B41C858E0C}"/>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a:t>
            </a:r>
          </a:p>
        </p:txBody>
      </p:sp>
      <p:sp>
        <p:nvSpPr>
          <p:cNvPr id="60" name="Rounded Rectangle 64">
            <a:extLst>
              <a:ext uri="{FF2B5EF4-FFF2-40B4-BE49-F238E27FC236}">
                <a16:creationId xmlns:a16="http://schemas.microsoft.com/office/drawing/2014/main" id="{85A7E1A7-1CED-7930-BD23-1120ADB963B4}"/>
              </a:ext>
            </a:extLst>
          </p:cNvPr>
          <p:cNvSpPr/>
          <p:nvPr/>
        </p:nvSpPr>
        <p:spPr>
          <a:xfrm>
            <a:off x="3885721" y="5862919"/>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61" name="Rectangle 60">
            <a:extLst>
              <a:ext uri="{FF2B5EF4-FFF2-40B4-BE49-F238E27FC236}">
                <a16:creationId xmlns:a16="http://schemas.microsoft.com/office/drawing/2014/main" id="{8DF84BB6-E443-B56F-F378-75064F38016F}"/>
              </a:ext>
            </a:extLst>
          </p:cNvPr>
          <p:cNvSpPr/>
          <p:nvPr/>
        </p:nvSpPr>
        <p:spPr>
          <a:xfrm>
            <a:off x="4810204" y="5643154"/>
            <a:ext cx="2834640"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1–4–2 (40) and 1–2(50)</a:t>
            </a:r>
          </a:p>
        </p:txBody>
      </p:sp>
      <p:sp>
        <p:nvSpPr>
          <p:cNvPr id="62" name="Rectangle 61">
            <a:extLst>
              <a:ext uri="{FF2B5EF4-FFF2-40B4-BE49-F238E27FC236}">
                <a16:creationId xmlns:a16="http://schemas.microsoft.com/office/drawing/2014/main" id="{06202517-EEFA-6A02-DC8B-F02ACA762032}"/>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1 - 4 - 2</a:t>
            </a:r>
          </a:p>
        </p:txBody>
      </p:sp>
      <p:sp>
        <p:nvSpPr>
          <p:cNvPr id="63" name="TextBox 62">
            <a:extLst>
              <a:ext uri="{FF2B5EF4-FFF2-40B4-BE49-F238E27FC236}">
                <a16:creationId xmlns:a16="http://schemas.microsoft.com/office/drawing/2014/main" id="{F5AD2CF6-05A6-93BE-72B9-C09BE2DABFD9}"/>
              </a:ext>
            </a:extLst>
          </p:cNvPr>
          <p:cNvSpPr txBox="1"/>
          <p:nvPr/>
        </p:nvSpPr>
        <p:spPr>
          <a:xfrm>
            <a:off x="705011" y="5887892"/>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1 - 4 - 3</a:t>
            </a:r>
          </a:p>
        </p:txBody>
      </p:sp>
      <p:sp>
        <p:nvSpPr>
          <p:cNvPr id="64" name="TextBox 63">
            <a:extLst>
              <a:ext uri="{FF2B5EF4-FFF2-40B4-BE49-F238E27FC236}">
                <a16:creationId xmlns:a16="http://schemas.microsoft.com/office/drawing/2014/main" id="{6698A188-3268-9DFB-C2A3-CF0576BC5696}"/>
              </a:ext>
            </a:extLst>
          </p:cNvPr>
          <p:cNvSpPr txBox="1"/>
          <p:nvPr/>
        </p:nvSpPr>
        <p:spPr>
          <a:xfrm>
            <a:off x="697325" y="5875211"/>
            <a:ext cx="3065929" cy="43088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1 - 4 - 5</a:t>
            </a:r>
          </a:p>
        </p:txBody>
      </p:sp>
      <p:sp>
        <p:nvSpPr>
          <p:cNvPr id="65" name="Rectangle 64">
            <a:extLst>
              <a:ext uri="{FF2B5EF4-FFF2-40B4-BE49-F238E27FC236}">
                <a16:creationId xmlns:a16="http://schemas.microsoft.com/office/drawing/2014/main" id="{B2F1DF86-F77F-60A5-83B8-5870F7019AA0}"/>
              </a:ext>
            </a:extLst>
          </p:cNvPr>
          <p:cNvSpPr/>
          <p:nvPr/>
        </p:nvSpPr>
        <p:spPr>
          <a:xfrm>
            <a:off x="4801621" y="5643538"/>
            <a:ext cx="2834640" cy="822960"/>
          </a:xfrm>
          <a:prstGeom prst="rect">
            <a:avLst/>
          </a:prstGeom>
          <a:solidFill>
            <a:srgbClr val="F19D19">
              <a:lumMod val="20000"/>
              <a:lumOff val="80000"/>
            </a:srgbClr>
          </a:solid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1–4–3 (70) and 1–3 (30)</a:t>
            </a:r>
          </a:p>
        </p:txBody>
      </p:sp>
      <p:sp>
        <p:nvSpPr>
          <p:cNvPr id="66" name="Rounded Rectangle 69">
            <a:extLst>
              <a:ext uri="{FF2B5EF4-FFF2-40B4-BE49-F238E27FC236}">
                <a16:creationId xmlns:a16="http://schemas.microsoft.com/office/drawing/2014/main" id="{9D0192EE-D95A-92F8-A1A3-F41CEB2EBC57}"/>
              </a:ext>
            </a:extLst>
          </p:cNvPr>
          <p:cNvSpPr/>
          <p:nvPr/>
        </p:nvSpPr>
        <p:spPr>
          <a:xfrm>
            <a:off x="3640048" y="3258693"/>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7" name="Oval 66">
            <a:extLst>
              <a:ext uri="{FF2B5EF4-FFF2-40B4-BE49-F238E27FC236}">
                <a16:creationId xmlns:a16="http://schemas.microsoft.com/office/drawing/2014/main" id="{5D12B5B6-C14F-8A97-8BAE-01ED943C9C13}"/>
              </a:ext>
            </a:extLst>
          </p:cNvPr>
          <p:cNvSpPr/>
          <p:nvPr/>
        </p:nvSpPr>
        <p:spPr>
          <a:xfrm>
            <a:off x="9000320" y="4088680"/>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9" name="TextBox 68">
            <a:extLst>
              <a:ext uri="{FF2B5EF4-FFF2-40B4-BE49-F238E27FC236}">
                <a16:creationId xmlns:a16="http://schemas.microsoft.com/office/drawing/2014/main" id="{DF689456-6AF5-8765-A827-2BFB3F756AE0}"/>
              </a:ext>
            </a:extLst>
          </p:cNvPr>
          <p:cNvSpPr txBox="1"/>
          <p:nvPr/>
        </p:nvSpPr>
        <p:spPr>
          <a:xfrm>
            <a:off x="2993922" y="2963216"/>
            <a:ext cx="6194322"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800" b="0" i="0" u="none" strike="noStrike" kern="1200" cap="none" spc="0" normalizeH="0" baseline="0" noProof="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71" name="TextBox 70">
            <a:extLst>
              <a:ext uri="{FF2B5EF4-FFF2-40B4-BE49-F238E27FC236}">
                <a16:creationId xmlns:a16="http://schemas.microsoft.com/office/drawing/2014/main" id="{A111CE48-30C3-014A-7E93-16E8D3653408}"/>
              </a:ext>
            </a:extLst>
          </p:cNvPr>
          <p:cNvSpPr txBox="1"/>
          <p:nvPr/>
        </p:nvSpPr>
        <p:spPr>
          <a:xfrm>
            <a:off x="291780" y="193626"/>
            <a:ext cx="728886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0428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up)">
                                      <p:cBhvr>
                                        <p:cTn id="22" dur="10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1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wheel(1)">
                                      <p:cBhvr>
                                        <p:cTn id="37" dur="2000"/>
                                        <p:tgtEl>
                                          <p:spTgt spid="66"/>
                                        </p:tgtEl>
                                      </p:cBhvr>
                                    </p:animEffect>
                                  </p:childTnLst>
                                </p:cTn>
                              </p:par>
                            </p:childTnLst>
                          </p:cTn>
                        </p:par>
                        <p:par>
                          <p:cTn id="38" fill="hold">
                            <p:stCondLst>
                              <p:cond delay="2000"/>
                            </p:stCondLst>
                            <p:childTnLst>
                              <p:par>
                                <p:cTn id="39" presetID="15" presetClass="emph" presetSubtype="0" nodeType="afterEffect">
                                  <p:stCondLst>
                                    <p:cond delay="0"/>
                                  </p:stCondLst>
                                  <p:iterate type="lt">
                                    <p:tmAbs val="25"/>
                                  </p:iterate>
                                  <p:childTnLst>
                                    <p:set>
                                      <p:cBhvr override="childStyle">
                                        <p:cTn id="40" dur="500"/>
                                        <p:tgtEl>
                                          <p:spTgt spid="21">
                                            <p:txEl>
                                              <p:pRg st="0" end="0"/>
                                            </p:txEl>
                                          </p:spTgt>
                                        </p:tgtEl>
                                        <p:attrNameLst>
                                          <p:attrName>style.fontWeight</p:attrName>
                                        </p:attrNameLst>
                                      </p:cBhvr>
                                      <p:to>
                                        <p:strVal val="bold"/>
                                      </p:to>
                                    </p:se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wheel(1)">
                                      <p:cBhvr>
                                        <p:cTn id="45" dur="1500"/>
                                        <p:tgtEl>
                                          <p:spTgt spid="6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par>
                          <p:cTn id="51" fill="hold">
                            <p:stCondLst>
                              <p:cond delay="500"/>
                            </p:stCondLst>
                            <p:childTnLst>
                              <p:par>
                                <p:cTn id="52" presetID="21" presetClass="exit" presetSubtype="1" fill="hold" grpId="1" nodeType="afterEffect">
                                  <p:stCondLst>
                                    <p:cond delay="0"/>
                                  </p:stCondLst>
                                  <p:childTnLst>
                                    <p:animEffect transition="out" filter="wheel(1)">
                                      <p:cBhvr>
                                        <p:cTn id="53" dur="500"/>
                                        <p:tgtEl>
                                          <p:spTgt spid="66"/>
                                        </p:tgtEl>
                                      </p:cBhvr>
                                    </p:animEffect>
                                    <p:set>
                                      <p:cBhvr>
                                        <p:cTn id="54" dur="1" fill="hold">
                                          <p:stCondLst>
                                            <p:cond delay="499"/>
                                          </p:stCondLst>
                                        </p:cTn>
                                        <p:tgtEl>
                                          <p:spTgt spid="66"/>
                                        </p:tgtEl>
                                        <p:attrNameLst>
                                          <p:attrName>style.visibility</p:attrName>
                                        </p:attrNameLst>
                                      </p:cBhvr>
                                      <p:to>
                                        <p:strVal val="hidden"/>
                                      </p:to>
                                    </p:set>
                                  </p:childTnLst>
                                </p:cTn>
                              </p:par>
                              <p:par>
                                <p:cTn id="55" presetID="21" presetClass="exit" presetSubtype="1" fill="hold" grpId="1" nodeType="withEffect">
                                  <p:stCondLst>
                                    <p:cond delay="0"/>
                                  </p:stCondLst>
                                  <p:childTnLst>
                                    <p:animEffect transition="out" filter="wheel(1)">
                                      <p:cBhvr>
                                        <p:cTn id="56" dur="500"/>
                                        <p:tgtEl>
                                          <p:spTgt spid="67"/>
                                        </p:tgtEl>
                                      </p:cBhvr>
                                    </p:animEffect>
                                    <p:set>
                                      <p:cBhvr>
                                        <p:cTn id="57" dur="1" fill="hold">
                                          <p:stCondLst>
                                            <p:cond delay="499"/>
                                          </p:stCondLst>
                                        </p:cTn>
                                        <p:tgtEl>
                                          <p:spTgt spid="6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up)">
                                      <p:cBhvr>
                                        <p:cTn id="62" dur="1000"/>
                                        <p:tgtEl>
                                          <p:spTgt spid="6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wipe(left)">
                                      <p:cBhvr>
                                        <p:cTn id="67" dur="1000"/>
                                        <p:tgtEl>
                                          <p:spTgt spid="6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wipe(up)">
                                      <p:cBhvr>
                                        <p:cTn id="82" dur="1500"/>
                                        <p:tgtEl>
                                          <p:spTgt spid="6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500"/>
                                        <p:tgtEl>
                                          <p:spTgt spid="60"/>
                                        </p:tgtEl>
                                      </p:cBhvr>
                                    </p:animEffect>
                                  </p:childTnLst>
                                </p:cTn>
                              </p:par>
                              <p:par>
                                <p:cTn id="88" presetID="1" presetClass="exit" presetSubtype="0" fill="hold" grpId="1" nodeType="withEffect">
                                  <p:stCondLst>
                                    <p:cond delay="0"/>
                                  </p:stCondLst>
                                  <p:childTnLst>
                                    <p:set>
                                      <p:cBhvr>
                                        <p:cTn id="89" dur="1" fill="hold">
                                          <p:stCondLst>
                                            <p:cond delay="0"/>
                                          </p:stCondLst>
                                        </p:cTn>
                                        <p:tgtEl>
                                          <p:spTgt spid="6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65"/>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childTnLst>
                          </p:cTn>
                        </p:par>
                      </p:childTnLst>
                    </p:cTn>
                  </p:par>
                  <p:par>
                    <p:cTn id="97" fill="hold">
                      <p:stCondLst>
                        <p:cond delay="indefinite"/>
                      </p:stCondLst>
                      <p:childTnLst>
                        <p:par>
                          <p:cTn id="98" fill="hold">
                            <p:stCondLst>
                              <p:cond delay="0"/>
                            </p:stCondLst>
                            <p:childTnLst>
                              <p:par>
                                <p:cTn id="99" presetID="21" presetClass="entr" presetSubtype="1" fill="hold" grpId="0" nodeType="clickEffect">
                                  <p:stCondLst>
                                    <p:cond delay="0"/>
                                  </p:stCondLst>
                                  <p:childTnLst>
                                    <p:set>
                                      <p:cBhvr>
                                        <p:cTn id="100" dur="1" fill="hold">
                                          <p:stCondLst>
                                            <p:cond delay="0"/>
                                          </p:stCondLst>
                                        </p:cTn>
                                        <p:tgtEl>
                                          <p:spTgt spid="58"/>
                                        </p:tgtEl>
                                        <p:attrNameLst>
                                          <p:attrName>style.visibility</p:attrName>
                                        </p:attrNameLst>
                                      </p:cBhvr>
                                      <p:to>
                                        <p:strVal val="visible"/>
                                      </p:to>
                                    </p:set>
                                    <p:animEffect transition="in" filter="wheel(1)">
                                      <p:cBhvr>
                                        <p:cTn id="101"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58" grpId="0" animBg="1"/>
      <p:bldP spid="59" grpId="0" animBg="1"/>
      <p:bldP spid="60" grpId="0" animBg="1"/>
      <p:bldP spid="61" grpId="0" animBg="1"/>
      <p:bldP spid="61" grpId="1" animBg="1"/>
      <p:bldP spid="62" grpId="0" animBg="1"/>
      <p:bldP spid="63" grpId="0" animBg="1"/>
      <p:bldP spid="64" grpId="0" animBg="1"/>
      <p:bldP spid="65" grpId="0" animBg="1"/>
      <p:bldP spid="65" grpId="1" animBg="1"/>
      <p:bldP spid="66" grpId="0" animBg="1"/>
      <p:bldP spid="66" grpId="1" animBg="1"/>
      <p:bldP spid="67" grpId="0" animBg="1"/>
      <p:bldP spid="67"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A7FA17BF-D471-0C87-59A1-1E1E2D5B7163}"/>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B45DB227-C410-F7D5-D0E1-EA93344AC86B}"/>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B2072A92-65F8-D808-C6F2-64A2E347E18F}"/>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CCB06F04-74AE-58E5-DCBF-C3C41D74C410}"/>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212FF0CE-7024-E471-AD15-1866C842AFFD}"/>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30A1B7FC-E7A9-C5D8-F11D-EADE95E38887}"/>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61AEAF47-3F60-A70D-9E9F-2DA5C5870BC1}"/>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66DEAD7C-2E9F-DC7A-27C3-02AA48A7DD91}"/>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466964BB-8617-FEAA-785E-A101BBA742DA}"/>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EF2F68ED-FA60-2F43-A800-8A6823AE448D}"/>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7030EA6F-A2CE-F18A-F34D-651C56B96B39}"/>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C4FBA5C8-2028-8531-F54B-BF8E490EC0AB}"/>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FA2259CE-16ED-9ADA-5CDA-CE4BFD4774DB}"/>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90B7F5CE-5427-7452-4797-C961280952C4}"/>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A45270B8-3AA9-91DD-11ED-4E93CE3CC63E}"/>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054E5571-1C09-EDFB-92D7-F903B2F751BA}"/>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494B0924-4D79-74DC-4E41-6130988C3073}"/>
              </a:ext>
            </a:extLst>
          </p:cNvPr>
          <p:cNvSpPr txBox="1"/>
          <p:nvPr/>
        </p:nvSpPr>
        <p:spPr>
          <a:xfrm>
            <a:off x="3624940" y="3195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34210144-E7B4-9A1F-DD43-30CA13F8CD23}"/>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08D4D250-EB08-6F84-3267-1F5A7521BF08}"/>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76ABB464-426E-2089-342A-B2BA4F0BC73E}"/>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435E638A-D767-3E5B-E657-0F8A23B1B8D6}"/>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AFB86879-4242-E257-8560-DEB4C70880A7}"/>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7" name="Rectangle 26">
            <a:extLst>
              <a:ext uri="{FF2B5EF4-FFF2-40B4-BE49-F238E27FC236}">
                <a16:creationId xmlns:a16="http://schemas.microsoft.com/office/drawing/2014/main" id="{6D75F56D-8B75-B6E7-CADD-DD0187A15105}"/>
              </a:ext>
            </a:extLst>
          </p:cNvPr>
          <p:cNvSpPr/>
          <p:nvPr/>
        </p:nvSpPr>
        <p:spPr>
          <a:xfrm>
            <a:off x="6235537" y="4568209"/>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A5451C44-2DBB-F7BE-B185-176BA5D4C350}"/>
              </a:ext>
            </a:extLst>
          </p:cNvPr>
          <p:cNvSpPr/>
          <p:nvPr/>
        </p:nvSpPr>
        <p:spPr>
          <a:xfrm>
            <a:off x="7052934" y="4568212"/>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29" name="Rectangle 28">
            <a:extLst>
              <a:ext uri="{FF2B5EF4-FFF2-40B4-BE49-F238E27FC236}">
                <a16:creationId xmlns:a16="http://schemas.microsoft.com/office/drawing/2014/main" id="{51DDBFC0-3755-40EF-1DA6-D7899F54D482}"/>
              </a:ext>
            </a:extLst>
          </p:cNvPr>
          <p:cNvSpPr/>
          <p:nvPr/>
        </p:nvSpPr>
        <p:spPr>
          <a:xfrm>
            <a:off x="7580646" y="4568212"/>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a:t>
            </a:r>
          </a:p>
        </p:txBody>
      </p:sp>
      <p:sp>
        <p:nvSpPr>
          <p:cNvPr id="30" name="Rectangle 29">
            <a:extLst>
              <a:ext uri="{FF2B5EF4-FFF2-40B4-BE49-F238E27FC236}">
                <a16:creationId xmlns:a16="http://schemas.microsoft.com/office/drawing/2014/main" id="{65930D8F-ECB3-050A-2449-7A091FD4022E}"/>
              </a:ext>
            </a:extLst>
          </p:cNvPr>
          <p:cNvSpPr/>
          <p:nvPr/>
        </p:nvSpPr>
        <p:spPr>
          <a:xfrm>
            <a:off x="8944286"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Roboto Condensed"/>
                <a:ea typeface="+mn-ea"/>
                <a:cs typeface="+mn-cs"/>
              </a:rPr>
              <a:t>40</a:t>
            </a:r>
          </a:p>
        </p:txBody>
      </p:sp>
      <p:sp>
        <p:nvSpPr>
          <p:cNvPr id="31" name="Rectangle 30">
            <a:extLst>
              <a:ext uri="{FF2B5EF4-FFF2-40B4-BE49-F238E27FC236}">
                <a16:creationId xmlns:a16="http://schemas.microsoft.com/office/drawing/2014/main" id="{8ECE5D5A-3A2D-87F5-7CFF-5267692D87E0}"/>
              </a:ext>
            </a:extLst>
          </p:cNvPr>
          <p:cNvSpPr/>
          <p:nvPr/>
        </p:nvSpPr>
        <p:spPr>
          <a:xfrm>
            <a:off x="9486231" y="4568211"/>
            <a:ext cx="548640" cy="493070"/>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2" name="Rectangle 31">
            <a:extLst>
              <a:ext uri="{FF2B5EF4-FFF2-40B4-BE49-F238E27FC236}">
                <a16:creationId xmlns:a16="http://schemas.microsoft.com/office/drawing/2014/main" id="{DD207593-0C1B-2908-9F6A-81FC8E04DC37}"/>
              </a:ext>
            </a:extLst>
          </p:cNvPr>
          <p:cNvSpPr/>
          <p:nvPr/>
        </p:nvSpPr>
        <p:spPr>
          <a:xfrm>
            <a:off x="10032140" y="4568212"/>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33" name="Rectangle 32">
            <a:extLst>
              <a:ext uri="{FF2B5EF4-FFF2-40B4-BE49-F238E27FC236}">
                <a16:creationId xmlns:a16="http://schemas.microsoft.com/office/drawing/2014/main" id="{22C086B0-DEC8-8A77-4C3A-C3880E465ACE}"/>
              </a:ext>
            </a:extLst>
          </p:cNvPr>
          <p:cNvSpPr/>
          <p:nvPr/>
        </p:nvSpPr>
        <p:spPr>
          <a:xfrm>
            <a:off x="10669591"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34" name="Rectangle 33">
            <a:extLst>
              <a:ext uri="{FF2B5EF4-FFF2-40B4-BE49-F238E27FC236}">
                <a16:creationId xmlns:a16="http://schemas.microsoft.com/office/drawing/2014/main" id="{DC40B072-ED87-E408-4160-066DDDA8C7B6}"/>
              </a:ext>
            </a:extLst>
          </p:cNvPr>
          <p:cNvSpPr/>
          <p:nvPr/>
        </p:nvSpPr>
        <p:spPr>
          <a:xfrm>
            <a:off x="6235537" y="5053115"/>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35" name="Rectangle 34">
            <a:extLst>
              <a:ext uri="{FF2B5EF4-FFF2-40B4-BE49-F238E27FC236}">
                <a16:creationId xmlns:a16="http://schemas.microsoft.com/office/drawing/2014/main" id="{FD39D05D-0313-F165-FD98-B54C7A0B5262}"/>
              </a:ext>
            </a:extLst>
          </p:cNvPr>
          <p:cNvSpPr/>
          <p:nvPr/>
        </p:nvSpPr>
        <p:spPr>
          <a:xfrm>
            <a:off x="7052934" y="5053115"/>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36" name="Rectangle 35">
            <a:extLst>
              <a:ext uri="{FF2B5EF4-FFF2-40B4-BE49-F238E27FC236}">
                <a16:creationId xmlns:a16="http://schemas.microsoft.com/office/drawing/2014/main" id="{6D27A8EC-6F36-0A8A-51EF-731CC7DBC783}"/>
              </a:ext>
            </a:extLst>
          </p:cNvPr>
          <p:cNvSpPr/>
          <p:nvPr/>
        </p:nvSpPr>
        <p:spPr>
          <a:xfrm>
            <a:off x="7580646" y="5053115"/>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37" name="Rectangle 36">
            <a:extLst>
              <a:ext uri="{FF2B5EF4-FFF2-40B4-BE49-F238E27FC236}">
                <a16:creationId xmlns:a16="http://schemas.microsoft.com/office/drawing/2014/main" id="{FF0B6E0B-ECDC-3B3F-E8EA-A27EFC715EC5}"/>
              </a:ext>
            </a:extLst>
          </p:cNvPr>
          <p:cNvSpPr/>
          <p:nvPr/>
        </p:nvSpPr>
        <p:spPr>
          <a:xfrm>
            <a:off x="8944286" y="505311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35</a:t>
            </a:r>
          </a:p>
        </p:txBody>
      </p:sp>
      <p:sp>
        <p:nvSpPr>
          <p:cNvPr id="38" name="Rectangle 37">
            <a:extLst>
              <a:ext uri="{FF2B5EF4-FFF2-40B4-BE49-F238E27FC236}">
                <a16:creationId xmlns:a16="http://schemas.microsoft.com/office/drawing/2014/main" id="{635E78E4-0A79-230C-8C90-776FD19A2998}"/>
              </a:ext>
            </a:extLst>
          </p:cNvPr>
          <p:cNvSpPr/>
          <p:nvPr/>
        </p:nvSpPr>
        <p:spPr>
          <a:xfrm>
            <a:off x="9486231" y="505311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9" name="Rectangle 38">
            <a:extLst>
              <a:ext uri="{FF2B5EF4-FFF2-40B4-BE49-F238E27FC236}">
                <a16:creationId xmlns:a16="http://schemas.microsoft.com/office/drawing/2014/main" id="{D75A5F51-4375-98FC-DAAB-9CDB6DAE7696}"/>
              </a:ext>
            </a:extLst>
          </p:cNvPr>
          <p:cNvSpPr/>
          <p:nvPr/>
        </p:nvSpPr>
        <p:spPr>
          <a:xfrm>
            <a:off x="10032140" y="505311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40" name="Rectangle 39">
            <a:extLst>
              <a:ext uri="{FF2B5EF4-FFF2-40B4-BE49-F238E27FC236}">
                <a16:creationId xmlns:a16="http://schemas.microsoft.com/office/drawing/2014/main" id="{F173574C-73FF-F6CA-DEF2-28B8AEBFB973}"/>
              </a:ext>
            </a:extLst>
          </p:cNvPr>
          <p:cNvSpPr/>
          <p:nvPr/>
        </p:nvSpPr>
        <p:spPr>
          <a:xfrm>
            <a:off x="10669591" y="5053115"/>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1" name="Rounded Rectangle 69">
            <a:extLst>
              <a:ext uri="{FF2B5EF4-FFF2-40B4-BE49-F238E27FC236}">
                <a16:creationId xmlns:a16="http://schemas.microsoft.com/office/drawing/2014/main" id="{A88338CF-B7C6-A5DF-2C06-6C7B8071F817}"/>
              </a:ext>
            </a:extLst>
          </p:cNvPr>
          <p:cNvSpPr/>
          <p:nvPr/>
        </p:nvSpPr>
        <p:spPr>
          <a:xfrm>
            <a:off x="6249607" y="5066987"/>
            <a:ext cx="4968240" cy="478196"/>
          </a:xfrm>
          <a:prstGeom prst="roundRect">
            <a:avLst/>
          </a:prstGeom>
          <a:solidFill>
            <a:srgbClr val="00BBD3">
              <a:lumMod val="75000"/>
              <a:alpha val="2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TextBox 41">
            <a:extLst>
              <a:ext uri="{FF2B5EF4-FFF2-40B4-BE49-F238E27FC236}">
                <a16:creationId xmlns:a16="http://schemas.microsoft.com/office/drawing/2014/main" id="{BFCBF232-B3E9-4A48-4E72-D92F41A5CEA7}"/>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43" name="Rectangle 42">
            <a:extLst>
              <a:ext uri="{FF2B5EF4-FFF2-40B4-BE49-F238E27FC236}">
                <a16:creationId xmlns:a16="http://schemas.microsoft.com/office/drawing/2014/main" id="{DE88C8A2-5C5C-D793-E9CF-FB3CA7BA5A4A}"/>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44" name="Rectangle 43">
            <a:extLst>
              <a:ext uri="{FF2B5EF4-FFF2-40B4-BE49-F238E27FC236}">
                <a16:creationId xmlns:a16="http://schemas.microsoft.com/office/drawing/2014/main" id="{DF6AA804-92FA-3636-6A07-C463A1B615CF}"/>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45" name="Rectangle 44">
            <a:extLst>
              <a:ext uri="{FF2B5EF4-FFF2-40B4-BE49-F238E27FC236}">
                <a16:creationId xmlns:a16="http://schemas.microsoft.com/office/drawing/2014/main" id="{68ED0897-8FC3-13E9-A413-262D716CB936}"/>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46" name="Rectangle 45">
            <a:extLst>
              <a:ext uri="{FF2B5EF4-FFF2-40B4-BE49-F238E27FC236}">
                <a16:creationId xmlns:a16="http://schemas.microsoft.com/office/drawing/2014/main" id="{E2FE3A05-AA86-A879-7501-719CD228EA4D}"/>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47" name="Rectangle 46">
            <a:extLst>
              <a:ext uri="{FF2B5EF4-FFF2-40B4-BE49-F238E27FC236}">
                <a16:creationId xmlns:a16="http://schemas.microsoft.com/office/drawing/2014/main" id="{67674411-585D-2193-2BC5-A61A19D15BCE}"/>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48" name="Rectangle 47">
            <a:extLst>
              <a:ext uri="{FF2B5EF4-FFF2-40B4-BE49-F238E27FC236}">
                <a16:creationId xmlns:a16="http://schemas.microsoft.com/office/drawing/2014/main" id="{994754FE-FDA4-B546-3CAA-3A75D771F7D4}"/>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49" name="Rectangle 48">
            <a:extLst>
              <a:ext uri="{FF2B5EF4-FFF2-40B4-BE49-F238E27FC236}">
                <a16:creationId xmlns:a16="http://schemas.microsoft.com/office/drawing/2014/main" id="{F6EBFA86-6906-17AE-F86B-0E36AB68D91D}"/>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50" name="Rectangle 49">
            <a:extLst>
              <a:ext uri="{FF2B5EF4-FFF2-40B4-BE49-F238E27FC236}">
                <a16:creationId xmlns:a16="http://schemas.microsoft.com/office/drawing/2014/main" id="{F441EDF9-E0FF-8A83-2397-5A4558BBBE90}"/>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51" name="Rectangle 50">
            <a:extLst>
              <a:ext uri="{FF2B5EF4-FFF2-40B4-BE49-F238E27FC236}">
                <a16:creationId xmlns:a16="http://schemas.microsoft.com/office/drawing/2014/main" id="{4EF38534-1333-D12E-5431-971902DE60E7}"/>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52" name="Rectangle 51">
            <a:extLst>
              <a:ext uri="{FF2B5EF4-FFF2-40B4-BE49-F238E27FC236}">
                <a16:creationId xmlns:a16="http://schemas.microsoft.com/office/drawing/2014/main" id="{B2CA18B6-32A9-3E5E-AB05-04C927167B37}"/>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53" name="Rectangle 52">
            <a:extLst>
              <a:ext uri="{FF2B5EF4-FFF2-40B4-BE49-F238E27FC236}">
                <a16:creationId xmlns:a16="http://schemas.microsoft.com/office/drawing/2014/main" id="{5C343A06-83B6-274A-332B-2FF0725A03D7}"/>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54" name="Rectangle 53">
            <a:extLst>
              <a:ext uri="{FF2B5EF4-FFF2-40B4-BE49-F238E27FC236}">
                <a16:creationId xmlns:a16="http://schemas.microsoft.com/office/drawing/2014/main" id="{12F4F8A6-5826-90E4-C4E4-3863BE78AC52}"/>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5" name="Rectangle 54">
            <a:extLst>
              <a:ext uri="{FF2B5EF4-FFF2-40B4-BE49-F238E27FC236}">
                <a16:creationId xmlns:a16="http://schemas.microsoft.com/office/drawing/2014/main" id="{0DAF4B70-19D1-A191-C2FA-337DAD86DFDA}"/>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56" name="Rectangle 55">
            <a:extLst>
              <a:ext uri="{FF2B5EF4-FFF2-40B4-BE49-F238E27FC236}">
                <a16:creationId xmlns:a16="http://schemas.microsoft.com/office/drawing/2014/main" id="{0F727E8E-0421-9147-DBAC-C3561347DE40}"/>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7" name="Rectangle 56">
            <a:extLst>
              <a:ext uri="{FF2B5EF4-FFF2-40B4-BE49-F238E27FC236}">
                <a16:creationId xmlns:a16="http://schemas.microsoft.com/office/drawing/2014/main" id="{B30ECC25-8E2A-BAA2-CA66-79F0B3E3FC1D}"/>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58" name="Rectangle 57">
            <a:extLst>
              <a:ext uri="{FF2B5EF4-FFF2-40B4-BE49-F238E27FC236}">
                <a16:creationId xmlns:a16="http://schemas.microsoft.com/office/drawing/2014/main" id="{10F7E513-1B45-2914-78F1-86E80534034F}"/>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59" name="Rectangle 58">
            <a:extLst>
              <a:ext uri="{FF2B5EF4-FFF2-40B4-BE49-F238E27FC236}">
                <a16:creationId xmlns:a16="http://schemas.microsoft.com/office/drawing/2014/main" id="{9F3B94F2-4BAD-6311-A545-F4E671B43290}"/>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60" name="Rectangle 59">
            <a:extLst>
              <a:ext uri="{FF2B5EF4-FFF2-40B4-BE49-F238E27FC236}">
                <a16:creationId xmlns:a16="http://schemas.microsoft.com/office/drawing/2014/main" id="{5AFF8115-47DC-F588-ACAD-74E6004EA9EC}"/>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61" name="Rectangle 60">
            <a:extLst>
              <a:ext uri="{FF2B5EF4-FFF2-40B4-BE49-F238E27FC236}">
                <a16:creationId xmlns:a16="http://schemas.microsoft.com/office/drawing/2014/main" id="{3ACB40E4-249E-B449-B5DA-541CF2980990}"/>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62" name="Rectangle 61">
            <a:extLst>
              <a:ext uri="{FF2B5EF4-FFF2-40B4-BE49-F238E27FC236}">
                <a16:creationId xmlns:a16="http://schemas.microsoft.com/office/drawing/2014/main" id="{0858CEA4-97BD-271C-DB11-F981621BA6A2}"/>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63" name="Rectangle 62">
            <a:extLst>
              <a:ext uri="{FF2B5EF4-FFF2-40B4-BE49-F238E27FC236}">
                <a16:creationId xmlns:a16="http://schemas.microsoft.com/office/drawing/2014/main" id="{B0F209A9-7B20-B4AA-FC44-D6F8ECEC7870}"/>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64" name="Rounded Rectangle 100">
            <a:extLst>
              <a:ext uri="{FF2B5EF4-FFF2-40B4-BE49-F238E27FC236}">
                <a16:creationId xmlns:a16="http://schemas.microsoft.com/office/drawing/2014/main" id="{22679051-19D0-2819-48BF-6D111908C2D8}"/>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5" name="Rounded Rectangle 101">
            <a:extLst>
              <a:ext uri="{FF2B5EF4-FFF2-40B4-BE49-F238E27FC236}">
                <a16:creationId xmlns:a16="http://schemas.microsoft.com/office/drawing/2014/main" id="{82240B71-ACC3-4D2F-1DE1-2F6D7A626A10}"/>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6" name="Rounded Rectangle 102">
            <a:extLst>
              <a:ext uri="{FF2B5EF4-FFF2-40B4-BE49-F238E27FC236}">
                <a16:creationId xmlns:a16="http://schemas.microsoft.com/office/drawing/2014/main" id="{E8EBF739-9D6F-CBB5-9008-F251D7A605A0}"/>
              </a:ext>
            </a:extLst>
          </p:cNvPr>
          <p:cNvSpPr/>
          <p:nvPr/>
        </p:nvSpPr>
        <p:spPr>
          <a:xfrm>
            <a:off x="9038151" y="4645078"/>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7" name="Rounded Rectangle 103">
            <a:extLst>
              <a:ext uri="{FF2B5EF4-FFF2-40B4-BE49-F238E27FC236}">
                <a16:creationId xmlns:a16="http://schemas.microsoft.com/office/drawing/2014/main" id="{C12588A7-9058-BE81-4B99-2A520C0B7EC5}"/>
              </a:ext>
            </a:extLst>
          </p:cNvPr>
          <p:cNvSpPr/>
          <p:nvPr/>
        </p:nvSpPr>
        <p:spPr>
          <a:xfrm>
            <a:off x="9038151" y="5129980"/>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8" name="Pentagon 77">
            <a:extLst>
              <a:ext uri="{FF2B5EF4-FFF2-40B4-BE49-F238E27FC236}">
                <a16:creationId xmlns:a16="http://schemas.microsoft.com/office/drawing/2014/main" id="{9C57BC74-CC02-612B-78CF-9121D4F86371}"/>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a:t>
            </a:r>
          </a:p>
        </p:txBody>
      </p:sp>
      <p:sp>
        <p:nvSpPr>
          <p:cNvPr id="69" name="Rounded Rectangle 104">
            <a:extLst>
              <a:ext uri="{FF2B5EF4-FFF2-40B4-BE49-F238E27FC236}">
                <a16:creationId xmlns:a16="http://schemas.microsoft.com/office/drawing/2014/main" id="{0E92DD2C-835C-D6DF-698B-59BE08EC804E}"/>
              </a:ext>
            </a:extLst>
          </p:cNvPr>
          <p:cNvSpPr/>
          <p:nvPr/>
        </p:nvSpPr>
        <p:spPr>
          <a:xfrm>
            <a:off x="3868047" y="5858693"/>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70" name="Rectangle 69">
            <a:extLst>
              <a:ext uri="{FF2B5EF4-FFF2-40B4-BE49-F238E27FC236}">
                <a16:creationId xmlns:a16="http://schemas.microsoft.com/office/drawing/2014/main" id="{DEC3018F-27A5-BBAD-2A5A-E08585C274F3}"/>
              </a:ext>
            </a:extLst>
          </p:cNvPr>
          <p:cNvSpPr/>
          <p:nvPr/>
        </p:nvSpPr>
        <p:spPr>
          <a:xfrm>
            <a:off x="4810204" y="5643154"/>
            <a:ext cx="2194560"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1–3–2 and 1–2</a:t>
            </a:r>
          </a:p>
        </p:txBody>
      </p:sp>
      <p:sp>
        <p:nvSpPr>
          <p:cNvPr id="71" name="Rectangle 70">
            <a:extLst>
              <a:ext uri="{FF2B5EF4-FFF2-40B4-BE49-F238E27FC236}">
                <a16:creationId xmlns:a16="http://schemas.microsoft.com/office/drawing/2014/main" id="{CB2D34A4-8E41-2946-7F65-1E75C079AD66}"/>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1 - 3 - 2</a:t>
            </a:r>
          </a:p>
        </p:txBody>
      </p:sp>
      <p:sp>
        <p:nvSpPr>
          <p:cNvPr id="72" name="TextBox 71">
            <a:extLst>
              <a:ext uri="{FF2B5EF4-FFF2-40B4-BE49-F238E27FC236}">
                <a16:creationId xmlns:a16="http://schemas.microsoft.com/office/drawing/2014/main" id="{15E2DB99-D966-567D-F3CB-65F3CA774C38}"/>
              </a:ext>
            </a:extLst>
          </p:cNvPr>
          <p:cNvSpPr txBox="1"/>
          <p:nvPr/>
        </p:nvSpPr>
        <p:spPr>
          <a:xfrm>
            <a:off x="695407" y="5874829"/>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1 - 3 - 4</a:t>
            </a:r>
          </a:p>
        </p:txBody>
      </p:sp>
      <p:sp>
        <p:nvSpPr>
          <p:cNvPr id="73" name="TextBox 72">
            <a:extLst>
              <a:ext uri="{FF2B5EF4-FFF2-40B4-BE49-F238E27FC236}">
                <a16:creationId xmlns:a16="http://schemas.microsoft.com/office/drawing/2014/main" id="{6EDD1255-0125-D1D6-0547-D3271738846E}"/>
              </a:ext>
            </a:extLst>
          </p:cNvPr>
          <p:cNvSpPr txBox="1"/>
          <p:nvPr/>
        </p:nvSpPr>
        <p:spPr>
          <a:xfrm>
            <a:off x="701935" y="5891348"/>
            <a:ext cx="3065929" cy="43088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1 - 3 - 5</a:t>
            </a:r>
          </a:p>
        </p:txBody>
      </p:sp>
      <p:sp>
        <p:nvSpPr>
          <p:cNvPr id="74" name="Oval 73">
            <a:extLst>
              <a:ext uri="{FF2B5EF4-FFF2-40B4-BE49-F238E27FC236}">
                <a16:creationId xmlns:a16="http://schemas.microsoft.com/office/drawing/2014/main" id="{F415EE59-F128-0C40-C986-EC3A50528E41}"/>
              </a:ext>
            </a:extLst>
          </p:cNvPr>
          <p:cNvSpPr/>
          <p:nvPr/>
        </p:nvSpPr>
        <p:spPr>
          <a:xfrm>
            <a:off x="9509767" y="4585064"/>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5" name="Oval 74">
            <a:extLst>
              <a:ext uri="{FF2B5EF4-FFF2-40B4-BE49-F238E27FC236}">
                <a16:creationId xmlns:a16="http://schemas.microsoft.com/office/drawing/2014/main" id="{E78347AE-6F38-1995-7414-164B1CA3C350}"/>
              </a:ext>
            </a:extLst>
          </p:cNvPr>
          <p:cNvSpPr/>
          <p:nvPr/>
        </p:nvSpPr>
        <p:spPr>
          <a:xfrm>
            <a:off x="4972599" y="3026234"/>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6" name="Rectangle 75">
            <a:extLst>
              <a:ext uri="{FF2B5EF4-FFF2-40B4-BE49-F238E27FC236}">
                <a16:creationId xmlns:a16="http://schemas.microsoft.com/office/drawing/2014/main" id="{D9405EF9-8BE5-806F-7809-16525DF49C68}"/>
              </a:ext>
            </a:extLst>
          </p:cNvPr>
          <p:cNvSpPr/>
          <p:nvPr/>
        </p:nvSpPr>
        <p:spPr>
          <a:xfrm>
            <a:off x="439387" y="5545183"/>
            <a:ext cx="4326638" cy="1021872"/>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8" name="TextBox 77">
            <a:extLst>
              <a:ext uri="{FF2B5EF4-FFF2-40B4-BE49-F238E27FC236}">
                <a16:creationId xmlns:a16="http://schemas.microsoft.com/office/drawing/2014/main" id="{7196414D-1D8A-ADBE-B655-4272E05A6902}"/>
              </a:ext>
            </a:extLst>
          </p:cNvPr>
          <p:cNvSpPr txBox="1"/>
          <p:nvPr/>
        </p:nvSpPr>
        <p:spPr>
          <a:xfrm>
            <a:off x="266065" y="202772"/>
            <a:ext cx="75921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47373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left)">
                                      <p:cBhvr>
                                        <p:cTn id="32" dur="1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wheel(1)">
                                      <p:cBhvr>
                                        <p:cTn id="37" dur="1500"/>
                                        <p:tgtEl>
                                          <p:spTgt spid="75"/>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wheel(1)">
                                      <p:cBhvr>
                                        <p:cTn id="40" dur="1500"/>
                                        <p:tgtEl>
                                          <p:spTgt spid="7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wipe(up)">
                                      <p:cBhvr>
                                        <p:cTn id="55" dur="10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fade">
                                      <p:cBhvr>
                                        <p:cTn id="60" dur="500"/>
                                        <p:tgtEl>
                                          <p:spTgt spid="69"/>
                                        </p:tgtEl>
                                      </p:cBhvr>
                                    </p:animEffect>
                                  </p:childTnLst>
                                </p:cTn>
                              </p:par>
                              <p:par>
                                <p:cTn id="61" presetID="1" presetClass="exit" presetSubtype="0" fill="hold" grpId="1" nodeType="withEffect">
                                  <p:stCondLst>
                                    <p:cond delay="0"/>
                                  </p:stCondLst>
                                  <p:childTnLst>
                                    <p:set>
                                      <p:cBhvr>
                                        <p:cTn id="62" dur="1" fill="hold">
                                          <p:stCondLst>
                                            <p:cond delay="0"/>
                                          </p:stCondLst>
                                        </p:cTn>
                                        <p:tgtEl>
                                          <p:spTgt spid="70"/>
                                        </p:tgtEl>
                                        <p:attrNameLst>
                                          <p:attrName>style.visibility</p:attrName>
                                        </p:attrNameLst>
                                      </p:cBhvr>
                                      <p:to>
                                        <p:strVal val="hidden"/>
                                      </p:to>
                                    </p:set>
                                  </p:childTnLst>
                                </p:cTn>
                              </p:par>
                              <p:par>
                                <p:cTn id="63" presetID="21" presetClass="exit" presetSubtype="1" fill="hold" grpId="1" nodeType="withEffect">
                                  <p:stCondLst>
                                    <p:cond delay="0"/>
                                  </p:stCondLst>
                                  <p:childTnLst>
                                    <p:animEffect transition="out" filter="wheel(1)">
                                      <p:cBhvr>
                                        <p:cTn id="64" dur="1000"/>
                                        <p:tgtEl>
                                          <p:spTgt spid="75"/>
                                        </p:tgtEl>
                                      </p:cBhvr>
                                    </p:animEffect>
                                    <p:set>
                                      <p:cBhvr>
                                        <p:cTn id="65" dur="1" fill="hold">
                                          <p:stCondLst>
                                            <p:cond delay="999"/>
                                          </p:stCondLst>
                                        </p:cTn>
                                        <p:tgtEl>
                                          <p:spTgt spid="75"/>
                                        </p:tgtEl>
                                        <p:attrNameLst>
                                          <p:attrName>style.visibility</p:attrName>
                                        </p:attrNameLst>
                                      </p:cBhvr>
                                      <p:to>
                                        <p:strVal val="hidden"/>
                                      </p:to>
                                    </p:set>
                                  </p:childTnLst>
                                </p:cTn>
                              </p:par>
                              <p:par>
                                <p:cTn id="66" presetID="21" presetClass="exit" presetSubtype="1" fill="hold" grpId="1" nodeType="withEffect">
                                  <p:stCondLst>
                                    <p:cond delay="0"/>
                                  </p:stCondLst>
                                  <p:childTnLst>
                                    <p:animEffect transition="out" filter="wheel(1)">
                                      <p:cBhvr>
                                        <p:cTn id="67" dur="1000"/>
                                        <p:tgtEl>
                                          <p:spTgt spid="74"/>
                                        </p:tgtEl>
                                      </p:cBhvr>
                                    </p:animEffect>
                                    <p:set>
                                      <p:cBhvr>
                                        <p:cTn id="68" dur="1" fill="hold">
                                          <p:stCondLst>
                                            <p:cond delay="999"/>
                                          </p:stCondLst>
                                        </p:cTn>
                                        <p:tgtEl>
                                          <p:spTgt spid="7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wipe(up)">
                                      <p:cBhvr>
                                        <p:cTn id="78" dur="1500"/>
                                        <p:tgtEl>
                                          <p:spTgt spid="7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heel(1)">
                                      <p:cBhvr>
                                        <p:cTn id="88" dur="2000"/>
                                        <p:tgtEl>
                                          <p:spTgt spid="6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wipe(left)">
                                      <p:cBhvr>
                                        <p:cTn id="93" dur="1000"/>
                                        <p:tgtEl>
                                          <p:spTgt spid="41"/>
                                        </p:tgtEl>
                                      </p:cBhvr>
                                    </p:animEffect>
                                  </p:childTnLst>
                                </p:cTn>
                              </p:par>
                              <p:par>
                                <p:cTn id="94" presetID="1" presetClass="entr" presetSubtype="0" fill="hold" grpId="0" nodeType="withEffect">
                                  <p:stCondLst>
                                    <p:cond delay="0"/>
                                  </p:stCondLst>
                                  <p:childTnLst>
                                    <p:set>
                                      <p:cBhvr>
                                        <p:cTn id="95"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67" grpId="0" animBg="1"/>
      <p:bldP spid="68" grpId="0" animBg="1"/>
      <p:bldP spid="69" grpId="0" animBg="1"/>
      <p:bldP spid="70" grpId="0" animBg="1"/>
      <p:bldP spid="70" grpId="1" animBg="1"/>
      <p:bldP spid="71" grpId="0" animBg="1"/>
      <p:bldP spid="72" grpId="0" animBg="1"/>
      <p:bldP spid="73" grpId="0" animBg="1"/>
      <p:bldP spid="74" grpId="0" animBg="1"/>
      <p:bldP spid="74" grpId="1" animBg="1"/>
      <p:bldP spid="75" grpId="0" animBg="1"/>
      <p:bldP spid="75" grpId="1" animBg="1"/>
      <p:bldP spid="7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Content Placeholder 2">
            <a:extLst>
              <a:ext uri="{FF2B5EF4-FFF2-40B4-BE49-F238E27FC236}">
                <a16:creationId xmlns:a16="http://schemas.microsoft.com/office/drawing/2014/main" id="{84DC6378-53B9-E21E-CE93-41328C711F3E}"/>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400" b="1" i="0" u="none" strike="noStrike" kern="1200" cap="none" spc="0" normalizeH="0" baseline="0" noProof="0" dirty="0">
                <a:ln>
                  <a:noFill/>
                </a:ln>
                <a:solidFill>
                  <a:srgbClr val="212121">
                    <a:lumMod val="90000"/>
                    <a:lumOff val="10000"/>
                  </a:srgbClr>
                </a:solidFill>
                <a:effectLst/>
                <a:uLnTx/>
                <a:uFillTx/>
                <a:latin typeface="Corbel" panose="020B0503020204020204" pitchFamily="34" charset="0"/>
                <a:ea typeface="+mn-ea"/>
                <a:cs typeface="+mn-cs"/>
              </a:rPr>
              <a:t>Exercises:</a:t>
            </a:r>
          </a:p>
          <a:p>
            <a:pPr marL="265113" marR="0" lvl="0" indent="-265113"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Write Dijkstra’s Algorithm for shortest path. Use the algorithm to find the shortest path from the following graph. </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cxnSp>
        <p:nvCxnSpPr>
          <p:cNvPr id="6" name="Straight Connector 5">
            <a:extLst>
              <a:ext uri="{FF2B5EF4-FFF2-40B4-BE49-F238E27FC236}">
                <a16:creationId xmlns:a16="http://schemas.microsoft.com/office/drawing/2014/main" id="{2C35A0E3-9DF2-DC59-C17D-F354C215CD57}"/>
              </a:ext>
            </a:extLst>
          </p:cNvPr>
          <p:cNvCxnSpPr/>
          <p:nvPr/>
        </p:nvCxnSpPr>
        <p:spPr>
          <a:xfrm flipH="1">
            <a:off x="5638802" y="1946398"/>
            <a:ext cx="908" cy="3768602"/>
          </a:xfrm>
          <a:prstGeom prst="line">
            <a:avLst/>
          </a:prstGeom>
          <a:noFill/>
          <a:ln w="28575" cap="flat" cmpd="sng" algn="ctr">
            <a:solidFill>
              <a:srgbClr val="212121"/>
            </a:solidFill>
            <a:prstDash val="solid"/>
            <a:miter lim="800000"/>
          </a:ln>
          <a:effec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466B3E-4A2E-6B96-4370-777A61555764}"/>
                  </a:ext>
                </a:extLst>
              </p:cNvPr>
              <p:cNvSpPr txBox="1"/>
              <p:nvPr/>
            </p:nvSpPr>
            <p:spPr>
              <a:xfrm>
                <a:off x="1790701" y="1981199"/>
                <a:ext cx="45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ea typeface="+mn-ea"/>
                          <a:cs typeface="+mn-cs"/>
                        </a:rPr>
                        <m:t>1.</m:t>
                      </m:r>
                    </m:oMath>
                  </m:oMathPara>
                </a14:m>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7" name="TextBox 6">
                <a:extLst>
                  <a:ext uri="{FF2B5EF4-FFF2-40B4-BE49-F238E27FC236}">
                    <a16:creationId xmlns:a16="http://schemas.microsoft.com/office/drawing/2014/main" id="{31466B3E-4A2E-6B96-4370-777A61555764}"/>
                  </a:ext>
                </a:extLst>
              </p:cNvPr>
              <p:cNvSpPr txBox="1">
                <a:spLocks noRot="1" noChangeAspect="1" noMove="1" noResize="1" noEditPoints="1" noAdjustHandles="1" noChangeArrowheads="1" noChangeShapeType="1" noTextEdit="1"/>
              </p:cNvSpPr>
              <p:nvPr/>
            </p:nvSpPr>
            <p:spPr>
              <a:xfrm>
                <a:off x="1790701" y="1981199"/>
                <a:ext cx="457200" cy="46166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BABD6-4B3C-D427-31F4-2C9B89C7A990}"/>
                  </a:ext>
                </a:extLst>
              </p:cNvPr>
              <p:cNvSpPr txBox="1"/>
              <p:nvPr/>
            </p:nvSpPr>
            <p:spPr>
              <a:xfrm flipH="1">
                <a:off x="6191401" y="1981199"/>
                <a:ext cx="45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ea typeface="+mn-ea"/>
                          <a:cs typeface="+mn-cs"/>
                        </a:rPr>
                        <m:t>2.</m:t>
                      </m:r>
                    </m:oMath>
                  </m:oMathPara>
                </a14:m>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8" name="TextBox 7">
                <a:extLst>
                  <a:ext uri="{FF2B5EF4-FFF2-40B4-BE49-F238E27FC236}">
                    <a16:creationId xmlns:a16="http://schemas.microsoft.com/office/drawing/2014/main" id="{9D0BABD6-4B3C-D427-31F4-2C9B89C7A990}"/>
                  </a:ext>
                </a:extLst>
              </p:cNvPr>
              <p:cNvSpPr txBox="1">
                <a:spLocks noRot="1" noChangeAspect="1" noMove="1" noResize="1" noEditPoints="1" noAdjustHandles="1" noChangeArrowheads="1" noChangeShapeType="1" noTextEdit="1"/>
              </p:cNvSpPr>
              <p:nvPr/>
            </p:nvSpPr>
            <p:spPr>
              <a:xfrm flipH="1">
                <a:off x="6191401" y="1981199"/>
                <a:ext cx="457200" cy="461665"/>
              </a:xfrm>
              <a:prstGeom prst="rect">
                <a:avLst/>
              </a:prstGeom>
              <a:blipFill>
                <a:blip r:embed="rId7"/>
                <a:stretch>
                  <a:fillRect/>
                </a:stretch>
              </a:blipFill>
            </p:spPr>
            <p:txBody>
              <a:bodyPr/>
              <a:lstStyle/>
              <a:p>
                <a:r>
                  <a:rPr lang="en-IN">
                    <a:noFill/>
                  </a:rPr>
                  <a:t> </a:t>
                </a:r>
              </a:p>
            </p:txBody>
          </p:sp>
        </mc:Fallback>
      </mc:AlternateContent>
      <p:sp>
        <p:nvSpPr>
          <p:cNvPr id="9" name="Oval 8">
            <a:extLst>
              <a:ext uri="{FF2B5EF4-FFF2-40B4-BE49-F238E27FC236}">
                <a16:creationId xmlns:a16="http://schemas.microsoft.com/office/drawing/2014/main" id="{358B7628-BC88-4F28-7043-5F802F0EAD75}"/>
              </a:ext>
            </a:extLst>
          </p:cNvPr>
          <p:cNvSpPr/>
          <p:nvPr/>
        </p:nvSpPr>
        <p:spPr>
          <a:xfrm>
            <a:off x="1790701" y="3543301"/>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10" name="Oval 9">
            <a:extLst>
              <a:ext uri="{FF2B5EF4-FFF2-40B4-BE49-F238E27FC236}">
                <a16:creationId xmlns:a16="http://schemas.microsoft.com/office/drawing/2014/main" id="{811A0CBE-C131-E41B-1FD8-A78C79149C25}"/>
              </a:ext>
            </a:extLst>
          </p:cNvPr>
          <p:cNvSpPr/>
          <p:nvPr/>
        </p:nvSpPr>
        <p:spPr>
          <a:xfrm>
            <a:off x="2915097" y="2588569"/>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11" name="Oval 10">
            <a:extLst>
              <a:ext uri="{FF2B5EF4-FFF2-40B4-BE49-F238E27FC236}">
                <a16:creationId xmlns:a16="http://schemas.microsoft.com/office/drawing/2014/main" id="{3B48E42B-3D01-1AA1-0C1F-105B1C1C1F3D}"/>
              </a:ext>
            </a:extLst>
          </p:cNvPr>
          <p:cNvSpPr/>
          <p:nvPr/>
        </p:nvSpPr>
        <p:spPr>
          <a:xfrm>
            <a:off x="2915097" y="43434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12" name="Oval 11">
            <a:extLst>
              <a:ext uri="{FF2B5EF4-FFF2-40B4-BE49-F238E27FC236}">
                <a16:creationId xmlns:a16="http://schemas.microsoft.com/office/drawing/2014/main" id="{F15FD97C-12A5-E42C-D239-3A6D45D8841F}"/>
              </a:ext>
            </a:extLst>
          </p:cNvPr>
          <p:cNvSpPr/>
          <p:nvPr/>
        </p:nvSpPr>
        <p:spPr>
          <a:xfrm>
            <a:off x="4589401" y="2588569"/>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13" name="Oval 12">
            <a:extLst>
              <a:ext uri="{FF2B5EF4-FFF2-40B4-BE49-F238E27FC236}">
                <a16:creationId xmlns:a16="http://schemas.microsoft.com/office/drawing/2014/main" id="{66466F54-E12B-ED87-D333-37656DE56163}"/>
              </a:ext>
            </a:extLst>
          </p:cNvPr>
          <p:cNvSpPr/>
          <p:nvPr/>
        </p:nvSpPr>
        <p:spPr>
          <a:xfrm>
            <a:off x="4589401" y="43434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14" name="Straight Arrow Connector 13">
            <a:extLst>
              <a:ext uri="{FF2B5EF4-FFF2-40B4-BE49-F238E27FC236}">
                <a16:creationId xmlns:a16="http://schemas.microsoft.com/office/drawing/2014/main" id="{B50F1399-BCD4-9DDC-0FF7-970C128D2782}"/>
              </a:ext>
            </a:extLst>
          </p:cNvPr>
          <p:cNvCxnSpPr>
            <a:stCxn id="9" idx="0"/>
            <a:endCxn id="10" idx="2"/>
          </p:cNvCxnSpPr>
          <p:nvPr/>
        </p:nvCxnSpPr>
        <p:spPr>
          <a:xfrm flipV="1">
            <a:off x="2057401" y="2855269"/>
            <a:ext cx="857696" cy="688032"/>
          </a:xfrm>
          <a:prstGeom prst="straightConnector1">
            <a:avLst/>
          </a:prstGeom>
          <a:noFill/>
          <a:ln w="38100" cap="flat" cmpd="sng" algn="ctr">
            <a:solidFill>
              <a:srgbClr val="C00000"/>
            </a:solidFill>
            <a:prstDash val="solid"/>
            <a:miter lim="800000"/>
            <a:tailEnd type="triangle"/>
          </a:ln>
          <a:effectLst/>
        </p:spPr>
      </p:cxnSp>
      <p:cxnSp>
        <p:nvCxnSpPr>
          <p:cNvPr id="15" name="Straight Arrow Connector 14">
            <a:extLst>
              <a:ext uri="{FF2B5EF4-FFF2-40B4-BE49-F238E27FC236}">
                <a16:creationId xmlns:a16="http://schemas.microsoft.com/office/drawing/2014/main" id="{70890190-A56B-24A2-9373-E8B8C7BC1073}"/>
              </a:ext>
            </a:extLst>
          </p:cNvPr>
          <p:cNvCxnSpPr>
            <a:stCxn id="9" idx="4"/>
            <a:endCxn id="11" idx="2"/>
          </p:cNvCxnSpPr>
          <p:nvPr/>
        </p:nvCxnSpPr>
        <p:spPr>
          <a:xfrm>
            <a:off x="2057401" y="4076701"/>
            <a:ext cx="857696" cy="533399"/>
          </a:xfrm>
          <a:prstGeom prst="straightConnector1">
            <a:avLst/>
          </a:prstGeom>
          <a:noFill/>
          <a:ln w="38100" cap="flat" cmpd="sng" algn="ctr">
            <a:solidFill>
              <a:srgbClr val="C00000"/>
            </a:solidFill>
            <a:prstDash val="solid"/>
            <a:miter lim="800000"/>
            <a:tailEnd type="triangle"/>
          </a:ln>
          <a:effectLst/>
        </p:spPr>
      </p:cxnSp>
      <p:cxnSp>
        <p:nvCxnSpPr>
          <p:cNvPr id="16" name="Straight Arrow Connector 15">
            <a:extLst>
              <a:ext uri="{FF2B5EF4-FFF2-40B4-BE49-F238E27FC236}">
                <a16:creationId xmlns:a16="http://schemas.microsoft.com/office/drawing/2014/main" id="{93762FFC-6A02-005B-1C16-0E6AAEB118BB}"/>
              </a:ext>
            </a:extLst>
          </p:cNvPr>
          <p:cNvCxnSpPr>
            <a:stCxn id="10" idx="6"/>
            <a:endCxn id="12" idx="2"/>
          </p:cNvCxnSpPr>
          <p:nvPr/>
        </p:nvCxnSpPr>
        <p:spPr>
          <a:xfrm>
            <a:off x="3448497" y="2855269"/>
            <a:ext cx="1140904" cy="0"/>
          </a:xfrm>
          <a:prstGeom prst="straightConnector1">
            <a:avLst/>
          </a:prstGeom>
          <a:noFill/>
          <a:ln w="38100" cap="flat" cmpd="sng" algn="ctr">
            <a:solidFill>
              <a:srgbClr val="C00000"/>
            </a:solidFill>
            <a:prstDash val="solid"/>
            <a:miter lim="800000"/>
            <a:tailEnd type="triangle"/>
          </a:ln>
          <a:effectLst/>
        </p:spPr>
      </p:cxnSp>
      <p:cxnSp>
        <p:nvCxnSpPr>
          <p:cNvPr id="17" name="Straight Arrow Connector 16">
            <a:extLst>
              <a:ext uri="{FF2B5EF4-FFF2-40B4-BE49-F238E27FC236}">
                <a16:creationId xmlns:a16="http://schemas.microsoft.com/office/drawing/2014/main" id="{D7EFF785-540F-9CB4-481D-8CA752040AF5}"/>
              </a:ext>
            </a:extLst>
          </p:cNvPr>
          <p:cNvCxnSpPr>
            <a:stCxn id="11" idx="6"/>
            <a:endCxn id="13" idx="2"/>
          </p:cNvCxnSpPr>
          <p:nvPr/>
        </p:nvCxnSpPr>
        <p:spPr>
          <a:xfrm>
            <a:off x="3448497" y="4610100"/>
            <a:ext cx="1140904" cy="0"/>
          </a:xfrm>
          <a:prstGeom prst="straightConnector1">
            <a:avLst/>
          </a:prstGeom>
          <a:noFill/>
          <a:ln w="38100" cap="flat" cmpd="sng" algn="ctr">
            <a:solidFill>
              <a:srgbClr val="C00000"/>
            </a:solidFill>
            <a:prstDash val="solid"/>
            <a:miter lim="800000"/>
            <a:tailEnd type="triangle"/>
          </a:ln>
          <a:effectLst/>
        </p:spPr>
      </p:cxnSp>
      <p:cxnSp>
        <p:nvCxnSpPr>
          <p:cNvPr id="18" name="Straight Arrow Connector 17">
            <a:extLst>
              <a:ext uri="{FF2B5EF4-FFF2-40B4-BE49-F238E27FC236}">
                <a16:creationId xmlns:a16="http://schemas.microsoft.com/office/drawing/2014/main" id="{5735B9E0-08D1-3756-21BD-E9A4442C5B22}"/>
              </a:ext>
            </a:extLst>
          </p:cNvPr>
          <p:cNvCxnSpPr>
            <a:stCxn id="11" idx="7"/>
            <a:endCxn id="12" idx="3"/>
          </p:cNvCxnSpPr>
          <p:nvPr/>
        </p:nvCxnSpPr>
        <p:spPr>
          <a:xfrm flipV="1">
            <a:off x="3370382" y="3043854"/>
            <a:ext cx="1297134" cy="1377661"/>
          </a:xfrm>
          <a:prstGeom prst="straightConnector1">
            <a:avLst/>
          </a:prstGeom>
          <a:noFill/>
          <a:ln w="38100" cap="flat" cmpd="sng" algn="ctr">
            <a:solidFill>
              <a:srgbClr val="C00000"/>
            </a:solidFill>
            <a:prstDash val="solid"/>
            <a:miter lim="800000"/>
            <a:tailEnd type="triangle"/>
          </a:ln>
          <a:effectLst/>
        </p:spPr>
      </p:cxnSp>
      <p:cxnSp>
        <p:nvCxnSpPr>
          <p:cNvPr id="19" name="Straight Arrow Connector 18">
            <a:extLst>
              <a:ext uri="{FF2B5EF4-FFF2-40B4-BE49-F238E27FC236}">
                <a16:creationId xmlns:a16="http://schemas.microsoft.com/office/drawing/2014/main" id="{B8C99F26-1777-7657-A058-F0968CF15840}"/>
              </a:ext>
            </a:extLst>
          </p:cNvPr>
          <p:cNvCxnSpPr>
            <a:stCxn id="11" idx="1"/>
            <a:endCxn id="10" idx="3"/>
          </p:cNvCxnSpPr>
          <p:nvPr/>
        </p:nvCxnSpPr>
        <p:spPr>
          <a:xfrm flipV="1">
            <a:off x="2993212" y="3043854"/>
            <a:ext cx="0" cy="1377661"/>
          </a:xfrm>
          <a:prstGeom prst="straightConnector1">
            <a:avLst/>
          </a:prstGeom>
          <a:noFill/>
          <a:ln w="38100" cap="flat" cmpd="sng" algn="ctr">
            <a:solidFill>
              <a:srgbClr val="C00000"/>
            </a:solidFill>
            <a:prstDash val="solid"/>
            <a:miter lim="800000"/>
            <a:tailEnd type="triangle"/>
          </a:ln>
          <a:effectLst/>
        </p:spPr>
      </p:cxnSp>
      <p:cxnSp>
        <p:nvCxnSpPr>
          <p:cNvPr id="20" name="Straight Arrow Connector 19">
            <a:extLst>
              <a:ext uri="{FF2B5EF4-FFF2-40B4-BE49-F238E27FC236}">
                <a16:creationId xmlns:a16="http://schemas.microsoft.com/office/drawing/2014/main" id="{C295A169-7F4B-8EB8-2429-0468359D8C0C}"/>
              </a:ext>
            </a:extLst>
          </p:cNvPr>
          <p:cNvCxnSpPr>
            <a:stCxn id="10" idx="4"/>
            <a:endCxn id="11" idx="0"/>
          </p:cNvCxnSpPr>
          <p:nvPr/>
        </p:nvCxnSpPr>
        <p:spPr>
          <a:xfrm>
            <a:off x="3181797" y="3121969"/>
            <a:ext cx="0" cy="1221431"/>
          </a:xfrm>
          <a:prstGeom prst="straightConnector1">
            <a:avLst/>
          </a:prstGeom>
          <a:noFill/>
          <a:ln w="38100" cap="flat" cmpd="sng" algn="ctr">
            <a:solidFill>
              <a:srgbClr val="C00000"/>
            </a:solidFill>
            <a:prstDash val="solid"/>
            <a:miter lim="800000"/>
            <a:tailEnd type="triangle"/>
          </a:ln>
          <a:effectLst/>
        </p:spPr>
      </p:cxnSp>
      <p:cxnSp>
        <p:nvCxnSpPr>
          <p:cNvPr id="21" name="Straight Arrow Connector 20">
            <a:extLst>
              <a:ext uri="{FF2B5EF4-FFF2-40B4-BE49-F238E27FC236}">
                <a16:creationId xmlns:a16="http://schemas.microsoft.com/office/drawing/2014/main" id="{65829FA7-DDE5-DB1E-F7C6-5F74D7EECCD9}"/>
              </a:ext>
            </a:extLst>
          </p:cNvPr>
          <p:cNvCxnSpPr>
            <a:stCxn id="13" idx="0"/>
            <a:endCxn id="12" idx="4"/>
          </p:cNvCxnSpPr>
          <p:nvPr/>
        </p:nvCxnSpPr>
        <p:spPr>
          <a:xfrm flipV="1">
            <a:off x="4856101" y="3121969"/>
            <a:ext cx="0" cy="1221431"/>
          </a:xfrm>
          <a:prstGeom prst="straightConnector1">
            <a:avLst/>
          </a:prstGeom>
          <a:noFill/>
          <a:ln w="38100" cap="flat" cmpd="sng" algn="ctr">
            <a:solidFill>
              <a:srgbClr val="C00000"/>
            </a:solidFill>
            <a:prstDash val="solid"/>
            <a:miter lim="800000"/>
            <a:tailEnd type="triangle"/>
          </a:ln>
          <a:effectLst/>
        </p:spPr>
      </p:cxnSp>
      <p:cxnSp>
        <p:nvCxnSpPr>
          <p:cNvPr id="22" name="Straight Arrow Connector 21">
            <a:extLst>
              <a:ext uri="{FF2B5EF4-FFF2-40B4-BE49-F238E27FC236}">
                <a16:creationId xmlns:a16="http://schemas.microsoft.com/office/drawing/2014/main" id="{D3E8EED7-6A51-B597-145B-7A385678E003}"/>
              </a:ext>
            </a:extLst>
          </p:cNvPr>
          <p:cNvCxnSpPr>
            <a:stCxn id="12" idx="5"/>
            <a:endCxn id="13" idx="7"/>
          </p:cNvCxnSpPr>
          <p:nvPr/>
        </p:nvCxnSpPr>
        <p:spPr>
          <a:xfrm>
            <a:off x="5044686" y="3043854"/>
            <a:ext cx="0" cy="1377661"/>
          </a:xfrm>
          <a:prstGeom prst="straightConnector1">
            <a:avLst/>
          </a:prstGeom>
          <a:noFill/>
          <a:ln w="38100" cap="flat" cmpd="sng" algn="ctr">
            <a:solidFill>
              <a:srgbClr val="C00000"/>
            </a:solidFill>
            <a:prstDash val="solid"/>
            <a:miter lim="800000"/>
            <a:tailEnd type="triangle"/>
          </a:ln>
          <a:effectLst/>
        </p:spPr>
      </p:cxnSp>
      <p:sp>
        <p:nvSpPr>
          <p:cNvPr id="23" name="TextBox 22">
            <a:extLst>
              <a:ext uri="{FF2B5EF4-FFF2-40B4-BE49-F238E27FC236}">
                <a16:creationId xmlns:a16="http://schemas.microsoft.com/office/drawing/2014/main" id="{9E7A4B79-7337-C552-BD49-FDB8E1039029}"/>
              </a:ext>
            </a:extLst>
          </p:cNvPr>
          <p:cNvSpPr txBox="1"/>
          <p:nvPr/>
        </p:nvSpPr>
        <p:spPr>
          <a:xfrm>
            <a:off x="2057402" y="2971800"/>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4" name="TextBox 23">
            <a:extLst>
              <a:ext uri="{FF2B5EF4-FFF2-40B4-BE49-F238E27FC236}">
                <a16:creationId xmlns:a16="http://schemas.microsoft.com/office/drawing/2014/main" id="{ADBB43FE-9409-58EE-A0DC-3E1F0313710F}"/>
              </a:ext>
            </a:extLst>
          </p:cNvPr>
          <p:cNvSpPr txBox="1"/>
          <p:nvPr/>
        </p:nvSpPr>
        <p:spPr>
          <a:xfrm>
            <a:off x="2143545" y="4274406"/>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3</a:t>
            </a:r>
          </a:p>
        </p:txBody>
      </p:sp>
      <p:sp>
        <p:nvSpPr>
          <p:cNvPr id="25" name="TextBox 24">
            <a:extLst>
              <a:ext uri="{FF2B5EF4-FFF2-40B4-BE49-F238E27FC236}">
                <a16:creationId xmlns:a16="http://schemas.microsoft.com/office/drawing/2014/main" id="{6D1025C0-6315-A177-1A46-7995EAA10603}"/>
              </a:ext>
            </a:extLst>
          </p:cNvPr>
          <p:cNvSpPr txBox="1"/>
          <p:nvPr/>
        </p:nvSpPr>
        <p:spPr>
          <a:xfrm>
            <a:off x="2712620" y="3505025"/>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1</a:t>
            </a:r>
          </a:p>
        </p:txBody>
      </p:sp>
      <p:sp>
        <p:nvSpPr>
          <p:cNvPr id="26" name="TextBox 25">
            <a:extLst>
              <a:ext uri="{FF2B5EF4-FFF2-40B4-BE49-F238E27FC236}">
                <a16:creationId xmlns:a16="http://schemas.microsoft.com/office/drawing/2014/main" id="{9D382230-9641-F940-C476-05DEFFFBD381}"/>
              </a:ext>
            </a:extLst>
          </p:cNvPr>
          <p:cNvSpPr txBox="1"/>
          <p:nvPr/>
        </p:nvSpPr>
        <p:spPr>
          <a:xfrm>
            <a:off x="3212379" y="3505025"/>
            <a:ext cx="2928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4</a:t>
            </a:r>
          </a:p>
        </p:txBody>
      </p:sp>
      <p:sp>
        <p:nvSpPr>
          <p:cNvPr id="27" name="TextBox 26">
            <a:extLst>
              <a:ext uri="{FF2B5EF4-FFF2-40B4-BE49-F238E27FC236}">
                <a16:creationId xmlns:a16="http://schemas.microsoft.com/office/drawing/2014/main" id="{44D8A54F-BA8A-8856-7CBD-12CF0B08F930}"/>
              </a:ext>
            </a:extLst>
          </p:cNvPr>
          <p:cNvSpPr txBox="1"/>
          <p:nvPr/>
        </p:nvSpPr>
        <p:spPr>
          <a:xfrm>
            <a:off x="3737552" y="2505633"/>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2</a:t>
            </a:r>
          </a:p>
        </p:txBody>
      </p:sp>
      <p:sp>
        <p:nvSpPr>
          <p:cNvPr id="28" name="TextBox 27">
            <a:extLst>
              <a:ext uri="{FF2B5EF4-FFF2-40B4-BE49-F238E27FC236}">
                <a16:creationId xmlns:a16="http://schemas.microsoft.com/office/drawing/2014/main" id="{DC788E5C-2168-21FF-20BE-7B77D838B032}"/>
              </a:ext>
            </a:extLst>
          </p:cNvPr>
          <p:cNvSpPr txBox="1"/>
          <p:nvPr/>
        </p:nvSpPr>
        <p:spPr>
          <a:xfrm>
            <a:off x="3695099" y="351686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8</a:t>
            </a:r>
          </a:p>
        </p:txBody>
      </p:sp>
      <p:sp>
        <p:nvSpPr>
          <p:cNvPr id="29" name="TextBox 28">
            <a:extLst>
              <a:ext uri="{FF2B5EF4-FFF2-40B4-BE49-F238E27FC236}">
                <a16:creationId xmlns:a16="http://schemas.microsoft.com/office/drawing/2014/main" id="{AA140C76-487C-46E1-C6BB-A3A44D3A5FD4}"/>
              </a:ext>
            </a:extLst>
          </p:cNvPr>
          <p:cNvSpPr txBox="1"/>
          <p:nvPr/>
        </p:nvSpPr>
        <p:spPr>
          <a:xfrm>
            <a:off x="3738790" y="427103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2</a:t>
            </a:r>
          </a:p>
        </p:txBody>
      </p:sp>
      <p:sp>
        <p:nvSpPr>
          <p:cNvPr id="30" name="TextBox 29">
            <a:extLst>
              <a:ext uri="{FF2B5EF4-FFF2-40B4-BE49-F238E27FC236}">
                <a16:creationId xmlns:a16="http://schemas.microsoft.com/office/drawing/2014/main" id="{8F6C1576-3914-D253-2211-ED80048E2171}"/>
              </a:ext>
            </a:extLst>
          </p:cNvPr>
          <p:cNvSpPr txBox="1"/>
          <p:nvPr/>
        </p:nvSpPr>
        <p:spPr>
          <a:xfrm>
            <a:off x="4572002" y="354801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7</a:t>
            </a:r>
          </a:p>
        </p:txBody>
      </p:sp>
      <p:sp>
        <p:nvSpPr>
          <p:cNvPr id="31" name="TextBox 30">
            <a:extLst>
              <a:ext uri="{FF2B5EF4-FFF2-40B4-BE49-F238E27FC236}">
                <a16:creationId xmlns:a16="http://schemas.microsoft.com/office/drawing/2014/main" id="{A46FAB16-9E43-0869-2227-20D8B266326F}"/>
              </a:ext>
            </a:extLst>
          </p:cNvPr>
          <p:cNvSpPr txBox="1"/>
          <p:nvPr/>
        </p:nvSpPr>
        <p:spPr>
          <a:xfrm>
            <a:off x="5029202" y="351884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2121"/>
                </a:solidFill>
                <a:effectLst/>
                <a:uLnTx/>
                <a:uFillTx/>
                <a:latin typeface="Roboto Condensed"/>
                <a:ea typeface="+mn-ea"/>
                <a:cs typeface="+mn-cs"/>
              </a:rPr>
              <a:t>9</a:t>
            </a:r>
          </a:p>
        </p:txBody>
      </p:sp>
      <p:sp>
        <p:nvSpPr>
          <p:cNvPr id="32" name="Oval 31">
            <a:extLst>
              <a:ext uri="{FF2B5EF4-FFF2-40B4-BE49-F238E27FC236}">
                <a16:creationId xmlns:a16="http://schemas.microsoft.com/office/drawing/2014/main" id="{9BB2B01B-45F7-95B6-D094-03728A6DB4F3}"/>
              </a:ext>
            </a:extLst>
          </p:cNvPr>
          <p:cNvSpPr>
            <a:spLocks noChangeArrowheads="1"/>
          </p:cNvSpPr>
          <p:nvPr/>
        </p:nvSpPr>
        <p:spPr bwMode="auto">
          <a:xfrm>
            <a:off x="6781802" y="2438400"/>
            <a:ext cx="457200" cy="457200"/>
          </a:xfrm>
          <a:prstGeom prst="ellipse">
            <a:avLst/>
          </a:prstGeom>
          <a:solidFill>
            <a:sysClr val="window" lastClr="FFFFFF"/>
          </a:solidFill>
          <a:ln w="28575">
            <a:solidFill>
              <a:srgbClr val="C00000"/>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0" cap="none" spc="0" normalizeH="0" baseline="0" noProof="0" dirty="0">
                <a:ln>
                  <a:noFill/>
                </a:ln>
                <a:solidFill>
                  <a:srgbClr val="212121"/>
                </a:solidFill>
                <a:effectLst/>
                <a:uLnTx/>
                <a:uFillTx/>
                <a:latin typeface="Times New Roman" panose="02020603050405020304" pitchFamily="18" charset="0"/>
                <a:ea typeface="ＭＳ Ｐゴシック" panose="020B0600070205080204" pitchFamily="34" charset="-128"/>
                <a:cs typeface="+mn-cs"/>
              </a:rPr>
              <a:t>A</a:t>
            </a:r>
            <a:endParaRPr kumimoji="0" lang="en-US" altLang="en-US" sz="1800" b="1" i="0" u="none" strike="noStrike" kern="0" cap="none" spc="0" normalizeH="0" baseline="-25000" noProof="0" dirty="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3" name="Oval 32">
            <a:extLst>
              <a:ext uri="{FF2B5EF4-FFF2-40B4-BE49-F238E27FC236}">
                <a16:creationId xmlns:a16="http://schemas.microsoft.com/office/drawing/2014/main" id="{15BB7ACE-DF2B-46C1-B6BD-DE7342CCC0CE}"/>
              </a:ext>
            </a:extLst>
          </p:cNvPr>
          <p:cNvSpPr>
            <a:spLocks noChangeArrowheads="1"/>
          </p:cNvSpPr>
          <p:nvPr/>
        </p:nvSpPr>
        <p:spPr bwMode="auto">
          <a:xfrm>
            <a:off x="88392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G</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4" name="Oval 33">
            <a:extLst>
              <a:ext uri="{FF2B5EF4-FFF2-40B4-BE49-F238E27FC236}">
                <a16:creationId xmlns:a16="http://schemas.microsoft.com/office/drawing/2014/main" id="{7C205EBB-6986-23AC-37BE-09A14FD5684C}"/>
              </a:ext>
            </a:extLst>
          </p:cNvPr>
          <p:cNvSpPr>
            <a:spLocks noChangeArrowheads="1"/>
          </p:cNvSpPr>
          <p:nvPr/>
        </p:nvSpPr>
        <p:spPr bwMode="auto">
          <a:xfrm>
            <a:off x="67818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F</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35" name="AutoShape 6">
            <a:extLst>
              <a:ext uri="{FF2B5EF4-FFF2-40B4-BE49-F238E27FC236}">
                <a16:creationId xmlns:a16="http://schemas.microsoft.com/office/drawing/2014/main" id="{1B2F424A-2F19-065F-AFFB-561AFE19CE70}"/>
              </a:ext>
            </a:extLst>
          </p:cNvPr>
          <p:cNvCxnSpPr>
            <a:cxnSpLocks noChangeShapeType="1"/>
            <a:stCxn id="33" idx="2"/>
            <a:endCxn id="34" idx="6"/>
          </p:cNvCxnSpPr>
          <p:nvPr/>
        </p:nvCxnSpPr>
        <p:spPr bwMode="auto">
          <a:xfrm flipH="1">
            <a:off x="7239002" y="4953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36" name="AutoShape 7">
            <a:extLst>
              <a:ext uri="{FF2B5EF4-FFF2-40B4-BE49-F238E27FC236}">
                <a16:creationId xmlns:a16="http://schemas.microsoft.com/office/drawing/2014/main" id="{3A4BBC3D-C6E4-7B48-F802-696556C35F20}"/>
              </a:ext>
            </a:extLst>
          </p:cNvPr>
          <p:cNvCxnSpPr>
            <a:cxnSpLocks noChangeShapeType="1"/>
            <a:stCxn id="48" idx="2"/>
            <a:endCxn id="45" idx="6"/>
          </p:cNvCxnSpPr>
          <p:nvPr/>
        </p:nvCxnSpPr>
        <p:spPr bwMode="auto">
          <a:xfrm flipH="1">
            <a:off x="6248402" y="3810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37" name="AutoShape 8">
            <a:extLst>
              <a:ext uri="{FF2B5EF4-FFF2-40B4-BE49-F238E27FC236}">
                <a16:creationId xmlns:a16="http://schemas.microsoft.com/office/drawing/2014/main" id="{7CE9E0AC-94B2-8004-4C7F-FBC33E6C14F1}"/>
              </a:ext>
            </a:extLst>
          </p:cNvPr>
          <p:cNvCxnSpPr>
            <a:cxnSpLocks noChangeShapeType="1"/>
            <a:stCxn id="32" idx="6"/>
            <a:endCxn id="38" idx="2"/>
          </p:cNvCxnSpPr>
          <p:nvPr/>
        </p:nvCxnSpPr>
        <p:spPr bwMode="auto">
          <a:xfrm>
            <a:off x="7239002" y="2667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sp>
        <p:nvSpPr>
          <p:cNvPr id="38" name="Oval 37">
            <a:extLst>
              <a:ext uri="{FF2B5EF4-FFF2-40B4-BE49-F238E27FC236}">
                <a16:creationId xmlns:a16="http://schemas.microsoft.com/office/drawing/2014/main" id="{D47CF652-0844-65BD-4AAF-7E456D5EFC9F}"/>
              </a:ext>
            </a:extLst>
          </p:cNvPr>
          <p:cNvSpPr>
            <a:spLocks noChangeArrowheads="1"/>
          </p:cNvSpPr>
          <p:nvPr/>
        </p:nvSpPr>
        <p:spPr bwMode="auto">
          <a:xfrm>
            <a:off x="8839202" y="2438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B</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9" name="Oval 38">
            <a:extLst>
              <a:ext uri="{FF2B5EF4-FFF2-40B4-BE49-F238E27FC236}">
                <a16:creationId xmlns:a16="http://schemas.microsoft.com/office/drawing/2014/main" id="{F10872F7-7728-59D0-9CF6-828AF7B2D486}"/>
              </a:ext>
            </a:extLst>
          </p:cNvPr>
          <p:cNvSpPr>
            <a:spLocks noChangeArrowheads="1"/>
          </p:cNvSpPr>
          <p:nvPr/>
        </p:nvSpPr>
        <p:spPr bwMode="auto">
          <a:xfrm>
            <a:off x="9753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E</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0" name="AutoShape 11">
            <a:extLst>
              <a:ext uri="{FF2B5EF4-FFF2-40B4-BE49-F238E27FC236}">
                <a16:creationId xmlns:a16="http://schemas.microsoft.com/office/drawing/2014/main" id="{F4801707-7876-5967-5CDB-F66D01CAF345}"/>
              </a:ext>
            </a:extLst>
          </p:cNvPr>
          <p:cNvCxnSpPr>
            <a:cxnSpLocks noChangeShapeType="1"/>
            <a:stCxn id="39" idx="2"/>
            <a:endCxn id="48" idx="6"/>
          </p:cNvCxnSpPr>
          <p:nvPr/>
        </p:nvCxnSpPr>
        <p:spPr bwMode="auto">
          <a:xfrm flipH="1">
            <a:off x="8305802" y="3810000"/>
            <a:ext cx="1447800" cy="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1" name="AutoShape 12">
            <a:extLst>
              <a:ext uri="{FF2B5EF4-FFF2-40B4-BE49-F238E27FC236}">
                <a16:creationId xmlns:a16="http://schemas.microsoft.com/office/drawing/2014/main" id="{4FA75594-E425-6FB1-DF65-5066187CB316}"/>
              </a:ext>
            </a:extLst>
          </p:cNvPr>
          <p:cNvCxnSpPr>
            <a:cxnSpLocks noChangeShapeType="1"/>
            <a:stCxn id="39" idx="1"/>
            <a:endCxn id="38" idx="5"/>
          </p:cNvCxnSpPr>
          <p:nvPr/>
        </p:nvCxnSpPr>
        <p:spPr bwMode="auto">
          <a:xfrm flipH="1" flipV="1">
            <a:off x="9229727" y="2828925"/>
            <a:ext cx="5905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2" name="AutoShape 13">
            <a:extLst>
              <a:ext uri="{FF2B5EF4-FFF2-40B4-BE49-F238E27FC236}">
                <a16:creationId xmlns:a16="http://schemas.microsoft.com/office/drawing/2014/main" id="{F352B117-086F-21B1-76A2-9B41DAAF1315}"/>
              </a:ext>
            </a:extLst>
          </p:cNvPr>
          <p:cNvCxnSpPr>
            <a:cxnSpLocks noChangeShapeType="1"/>
            <a:stCxn id="33" idx="7"/>
            <a:endCxn id="39" idx="3"/>
          </p:cNvCxnSpPr>
          <p:nvPr/>
        </p:nvCxnSpPr>
        <p:spPr bwMode="auto">
          <a:xfrm flipV="1">
            <a:off x="9229727" y="3971925"/>
            <a:ext cx="5905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3" name="AutoShape 14">
            <a:extLst>
              <a:ext uri="{FF2B5EF4-FFF2-40B4-BE49-F238E27FC236}">
                <a16:creationId xmlns:a16="http://schemas.microsoft.com/office/drawing/2014/main" id="{4B48A83F-9300-E1BC-1604-1BD9C7C9E42F}"/>
              </a:ext>
            </a:extLst>
          </p:cNvPr>
          <p:cNvCxnSpPr>
            <a:cxnSpLocks noChangeShapeType="1"/>
            <a:stCxn id="32" idx="5"/>
            <a:endCxn id="48" idx="1"/>
          </p:cNvCxnSpPr>
          <p:nvPr/>
        </p:nvCxnSpPr>
        <p:spPr bwMode="auto">
          <a:xfrm>
            <a:off x="7172327" y="2828925"/>
            <a:ext cx="7429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44" name="AutoShape 15">
            <a:extLst>
              <a:ext uri="{FF2B5EF4-FFF2-40B4-BE49-F238E27FC236}">
                <a16:creationId xmlns:a16="http://schemas.microsoft.com/office/drawing/2014/main" id="{DFD5CB45-9775-ED54-72DF-D371370B28D4}"/>
              </a:ext>
            </a:extLst>
          </p:cNvPr>
          <p:cNvCxnSpPr>
            <a:cxnSpLocks noChangeShapeType="1"/>
            <a:stCxn id="38" idx="3"/>
            <a:endCxn id="48" idx="7"/>
          </p:cNvCxnSpPr>
          <p:nvPr/>
        </p:nvCxnSpPr>
        <p:spPr bwMode="auto">
          <a:xfrm flipH="1">
            <a:off x="8239127" y="2828925"/>
            <a:ext cx="6667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sp>
        <p:nvSpPr>
          <p:cNvPr id="45" name="Oval 44">
            <a:extLst>
              <a:ext uri="{FF2B5EF4-FFF2-40B4-BE49-F238E27FC236}">
                <a16:creationId xmlns:a16="http://schemas.microsoft.com/office/drawing/2014/main" id="{C307B302-D357-5F52-1D36-0715B1C1151F}"/>
              </a:ext>
            </a:extLst>
          </p:cNvPr>
          <p:cNvSpPr>
            <a:spLocks noChangeArrowheads="1"/>
          </p:cNvSpPr>
          <p:nvPr/>
        </p:nvSpPr>
        <p:spPr bwMode="auto">
          <a:xfrm>
            <a:off x="57912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C</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6" name="AutoShape 17">
            <a:extLst>
              <a:ext uri="{FF2B5EF4-FFF2-40B4-BE49-F238E27FC236}">
                <a16:creationId xmlns:a16="http://schemas.microsoft.com/office/drawing/2014/main" id="{B24E513E-1525-9061-9185-2611995EF3DB}"/>
              </a:ext>
            </a:extLst>
          </p:cNvPr>
          <p:cNvCxnSpPr>
            <a:cxnSpLocks noChangeShapeType="1"/>
            <a:stCxn id="45" idx="7"/>
            <a:endCxn id="32" idx="3"/>
          </p:cNvCxnSpPr>
          <p:nvPr/>
        </p:nvCxnSpPr>
        <p:spPr bwMode="auto">
          <a:xfrm flipV="1">
            <a:off x="6181727" y="2828925"/>
            <a:ext cx="6667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47" name="AutoShape 18">
            <a:extLst>
              <a:ext uri="{FF2B5EF4-FFF2-40B4-BE49-F238E27FC236}">
                <a16:creationId xmlns:a16="http://schemas.microsoft.com/office/drawing/2014/main" id="{D2296C8F-8F4C-422A-0A74-0C9EDA76CA86}"/>
              </a:ext>
            </a:extLst>
          </p:cNvPr>
          <p:cNvCxnSpPr>
            <a:cxnSpLocks noChangeShapeType="1"/>
            <a:stCxn id="34" idx="1"/>
            <a:endCxn id="45" idx="5"/>
          </p:cNvCxnSpPr>
          <p:nvPr/>
        </p:nvCxnSpPr>
        <p:spPr bwMode="auto">
          <a:xfrm flipH="1" flipV="1">
            <a:off x="6181727" y="3971925"/>
            <a:ext cx="6667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sp>
        <p:nvSpPr>
          <p:cNvPr id="48" name="Oval 47">
            <a:extLst>
              <a:ext uri="{FF2B5EF4-FFF2-40B4-BE49-F238E27FC236}">
                <a16:creationId xmlns:a16="http://schemas.microsoft.com/office/drawing/2014/main" id="{D4D40D08-2653-A847-73EB-562F351F8F5B}"/>
              </a:ext>
            </a:extLst>
          </p:cNvPr>
          <p:cNvSpPr>
            <a:spLocks noChangeArrowheads="1"/>
          </p:cNvSpPr>
          <p:nvPr/>
        </p:nvSpPr>
        <p:spPr bwMode="auto">
          <a:xfrm>
            <a:off x="7848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D</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9" name="AutoShape 20">
            <a:extLst>
              <a:ext uri="{FF2B5EF4-FFF2-40B4-BE49-F238E27FC236}">
                <a16:creationId xmlns:a16="http://schemas.microsoft.com/office/drawing/2014/main" id="{C689BFF1-71D4-4541-0130-137C639F8C3B}"/>
              </a:ext>
            </a:extLst>
          </p:cNvPr>
          <p:cNvCxnSpPr>
            <a:cxnSpLocks noChangeShapeType="1"/>
            <a:stCxn id="33" idx="1"/>
            <a:endCxn id="48" idx="5"/>
          </p:cNvCxnSpPr>
          <p:nvPr/>
        </p:nvCxnSpPr>
        <p:spPr bwMode="auto">
          <a:xfrm flipH="1" flipV="1">
            <a:off x="8239127" y="3971925"/>
            <a:ext cx="6667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50" name="AutoShape 21">
            <a:extLst>
              <a:ext uri="{FF2B5EF4-FFF2-40B4-BE49-F238E27FC236}">
                <a16:creationId xmlns:a16="http://schemas.microsoft.com/office/drawing/2014/main" id="{919961E4-94A2-D38F-7208-ED4BB709D888}"/>
              </a:ext>
            </a:extLst>
          </p:cNvPr>
          <p:cNvCxnSpPr>
            <a:cxnSpLocks noChangeShapeType="1"/>
            <a:stCxn id="34" idx="7"/>
            <a:endCxn id="48" idx="3"/>
          </p:cNvCxnSpPr>
          <p:nvPr/>
        </p:nvCxnSpPr>
        <p:spPr bwMode="auto">
          <a:xfrm flipV="1">
            <a:off x="7172327" y="3971925"/>
            <a:ext cx="7429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sp>
        <p:nvSpPr>
          <p:cNvPr id="51" name="Text Box 22">
            <a:extLst>
              <a:ext uri="{FF2B5EF4-FFF2-40B4-BE49-F238E27FC236}">
                <a16:creationId xmlns:a16="http://schemas.microsoft.com/office/drawing/2014/main" id="{D092E548-527E-C7A6-B173-A1C978CF6C60}"/>
              </a:ext>
            </a:extLst>
          </p:cNvPr>
          <p:cNvSpPr txBox="1">
            <a:spLocks noChangeArrowheads="1"/>
          </p:cNvSpPr>
          <p:nvPr/>
        </p:nvSpPr>
        <p:spPr bwMode="auto">
          <a:xfrm>
            <a:off x="6186490" y="3030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4</a:t>
            </a:r>
          </a:p>
        </p:txBody>
      </p:sp>
      <p:sp>
        <p:nvSpPr>
          <p:cNvPr id="52" name="Text Box 23">
            <a:extLst>
              <a:ext uri="{FF2B5EF4-FFF2-40B4-BE49-F238E27FC236}">
                <a16:creationId xmlns:a16="http://schemas.microsoft.com/office/drawing/2014/main" id="{BB1CC1D3-E000-6CF3-95AC-51747BC64378}"/>
              </a:ext>
            </a:extLst>
          </p:cNvPr>
          <p:cNvSpPr txBox="1">
            <a:spLocks noChangeArrowheads="1"/>
          </p:cNvSpPr>
          <p:nvPr/>
        </p:nvSpPr>
        <p:spPr bwMode="auto">
          <a:xfrm>
            <a:off x="7496177"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a:t>
            </a:r>
          </a:p>
        </p:txBody>
      </p:sp>
      <p:sp>
        <p:nvSpPr>
          <p:cNvPr id="53" name="Text Box 24">
            <a:extLst>
              <a:ext uri="{FF2B5EF4-FFF2-40B4-BE49-F238E27FC236}">
                <a16:creationId xmlns:a16="http://schemas.microsoft.com/office/drawing/2014/main" id="{E848F28F-0886-9611-695C-695FBB395C97}"/>
              </a:ext>
            </a:extLst>
          </p:cNvPr>
          <p:cNvSpPr txBox="1">
            <a:spLocks noChangeArrowheads="1"/>
          </p:cNvSpPr>
          <p:nvPr/>
        </p:nvSpPr>
        <p:spPr bwMode="auto">
          <a:xfrm>
            <a:off x="7924802" y="2362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2</a:t>
            </a:r>
          </a:p>
        </p:txBody>
      </p:sp>
      <p:sp>
        <p:nvSpPr>
          <p:cNvPr id="54" name="Text Box 25">
            <a:extLst>
              <a:ext uri="{FF2B5EF4-FFF2-40B4-BE49-F238E27FC236}">
                <a16:creationId xmlns:a16="http://schemas.microsoft.com/office/drawing/2014/main" id="{BA4F3890-0E2A-7BEB-7110-F4DE0477E85B}"/>
              </a:ext>
            </a:extLst>
          </p:cNvPr>
          <p:cNvSpPr txBox="1">
            <a:spLocks noChangeArrowheads="1"/>
          </p:cNvSpPr>
          <p:nvPr/>
        </p:nvSpPr>
        <p:spPr bwMode="auto">
          <a:xfrm>
            <a:off x="9487298" y="3016528"/>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10</a:t>
            </a:r>
          </a:p>
        </p:txBody>
      </p:sp>
      <p:sp>
        <p:nvSpPr>
          <p:cNvPr id="55" name="Text Box 26">
            <a:extLst>
              <a:ext uri="{FF2B5EF4-FFF2-40B4-BE49-F238E27FC236}">
                <a16:creationId xmlns:a16="http://schemas.microsoft.com/office/drawing/2014/main" id="{019B7BFC-2658-228B-D12F-5C050B0378FB}"/>
              </a:ext>
            </a:extLst>
          </p:cNvPr>
          <p:cNvSpPr txBox="1">
            <a:spLocks noChangeArrowheads="1"/>
          </p:cNvSpPr>
          <p:nvPr/>
        </p:nvSpPr>
        <p:spPr bwMode="auto">
          <a:xfrm>
            <a:off x="8351840"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3</a:t>
            </a:r>
          </a:p>
        </p:txBody>
      </p:sp>
      <p:sp>
        <p:nvSpPr>
          <p:cNvPr id="56" name="Text Box 27">
            <a:extLst>
              <a:ext uri="{FF2B5EF4-FFF2-40B4-BE49-F238E27FC236}">
                <a16:creationId xmlns:a16="http://schemas.microsoft.com/office/drawing/2014/main" id="{175EADC5-E36E-339C-3143-DC69A2AEA668}"/>
              </a:ext>
            </a:extLst>
          </p:cNvPr>
          <p:cNvSpPr txBox="1">
            <a:spLocks noChangeArrowheads="1"/>
          </p:cNvSpPr>
          <p:nvPr/>
        </p:nvSpPr>
        <p:spPr bwMode="auto">
          <a:xfrm>
            <a:off x="96012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6</a:t>
            </a:r>
          </a:p>
        </p:txBody>
      </p:sp>
      <p:sp>
        <p:nvSpPr>
          <p:cNvPr id="57" name="Text Box 28">
            <a:extLst>
              <a:ext uri="{FF2B5EF4-FFF2-40B4-BE49-F238E27FC236}">
                <a16:creationId xmlns:a16="http://schemas.microsoft.com/office/drawing/2014/main" id="{7F838883-7728-C566-BAF0-63FC95920C77}"/>
              </a:ext>
            </a:extLst>
          </p:cNvPr>
          <p:cNvSpPr txBox="1">
            <a:spLocks noChangeArrowheads="1"/>
          </p:cNvSpPr>
          <p:nvPr/>
        </p:nvSpPr>
        <p:spPr bwMode="auto">
          <a:xfrm>
            <a:off x="86106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4</a:t>
            </a:r>
          </a:p>
        </p:txBody>
      </p:sp>
      <p:sp>
        <p:nvSpPr>
          <p:cNvPr id="58" name="Text Box 29">
            <a:extLst>
              <a:ext uri="{FF2B5EF4-FFF2-40B4-BE49-F238E27FC236}">
                <a16:creationId xmlns:a16="http://schemas.microsoft.com/office/drawing/2014/main" id="{0A2BE805-9017-FA0D-CFD8-C56CFACDAB25}"/>
              </a:ext>
            </a:extLst>
          </p:cNvPr>
          <p:cNvSpPr txBox="1">
            <a:spLocks noChangeArrowheads="1"/>
          </p:cNvSpPr>
          <p:nvPr/>
        </p:nvSpPr>
        <p:spPr bwMode="auto">
          <a:xfrm>
            <a:off x="89154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2</a:t>
            </a:r>
          </a:p>
        </p:txBody>
      </p:sp>
      <p:sp>
        <p:nvSpPr>
          <p:cNvPr id="59" name="Text Box 30">
            <a:extLst>
              <a:ext uri="{FF2B5EF4-FFF2-40B4-BE49-F238E27FC236}">
                <a16:creationId xmlns:a16="http://schemas.microsoft.com/office/drawing/2014/main" id="{262F61AC-439A-3151-D244-CE9CA66E8AE9}"/>
              </a:ext>
            </a:extLst>
          </p:cNvPr>
          <p:cNvSpPr txBox="1">
            <a:spLocks noChangeArrowheads="1"/>
          </p:cNvSpPr>
          <p:nvPr/>
        </p:nvSpPr>
        <p:spPr bwMode="auto">
          <a:xfrm>
            <a:off x="68580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2</a:t>
            </a:r>
          </a:p>
        </p:txBody>
      </p:sp>
      <p:sp>
        <p:nvSpPr>
          <p:cNvPr id="60" name="Text Box 31">
            <a:extLst>
              <a:ext uri="{FF2B5EF4-FFF2-40B4-BE49-F238E27FC236}">
                <a16:creationId xmlns:a16="http://schemas.microsoft.com/office/drawing/2014/main" id="{B9011B5B-5F66-77C3-A9DF-E8CE546CF723}"/>
              </a:ext>
            </a:extLst>
          </p:cNvPr>
          <p:cNvSpPr txBox="1">
            <a:spLocks noChangeArrowheads="1"/>
          </p:cNvSpPr>
          <p:nvPr/>
        </p:nvSpPr>
        <p:spPr bwMode="auto">
          <a:xfrm>
            <a:off x="72390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8</a:t>
            </a:r>
          </a:p>
        </p:txBody>
      </p:sp>
      <p:sp>
        <p:nvSpPr>
          <p:cNvPr id="61" name="Text Box 32">
            <a:extLst>
              <a:ext uri="{FF2B5EF4-FFF2-40B4-BE49-F238E27FC236}">
                <a16:creationId xmlns:a16="http://schemas.microsoft.com/office/drawing/2014/main" id="{E4D9B050-1074-5DF3-5EAF-450046A1C4FC}"/>
              </a:ext>
            </a:extLst>
          </p:cNvPr>
          <p:cNvSpPr txBox="1">
            <a:spLocks noChangeArrowheads="1"/>
          </p:cNvSpPr>
          <p:nvPr/>
        </p:nvSpPr>
        <p:spPr bwMode="auto">
          <a:xfrm>
            <a:off x="6248402" y="420266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5</a:t>
            </a:r>
          </a:p>
        </p:txBody>
      </p:sp>
      <p:sp>
        <p:nvSpPr>
          <p:cNvPr id="62" name="Text Box 33">
            <a:extLst>
              <a:ext uri="{FF2B5EF4-FFF2-40B4-BE49-F238E27FC236}">
                <a16:creationId xmlns:a16="http://schemas.microsoft.com/office/drawing/2014/main" id="{7C06592D-E32A-C7F3-6778-7F969BD936F6}"/>
              </a:ext>
            </a:extLst>
          </p:cNvPr>
          <p:cNvSpPr txBox="1">
            <a:spLocks noChangeArrowheads="1"/>
          </p:cNvSpPr>
          <p:nvPr/>
        </p:nvSpPr>
        <p:spPr bwMode="auto">
          <a:xfrm>
            <a:off x="8001002" y="4648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a:t>
            </a:r>
          </a:p>
        </p:txBody>
      </p:sp>
      <p:sp>
        <p:nvSpPr>
          <p:cNvPr id="63" name="TextBox 62">
            <a:extLst>
              <a:ext uri="{FF2B5EF4-FFF2-40B4-BE49-F238E27FC236}">
                <a16:creationId xmlns:a16="http://schemas.microsoft.com/office/drawing/2014/main" id="{8D672DE0-5810-4D10-C815-C7BBDE061BD3}"/>
              </a:ext>
            </a:extLst>
          </p:cNvPr>
          <p:cNvSpPr txBox="1"/>
          <p:nvPr/>
        </p:nvSpPr>
        <p:spPr>
          <a:xfrm>
            <a:off x="170085" y="155440"/>
            <a:ext cx="75921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2153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par>
                                <p:cTn id="90" presetID="10" presetClass="entr" presetSubtype="0" fill="hold"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10" presetClass="entr" presetSubtype="0" fill="hold"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00"/>
                                        <p:tgtEl>
                                          <p:spTgt spid="3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childTnLst>
                                </p:cTn>
                              </p:par>
                              <p:par>
                                <p:cTn id="105" presetID="10"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500"/>
                                        <p:tgtEl>
                                          <p:spTgt spid="40"/>
                                        </p:tgtEl>
                                      </p:cBhvr>
                                    </p:animEffect>
                                  </p:childTnLst>
                                </p:cTn>
                              </p:par>
                              <p:par>
                                <p:cTn id="108" presetID="10" presetClass="entr" presetSubtype="0" fill="hold" nodeType="with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500"/>
                                        <p:tgtEl>
                                          <p:spTgt spid="41"/>
                                        </p:tgtEl>
                                      </p:cBhvr>
                                    </p:animEffect>
                                  </p:childTnLst>
                                </p:cTn>
                              </p:par>
                              <p:par>
                                <p:cTn id="111" presetID="10" presetClass="entr" presetSubtype="0" fill="hold" nodeType="with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500"/>
                                        <p:tgtEl>
                                          <p:spTgt spid="42"/>
                                        </p:tgtEl>
                                      </p:cBhvr>
                                    </p:animEffect>
                                  </p:childTnLst>
                                </p:cTn>
                              </p:par>
                              <p:par>
                                <p:cTn id="114" presetID="10" presetClass="entr" presetSubtype="0" fill="hold"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childTnLst>
                                </p:cTn>
                              </p:par>
                              <p:par>
                                <p:cTn id="117" presetID="10" presetClass="entr" presetSubtype="0" fill="hold"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5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500"/>
                                        <p:tgtEl>
                                          <p:spTgt spid="45"/>
                                        </p:tgtEl>
                                      </p:cBhvr>
                                    </p:animEffect>
                                  </p:childTnLst>
                                </p:cTn>
                              </p:par>
                              <p:par>
                                <p:cTn id="123" presetID="10"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500"/>
                                        <p:tgtEl>
                                          <p:spTgt spid="46"/>
                                        </p:tgtEl>
                                      </p:cBhvr>
                                    </p:animEffect>
                                  </p:childTnLst>
                                </p:cTn>
                              </p:par>
                              <p:par>
                                <p:cTn id="126" presetID="10" presetClass="entr" presetSubtype="0" fill="hold" nodeType="with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8" dur="500"/>
                                        <p:tgtEl>
                                          <p:spTgt spid="47"/>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31" dur="500"/>
                                        <p:tgtEl>
                                          <p:spTgt spid="48"/>
                                        </p:tgtEl>
                                      </p:cBhvr>
                                    </p:animEffect>
                                  </p:childTnLst>
                                </p:cTn>
                              </p:par>
                              <p:par>
                                <p:cTn id="132" presetID="10" presetClass="entr" presetSubtype="0" fill="hold" nodeType="with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500"/>
                                        <p:tgtEl>
                                          <p:spTgt spid="49"/>
                                        </p:tgtEl>
                                      </p:cBhvr>
                                    </p:animEffect>
                                  </p:childTnLst>
                                </p:cTn>
                              </p:par>
                              <p:par>
                                <p:cTn id="135" presetID="10" presetClass="entr" presetSubtype="0" fill="hold" nodeType="with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500"/>
                                        <p:tgtEl>
                                          <p:spTgt spid="5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5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5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500"/>
                                        <p:tgtEl>
                                          <p:spTgt spid="5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500"/>
                                        <p:tgtEl>
                                          <p:spTgt spid="5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5" dur="500"/>
                                        <p:tgtEl>
                                          <p:spTgt spid="5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8" dur="500"/>
                                        <p:tgtEl>
                                          <p:spTgt spid="57"/>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61" dur="500"/>
                                        <p:tgtEl>
                                          <p:spTgt spid="58"/>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4" dur="500"/>
                                        <p:tgtEl>
                                          <p:spTgt spid="59"/>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7" dur="500"/>
                                        <p:tgtEl>
                                          <p:spTgt spid="60"/>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70" dur="500"/>
                                        <p:tgtEl>
                                          <p:spTgt spid="61"/>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3" grpId="0"/>
      <p:bldP spid="24" grpId="0"/>
      <p:bldP spid="25" grpId="0"/>
      <p:bldP spid="26" grpId="0"/>
      <p:bldP spid="27" grpId="0"/>
      <p:bldP spid="28" grpId="0"/>
      <p:bldP spid="29" grpId="0"/>
      <p:bldP spid="30" grpId="0"/>
      <p:bldP spid="31" grpId="0"/>
      <p:bldP spid="32" grpId="0" animBg="1"/>
      <p:bldP spid="33" grpId="0" animBg="1"/>
      <p:bldP spid="34" grpId="0" animBg="1"/>
      <p:bldP spid="38" grpId="0" animBg="1"/>
      <p:bldP spid="39" grpId="0" animBg="1"/>
      <p:bldP spid="45" grpId="0" animBg="1"/>
      <p:bldP spid="48" grpId="0" animBg="1"/>
      <p:bldP spid="51" grpId="0"/>
      <p:bldP spid="52" grpId="0"/>
      <p:bldP spid="53" grpId="0"/>
      <p:bldP spid="54" grpId="0"/>
      <p:bldP spid="55" grpId="0"/>
      <p:bldP spid="56" grpId="0"/>
      <p:bldP spid="57" grpId="0"/>
      <p:bldP spid="58" grpId="0"/>
      <p:bldP spid="59" grpId="0"/>
      <p:bldP spid="60" grpId="0"/>
      <p:bldP spid="61" grpId="0"/>
      <p:bldP spid="6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957E838-3FAF-A4B2-8934-93E0900B059B}"/>
              </a:ext>
            </a:extLst>
          </p:cNvPr>
          <p:cNvSpPr txBox="1"/>
          <p:nvPr/>
        </p:nvSpPr>
        <p:spPr>
          <a:xfrm>
            <a:off x="130488" y="202689"/>
            <a:ext cx="9868918" cy="584775"/>
          </a:xfrm>
          <a:prstGeom prst="rect">
            <a:avLst/>
          </a:prstGeom>
          <a:noFill/>
        </p:spPr>
        <p:txBody>
          <a:bodyPr wrap="square">
            <a:spAutoFit/>
          </a:bodyPr>
          <a:lstStyle/>
          <a:p>
            <a:r>
              <a:rPr lang="en-IN" sz="3200" b="1" dirty="0">
                <a:solidFill>
                  <a:schemeClr val="bg1"/>
                </a:solidFill>
                <a:latin typeface="Corbel" panose="020B0503020204020204" pitchFamily="34" charset="0"/>
              </a:rPr>
              <a:t>All Points Shortest path using Dynamic Programming</a:t>
            </a:r>
            <a:endParaRPr lang="en-IN" sz="2400" b="1" dirty="0">
              <a:solidFill>
                <a:prstClr val="black"/>
              </a:solidFill>
              <a:latin typeface="Aria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C7FE07-BFE2-135C-4F5E-AFAD6D40334F}"/>
                  </a:ext>
                </a:extLst>
              </p:cNvPr>
              <p:cNvSpPr txBox="1"/>
              <p:nvPr/>
            </p:nvSpPr>
            <p:spPr>
              <a:xfrm>
                <a:off x="235974" y="983819"/>
                <a:ext cx="11575860" cy="5875455"/>
              </a:xfrm>
              <a:prstGeom prst="rect">
                <a:avLst/>
              </a:prstGeom>
              <a:noFill/>
            </p:spPr>
            <p:txBody>
              <a:bodyPr wrap="square">
                <a:spAutoFit/>
              </a:bodyPr>
              <a:lstStyle/>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Given a </a:t>
                </a:r>
                <a:r>
                  <a:rPr kumimoji="0" lang="en-US" sz="2400" b="0" i="0" u="none" strike="noStrike" kern="1200" cap="none" spc="0" normalizeH="0" baseline="0" noProof="0" dirty="0">
                    <a:ln>
                      <a:noFill/>
                    </a:ln>
                    <a:solidFill>
                      <a:srgbClr val="AD1457"/>
                    </a:solidFill>
                    <a:effectLst/>
                    <a:uLnTx/>
                    <a:uFillTx/>
                    <a:latin typeface="Arial"/>
                  </a:rPr>
                  <a:t>directed, connected weighted graph </a:t>
                </a:r>
                <a14:m>
                  <m:oMath xmlns:m="http://schemas.openxmlformats.org/officeDocument/2006/math">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G</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V</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E</m:t>
                    </m:r>
                    <m:r>
                      <a:rPr kumimoji="0" lang="en-US" sz="2400" b="0" i="0" u="none" strike="noStrike" kern="1200" cap="none" spc="0" normalizeH="0" baseline="0" noProof="0">
                        <a:ln>
                          <a:noFill/>
                        </a:ln>
                        <a:solidFill>
                          <a:srgbClr val="AD1457"/>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prstClr val="black"/>
                    </a:solidFill>
                    <a:effectLst/>
                    <a:uLnTx/>
                    <a:uFillTx/>
                    <a:latin typeface="Arial"/>
                  </a:rPr>
                  <a:t>for each edge </a:t>
                </a:r>
                <a14:m>
                  <m:oMath xmlns:m="http://schemas.openxmlformats.org/officeDocument/2006/math">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u</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E</m:t>
                    </m:r>
                  </m:oMath>
                </a14:m>
                <a:r>
                  <a:rPr kumimoji="0" lang="en-US" sz="2400" b="0" i="0" u="none" strike="noStrike" kern="1200" cap="none" spc="0" normalizeH="0" baseline="0" noProof="0" dirty="0">
                    <a:ln>
                      <a:noFill/>
                    </a:ln>
                    <a:solidFill>
                      <a:prstClr val="black"/>
                    </a:solidFill>
                    <a:effectLst/>
                    <a:uLnTx/>
                    <a:uFillTx/>
                    <a:latin typeface="Arial"/>
                  </a:rPr>
                  <a:t>, a weight </a:t>
                </a:r>
                <a14:m>
                  <m:oMath xmlns:m="http://schemas.openxmlformats.org/officeDocument/2006/math">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w</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u</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prstClr val="black"/>
                    </a:solidFill>
                    <a:effectLst/>
                    <a:uLnTx/>
                    <a:uFillTx/>
                    <a:latin typeface="Arial"/>
                  </a:rPr>
                  <a:t>is associated with each edge.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The all pairs of shortest paths problem is to find </a:t>
                </a:r>
                <a:r>
                  <a:rPr kumimoji="0" lang="en-US" sz="2400" b="0" i="0" u="none" strike="noStrike" kern="1200" cap="none" spc="0" normalizeH="0" baseline="0" noProof="0" dirty="0">
                    <a:ln>
                      <a:noFill/>
                    </a:ln>
                    <a:solidFill>
                      <a:srgbClr val="AD1457"/>
                    </a:solidFill>
                    <a:effectLst/>
                    <a:uLnTx/>
                    <a:uFillTx/>
                    <a:latin typeface="Arial"/>
                  </a:rPr>
                  <a:t>a shortest path </a:t>
                </a:r>
                <a:r>
                  <a:rPr kumimoji="0" lang="en-US" sz="2400" b="0" i="0" u="none" strike="noStrike" kern="1200" cap="none" spc="0" normalizeH="0" baseline="0" noProof="0" dirty="0">
                    <a:ln>
                      <a:noFill/>
                    </a:ln>
                    <a:solidFill>
                      <a:prstClr val="black"/>
                    </a:solidFill>
                    <a:effectLst/>
                    <a:uLnTx/>
                    <a:uFillTx/>
                    <a:latin typeface="Arial"/>
                  </a:rPr>
                  <a:t>from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𝑢</m:t>
                    </m:r>
                  </m:oMath>
                </a14:m>
                <a:r>
                  <a:rPr kumimoji="0" lang="en-US" sz="2400" b="0" i="0" u="none" strike="noStrike" kern="1200" cap="none" spc="0" normalizeH="0" baseline="0" noProof="0" dirty="0">
                    <a:ln>
                      <a:noFill/>
                    </a:ln>
                    <a:solidFill>
                      <a:prstClr val="black"/>
                    </a:solidFill>
                    <a:effectLst/>
                    <a:uLnTx/>
                    <a:uFillTx/>
                    <a:latin typeface="Arial"/>
                  </a:rPr>
                  <a:t> to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𝑣</m:t>
                    </m:r>
                  </m:oMath>
                </a14:m>
                <a:r>
                  <a:rPr kumimoji="0" lang="en-US" sz="2400" b="0" i="0" u="none" strike="noStrike" kern="1200" cap="none" spc="0" normalizeH="0" baseline="0" noProof="0" dirty="0">
                    <a:ln>
                      <a:noFill/>
                    </a:ln>
                    <a:solidFill>
                      <a:prstClr val="black"/>
                    </a:solidFill>
                    <a:effectLst/>
                    <a:uLnTx/>
                    <a:uFillTx/>
                    <a:latin typeface="Arial"/>
                  </a:rPr>
                  <a:t> for every pair of vertices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𝑢</m:t>
                    </m:r>
                  </m:oMath>
                </a14:m>
                <a:r>
                  <a:rPr kumimoji="0" lang="en-US" sz="2400" b="0" i="0" u="none" strike="noStrike" kern="1200" cap="none" spc="0" normalizeH="0" baseline="0" noProof="0" dirty="0">
                    <a:ln>
                      <a:noFill/>
                    </a:ln>
                    <a:solidFill>
                      <a:prstClr val="black"/>
                    </a:solidFill>
                    <a:effectLst/>
                    <a:uLnTx/>
                    <a:uFillTx/>
                    <a:latin typeface="Arial"/>
                  </a:rPr>
                  <a:t> and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𝑣</m:t>
                    </m:r>
                  </m:oMath>
                </a14:m>
                <a:r>
                  <a:rPr kumimoji="0" lang="en-US" sz="2400" b="0" i="0" u="none" strike="noStrike" kern="1200" cap="none" spc="0" normalizeH="0" baseline="0" noProof="0" dirty="0">
                    <a:ln>
                      <a:noFill/>
                    </a:ln>
                    <a:solidFill>
                      <a:prstClr val="black"/>
                    </a:solidFill>
                    <a:effectLst/>
                    <a:uLnTx/>
                    <a:uFillTx/>
                    <a:latin typeface="Arial"/>
                  </a:rPr>
                  <a:t> in </a:t>
                </a:r>
                <a14:m>
                  <m:oMath xmlns:m="http://schemas.openxmlformats.org/officeDocument/2006/math">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oMath>
                </a14:m>
                <a:r>
                  <a:rPr kumimoji="0" lang="en-US" sz="2400" b="0" i="0" u="none" strike="noStrike" kern="1200" cap="none" spc="0" normalizeH="0" baseline="0" noProof="0" dirty="0">
                    <a:ln>
                      <a:noFill/>
                    </a:ln>
                    <a:solidFill>
                      <a:prstClr val="black"/>
                    </a:solidFill>
                    <a:effectLst/>
                    <a:uLnTx/>
                    <a:uFillTx/>
                    <a:latin typeface="Arial"/>
                  </a:rPr>
                  <a:t>.</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srgbClr val="AD1457"/>
                    </a:solidFill>
                    <a:effectLst/>
                    <a:uLnTx/>
                    <a:uFillTx/>
                    <a:latin typeface="Arial"/>
                  </a:rPr>
                  <a:t>Floyd’s algorithm </a:t>
                </a:r>
                <a:r>
                  <a:rPr kumimoji="0" lang="en-US" sz="2400" b="0" i="0" u="none" strike="noStrike" kern="1200" cap="none" spc="0" normalizeH="0" baseline="0" noProof="0" dirty="0">
                    <a:ln>
                      <a:noFill/>
                    </a:ln>
                    <a:solidFill>
                      <a:prstClr val="black"/>
                    </a:solidFill>
                    <a:effectLst/>
                    <a:uLnTx/>
                    <a:uFillTx/>
                    <a:latin typeface="Arial"/>
                  </a:rPr>
                  <a:t>is used to find all pair shortest path problem from a given weighted graph.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As a result of this algorithm, it will generate a matrix, which will represent the </a:t>
                </a:r>
                <a:r>
                  <a:rPr kumimoji="0" lang="en-US" sz="2400" b="0" i="0" u="none" strike="noStrike" kern="1200" cap="none" spc="0" normalizeH="0" baseline="0" noProof="0" dirty="0">
                    <a:ln>
                      <a:noFill/>
                    </a:ln>
                    <a:solidFill>
                      <a:srgbClr val="AD1457"/>
                    </a:solidFill>
                    <a:effectLst/>
                    <a:uLnTx/>
                    <a:uFillTx/>
                    <a:latin typeface="Arial"/>
                  </a:rPr>
                  <a:t>minimum distance</a:t>
                </a:r>
                <a:r>
                  <a:rPr kumimoji="0" lang="en-US" sz="2400" b="0" i="0" u="none" strike="noStrike" kern="1200" cap="none" spc="0" normalizeH="0" baseline="0" noProof="0" dirty="0">
                    <a:ln>
                      <a:noFill/>
                    </a:ln>
                    <a:solidFill>
                      <a:prstClr val="black"/>
                    </a:solidFill>
                    <a:effectLst/>
                    <a:uLnTx/>
                    <a:uFillTx/>
                    <a:latin typeface="Arial"/>
                  </a:rPr>
                  <a:t> from any node to all other nodes in the graph.</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At first, the output matrix is same as </a:t>
                </a:r>
                <a:r>
                  <a:rPr kumimoji="0" lang="en-US" sz="2400" b="0" i="0" u="none" strike="noStrike" kern="1200" cap="none" spc="0" normalizeH="0" baseline="0" noProof="0" dirty="0">
                    <a:ln>
                      <a:noFill/>
                    </a:ln>
                    <a:solidFill>
                      <a:srgbClr val="AD1457"/>
                    </a:solidFill>
                    <a:effectLst/>
                    <a:uLnTx/>
                    <a:uFillTx/>
                    <a:latin typeface="Arial"/>
                  </a:rPr>
                  <a:t>given cost matrix </a:t>
                </a:r>
                <a:r>
                  <a:rPr kumimoji="0" lang="en-US" sz="2400" b="0" i="0" u="none" strike="noStrike" kern="1200" cap="none" spc="0" normalizeH="0" baseline="0" noProof="0" dirty="0">
                    <a:ln>
                      <a:noFill/>
                    </a:ln>
                    <a:solidFill>
                      <a:prstClr val="black"/>
                    </a:solidFill>
                    <a:effectLst/>
                    <a:uLnTx/>
                    <a:uFillTx/>
                    <a:latin typeface="Arial"/>
                  </a:rPr>
                  <a:t>of the graph.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As the algorithm proceeds, the output matrix will be updated with each vertex </a:t>
                </a:r>
                <a14:m>
                  <m:oMath xmlns:m="http://schemas.openxmlformats.org/officeDocument/2006/math">
                    <m: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t>𝑘</m:t>
                    </m:r>
                  </m:oMath>
                </a14:m>
                <a:r>
                  <a:rPr kumimoji="0" lang="en-US" sz="2400" b="0" i="0" u="none" strike="noStrike" kern="1200" cap="none" spc="0" normalizeH="0" baseline="0" noProof="0" dirty="0">
                    <a:ln>
                      <a:noFill/>
                    </a:ln>
                    <a:solidFill>
                      <a:srgbClr val="AD1457"/>
                    </a:solidFill>
                    <a:effectLst/>
                    <a:uLnTx/>
                    <a:uFillTx/>
                    <a:latin typeface="Arial"/>
                  </a:rPr>
                  <a:t> as an intermediate vertex</a:t>
                </a:r>
                <a:r>
                  <a:rPr kumimoji="0" lang="en-US" sz="2400" b="0" i="0" u="none" strike="noStrike" kern="1200" cap="none" spc="0" normalizeH="0" baseline="0" noProof="0" dirty="0">
                    <a:ln>
                      <a:noFill/>
                    </a:ln>
                    <a:solidFill>
                      <a:prstClr val="black"/>
                    </a:solidFill>
                    <a:effectLst/>
                    <a:uLnTx/>
                    <a:uFillTx/>
                    <a:latin typeface="Arial"/>
                  </a:rPr>
                  <a:t>.</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The time complexity of this algorithm is </a:t>
                </a:r>
                <a14:m>
                  <m:oMath xmlns:m="http://schemas.openxmlformats.org/officeDocument/2006/math">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O</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ctrlPr>
                      </m:sSupPr>
                      <m:e>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n</m:t>
                        </m:r>
                      </m:e>
                      <m:sup>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3</m:t>
                        </m:r>
                      </m:sup>
                    </m:sSup>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oMath>
                </a14:m>
                <a:r>
                  <a:rPr kumimoji="0" lang="en-US" sz="2400" b="0" i="0" u="none" strike="noStrike" kern="1200" cap="none" spc="0" normalizeH="0" baseline="0" noProof="0" dirty="0">
                    <a:ln>
                      <a:noFill/>
                    </a:ln>
                    <a:solidFill>
                      <a:prstClr val="black"/>
                    </a:solidFill>
                    <a:effectLst/>
                    <a:uLnTx/>
                    <a:uFillTx/>
                    <a:latin typeface="Arial"/>
                  </a:rPr>
                  <a:t>, where </a:t>
                </a:r>
                <a14:m>
                  <m:oMath xmlns:m="http://schemas.openxmlformats.org/officeDocument/2006/math">
                    <m: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t>𝑛</m:t>
                    </m:r>
                  </m:oMath>
                </a14:m>
                <a:r>
                  <a:rPr kumimoji="0" lang="en-US" sz="2400" b="0" i="0" u="none" strike="noStrike" kern="1200" cap="none" spc="0" normalizeH="0" baseline="0" noProof="0" dirty="0">
                    <a:ln>
                      <a:noFill/>
                    </a:ln>
                    <a:solidFill>
                      <a:prstClr val="black"/>
                    </a:solidFill>
                    <a:effectLst/>
                    <a:uLnTx/>
                    <a:uFillTx/>
                    <a:latin typeface="Arial"/>
                  </a:rPr>
                  <a:t> is the number of vertices in the graph.</a:t>
                </a:r>
              </a:p>
            </p:txBody>
          </p:sp>
        </mc:Choice>
        <mc:Fallback xmlns="">
          <p:sp>
            <p:nvSpPr>
              <p:cNvPr id="9" name="TextBox 8">
                <a:extLst>
                  <a:ext uri="{FF2B5EF4-FFF2-40B4-BE49-F238E27FC236}">
                    <a16:creationId xmlns:a16="http://schemas.microsoft.com/office/drawing/2014/main" id="{7EC7FE07-BFE2-135C-4F5E-AFAD6D40334F}"/>
                  </a:ext>
                </a:extLst>
              </p:cNvPr>
              <p:cNvSpPr txBox="1">
                <a:spLocks noRot="1" noChangeAspect="1" noMove="1" noResize="1" noEditPoints="1" noAdjustHandles="1" noChangeArrowheads="1" noChangeShapeType="1" noTextEdit="1"/>
              </p:cNvSpPr>
              <p:nvPr/>
            </p:nvSpPr>
            <p:spPr>
              <a:xfrm>
                <a:off x="235974" y="983819"/>
                <a:ext cx="11575860" cy="5875455"/>
              </a:xfrm>
              <a:prstGeom prst="rect">
                <a:avLst/>
              </a:prstGeom>
              <a:blipFill>
                <a:blip r:embed="rId6"/>
                <a:stretch>
                  <a:fillRect t="-1349" r="-1106" b="-1452"/>
                </a:stretch>
              </a:blipFill>
            </p:spPr>
            <p:txBody>
              <a:bodyPr/>
              <a:lstStyle/>
              <a:p>
                <a:r>
                  <a:rPr lang="en-IN">
                    <a:noFill/>
                  </a:rPr>
                  <a:t> </a:t>
                </a:r>
              </a:p>
            </p:txBody>
          </p:sp>
        </mc:Fallback>
      </mc:AlternateContent>
    </p:spTree>
    <p:extLst>
      <p:ext uri="{BB962C8B-B14F-4D97-AF65-F5344CB8AC3E}">
        <p14:creationId xmlns:p14="http://schemas.microsoft.com/office/powerpoint/2010/main" val="139957467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82984" y="3505200"/>
            <a:ext cx="118184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9929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609" y="4335881"/>
                <a:ext cx="4263382" cy="1678858"/>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609" y="4335881"/>
                <a:ext cx="4263382" cy="1678858"/>
              </a:xfrm>
              <a:prstGeom prst="rect">
                <a:avLst/>
              </a:prstGeom>
              <a:blipFill>
                <a:blip r:embed="rId2"/>
                <a:stretch>
                  <a:fillRect/>
                </a:stretch>
              </a:blipFill>
            </p:spPr>
            <p:txBody>
              <a:bodyPr/>
              <a:lstStyle/>
              <a:p>
                <a:r>
                  <a:rPr lang="en-IN">
                    <a:noFill/>
                  </a:rPr>
                  <a:t> </a:t>
                </a:r>
              </a:p>
            </p:txBody>
          </p:sp>
        </mc:Fallback>
      </mc:AlternateContent>
      <p:graphicFrame>
        <p:nvGraphicFramePr>
          <p:cNvPr id="30" name="Table 29"/>
          <p:cNvGraphicFramePr>
            <a:graphicFrameLocks noGrp="1"/>
          </p:cNvGraphicFramePr>
          <p:nvPr/>
        </p:nvGraphicFramePr>
        <p:xfrm>
          <a:off x="1426071" y="4072403"/>
          <a:ext cx="2370472" cy="396240"/>
        </p:xfrm>
        <a:graphic>
          <a:graphicData uri="http://schemas.openxmlformats.org/drawingml/2006/table">
            <a:tbl>
              <a:tblPr firstRow="1" bandRow="1">
                <a:tableStyleId>{5C22544A-7EE6-4342-B048-85BDC9FD1C3A}</a:tableStyleId>
              </a:tblPr>
              <a:tblGrid>
                <a:gridCol w="592618">
                  <a:extLst>
                    <a:ext uri="{9D8B030D-6E8A-4147-A177-3AD203B41FA5}">
                      <a16:colId xmlns:a16="http://schemas.microsoft.com/office/drawing/2014/main" val="3489300253"/>
                    </a:ext>
                  </a:extLst>
                </a:gridCol>
                <a:gridCol w="592618">
                  <a:extLst>
                    <a:ext uri="{9D8B030D-6E8A-4147-A177-3AD203B41FA5}">
                      <a16:colId xmlns:a16="http://schemas.microsoft.com/office/drawing/2014/main" val="962168071"/>
                    </a:ext>
                  </a:extLst>
                </a:gridCol>
                <a:gridCol w="592618">
                  <a:extLst>
                    <a:ext uri="{9D8B030D-6E8A-4147-A177-3AD203B41FA5}">
                      <a16:colId xmlns:a16="http://schemas.microsoft.com/office/drawing/2014/main" val="1049920334"/>
                    </a:ext>
                  </a:extLst>
                </a:gridCol>
                <a:gridCol w="592618">
                  <a:extLst>
                    <a:ext uri="{9D8B030D-6E8A-4147-A177-3AD203B41FA5}">
                      <a16:colId xmlns:a16="http://schemas.microsoft.com/office/drawing/2014/main" val="3394342561"/>
                    </a:ext>
                  </a:extLst>
                </a:gridCol>
              </a:tblGrid>
              <a:tr h="370840">
                <a:tc>
                  <a:txBody>
                    <a:bodyPr/>
                    <a:lstStyle/>
                    <a:p>
                      <a:pPr algn="ctr"/>
                      <a:r>
                        <a:rPr lang="en-US" sz="20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2550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2550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2550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2550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50585" y="2395885"/>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1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50585" y="2395885"/>
                <a:ext cx="3678571" cy="1678858"/>
              </a:xfrm>
              <a:prstGeom prst="rect">
                <a:avLst/>
              </a:prstGeom>
              <a:blipFill>
                <a:blip r:embed="rId3"/>
                <a:stretch>
                  <a:fillRect l="-4139"/>
                </a:stretch>
              </a:blipFill>
            </p:spPr>
            <p:txBody>
              <a:bodyPr/>
              <a:lstStyle/>
              <a:p>
                <a:r>
                  <a:rPr lang="en-IN">
                    <a:noFill/>
                  </a:rPr>
                  <a:t> </a:t>
                </a:r>
              </a:p>
            </p:txBody>
          </p:sp>
        </mc:Fallback>
      </mc:AlternateContent>
      <p:graphicFrame>
        <p:nvGraphicFramePr>
          <p:cNvPr id="35" name="Table 34"/>
          <p:cNvGraphicFramePr>
            <a:graphicFrameLocks noGrp="1"/>
          </p:cNvGraphicFramePr>
          <p:nvPr/>
        </p:nvGraphicFramePr>
        <p:xfrm>
          <a:off x="7341834" y="2277288"/>
          <a:ext cx="2450236" cy="370840"/>
        </p:xfrm>
        <a:graphic>
          <a:graphicData uri="http://schemas.openxmlformats.org/drawingml/2006/table">
            <a:tbl>
              <a:tblPr firstRow="1" bandRow="1">
                <a:tableStyleId>{5C22544A-7EE6-4342-B048-85BDC9FD1C3A}</a:tableStyleId>
              </a:tblPr>
              <a:tblGrid>
                <a:gridCol w="612559">
                  <a:extLst>
                    <a:ext uri="{9D8B030D-6E8A-4147-A177-3AD203B41FA5}">
                      <a16:colId xmlns:a16="http://schemas.microsoft.com/office/drawing/2014/main" val="3489300253"/>
                    </a:ext>
                  </a:extLst>
                </a:gridCol>
                <a:gridCol w="612559">
                  <a:extLst>
                    <a:ext uri="{9D8B030D-6E8A-4147-A177-3AD203B41FA5}">
                      <a16:colId xmlns:a16="http://schemas.microsoft.com/office/drawing/2014/main" val="962168071"/>
                    </a:ext>
                  </a:extLst>
                </a:gridCol>
                <a:gridCol w="612559">
                  <a:extLst>
                    <a:ext uri="{9D8B030D-6E8A-4147-A177-3AD203B41FA5}">
                      <a16:colId xmlns:a16="http://schemas.microsoft.com/office/drawing/2014/main" val="1049920334"/>
                    </a:ext>
                  </a:extLst>
                </a:gridCol>
                <a:gridCol w="612559">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914645" y="2560320"/>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8630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8630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8630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8630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38" name="TextBox 37"/>
          <p:cNvSpPr txBox="1"/>
          <p:nvPr/>
        </p:nvSpPr>
        <p:spPr>
          <a:xfrm>
            <a:off x="7650460" y="5797731"/>
            <a:ext cx="1679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a:t>
            </a:r>
          </a:p>
        </p:txBody>
      </p:sp>
      <p:sp>
        <p:nvSpPr>
          <p:cNvPr id="39" name="TextBox 38"/>
          <p:cNvSpPr txBox="1"/>
          <p:nvPr/>
        </p:nvSpPr>
        <p:spPr>
          <a:xfrm>
            <a:off x="6250142" y="4847070"/>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0" name="TextBox 39"/>
          <p:cNvSpPr txBox="1"/>
          <p:nvPr/>
        </p:nvSpPr>
        <p:spPr>
          <a:xfrm>
            <a:off x="6304734" y="5297706"/>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83695" y="480243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83695" y="5292324"/>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428794" y="2648001"/>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405281" y="2648001"/>
            <a:ext cx="2324645" cy="384532"/>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Tree>
    <p:extLst>
      <p:ext uri="{BB962C8B-B14F-4D97-AF65-F5344CB8AC3E}">
        <p14:creationId xmlns:p14="http://schemas.microsoft.com/office/powerpoint/2010/main" val="20598260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dur="50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dur="50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nodeType="afterGroup">
                            <p:stCondLst>
                              <p:cond delay="500"/>
                            </p:stCondLst>
                            <p:childTnLst>
                              <p:par>
                                <p:cTn id="27" presetID="10" presetClass="entr" presetSubtype="0" dur="50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nodeType="afterGroup">
                            <p:stCondLst>
                              <p:cond delay="1000"/>
                            </p:stCondLst>
                            <p:childTnLst>
                              <p:par>
                                <p:cTn id="31" presetID="10" presetClass="entr" presetSubtype="0" dur="500"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22" presetClass="entr" presetSubtype="1" dur="500"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up)">
                                      <p:cBhvr>
                                        <p:cTn id="38" dur="500"/>
                                        <p:tgtEl>
                                          <p:spTgt spid="26"/>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dur="50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dur="50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par>
                          <p:cTn id="52" fill="hold" nodeType="afterGroup">
                            <p:stCondLst>
                              <p:cond delay="500"/>
                            </p:stCondLst>
                            <p:childTnLst>
                              <p:par>
                                <p:cTn id="53" presetID="10" presetClass="entr" presetSubtype="0" dur="500"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childTnLst>
                          </p:cTn>
                        </p:par>
                        <p:par>
                          <p:cTn id="56" fill="hold" nodeType="afterGroup">
                            <p:stCondLst>
                              <p:cond delay="1000"/>
                            </p:stCondLst>
                            <p:childTnLst>
                              <p:par>
                                <p:cTn id="57" presetID="10" presetClass="entr" presetSubtype="0" dur="500"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22" presetClass="entr" presetSubtype="4" dur="500" fill="hold" grpId="0" nodeType="click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down)">
                                      <p:cBhvr>
                                        <p:cTn id="64" dur="500"/>
                                        <p:tgtEl>
                                          <p:spTgt spid="43"/>
                                        </p:tgtEl>
                                      </p:cBhvr>
                                    </p:animEffect>
                                  </p:childTnLst>
                                </p:cTn>
                              </p:par>
                              <p:par>
                                <p:cTn id="65" presetID="22" presetClass="entr" presetSubtype="4" dur="50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down)">
                                      <p:cBhvr>
                                        <p:cTn id="67" dur="500"/>
                                        <p:tgtEl>
                                          <p:spTgt spid="44"/>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1" presetClass="exit" presetSubtype="0" dur="1" fill="hold" grpId="0" nodeType="clickEffect">
                                  <p:stCondLst>
                                    <p:cond delay="0"/>
                                  </p:stCondLst>
                                  <p:childTnLst>
                                    <p:set>
                                      <p:cBhvr>
                                        <p:cTn id="76" dur="1" fill="hold">
                                          <p:stCondLst>
                                            <p:cond delay="0"/>
                                          </p:stCondLst>
                                        </p:cTn>
                                        <p:tgtEl>
                                          <p:spTgt spid="39"/>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p:stCondLst>
                              <p:cond delay="0"/>
                            </p:stCondLst>
                            <p:childTnLst>
                              <p:par>
                                <p:cTn id="79" presetID="1" presetClass="exit" presetSubtype="0" dur="1" fill="hold" grpId="0" nodeType="clickEffect">
                                  <p:stCondLst>
                                    <p:cond delay="0"/>
                                  </p:stCondLst>
                                  <p:childTnLst>
                                    <p:set>
                                      <p:cBhvr>
                                        <p:cTn id="80" dur="1" fill="hold">
                                          <p:stCondLst>
                                            <p:cond delay="0"/>
                                          </p:stCondLst>
                                        </p:cTn>
                                        <p:tgtEl>
                                          <p:spTgt spid="41"/>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p:stCondLst>
                              <p:cond delay="0"/>
                            </p:stCondLst>
                            <p:childTnLst>
                              <p:par>
                                <p:cTn id="83" presetID="1" presetClass="exit" presetSubtype="0" dur="1" fill="hold" grpId="0" nodeType="clickEffect">
                                  <p:stCondLst>
                                    <p:cond delay="0"/>
                                  </p:stCondLst>
                                  <p:childTnLst>
                                    <p:set>
                                      <p:cBhvr>
                                        <p:cTn id="84" dur="1" fill="hold">
                                          <p:stCondLst>
                                            <p:cond delay="0"/>
                                          </p:stCondLst>
                                        </p:cTn>
                                        <p:tgtEl>
                                          <p:spTgt spid="40"/>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p:stCondLst>
                              <p:cond delay="0"/>
                            </p:stCondLst>
                            <p:childTnLst>
                              <p:par>
                                <p:cTn id="87" presetID="1" presetClass="exit" presetSubtype="0" dur="1" fill="hold" grpId="0" nodeType="clickEffect">
                                  <p:stCondLst>
                                    <p:cond delay="0"/>
                                  </p:stCondLst>
                                  <p:childTnLst>
                                    <p:set>
                                      <p:cBhvr>
                                        <p:cTn id="88" dur="1" fill="hold">
                                          <p:stCondLst>
                                            <p:cond delay="0"/>
                                          </p:stCondLst>
                                        </p:cTn>
                                        <p:tgtEl>
                                          <p:spTgt spid="42"/>
                                        </p:tgtEl>
                                        <p:attrNameLst>
                                          <p:attrName>style.visibility</p:attrName>
                                        </p:attrNameLst>
                                      </p:cBhvr>
                                      <p:to>
                                        <p:strVal val="hidden"/>
                                      </p:to>
                                    </p:se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dur="500" fill="hold" grpId="0" nodeType="click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2" grpId="0" animBg="1"/>
      <p:bldP spid="33" grpId="0"/>
      <p:bldP spid="34" grpId="0"/>
      <p:bldP spid="38" grpId="0"/>
      <p:bldP spid="39" grpId="0" animBg="1"/>
      <p:bldP spid="40" grpId="0" animBg="1"/>
      <p:bldP spid="41" grpId="0" animBg="1"/>
      <p:bldP spid="42" grpId="0" animBg="1"/>
      <p:bldP spid="43" grpId="0" animBg="1"/>
      <p:bldP spid="4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2496" y="4072403"/>
          <a:ext cx="2394052" cy="370840"/>
        </p:xfrm>
        <a:graphic>
          <a:graphicData uri="http://schemas.openxmlformats.org/drawingml/2006/table">
            <a:tbl>
              <a:tblPr firstRow="1" bandRow="1">
                <a:tableStyleId>{5C22544A-7EE6-4342-B048-85BDC9FD1C3A}</a:tableStyleId>
              </a:tblPr>
              <a:tblGrid>
                <a:gridCol w="598513">
                  <a:extLst>
                    <a:ext uri="{9D8B030D-6E8A-4147-A177-3AD203B41FA5}">
                      <a16:colId xmlns:a16="http://schemas.microsoft.com/office/drawing/2014/main" val="3489300253"/>
                    </a:ext>
                  </a:extLst>
                </a:gridCol>
                <a:gridCol w="598513">
                  <a:extLst>
                    <a:ext uri="{9D8B030D-6E8A-4147-A177-3AD203B41FA5}">
                      <a16:colId xmlns:a16="http://schemas.microsoft.com/office/drawing/2014/main" val="962168071"/>
                    </a:ext>
                  </a:extLst>
                </a:gridCol>
                <a:gridCol w="598513">
                  <a:extLst>
                    <a:ext uri="{9D8B030D-6E8A-4147-A177-3AD203B41FA5}">
                      <a16:colId xmlns:a16="http://schemas.microsoft.com/office/drawing/2014/main" val="1049920334"/>
                    </a:ext>
                  </a:extLst>
                </a:gridCol>
                <a:gridCol w="598513">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2" y="4418390"/>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52645" y="2405496"/>
                <a:ext cx="3884022" cy="1678858"/>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1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52645" y="2405496"/>
                <a:ext cx="3884022" cy="1678858"/>
              </a:xfrm>
              <a:prstGeom prst="rect">
                <a:avLst/>
              </a:prstGeom>
              <a:blipFill>
                <a:blip r:embed="rId3"/>
                <a:stretch>
                  <a:fillRect l="-1256"/>
                </a:stretch>
              </a:blipFill>
            </p:spPr>
            <p:txBody>
              <a:bodyPr/>
              <a:lstStyle/>
              <a:p>
                <a:r>
                  <a:rPr lang="en-IN">
                    <a:noFill/>
                  </a:rPr>
                  <a:t> </a:t>
                </a:r>
              </a:p>
            </p:txBody>
          </p:sp>
        </mc:Fallback>
      </mc:AlternateContent>
      <p:graphicFrame>
        <p:nvGraphicFramePr>
          <p:cNvPr id="35" name="Table 34"/>
          <p:cNvGraphicFramePr>
            <a:graphicFrameLocks noGrp="1"/>
          </p:cNvGraphicFramePr>
          <p:nvPr/>
        </p:nvGraphicFramePr>
        <p:xfrm>
          <a:off x="7320347" y="2277288"/>
          <a:ext cx="2489480" cy="370840"/>
        </p:xfrm>
        <a:graphic>
          <a:graphicData uri="http://schemas.openxmlformats.org/drawingml/2006/table">
            <a:tbl>
              <a:tblPr firstRow="1" bandRow="1">
                <a:tableStyleId>{5C22544A-7EE6-4342-B048-85BDC9FD1C3A}</a:tableStyleId>
              </a:tblPr>
              <a:tblGrid>
                <a:gridCol w="622370">
                  <a:extLst>
                    <a:ext uri="{9D8B030D-6E8A-4147-A177-3AD203B41FA5}">
                      <a16:colId xmlns:a16="http://schemas.microsoft.com/office/drawing/2014/main" val="3489300253"/>
                    </a:ext>
                  </a:extLst>
                </a:gridCol>
                <a:gridCol w="622370">
                  <a:extLst>
                    <a:ext uri="{9D8B030D-6E8A-4147-A177-3AD203B41FA5}">
                      <a16:colId xmlns:a16="http://schemas.microsoft.com/office/drawing/2014/main" val="962168071"/>
                    </a:ext>
                  </a:extLst>
                </a:gridCol>
                <a:gridCol w="622370">
                  <a:extLst>
                    <a:ext uri="{9D8B030D-6E8A-4147-A177-3AD203B41FA5}">
                      <a16:colId xmlns:a16="http://schemas.microsoft.com/office/drawing/2014/main" val="1049920334"/>
                    </a:ext>
                  </a:extLst>
                </a:gridCol>
                <a:gridCol w="622370">
                  <a:extLst>
                    <a:ext uri="{9D8B030D-6E8A-4147-A177-3AD203B41FA5}">
                      <a16:colId xmlns:a16="http://schemas.microsoft.com/office/drawing/2014/main" val="3394342561"/>
                    </a:ext>
                  </a:extLst>
                </a:gridCol>
              </a:tblGrid>
              <a:tr h="370840">
                <a:tc>
                  <a:txBody>
                    <a:bodyPr/>
                    <a:lstStyle/>
                    <a:p>
                      <a:pPr algn="ctr"/>
                      <a:r>
                        <a:rPr lang="en-US" sz="18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4999"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→4=15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04734" y="5284643"/>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05318" y="48546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05319" y="5279261"/>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51" name="TextBox 50"/>
              <p:cNvSpPr txBox="1"/>
              <p:nvPr/>
            </p:nvSpPr>
            <p:spPr>
              <a:xfrm>
                <a:off x="7921874" y="3324171"/>
                <a:ext cx="489078" cy="46166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𝟑𝟓</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51" name="TextBox 50"/>
              <p:cNvSpPr txBox="1">
                <a:spLocks noRot="1" noChangeAspect="1" noMove="1" noResize="1" noEditPoints="1" noAdjustHandles="1" noChangeArrowheads="1" noChangeShapeType="1" noTextEdit="1"/>
              </p:cNvSpPr>
              <p:nvPr/>
            </p:nvSpPr>
            <p:spPr>
              <a:xfrm>
                <a:off x="7921874" y="3324171"/>
                <a:ext cx="489078" cy="461665"/>
              </a:xfrm>
              <a:prstGeom prst="rect">
                <a:avLst/>
              </a:prstGeom>
              <a:blipFill>
                <a:blip r:embed="rId5"/>
                <a:stretch>
                  <a:fillRect l="-5000" r="-16250"/>
                </a:stretch>
              </a:blipFill>
            </p:spPr>
            <p:txBody>
              <a:bodyPr/>
              <a:lstStyle/>
              <a:p>
                <a:r>
                  <a:rPr lang="en-US">
                    <a:noFill/>
                  </a:rPr>
                  <a:t> </a:t>
                </a:r>
              </a:p>
            </p:txBody>
          </p:sp>
        </mc:Fallback>
      </mc:AlternateContent>
      <p:sp>
        <p:nvSpPr>
          <p:cNvPr id="52" name="Rounded Rectangle 51"/>
          <p:cNvSpPr/>
          <p:nvPr/>
        </p:nvSpPr>
        <p:spPr>
          <a:xfrm>
            <a:off x="8025375"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328520" y="4834005"/>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1828822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par>
                          <p:cTn id="29" fill="hold" nodeType="afterGroup">
                            <p:stCondLst>
                              <p:cond delay="1000"/>
                            </p:stCondLst>
                            <p:childTnLst>
                              <p:par>
                                <p:cTn id="30" presetID="10" presetClass="entr" presetSubtype="0" dur="500"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1" grpId="0" animBg="1"/>
      <p:bldP spid="52" grpId="0" animBg="1"/>
      <p:bldP spid="3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1" y="4072403"/>
          <a:ext cx="2370480" cy="370840"/>
        </p:xfrm>
        <a:graphic>
          <a:graphicData uri="http://schemas.openxmlformats.org/drawingml/2006/table">
            <a:tbl>
              <a:tblPr firstRow="1" bandRow="1">
                <a:tableStyleId>{5C22544A-7EE6-4342-B048-85BDC9FD1C3A}</a:tableStyleId>
              </a:tblPr>
              <a:tblGrid>
                <a:gridCol w="592620">
                  <a:extLst>
                    <a:ext uri="{9D8B030D-6E8A-4147-A177-3AD203B41FA5}">
                      <a16:colId xmlns:a16="http://schemas.microsoft.com/office/drawing/2014/main" val="3489300253"/>
                    </a:ext>
                  </a:extLst>
                </a:gridCol>
                <a:gridCol w="592620">
                  <a:extLst>
                    <a:ext uri="{9D8B030D-6E8A-4147-A177-3AD203B41FA5}">
                      <a16:colId xmlns:a16="http://schemas.microsoft.com/office/drawing/2014/main" val="962168071"/>
                    </a:ext>
                  </a:extLst>
                </a:gridCol>
                <a:gridCol w="592620">
                  <a:extLst>
                    <a:ext uri="{9D8B030D-6E8A-4147-A177-3AD203B41FA5}">
                      <a16:colId xmlns:a16="http://schemas.microsoft.com/office/drawing/2014/main" val="1049920334"/>
                    </a:ext>
                  </a:extLst>
                </a:gridCol>
                <a:gridCol w="592620">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67359" y="4400491"/>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246930">
                <a:tc>
                  <a:txBody>
                    <a:bodyPr/>
                    <a:lstStyle/>
                    <a:p>
                      <a:r>
                        <a:rPr lang="en-US" sz="18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1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3" y="2277288"/>
          <a:ext cx="2611212" cy="370840"/>
        </p:xfrm>
        <a:graphic>
          <a:graphicData uri="http://schemas.openxmlformats.org/drawingml/2006/table">
            <a:tbl>
              <a:tblPr firstRow="1" bandRow="1">
                <a:tableStyleId>{5C22544A-7EE6-4342-B048-85BDC9FD1C3A}</a:tableStyleId>
              </a:tblPr>
              <a:tblGrid>
                <a:gridCol w="652803">
                  <a:extLst>
                    <a:ext uri="{9D8B030D-6E8A-4147-A177-3AD203B41FA5}">
                      <a16:colId xmlns:a16="http://schemas.microsoft.com/office/drawing/2014/main" val="3489300253"/>
                    </a:ext>
                  </a:extLst>
                </a:gridCol>
                <a:gridCol w="652803">
                  <a:extLst>
                    <a:ext uri="{9D8B030D-6E8A-4147-A177-3AD203B41FA5}">
                      <a16:colId xmlns:a16="http://schemas.microsoft.com/office/drawing/2014/main" val="962168071"/>
                    </a:ext>
                  </a:extLst>
                </a:gridCol>
                <a:gridCol w="652803">
                  <a:extLst>
                    <a:ext uri="{9D8B030D-6E8A-4147-A177-3AD203B41FA5}">
                      <a16:colId xmlns:a16="http://schemas.microsoft.com/office/drawing/2014/main" val="1049920334"/>
                    </a:ext>
                  </a:extLst>
                </a:gridCol>
                <a:gridCol w="652803">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31628" y="5298090"/>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32212" y="48546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05320" y="5292709"/>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301626" y="4834005"/>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mc:AlternateContent xmlns:mc="http://schemas.openxmlformats.org/markup-compatibility/2006" xmlns:a14="http://schemas.microsoft.com/office/drawing/2010/main">
        <mc:Choice Requires="a14">
          <p:sp>
            <p:nvSpPr>
              <p:cNvPr id="45" name="TextBox 44"/>
              <p:cNvSpPr txBox="1"/>
              <p:nvPr/>
            </p:nvSpPr>
            <p:spPr>
              <a:xfrm>
                <a:off x="7916036" y="3689343"/>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5" name="TextBox 44"/>
              <p:cNvSpPr txBox="1">
                <a:spLocks noRot="1" noChangeAspect="1" noMove="1" noResize="1" noEditPoints="1" noAdjustHandles="1" noChangeArrowheads="1" noChangeShapeType="1" noTextEdit="1"/>
              </p:cNvSpPr>
              <p:nvPr/>
            </p:nvSpPr>
            <p:spPr>
              <a:xfrm>
                <a:off x="7916036" y="3689343"/>
                <a:ext cx="489078" cy="365760"/>
              </a:xfrm>
              <a:prstGeom prst="rect">
                <a:avLst/>
              </a:prstGeom>
              <a:blipFill>
                <a:blip r:embed="rId5"/>
                <a:stretch>
                  <a:fillRect l="-3750" r="-15000" b="-10000"/>
                </a:stretch>
              </a:blipFill>
            </p:spPr>
            <p:txBody>
              <a:bodyPr/>
              <a:lstStyle/>
              <a:p>
                <a:r>
                  <a:rPr lang="en-US">
                    <a:noFill/>
                  </a:rPr>
                  <a:t> </a:t>
                </a:r>
              </a:p>
            </p:txBody>
          </p:sp>
        </mc:Fallback>
      </mc:AlternateContent>
    </p:spTree>
    <p:extLst>
      <p:ext uri="{BB962C8B-B14F-4D97-AF65-F5344CB8AC3E}">
        <p14:creationId xmlns:p14="http://schemas.microsoft.com/office/powerpoint/2010/main" val="32039088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2" grpId="0" animBg="1"/>
      <p:bldP spid="39" grpId="0" animBg="1"/>
      <p:bldP spid="4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146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3" y="4032439"/>
          <a:ext cx="2407924" cy="375984"/>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3961" y="435335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3</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2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2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74307" y="2164174"/>
          <a:ext cx="2606540" cy="375984"/>
        </p:xfrm>
        <a:graphic>
          <a:graphicData uri="http://schemas.openxmlformats.org/drawingml/2006/table">
            <a:tbl>
              <a:tblPr firstRow="1" bandRow="1">
                <a:tableStyleId>{5C22544A-7EE6-4342-B048-85BDC9FD1C3A}</a:tableStyleId>
              </a:tblPr>
              <a:tblGrid>
                <a:gridCol w="651635">
                  <a:extLst>
                    <a:ext uri="{9D8B030D-6E8A-4147-A177-3AD203B41FA5}">
                      <a16:colId xmlns:a16="http://schemas.microsoft.com/office/drawing/2014/main" val="3489300253"/>
                    </a:ext>
                  </a:extLst>
                </a:gridCol>
                <a:gridCol w="651635">
                  <a:extLst>
                    <a:ext uri="{9D8B030D-6E8A-4147-A177-3AD203B41FA5}">
                      <a16:colId xmlns:a16="http://schemas.microsoft.com/office/drawing/2014/main" val="962168071"/>
                    </a:ext>
                  </a:extLst>
                </a:gridCol>
                <a:gridCol w="651635">
                  <a:extLst>
                    <a:ext uri="{9D8B030D-6E8A-4147-A177-3AD203B41FA5}">
                      <a16:colId xmlns:a16="http://schemas.microsoft.com/office/drawing/2014/main" val="1049920334"/>
                    </a:ext>
                  </a:extLst>
                </a:gridCol>
                <a:gridCol w="651635">
                  <a:extLst>
                    <a:ext uri="{9D8B030D-6E8A-4147-A177-3AD203B41FA5}">
                      <a16:colId xmlns:a16="http://schemas.microsoft.com/office/drawing/2014/main" val="3394342561"/>
                    </a:ext>
                  </a:extLst>
                </a:gridCol>
              </a:tblGrid>
              <a:tr h="370840">
                <a:tc>
                  <a:txBody>
                    <a:bodyPr/>
                    <a:lstStyle/>
                    <a:p>
                      <a:pPr algn="ctr"/>
                      <a:r>
                        <a:rPr lang="en-US">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36939" y="252331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790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790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790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790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→2→3=</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→2→4=</m:t>
                                </m:r>
                                <m:r>
                                  <a:rPr lang="en-US" sz="2400" b="0" i="0" smtClean="0">
                                    <a:latin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6" y="482702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40667" y="5285025"/>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955941" y="2652625"/>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974967"/>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6" name="Rounded Rectangle 45"/>
          <p:cNvSpPr/>
          <p:nvPr/>
        </p:nvSpPr>
        <p:spPr>
          <a:xfrm>
            <a:off x="8020635" y="529480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7" name="TextBox 46"/>
              <p:cNvSpPr txBox="1"/>
              <p:nvPr/>
            </p:nvSpPr>
            <p:spPr>
              <a:xfrm>
                <a:off x="8569177" y="2592062"/>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7" name="TextBox 46"/>
              <p:cNvSpPr txBox="1">
                <a:spLocks noRot="1" noChangeAspect="1" noMove="1" noResize="1" noEditPoints="1" noAdjustHandles="1" noChangeArrowheads="1" noChangeShapeType="1" noTextEdit="1"/>
              </p:cNvSpPr>
              <p:nvPr/>
            </p:nvSpPr>
            <p:spPr>
              <a:xfrm>
                <a:off x="8569177" y="2592062"/>
                <a:ext cx="489078" cy="365760"/>
              </a:xfrm>
              <a:prstGeom prst="rect">
                <a:avLst/>
              </a:prstGeom>
              <a:blipFill>
                <a:blip r:embed="rId5"/>
                <a:stretch>
                  <a:fillRect l="-3750" r="-150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9298256" y="2516023"/>
                <a:ext cx="498608" cy="461665"/>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9298256" y="2516023"/>
                <a:ext cx="498608" cy="461665"/>
              </a:xfrm>
              <a:prstGeom prst="rect">
                <a:avLst/>
              </a:prstGeom>
              <a:blipFill>
                <a:blip r:embed="rId6"/>
                <a:stretch>
                  <a:fillRect l="-2439" r="-13415"/>
                </a:stretch>
              </a:blipFill>
            </p:spPr>
            <p:txBody>
              <a:bodyPr/>
              <a:lstStyle/>
              <a:p>
                <a:r>
                  <a:rPr lang="en-IN">
                    <a:noFill/>
                  </a:rPr>
                  <a:t> </a:t>
                </a:r>
              </a:p>
            </p:txBody>
          </p:sp>
        </mc:Fallback>
      </mc:AlternateContent>
      <p:sp>
        <p:nvSpPr>
          <p:cNvPr id="40" name="TextBox 39"/>
          <p:cNvSpPr txBox="1"/>
          <p:nvPr/>
        </p:nvSpPr>
        <p:spPr>
          <a:xfrm>
            <a:off x="6265162" y="5295401"/>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9" name="TextBox 38"/>
          <p:cNvSpPr txBox="1"/>
          <p:nvPr/>
        </p:nvSpPr>
        <p:spPr>
          <a:xfrm>
            <a:off x="6281262" y="4830163"/>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4" y="5863045"/>
            <a:ext cx="37999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for Node 3 &amp; 4 </a:t>
            </a:r>
          </a:p>
        </p:txBody>
      </p:sp>
    </p:spTree>
    <p:extLst>
      <p:ext uri="{BB962C8B-B14F-4D97-AF65-F5344CB8AC3E}">
        <p14:creationId xmlns:p14="http://schemas.microsoft.com/office/powerpoint/2010/main" val="4274766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21" presetClass="entr" presetSubtype="1" dur="1000" fill="hold" grpId="0" nodeType="click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wheel(1)">
                                      <p:cBhvr>
                                        <p:cTn id="56" dur="1000"/>
                                        <p:tgtEl>
                                          <p:spTgt spid="52"/>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0" presetClass="entr" presetSubtype="0" dur="50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childTnLst>
                          </p:cTn>
                        </p:par>
                      </p:childTnLst>
                    </p:cTn>
                  </p:par>
                  <p:par>
                    <p:cTn id="62" fill="hold" nodeType="clickPar">
                      <p:stCondLst>
                        <p:cond delay="indefinite"/>
                      </p:stCondLst>
                      <p:childTnLst>
                        <p:par>
                          <p:cTn id="63" fill="hold">
                            <p:stCondLst>
                              <p:cond delay="0"/>
                            </p:stCondLst>
                            <p:childTnLst>
                              <p:par>
                                <p:cTn id="64" presetID="21" presetClass="entr" presetSubtype="1" dur="1000" fill="hold" grpId="0" nodeType="click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wheel(1)">
                                      <p:cBhvr>
                                        <p:cTn id="66" dur="1000"/>
                                        <p:tgtEl>
                                          <p:spTgt spid="46"/>
                                        </p:tgtEl>
                                      </p:cBhvr>
                                    </p:animEffect>
                                  </p:childTnLst>
                                </p:cTn>
                              </p:par>
                            </p:childTnLst>
                          </p:cTn>
                        </p:par>
                      </p:childTnLst>
                    </p:cTn>
                  </p:par>
                  <p:par>
                    <p:cTn id="67" fill="hold" nodeType="clickPar">
                      <p:stCondLst>
                        <p:cond delay="indefinite"/>
                      </p:stCondLst>
                      <p:childTnLst>
                        <p:par>
                          <p:cTn id="68" fill="hold">
                            <p:stCondLst>
                              <p:cond delay="0"/>
                            </p:stCondLst>
                            <p:childTnLst>
                              <p:par>
                                <p:cTn id="69" presetID="10" presetClass="entr" presetSubtype="0" dur="500"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500"/>
                                        <p:tgtEl>
                                          <p:spTgt spid="48"/>
                                        </p:tgtEl>
                                      </p:cBhvr>
                                    </p:animEffect>
                                  </p:childTnLst>
                                </p:cTn>
                              </p:par>
                            </p:childTnLst>
                          </p:cTn>
                        </p:par>
                      </p:childTnLst>
                    </p:cTn>
                  </p:par>
                  <p:par>
                    <p:cTn id="72" fill="hold" nodeType="clickPar">
                      <p:stCondLst>
                        <p:cond delay="indefinite"/>
                      </p:stCondLst>
                      <p:childTnLst>
                        <p:par>
                          <p:cTn id="73" fill="hold">
                            <p:stCondLst>
                              <p:cond delay="0"/>
                            </p:stCondLst>
                            <p:childTnLst>
                              <p:par>
                                <p:cTn id="74" presetID="10" presetClass="entr" presetSubtype="0" dur="500" fill="hold" grpId="0" nodeType="click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52" grpId="0" animBg="1"/>
      <p:bldP spid="46" grpId="0" animBg="1"/>
      <p:bldP spid="47" grpId="0" animBg="1"/>
      <p:bldP spid="48" grpId="0" animBg="1"/>
      <p:bldP spid="40" grpId="0" animBg="1"/>
      <p:bldP spid="39"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19253" y="4061955"/>
          <a:ext cx="2442528" cy="396240"/>
        </p:xfrm>
        <a:graphic>
          <a:graphicData uri="http://schemas.openxmlformats.org/drawingml/2006/table">
            <a:tbl>
              <a:tblPr firstRow="1" bandRow="1">
                <a:tableStyleId>{5C22544A-7EE6-4342-B048-85BDC9FD1C3A}</a:tableStyleId>
              </a:tblPr>
              <a:tblGrid>
                <a:gridCol w="610632">
                  <a:extLst>
                    <a:ext uri="{9D8B030D-6E8A-4147-A177-3AD203B41FA5}">
                      <a16:colId xmlns:a16="http://schemas.microsoft.com/office/drawing/2014/main" val="3489300253"/>
                    </a:ext>
                  </a:extLst>
                </a:gridCol>
                <a:gridCol w="610632">
                  <a:extLst>
                    <a:ext uri="{9D8B030D-6E8A-4147-A177-3AD203B41FA5}">
                      <a16:colId xmlns:a16="http://schemas.microsoft.com/office/drawing/2014/main" val="962168071"/>
                    </a:ext>
                  </a:extLst>
                </a:gridCol>
                <a:gridCol w="610632">
                  <a:extLst>
                    <a:ext uri="{9D8B030D-6E8A-4147-A177-3AD203B41FA5}">
                      <a16:colId xmlns:a16="http://schemas.microsoft.com/office/drawing/2014/main" val="1049920334"/>
                    </a:ext>
                  </a:extLst>
                </a:gridCol>
                <a:gridCol w="61063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65732" y="430100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6"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3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3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2" y="2277288"/>
          <a:ext cx="2637848" cy="396240"/>
        </p:xfrm>
        <a:graphic>
          <a:graphicData uri="http://schemas.openxmlformats.org/drawingml/2006/table">
            <a:tbl>
              <a:tblPr firstRow="1" bandRow="1">
                <a:tableStyleId>{5C22544A-7EE6-4342-B048-85BDC9FD1C3A}</a:tableStyleId>
              </a:tblPr>
              <a:tblGrid>
                <a:gridCol w="659462">
                  <a:extLst>
                    <a:ext uri="{9D8B030D-6E8A-4147-A177-3AD203B41FA5}">
                      <a16:colId xmlns:a16="http://schemas.microsoft.com/office/drawing/2014/main" val="3489300253"/>
                    </a:ext>
                  </a:extLst>
                </a:gridCol>
                <a:gridCol w="659462">
                  <a:extLst>
                    <a:ext uri="{9D8B030D-6E8A-4147-A177-3AD203B41FA5}">
                      <a16:colId xmlns:a16="http://schemas.microsoft.com/office/drawing/2014/main" val="962168071"/>
                    </a:ext>
                  </a:extLst>
                </a:gridCol>
                <a:gridCol w="659462">
                  <a:extLst>
                    <a:ext uri="{9D8B030D-6E8A-4147-A177-3AD203B41FA5}">
                      <a16:colId xmlns:a16="http://schemas.microsoft.com/office/drawing/2014/main" val="1049920334"/>
                    </a:ext>
                  </a:extLst>
                </a:gridCol>
                <a:gridCol w="65946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63745" y="254670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→3→2=</m:t>
                                </m:r>
                                <m:r>
                                  <a:rPr lang="en-US" sz="2400" b="0" i="0" smtClean="0">
                                    <a:latin typeface="Cambria Math" panose="02040503050406030204" pitchFamily="18" charset="0"/>
                                    <a:ea typeface="Cambria Math" panose="02040503050406030204" pitchFamily="18" charset="0"/>
                                  </a:rPr>
                                  <m:t>55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587259" y="482702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40668" y="5271963"/>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8640667" y="2639562"/>
            <a:ext cx="485577"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86880" y="33407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0" name="TextBox 39"/>
          <p:cNvSpPr txBox="1"/>
          <p:nvPr/>
        </p:nvSpPr>
        <p:spPr>
          <a:xfrm>
            <a:off x="6225974" y="5282338"/>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9" name="TextBox 38"/>
          <p:cNvSpPr txBox="1"/>
          <p:nvPr/>
        </p:nvSpPr>
        <p:spPr>
          <a:xfrm>
            <a:off x="6229011" y="4830162"/>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7650460" y="5797731"/>
            <a:ext cx="169772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a:t>
            </a:r>
          </a:p>
        </p:txBody>
      </p:sp>
    </p:spTree>
    <p:extLst>
      <p:ext uri="{BB962C8B-B14F-4D97-AF65-F5344CB8AC3E}">
        <p14:creationId xmlns:p14="http://schemas.microsoft.com/office/powerpoint/2010/main" val="3010308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dur="50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0" grpId="0" animBg="1"/>
      <p:bldP spid="39" grpId="0" animBg="1"/>
      <p:bldP spid="4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144" y="0"/>
            <a:ext cx="12074856"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3" y="4080451"/>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sz="18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5965" y="4400491"/>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3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3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198345" y="2277288"/>
          <a:ext cx="2718012" cy="396316"/>
        </p:xfrm>
        <a:graphic>
          <a:graphicData uri="http://schemas.openxmlformats.org/drawingml/2006/table">
            <a:tbl>
              <a:tblPr firstRow="1" bandRow="1">
                <a:tableStyleId>{5C22544A-7EE6-4342-B048-85BDC9FD1C3A}</a:tableStyleId>
              </a:tblPr>
              <a:tblGrid>
                <a:gridCol w="679503">
                  <a:extLst>
                    <a:ext uri="{9D8B030D-6E8A-4147-A177-3AD203B41FA5}">
                      <a16:colId xmlns:a16="http://schemas.microsoft.com/office/drawing/2014/main" val="3489300253"/>
                    </a:ext>
                  </a:extLst>
                </a:gridCol>
                <a:gridCol w="679503">
                  <a:extLst>
                    <a:ext uri="{9D8B030D-6E8A-4147-A177-3AD203B41FA5}">
                      <a16:colId xmlns:a16="http://schemas.microsoft.com/office/drawing/2014/main" val="962168071"/>
                    </a:ext>
                  </a:extLst>
                </a:gridCol>
                <a:gridCol w="679503">
                  <a:extLst>
                    <a:ext uri="{9D8B030D-6E8A-4147-A177-3AD203B41FA5}">
                      <a16:colId xmlns:a16="http://schemas.microsoft.com/office/drawing/2014/main" val="1049920334"/>
                    </a:ext>
                  </a:extLst>
                </a:gridCol>
                <a:gridCol w="679503">
                  <a:extLst>
                    <a:ext uri="{9D8B030D-6E8A-4147-A177-3AD203B41FA5}">
                      <a16:colId xmlns:a16="http://schemas.microsoft.com/office/drawing/2014/main" val="3394342561"/>
                    </a:ext>
                  </a:extLst>
                </a:gridCol>
              </a:tblGrid>
              <a:tr h="396316">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550469"/>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m:t>
                                </m:r>
                                <m:r>
                                  <a:rPr lang="en-US" sz="2400" b="0" i="0" smtClean="0">
                                    <a:latin typeface="Cambria Math" panose="02040503050406030204" pitchFamily="18" charset="0"/>
                                    <a:ea typeface="Cambria Math" panose="02040503050406030204" pitchFamily="18" charset="0"/>
                                  </a:rPr>
                                  <m:t>45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rPr>
                                  <m:t>50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00322" y="48400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588417" y="5298089"/>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8653475"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49380" y="33411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0" name="TextBox 39"/>
          <p:cNvSpPr txBox="1"/>
          <p:nvPr/>
        </p:nvSpPr>
        <p:spPr>
          <a:xfrm>
            <a:off x="6252100" y="5295401"/>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6" y="5771605"/>
            <a:ext cx="295658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No change for Node 4  </a:t>
            </a:r>
          </a:p>
        </p:txBody>
      </p:sp>
      <p:sp>
        <p:nvSpPr>
          <p:cNvPr id="45" name="Rounded Rectangle 44"/>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255137" y="4843225"/>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7286880" y="2933549"/>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7286880" y="2933549"/>
                <a:ext cx="489078" cy="365760"/>
              </a:xfrm>
              <a:prstGeom prst="rect">
                <a:avLst/>
              </a:prstGeom>
              <a:blipFill>
                <a:blip r:embed="rId5"/>
                <a:stretch>
                  <a:fillRect l="-3704" r="-16049" b="-13333"/>
                </a:stretch>
              </a:blipFill>
            </p:spPr>
            <p:txBody>
              <a:bodyPr/>
              <a:lstStyle/>
              <a:p>
                <a:r>
                  <a:rPr lang="en-IN">
                    <a:noFill/>
                  </a:rPr>
                  <a:t> </a:t>
                </a:r>
              </a:p>
            </p:txBody>
          </p:sp>
        </mc:Fallback>
      </mc:AlternateContent>
    </p:spTree>
    <p:extLst>
      <p:ext uri="{BB962C8B-B14F-4D97-AF65-F5344CB8AC3E}">
        <p14:creationId xmlns:p14="http://schemas.microsoft.com/office/powerpoint/2010/main" val="2302534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heel(1)">
                                      <p:cBhvr>
                                        <p:cTn id="28" dur="1000"/>
                                        <p:tgtEl>
                                          <p:spTgt spid="45"/>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grpId="0"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0" grpId="0" animBg="1"/>
      <p:bldP spid="49" grpId="0"/>
      <p:bldP spid="45" grpId="0" animBg="1"/>
      <p:bldP spid="39" grpId="0" animBg="1"/>
      <p:bldP spid="4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tIns="91440" bIns="91440" anchor="b">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39697" y="3505200"/>
            <a:ext cx="1225135"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9929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88628" y="4080223"/>
          <a:ext cx="2482036" cy="396240"/>
        </p:xfrm>
        <a:graphic>
          <a:graphicData uri="http://schemas.openxmlformats.org/drawingml/2006/table">
            <a:tbl>
              <a:tblPr firstRow="1" bandRow="1">
                <a:tableStyleId>{5C22544A-7EE6-4342-B048-85BDC9FD1C3A}</a:tableStyleId>
              </a:tblPr>
              <a:tblGrid>
                <a:gridCol w="620509">
                  <a:extLst>
                    <a:ext uri="{9D8B030D-6E8A-4147-A177-3AD203B41FA5}">
                      <a16:colId xmlns:a16="http://schemas.microsoft.com/office/drawing/2014/main" val="3489300253"/>
                    </a:ext>
                  </a:extLst>
                </a:gridCol>
                <a:gridCol w="620509">
                  <a:extLst>
                    <a:ext uri="{9D8B030D-6E8A-4147-A177-3AD203B41FA5}">
                      <a16:colId xmlns:a16="http://schemas.microsoft.com/office/drawing/2014/main" val="962168071"/>
                    </a:ext>
                  </a:extLst>
                </a:gridCol>
                <a:gridCol w="620509">
                  <a:extLst>
                    <a:ext uri="{9D8B030D-6E8A-4147-A177-3AD203B41FA5}">
                      <a16:colId xmlns:a16="http://schemas.microsoft.com/office/drawing/2014/main" val="1049920334"/>
                    </a:ext>
                  </a:extLst>
                </a:gridCol>
                <a:gridCol w="620509">
                  <a:extLst>
                    <a:ext uri="{9D8B030D-6E8A-4147-A177-3AD203B41FA5}">
                      <a16:colId xmlns:a16="http://schemas.microsoft.com/office/drawing/2014/main" val="3394342561"/>
                    </a:ext>
                  </a:extLst>
                </a:gridCol>
              </a:tblGrid>
              <a:tr h="370840">
                <a:tc>
                  <a:txBody>
                    <a:bodyPr/>
                    <a:lstStyle/>
                    <a:p>
                      <a:pPr algn="ctr"/>
                      <a:r>
                        <a:rPr lang="en-US" sz="20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23812" y="432914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18361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4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55759" y="2224926"/>
          <a:ext cx="2616212" cy="396240"/>
        </p:xfrm>
        <a:graphic>
          <a:graphicData uri="http://schemas.openxmlformats.org/drawingml/2006/table">
            <a:tbl>
              <a:tblPr firstRow="1" bandRow="1">
                <a:tableStyleId>{5C22544A-7EE6-4342-B048-85BDC9FD1C3A}</a:tableStyleId>
              </a:tblPr>
              <a:tblGrid>
                <a:gridCol w="654053">
                  <a:extLst>
                    <a:ext uri="{9D8B030D-6E8A-4147-A177-3AD203B41FA5}">
                      <a16:colId xmlns:a16="http://schemas.microsoft.com/office/drawing/2014/main" val="3489300253"/>
                    </a:ext>
                  </a:extLst>
                </a:gridCol>
                <a:gridCol w="654053">
                  <a:extLst>
                    <a:ext uri="{9D8B030D-6E8A-4147-A177-3AD203B41FA5}">
                      <a16:colId xmlns:a16="http://schemas.microsoft.com/office/drawing/2014/main" val="962168071"/>
                    </a:ext>
                  </a:extLst>
                </a:gridCol>
                <a:gridCol w="654053">
                  <a:extLst>
                    <a:ext uri="{9D8B030D-6E8A-4147-A177-3AD203B41FA5}">
                      <a16:colId xmlns:a16="http://schemas.microsoft.com/office/drawing/2014/main" val="1049920334"/>
                    </a:ext>
                  </a:extLst>
                </a:gridCol>
                <a:gridCol w="654053">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44848" y="2579727"/>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→4→2=</m:t>
                                </m:r>
                                <m:r>
                                  <a:rPr lang="en-US" sz="2400" b="0" i="0" smtClean="0">
                                    <a:latin typeface="Cambria Math" panose="02040503050406030204" pitchFamily="18" charset="0"/>
                                    <a:ea typeface="Cambria Math" panose="02040503050406030204" pitchFamily="18" charset="0"/>
                                  </a:rPr>
                                  <m:t>30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39510" y="4827027"/>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562291" y="5285026"/>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9355194"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84538"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8639510" y="2592322"/>
                <a:ext cx="489078" cy="461665"/>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𝟏𝟓</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639510" y="2592322"/>
                <a:ext cx="489078" cy="461665"/>
              </a:xfrm>
              <a:prstGeom prst="rect">
                <a:avLst/>
              </a:prstGeom>
              <a:blipFill>
                <a:blip r:embed="rId5"/>
                <a:stretch>
                  <a:fillRect l="-3750" r="-17500"/>
                </a:stretch>
              </a:blipFill>
            </p:spPr>
            <p:txBody>
              <a:bodyPr/>
              <a:lstStyle/>
              <a:p>
                <a:r>
                  <a:rPr lang="en-IN">
                    <a:noFill/>
                  </a:rPr>
                  <a:t> </a:t>
                </a:r>
              </a:p>
            </p:txBody>
          </p:sp>
        </mc:Fallback>
      </mc:AlternateContent>
      <p:sp>
        <p:nvSpPr>
          <p:cNvPr id="39" name="TextBox 38"/>
          <p:cNvSpPr txBox="1"/>
          <p:nvPr/>
        </p:nvSpPr>
        <p:spPr>
          <a:xfrm>
            <a:off x="6320451" y="4843224"/>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0" name="TextBox 39"/>
          <p:cNvSpPr txBox="1"/>
          <p:nvPr/>
        </p:nvSpPr>
        <p:spPr>
          <a:xfrm>
            <a:off x="6265162" y="5295402"/>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103710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21" presetClass="entr" presetSubtype="1" dur="100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heel(1)">
                                      <p:cBhvr>
                                        <p:cTn id="56" dur="1000"/>
                                        <p:tgtEl>
                                          <p:spTgt spid="45"/>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0" presetClass="entr" presetSubtype="0" dur="50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5" grpId="0" animBg="1"/>
      <p:bldP spid="46" grpId="0" animBg="1"/>
      <p:bldP spid="39" grpId="0" animBg="1"/>
      <p:bldP spid="4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1</a:t>
            </a:r>
          </a:p>
        </p:txBody>
      </p:sp>
      <p:sp>
        <p:nvSpPr>
          <p:cNvPr id="28" name="TextBox 27"/>
          <p:cNvSpPr txBox="1"/>
          <p:nvPr/>
        </p:nvSpPr>
        <p:spPr>
          <a:xfrm>
            <a:off x="1486553" y="3476118"/>
            <a:ext cx="189917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3475" y="4048514"/>
          <a:ext cx="2431672" cy="396240"/>
        </p:xfrm>
        <a:graphic>
          <a:graphicData uri="http://schemas.openxmlformats.org/drawingml/2006/table">
            <a:tbl>
              <a:tblPr firstRow="1" bandRow="1">
                <a:tableStyleId>{5C22544A-7EE6-4342-B048-85BDC9FD1C3A}</a:tableStyleId>
              </a:tblPr>
              <a:tblGrid>
                <a:gridCol w="607918">
                  <a:extLst>
                    <a:ext uri="{9D8B030D-6E8A-4147-A177-3AD203B41FA5}">
                      <a16:colId xmlns:a16="http://schemas.microsoft.com/office/drawing/2014/main" val="3489300253"/>
                    </a:ext>
                  </a:extLst>
                </a:gridCol>
                <a:gridCol w="607918">
                  <a:extLst>
                    <a:ext uri="{9D8B030D-6E8A-4147-A177-3AD203B41FA5}">
                      <a16:colId xmlns:a16="http://schemas.microsoft.com/office/drawing/2014/main" val="962168071"/>
                    </a:ext>
                  </a:extLst>
                </a:gridCol>
                <a:gridCol w="607918">
                  <a:extLst>
                    <a:ext uri="{9D8B030D-6E8A-4147-A177-3AD203B41FA5}">
                      <a16:colId xmlns:a16="http://schemas.microsoft.com/office/drawing/2014/main" val="1049920334"/>
                    </a:ext>
                  </a:extLst>
                </a:gridCol>
                <a:gridCol w="607918">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74854" y="432914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4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m:t>
                              </m:r>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𝟓</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2" y="2277288"/>
          <a:ext cx="2611212" cy="375984"/>
        </p:xfrm>
        <a:graphic>
          <a:graphicData uri="http://schemas.openxmlformats.org/drawingml/2006/table">
            <a:tbl>
              <a:tblPr firstRow="1" bandRow="1">
                <a:tableStyleId>{5C22544A-7EE6-4342-B048-85BDC9FD1C3A}</a:tableStyleId>
              </a:tblPr>
              <a:tblGrid>
                <a:gridCol w="652803">
                  <a:extLst>
                    <a:ext uri="{9D8B030D-6E8A-4147-A177-3AD203B41FA5}">
                      <a16:colId xmlns:a16="http://schemas.microsoft.com/office/drawing/2014/main" val="3489300253"/>
                    </a:ext>
                  </a:extLst>
                </a:gridCol>
                <a:gridCol w="652803">
                  <a:extLst>
                    <a:ext uri="{9D8B030D-6E8A-4147-A177-3AD203B41FA5}">
                      <a16:colId xmlns:a16="http://schemas.microsoft.com/office/drawing/2014/main" val="962168071"/>
                    </a:ext>
                  </a:extLst>
                </a:gridCol>
                <a:gridCol w="652803">
                  <a:extLst>
                    <a:ext uri="{9D8B030D-6E8A-4147-A177-3AD203B41FA5}">
                      <a16:colId xmlns:a16="http://schemas.microsoft.com/office/drawing/2014/main" val="1049920334"/>
                    </a:ext>
                  </a:extLst>
                </a:gridCol>
                <a:gridCol w="652803">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63836" y="2587221"/>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→4→1=</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5" y="48400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27605" y="5271963"/>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9346316"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84538"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8643163" y="3000565"/>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643163" y="3000565"/>
                <a:ext cx="489078" cy="365760"/>
              </a:xfrm>
              <a:prstGeom prst="rect">
                <a:avLst/>
              </a:prstGeom>
              <a:blipFill>
                <a:blip r:embed="rId5"/>
                <a:stretch>
                  <a:fillRect l="-3750" r="-15000" b="-11667"/>
                </a:stretch>
              </a:blipFill>
            </p:spPr>
            <p:txBody>
              <a:bodyPr/>
              <a:lstStyle/>
              <a:p>
                <a:r>
                  <a:rPr lang="en-IN">
                    <a:noFill/>
                  </a:rPr>
                  <a:t> </a:t>
                </a:r>
              </a:p>
            </p:txBody>
          </p:sp>
        </mc:Fallback>
      </mc:AlternateContent>
      <p:sp>
        <p:nvSpPr>
          <p:cNvPr id="40" name="TextBox 39"/>
          <p:cNvSpPr txBox="1"/>
          <p:nvPr/>
        </p:nvSpPr>
        <p:spPr>
          <a:xfrm>
            <a:off x="6278224" y="5282338"/>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7" name="Rounded Rectangle 46"/>
          <p:cNvSpPr/>
          <p:nvPr/>
        </p:nvSpPr>
        <p:spPr>
          <a:xfrm>
            <a:off x="8007572" y="485067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8" name="TextBox 47"/>
              <p:cNvSpPr txBox="1"/>
              <p:nvPr/>
            </p:nvSpPr>
            <p:spPr>
              <a:xfrm>
                <a:off x="7332450" y="2922501"/>
                <a:ext cx="489078" cy="45720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332450" y="2922501"/>
                <a:ext cx="489078" cy="457200"/>
              </a:xfrm>
              <a:prstGeom prst="rect">
                <a:avLst/>
              </a:prstGeom>
              <a:blipFill>
                <a:blip r:embed="rId6"/>
                <a:stretch>
                  <a:fillRect l="-3750" r="-15000"/>
                </a:stretch>
              </a:blipFill>
            </p:spPr>
            <p:txBody>
              <a:bodyPr/>
              <a:lstStyle/>
              <a:p>
                <a:r>
                  <a:rPr lang="en-IN">
                    <a:noFill/>
                  </a:rPr>
                  <a:t> </a:t>
                </a:r>
              </a:p>
            </p:txBody>
          </p:sp>
        </mc:Fallback>
      </mc:AlternateContent>
      <p:sp>
        <p:nvSpPr>
          <p:cNvPr id="39" name="TextBox 38"/>
          <p:cNvSpPr txBox="1"/>
          <p:nvPr/>
        </p:nvSpPr>
        <p:spPr>
          <a:xfrm>
            <a:off x="6242074" y="4830160"/>
            <a:ext cx="2230710" cy="39755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5" y="5771605"/>
            <a:ext cx="328454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for Node 3  </a:t>
            </a:r>
          </a:p>
        </p:txBody>
      </p:sp>
    </p:spTree>
    <p:extLst>
      <p:ext uri="{BB962C8B-B14F-4D97-AF65-F5344CB8AC3E}">
        <p14:creationId xmlns:p14="http://schemas.microsoft.com/office/powerpoint/2010/main" val="3947428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21" presetClass="entr" presetSubtype="1" dur="1000"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heel(1)">
                                      <p:cBhvr>
                                        <p:cTn id="20" dur="1000"/>
                                        <p:tgtEl>
                                          <p:spTgt spid="47"/>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 presetClass="exit" presetSubtype="0" dur="1" fill="hold" grpId="0" nodeType="clickEffect">
                                  <p:stCondLst>
                                    <p:cond delay="0"/>
                                  </p:stCondLst>
                                  <p:childTnLst>
                                    <p:set>
                                      <p:cBhvr>
                                        <p:cTn id="29" dur="1" fill="hold">
                                          <p:stCondLst>
                                            <p:cond delay="0"/>
                                          </p:stCondLst>
                                        </p:cTn>
                                        <p:tgtEl>
                                          <p:spTgt spid="40"/>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p:stCondLst>
                              <p:cond delay="0"/>
                            </p:stCondLst>
                            <p:childTnLst>
                              <p:par>
                                <p:cTn id="32" presetID="1" presetClass="exit" presetSubtype="0" dur="1" fill="hold" grpId="0" nodeType="clickEffect">
                                  <p:stCondLst>
                                    <p:cond delay="0"/>
                                  </p:stCondLst>
                                  <p:childTnLst>
                                    <p:set>
                                      <p:cBhvr>
                                        <p:cTn id="33" dur="1" fill="hold">
                                          <p:stCondLst>
                                            <p:cond delay="0"/>
                                          </p:stCondLst>
                                        </p:cTn>
                                        <p:tgtEl>
                                          <p:spTgt spid="42"/>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p:stCondLst>
                              <p:cond delay="0"/>
                            </p:stCondLst>
                            <p:childTnLst>
                              <p:par>
                                <p:cTn id="36" presetID="21" presetClass="entr" presetSubtype="1" dur="100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heel(1)">
                                      <p:cBhvr>
                                        <p:cTn id="38" dur="1000"/>
                                        <p:tgtEl>
                                          <p:spTgt spid="45"/>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dur="50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5" grpId="0" animBg="1"/>
      <p:bldP spid="46" grpId="0" animBg="1"/>
      <p:bldP spid="40" grpId="0" animBg="1"/>
      <p:bldP spid="47" grpId="0" animBg="1"/>
      <p:bldP spid="48" grpId="0" animBg="1"/>
      <p:bldP spid="39" grpId="0" animBg="1"/>
      <p:bldP spid="4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464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9053" y="4063187"/>
          <a:ext cx="2435748" cy="396240"/>
        </p:xfrm>
        <a:graphic>
          <a:graphicData uri="http://schemas.openxmlformats.org/drawingml/2006/table">
            <a:tbl>
              <a:tblPr firstRow="1" bandRow="1">
                <a:tableStyleId>{5C22544A-7EE6-4342-B048-85BDC9FD1C3A}</a:tableStyleId>
              </a:tblPr>
              <a:tblGrid>
                <a:gridCol w="608937">
                  <a:extLst>
                    <a:ext uri="{9D8B030D-6E8A-4147-A177-3AD203B41FA5}">
                      <a16:colId xmlns:a16="http://schemas.microsoft.com/office/drawing/2014/main" val="3489300253"/>
                    </a:ext>
                  </a:extLst>
                </a:gridCol>
                <a:gridCol w="608937">
                  <a:extLst>
                    <a:ext uri="{9D8B030D-6E8A-4147-A177-3AD203B41FA5}">
                      <a16:colId xmlns:a16="http://schemas.microsoft.com/office/drawing/2014/main" val="962168071"/>
                    </a:ext>
                  </a:extLst>
                </a:gridCol>
                <a:gridCol w="608937">
                  <a:extLst>
                    <a:ext uri="{9D8B030D-6E8A-4147-A177-3AD203B41FA5}">
                      <a16:colId xmlns:a16="http://schemas.microsoft.com/office/drawing/2014/main" val="1049920334"/>
                    </a:ext>
                  </a:extLst>
                </a:gridCol>
                <a:gridCol w="608937">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27681" y="4344146"/>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4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m:t>
                              </m:r>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𝟓</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646728" cy="396240"/>
        </p:xfrm>
        <a:graphic>
          <a:graphicData uri="http://schemas.openxmlformats.org/drawingml/2006/table">
            <a:tbl>
              <a:tblPr firstRow="1" bandRow="1">
                <a:tableStyleId>{5C22544A-7EE6-4342-B048-85BDC9FD1C3A}</a:tableStyleId>
              </a:tblPr>
              <a:tblGrid>
                <a:gridCol w="661682">
                  <a:extLst>
                    <a:ext uri="{9D8B030D-6E8A-4147-A177-3AD203B41FA5}">
                      <a16:colId xmlns:a16="http://schemas.microsoft.com/office/drawing/2014/main" val="3489300253"/>
                    </a:ext>
                  </a:extLst>
                </a:gridCol>
                <a:gridCol w="661682">
                  <a:extLst>
                    <a:ext uri="{9D8B030D-6E8A-4147-A177-3AD203B41FA5}">
                      <a16:colId xmlns:a16="http://schemas.microsoft.com/office/drawing/2014/main" val="962168071"/>
                    </a:ext>
                  </a:extLst>
                </a:gridCol>
                <a:gridCol w="661682">
                  <a:extLst>
                    <a:ext uri="{9D8B030D-6E8A-4147-A177-3AD203B41FA5}">
                      <a16:colId xmlns:a16="http://schemas.microsoft.com/office/drawing/2014/main" val="1049920334"/>
                    </a:ext>
                  </a:extLst>
                </a:gridCol>
                <a:gridCol w="66168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9546" y="2537585"/>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50" name="Rounded Rectangle 49"/>
          <p:cNvSpPr/>
          <p:nvPr/>
        </p:nvSpPr>
        <p:spPr>
          <a:xfrm>
            <a:off x="6085810" y="2067635"/>
            <a:ext cx="4008120" cy="2207623"/>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1" name="TextBox 50"/>
          <p:cNvSpPr txBox="1"/>
          <p:nvPr/>
        </p:nvSpPr>
        <p:spPr>
          <a:xfrm>
            <a:off x="7076938" y="4799596"/>
            <a:ext cx="20523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AD1457"/>
                </a:solidFill>
                <a:effectLst/>
                <a:uLnTx/>
                <a:uFillTx/>
                <a:latin typeface="Arial"/>
              </a:rPr>
              <a:t>Final Solution </a:t>
            </a:r>
          </a:p>
        </p:txBody>
      </p:sp>
      <p:cxnSp>
        <p:nvCxnSpPr>
          <p:cNvPr id="52" name="Straight Arrow Connector 51"/>
          <p:cNvCxnSpPr>
            <a:cxnSpLocks/>
            <a:stCxn id="51" idx="0"/>
            <a:endCxn id="50" idx="2"/>
          </p:cNvCxnSpPr>
          <p:nvPr/>
        </p:nvCxnSpPr>
        <p:spPr>
          <a:xfrm flipH="1" flipV="1">
            <a:off x="8089870" y="4275258"/>
            <a:ext cx="13245" cy="52433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986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1" presetClass="entr" presetSubtype="1" dur="100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heel(1)">
                                      <p:cBhvr>
                                        <p:cTn id="7" dur="1000"/>
                                        <p:tgtEl>
                                          <p:spTgt spid="50"/>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nodeType="afterGroup">
                            <p:stCondLst>
                              <p:cond delay="1500"/>
                            </p:stCondLst>
                            <p:childTnLst>
                              <p:par>
                                <p:cTn id="13" presetID="22" presetClass="entr" presetSubtype="4" dur="50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down)">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Floyd’s Algorithm</a:t>
            </a:r>
          </a:p>
        </p:txBody>
      </p:sp>
      <p:sp>
        <p:nvSpPr>
          <p:cNvPr id="3" name="Content Placeholder 2"/>
          <p:cNvSpPr>
            <a:spLocks noGrp="1"/>
          </p:cNvSpPr>
          <p:nvPr>
            <p:ph idx="4294967295"/>
          </p:nvPr>
        </p:nvSpPr>
        <p:spPr>
          <a:xfrm>
            <a:off x="604685" y="863600"/>
            <a:ext cx="10751574" cy="5591175"/>
          </a:xfrm>
          <a:solidFill>
            <a:schemeClr val="bg1"/>
          </a:solidFill>
        </p:spPr>
        <p:txBody>
          <a:bodyPr/>
          <a:lstStyle/>
          <a:p>
            <a:pPr marL="0" indent="0" algn="l">
              <a:buNone/>
            </a:pPr>
            <a:r>
              <a:rPr lang="en-US" sz="2800" b="1" dirty="0">
                <a:solidFill>
                  <a:srgbClr val="00B0F0"/>
                </a:solidFill>
                <a:latin typeface="Consolas" pitchFamily="49" charset="0"/>
                <a:cs typeface="Consolas" pitchFamily="49" charset="0"/>
              </a:rPr>
              <a:t>function</a:t>
            </a:r>
            <a:r>
              <a:rPr lang="en-US" sz="2800" dirty="0">
                <a:solidFill>
                  <a:srgbClr val="00B0F0"/>
                </a:solidFill>
                <a:latin typeface="Consolas" pitchFamily="49" charset="0"/>
                <a:cs typeface="Consolas" pitchFamily="49" charset="0"/>
              </a:rPr>
              <a:t> </a:t>
            </a:r>
            <a:r>
              <a:rPr lang="en-US" sz="2800" i="1" dirty="0">
                <a:solidFill>
                  <a:srgbClr val="00B0F0"/>
                </a:solidFill>
                <a:latin typeface="Consolas" pitchFamily="49" charset="0"/>
                <a:cs typeface="Consolas" pitchFamily="49" charset="0"/>
              </a:rPr>
              <a:t>Floyd</a:t>
            </a:r>
            <a:r>
              <a:rPr lang="en-US" sz="2800" dirty="0">
                <a:solidFill>
                  <a:srgbClr val="00B0F0"/>
                </a:solidFill>
                <a:latin typeface="Consolas" pitchFamily="49" charset="0"/>
                <a:cs typeface="Consolas" pitchFamily="49" charset="0"/>
              </a:rPr>
              <a:t>(</a:t>
            </a:r>
            <a:r>
              <a:rPr lang="en-US" sz="2800" i="1" dirty="0">
                <a:solidFill>
                  <a:srgbClr val="00B0F0"/>
                </a:solidFill>
                <a:latin typeface="Consolas" pitchFamily="49" charset="0"/>
                <a:cs typeface="Consolas" pitchFamily="49" charset="0"/>
              </a:rPr>
              <a:t>L</a:t>
            </a:r>
            <a:r>
              <a:rPr lang="en-US" sz="2800" dirty="0">
                <a:solidFill>
                  <a:srgbClr val="00B0F0"/>
                </a:solidFill>
                <a:latin typeface="Consolas" pitchFamily="49" charset="0"/>
                <a:cs typeface="Consolas" pitchFamily="49" charset="0"/>
              </a:rPr>
              <a:t>[1..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a:t>
            </a:r>
            <a:r>
              <a:rPr lang="en-US" sz="2800" b="1" dirty="0">
                <a:solidFill>
                  <a:srgbClr val="00B0F0"/>
                </a:solidFill>
                <a:latin typeface="Consolas" pitchFamily="49" charset="0"/>
                <a:cs typeface="Consolas" pitchFamily="49" charset="0"/>
              </a:rPr>
              <a:t>:array</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a:t>
            </a:r>
          </a:p>
          <a:p>
            <a:pPr marL="0" indent="0" algn="l">
              <a:buNone/>
            </a:pPr>
            <a:r>
              <a:rPr lang="en-US" sz="2800" dirty="0">
                <a:solidFill>
                  <a:srgbClr val="F9C5D7"/>
                </a:solidFill>
                <a:latin typeface="Consolas" pitchFamily="49" charset="0"/>
                <a:cs typeface="Consolas" pitchFamily="49" charset="0"/>
              </a:rPr>
              <a:t>    </a:t>
            </a:r>
            <a:r>
              <a:rPr lang="en-US" sz="2800" b="1" dirty="0">
                <a:latin typeface="Consolas" pitchFamily="49" charset="0"/>
                <a:cs typeface="Consolas" pitchFamily="49" charset="0"/>
              </a:rPr>
              <a:t>array</a:t>
            </a: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[1..</a:t>
            </a:r>
            <a:r>
              <a:rPr lang="en-US" sz="2800" i="1" dirty="0">
                <a:latin typeface="Consolas" pitchFamily="49" charset="0"/>
                <a:cs typeface="Consolas" pitchFamily="49" charset="0"/>
              </a:rPr>
              <a:t>n</a:t>
            </a:r>
            <a:r>
              <a:rPr lang="en-US" sz="2800" dirty="0">
                <a:latin typeface="Consolas" pitchFamily="49" charset="0"/>
                <a:cs typeface="Consolas" pitchFamily="49" charset="0"/>
              </a:rPr>
              <a:t>, 1..</a:t>
            </a:r>
            <a:r>
              <a:rPr lang="en-US" sz="2800" i="1" dirty="0">
                <a:latin typeface="Consolas" pitchFamily="49" charset="0"/>
                <a:cs typeface="Consolas" pitchFamily="49" charset="0"/>
              </a:rPr>
              <a:t>n</a:t>
            </a:r>
            <a:r>
              <a:rPr lang="en-US" sz="2800" dirty="0">
                <a:latin typeface="Consolas" pitchFamily="49" charset="0"/>
                <a:cs typeface="Consolas" pitchFamily="49" charset="0"/>
              </a:rPr>
              <a:t>]</a:t>
            </a:r>
          </a:p>
          <a:p>
            <a:pPr marL="0" indent="0" algn="l">
              <a:buNone/>
            </a:pPr>
            <a:r>
              <a:rPr lang="en-US" sz="2800" dirty="0">
                <a:latin typeface="Consolas" pitchFamily="49" charset="0"/>
                <a:cs typeface="Consolas" pitchFamily="49" charset="0"/>
              </a:rPr>
              <a:t>    </a:t>
            </a:r>
            <a:r>
              <a:rPr lang="en-US" sz="2800" i="1" dirty="0">
                <a:latin typeface="Consolas" pitchFamily="49" charset="0"/>
                <a:cs typeface="Consolas" pitchFamily="49" charset="0"/>
              </a:rPr>
              <a:t>D </a:t>
            </a:r>
            <a:r>
              <a:rPr lang="en-US" sz="2800" dirty="0">
                <a:latin typeface="Consolas" pitchFamily="49" charset="0"/>
                <a:cs typeface="Consolas" pitchFamily="49" charset="0"/>
              </a:rPr>
              <a:t>← </a:t>
            </a:r>
            <a:r>
              <a:rPr lang="en-US" sz="2800" i="1" dirty="0">
                <a:latin typeface="Consolas" pitchFamily="49" charset="0"/>
                <a:cs typeface="Consolas" pitchFamily="49" charset="0"/>
              </a:rPr>
              <a:t>L</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k</a:t>
            </a:r>
            <a:r>
              <a:rPr lang="en-US" sz="2800" i="1" dirty="0">
                <a:latin typeface="Consolas" pitchFamily="49" charset="0"/>
                <a:cs typeface="Consolas" pitchFamily="49" charset="0"/>
              </a:rPr>
              <a:t>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a:t>
            </a:r>
            <a:r>
              <a:rPr lang="en-US" sz="2800" i="1" dirty="0" err="1">
                <a:latin typeface="Consolas" pitchFamily="49" charset="0"/>
                <a:cs typeface="Consolas" pitchFamily="49" charset="0"/>
              </a:rPr>
              <a:t>i</a:t>
            </a:r>
            <a:r>
              <a:rPr lang="en-US" sz="2800" i="1" dirty="0">
                <a:latin typeface="Consolas" pitchFamily="49" charset="0"/>
                <a:cs typeface="Consolas" pitchFamily="49" charset="0"/>
              </a:rPr>
              <a:t>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a:t>
            </a:r>
            <a:r>
              <a:rPr lang="en-US" sz="2800" i="1" dirty="0">
                <a:latin typeface="Consolas" pitchFamily="49" charset="0"/>
                <a:cs typeface="Consolas" pitchFamily="49" charset="0"/>
              </a:rPr>
              <a:t>j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a:t>
            </a:r>
            <a:r>
              <a:rPr lang="en-US" sz="2800" i="1" dirty="0" err="1">
                <a:latin typeface="Consolas" pitchFamily="49" charset="0"/>
                <a:cs typeface="Consolas" pitchFamily="49" charset="0"/>
              </a:rPr>
              <a:t>j</a:t>
            </a:r>
            <a:r>
              <a:rPr lang="en-US" sz="2800" dirty="0">
                <a:latin typeface="Consolas" pitchFamily="49" charset="0"/>
                <a:cs typeface="Consolas" pitchFamily="49" charset="0"/>
              </a:rPr>
              <a:t>] ← min(</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a:t>
            </a:r>
            <a:r>
              <a:rPr lang="en-US" sz="2800" i="1" dirty="0" err="1">
                <a:latin typeface="Consolas" pitchFamily="49" charset="0"/>
                <a:cs typeface="Consolas" pitchFamily="49" charset="0"/>
              </a:rPr>
              <a:t>j</a:t>
            </a: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,k</a:t>
            </a:r>
            <a:r>
              <a:rPr lang="en-US" sz="2800" dirty="0">
                <a:latin typeface="Consolas" pitchFamily="49" charset="0"/>
                <a:cs typeface="Consolas" pitchFamily="49" charset="0"/>
              </a:rPr>
              <a:t>]+</a:t>
            </a:r>
            <a:r>
              <a:rPr lang="en-US" sz="2800" i="1" dirty="0">
                <a:latin typeface="Consolas" pitchFamily="49" charset="0"/>
                <a:cs typeface="Consolas" pitchFamily="49" charset="0"/>
              </a:rPr>
              <a:t> D</a:t>
            </a:r>
            <a:r>
              <a:rPr lang="en-US" sz="2800" dirty="0">
                <a:latin typeface="Consolas" pitchFamily="49" charset="0"/>
                <a:cs typeface="Consolas" pitchFamily="49" charset="0"/>
              </a:rPr>
              <a:t>[</a:t>
            </a:r>
            <a:r>
              <a:rPr lang="en-US" sz="2800" dirty="0" err="1">
                <a:latin typeface="Consolas" pitchFamily="49" charset="0"/>
                <a:cs typeface="Consolas" pitchFamily="49" charset="0"/>
              </a:rPr>
              <a:t>k,</a:t>
            </a:r>
            <a:r>
              <a:rPr lang="en-US" sz="2800" i="1" dirty="0" err="1">
                <a:latin typeface="Consolas" pitchFamily="49" charset="0"/>
                <a:cs typeface="Consolas" pitchFamily="49" charset="0"/>
              </a:rPr>
              <a:t>j</a:t>
            </a:r>
            <a:r>
              <a:rPr lang="en-US" sz="2800" dirty="0">
                <a:latin typeface="Consolas" pitchFamily="49" charset="0"/>
                <a:cs typeface="Consolas" pitchFamily="49" charset="0"/>
              </a:rPr>
              <a:t>])</a:t>
            </a: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return</a:t>
            </a:r>
            <a:r>
              <a:rPr lang="en-US" sz="2800" dirty="0">
                <a:latin typeface="Consolas" pitchFamily="49" charset="0"/>
                <a:cs typeface="Consolas" pitchFamily="49" charset="0"/>
              </a:rPr>
              <a:t> D</a:t>
            </a:r>
            <a:endParaRPr lang="en-US" sz="2800" dirty="0"/>
          </a:p>
        </p:txBody>
      </p:sp>
    </p:spTree>
    <p:extLst>
      <p:ext uri="{BB962C8B-B14F-4D97-AF65-F5344CB8AC3E}">
        <p14:creationId xmlns:p14="http://schemas.microsoft.com/office/powerpoint/2010/main" val="762552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818934" y="2340224"/>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437416503"/>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12573</TotalTime>
  <Words>9268</Words>
  <Application>Microsoft Office PowerPoint</Application>
  <PresentationFormat>Widescreen</PresentationFormat>
  <Paragraphs>1756</Paragraphs>
  <Slides>95</Slides>
  <Notes>85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95</vt:i4>
      </vt:variant>
    </vt:vector>
  </HeadingPairs>
  <TitlesOfParts>
    <vt:vector size="112" baseType="lpstr">
      <vt:lpstr>ＭＳ Ｐゴシック</vt:lpstr>
      <vt:lpstr>Arial</vt:lpstr>
      <vt:lpstr>Calibri</vt:lpstr>
      <vt:lpstr>Calibri Light</vt:lpstr>
      <vt:lpstr>Cambria Math</vt:lpstr>
      <vt:lpstr>Consolas</vt:lpstr>
      <vt:lpstr>Corbel</vt:lpstr>
      <vt:lpstr>Proxima Nova</vt:lpstr>
      <vt:lpstr>Roboto Condensed</vt:lpstr>
      <vt:lpstr>Shruti</vt:lpstr>
      <vt:lpstr>Symbol</vt:lpstr>
      <vt:lpstr>Times New Roman</vt:lpstr>
      <vt:lpstr>Trebuchet MS</vt:lpstr>
      <vt:lpstr>Wingdings</vt:lpstr>
      <vt:lpstr>Wingdings 3</vt:lpstr>
      <vt:lpstr>Simple Light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Floyd’s Algorithm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tourist</cp:lastModifiedBy>
  <cp:revision>113</cp:revision>
  <dcterms:created xsi:type="dcterms:W3CDTF">2022-10-02T17:32:59Z</dcterms:created>
  <dcterms:modified xsi:type="dcterms:W3CDTF">2026-06-27T09:30:21Z</dcterms:modified>
</cp:coreProperties>
</file>